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44"/>
    <p:restoredTop sz="94645"/>
  </p:normalViewPr>
  <p:slideViewPr>
    <p:cSldViewPr snapToGrid="0">
      <p:cViewPr>
        <p:scale>
          <a:sx n="180" d="100"/>
          <a:sy n="180" d="100"/>
        </p:scale>
        <p:origin x="32" y="7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8/4/26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MASTER">
    <p:bg>
      <p:bgPr>
        <a:solidFill>
          <a:srgbClr val="121519"/>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572768"/>
            <a:ext cx="7680960" cy="1417320"/>
          </a:xfrm>
          <a:prstGeom prst="rect">
            <a:avLst/>
          </a:prstGeom>
          <a:noFill/>
          <a:ln/>
        </p:spPr>
        <p:txBody>
          <a:bodyPr wrap="square" rtlCol="0"/>
          <a:lstStyle>
            <a:lvl1pPr marL="0" indent="0">
              <a:buNone/>
              <a:defRPr lang="en-US" sz="4200" b="1" dirty="0">
                <a:solidFill>
                  <a:srgbClr val="F3F5F7"/>
                </a:solidFill>
                <a:latin typeface="Trebuchet MS" pitchFamily="34" charset="0"/>
                <a:ea typeface="Trebuchet MS" pitchFamily="34" charset="-122"/>
                <a:cs typeface="Trebuchet MS" pitchFamily="34" charset="-120"/>
              </a:defRPr>
            </a:lvl1pPr>
          </a:lstStyle>
          <a:p>
            <a:pPr marL="0" indent="0">
              <a:buNone/>
            </a:pPr>
            <a:endParaRPr lang="en-US" sz="4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MASTER">
    <p:bg>
      <p:bgPr>
        <a:solidFill>
          <a:srgbClr val="121519"/>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1005840" y="2148840"/>
            <a:ext cx="7132320" cy="914400"/>
          </a:xfrm>
          <a:prstGeom prst="rect">
            <a:avLst/>
          </a:prstGeom>
          <a:noFill/>
          <a:ln/>
        </p:spPr>
        <p:txBody>
          <a:bodyPr wrap="square" rtlCol="0"/>
          <a:lstStyle>
            <a:lvl1pPr marL="0" indent="0" algn="l">
              <a:buNone/>
              <a:defRPr lang="en-US" sz="3600" b="1" dirty="0">
                <a:solidFill>
                  <a:srgbClr val="F3F5F7"/>
                </a:solidFill>
                <a:latin typeface="Trebuchet MS" pitchFamily="34" charset="0"/>
                <a:ea typeface="Trebuchet MS" pitchFamily="34" charset="-122"/>
                <a:cs typeface="Trebuchet MS" pitchFamily="34" charset="-120"/>
              </a:defRPr>
            </a:lvl1pPr>
          </a:lstStyle>
          <a:p>
            <a:pPr marL="0" indent="0" algn="l">
              <a:buNone/>
            </a:pPr>
            <a:endParaRPr lang="en-US" sz="3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MASTER">
    <p:bg>
      <p:bgPr>
        <a:solidFill>
          <a:srgbClr val="1B1F24"/>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8138160" cy="548640"/>
          </a:xfrm>
          <a:prstGeom prst="rect">
            <a:avLst/>
          </a:prstGeom>
          <a:noFill/>
          <a:ln/>
        </p:spPr>
        <p:txBody>
          <a:bodyPr wrap="square" rtlCol="0"/>
          <a:lstStyle>
            <a:lvl1pPr marL="0" indent="0">
              <a:buNone/>
              <a:defRPr lang="en-US" sz="2700" b="1" dirty="0">
                <a:solidFill>
                  <a:srgbClr val="F3F5F7"/>
                </a:solidFill>
                <a:latin typeface="Trebuchet MS" pitchFamily="34" charset="0"/>
                <a:ea typeface="Trebuchet MS" pitchFamily="34" charset="-122"/>
                <a:cs typeface="Trebuchet MS" pitchFamily="34" charset="-120"/>
              </a:defRPr>
            </a:lvl1pPr>
          </a:lstStyle>
          <a:p>
            <a:pPr marL="0" indent="0">
              <a:buNone/>
            </a:pPr>
            <a:endParaRPr lang="en-US" sz="27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10700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op band">
            <a:extLst>
              <a:ext uri="{C183D7F6-B498-43B3-948B-1728B52AA6E4}">
                <adec:decorative xmlns:adec="http://schemas.microsoft.com/office/drawing/2017/decorative" val="1"/>
              </a:ext>
            </a:extLst>
          </p:cNvPr>
          <p:cNvSpPr/>
          <p:nvPr/>
        </p:nvSpPr>
        <p:spPr>
          <a:xfrm>
            <a:off x="0" y="0"/>
            <a:ext cx="9144000" cy="822960"/>
          </a:xfrm>
          <a:prstGeom prst="rect">
            <a:avLst/>
          </a:prstGeom>
          <a:solidFill>
            <a:srgbClr val="E8722C"/>
          </a:solidFill>
          <a:ln w="12700">
            <a:solidFill>
              <a:srgbClr val="E8722C"/>
            </a:solidFill>
            <a:prstDash val="solid"/>
          </a:ln>
        </p:spPr>
        <p:txBody>
          <a:bodyPr/>
          <a:lstStyle/>
          <a:p>
            <a:endParaRPr lang="en-SE"/>
          </a:p>
        </p:txBody>
      </p:sp>
      <p:sp>
        <p:nvSpPr>
          <p:cNvPr id="3" name="band edge">
            <a:extLst>
              <a:ext uri="{C183D7F6-B498-43B3-948B-1728B52AA6E4}">
                <adec:decorative xmlns:adec="http://schemas.microsoft.com/office/drawing/2017/decorative" val="1"/>
              </a:ext>
            </a:extLst>
          </p:cNvPr>
          <p:cNvSpPr/>
          <p:nvPr/>
        </p:nvSpPr>
        <p:spPr>
          <a:xfrm>
            <a:off x="0" y="822960"/>
            <a:ext cx="9144000" cy="54864"/>
          </a:xfrm>
          <a:prstGeom prst="rect">
            <a:avLst/>
          </a:prstGeom>
          <a:solidFill>
            <a:srgbClr val="F2A65A"/>
          </a:solidFill>
          <a:ln w="12700">
            <a:solidFill>
              <a:srgbClr val="F2A65A"/>
            </a:solidFill>
            <a:prstDash val="solid"/>
          </a:ln>
        </p:spPr>
        <p:txBody>
          <a:bodyPr/>
          <a:lstStyle/>
          <a:p>
            <a:endParaRPr lang="en-SE"/>
          </a:p>
        </p:txBody>
      </p:sp>
      <p:sp>
        <p:nvSpPr>
          <p:cNvPr id="4" name="Text 2"/>
          <p:cNvSpPr/>
          <p:nvPr/>
        </p:nvSpPr>
        <p:spPr>
          <a:xfrm>
            <a:off x="731520" y="182880"/>
            <a:ext cx="7680960" cy="457200"/>
          </a:xfrm>
          <a:prstGeom prst="rect">
            <a:avLst/>
          </a:prstGeom>
          <a:noFill/>
          <a:ln/>
        </p:spPr>
        <p:txBody>
          <a:bodyPr wrap="square" lIns="0" tIns="0" rIns="0" bIns="0" rtlCol="0" anchor="ctr"/>
          <a:lstStyle/>
          <a:p>
            <a:pPr marL="0" indent="0">
              <a:buNone/>
            </a:pPr>
            <a:r>
              <a:rPr lang="en-US" sz="1400" b="1" kern="0" spc="300" dirty="0">
                <a:solidFill>
                  <a:srgbClr val="1B1F24"/>
                </a:solidFill>
                <a:latin typeface="Trebuchet MS" pitchFamily="34" charset="0"/>
                <a:ea typeface="Trebuchet MS" pitchFamily="34" charset="-122"/>
                <a:cs typeface="Trebuchet MS" pitchFamily="34" charset="-120"/>
              </a:rPr>
              <a:t>EDUMATCHER  •  EDUCATIONAL TRADING SYSTEM</a:t>
            </a:r>
            <a:endParaRPr lang="en-US" sz="1400" dirty="0"/>
          </a:p>
        </p:txBody>
      </p:sp>
      <p:sp>
        <p:nvSpPr>
          <p:cNvPr id="5" name="Text 0"/>
          <p:cNvSpPr>
            <a:spLocks noGrp="1"/>
          </p:cNvSpPr>
          <p:nvPr>
            <p:ph type="title" idx="100" hasCustomPrompt="1"/>
          </p:nvPr>
        </p:nvSpPr>
        <p:spPr>
          <a:xfrm>
            <a:off x="731520" y="1572768"/>
            <a:ext cx="7680960" cy="1417320"/>
          </a:xfrm>
          <a:prstGeom prst="rect">
            <a:avLst/>
          </a:prstGeom>
          <a:noFill/>
          <a:ln/>
        </p:spPr>
        <p:txBody>
          <a:bodyPr wrap="square" rtlCol="0"/>
          <a:lstStyle/>
          <a:p>
            <a:pPr marL="0" indent="0">
              <a:buNone/>
            </a:pPr>
            <a:r>
              <a:rPr lang="en-US" sz="4200" b="1" dirty="0">
                <a:solidFill>
                  <a:srgbClr val="F3F5F7"/>
                </a:solidFill>
                <a:latin typeface="Trebuchet MS" pitchFamily="34" charset="0"/>
                <a:ea typeface="Trebuchet MS" pitchFamily="34" charset="-122"/>
                <a:cs typeface="Trebuchet MS" pitchFamily="34" charset="-120"/>
              </a:rPr>
              <a:t>The EduMatcher</a:t>
            </a:r>
            <a:endParaRPr lang="en-US" sz="4200" dirty="0"/>
          </a:p>
          <a:p>
            <a:pPr marL="0" indent="0">
              <a:buNone/>
            </a:pPr>
            <a:r>
              <a:rPr lang="en-US" sz="4200" b="1" dirty="0">
                <a:solidFill>
                  <a:srgbClr val="F3F5F7"/>
                </a:solidFill>
                <a:latin typeface="Trebuchet MS" pitchFamily="34" charset="0"/>
                <a:ea typeface="Trebuchet MS" pitchFamily="34" charset="-122"/>
                <a:cs typeface="Trebuchet MS" pitchFamily="34" charset="-120"/>
              </a:rPr>
              <a:t>API Gateway</a:t>
            </a:r>
            <a:endParaRPr lang="en-US" sz="4200" dirty="0"/>
          </a:p>
        </p:txBody>
      </p:sp>
      <p:sp>
        <p:nvSpPr>
          <p:cNvPr id="6" name="Text 4"/>
          <p:cNvSpPr/>
          <p:nvPr/>
        </p:nvSpPr>
        <p:spPr>
          <a:xfrm>
            <a:off x="749808" y="3127248"/>
            <a:ext cx="7680960" cy="457200"/>
          </a:xfrm>
          <a:prstGeom prst="rect">
            <a:avLst/>
          </a:prstGeom>
          <a:noFill/>
          <a:ln/>
        </p:spPr>
        <p:txBody>
          <a:bodyPr wrap="square" lIns="0" tIns="0" rIns="0" bIns="0" rtlCol="0" anchor="ctr"/>
          <a:lstStyle/>
          <a:p>
            <a:pPr marL="0" indent="0">
              <a:buNone/>
            </a:pPr>
            <a:r>
              <a:rPr lang="en-US" sz="1700" dirty="0">
                <a:solidFill>
                  <a:srgbClr val="F2A65A"/>
                </a:solidFill>
                <a:latin typeface="Calibri" pitchFamily="34" charset="0"/>
                <a:ea typeface="Calibri" pitchFamily="34" charset="-122"/>
                <a:cs typeface="Calibri" pitchFamily="34" charset="-120"/>
              </a:rPr>
              <a:t>REST and WebSocket access to the exchange — a beginner's guide</a:t>
            </a:r>
            <a:endParaRPr lang="en-US" sz="1700" dirty="0"/>
          </a:p>
        </p:txBody>
      </p:sp>
      <p:sp>
        <p:nvSpPr>
          <p:cNvPr id="7" name="Text 5"/>
          <p:cNvSpPr/>
          <p:nvPr/>
        </p:nvSpPr>
        <p:spPr>
          <a:xfrm>
            <a:off x="749808" y="4160520"/>
            <a:ext cx="7680960" cy="365760"/>
          </a:xfrm>
          <a:prstGeom prst="rect">
            <a:avLst/>
          </a:prstGeom>
          <a:noFill/>
          <a:ln/>
        </p:spPr>
        <p:txBody>
          <a:bodyPr wrap="square" lIns="0" tIns="0" rIns="0" bIns="0" rtlCol="0" anchor="ctr"/>
          <a:lstStyle/>
          <a:p>
            <a:pPr marL="0" indent="0">
              <a:buNone/>
            </a:pPr>
            <a:r>
              <a:rPr lang="en-US" sz="1150" dirty="0">
                <a:solidFill>
                  <a:srgbClr val="97A1AC"/>
                </a:solidFill>
                <a:latin typeface="Calibri" pitchFamily="34" charset="0"/>
                <a:ea typeface="Calibri" pitchFamily="34" charset="-122"/>
                <a:cs typeface="Calibri" pitchFamily="34" charset="-120"/>
              </a:rPr>
              <a:t>pm-api-gwy  ·  Base path /api/v1  ·  Built for browser UIs, dashboards, bots and teaching examples</a:t>
            </a:r>
            <a:endParaRPr lang="en-US" sz="1150" dirty="0"/>
          </a:p>
        </p:txBody>
      </p:sp>
      <p:sp>
        <p:nvSpPr>
          <p:cNvPr id="8" name="accent mark">
            <a:extLst>
              <a:ext uri="{C183D7F6-B498-43B3-948B-1728B52AA6E4}">
                <adec:decorative xmlns:adec="http://schemas.microsoft.com/office/drawing/2017/decorative" val="1"/>
              </a:ext>
            </a:extLst>
          </p:cNvPr>
          <p:cNvSpPr/>
          <p:nvPr/>
        </p:nvSpPr>
        <p:spPr>
          <a:xfrm>
            <a:off x="749808" y="3794760"/>
            <a:ext cx="310896" cy="73152"/>
          </a:xfrm>
          <a:prstGeom prst="rect">
            <a:avLst/>
          </a:prstGeom>
          <a:solidFill>
            <a:srgbClr val="E8722C"/>
          </a:solidFill>
          <a:ln w="12700">
            <a:solidFill>
              <a:srgbClr val="121519"/>
            </a:solidFill>
            <a:prstDash val="solid"/>
          </a:ln>
        </p:spPr>
        <p:txBody>
          <a:bodyPr/>
          <a:lstStyle/>
          <a:p>
            <a:endParaRPr lang="en-SE"/>
          </a:p>
        </p:txBody>
      </p:sp>
      <p:sp>
        <p:nvSpPr>
          <p:cNvPr id="9" name="accent mark">
            <a:extLst>
              <a:ext uri="{C183D7F6-B498-43B3-948B-1728B52AA6E4}">
                <adec:decorative xmlns:adec="http://schemas.microsoft.com/office/drawing/2017/decorative" val="1"/>
              </a:ext>
            </a:extLst>
          </p:cNvPr>
          <p:cNvSpPr/>
          <p:nvPr/>
        </p:nvSpPr>
        <p:spPr>
          <a:xfrm>
            <a:off x="1207008" y="3794760"/>
            <a:ext cx="310896" cy="73152"/>
          </a:xfrm>
          <a:prstGeom prst="rect">
            <a:avLst/>
          </a:prstGeom>
          <a:solidFill>
            <a:srgbClr val="F2A65A"/>
          </a:solidFill>
          <a:ln w="12700">
            <a:solidFill>
              <a:srgbClr val="121519"/>
            </a:solidFill>
            <a:prstDash val="solid"/>
          </a:ln>
        </p:spPr>
        <p:txBody>
          <a:bodyPr/>
          <a:lstStyle/>
          <a:p>
            <a:endParaRPr lang="en-SE"/>
          </a:p>
        </p:txBody>
      </p:sp>
      <p:sp>
        <p:nvSpPr>
          <p:cNvPr id="10" name="accent mark">
            <a:extLst>
              <a:ext uri="{C183D7F6-B498-43B3-948B-1728B52AA6E4}">
                <adec:decorative xmlns:adec="http://schemas.microsoft.com/office/drawing/2017/decorative" val="1"/>
              </a:ext>
            </a:extLst>
          </p:cNvPr>
          <p:cNvSpPr/>
          <p:nvPr/>
        </p:nvSpPr>
        <p:spPr>
          <a:xfrm>
            <a:off x="1664208" y="3794760"/>
            <a:ext cx="310896" cy="73152"/>
          </a:xfrm>
          <a:prstGeom prst="rect">
            <a:avLst/>
          </a:prstGeom>
          <a:solidFill>
            <a:srgbClr val="35A79C"/>
          </a:solidFill>
          <a:ln w="12700">
            <a:solidFill>
              <a:srgbClr val="121519"/>
            </a:solidFill>
            <a:prstDash val="solid"/>
          </a:ln>
        </p:spPr>
        <p:txBody>
          <a:bodyPr/>
          <a:lstStyle/>
          <a:p>
            <a:endParaRPr lang="en-SE"/>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8138160" cy="548640"/>
          </a:xfrm>
          <a:prstGeom prst="rect">
            <a:avLst/>
          </a:prstGeom>
          <a:noFill/>
          <a:ln/>
        </p:spPr>
        <p:txBody>
          <a:bodyPr wrap="square" lIns="0" tIns="0" rIns="0" bIns="0" rtlCol="0" anchor="ctr"/>
          <a:lstStyle/>
          <a:p>
            <a:pPr marL="0" indent="0">
              <a:buNone/>
            </a:pPr>
            <a:r>
              <a:rPr lang="en-US" sz="2700" b="1" dirty="0">
                <a:solidFill>
                  <a:srgbClr val="F3F5F7"/>
                </a:solidFill>
                <a:latin typeface="Trebuchet MS" pitchFamily="34" charset="0"/>
                <a:ea typeface="Trebuchet MS" pitchFamily="34" charset="-122"/>
                <a:cs typeface="Trebuchet MS" pitchFamily="34" charset="-120"/>
              </a:rPr>
              <a:t>What this deck covers</a:t>
            </a:r>
            <a:endParaRPr lang="en-US" sz="2700" dirty="0"/>
          </a:p>
        </p:txBody>
      </p:sp>
      <p:sp>
        <p:nvSpPr>
          <p:cNvPr id="3" name="Text 1"/>
          <p:cNvSpPr/>
          <p:nvPr/>
        </p:nvSpPr>
        <p:spPr>
          <a:xfrm>
            <a:off x="502920" y="841248"/>
            <a:ext cx="8138160" cy="237744"/>
          </a:xfrm>
          <a:prstGeom prst="rect">
            <a:avLst/>
          </a:prstGeom>
          <a:noFill/>
          <a:ln/>
        </p:spPr>
        <p:txBody>
          <a:bodyPr wrap="square" lIns="0" tIns="0" rIns="0" bIns="0" rtlCol="0" anchor="ctr"/>
          <a:lstStyle/>
          <a:p>
            <a:pPr marL="0" indent="0">
              <a:buNone/>
            </a:pPr>
            <a:r>
              <a:rPr lang="en-US" sz="1100" b="1" kern="0" spc="200" dirty="0">
                <a:solidFill>
                  <a:srgbClr val="E8722C"/>
                </a:solidFill>
                <a:latin typeface="Calibri" pitchFamily="34" charset="0"/>
                <a:ea typeface="Calibri" pitchFamily="34" charset="-122"/>
                <a:cs typeface="Calibri" pitchFamily="34" charset="-120"/>
              </a:rPr>
              <a:t>AGENDA</a:t>
            </a:r>
            <a:endParaRPr lang="en-US" sz="1100" dirty="0"/>
          </a:p>
        </p:txBody>
      </p:sp>
      <p:sp>
        <p:nvSpPr>
          <p:cNvPr id="4" name="card background">
            <a:extLst>
              <a:ext uri="{C183D7F6-B498-43B3-948B-1728B52AA6E4}">
                <adec:decorative xmlns:adec="http://schemas.microsoft.com/office/drawing/2017/decorative" val="1"/>
              </a:ext>
            </a:extLst>
          </p:cNvPr>
          <p:cNvSpPr/>
          <p:nvPr/>
        </p:nvSpPr>
        <p:spPr>
          <a:xfrm>
            <a:off x="502920" y="1234440"/>
            <a:ext cx="2566416" cy="960120"/>
          </a:xfrm>
          <a:prstGeom prst="roundRect">
            <a:avLst>
              <a:gd name="adj" fmla="val 5714"/>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5" name="step marker">
            <a:extLst>
              <a:ext uri="{C183D7F6-B498-43B3-948B-1728B52AA6E4}">
                <adec:decorative xmlns:adec="http://schemas.microsoft.com/office/drawing/2017/decorative" val="1"/>
              </a:ext>
            </a:extLst>
          </p:cNvPr>
          <p:cNvSpPr/>
          <p:nvPr/>
        </p:nvSpPr>
        <p:spPr>
          <a:xfrm>
            <a:off x="704088" y="1417320"/>
            <a:ext cx="310896" cy="310896"/>
          </a:xfrm>
          <a:prstGeom prst="ellipse">
            <a:avLst/>
          </a:prstGeom>
          <a:solidFill>
            <a:srgbClr val="E8722C"/>
          </a:solidFill>
          <a:ln w="12700">
            <a:solidFill>
              <a:srgbClr val="E8722C"/>
            </a:solidFill>
            <a:prstDash val="solid"/>
          </a:ln>
        </p:spPr>
        <p:txBody>
          <a:bodyPr/>
          <a:lstStyle/>
          <a:p>
            <a:endParaRPr lang="en-SE"/>
          </a:p>
        </p:txBody>
      </p:sp>
      <p:sp>
        <p:nvSpPr>
          <p:cNvPr id="6" name="Text 4"/>
          <p:cNvSpPr/>
          <p:nvPr/>
        </p:nvSpPr>
        <p:spPr>
          <a:xfrm>
            <a:off x="704088" y="1417320"/>
            <a:ext cx="310896" cy="310896"/>
          </a:xfrm>
          <a:prstGeom prst="rect">
            <a:avLst/>
          </a:prstGeom>
          <a:noFill/>
          <a:ln/>
        </p:spPr>
        <p:txBody>
          <a:bodyPr wrap="square" lIns="0" tIns="0" rIns="0" bIns="0" rtlCol="0" anchor="ctr"/>
          <a:lstStyle/>
          <a:p>
            <a:pPr marL="0" indent="0" algn="ctr">
              <a:buNone/>
            </a:pPr>
            <a:r>
              <a:rPr lang="en-US" sz="1300" b="1" dirty="0">
                <a:solidFill>
                  <a:srgbClr val="13161A"/>
                </a:solidFill>
                <a:latin typeface="Trebuchet MS" pitchFamily="34" charset="0"/>
                <a:ea typeface="Trebuchet MS" pitchFamily="34" charset="-122"/>
                <a:cs typeface="Trebuchet MS" pitchFamily="34" charset="-120"/>
              </a:rPr>
              <a:t>1</a:t>
            </a:r>
            <a:endParaRPr lang="en-US" sz="1300" dirty="0"/>
          </a:p>
        </p:txBody>
      </p:sp>
      <p:sp>
        <p:nvSpPr>
          <p:cNvPr id="7" name="Text 5"/>
          <p:cNvSpPr/>
          <p:nvPr/>
        </p:nvSpPr>
        <p:spPr>
          <a:xfrm>
            <a:off x="1106424" y="1417320"/>
            <a:ext cx="1780032" cy="329184"/>
          </a:xfrm>
          <a:prstGeom prst="rect">
            <a:avLst/>
          </a:prstGeom>
          <a:noFill/>
          <a:ln/>
        </p:spPr>
        <p:txBody>
          <a:bodyPr wrap="square" lIns="0" tIns="0" rIns="0" bIns="0" rtlCol="0" anchor="ctr"/>
          <a:lstStyle/>
          <a:p>
            <a:pPr marL="0" indent="0">
              <a:buNone/>
            </a:pPr>
            <a:r>
              <a:rPr lang="en-US" sz="1400" b="1" dirty="0">
                <a:solidFill>
                  <a:srgbClr val="E8722C"/>
                </a:solidFill>
                <a:latin typeface="Trebuchet MS" pitchFamily="34" charset="0"/>
                <a:ea typeface="Trebuchet MS" pitchFamily="34" charset="-122"/>
                <a:cs typeface="Trebuchet MS" pitchFamily="34" charset="-120"/>
              </a:rPr>
              <a:t>Orientation</a:t>
            </a:r>
            <a:endParaRPr lang="en-US" sz="1400" dirty="0"/>
          </a:p>
        </p:txBody>
      </p:sp>
      <p:sp>
        <p:nvSpPr>
          <p:cNvPr id="8" name="Text 6"/>
          <p:cNvSpPr/>
          <p:nvPr/>
        </p:nvSpPr>
        <p:spPr>
          <a:xfrm>
            <a:off x="722376" y="1783080"/>
            <a:ext cx="2127504" cy="301752"/>
          </a:xfrm>
          <a:prstGeom prst="rect">
            <a:avLst/>
          </a:prstGeom>
          <a:noFill/>
          <a:ln/>
        </p:spPr>
        <p:txBody>
          <a:bodyPr wrap="square" lIns="0" tIns="0" rIns="0" bIns="0" rtlCol="0" anchor="t"/>
          <a:lstStyle/>
          <a:p>
            <a:pPr marL="0" indent="0">
              <a:buNone/>
            </a:pPr>
            <a:r>
              <a:rPr lang="en-US" sz="1000" dirty="0">
                <a:solidFill>
                  <a:srgbClr val="D5DAE0"/>
                </a:solidFill>
                <a:latin typeface="Calibri" pitchFamily="34" charset="0"/>
                <a:ea typeface="Calibri" pitchFamily="34" charset="-122"/>
                <a:cs typeface="Calibri" pitchFamily="34" charset="-120"/>
              </a:rPr>
              <a:t>What the gateway is, what it is not, and where it sits in the system.</a:t>
            </a:r>
            <a:endParaRPr lang="en-US" sz="1000" dirty="0"/>
          </a:p>
        </p:txBody>
      </p:sp>
      <p:sp>
        <p:nvSpPr>
          <p:cNvPr id="9" name="card background">
            <a:extLst>
              <a:ext uri="{C183D7F6-B498-43B3-948B-1728B52AA6E4}">
                <adec:decorative xmlns:adec="http://schemas.microsoft.com/office/drawing/2017/decorative" val="1"/>
              </a:ext>
            </a:extLst>
          </p:cNvPr>
          <p:cNvSpPr/>
          <p:nvPr/>
        </p:nvSpPr>
        <p:spPr>
          <a:xfrm>
            <a:off x="3288792" y="1234440"/>
            <a:ext cx="2566416" cy="960120"/>
          </a:xfrm>
          <a:prstGeom prst="roundRect">
            <a:avLst>
              <a:gd name="adj" fmla="val 5714"/>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0" name="step marker">
            <a:extLst>
              <a:ext uri="{C183D7F6-B498-43B3-948B-1728B52AA6E4}">
                <adec:decorative xmlns:adec="http://schemas.microsoft.com/office/drawing/2017/decorative" val="1"/>
              </a:ext>
            </a:extLst>
          </p:cNvPr>
          <p:cNvSpPr/>
          <p:nvPr/>
        </p:nvSpPr>
        <p:spPr>
          <a:xfrm>
            <a:off x="3489960" y="1417320"/>
            <a:ext cx="310896" cy="310896"/>
          </a:xfrm>
          <a:prstGeom prst="ellipse">
            <a:avLst/>
          </a:prstGeom>
          <a:solidFill>
            <a:srgbClr val="35A79C"/>
          </a:solidFill>
          <a:ln w="12700">
            <a:solidFill>
              <a:srgbClr val="35A79C"/>
            </a:solidFill>
            <a:prstDash val="solid"/>
          </a:ln>
        </p:spPr>
        <p:txBody>
          <a:bodyPr/>
          <a:lstStyle/>
          <a:p>
            <a:endParaRPr lang="en-SE"/>
          </a:p>
        </p:txBody>
      </p:sp>
      <p:sp>
        <p:nvSpPr>
          <p:cNvPr id="11" name="Text 9"/>
          <p:cNvSpPr/>
          <p:nvPr/>
        </p:nvSpPr>
        <p:spPr>
          <a:xfrm>
            <a:off x="3489960" y="1417320"/>
            <a:ext cx="310896" cy="310896"/>
          </a:xfrm>
          <a:prstGeom prst="rect">
            <a:avLst/>
          </a:prstGeom>
          <a:noFill/>
          <a:ln/>
        </p:spPr>
        <p:txBody>
          <a:bodyPr wrap="square" lIns="0" tIns="0" rIns="0" bIns="0" rtlCol="0" anchor="ctr"/>
          <a:lstStyle/>
          <a:p>
            <a:pPr marL="0" indent="0" algn="ctr">
              <a:buNone/>
            </a:pPr>
            <a:r>
              <a:rPr lang="en-US" sz="1300" b="1" dirty="0">
                <a:solidFill>
                  <a:srgbClr val="13161A"/>
                </a:solidFill>
                <a:latin typeface="Trebuchet MS" pitchFamily="34" charset="0"/>
                <a:ea typeface="Trebuchet MS" pitchFamily="34" charset="-122"/>
                <a:cs typeface="Trebuchet MS" pitchFamily="34" charset="-120"/>
              </a:rPr>
              <a:t>2</a:t>
            </a:r>
            <a:endParaRPr lang="en-US" sz="1300" dirty="0"/>
          </a:p>
        </p:txBody>
      </p:sp>
      <p:sp>
        <p:nvSpPr>
          <p:cNvPr id="12" name="Text 10"/>
          <p:cNvSpPr/>
          <p:nvPr/>
        </p:nvSpPr>
        <p:spPr>
          <a:xfrm>
            <a:off x="3892296" y="1417320"/>
            <a:ext cx="1780032" cy="329184"/>
          </a:xfrm>
          <a:prstGeom prst="rect">
            <a:avLst/>
          </a:prstGeom>
          <a:noFill/>
          <a:ln/>
        </p:spPr>
        <p:txBody>
          <a:bodyPr wrap="square" lIns="0" tIns="0" rIns="0" bIns="0" rtlCol="0" anchor="ctr"/>
          <a:lstStyle/>
          <a:p>
            <a:pPr marL="0" indent="0">
              <a:buNone/>
            </a:pPr>
            <a:r>
              <a:rPr lang="en-US" sz="1400" b="1" dirty="0">
                <a:solidFill>
                  <a:srgbClr val="35A79C"/>
                </a:solidFill>
                <a:latin typeface="Trebuchet MS" pitchFamily="34" charset="0"/>
                <a:ea typeface="Trebuchet MS" pitchFamily="34" charset="-122"/>
                <a:cs typeface="Trebuchet MS" pitchFamily="34" charset="-120"/>
              </a:rPr>
              <a:t>REST vs WebSocket</a:t>
            </a:r>
            <a:endParaRPr lang="en-US" sz="1400" dirty="0"/>
          </a:p>
        </p:txBody>
      </p:sp>
      <p:sp>
        <p:nvSpPr>
          <p:cNvPr id="13" name="Text 11"/>
          <p:cNvSpPr/>
          <p:nvPr/>
        </p:nvSpPr>
        <p:spPr>
          <a:xfrm>
            <a:off x="3508248" y="1783080"/>
            <a:ext cx="2127504" cy="301752"/>
          </a:xfrm>
          <a:prstGeom prst="rect">
            <a:avLst/>
          </a:prstGeom>
          <a:noFill/>
          <a:ln/>
        </p:spPr>
        <p:txBody>
          <a:bodyPr wrap="square" lIns="0" tIns="0" rIns="0" bIns="0" rtlCol="0" anchor="t"/>
          <a:lstStyle/>
          <a:p>
            <a:pPr marL="0" indent="0">
              <a:buNone/>
            </a:pPr>
            <a:r>
              <a:rPr lang="en-US" sz="1000" dirty="0">
                <a:solidFill>
                  <a:srgbClr val="D5DAE0"/>
                </a:solidFill>
                <a:latin typeface="Calibri" pitchFamily="34" charset="0"/>
                <a:ea typeface="Calibri" pitchFamily="34" charset="-122"/>
                <a:cs typeface="Calibri" pitchFamily="34" charset="-120"/>
              </a:rPr>
              <a:t>Two doors into the exchange, and when to use each one.</a:t>
            </a:r>
            <a:endParaRPr lang="en-US" sz="1000" dirty="0"/>
          </a:p>
        </p:txBody>
      </p:sp>
      <p:sp>
        <p:nvSpPr>
          <p:cNvPr id="14" name="card background">
            <a:extLst>
              <a:ext uri="{C183D7F6-B498-43B3-948B-1728B52AA6E4}">
                <adec:decorative xmlns:adec="http://schemas.microsoft.com/office/drawing/2017/decorative" val="1"/>
              </a:ext>
            </a:extLst>
          </p:cNvPr>
          <p:cNvSpPr/>
          <p:nvPr/>
        </p:nvSpPr>
        <p:spPr>
          <a:xfrm>
            <a:off x="6074664" y="1234440"/>
            <a:ext cx="2566416" cy="960120"/>
          </a:xfrm>
          <a:prstGeom prst="roundRect">
            <a:avLst>
              <a:gd name="adj" fmla="val 5714"/>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5" name="step marker">
            <a:extLst>
              <a:ext uri="{C183D7F6-B498-43B3-948B-1728B52AA6E4}">
                <adec:decorative xmlns:adec="http://schemas.microsoft.com/office/drawing/2017/decorative" val="1"/>
              </a:ext>
            </a:extLst>
          </p:cNvPr>
          <p:cNvSpPr/>
          <p:nvPr/>
        </p:nvSpPr>
        <p:spPr>
          <a:xfrm>
            <a:off x="6275832" y="1417320"/>
            <a:ext cx="310896" cy="310896"/>
          </a:xfrm>
          <a:prstGeom prst="ellipse">
            <a:avLst/>
          </a:prstGeom>
          <a:solidFill>
            <a:srgbClr val="E8722C"/>
          </a:solidFill>
          <a:ln w="12700">
            <a:solidFill>
              <a:srgbClr val="E8722C"/>
            </a:solidFill>
            <a:prstDash val="solid"/>
          </a:ln>
        </p:spPr>
        <p:txBody>
          <a:bodyPr/>
          <a:lstStyle/>
          <a:p>
            <a:endParaRPr lang="en-SE"/>
          </a:p>
        </p:txBody>
      </p:sp>
      <p:sp>
        <p:nvSpPr>
          <p:cNvPr id="16" name="Text 14"/>
          <p:cNvSpPr/>
          <p:nvPr/>
        </p:nvSpPr>
        <p:spPr>
          <a:xfrm>
            <a:off x="6275832" y="1417320"/>
            <a:ext cx="310896" cy="310896"/>
          </a:xfrm>
          <a:prstGeom prst="rect">
            <a:avLst/>
          </a:prstGeom>
          <a:noFill/>
          <a:ln/>
        </p:spPr>
        <p:txBody>
          <a:bodyPr wrap="square" lIns="0" tIns="0" rIns="0" bIns="0" rtlCol="0" anchor="ctr"/>
          <a:lstStyle/>
          <a:p>
            <a:pPr marL="0" indent="0" algn="ctr">
              <a:buNone/>
            </a:pPr>
            <a:r>
              <a:rPr lang="en-US" sz="1300" b="1" dirty="0">
                <a:solidFill>
                  <a:srgbClr val="13161A"/>
                </a:solidFill>
                <a:latin typeface="Trebuchet MS" pitchFamily="34" charset="0"/>
                <a:ea typeface="Trebuchet MS" pitchFamily="34" charset="-122"/>
                <a:cs typeface="Trebuchet MS" pitchFamily="34" charset="-120"/>
              </a:rPr>
              <a:t>3</a:t>
            </a:r>
            <a:endParaRPr lang="en-US" sz="1300" dirty="0"/>
          </a:p>
        </p:txBody>
      </p:sp>
      <p:sp>
        <p:nvSpPr>
          <p:cNvPr id="17" name="Text 15"/>
          <p:cNvSpPr/>
          <p:nvPr/>
        </p:nvSpPr>
        <p:spPr>
          <a:xfrm>
            <a:off x="6678168" y="1417320"/>
            <a:ext cx="1780032" cy="329184"/>
          </a:xfrm>
          <a:prstGeom prst="rect">
            <a:avLst/>
          </a:prstGeom>
          <a:noFill/>
          <a:ln/>
        </p:spPr>
        <p:txBody>
          <a:bodyPr wrap="square" lIns="0" tIns="0" rIns="0" bIns="0" rtlCol="0" anchor="ctr"/>
          <a:lstStyle/>
          <a:p>
            <a:pPr marL="0" indent="0">
              <a:buNone/>
            </a:pPr>
            <a:r>
              <a:rPr lang="en-US" sz="1400" b="1" dirty="0">
                <a:solidFill>
                  <a:srgbClr val="E8722C"/>
                </a:solidFill>
                <a:latin typeface="Trebuchet MS" pitchFamily="34" charset="0"/>
                <a:ea typeface="Trebuchet MS" pitchFamily="34" charset="-122"/>
                <a:cs typeface="Trebuchet MS" pitchFamily="34" charset="-120"/>
              </a:rPr>
              <a:t>Getting connected</a:t>
            </a:r>
            <a:endParaRPr lang="en-US" sz="1400" dirty="0"/>
          </a:p>
        </p:txBody>
      </p:sp>
      <p:sp>
        <p:nvSpPr>
          <p:cNvPr id="18" name="Text 16"/>
          <p:cNvSpPr/>
          <p:nvPr/>
        </p:nvSpPr>
        <p:spPr>
          <a:xfrm>
            <a:off x="6294120" y="1783080"/>
            <a:ext cx="2127504" cy="301752"/>
          </a:xfrm>
          <a:prstGeom prst="rect">
            <a:avLst/>
          </a:prstGeom>
          <a:noFill/>
          <a:ln/>
        </p:spPr>
        <p:txBody>
          <a:bodyPr wrap="square" lIns="0" tIns="0" rIns="0" bIns="0" rtlCol="0" anchor="t"/>
          <a:lstStyle/>
          <a:p>
            <a:pPr marL="0" indent="0">
              <a:buNone/>
            </a:pPr>
            <a:r>
              <a:rPr lang="en-US" sz="1000" dirty="0">
                <a:solidFill>
                  <a:srgbClr val="D5DAE0"/>
                </a:solidFill>
                <a:latin typeface="Calibri" pitchFamily="34" charset="0"/>
                <a:ea typeface="Calibri" pitchFamily="34" charset="-122"/>
                <a:cs typeface="Calibri" pitchFamily="34" charset="-120"/>
              </a:rPr>
              <a:t>Configuration, starting the processes, Swagger and your first call.</a:t>
            </a:r>
            <a:endParaRPr lang="en-US" sz="1000" dirty="0"/>
          </a:p>
        </p:txBody>
      </p:sp>
      <p:sp>
        <p:nvSpPr>
          <p:cNvPr id="19" name="card background">
            <a:extLst>
              <a:ext uri="{C183D7F6-B498-43B3-948B-1728B52AA6E4}">
                <adec:decorative xmlns:adec="http://schemas.microsoft.com/office/drawing/2017/decorative" val="1"/>
              </a:ext>
            </a:extLst>
          </p:cNvPr>
          <p:cNvSpPr/>
          <p:nvPr/>
        </p:nvSpPr>
        <p:spPr>
          <a:xfrm>
            <a:off x="502920" y="2340864"/>
            <a:ext cx="2566416" cy="960120"/>
          </a:xfrm>
          <a:prstGeom prst="roundRect">
            <a:avLst>
              <a:gd name="adj" fmla="val 5714"/>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20" name="step marker">
            <a:extLst>
              <a:ext uri="{C183D7F6-B498-43B3-948B-1728B52AA6E4}">
                <adec:decorative xmlns:adec="http://schemas.microsoft.com/office/drawing/2017/decorative" val="1"/>
              </a:ext>
            </a:extLst>
          </p:cNvPr>
          <p:cNvSpPr/>
          <p:nvPr/>
        </p:nvSpPr>
        <p:spPr>
          <a:xfrm>
            <a:off x="704088" y="2523744"/>
            <a:ext cx="310896" cy="310896"/>
          </a:xfrm>
          <a:prstGeom prst="ellipse">
            <a:avLst/>
          </a:prstGeom>
          <a:solidFill>
            <a:srgbClr val="35A79C"/>
          </a:solidFill>
          <a:ln w="12700">
            <a:solidFill>
              <a:srgbClr val="35A79C"/>
            </a:solidFill>
            <a:prstDash val="solid"/>
          </a:ln>
        </p:spPr>
        <p:txBody>
          <a:bodyPr/>
          <a:lstStyle/>
          <a:p>
            <a:endParaRPr lang="en-SE"/>
          </a:p>
        </p:txBody>
      </p:sp>
      <p:sp>
        <p:nvSpPr>
          <p:cNvPr id="21" name="Text 19"/>
          <p:cNvSpPr/>
          <p:nvPr/>
        </p:nvSpPr>
        <p:spPr>
          <a:xfrm>
            <a:off x="704088" y="2523744"/>
            <a:ext cx="310896" cy="310896"/>
          </a:xfrm>
          <a:prstGeom prst="rect">
            <a:avLst/>
          </a:prstGeom>
          <a:noFill/>
          <a:ln/>
        </p:spPr>
        <p:txBody>
          <a:bodyPr wrap="square" lIns="0" tIns="0" rIns="0" bIns="0" rtlCol="0" anchor="ctr"/>
          <a:lstStyle/>
          <a:p>
            <a:pPr marL="0" indent="0" algn="ctr">
              <a:buNone/>
            </a:pPr>
            <a:r>
              <a:rPr lang="en-US" sz="1300" b="1" dirty="0">
                <a:solidFill>
                  <a:srgbClr val="13161A"/>
                </a:solidFill>
                <a:latin typeface="Trebuchet MS" pitchFamily="34" charset="0"/>
                <a:ea typeface="Trebuchet MS" pitchFamily="34" charset="-122"/>
                <a:cs typeface="Trebuchet MS" pitchFamily="34" charset="-120"/>
              </a:rPr>
              <a:t>4</a:t>
            </a:r>
            <a:endParaRPr lang="en-US" sz="1300" dirty="0"/>
          </a:p>
        </p:txBody>
      </p:sp>
      <p:sp>
        <p:nvSpPr>
          <p:cNvPr id="22" name="Text 20"/>
          <p:cNvSpPr/>
          <p:nvPr/>
        </p:nvSpPr>
        <p:spPr>
          <a:xfrm>
            <a:off x="1106424" y="2523744"/>
            <a:ext cx="1780032" cy="329184"/>
          </a:xfrm>
          <a:prstGeom prst="rect">
            <a:avLst/>
          </a:prstGeom>
          <a:noFill/>
          <a:ln/>
        </p:spPr>
        <p:txBody>
          <a:bodyPr wrap="square" lIns="0" tIns="0" rIns="0" bIns="0" rtlCol="0" anchor="ctr"/>
          <a:lstStyle/>
          <a:p>
            <a:pPr marL="0" indent="0">
              <a:buNone/>
            </a:pPr>
            <a:r>
              <a:rPr lang="en-US" sz="1400" b="1" dirty="0">
                <a:solidFill>
                  <a:srgbClr val="35A79C"/>
                </a:solidFill>
                <a:latin typeface="Trebuchet MS" pitchFamily="34" charset="0"/>
                <a:ea typeface="Trebuchet MS" pitchFamily="34" charset="-122"/>
                <a:cs typeface="Trebuchet MS" pitchFamily="34" charset="-120"/>
              </a:rPr>
              <a:t>API keys &amp; access</a:t>
            </a:r>
            <a:endParaRPr lang="en-US" sz="1400" dirty="0"/>
          </a:p>
        </p:txBody>
      </p:sp>
      <p:sp>
        <p:nvSpPr>
          <p:cNvPr id="23" name="Text 21"/>
          <p:cNvSpPr/>
          <p:nvPr/>
        </p:nvSpPr>
        <p:spPr>
          <a:xfrm>
            <a:off x="722376" y="2889504"/>
            <a:ext cx="2127504" cy="301752"/>
          </a:xfrm>
          <a:prstGeom prst="rect">
            <a:avLst/>
          </a:prstGeom>
          <a:noFill/>
          <a:ln/>
        </p:spPr>
        <p:txBody>
          <a:bodyPr wrap="square" lIns="0" tIns="0" rIns="0" bIns="0" rtlCol="0" anchor="t"/>
          <a:lstStyle/>
          <a:p>
            <a:pPr marL="0" indent="0">
              <a:buNone/>
            </a:pPr>
            <a:r>
              <a:rPr lang="en-US" sz="1000" dirty="0">
                <a:solidFill>
                  <a:srgbClr val="D5DAE0"/>
                </a:solidFill>
                <a:latin typeface="Calibri" pitchFamily="34" charset="0"/>
                <a:ea typeface="Calibri" pitchFamily="34" charset="-122"/>
                <a:cs typeface="Calibri" pitchFamily="34" charset="-120"/>
              </a:rPr>
              <a:t>Bearer tokens, read-only vs trading vs admin.</a:t>
            </a:r>
            <a:endParaRPr lang="en-US" sz="1000" dirty="0"/>
          </a:p>
        </p:txBody>
      </p:sp>
      <p:sp>
        <p:nvSpPr>
          <p:cNvPr id="24" name="card background">
            <a:extLst>
              <a:ext uri="{C183D7F6-B498-43B3-948B-1728B52AA6E4}">
                <adec:decorative xmlns:adec="http://schemas.microsoft.com/office/drawing/2017/decorative" val="1"/>
              </a:ext>
            </a:extLst>
          </p:cNvPr>
          <p:cNvSpPr/>
          <p:nvPr/>
        </p:nvSpPr>
        <p:spPr>
          <a:xfrm>
            <a:off x="3288792" y="2340864"/>
            <a:ext cx="2566416" cy="960120"/>
          </a:xfrm>
          <a:prstGeom prst="roundRect">
            <a:avLst>
              <a:gd name="adj" fmla="val 5714"/>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25" name="step marker">
            <a:extLst>
              <a:ext uri="{C183D7F6-B498-43B3-948B-1728B52AA6E4}">
                <adec:decorative xmlns:adec="http://schemas.microsoft.com/office/drawing/2017/decorative" val="1"/>
              </a:ext>
            </a:extLst>
          </p:cNvPr>
          <p:cNvSpPr/>
          <p:nvPr/>
        </p:nvSpPr>
        <p:spPr>
          <a:xfrm>
            <a:off x="3489960" y="2523744"/>
            <a:ext cx="310896" cy="310896"/>
          </a:xfrm>
          <a:prstGeom prst="ellipse">
            <a:avLst/>
          </a:prstGeom>
          <a:solidFill>
            <a:srgbClr val="E8722C"/>
          </a:solidFill>
          <a:ln w="12700">
            <a:solidFill>
              <a:srgbClr val="E8722C"/>
            </a:solidFill>
            <a:prstDash val="solid"/>
          </a:ln>
        </p:spPr>
        <p:txBody>
          <a:bodyPr/>
          <a:lstStyle/>
          <a:p>
            <a:endParaRPr lang="en-SE"/>
          </a:p>
        </p:txBody>
      </p:sp>
      <p:sp>
        <p:nvSpPr>
          <p:cNvPr id="26" name="Text 24"/>
          <p:cNvSpPr/>
          <p:nvPr/>
        </p:nvSpPr>
        <p:spPr>
          <a:xfrm>
            <a:off x="3489960" y="2523744"/>
            <a:ext cx="310896" cy="310896"/>
          </a:xfrm>
          <a:prstGeom prst="rect">
            <a:avLst/>
          </a:prstGeom>
          <a:noFill/>
          <a:ln/>
        </p:spPr>
        <p:txBody>
          <a:bodyPr wrap="square" lIns="0" tIns="0" rIns="0" bIns="0" rtlCol="0" anchor="ctr"/>
          <a:lstStyle/>
          <a:p>
            <a:pPr marL="0" indent="0" algn="ctr">
              <a:buNone/>
            </a:pPr>
            <a:r>
              <a:rPr lang="en-US" sz="1300" b="1" dirty="0">
                <a:solidFill>
                  <a:srgbClr val="13161A"/>
                </a:solidFill>
                <a:latin typeface="Trebuchet MS" pitchFamily="34" charset="0"/>
                <a:ea typeface="Trebuchet MS" pitchFamily="34" charset="-122"/>
                <a:cs typeface="Trebuchet MS" pitchFamily="34" charset="-120"/>
              </a:rPr>
              <a:t>5</a:t>
            </a:r>
            <a:endParaRPr lang="en-US" sz="1300" dirty="0"/>
          </a:p>
        </p:txBody>
      </p:sp>
      <p:sp>
        <p:nvSpPr>
          <p:cNvPr id="27" name="Text 25"/>
          <p:cNvSpPr/>
          <p:nvPr/>
        </p:nvSpPr>
        <p:spPr>
          <a:xfrm>
            <a:off x="3892296" y="2523744"/>
            <a:ext cx="1780032" cy="329184"/>
          </a:xfrm>
          <a:prstGeom prst="rect">
            <a:avLst/>
          </a:prstGeom>
          <a:noFill/>
          <a:ln/>
        </p:spPr>
        <p:txBody>
          <a:bodyPr wrap="square" lIns="0" tIns="0" rIns="0" bIns="0" rtlCol="0" anchor="ctr"/>
          <a:lstStyle/>
          <a:p>
            <a:pPr marL="0" indent="0">
              <a:buNone/>
            </a:pPr>
            <a:r>
              <a:rPr lang="en-US" sz="1400" b="1" dirty="0">
                <a:solidFill>
                  <a:srgbClr val="E8722C"/>
                </a:solidFill>
                <a:latin typeface="Trebuchet MS" pitchFamily="34" charset="0"/>
                <a:ea typeface="Trebuchet MS" pitchFamily="34" charset="-122"/>
                <a:cs typeface="Trebuchet MS" pitchFamily="34" charset="-120"/>
              </a:rPr>
              <a:t>What you can send &amp; receive</a:t>
            </a:r>
            <a:endParaRPr lang="en-US" sz="1400" dirty="0"/>
          </a:p>
        </p:txBody>
      </p:sp>
      <p:sp>
        <p:nvSpPr>
          <p:cNvPr id="28" name="Text 26"/>
          <p:cNvSpPr/>
          <p:nvPr/>
        </p:nvSpPr>
        <p:spPr>
          <a:xfrm>
            <a:off x="3508248" y="2889504"/>
            <a:ext cx="2127504" cy="301752"/>
          </a:xfrm>
          <a:prstGeom prst="rect">
            <a:avLst/>
          </a:prstGeom>
          <a:noFill/>
          <a:ln/>
        </p:spPr>
        <p:txBody>
          <a:bodyPr wrap="square" lIns="0" tIns="0" rIns="0" bIns="0" rtlCol="0" anchor="t"/>
          <a:lstStyle/>
          <a:p>
            <a:pPr marL="0" indent="0">
              <a:buNone/>
            </a:pPr>
            <a:r>
              <a:rPr lang="en-US" sz="1000" dirty="0">
                <a:solidFill>
                  <a:srgbClr val="D5DAE0"/>
                </a:solidFill>
                <a:latin typeface="Calibri" pitchFamily="34" charset="0"/>
                <a:ea typeface="Calibri" pitchFamily="34" charset="-122"/>
                <a:cs typeface="Calibri" pitchFamily="34" charset="-120"/>
              </a:rPr>
              <a:t>The six categories of information the gateway carries.</a:t>
            </a:r>
            <a:endParaRPr lang="en-US" sz="1000" dirty="0"/>
          </a:p>
        </p:txBody>
      </p:sp>
      <p:sp>
        <p:nvSpPr>
          <p:cNvPr id="29" name="card background">
            <a:extLst>
              <a:ext uri="{C183D7F6-B498-43B3-948B-1728B52AA6E4}">
                <adec:decorative xmlns:adec="http://schemas.microsoft.com/office/drawing/2017/decorative" val="1"/>
              </a:ext>
            </a:extLst>
          </p:cNvPr>
          <p:cNvSpPr/>
          <p:nvPr/>
        </p:nvSpPr>
        <p:spPr>
          <a:xfrm>
            <a:off x="6074664" y="2340864"/>
            <a:ext cx="2566416" cy="960120"/>
          </a:xfrm>
          <a:prstGeom prst="roundRect">
            <a:avLst>
              <a:gd name="adj" fmla="val 5714"/>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30" name="step marker">
            <a:extLst>
              <a:ext uri="{C183D7F6-B498-43B3-948B-1728B52AA6E4}">
                <adec:decorative xmlns:adec="http://schemas.microsoft.com/office/drawing/2017/decorative" val="1"/>
              </a:ext>
            </a:extLst>
          </p:cNvPr>
          <p:cNvSpPr/>
          <p:nvPr/>
        </p:nvSpPr>
        <p:spPr>
          <a:xfrm>
            <a:off x="6275832" y="2523744"/>
            <a:ext cx="310896" cy="310896"/>
          </a:xfrm>
          <a:prstGeom prst="ellipse">
            <a:avLst/>
          </a:prstGeom>
          <a:solidFill>
            <a:srgbClr val="35A79C"/>
          </a:solidFill>
          <a:ln w="12700">
            <a:solidFill>
              <a:srgbClr val="35A79C"/>
            </a:solidFill>
            <a:prstDash val="solid"/>
          </a:ln>
        </p:spPr>
        <p:txBody>
          <a:bodyPr/>
          <a:lstStyle/>
          <a:p>
            <a:endParaRPr lang="en-SE"/>
          </a:p>
        </p:txBody>
      </p:sp>
      <p:sp>
        <p:nvSpPr>
          <p:cNvPr id="31" name="Text 29"/>
          <p:cNvSpPr/>
          <p:nvPr/>
        </p:nvSpPr>
        <p:spPr>
          <a:xfrm>
            <a:off x="6275832" y="2523744"/>
            <a:ext cx="310896" cy="310896"/>
          </a:xfrm>
          <a:prstGeom prst="rect">
            <a:avLst/>
          </a:prstGeom>
          <a:noFill/>
          <a:ln/>
        </p:spPr>
        <p:txBody>
          <a:bodyPr wrap="square" lIns="0" tIns="0" rIns="0" bIns="0" rtlCol="0" anchor="ctr"/>
          <a:lstStyle/>
          <a:p>
            <a:pPr marL="0" indent="0" algn="ctr">
              <a:buNone/>
            </a:pPr>
            <a:r>
              <a:rPr lang="en-US" sz="1300" b="1" dirty="0">
                <a:solidFill>
                  <a:srgbClr val="13161A"/>
                </a:solidFill>
                <a:latin typeface="Trebuchet MS" pitchFamily="34" charset="0"/>
                <a:ea typeface="Trebuchet MS" pitchFamily="34" charset="-122"/>
                <a:cs typeface="Trebuchet MS" pitchFamily="34" charset="-120"/>
              </a:rPr>
              <a:t>6</a:t>
            </a:r>
            <a:endParaRPr lang="en-US" sz="1300" dirty="0"/>
          </a:p>
        </p:txBody>
      </p:sp>
      <p:sp>
        <p:nvSpPr>
          <p:cNvPr id="32" name="Text 30"/>
          <p:cNvSpPr/>
          <p:nvPr/>
        </p:nvSpPr>
        <p:spPr>
          <a:xfrm>
            <a:off x="6678168" y="2523744"/>
            <a:ext cx="1780032" cy="329184"/>
          </a:xfrm>
          <a:prstGeom prst="rect">
            <a:avLst/>
          </a:prstGeom>
          <a:noFill/>
          <a:ln/>
        </p:spPr>
        <p:txBody>
          <a:bodyPr wrap="square" lIns="0" tIns="0" rIns="0" bIns="0" rtlCol="0" anchor="ctr"/>
          <a:lstStyle/>
          <a:p>
            <a:pPr marL="0" indent="0">
              <a:buNone/>
            </a:pPr>
            <a:r>
              <a:rPr lang="en-US" sz="1400" b="1" dirty="0">
                <a:solidFill>
                  <a:srgbClr val="35A79C"/>
                </a:solidFill>
                <a:latin typeface="Trebuchet MS" pitchFamily="34" charset="0"/>
                <a:ea typeface="Trebuchet MS" pitchFamily="34" charset="-122"/>
                <a:cs typeface="Trebuchet MS" pitchFamily="34" charset="-120"/>
              </a:rPr>
              <a:t>Payload structure</a:t>
            </a:r>
            <a:endParaRPr lang="en-US" sz="1400" dirty="0"/>
          </a:p>
        </p:txBody>
      </p:sp>
      <p:sp>
        <p:nvSpPr>
          <p:cNvPr id="33" name="Text 31"/>
          <p:cNvSpPr/>
          <p:nvPr/>
        </p:nvSpPr>
        <p:spPr>
          <a:xfrm>
            <a:off x="6294120" y="2889504"/>
            <a:ext cx="2127504" cy="301752"/>
          </a:xfrm>
          <a:prstGeom prst="rect">
            <a:avLst/>
          </a:prstGeom>
          <a:noFill/>
          <a:ln/>
        </p:spPr>
        <p:txBody>
          <a:bodyPr wrap="square" lIns="0" tIns="0" rIns="0" bIns="0" rtlCol="0" anchor="t"/>
          <a:lstStyle/>
          <a:p>
            <a:pPr marL="0" indent="0">
              <a:buNone/>
            </a:pPr>
            <a:r>
              <a:rPr lang="en-US" sz="1000" dirty="0">
                <a:solidFill>
                  <a:srgbClr val="D5DAE0"/>
                </a:solidFill>
                <a:latin typeface="Calibri" pitchFamily="34" charset="0"/>
                <a:ea typeface="Calibri" pitchFamily="34" charset="-122"/>
                <a:cs typeface="Calibri" pitchFamily="34" charset="-120"/>
              </a:rPr>
              <a:t>Requests, responses, events, pages — the shapes you will meet.</a:t>
            </a:r>
            <a:endParaRPr lang="en-US" sz="1000" dirty="0"/>
          </a:p>
        </p:txBody>
      </p:sp>
      <p:sp>
        <p:nvSpPr>
          <p:cNvPr id="34" name="card background">
            <a:extLst>
              <a:ext uri="{C183D7F6-B498-43B3-948B-1728B52AA6E4}">
                <adec:decorative xmlns:adec="http://schemas.microsoft.com/office/drawing/2017/decorative" val="1"/>
              </a:ext>
            </a:extLst>
          </p:cNvPr>
          <p:cNvSpPr/>
          <p:nvPr/>
        </p:nvSpPr>
        <p:spPr>
          <a:xfrm>
            <a:off x="502920" y="3447288"/>
            <a:ext cx="2566416" cy="960120"/>
          </a:xfrm>
          <a:prstGeom prst="roundRect">
            <a:avLst>
              <a:gd name="adj" fmla="val 5714"/>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35" name="step marker">
            <a:extLst>
              <a:ext uri="{C183D7F6-B498-43B3-948B-1728B52AA6E4}">
                <adec:decorative xmlns:adec="http://schemas.microsoft.com/office/drawing/2017/decorative" val="1"/>
              </a:ext>
            </a:extLst>
          </p:cNvPr>
          <p:cNvSpPr/>
          <p:nvPr/>
        </p:nvSpPr>
        <p:spPr>
          <a:xfrm>
            <a:off x="704088" y="3630168"/>
            <a:ext cx="310896" cy="310896"/>
          </a:xfrm>
          <a:prstGeom prst="ellipse">
            <a:avLst/>
          </a:prstGeom>
          <a:solidFill>
            <a:srgbClr val="E8722C"/>
          </a:solidFill>
          <a:ln w="12700">
            <a:solidFill>
              <a:srgbClr val="E8722C"/>
            </a:solidFill>
            <a:prstDash val="solid"/>
          </a:ln>
        </p:spPr>
        <p:txBody>
          <a:bodyPr/>
          <a:lstStyle/>
          <a:p>
            <a:endParaRPr lang="en-SE"/>
          </a:p>
        </p:txBody>
      </p:sp>
      <p:sp>
        <p:nvSpPr>
          <p:cNvPr id="36" name="Text 34"/>
          <p:cNvSpPr/>
          <p:nvPr/>
        </p:nvSpPr>
        <p:spPr>
          <a:xfrm>
            <a:off x="704088" y="3630168"/>
            <a:ext cx="310896" cy="310896"/>
          </a:xfrm>
          <a:prstGeom prst="rect">
            <a:avLst/>
          </a:prstGeom>
          <a:noFill/>
          <a:ln/>
        </p:spPr>
        <p:txBody>
          <a:bodyPr wrap="square" lIns="0" tIns="0" rIns="0" bIns="0" rtlCol="0" anchor="ctr"/>
          <a:lstStyle/>
          <a:p>
            <a:pPr marL="0" indent="0" algn="ctr">
              <a:buNone/>
            </a:pPr>
            <a:r>
              <a:rPr lang="en-US" sz="1300" b="1" dirty="0">
                <a:solidFill>
                  <a:srgbClr val="13161A"/>
                </a:solidFill>
                <a:latin typeface="Trebuchet MS" pitchFamily="34" charset="0"/>
                <a:ea typeface="Trebuchet MS" pitchFamily="34" charset="-122"/>
                <a:cs typeface="Trebuchet MS" pitchFamily="34" charset="-120"/>
              </a:rPr>
              <a:t>7</a:t>
            </a:r>
            <a:endParaRPr lang="en-US" sz="1300" dirty="0"/>
          </a:p>
        </p:txBody>
      </p:sp>
      <p:sp>
        <p:nvSpPr>
          <p:cNvPr id="37" name="Text 35"/>
          <p:cNvSpPr/>
          <p:nvPr/>
        </p:nvSpPr>
        <p:spPr>
          <a:xfrm>
            <a:off x="1106424" y="3630168"/>
            <a:ext cx="1780032" cy="329184"/>
          </a:xfrm>
          <a:prstGeom prst="rect">
            <a:avLst/>
          </a:prstGeom>
          <a:noFill/>
          <a:ln/>
        </p:spPr>
        <p:txBody>
          <a:bodyPr wrap="square" lIns="0" tIns="0" rIns="0" bIns="0" rtlCol="0" anchor="ctr"/>
          <a:lstStyle/>
          <a:p>
            <a:pPr marL="0" indent="0">
              <a:buNone/>
            </a:pPr>
            <a:r>
              <a:rPr lang="en-US" sz="1400" b="1" dirty="0">
                <a:solidFill>
                  <a:srgbClr val="E8722C"/>
                </a:solidFill>
                <a:latin typeface="Trebuchet MS" pitchFamily="34" charset="0"/>
                <a:ea typeface="Trebuchet MS" pitchFamily="34" charset="-122"/>
                <a:cs typeface="Trebuchet MS" pitchFamily="34" charset="-120"/>
              </a:rPr>
              <a:t>Error handling</a:t>
            </a:r>
            <a:endParaRPr lang="en-US" sz="1400" dirty="0"/>
          </a:p>
        </p:txBody>
      </p:sp>
      <p:sp>
        <p:nvSpPr>
          <p:cNvPr id="38" name="Text 36"/>
          <p:cNvSpPr/>
          <p:nvPr/>
        </p:nvSpPr>
        <p:spPr>
          <a:xfrm>
            <a:off x="722376" y="3995928"/>
            <a:ext cx="2127504" cy="301752"/>
          </a:xfrm>
          <a:prstGeom prst="rect">
            <a:avLst/>
          </a:prstGeom>
          <a:noFill/>
          <a:ln/>
        </p:spPr>
        <p:txBody>
          <a:bodyPr wrap="square" lIns="0" tIns="0" rIns="0" bIns="0" rtlCol="0" anchor="t"/>
          <a:lstStyle/>
          <a:p>
            <a:pPr marL="0" indent="0">
              <a:buNone/>
            </a:pPr>
            <a:r>
              <a:rPr lang="en-US" sz="1000" dirty="0">
                <a:solidFill>
                  <a:srgbClr val="D5DAE0"/>
                </a:solidFill>
                <a:latin typeface="Calibri" pitchFamily="34" charset="0"/>
                <a:ea typeface="Calibri" pitchFamily="34" charset="-122"/>
                <a:cs typeface="Calibri" pitchFamily="34" charset="-120"/>
              </a:rPr>
              <a:t>The error envelope, the code catalogue, and how to react.</a:t>
            </a:r>
            <a:endParaRPr lang="en-US" sz="1000" dirty="0"/>
          </a:p>
        </p:txBody>
      </p:sp>
      <p:sp>
        <p:nvSpPr>
          <p:cNvPr id="39" name="card background">
            <a:extLst>
              <a:ext uri="{C183D7F6-B498-43B3-948B-1728B52AA6E4}">
                <adec:decorative xmlns:adec="http://schemas.microsoft.com/office/drawing/2017/decorative" val="1"/>
              </a:ext>
            </a:extLst>
          </p:cNvPr>
          <p:cNvSpPr/>
          <p:nvPr/>
        </p:nvSpPr>
        <p:spPr>
          <a:xfrm>
            <a:off x="3288792" y="3447288"/>
            <a:ext cx="2566416" cy="960120"/>
          </a:xfrm>
          <a:prstGeom prst="roundRect">
            <a:avLst>
              <a:gd name="adj" fmla="val 5714"/>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40" name="step marker">
            <a:extLst>
              <a:ext uri="{C183D7F6-B498-43B3-948B-1728B52AA6E4}">
                <adec:decorative xmlns:adec="http://schemas.microsoft.com/office/drawing/2017/decorative" val="1"/>
              </a:ext>
            </a:extLst>
          </p:cNvPr>
          <p:cNvSpPr/>
          <p:nvPr/>
        </p:nvSpPr>
        <p:spPr>
          <a:xfrm>
            <a:off x="3489960" y="3630168"/>
            <a:ext cx="310896" cy="310896"/>
          </a:xfrm>
          <a:prstGeom prst="ellipse">
            <a:avLst/>
          </a:prstGeom>
          <a:solidFill>
            <a:srgbClr val="35A79C"/>
          </a:solidFill>
          <a:ln w="12700">
            <a:solidFill>
              <a:srgbClr val="35A79C"/>
            </a:solidFill>
            <a:prstDash val="solid"/>
          </a:ln>
        </p:spPr>
        <p:txBody>
          <a:bodyPr/>
          <a:lstStyle/>
          <a:p>
            <a:endParaRPr lang="en-SE"/>
          </a:p>
        </p:txBody>
      </p:sp>
      <p:sp>
        <p:nvSpPr>
          <p:cNvPr id="41" name="Text 39"/>
          <p:cNvSpPr/>
          <p:nvPr/>
        </p:nvSpPr>
        <p:spPr>
          <a:xfrm>
            <a:off x="3489960" y="3630168"/>
            <a:ext cx="310896" cy="310896"/>
          </a:xfrm>
          <a:prstGeom prst="rect">
            <a:avLst/>
          </a:prstGeom>
          <a:noFill/>
          <a:ln/>
        </p:spPr>
        <p:txBody>
          <a:bodyPr wrap="square" lIns="0" tIns="0" rIns="0" bIns="0" rtlCol="0" anchor="ctr"/>
          <a:lstStyle/>
          <a:p>
            <a:pPr marL="0" indent="0" algn="ctr">
              <a:buNone/>
            </a:pPr>
            <a:r>
              <a:rPr lang="en-US" sz="1300" b="1" dirty="0">
                <a:solidFill>
                  <a:srgbClr val="13161A"/>
                </a:solidFill>
                <a:latin typeface="Trebuchet MS" pitchFamily="34" charset="0"/>
                <a:ea typeface="Trebuchet MS" pitchFamily="34" charset="-122"/>
                <a:cs typeface="Trebuchet MS" pitchFamily="34" charset="-120"/>
              </a:rPr>
              <a:t>8</a:t>
            </a:r>
            <a:endParaRPr lang="en-US" sz="1300" dirty="0"/>
          </a:p>
        </p:txBody>
      </p:sp>
      <p:sp>
        <p:nvSpPr>
          <p:cNvPr id="42" name="Text 40"/>
          <p:cNvSpPr/>
          <p:nvPr/>
        </p:nvSpPr>
        <p:spPr>
          <a:xfrm>
            <a:off x="3892296" y="3630168"/>
            <a:ext cx="1780032" cy="329184"/>
          </a:xfrm>
          <a:prstGeom prst="rect">
            <a:avLst/>
          </a:prstGeom>
          <a:noFill/>
          <a:ln/>
        </p:spPr>
        <p:txBody>
          <a:bodyPr wrap="square" lIns="0" tIns="0" rIns="0" bIns="0" rtlCol="0" anchor="ctr"/>
          <a:lstStyle/>
          <a:p>
            <a:pPr marL="0" indent="0">
              <a:buNone/>
            </a:pPr>
            <a:r>
              <a:rPr lang="en-US" sz="1400" b="1" dirty="0">
                <a:solidFill>
                  <a:srgbClr val="35A79C"/>
                </a:solidFill>
                <a:latin typeface="Trebuchet MS" pitchFamily="34" charset="0"/>
                <a:ea typeface="Trebuchet MS" pitchFamily="34" charset="-122"/>
                <a:cs typeface="Trebuchet MS" pitchFamily="34" charset="-120"/>
              </a:rPr>
              <a:t>Client cookbook</a:t>
            </a:r>
            <a:endParaRPr lang="en-US" sz="1400" dirty="0"/>
          </a:p>
        </p:txBody>
      </p:sp>
      <p:sp>
        <p:nvSpPr>
          <p:cNvPr id="43" name="Text 41"/>
          <p:cNvSpPr/>
          <p:nvPr/>
        </p:nvSpPr>
        <p:spPr>
          <a:xfrm>
            <a:off x="3508248" y="3995928"/>
            <a:ext cx="2127504" cy="301752"/>
          </a:xfrm>
          <a:prstGeom prst="rect">
            <a:avLst/>
          </a:prstGeom>
          <a:noFill/>
          <a:ln/>
        </p:spPr>
        <p:txBody>
          <a:bodyPr wrap="square" lIns="0" tIns="0" rIns="0" bIns="0" rtlCol="0" anchor="t"/>
          <a:lstStyle/>
          <a:p>
            <a:pPr marL="0" indent="0">
              <a:buNone/>
            </a:pPr>
            <a:r>
              <a:rPr lang="en-US" sz="1000" dirty="0">
                <a:solidFill>
                  <a:srgbClr val="D5DAE0"/>
                </a:solidFill>
                <a:latin typeface="Calibri" pitchFamily="34" charset="0"/>
                <a:ea typeface="Calibri" pitchFamily="34" charset="-122"/>
                <a:cs typeface="Calibri" pitchFamily="34" charset="-120"/>
              </a:rPr>
              <a:t>Recipes for a trading bot, a dashboard and a research script.</a:t>
            </a:r>
            <a:endParaRPr lang="en-US" sz="1000" dirty="0"/>
          </a:p>
        </p:txBody>
      </p:sp>
      <p:sp>
        <p:nvSpPr>
          <p:cNvPr id="44" name="card background">
            <a:extLst>
              <a:ext uri="{C183D7F6-B498-43B3-948B-1728B52AA6E4}">
                <adec:decorative xmlns:adec="http://schemas.microsoft.com/office/drawing/2017/decorative" val="1"/>
              </a:ext>
            </a:extLst>
          </p:cNvPr>
          <p:cNvSpPr/>
          <p:nvPr/>
        </p:nvSpPr>
        <p:spPr>
          <a:xfrm>
            <a:off x="6074664" y="3447288"/>
            <a:ext cx="2566416" cy="960120"/>
          </a:xfrm>
          <a:prstGeom prst="roundRect">
            <a:avLst>
              <a:gd name="adj" fmla="val 5714"/>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45" name="step marker">
            <a:extLst>
              <a:ext uri="{C183D7F6-B498-43B3-948B-1728B52AA6E4}">
                <adec:decorative xmlns:adec="http://schemas.microsoft.com/office/drawing/2017/decorative" val="1"/>
              </a:ext>
            </a:extLst>
          </p:cNvPr>
          <p:cNvSpPr/>
          <p:nvPr/>
        </p:nvSpPr>
        <p:spPr>
          <a:xfrm>
            <a:off x="6275832" y="3630168"/>
            <a:ext cx="310896" cy="310896"/>
          </a:xfrm>
          <a:prstGeom prst="ellipse">
            <a:avLst/>
          </a:prstGeom>
          <a:solidFill>
            <a:srgbClr val="E8722C"/>
          </a:solidFill>
          <a:ln w="12700">
            <a:solidFill>
              <a:srgbClr val="E8722C"/>
            </a:solidFill>
            <a:prstDash val="solid"/>
          </a:ln>
        </p:spPr>
        <p:txBody>
          <a:bodyPr/>
          <a:lstStyle/>
          <a:p>
            <a:endParaRPr lang="en-SE"/>
          </a:p>
        </p:txBody>
      </p:sp>
      <p:sp>
        <p:nvSpPr>
          <p:cNvPr id="46" name="Text 44"/>
          <p:cNvSpPr/>
          <p:nvPr/>
        </p:nvSpPr>
        <p:spPr>
          <a:xfrm>
            <a:off x="6275832" y="3630168"/>
            <a:ext cx="310896" cy="310896"/>
          </a:xfrm>
          <a:prstGeom prst="rect">
            <a:avLst/>
          </a:prstGeom>
          <a:noFill/>
          <a:ln/>
        </p:spPr>
        <p:txBody>
          <a:bodyPr wrap="square" lIns="0" tIns="0" rIns="0" bIns="0" rtlCol="0" anchor="ctr"/>
          <a:lstStyle/>
          <a:p>
            <a:pPr marL="0" indent="0" algn="ctr">
              <a:buNone/>
            </a:pPr>
            <a:r>
              <a:rPr lang="en-US" sz="1300" b="1" dirty="0">
                <a:solidFill>
                  <a:srgbClr val="13161A"/>
                </a:solidFill>
                <a:latin typeface="Trebuchet MS" pitchFamily="34" charset="0"/>
                <a:ea typeface="Trebuchet MS" pitchFamily="34" charset="-122"/>
                <a:cs typeface="Trebuchet MS" pitchFamily="34" charset="-120"/>
              </a:rPr>
              <a:t>9</a:t>
            </a:r>
            <a:endParaRPr lang="en-US" sz="1300" dirty="0"/>
          </a:p>
        </p:txBody>
      </p:sp>
      <p:sp>
        <p:nvSpPr>
          <p:cNvPr id="47" name="Text 45"/>
          <p:cNvSpPr/>
          <p:nvPr/>
        </p:nvSpPr>
        <p:spPr>
          <a:xfrm>
            <a:off x="6678168" y="3630168"/>
            <a:ext cx="1780032" cy="329184"/>
          </a:xfrm>
          <a:prstGeom prst="rect">
            <a:avLst/>
          </a:prstGeom>
          <a:noFill/>
          <a:ln/>
        </p:spPr>
        <p:txBody>
          <a:bodyPr wrap="square" lIns="0" tIns="0" rIns="0" bIns="0" rtlCol="0" anchor="ctr"/>
          <a:lstStyle/>
          <a:p>
            <a:pPr marL="0" indent="0">
              <a:buNone/>
            </a:pPr>
            <a:r>
              <a:rPr lang="en-US" sz="1400" b="1" dirty="0">
                <a:solidFill>
                  <a:srgbClr val="E8722C"/>
                </a:solidFill>
                <a:latin typeface="Trebuchet MS" pitchFamily="34" charset="0"/>
                <a:ea typeface="Trebuchet MS" pitchFamily="34" charset="-122"/>
                <a:cs typeface="Trebuchet MS" pitchFamily="34" charset="-120"/>
              </a:rPr>
              <a:t>Reference appendix</a:t>
            </a:r>
            <a:endParaRPr lang="en-US" sz="1400" dirty="0"/>
          </a:p>
        </p:txBody>
      </p:sp>
      <p:sp>
        <p:nvSpPr>
          <p:cNvPr id="48" name="Text 46"/>
          <p:cNvSpPr/>
          <p:nvPr/>
        </p:nvSpPr>
        <p:spPr>
          <a:xfrm>
            <a:off x="6294120" y="3995928"/>
            <a:ext cx="2127504" cy="301752"/>
          </a:xfrm>
          <a:prstGeom prst="rect">
            <a:avLst/>
          </a:prstGeom>
          <a:noFill/>
          <a:ln/>
        </p:spPr>
        <p:txBody>
          <a:bodyPr wrap="square" lIns="0" tIns="0" rIns="0" bIns="0" rtlCol="0" anchor="t"/>
          <a:lstStyle/>
          <a:p>
            <a:pPr marL="0" indent="0">
              <a:buNone/>
            </a:pPr>
            <a:r>
              <a:rPr lang="en-US" sz="1000" dirty="0">
                <a:solidFill>
                  <a:srgbClr val="D5DAE0"/>
                </a:solidFill>
                <a:latin typeface="Calibri" pitchFamily="34" charset="0"/>
                <a:ea typeface="Calibri" pitchFamily="34" charset="-122"/>
                <a:cs typeface="Calibri" pitchFamily="34" charset="-120"/>
              </a:rPr>
              <a:t>Full endpoint, channel, field and error listings.</a:t>
            </a:r>
            <a:endParaRPr lang="en-US" sz="1000" dirty="0"/>
          </a:p>
        </p:txBody>
      </p:sp>
      <p:sp>
        <p:nvSpPr>
          <p:cNvPr id="49" name="Text 47"/>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a:t>
            </a:r>
            <a:endParaRPr lang="en-US" sz="900" dirty="0"/>
          </a:p>
        </p:txBody>
      </p:sp>
      <p:sp>
        <p:nvSpPr>
          <p:cNvPr id="50" name="Text 48"/>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ide band">
            <a:extLst>
              <a:ext uri="{C183D7F6-B498-43B3-948B-1728B52AA6E4}">
                <adec:decorative xmlns:adec="http://schemas.microsoft.com/office/drawing/2017/decorative" val="1"/>
              </a:ext>
            </a:extLst>
          </p:cNvPr>
          <p:cNvSpPr/>
          <p:nvPr/>
        </p:nvSpPr>
        <p:spPr>
          <a:xfrm>
            <a:off x="0" y="0"/>
            <a:ext cx="384048" cy="5143500"/>
          </a:xfrm>
          <a:prstGeom prst="rect">
            <a:avLst/>
          </a:prstGeom>
          <a:solidFill>
            <a:srgbClr val="E8722C"/>
          </a:solidFill>
          <a:ln w="12700">
            <a:solidFill>
              <a:srgbClr val="E8722C"/>
            </a:solidFill>
            <a:prstDash val="solid"/>
          </a:ln>
        </p:spPr>
        <p:txBody>
          <a:bodyPr/>
          <a:lstStyle/>
          <a:p>
            <a:endParaRPr lang="en-SE"/>
          </a:p>
        </p:txBody>
      </p:sp>
      <p:sp>
        <p:nvSpPr>
          <p:cNvPr id="3" name="Text 1"/>
          <p:cNvSpPr/>
          <p:nvPr/>
        </p:nvSpPr>
        <p:spPr>
          <a:xfrm>
            <a:off x="960120" y="1371600"/>
            <a:ext cx="2743200" cy="822960"/>
          </a:xfrm>
          <a:prstGeom prst="rect">
            <a:avLst/>
          </a:prstGeom>
          <a:noFill/>
          <a:ln/>
        </p:spPr>
        <p:txBody>
          <a:bodyPr wrap="square" lIns="0" tIns="0" rIns="0" bIns="0" rtlCol="0" anchor="ctr"/>
          <a:lstStyle/>
          <a:p>
            <a:pPr marL="0" indent="0">
              <a:buNone/>
            </a:pPr>
            <a:r>
              <a:rPr lang="en-US" sz="6200" b="1" dirty="0">
                <a:solidFill>
                  <a:srgbClr val="2E353D"/>
                </a:solidFill>
                <a:latin typeface="Trebuchet MS" pitchFamily="34" charset="0"/>
                <a:ea typeface="Trebuchet MS" pitchFamily="34" charset="-122"/>
                <a:cs typeface="Trebuchet MS" pitchFamily="34" charset="-120"/>
              </a:rPr>
              <a:t>01</a:t>
            </a:r>
            <a:endParaRPr lang="en-US" sz="6200" dirty="0"/>
          </a:p>
        </p:txBody>
      </p:sp>
      <p:sp>
        <p:nvSpPr>
          <p:cNvPr id="4" name="Text 0"/>
          <p:cNvSpPr>
            <a:spLocks noGrp="1"/>
          </p:cNvSpPr>
          <p:nvPr>
            <p:ph type="title" idx="100" hasCustomPrompt="1"/>
          </p:nvPr>
        </p:nvSpPr>
        <p:spPr>
          <a:xfrm>
            <a:off x="1005840" y="2148840"/>
            <a:ext cx="7132320" cy="914400"/>
          </a:xfrm>
          <a:prstGeom prst="rect">
            <a:avLst/>
          </a:prstGeom>
          <a:noFill/>
          <a:ln/>
        </p:spPr>
        <p:txBody>
          <a:bodyPr wrap="square" lIns="0" tIns="0" rIns="0" bIns="0" rtlCol="0"/>
          <a:lstStyle/>
          <a:p>
            <a:pPr marL="0" indent="0" algn="l">
              <a:buNone/>
            </a:pPr>
            <a:r>
              <a:rPr lang="en-US" sz="3600" b="1" dirty="0">
                <a:solidFill>
                  <a:srgbClr val="F3F5F7"/>
                </a:solidFill>
                <a:latin typeface="Trebuchet MS" pitchFamily="34" charset="0"/>
                <a:ea typeface="Trebuchet MS" pitchFamily="34" charset="-122"/>
                <a:cs typeface="Trebuchet MS" pitchFamily="34" charset="-120"/>
              </a:rPr>
              <a:t>Orientation</a:t>
            </a:r>
            <a:endParaRPr lang="en-US" sz="3600" dirty="0"/>
          </a:p>
        </p:txBody>
      </p:sp>
      <p:sp>
        <p:nvSpPr>
          <p:cNvPr id="5" name="Text 3"/>
          <p:cNvSpPr/>
          <p:nvPr/>
        </p:nvSpPr>
        <p:spPr>
          <a:xfrm>
            <a:off x="1024128" y="3108960"/>
            <a:ext cx="6949440" cy="731520"/>
          </a:xfrm>
          <a:prstGeom prst="rect">
            <a:avLst/>
          </a:prstGeom>
          <a:noFill/>
          <a:ln/>
        </p:spPr>
        <p:txBody>
          <a:bodyPr wrap="square" lIns="0" tIns="0" rIns="0" bIns="0" rtlCol="0" anchor="ctr"/>
          <a:lstStyle/>
          <a:p>
            <a:pPr marL="0" indent="0">
              <a:buNone/>
            </a:pPr>
            <a:r>
              <a:rPr lang="en-US" sz="1400" dirty="0">
                <a:solidFill>
                  <a:srgbClr val="97A1AC"/>
                </a:solidFill>
                <a:latin typeface="Calibri" pitchFamily="34" charset="0"/>
                <a:ea typeface="Calibri" pitchFamily="34" charset="-122"/>
                <a:cs typeface="Calibri" pitchFamily="34" charset="-120"/>
              </a:rPr>
              <a:t>What the API gateway is for, and where it fits in the EduMatcher landscape</a:t>
            </a:r>
            <a:endParaRPr lang="en-US" sz="1400" dirty="0"/>
          </a:p>
        </p:txBody>
      </p:sp>
      <p:sp>
        <p:nvSpPr>
          <p:cNvPr id="6" name="Text 4"/>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Orientation</a:t>
            </a:r>
            <a:endParaRPr lang="en-US" sz="900" dirty="0"/>
          </a:p>
        </p:txBody>
      </p:sp>
      <p:sp>
        <p:nvSpPr>
          <p:cNvPr id="7" name="Text 5"/>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8138160" cy="548640"/>
          </a:xfrm>
          <a:prstGeom prst="rect">
            <a:avLst/>
          </a:prstGeom>
          <a:noFill/>
          <a:ln/>
        </p:spPr>
        <p:txBody>
          <a:bodyPr wrap="square" lIns="0" tIns="0" rIns="0" bIns="0" rtlCol="0" anchor="ctr"/>
          <a:lstStyle/>
          <a:p>
            <a:pPr marL="0" indent="0">
              <a:buNone/>
            </a:pPr>
            <a:r>
              <a:rPr lang="en-US" sz="2700" b="1" dirty="0">
                <a:solidFill>
                  <a:srgbClr val="F3F5F7"/>
                </a:solidFill>
                <a:latin typeface="Trebuchet MS" pitchFamily="34" charset="0"/>
                <a:ea typeface="Trebuchet MS" pitchFamily="34" charset="-122"/>
                <a:cs typeface="Trebuchet MS" pitchFamily="34" charset="-120"/>
              </a:rPr>
              <a:t>EduMatcher in one picture</a:t>
            </a:r>
            <a:endParaRPr lang="en-US" sz="2700" dirty="0"/>
          </a:p>
        </p:txBody>
      </p:sp>
      <p:sp>
        <p:nvSpPr>
          <p:cNvPr id="3" name="Text 1"/>
          <p:cNvSpPr/>
          <p:nvPr/>
        </p:nvSpPr>
        <p:spPr>
          <a:xfrm>
            <a:off x="502920" y="841248"/>
            <a:ext cx="8138160" cy="237744"/>
          </a:xfrm>
          <a:prstGeom prst="rect">
            <a:avLst/>
          </a:prstGeom>
          <a:noFill/>
          <a:ln/>
        </p:spPr>
        <p:txBody>
          <a:bodyPr wrap="square" lIns="0" tIns="0" rIns="0" bIns="0" rtlCol="0" anchor="ctr"/>
          <a:lstStyle/>
          <a:p>
            <a:pPr marL="0" indent="0">
              <a:buNone/>
            </a:pPr>
            <a:r>
              <a:rPr lang="en-US" sz="1100" b="1" kern="0" spc="200" dirty="0">
                <a:solidFill>
                  <a:srgbClr val="E8722C"/>
                </a:solidFill>
                <a:latin typeface="Calibri" pitchFamily="34" charset="0"/>
                <a:ea typeface="Calibri" pitchFamily="34" charset="-122"/>
                <a:cs typeface="Calibri" pitchFamily="34" charset="-120"/>
              </a:rPr>
              <a:t>THE BIG IDEA</a:t>
            </a:r>
            <a:endParaRPr lang="en-US" sz="1100" dirty="0"/>
          </a:p>
        </p:txBody>
      </p:sp>
      <p:sp>
        <p:nvSpPr>
          <p:cNvPr id="4" name="Text 2"/>
          <p:cNvSpPr/>
          <p:nvPr/>
        </p:nvSpPr>
        <p:spPr>
          <a:xfrm>
            <a:off x="502920" y="1115568"/>
            <a:ext cx="8138160" cy="365760"/>
          </a:xfrm>
          <a:prstGeom prst="rect">
            <a:avLst/>
          </a:prstGeom>
          <a:noFill/>
          <a:ln/>
        </p:spPr>
        <p:txBody>
          <a:bodyPr wrap="square" lIns="0" tIns="0" rIns="0" bIns="0" rtlCol="0" anchor="t"/>
          <a:lstStyle/>
          <a:p>
            <a:pPr marL="0" indent="0" algn="l">
              <a:buNone/>
            </a:pPr>
            <a:r>
              <a:rPr lang="en-US" sz="1300" dirty="0">
                <a:solidFill>
                  <a:srgbClr val="D5DAE0"/>
                </a:solidFill>
                <a:latin typeface="Calibri" pitchFamily="34" charset="0"/>
                <a:ea typeface="Calibri" pitchFamily="34" charset="-122"/>
                <a:cs typeface="Calibri" pitchFamily="34" charset="-120"/>
              </a:rPr>
              <a:t>An exchange is a machine that matches buyers with sellers. EduMatcher is that machine, built for learning — and the API gateway is the door your own software walks through.</a:t>
            </a:r>
            <a:endParaRPr lang="en-US" sz="1300" dirty="0"/>
          </a:p>
        </p:txBody>
      </p:sp>
      <p:sp>
        <p:nvSpPr>
          <p:cNvPr id="5" name="card background">
            <a:extLst>
              <a:ext uri="{C183D7F6-B498-43B3-948B-1728B52AA6E4}">
                <adec:decorative xmlns:adec="http://schemas.microsoft.com/office/drawing/2017/decorative" val="1"/>
              </a:ext>
            </a:extLst>
          </p:cNvPr>
          <p:cNvSpPr/>
          <p:nvPr/>
        </p:nvSpPr>
        <p:spPr>
          <a:xfrm>
            <a:off x="502920" y="1874520"/>
            <a:ext cx="1801368" cy="1371600"/>
          </a:xfrm>
          <a:prstGeom prst="roundRect">
            <a:avLst>
              <a:gd name="adj" fmla="val 400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6" name="card top edge">
            <a:extLst>
              <a:ext uri="{C183D7F6-B498-43B3-948B-1728B52AA6E4}">
                <adec:decorative xmlns:adec="http://schemas.microsoft.com/office/drawing/2017/decorative" val="1"/>
              </a:ext>
            </a:extLst>
          </p:cNvPr>
          <p:cNvSpPr/>
          <p:nvPr/>
        </p:nvSpPr>
        <p:spPr>
          <a:xfrm>
            <a:off x="502920" y="1874520"/>
            <a:ext cx="1801368" cy="64008"/>
          </a:xfrm>
          <a:prstGeom prst="rect">
            <a:avLst/>
          </a:prstGeom>
          <a:solidFill>
            <a:srgbClr val="E8722C"/>
          </a:solidFill>
          <a:ln w="12700">
            <a:solidFill>
              <a:srgbClr val="E8722C"/>
            </a:solidFill>
            <a:prstDash val="solid"/>
          </a:ln>
        </p:spPr>
        <p:txBody>
          <a:bodyPr/>
          <a:lstStyle/>
          <a:p>
            <a:endParaRPr lang="en-SE"/>
          </a:p>
        </p:txBody>
      </p:sp>
      <p:sp>
        <p:nvSpPr>
          <p:cNvPr id="7" name="Text 5"/>
          <p:cNvSpPr/>
          <p:nvPr/>
        </p:nvSpPr>
        <p:spPr>
          <a:xfrm>
            <a:off x="649224" y="2057400"/>
            <a:ext cx="1508760" cy="310896"/>
          </a:xfrm>
          <a:prstGeom prst="rect">
            <a:avLst/>
          </a:prstGeom>
          <a:noFill/>
          <a:ln/>
        </p:spPr>
        <p:txBody>
          <a:bodyPr wrap="square" lIns="0" tIns="0" rIns="0" bIns="0" rtlCol="0" anchor="ctr"/>
          <a:lstStyle/>
          <a:p>
            <a:pPr marL="0" indent="0" algn="ctr">
              <a:buNone/>
            </a:pPr>
            <a:r>
              <a:rPr lang="en-US" sz="1300" b="1" dirty="0">
                <a:solidFill>
                  <a:srgbClr val="E8722C"/>
                </a:solidFill>
                <a:latin typeface="Trebuchet MS" pitchFamily="34" charset="0"/>
                <a:ea typeface="Trebuchet MS" pitchFamily="34" charset="-122"/>
                <a:cs typeface="Trebuchet MS" pitchFamily="34" charset="-120"/>
              </a:rPr>
              <a:t>Your client</a:t>
            </a:r>
            <a:endParaRPr lang="en-US" sz="1300" dirty="0"/>
          </a:p>
        </p:txBody>
      </p:sp>
      <p:sp>
        <p:nvSpPr>
          <p:cNvPr id="8" name="Text 6"/>
          <p:cNvSpPr/>
          <p:nvPr/>
        </p:nvSpPr>
        <p:spPr>
          <a:xfrm>
            <a:off x="630936" y="2386584"/>
            <a:ext cx="1545336" cy="749808"/>
          </a:xfrm>
          <a:prstGeom prst="rect">
            <a:avLst/>
          </a:prstGeom>
          <a:noFill/>
          <a:ln/>
        </p:spPr>
        <p:txBody>
          <a:bodyPr wrap="square" lIns="0" tIns="0" rIns="0" bIns="0" rtlCol="0" anchor="t"/>
          <a:lstStyle/>
          <a:p>
            <a:pPr marL="0" indent="0" algn="ctr">
              <a:buNone/>
            </a:pPr>
            <a:r>
              <a:rPr lang="en-US" sz="1050" dirty="0">
                <a:solidFill>
                  <a:srgbClr val="D5DAE0"/>
                </a:solidFill>
                <a:latin typeface="Calibri" pitchFamily="34" charset="0"/>
                <a:ea typeface="Calibri" pitchFamily="34" charset="-122"/>
                <a:cs typeface="Calibri" pitchFamily="34" charset="-120"/>
              </a:rPr>
              <a:t>Browser UI, dashboard, bot or script you write</a:t>
            </a:r>
            <a:endParaRPr lang="en-US" sz="1050" dirty="0"/>
          </a:p>
        </p:txBody>
      </p:sp>
      <p:sp>
        <p:nvSpPr>
          <p:cNvPr id="9" name="Text 7"/>
          <p:cNvSpPr/>
          <p:nvPr/>
        </p:nvSpPr>
        <p:spPr>
          <a:xfrm>
            <a:off x="2304288" y="2340864"/>
            <a:ext cx="310896" cy="438912"/>
          </a:xfrm>
          <a:prstGeom prst="rect">
            <a:avLst/>
          </a:prstGeom>
          <a:noFill/>
          <a:ln/>
        </p:spPr>
        <p:txBody>
          <a:bodyPr wrap="square" lIns="0" tIns="0" rIns="0" bIns="0" rtlCol="0" anchor="ctr"/>
          <a:lstStyle/>
          <a:p>
            <a:pPr marL="0" indent="0" algn="ctr">
              <a:buNone/>
            </a:pPr>
            <a:r>
              <a:rPr lang="en-US" sz="2200" b="1" dirty="0">
                <a:solidFill>
                  <a:srgbClr val="E8722C"/>
                </a:solidFill>
                <a:latin typeface="Trebuchet MS" pitchFamily="34" charset="0"/>
                <a:ea typeface="Trebuchet MS" pitchFamily="34" charset="-122"/>
                <a:cs typeface="Trebuchet MS" pitchFamily="34" charset="-120"/>
              </a:rPr>
              <a:t>›</a:t>
            </a:r>
            <a:endParaRPr lang="en-US" sz="2200" dirty="0"/>
          </a:p>
        </p:txBody>
      </p:sp>
      <p:sp>
        <p:nvSpPr>
          <p:cNvPr id="10" name="card background">
            <a:extLst>
              <a:ext uri="{C183D7F6-B498-43B3-948B-1728B52AA6E4}">
                <adec:decorative xmlns:adec="http://schemas.microsoft.com/office/drawing/2017/decorative" val="1"/>
              </a:ext>
            </a:extLst>
          </p:cNvPr>
          <p:cNvSpPr/>
          <p:nvPr/>
        </p:nvSpPr>
        <p:spPr>
          <a:xfrm>
            <a:off x="2615184" y="1874520"/>
            <a:ext cx="1801368" cy="1371600"/>
          </a:xfrm>
          <a:prstGeom prst="roundRect">
            <a:avLst>
              <a:gd name="adj" fmla="val 400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1" name="card top edge">
            <a:extLst>
              <a:ext uri="{C183D7F6-B498-43B3-948B-1728B52AA6E4}">
                <adec:decorative xmlns:adec="http://schemas.microsoft.com/office/drawing/2017/decorative" val="1"/>
              </a:ext>
            </a:extLst>
          </p:cNvPr>
          <p:cNvSpPr/>
          <p:nvPr/>
        </p:nvSpPr>
        <p:spPr>
          <a:xfrm>
            <a:off x="2615184" y="1874520"/>
            <a:ext cx="1801368" cy="64008"/>
          </a:xfrm>
          <a:prstGeom prst="rect">
            <a:avLst/>
          </a:prstGeom>
          <a:solidFill>
            <a:srgbClr val="F2A65A"/>
          </a:solidFill>
          <a:ln w="12700">
            <a:solidFill>
              <a:srgbClr val="F2A65A"/>
            </a:solidFill>
            <a:prstDash val="solid"/>
          </a:ln>
        </p:spPr>
        <p:txBody>
          <a:bodyPr/>
          <a:lstStyle/>
          <a:p>
            <a:endParaRPr lang="en-SE"/>
          </a:p>
        </p:txBody>
      </p:sp>
      <p:sp>
        <p:nvSpPr>
          <p:cNvPr id="12" name="Text 10"/>
          <p:cNvSpPr/>
          <p:nvPr/>
        </p:nvSpPr>
        <p:spPr>
          <a:xfrm>
            <a:off x="2761488" y="2057400"/>
            <a:ext cx="1508760" cy="310896"/>
          </a:xfrm>
          <a:prstGeom prst="rect">
            <a:avLst/>
          </a:prstGeom>
          <a:noFill/>
          <a:ln/>
        </p:spPr>
        <p:txBody>
          <a:bodyPr wrap="square" lIns="0" tIns="0" rIns="0" bIns="0" rtlCol="0" anchor="ctr"/>
          <a:lstStyle/>
          <a:p>
            <a:pPr marL="0" indent="0" algn="ctr">
              <a:buNone/>
            </a:pPr>
            <a:r>
              <a:rPr lang="en-US" sz="1300" b="1" dirty="0">
                <a:solidFill>
                  <a:srgbClr val="F2A65A"/>
                </a:solidFill>
                <a:latin typeface="Trebuchet MS" pitchFamily="34" charset="0"/>
                <a:ea typeface="Trebuchet MS" pitchFamily="34" charset="-122"/>
                <a:cs typeface="Trebuchet MS" pitchFamily="34" charset="-120"/>
              </a:rPr>
              <a:t>API gateway</a:t>
            </a:r>
            <a:endParaRPr lang="en-US" sz="1300" dirty="0"/>
          </a:p>
        </p:txBody>
      </p:sp>
      <p:sp>
        <p:nvSpPr>
          <p:cNvPr id="13" name="Text 11"/>
          <p:cNvSpPr/>
          <p:nvPr/>
        </p:nvSpPr>
        <p:spPr>
          <a:xfrm>
            <a:off x="2743200" y="2386584"/>
            <a:ext cx="1545336" cy="749808"/>
          </a:xfrm>
          <a:prstGeom prst="rect">
            <a:avLst/>
          </a:prstGeom>
          <a:noFill/>
          <a:ln/>
        </p:spPr>
        <p:txBody>
          <a:bodyPr wrap="square" lIns="0" tIns="0" rIns="0" bIns="0" rtlCol="0" anchor="t"/>
          <a:lstStyle/>
          <a:p>
            <a:pPr marL="0" indent="0" algn="ctr">
              <a:buNone/>
            </a:pPr>
            <a:r>
              <a:rPr lang="en-US" sz="1050" dirty="0">
                <a:solidFill>
                  <a:srgbClr val="D5DAE0"/>
                </a:solidFill>
                <a:latin typeface="Calibri" pitchFamily="34" charset="0"/>
                <a:ea typeface="Calibri" pitchFamily="34" charset="-122"/>
                <a:cs typeface="Calibri" pitchFamily="34" charset="-120"/>
              </a:rPr>
              <a:t>Translates HTTP and WebSocket into engine messages</a:t>
            </a:r>
            <a:endParaRPr lang="en-US" sz="1050" dirty="0"/>
          </a:p>
        </p:txBody>
      </p:sp>
      <p:sp>
        <p:nvSpPr>
          <p:cNvPr id="14" name="Text 12"/>
          <p:cNvSpPr/>
          <p:nvPr/>
        </p:nvSpPr>
        <p:spPr>
          <a:xfrm>
            <a:off x="4416552" y="2340864"/>
            <a:ext cx="310896" cy="438912"/>
          </a:xfrm>
          <a:prstGeom prst="rect">
            <a:avLst/>
          </a:prstGeom>
          <a:noFill/>
          <a:ln/>
        </p:spPr>
        <p:txBody>
          <a:bodyPr wrap="square" lIns="0" tIns="0" rIns="0" bIns="0" rtlCol="0" anchor="ctr"/>
          <a:lstStyle/>
          <a:p>
            <a:pPr marL="0" indent="0" algn="ctr">
              <a:buNone/>
            </a:pPr>
            <a:r>
              <a:rPr lang="en-US" sz="2200" b="1" dirty="0">
                <a:solidFill>
                  <a:srgbClr val="E8722C"/>
                </a:solidFill>
                <a:latin typeface="Trebuchet MS" pitchFamily="34" charset="0"/>
                <a:ea typeface="Trebuchet MS" pitchFamily="34" charset="-122"/>
                <a:cs typeface="Trebuchet MS" pitchFamily="34" charset="-120"/>
              </a:rPr>
              <a:t>›</a:t>
            </a:r>
            <a:endParaRPr lang="en-US" sz="2200" dirty="0"/>
          </a:p>
        </p:txBody>
      </p:sp>
      <p:sp>
        <p:nvSpPr>
          <p:cNvPr id="15" name="card background">
            <a:extLst>
              <a:ext uri="{C183D7F6-B498-43B3-948B-1728B52AA6E4}">
                <adec:decorative xmlns:adec="http://schemas.microsoft.com/office/drawing/2017/decorative" val="1"/>
              </a:ext>
            </a:extLst>
          </p:cNvPr>
          <p:cNvSpPr/>
          <p:nvPr/>
        </p:nvSpPr>
        <p:spPr>
          <a:xfrm>
            <a:off x="4727448" y="1874520"/>
            <a:ext cx="1801368" cy="1371600"/>
          </a:xfrm>
          <a:prstGeom prst="roundRect">
            <a:avLst>
              <a:gd name="adj" fmla="val 400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6" name="card top edge">
            <a:extLst>
              <a:ext uri="{C183D7F6-B498-43B3-948B-1728B52AA6E4}">
                <adec:decorative xmlns:adec="http://schemas.microsoft.com/office/drawing/2017/decorative" val="1"/>
              </a:ext>
            </a:extLst>
          </p:cNvPr>
          <p:cNvSpPr/>
          <p:nvPr/>
        </p:nvSpPr>
        <p:spPr>
          <a:xfrm>
            <a:off x="4727448" y="1874520"/>
            <a:ext cx="1801368" cy="64008"/>
          </a:xfrm>
          <a:prstGeom prst="rect">
            <a:avLst/>
          </a:prstGeom>
          <a:solidFill>
            <a:srgbClr val="35A79C"/>
          </a:solidFill>
          <a:ln w="12700">
            <a:solidFill>
              <a:srgbClr val="35A79C"/>
            </a:solidFill>
            <a:prstDash val="solid"/>
          </a:ln>
        </p:spPr>
        <p:txBody>
          <a:bodyPr/>
          <a:lstStyle/>
          <a:p>
            <a:endParaRPr lang="en-SE"/>
          </a:p>
        </p:txBody>
      </p:sp>
      <p:sp>
        <p:nvSpPr>
          <p:cNvPr id="17" name="Text 15"/>
          <p:cNvSpPr/>
          <p:nvPr/>
        </p:nvSpPr>
        <p:spPr>
          <a:xfrm>
            <a:off x="4873752" y="2057400"/>
            <a:ext cx="1508760" cy="310896"/>
          </a:xfrm>
          <a:prstGeom prst="rect">
            <a:avLst/>
          </a:prstGeom>
          <a:noFill/>
          <a:ln/>
        </p:spPr>
        <p:txBody>
          <a:bodyPr wrap="square" lIns="0" tIns="0" rIns="0" bIns="0" rtlCol="0" anchor="ctr"/>
          <a:lstStyle/>
          <a:p>
            <a:pPr marL="0" indent="0" algn="ctr">
              <a:buNone/>
            </a:pPr>
            <a:r>
              <a:rPr lang="en-US" sz="1300" b="1" dirty="0">
                <a:solidFill>
                  <a:srgbClr val="35A79C"/>
                </a:solidFill>
                <a:latin typeface="Trebuchet MS" pitchFamily="34" charset="0"/>
                <a:ea typeface="Trebuchet MS" pitchFamily="34" charset="-122"/>
                <a:cs typeface="Trebuchet MS" pitchFamily="34" charset="-120"/>
              </a:rPr>
              <a:t>Matching engine</a:t>
            </a:r>
            <a:endParaRPr lang="en-US" sz="1300" dirty="0"/>
          </a:p>
        </p:txBody>
      </p:sp>
      <p:sp>
        <p:nvSpPr>
          <p:cNvPr id="18" name="Text 16"/>
          <p:cNvSpPr/>
          <p:nvPr/>
        </p:nvSpPr>
        <p:spPr>
          <a:xfrm>
            <a:off x="4855464" y="2386584"/>
            <a:ext cx="1545336" cy="749808"/>
          </a:xfrm>
          <a:prstGeom prst="rect">
            <a:avLst/>
          </a:prstGeom>
          <a:noFill/>
          <a:ln/>
        </p:spPr>
        <p:txBody>
          <a:bodyPr wrap="square" lIns="0" tIns="0" rIns="0" bIns="0" rtlCol="0" anchor="t"/>
          <a:lstStyle/>
          <a:p>
            <a:pPr marL="0" indent="0" algn="ctr">
              <a:buNone/>
            </a:pPr>
            <a:r>
              <a:rPr lang="en-US" sz="1050" dirty="0">
                <a:solidFill>
                  <a:srgbClr val="D5DAE0"/>
                </a:solidFill>
                <a:latin typeface="Calibri" pitchFamily="34" charset="0"/>
                <a:ea typeface="Calibri" pitchFamily="34" charset="-122"/>
                <a:cs typeface="Calibri" pitchFamily="34" charset="-120"/>
              </a:rPr>
              <a:t>Validates, matches and publishes every event</a:t>
            </a:r>
            <a:endParaRPr lang="en-US" sz="1050" dirty="0"/>
          </a:p>
        </p:txBody>
      </p:sp>
      <p:sp>
        <p:nvSpPr>
          <p:cNvPr id="19" name="Text 17"/>
          <p:cNvSpPr/>
          <p:nvPr/>
        </p:nvSpPr>
        <p:spPr>
          <a:xfrm>
            <a:off x="6528816" y="2340864"/>
            <a:ext cx="310896" cy="438912"/>
          </a:xfrm>
          <a:prstGeom prst="rect">
            <a:avLst/>
          </a:prstGeom>
          <a:noFill/>
          <a:ln/>
        </p:spPr>
        <p:txBody>
          <a:bodyPr wrap="square" lIns="0" tIns="0" rIns="0" bIns="0" rtlCol="0" anchor="ctr"/>
          <a:lstStyle/>
          <a:p>
            <a:pPr marL="0" indent="0" algn="ctr">
              <a:buNone/>
            </a:pPr>
            <a:r>
              <a:rPr lang="en-US" sz="2200" b="1" dirty="0">
                <a:solidFill>
                  <a:srgbClr val="E8722C"/>
                </a:solidFill>
                <a:latin typeface="Trebuchet MS" pitchFamily="34" charset="0"/>
                <a:ea typeface="Trebuchet MS" pitchFamily="34" charset="-122"/>
                <a:cs typeface="Trebuchet MS" pitchFamily="34" charset="-120"/>
              </a:rPr>
              <a:t>›</a:t>
            </a:r>
            <a:endParaRPr lang="en-US" sz="2200" dirty="0"/>
          </a:p>
        </p:txBody>
      </p:sp>
      <p:sp>
        <p:nvSpPr>
          <p:cNvPr id="20" name="card background">
            <a:extLst>
              <a:ext uri="{C183D7F6-B498-43B3-948B-1728B52AA6E4}">
                <adec:decorative xmlns:adec="http://schemas.microsoft.com/office/drawing/2017/decorative" val="1"/>
              </a:ext>
            </a:extLst>
          </p:cNvPr>
          <p:cNvSpPr/>
          <p:nvPr/>
        </p:nvSpPr>
        <p:spPr>
          <a:xfrm>
            <a:off x="6839712" y="1874520"/>
            <a:ext cx="1801368" cy="1371600"/>
          </a:xfrm>
          <a:prstGeom prst="roundRect">
            <a:avLst>
              <a:gd name="adj" fmla="val 400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21" name="card top edge">
            <a:extLst>
              <a:ext uri="{C183D7F6-B498-43B3-948B-1728B52AA6E4}">
                <adec:decorative xmlns:adec="http://schemas.microsoft.com/office/drawing/2017/decorative" val="1"/>
              </a:ext>
            </a:extLst>
          </p:cNvPr>
          <p:cNvSpPr/>
          <p:nvPr/>
        </p:nvSpPr>
        <p:spPr>
          <a:xfrm>
            <a:off x="6839712" y="1874520"/>
            <a:ext cx="1801368" cy="64008"/>
          </a:xfrm>
          <a:prstGeom prst="rect">
            <a:avLst/>
          </a:prstGeom>
          <a:solidFill>
            <a:srgbClr val="8B7BD8"/>
          </a:solidFill>
          <a:ln w="12700">
            <a:solidFill>
              <a:srgbClr val="8B7BD8"/>
            </a:solidFill>
            <a:prstDash val="solid"/>
          </a:ln>
        </p:spPr>
        <p:txBody>
          <a:bodyPr/>
          <a:lstStyle/>
          <a:p>
            <a:endParaRPr lang="en-SE"/>
          </a:p>
        </p:txBody>
      </p:sp>
      <p:sp>
        <p:nvSpPr>
          <p:cNvPr id="22" name="Text 20"/>
          <p:cNvSpPr/>
          <p:nvPr/>
        </p:nvSpPr>
        <p:spPr>
          <a:xfrm>
            <a:off x="6986016" y="2057400"/>
            <a:ext cx="1508760" cy="310896"/>
          </a:xfrm>
          <a:prstGeom prst="rect">
            <a:avLst/>
          </a:prstGeom>
          <a:noFill/>
          <a:ln/>
        </p:spPr>
        <p:txBody>
          <a:bodyPr wrap="square" lIns="0" tIns="0" rIns="0" bIns="0" rtlCol="0" anchor="ctr"/>
          <a:lstStyle/>
          <a:p>
            <a:pPr marL="0" indent="0" algn="ctr">
              <a:buNone/>
            </a:pPr>
            <a:r>
              <a:rPr lang="en-US" sz="1300" b="1" dirty="0">
                <a:solidFill>
                  <a:srgbClr val="8B7BD8"/>
                </a:solidFill>
                <a:latin typeface="Trebuchet MS" pitchFamily="34" charset="0"/>
                <a:ea typeface="Trebuchet MS" pitchFamily="34" charset="-122"/>
                <a:cs typeface="Trebuchet MS" pitchFamily="34" charset="-120"/>
              </a:rPr>
              <a:t>Market</a:t>
            </a:r>
            <a:endParaRPr lang="en-US" sz="1300" dirty="0"/>
          </a:p>
        </p:txBody>
      </p:sp>
      <p:sp>
        <p:nvSpPr>
          <p:cNvPr id="23" name="Text 21"/>
          <p:cNvSpPr/>
          <p:nvPr/>
        </p:nvSpPr>
        <p:spPr>
          <a:xfrm>
            <a:off x="6967728" y="2386584"/>
            <a:ext cx="1545336" cy="749808"/>
          </a:xfrm>
          <a:prstGeom prst="rect">
            <a:avLst/>
          </a:prstGeom>
          <a:noFill/>
          <a:ln/>
        </p:spPr>
        <p:txBody>
          <a:bodyPr wrap="square" lIns="0" tIns="0" rIns="0" bIns="0" rtlCol="0" anchor="t"/>
          <a:lstStyle/>
          <a:p>
            <a:pPr marL="0" indent="0" algn="ctr">
              <a:buNone/>
            </a:pPr>
            <a:r>
              <a:rPr lang="en-US" sz="1050" dirty="0">
                <a:solidFill>
                  <a:srgbClr val="D5DAE0"/>
                </a:solidFill>
                <a:latin typeface="Calibri" pitchFamily="34" charset="0"/>
                <a:ea typeface="Calibri" pitchFamily="34" charset="-122"/>
                <a:cs typeface="Calibri" pitchFamily="34" charset="-120"/>
              </a:rPr>
              <a:t>Orders meet, trades print, prices move</a:t>
            </a:r>
            <a:endParaRPr lang="en-US" sz="1050" dirty="0"/>
          </a:p>
        </p:txBody>
      </p:sp>
      <p:sp>
        <p:nvSpPr>
          <p:cNvPr id="24" name="card background">
            <a:extLst>
              <a:ext uri="{C183D7F6-B498-43B3-948B-1728B52AA6E4}">
                <adec:decorative xmlns:adec="http://schemas.microsoft.com/office/drawing/2017/decorative" val="1"/>
              </a:ext>
            </a:extLst>
          </p:cNvPr>
          <p:cNvSpPr/>
          <p:nvPr/>
        </p:nvSpPr>
        <p:spPr>
          <a:xfrm>
            <a:off x="502920" y="3566160"/>
            <a:ext cx="2566416" cy="868680"/>
          </a:xfrm>
          <a:prstGeom prst="roundRect">
            <a:avLst>
              <a:gd name="adj" fmla="val 6316"/>
            </a:avLst>
          </a:prstGeom>
          <a:solidFill>
            <a:srgbClr val="2E353D"/>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25" name="Text 23"/>
          <p:cNvSpPr/>
          <p:nvPr/>
        </p:nvSpPr>
        <p:spPr>
          <a:xfrm>
            <a:off x="630936" y="3657600"/>
            <a:ext cx="2310384" cy="411480"/>
          </a:xfrm>
          <a:prstGeom prst="rect">
            <a:avLst/>
          </a:prstGeom>
          <a:noFill/>
          <a:ln/>
        </p:spPr>
        <p:txBody>
          <a:bodyPr wrap="square" lIns="0" tIns="0" rIns="0" bIns="0" rtlCol="0" anchor="ctr"/>
          <a:lstStyle/>
          <a:p>
            <a:pPr marL="0" indent="0" algn="ctr">
              <a:buNone/>
            </a:pPr>
            <a:r>
              <a:rPr lang="en-US" sz="2400" b="1" dirty="0">
                <a:solidFill>
                  <a:srgbClr val="E8722C"/>
                </a:solidFill>
                <a:latin typeface="Trebuchet MS" pitchFamily="34" charset="0"/>
                <a:ea typeface="Trebuchet MS" pitchFamily="34" charset="-122"/>
                <a:cs typeface="Trebuchet MS" pitchFamily="34" charset="-120"/>
              </a:rPr>
              <a:t>REST</a:t>
            </a:r>
            <a:endParaRPr lang="en-US" sz="2400" dirty="0"/>
          </a:p>
        </p:txBody>
      </p:sp>
      <p:sp>
        <p:nvSpPr>
          <p:cNvPr id="26" name="Text 24"/>
          <p:cNvSpPr/>
          <p:nvPr/>
        </p:nvSpPr>
        <p:spPr>
          <a:xfrm>
            <a:off x="612648" y="4069080"/>
            <a:ext cx="2346960" cy="274320"/>
          </a:xfrm>
          <a:prstGeom prst="rect">
            <a:avLst/>
          </a:prstGeom>
          <a:noFill/>
          <a:ln/>
        </p:spPr>
        <p:txBody>
          <a:bodyPr wrap="square" lIns="0" tIns="0" rIns="0" bIns="0" rtlCol="0" anchor="ctr"/>
          <a:lstStyle/>
          <a:p>
            <a:pPr marL="0" indent="0" algn="ctr">
              <a:buNone/>
            </a:pPr>
            <a:r>
              <a:rPr lang="en-US" sz="1000" dirty="0">
                <a:solidFill>
                  <a:srgbClr val="97A1AC"/>
                </a:solidFill>
                <a:latin typeface="Calibri" pitchFamily="34" charset="0"/>
                <a:ea typeface="Calibri" pitchFamily="34" charset="-122"/>
                <a:cs typeface="Calibri" pitchFamily="34" charset="-120"/>
              </a:rPr>
              <a:t>Ask a question, get an answer</a:t>
            </a:r>
            <a:endParaRPr lang="en-US" sz="1000" dirty="0"/>
          </a:p>
        </p:txBody>
      </p:sp>
      <p:sp>
        <p:nvSpPr>
          <p:cNvPr id="27" name="card background">
            <a:extLst>
              <a:ext uri="{C183D7F6-B498-43B3-948B-1728B52AA6E4}">
                <adec:decorative xmlns:adec="http://schemas.microsoft.com/office/drawing/2017/decorative" val="1"/>
              </a:ext>
            </a:extLst>
          </p:cNvPr>
          <p:cNvSpPr/>
          <p:nvPr/>
        </p:nvSpPr>
        <p:spPr>
          <a:xfrm>
            <a:off x="3288792" y="3566160"/>
            <a:ext cx="2566416" cy="868680"/>
          </a:xfrm>
          <a:prstGeom prst="roundRect">
            <a:avLst>
              <a:gd name="adj" fmla="val 6316"/>
            </a:avLst>
          </a:prstGeom>
          <a:solidFill>
            <a:srgbClr val="2E353D"/>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28" name="Text 26"/>
          <p:cNvSpPr/>
          <p:nvPr/>
        </p:nvSpPr>
        <p:spPr>
          <a:xfrm>
            <a:off x="3416808" y="3657600"/>
            <a:ext cx="2310384" cy="411480"/>
          </a:xfrm>
          <a:prstGeom prst="rect">
            <a:avLst/>
          </a:prstGeom>
          <a:noFill/>
          <a:ln/>
        </p:spPr>
        <p:txBody>
          <a:bodyPr wrap="square" lIns="0" tIns="0" rIns="0" bIns="0" rtlCol="0" anchor="ctr"/>
          <a:lstStyle/>
          <a:p>
            <a:pPr marL="0" indent="0" algn="ctr">
              <a:buNone/>
            </a:pPr>
            <a:r>
              <a:rPr lang="en-US" sz="2400" b="1" dirty="0">
                <a:solidFill>
                  <a:srgbClr val="35A79C"/>
                </a:solidFill>
                <a:latin typeface="Trebuchet MS" pitchFamily="34" charset="0"/>
                <a:ea typeface="Trebuchet MS" pitchFamily="34" charset="-122"/>
                <a:cs typeface="Trebuchet MS" pitchFamily="34" charset="-120"/>
              </a:rPr>
              <a:t>WebSocket</a:t>
            </a:r>
            <a:endParaRPr lang="en-US" sz="2400" dirty="0"/>
          </a:p>
        </p:txBody>
      </p:sp>
      <p:sp>
        <p:nvSpPr>
          <p:cNvPr id="29" name="Text 27"/>
          <p:cNvSpPr/>
          <p:nvPr/>
        </p:nvSpPr>
        <p:spPr>
          <a:xfrm>
            <a:off x="3398520" y="4069080"/>
            <a:ext cx="2346960" cy="274320"/>
          </a:xfrm>
          <a:prstGeom prst="rect">
            <a:avLst/>
          </a:prstGeom>
          <a:noFill/>
          <a:ln/>
        </p:spPr>
        <p:txBody>
          <a:bodyPr wrap="square" lIns="0" tIns="0" rIns="0" bIns="0" rtlCol="0" anchor="ctr"/>
          <a:lstStyle/>
          <a:p>
            <a:pPr marL="0" indent="0" algn="ctr">
              <a:buNone/>
            </a:pPr>
            <a:r>
              <a:rPr lang="en-US" sz="1000" dirty="0">
                <a:solidFill>
                  <a:srgbClr val="97A1AC"/>
                </a:solidFill>
                <a:latin typeface="Calibri" pitchFamily="34" charset="0"/>
                <a:ea typeface="Calibri" pitchFamily="34" charset="-122"/>
                <a:cs typeface="Calibri" pitchFamily="34" charset="-120"/>
              </a:rPr>
              <a:t>Subscribe once, receive forever</a:t>
            </a:r>
            <a:endParaRPr lang="en-US" sz="1000" dirty="0"/>
          </a:p>
        </p:txBody>
      </p:sp>
      <p:sp>
        <p:nvSpPr>
          <p:cNvPr id="30" name="card background">
            <a:extLst>
              <a:ext uri="{C183D7F6-B498-43B3-948B-1728B52AA6E4}">
                <adec:decorative xmlns:adec="http://schemas.microsoft.com/office/drawing/2017/decorative" val="1"/>
              </a:ext>
            </a:extLst>
          </p:cNvPr>
          <p:cNvSpPr/>
          <p:nvPr/>
        </p:nvSpPr>
        <p:spPr>
          <a:xfrm>
            <a:off x="6074664" y="3566160"/>
            <a:ext cx="2566416" cy="868680"/>
          </a:xfrm>
          <a:prstGeom prst="roundRect">
            <a:avLst>
              <a:gd name="adj" fmla="val 6316"/>
            </a:avLst>
          </a:prstGeom>
          <a:solidFill>
            <a:srgbClr val="2E353D"/>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31" name="Text 29"/>
          <p:cNvSpPr/>
          <p:nvPr/>
        </p:nvSpPr>
        <p:spPr>
          <a:xfrm>
            <a:off x="6202680" y="3657600"/>
            <a:ext cx="2310384" cy="411480"/>
          </a:xfrm>
          <a:prstGeom prst="rect">
            <a:avLst/>
          </a:prstGeom>
          <a:noFill/>
          <a:ln/>
        </p:spPr>
        <p:txBody>
          <a:bodyPr wrap="square" lIns="0" tIns="0" rIns="0" bIns="0" rtlCol="0" anchor="ctr"/>
          <a:lstStyle/>
          <a:p>
            <a:pPr marL="0" indent="0" algn="ctr">
              <a:buNone/>
            </a:pPr>
            <a:r>
              <a:rPr lang="en-US" sz="2400" b="1" dirty="0">
                <a:solidFill>
                  <a:srgbClr val="F2A65A"/>
                </a:solidFill>
                <a:latin typeface="Trebuchet MS" pitchFamily="34" charset="0"/>
                <a:ea typeface="Trebuchet MS" pitchFamily="34" charset="-122"/>
                <a:cs typeface="Trebuchet MS" pitchFamily="34" charset="-120"/>
              </a:rPr>
              <a:t>JSON</a:t>
            </a:r>
            <a:endParaRPr lang="en-US" sz="2400" dirty="0"/>
          </a:p>
        </p:txBody>
      </p:sp>
      <p:sp>
        <p:nvSpPr>
          <p:cNvPr id="32" name="Text 30"/>
          <p:cNvSpPr/>
          <p:nvPr/>
        </p:nvSpPr>
        <p:spPr>
          <a:xfrm>
            <a:off x="6184392" y="4069080"/>
            <a:ext cx="2346960" cy="274320"/>
          </a:xfrm>
          <a:prstGeom prst="rect">
            <a:avLst/>
          </a:prstGeom>
          <a:noFill/>
          <a:ln/>
        </p:spPr>
        <p:txBody>
          <a:bodyPr wrap="square" lIns="0" tIns="0" rIns="0" bIns="0" rtlCol="0" anchor="ctr"/>
          <a:lstStyle/>
          <a:p>
            <a:pPr marL="0" indent="0" algn="ctr">
              <a:buNone/>
            </a:pPr>
            <a:r>
              <a:rPr lang="en-US" sz="1000" dirty="0">
                <a:solidFill>
                  <a:srgbClr val="97A1AC"/>
                </a:solidFill>
                <a:latin typeface="Calibri" pitchFamily="34" charset="0"/>
                <a:ea typeface="Calibri" pitchFamily="34" charset="-122"/>
                <a:cs typeface="Calibri" pitchFamily="34" charset="-120"/>
              </a:rPr>
              <a:t>One format everywhere</a:t>
            </a:r>
            <a:endParaRPr lang="en-US" sz="1000" dirty="0"/>
          </a:p>
        </p:txBody>
      </p:sp>
      <p:sp>
        <p:nvSpPr>
          <p:cNvPr id="33" name="Text 31"/>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Orientation</a:t>
            </a:r>
            <a:endParaRPr lang="en-US" sz="900" dirty="0"/>
          </a:p>
        </p:txBody>
      </p:sp>
      <p:sp>
        <p:nvSpPr>
          <p:cNvPr id="34" name="Text 32"/>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8138160" cy="548640"/>
          </a:xfrm>
          <a:prstGeom prst="rect">
            <a:avLst/>
          </a:prstGeom>
          <a:noFill/>
          <a:ln/>
        </p:spPr>
        <p:txBody>
          <a:bodyPr wrap="square" lIns="0" tIns="0" rIns="0" bIns="0" rtlCol="0" anchor="ctr"/>
          <a:lstStyle/>
          <a:p>
            <a:pPr marL="0" indent="0">
              <a:buNone/>
            </a:pPr>
            <a:r>
              <a:rPr lang="en-US" sz="2700" b="1" dirty="0">
                <a:solidFill>
                  <a:srgbClr val="F3F5F7"/>
                </a:solidFill>
                <a:latin typeface="Trebuchet MS" pitchFamily="34" charset="0"/>
                <a:ea typeface="Trebuchet MS" pitchFamily="34" charset="-122"/>
                <a:cs typeface="Trebuchet MS" pitchFamily="34" charset="-120"/>
              </a:rPr>
              <a:t>Why the gateway exists</a:t>
            </a:r>
            <a:endParaRPr lang="en-US" sz="2700" dirty="0"/>
          </a:p>
        </p:txBody>
      </p:sp>
      <p:sp>
        <p:nvSpPr>
          <p:cNvPr id="3" name="Text 1"/>
          <p:cNvSpPr/>
          <p:nvPr/>
        </p:nvSpPr>
        <p:spPr>
          <a:xfrm>
            <a:off x="502920" y="841248"/>
            <a:ext cx="8138160" cy="237744"/>
          </a:xfrm>
          <a:prstGeom prst="rect">
            <a:avLst/>
          </a:prstGeom>
          <a:noFill/>
          <a:ln/>
        </p:spPr>
        <p:txBody>
          <a:bodyPr wrap="square" lIns="0" tIns="0" rIns="0" bIns="0" rtlCol="0" anchor="ctr"/>
          <a:lstStyle/>
          <a:p>
            <a:pPr marL="0" indent="0">
              <a:buNone/>
            </a:pPr>
            <a:r>
              <a:rPr lang="en-US" sz="1100" b="1" kern="0" spc="200" dirty="0">
                <a:solidFill>
                  <a:srgbClr val="E8722C"/>
                </a:solidFill>
                <a:latin typeface="Calibri" pitchFamily="34" charset="0"/>
                <a:ea typeface="Calibri" pitchFamily="34" charset="-122"/>
                <a:cs typeface="Calibri" pitchFamily="34" charset="-120"/>
              </a:rPr>
              <a:t>PURPOSE</a:t>
            </a:r>
            <a:endParaRPr lang="en-US" sz="1100" dirty="0"/>
          </a:p>
        </p:txBody>
      </p:sp>
      <p:sp>
        <p:nvSpPr>
          <p:cNvPr id="4" name="card background">
            <a:extLst>
              <a:ext uri="{C183D7F6-B498-43B3-948B-1728B52AA6E4}">
                <adec:decorative xmlns:adec="http://schemas.microsoft.com/office/drawing/2017/decorative" val="1"/>
              </a:ext>
            </a:extLst>
          </p:cNvPr>
          <p:cNvSpPr/>
          <p:nvPr/>
        </p:nvSpPr>
        <p:spPr>
          <a:xfrm>
            <a:off x="502920" y="1234440"/>
            <a:ext cx="3959352" cy="3383280"/>
          </a:xfrm>
          <a:prstGeom prst="roundRect">
            <a:avLst>
              <a:gd name="adj" fmla="val 1622"/>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5" name="card top edge">
            <a:extLst>
              <a:ext uri="{C183D7F6-B498-43B3-948B-1728B52AA6E4}">
                <adec:decorative xmlns:adec="http://schemas.microsoft.com/office/drawing/2017/decorative" val="1"/>
              </a:ext>
            </a:extLst>
          </p:cNvPr>
          <p:cNvSpPr/>
          <p:nvPr/>
        </p:nvSpPr>
        <p:spPr>
          <a:xfrm>
            <a:off x="502920" y="1234440"/>
            <a:ext cx="3959352" cy="73152"/>
          </a:xfrm>
          <a:prstGeom prst="rect">
            <a:avLst/>
          </a:prstGeom>
          <a:solidFill>
            <a:srgbClr val="97A1AC"/>
          </a:solidFill>
          <a:ln w="12700">
            <a:solidFill>
              <a:srgbClr val="97A1AC"/>
            </a:solidFill>
            <a:prstDash val="solid"/>
          </a:ln>
        </p:spPr>
        <p:txBody>
          <a:bodyPr/>
          <a:lstStyle/>
          <a:p>
            <a:endParaRPr lang="en-SE"/>
          </a:p>
        </p:txBody>
      </p:sp>
      <p:sp>
        <p:nvSpPr>
          <p:cNvPr id="6" name="Text 4"/>
          <p:cNvSpPr/>
          <p:nvPr/>
        </p:nvSpPr>
        <p:spPr>
          <a:xfrm>
            <a:off x="740664" y="1453896"/>
            <a:ext cx="3502152" cy="365760"/>
          </a:xfrm>
          <a:prstGeom prst="rect">
            <a:avLst/>
          </a:prstGeom>
          <a:noFill/>
          <a:ln/>
        </p:spPr>
        <p:txBody>
          <a:bodyPr wrap="square" lIns="0" tIns="0" rIns="0" bIns="0" rtlCol="0" anchor="ctr"/>
          <a:lstStyle/>
          <a:p>
            <a:pPr marL="0" indent="0">
              <a:buNone/>
            </a:pPr>
            <a:r>
              <a:rPr lang="en-US" sz="1700" b="1" dirty="0">
                <a:solidFill>
                  <a:srgbClr val="97A1AC"/>
                </a:solidFill>
                <a:latin typeface="Trebuchet MS" pitchFamily="34" charset="0"/>
                <a:ea typeface="Trebuchet MS" pitchFamily="34" charset="-122"/>
                <a:cs typeface="Trebuchet MS" pitchFamily="34" charset="-120"/>
              </a:rPr>
              <a:t>The problem</a:t>
            </a:r>
            <a:endParaRPr lang="en-US" sz="1700" dirty="0"/>
          </a:p>
        </p:txBody>
      </p:sp>
      <p:sp>
        <p:nvSpPr>
          <p:cNvPr id="7" name="Text 5"/>
          <p:cNvSpPr/>
          <p:nvPr/>
        </p:nvSpPr>
        <p:spPr>
          <a:xfrm>
            <a:off x="740664" y="1819656"/>
            <a:ext cx="3502152" cy="274320"/>
          </a:xfrm>
          <a:prstGeom prst="rect">
            <a:avLst/>
          </a:prstGeom>
          <a:noFill/>
          <a:ln/>
        </p:spPr>
        <p:txBody>
          <a:bodyPr wrap="square" lIns="0" tIns="0" rIns="0" bIns="0" rtlCol="0" anchor="ctr"/>
          <a:lstStyle/>
          <a:p>
            <a:pPr marL="0" indent="0">
              <a:buNone/>
            </a:pPr>
            <a:r>
              <a:rPr lang="en-US" sz="1100" i="1" dirty="0">
                <a:solidFill>
                  <a:srgbClr val="97A1AC"/>
                </a:solidFill>
                <a:latin typeface="Calibri" pitchFamily="34" charset="0"/>
                <a:ea typeface="Calibri" pitchFamily="34" charset="-122"/>
                <a:cs typeface="Calibri" pitchFamily="34" charset="-120"/>
              </a:rPr>
              <a:t>Talking to the engine directly is hard</a:t>
            </a:r>
            <a:endParaRPr lang="en-US" sz="1100" dirty="0"/>
          </a:p>
        </p:txBody>
      </p:sp>
      <p:sp>
        <p:nvSpPr>
          <p:cNvPr id="8" name="Text 6"/>
          <p:cNvSpPr/>
          <p:nvPr/>
        </p:nvSpPr>
        <p:spPr>
          <a:xfrm>
            <a:off x="740664" y="2167128"/>
            <a:ext cx="3502152" cy="2267712"/>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The engine speaks its own message format over ZMQ sockets</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Every new client would need to re-implement that transport</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Browsers cannot open raw exchange sockets at all</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Teaching material would drown in plumbing before reaching trading</a:t>
            </a:r>
            <a:endParaRPr lang="en-US" sz="1150" dirty="0"/>
          </a:p>
        </p:txBody>
      </p:sp>
      <p:sp>
        <p:nvSpPr>
          <p:cNvPr id="9" name="card background">
            <a:extLst>
              <a:ext uri="{C183D7F6-B498-43B3-948B-1728B52AA6E4}">
                <adec:decorative xmlns:adec="http://schemas.microsoft.com/office/drawing/2017/decorative" val="1"/>
              </a:ext>
            </a:extLst>
          </p:cNvPr>
          <p:cNvSpPr/>
          <p:nvPr/>
        </p:nvSpPr>
        <p:spPr>
          <a:xfrm>
            <a:off x="4681728" y="1234440"/>
            <a:ext cx="3959352" cy="3383280"/>
          </a:xfrm>
          <a:prstGeom prst="roundRect">
            <a:avLst>
              <a:gd name="adj" fmla="val 1622"/>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0" name="card top edge">
            <a:extLst>
              <a:ext uri="{C183D7F6-B498-43B3-948B-1728B52AA6E4}">
                <adec:decorative xmlns:adec="http://schemas.microsoft.com/office/drawing/2017/decorative" val="1"/>
              </a:ext>
            </a:extLst>
          </p:cNvPr>
          <p:cNvSpPr/>
          <p:nvPr/>
        </p:nvSpPr>
        <p:spPr>
          <a:xfrm>
            <a:off x="4681728" y="1234440"/>
            <a:ext cx="3959352" cy="73152"/>
          </a:xfrm>
          <a:prstGeom prst="rect">
            <a:avLst/>
          </a:prstGeom>
          <a:solidFill>
            <a:srgbClr val="E8722C"/>
          </a:solidFill>
          <a:ln w="12700">
            <a:solidFill>
              <a:srgbClr val="E8722C"/>
            </a:solidFill>
            <a:prstDash val="solid"/>
          </a:ln>
        </p:spPr>
        <p:txBody>
          <a:bodyPr/>
          <a:lstStyle/>
          <a:p>
            <a:endParaRPr lang="en-SE"/>
          </a:p>
        </p:txBody>
      </p:sp>
      <p:sp>
        <p:nvSpPr>
          <p:cNvPr id="11" name="Text 9"/>
          <p:cNvSpPr/>
          <p:nvPr/>
        </p:nvSpPr>
        <p:spPr>
          <a:xfrm>
            <a:off x="4919472" y="1453896"/>
            <a:ext cx="3502152" cy="365760"/>
          </a:xfrm>
          <a:prstGeom prst="rect">
            <a:avLst/>
          </a:prstGeom>
          <a:noFill/>
          <a:ln/>
        </p:spPr>
        <p:txBody>
          <a:bodyPr wrap="square" lIns="0" tIns="0" rIns="0" bIns="0" rtlCol="0" anchor="ctr"/>
          <a:lstStyle/>
          <a:p>
            <a:pPr marL="0" indent="0">
              <a:buNone/>
            </a:pPr>
            <a:r>
              <a:rPr lang="en-US" sz="1700" b="1" dirty="0">
                <a:solidFill>
                  <a:srgbClr val="E8722C"/>
                </a:solidFill>
                <a:latin typeface="Trebuchet MS" pitchFamily="34" charset="0"/>
                <a:ea typeface="Trebuchet MS" pitchFamily="34" charset="-122"/>
                <a:cs typeface="Trebuchet MS" pitchFamily="34" charset="-120"/>
              </a:rPr>
              <a:t>The answer</a:t>
            </a:r>
            <a:endParaRPr lang="en-US" sz="1700" dirty="0"/>
          </a:p>
        </p:txBody>
      </p:sp>
      <p:sp>
        <p:nvSpPr>
          <p:cNvPr id="12" name="Text 10"/>
          <p:cNvSpPr/>
          <p:nvPr/>
        </p:nvSpPr>
        <p:spPr>
          <a:xfrm>
            <a:off x="4919472" y="1819656"/>
            <a:ext cx="3502152" cy="274320"/>
          </a:xfrm>
          <a:prstGeom prst="rect">
            <a:avLst/>
          </a:prstGeom>
          <a:noFill/>
          <a:ln/>
        </p:spPr>
        <p:txBody>
          <a:bodyPr wrap="square" lIns="0" tIns="0" rIns="0" bIns="0" rtlCol="0" anchor="ctr"/>
          <a:lstStyle/>
          <a:p>
            <a:pPr marL="0" indent="0">
              <a:buNone/>
            </a:pPr>
            <a:r>
              <a:rPr lang="en-US" sz="1100" i="1" dirty="0">
                <a:solidFill>
                  <a:srgbClr val="97A1AC"/>
                </a:solidFill>
                <a:latin typeface="Calibri" pitchFamily="34" charset="0"/>
                <a:ea typeface="Calibri" pitchFamily="34" charset="-122"/>
                <a:cs typeface="Calibri" pitchFamily="34" charset="-120"/>
              </a:rPr>
              <a:t>One friendly, standard front door</a:t>
            </a:r>
            <a:endParaRPr lang="en-US" sz="1100" dirty="0"/>
          </a:p>
        </p:txBody>
      </p:sp>
      <p:sp>
        <p:nvSpPr>
          <p:cNvPr id="13" name="Text 11"/>
          <p:cNvSpPr/>
          <p:nvPr/>
        </p:nvSpPr>
        <p:spPr>
          <a:xfrm>
            <a:off x="4919472" y="2167128"/>
            <a:ext cx="3502152" cy="2267712"/>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Plain HTTP and JSON — the vocabulary every developer already knows</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WebSocket streams for anything that must arrive the moment it happens</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API keys that map to exchange identities and permissions</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Interactive documentation you can click through in a browser</a:t>
            </a:r>
            <a:endParaRPr lang="en-US" sz="1150" dirty="0"/>
          </a:p>
        </p:txBody>
      </p:sp>
      <p:sp>
        <p:nvSpPr>
          <p:cNvPr id="14" name="Text 12"/>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Orientation</a:t>
            </a:r>
            <a:endParaRPr lang="en-US" sz="900" dirty="0"/>
          </a:p>
        </p:txBody>
      </p:sp>
      <p:sp>
        <p:nvSpPr>
          <p:cNvPr id="15" name="Text 13"/>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8138160" cy="548640"/>
          </a:xfrm>
          <a:prstGeom prst="rect">
            <a:avLst/>
          </a:prstGeom>
          <a:noFill/>
          <a:ln/>
        </p:spPr>
        <p:txBody>
          <a:bodyPr wrap="square" lIns="0" tIns="0" rIns="0" bIns="0" rtlCol="0" anchor="ctr"/>
          <a:lstStyle/>
          <a:p>
            <a:pPr marL="0" indent="0">
              <a:buNone/>
            </a:pPr>
            <a:r>
              <a:rPr lang="en-US" sz="2700" b="1" dirty="0">
                <a:solidFill>
                  <a:srgbClr val="F3F5F7"/>
                </a:solidFill>
                <a:latin typeface="Trebuchet MS" pitchFamily="34" charset="0"/>
                <a:ea typeface="Trebuchet MS" pitchFamily="34" charset="-122"/>
                <a:cs typeface="Trebuchet MS" pitchFamily="34" charset="-120"/>
              </a:rPr>
              <a:t>What it is — and what it is not</a:t>
            </a:r>
            <a:endParaRPr lang="en-US" sz="2700" dirty="0"/>
          </a:p>
        </p:txBody>
      </p:sp>
      <p:sp>
        <p:nvSpPr>
          <p:cNvPr id="3" name="Text 1"/>
          <p:cNvSpPr/>
          <p:nvPr/>
        </p:nvSpPr>
        <p:spPr>
          <a:xfrm>
            <a:off x="502920" y="841248"/>
            <a:ext cx="8138160" cy="237744"/>
          </a:xfrm>
          <a:prstGeom prst="rect">
            <a:avLst/>
          </a:prstGeom>
          <a:noFill/>
          <a:ln/>
        </p:spPr>
        <p:txBody>
          <a:bodyPr wrap="square" lIns="0" tIns="0" rIns="0" bIns="0" rtlCol="0" anchor="ctr"/>
          <a:lstStyle/>
          <a:p>
            <a:pPr marL="0" indent="0">
              <a:buNone/>
            </a:pPr>
            <a:r>
              <a:rPr lang="en-US" sz="1100" b="1" kern="0" spc="200" dirty="0">
                <a:solidFill>
                  <a:srgbClr val="E8722C"/>
                </a:solidFill>
                <a:latin typeface="Calibri" pitchFamily="34" charset="0"/>
                <a:ea typeface="Calibri" pitchFamily="34" charset="-122"/>
                <a:cs typeface="Calibri" pitchFamily="34" charset="-120"/>
              </a:rPr>
              <a:t>BOUNDARIES</a:t>
            </a:r>
            <a:endParaRPr lang="en-US" sz="1100" dirty="0"/>
          </a:p>
        </p:txBody>
      </p:sp>
      <p:sp>
        <p:nvSpPr>
          <p:cNvPr id="4" name="card background">
            <a:extLst>
              <a:ext uri="{C183D7F6-B498-43B3-948B-1728B52AA6E4}">
                <adec:decorative xmlns:adec="http://schemas.microsoft.com/office/drawing/2017/decorative" val="1"/>
              </a:ext>
            </a:extLst>
          </p:cNvPr>
          <p:cNvSpPr/>
          <p:nvPr/>
        </p:nvSpPr>
        <p:spPr>
          <a:xfrm>
            <a:off x="502920" y="1234440"/>
            <a:ext cx="3959352" cy="3383280"/>
          </a:xfrm>
          <a:prstGeom prst="roundRect">
            <a:avLst>
              <a:gd name="adj" fmla="val 1622"/>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5" name="card top edge">
            <a:extLst>
              <a:ext uri="{C183D7F6-B498-43B3-948B-1728B52AA6E4}">
                <adec:decorative xmlns:adec="http://schemas.microsoft.com/office/drawing/2017/decorative" val="1"/>
              </a:ext>
            </a:extLst>
          </p:cNvPr>
          <p:cNvSpPr/>
          <p:nvPr/>
        </p:nvSpPr>
        <p:spPr>
          <a:xfrm>
            <a:off x="502920" y="1234440"/>
            <a:ext cx="3959352" cy="73152"/>
          </a:xfrm>
          <a:prstGeom prst="rect">
            <a:avLst/>
          </a:prstGeom>
          <a:solidFill>
            <a:srgbClr val="35A79C"/>
          </a:solidFill>
          <a:ln w="12700">
            <a:solidFill>
              <a:srgbClr val="35A79C"/>
            </a:solidFill>
            <a:prstDash val="solid"/>
          </a:ln>
        </p:spPr>
        <p:txBody>
          <a:bodyPr/>
          <a:lstStyle/>
          <a:p>
            <a:endParaRPr lang="en-SE"/>
          </a:p>
        </p:txBody>
      </p:sp>
      <p:sp>
        <p:nvSpPr>
          <p:cNvPr id="6" name="Text 4"/>
          <p:cNvSpPr/>
          <p:nvPr/>
        </p:nvSpPr>
        <p:spPr>
          <a:xfrm>
            <a:off x="740664" y="1453896"/>
            <a:ext cx="3502152" cy="365760"/>
          </a:xfrm>
          <a:prstGeom prst="rect">
            <a:avLst/>
          </a:prstGeom>
          <a:noFill/>
          <a:ln/>
        </p:spPr>
        <p:txBody>
          <a:bodyPr wrap="square" lIns="0" tIns="0" rIns="0" bIns="0" rtlCol="0" anchor="ctr"/>
          <a:lstStyle/>
          <a:p>
            <a:pPr marL="0" indent="0">
              <a:buNone/>
            </a:pPr>
            <a:r>
              <a:rPr lang="en-US" sz="1700" b="1" dirty="0">
                <a:solidFill>
                  <a:srgbClr val="35A79C"/>
                </a:solidFill>
                <a:latin typeface="Trebuchet MS" pitchFamily="34" charset="0"/>
                <a:ea typeface="Trebuchet MS" pitchFamily="34" charset="-122"/>
                <a:cs typeface="Trebuchet MS" pitchFamily="34" charset="-120"/>
              </a:rPr>
              <a:t>It IS</a:t>
            </a:r>
            <a:endParaRPr lang="en-US" sz="1700" dirty="0"/>
          </a:p>
        </p:txBody>
      </p:sp>
      <p:sp>
        <p:nvSpPr>
          <p:cNvPr id="7" name="Text 5"/>
          <p:cNvSpPr/>
          <p:nvPr/>
        </p:nvSpPr>
        <p:spPr>
          <a:xfrm>
            <a:off x="740664" y="1929384"/>
            <a:ext cx="3502152" cy="2505456"/>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A translator: HTTP and WebSocket in, engine messages out</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A session cache holding your live orders, quote legs and fills</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A read path into recorded history and market statistics</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The same functionality the interactive console offers, exposed for software</a:t>
            </a:r>
            <a:endParaRPr lang="en-US" sz="1150" dirty="0"/>
          </a:p>
        </p:txBody>
      </p:sp>
      <p:sp>
        <p:nvSpPr>
          <p:cNvPr id="8" name="card background">
            <a:extLst>
              <a:ext uri="{C183D7F6-B498-43B3-948B-1728B52AA6E4}">
                <adec:decorative xmlns:adec="http://schemas.microsoft.com/office/drawing/2017/decorative" val="1"/>
              </a:ext>
            </a:extLst>
          </p:cNvPr>
          <p:cNvSpPr/>
          <p:nvPr/>
        </p:nvSpPr>
        <p:spPr>
          <a:xfrm>
            <a:off x="4681728" y="1234440"/>
            <a:ext cx="3959352" cy="3383280"/>
          </a:xfrm>
          <a:prstGeom prst="roundRect">
            <a:avLst>
              <a:gd name="adj" fmla="val 1622"/>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9" name="card top edge">
            <a:extLst>
              <a:ext uri="{C183D7F6-B498-43B3-948B-1728B52AA6E4}">
                <adec:decorative xmlns:adec="http://schemas.microsoft.com/office/drawing/2017/decorative" val="1"/>
              </a:ext>
            </a:extLst>
          </p:cNvPr>
          <p:cNvSpPr/>
          <p:nvPr/>
        </p:nvSpPr>
        <p:spPr>
          <a:xfrm>
            <a:off x="4681728" y="1234440"/>
            <a:ext cx="3959352" cy="73152"/>
          </a:xfrm>
          <a:prstGeom prst="rect">
            <a:avLst/>
          </a:prstGeom>
          <a:solidFill>
            <a:srgbClr val="D9534F"/>
          </a:solidFill>
          <a:ln w="12700">
            <a:solidFill>
              <a:srgbClr val="D9534F"/>
            </a:solidFill>
            <a:prstDash val="solid"/>
          </a:ln>
        </p:spPr>
        <p:txBody>
          <a:bodyPr/>
          <a:lstStyle/>
          <a:p>
            <a:endParaRPr lang="en-SE"/>
          </a:p>
        </p:txBody>
      </p:sp>
      <p:sp>
        <p:nvSpPr>
          <p:cNvPr id="10" name="Text 8"/>
          <p:cNvSpPr/>
          <p:nvPr/>
        </p:nvSpPr>
        <p:spPr>
          <a:xfrm>
            <a:off x="4919472" y="1453896"/>
            <a:ext cx="3502152" cy="365760"/>
          </a:xfrm>
          <a:prstGeom prst="rect">
            <a:avLst/>
          </a:prstGeom>
          <a:noFill/>
          <a:ln/>
        </p:spPr>
        <p:txBody>
          <a:bodyPr wrap="square" lIns="0" tIns="0" rIns="0" bIns="0" rtlCol="0" anchor="ctr"/>
          <a:lstStyle/>
          <a:p>
            <a:pPr marL="0" indent="0">
              <a:buNone/>
            </a:pPr>
            <a:r>
              <a:rPr lang="en-US" sz="1700" b="1" dirty="0">
                <a:solidFill>
                  <a:srgbClr val="D9534F"/>
                </a:solidFill>
                <a:latin typeface="Trebuchet MS" pitchFamily="34" charset="0"/>
                <a:ea typeface="Trebuchet MS" pitchFamily="34" charset="-122"/>
                <a:cs typeface="Trebuchet MS" pitchFamily="34" charset="-120"/>
              </a:rPr>
              <a:t>It is NOT</a:t>
            </a:r>
            <a:endParaRPr lang="en-US" sz="1700" dirty="0"/>
          </a:p>
        </p:txBody>
      </p:sp>
      <p:sp>
        <p:nvSpPr>
          <p:cNvPr id="11" name="Text 9"/>
          <p:cNvSpPr/>
          <p:nvPr/>
        </p:nvSpPr>
        <p:spPr>
          <a:xfrm>
            <a:off x="4919472" y="1929384"/>
            <a:ext cx="3502152" cy="2505456"/>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A second matching engine — it never matches an order itself</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A risk system with its own rules; the engine remains the authority</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A tick-by-tick market data feed replacement for high-rate consumers</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A production-hardened, secret-managed deployment out of the box</a:t>
            </a:r>
            <a:endParaRPr lang="en-US" sz="1150" dirty="0"/>
          </a:p>
        </p:txBody>
      </p:sp>
      <p:sp>
        <p:nvSpPr>
          <p:cNvPr id="12" name="Text 10"/>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Orientation</a:t>
            </a:r>
            <a:endParaRPr lang="en-US" sz="900" dirty="0"/>
          </a:p>
        </p:txBody>
      </p:sp>
      <p:sp>
        <p:nvSpPr>
          <p:cNvPr id="13" name="Text 11"/>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8138160" cy="548640"/>
          </a:xfrm>
          <a:prstGeom prst="rect">
            <a:avLst/>
          </a:prstGeom>
          <a:noFill/>
          <a:ln/>
        </p:spPr>
        <p:txBody>
          <a:bodyPr wrap="square" lIns="0" tIns="0" rIns="0" bIns="0" rtlCol="0" anchor="ctr"/>
          <a:lstStyle/>
          <a:p>
            <a:pPr marL="0" indent="0">
              <a:buNone/>
            </a:pPr>
            <a:r>
              <a:rPr lang="en-US" sz="2700" b="1" dirty="0">
                <a:solidFill>
                  <a:srgbClr val="F3F5F7"/>
                </a:solidFill>
                <a:latin typeface="Trebuchet MS" pitchFamily="34" charset="0"/>
                <a:ea typeface="Trebuchet MS" pitchFamily="34" charset="-122"/>
                <a:cs typeface="Trebuchet MS" pitchFamily="34" charset="-120"/>
              </a:rPr>
              <a:t>Who sits on the other side</a:t>
            </a:r>
            <a:endParaRPr lang="en-US" sz="2700" dirty="0"/>
          </a:p>
        </p:txBody>
      </p:sp>
      <p:sp>
        <p:nvSpPr>
          <p:cNvPr id="3" name="Text 1"/>
          <p:cNvSpPr/>
          <p:nvPr/>
        </p:nvSpPr>
        <p:spPr>
          <a:xfrm>
            <a:off x="502920" y="841248"/>
            <a:ext cx="8138160" cy="237744"/>
          </a:xfrm>
          <a:prstGeom prst="rect">
            <a:avLst/>
          </a:prstGeom>
          <a:noFill/>
          <a:ln/>
        </p:spPr>
        <p:txBody>
          <a:bodyPr wrap="square" lIns="0" tIns="0" rIns="0" bIns="0" rtlCol="0" anchor="ctr"/>
          <a:lstStyle/>
          <a:p>
            <a:pPr marL="0" indent="0">
              <a:buNone/>
            </a:pPr>
            <a:r>
              <a:rPr lang="en-US" sz="1100" b="1" kern="0" spc="200" dirty="0">
                <a:solidFill>
                  <a:srgbClr val="E8722C"/>
                </a:solidFill>
                <a:latin typeface="Calibri" pitchFamily="34" charset="0"/>
                <a:ea typeface="Calibri" pitchFamily="34" charset="-122"/>
                <a:cs typeface="Calibri" pitchFamily="34" charset="-120"/>
              </a:rPr>
              <a:t>AUDIENCE</a:t>
            </a:r>
            <a:endParaRPr lang="en-US" sz="1100" dirty="0"/>
          </a:p>
        </p:txBody>
      </p:sp>
      <p:sp>
        <p:nvSpPr>
          <p:cNvPr id="4" name="card background">
            <a:extLst>
              <a:ext uri="{C183D7F6-B498-43B3-948B-1728B52AA6E4}">
                <adec:decorative xmlns:adec="http://schemas.microsoft.com/office/drawing/2017/decorative" val="1"/>
              </a:ext>
            </a:extLst>
          </p:cNvPr>
          <p:cNvSpPr/>
          <p:nvPr/>
        </p:nvSpPr>
        <p:spPr>
          <a:xfrm>
            <a:off x="502920" y="1298448"/>
            <a:ext cx="2566416" cy="1389888"/>
          </a:xfrm>
          <a:prstGeom prst="roundRect">
            <a:avLst>
              <a:gd name="adj" fmla="val 3947"/>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5" name="step marker">
            <a:extLst>
              <a:ext uri="{C183D7F6-B498-43B3-948B-1728B52AA6E4}">
                <adec:decorative xmlns:adec="http://schemas.microsoft.com/office/drawing/2017/decorative" val="1"/>
              </a:ext>
            </a:extLst>
          </p:cNvPr>
          <p:cNvSpPr/>
          <p:nvPr/>
        </p:nvSpPr>
        <p:spPr>
          <a:xfrm>
            <a:off x="704088" y="1481328"/>
            <a:ext cx="310896" cy="310896"/>
          </a:xfrm>
          <a:prstGeom prst="ellipse">
            <a:avLst/>
          </a:prstGeom>
          <a:solidFill>
            <a:srgbClr val="E8722C"/>
          </a:solidFill>
          <a:ln w="12700">
            <a:solidFill>
              <a:srgbClr val="E8722C"/>
            </a:solidFill>
            <a:prstDash val="solid"/>
          </a:ln>
        </p:spPr>
        <p:txBody>
          <a:bodyPr/>
          <a:lstStyle/>
          <a:p>
            <a:endParaRPr lang="en-SE"/>
          </a:p>
        </p:txBody>
      </p:sp>
      <p:sp>
        <p:nvSpPr>
          <p:cNvPr id="6" name="Text 4"/>
          <p:cNvSpPr/>
          <p:nvPr/>
        </p:nvSpPr>
        <p:spPr>
          <a:xfrm>
            <a:off x="704088" y="1481328"/>
            <a:ext cx="310896" cy="310896"/>
          </a:xfrm>
          <a:prstGeom prst="rect">
            <a:avLst/>
          </a:prstGeom>
          <a:noFill/>
          <a:ln/>
        </p:spPr>
        <p:txBody>
          <a:bodyPr wrap="square" lIns="0" tIns="0" rIns="0" bIns="0" rtlCol="0" anchor="ctr"/>
          <a:lstStyle/>
          <a:p>
            <a:pPr marL="0" indent="0" algn="ctr">
              <a:buNone/>
            </a:pPr>
            <a:endParaRPr lang="en-US" sz="1300" dirty="0"/>
          </a:p>
        </p:txBody>
      </p:sp>
      <p:sp>
        <p:nvSpPr>
          <p:cNvPr id="7" name="Text 5"/>
          <p:cNvSpPr/>
          <p:nvPr/>
        </p:nvSpPr>
        <p:spPr>
          <a:xfrm>
            <a:off x="1106424" y="1481328"/>
            <a:ext cx="1780032" cy="329184"/>
          </a:xfrm>
          <a:prstGeom prst="rect">
            <a:avLst/>
          </a:prstGeom>
          <a:noFill/>
          <a:ln/>
        </p:spPr>
        <p:txBody>
          <a:bodyPr wrap="square" lIns="0" tIns="0" rIns="0" bIns="0" rtlCol="0" anchor="ctr"/>
          <a:lstStyle/>
          <a:p>
            <a:pPr marL="0" indent="0">
              <a:buNone/>
            </a:pPr>
            <a:r>
              <a:rPr lang="en-US" sz="1400" b="1" dirty="0">
                <a:solidFill>
                  <a:srgbClr val="E8722C"/>
                </a:solidFill>
                <a:latin typeface="Trebuchet MS" pitchFamily="34" charset="0"/>
                <a:ea typeface="Trebuchet MS" pitchFamily="34" charset="-122"/>
                <a:cs typeface="Trebuchet MS" pitchFamily="34" charset="-120"/>
              </a:rPr>
              <a:t>Browser UIs</a:t>
            </a:r>
            <a:endParaRPr lang="en-US" sz="1400" dirty="0"/>
          </a:p>
        </p:txBody>
      </p:sp>
      <p:sp>
        <p:nvSpPr>
          <p:cNvPr id="8" name="Text 6"/>
          <p:cNvSpPr/>
          <p:nvPr/>
        </p:nvSpPr>
        <p:spPr>
          <a:xfrm>
            <a:off x="722376" y="1847088"/>
            <a:ext cx="2127504" cy="731520"/>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Trading screens built in any web framework — order tickets, blotters, book views.</a:t>
            </a:r>
            <a:endParaRPr lang="en-US" sz="1050" dirty="0"/>
          </a:p>
        </p:txBody>
      </p:sp>
      <p:sp>
        <p:nvSpPr>
          <p:cNvPr id="9" name="card background">
            <a:extLst>
              <a:ext uri="{C183D7F6-B498-43B3-948B-1728B52AA6E4}">
                <adec:decorative xmlns:adec="http://schemas.microsoft.com/office/drawing/2017/decorative" val="1"/>
              </a:ext>
            </a:extLst>
          </p:cNvPr>
          <p:cNvSpPr/>
          <p:nvPr/>
        </p:nvSpPr>
        <p:spPr>
          <a:xfrm>
            <a:off x="3288792" y="1298448"/>
            <a:ext cx="2566416" cy="1389888"/>
          </a:xfrm>
          <a:prstGeom prst="roundRect">
            <a:avLst>
              <a:gd name="adj" fmla="val 3947"/>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0" name="Text 8">
            <a:extLst>
              <a:ext uri="{C183D7F6-B498-43B3-948B-1728B52AA6E4}">
                <adec:decorative xmlns:adec="http://schemas.microsoft.com/office/drawing/2017/decorative" val="1"/>
              </a:ext>
            </a:extLst>
          </p:cNvPr>
          <p:cNvSpPr/>
          <p:nvPr/>
        </p:nvSpPr>
        <p:spPr>
          <a:xfrm>
            <a:off x="3508248" y="1481328"/>
            <a:ext cx="2164080" cy="329184"/>
          </a:xfrm>
          <a:prstGeom prst="rect">
            <a:avLst/>
          </a:prstGeom>
          <a:noFill/>
          <a:ln/>
        </p:spPr>
        <p:txBody>
          <a:bodyPr wrap="square" lIns="0" tIns="0" rIns="0" bIns="0" rtlCol="0" anchor="ctr"/>
          <a:lstStyle/>
          <a:p>
            <a:pPr marL="0" indent="0">
              <a:buNone/>
            </a:pPr>
            <a:r>
              <a:rPr lang="en-US" sz="1400" b="1" dirty="0">
                <a:solidFill>
                  <a:srgbClr val="35A79C"/>
                </a:solidFill>
                <a:latin typeface="Trebuchet MS" pitchFamily="34" charset="0"/>
                <a:ea typeface="Trebuchet MS" pitchFamily="34" charset="-122"/>
                <a:cs typeface="Trebuchet MS" pitchFamily="34" charset="-120"/>
              </a:rPr>
              <a:t>Dashboards</a:t>
            </a:r>
            <a:endParaRPr lang="en-US" sz="1400" dirty="0"/>
          </a:p>
        </p:txBody>
      </p:sp>
      <p:sp>
        <p:nvSpPr>
          <p:cNvPr id="11" name="Text 9"/>
          <p:cNvSpPr/>
          <p:nvPr/>
        </p:nvSpPr>
        <p:spPr>
          <a:xfrm>
            <a:off x="3508248" y="1847088"/>
            <a:ext cx="2127504" cy="731520"/>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Read-only wallboards showing prices, trades and session state. No trading rights needed.</a:t>
            </a:r>
            <a:endParaRPr lang="en-US" sz="1050" dirty="0"/>
          </a:p>
        </p:txBody>
      </p:sp>
      <p:sp>
        <p:nvSpPr>
          <p:cNvPr id="12" name="card background">
            <a:extLst>
              <a:ext uri="{C183D7F6-B498-43B3-948B-1728B52AA6E4}">
                <adec:decorative xmlns:adec="http://schemas.microsoft.com/office/drawing/2017/decorative" val="1"/>
              </a:ext>
            </a:extLst>
          </p:cNvPr>
          <p:cNvSpPr/>
          <p:nvPr/>
        </p:nvSpPr>
        <p:spPr>
          <a:xfrm>
            <a:off x="6074664" y="1298448"/>
            <a:ext cx="2566416" cy="1389888"/>
          </a:xfrm>
          <a:prstGeom prst="roundRect">
            <a:avLst>
              <a:gd name="adj" fmla="val 3947"/>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3" name="step marker">
            <a:extLst>
              <a:ext uri="{C183D7F6-B498-43B3-948B-1728B52AA6E4}">
                <adec:decorative xmlns:adec="http://schemas.microsoft.com/office/drawing/2017/decorative" val="1"/>
              </a:ext>
            </a:extLst>
          </p:cNvPr>
          <p:cNvSpPr/>
          <p:nvPr/>
        </p:nvSpPr>
        <p:spPr>
          <a:xfrm>
            <a:off x="6275832" y="1481328"/>
            <a:ext cx="310896" cy="310896"/>
          </a:xfrm>
          <a:prstGeom prst="ellipse">
            <a:avLst/>
          </a:prstGeom>
          <a:solidFill>
            <a:srgbClr val="F2A65A"/>
          </a:solidFill>
          <a:ln w="12700">
            <a:solidFill>
              <a:srgbClr val="F2A65A"/>
            </a:solidFill>
            <a:prstDash val="solid"/>
          </a:ln>
        </p:spPr>
        <p:txBody>
          <a:bodyPr/>
          <a:lstStyle/>
          <a:p>
            <a:endParaRPr lang="en-SE"/>
          </a:p>
        </p:txBody>
      </p:sp>
      <p:sp>
        <p:nvSpPr>
          <p:cNvPr id="14" name="Text 12">
            <a:extLst>
              <a:ext uri="{C183D7F6-B498-43B3-948B-1728B52AA6E4}">
                <adec:decorative xmlns:adec="http://schemas.microsoft.com/office/drawing/2017/decorative" val="1"/>
              </a:ext>
            </a:extLst>
          </p:cNvPr>
          <p:cNvSpPr/>
          <p:nvPr/>
        </p:nvSpPr>
        <p:spPr>
          <a:xfrm>
            <a:off x="6275832" y="1481328"/>
            <a:ext cx="310896" cy="310896"/>
          </a:xfrm>
          <a:prstGeom prst="rect">
            <a:avLst/>
          </a:prstGeom>
          <a:noFill/>
          <a:ln/>
        </p:spPr>
        <p:txBody>
          <a:bodyPr wrap="square" lIns="0" tIns="0" rIns="0" bIns="0" rtlCol="0" anchor="ctr"/>
          <a:lstStyle/>
          <a:p>
            <a:pPr marL="0" indent="0" algn="ctr">
              <a:buNone/>
            </a:pPr>
            <a:endParaRPr lang="en-US" sz="1300" dirty="0"/>
          </a:p>
        </p:txBody>
      </p:sp>
      <p:sp>
        <p:nvSpPr>
          <p:cNvPr id="15" name="Text 13">
            <a:extLst>
              <a:ext uri="{C183D7F6-B498-43B3-948B-1728B52AA6E4}">
                <adec:decorative xmlns:adec="http://schemas.microsoft.com/office/drawing/2017/decorative" val="1"/>
              </a:ext>
            </a:extLst>
          </p:cNvPr>
          <p:cNvSpPr/>
          <p:nvPr/>
        </p:nvSpPr>
        <p:spPr>
          <a:xfrm>
            <a:off x="6678168" y="1481328"/>
            <a:ext cx="1780032" cy="329184"/>
          </a:xfrm>
          <a:prstGeom prst="rect">
            <a:avLst/>
          </a:prstGeom>
          <a:noFill/>
          <a:ln/>
        </p:spPr>
        <p:txBody>
          <a:bodyPr wrap="square" lIns="0" tIns="0" rIns="0" bIns="0" rtlCol="0" anchor="ctr"/>
          <a:lstStyle/>
          <a:p>
            <a:pPr marL="0" indent="0">
              <a:buNone/>
            </a:pPr>
            <a:r>
              <a:rPr lang="en-US" sz="1400" b="1" dirty="0">
                <a:solidFill>
                  <a:srgbClr val="F2A65A"/>
                </a:solidFill>
                <a:latin typeface="Trebuchet MS" pitchFamily="34" charset="0"/>
                <a:ea typeface="Trebuchet MS" pitchFamily="34" charset="-122"/>
                <a:cs typeface="Trebuchet MS" pitchFamily="34" charset="-120"/>
              </a:rPr>
              <a:t>Simple bots</a:t>
            </a:r>
            <a:endParaRPr lang="en-US" sz="1400" dirty="0"/>
          </a:p>
        </p:txBody>
      </p:sp>
      <p:sp>
        <p:nvSpPr>
          <p:cNvPr id="16" name="Text 14"/>
          <p:cNvSpPr/>
          <p:nvPr/>
        </p:nvSpPr>
        <p:spPr>
          <a:xfrm>
            <a:off x="6294120" y="1847088"/>
            <a:ext cx="2127504" cy="731520"/>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Scripts that watch the market and place, amend or cancel orders automatically.</a:t>
            </a:r>
            <a:endParaRPr lang="en-US" sz="1050" dirty="0"/>
          </a:p>
        </p:txBody>
      </p:sp>
      <p:sp>
        <p:nvSpPr>
          <p:cNvPr id="17" name="card background">
            <a:extLst>
              <a:ext uri="{C183D7F6-B498-43B3-948B-1728B52AA6E4}">
                <adec:decorative xmlns:adec="http://schemas.microsoft.com/office/drawing/2017/decorative" val="1"/>
              </a:ext>
            </a:extLst>
          </p:cNvPr>
          <p:cNvSpPr/>
          <p:nvPr/>
        </p:nvSpPr>
        <p:spPr>
          <a:xfrm>
            <a:off x="502920" y="2889504"/>
            <a:ext cx="2566416" cy="1389888"/>
          </a:xfrm>
          <a:prstGeom prst="roundRect">
            <a:avLst>
              <a:gd name="adj" fmla="val 3947"/>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8" name="step marker">
            <a:extLst>
              <a:ext uri="{C183D7F6-B498-43B3-948B-1728B52AA6E4}">
                <adec:decorative xmlns:adec="http://schemas.microsoft.com/office/drawing/2017/decorative" val="1"/>
              </a:ext>
            </a:extLst>
          </p:cNvPr>
          <p:cNvSpPr/>
          <p:nvPr/>
        </p:nvSpPr>
        <p:spPr>
          <a:xfrm>
            <a:off x="704088" y="3072384"/>
            <a:ext cx="310896" cy="310896"/>
          </a:xfrm>
          <a:prstGeom prst="ellipse">
            <a:avLst/>
          </a:prstGeom>
          <a:solidFill>
            <a:srgbClr val="8B7BD8"/>
          </a:solidFill>
          <a:ln w="12700">
            <a:solidFill>
              <a:srgbClr val="8B7BD8"/>
            </a:solidFill>
            <a:prstDash val="solid"/>
          </a:ln>
        </p:spPr>
        <p:txBody>
          <a:bodyPr/>
          <a:lstStyle/>
          <a:p>
            <a:endParaRPr lang="en-SE"/>
          </a:p>
        </p:txBody>
      </p:sp>
      <p:sp>
        <p:nvSpPr>
          <p:cNvPr id="19" name="Text 17">
            <a:extLst>
              <a:ext uri="{C183D7F6-B498-43B3-948B-1728B52AA6E4}">
                <adec:decorative xmlns:adec="http://schemas.microsoft.com/office/drawing/2017/decorative" val="1"/>
              </a:ext>
            </a:extLst>
          </p:cNvPr>
          <p:cNvSpPr/>
          <p:nvPr/>
        </p:nvSpPr>
        <p:spPr>
          <a:xfrm>
            <a:off x="704088" y="3072384"/>
            <a:ext cx="310896" cy="310896"/>
          </a:xfrm>
          <a:prstGeom prst="rect">
            <a:avLst/>
          </a:prstGeom>
          <a:noFill/>
          <a:ln/>
        </p:spPr>
        <p:txBody>
          <a:bodyPr wrap="square" lIns="0" tIns="0" rIns="0" bIns="0" rtlCol="0" anchor="ctr"/>
          <a:lstStyle/>
          <a:p>
            <a:pPr marL="0" indent="0" algn="ctr">
              <a:buNone/>
            </a:pPr>
            <a:endParaRPr lang="en-US" sz="1300" dirty="0"/>
          </a:p>
        </p:txBody>
      </p:sp>
      <p:sp>
        <p:nvSpPr>
          <p:cNvPr id="20" name="Text 18">
            <a:extLst>
              <a:ext uri="{C183D7F6-B498-43B3-948B-1728B52AA6E4}">
                <adec:decorative xmlns:adec="http://schemas.microsoft.com/office/drawing/2017/decorative" val="1"/>
              </a:ext>
            </a:extLst>
          </p:cNvPr>
          <p:cNvSpPr/>
          <p:nvPr/>
        </p:nvSpPr>
        <p:spPr>
          <a:xfrm>
            <a:off x="1106424" y="3072384"/>
            <a:ext cx="1780032" cy="329184"/>
          </a:xfrm>
          <a:prstGeom prst="rect">
            <a:avLst/>
          </a:prstGeom>
          <a:noFill/>
          <a:ln/>
        </p:spPr>
        <p:txBody>
          <a:bodyPr wrap="square" lIns="0" tIns="0" rIns="0" bIns="0" rtlCol="0" anchor="ctr"/>
          <a:lstStyle/>
          <a:p>
            <a:pPr marL="0" indent="0">
              <a:buNone/>
            </a:pPr>
            <a:r>
              <a:rPr lang="en-US" sz="1400" b="1" dirty="0">
                <a:solidFill>
                  <a:srgbClr val="8B7BD8"/>
                </a:solidFill>
                <a:latin typeface="Trebuchet MS" pitchFamily="34" charset="0"/>
                <a:ea typeface="Trebuchet MS" pitchFamily="34" charset="-122"/>
                <a:cs typeface="Trebuchet MS" pitchFamily="34" charset="-120"/>
              </a:rPr>
              <a:t>Teaching examples</a:t>
            </a:r>
            <a:endParaRPr lang="en-US" sz="1400" dirty="0"/>
          </a:p>
        </p:txBody>
      </p:sp>
      <p:sp>
        <p:nvSpPr>
          <p:cNvPr id="21" name="Text 19"/>
          <p:cNvSpPr/>
          <p:nvPr/>
        </p:nvSpPr>
        <p:spPr>
          <a:xfrm>
            <a:off x="722376" y="3438144"/>
            <a:ext cx="2127504" cy="731520"/>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Runnable Python and C samples that show a concept in a few dozen lines.</a:t>
            </a:r>
            <a:endParaRPr lang="en-US" sz="1050" dirty="0"/>
          </a:p>
        </p:txBody>
      </p:sp>
      <p:sp>
        <p:nvSpPr>
          <p:cNvPr id="22" name="card background">
            <a:extLst>
              <a:ext uri="{C183D7F6-B498-43B3-948B-1728B52AA6E4}">
                <adec:decorative xmlns:adec="http://schemas.microsoft.com/office/drawing/2017/decorative" val="1"/>
              </a:ext>
            </a:extLst>
          </p:cNvPr>
          <p:cNvSpPr/>
          <p:nvPr/>
        </p:nvSpPr>
        <p:spPr>
          <a:xfrm>
            <a:off x="3288792" y="2889504"/>
            <a:ext cx="2566416" cy="1389888"/>
          </a:xfrm>
          <a:prstGeom prst="roundRect">
            <a:avLst>
              <a:gd name="adj" fmla="val 3947"/>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23" name="step marker">
            <a:extLst>
              <a:ext uri="{C183D7F6-B498-43B3-948B-1728B52AA6E4}">
                <adec:decorative xmlns:adec="http://schemas.microsoft.com/office/drawing/2017/decorative" val="1"/>
              </a:ext>
            </a:extLst>
          </p:cNvPr>
          <p:cNvSpPr/>
          <p:nvPr/>
        </p:nvSpPr>
        <p:spPr>
          <a:xfrm>
            <a:off x="3489960" y="3072384"/>
            <a:ext cx="310896" cy="310896"/>
          </a:xfrm>
          <a:prstGeom prst="ellipse">
            <a:avLst/>
          </a:prstGeom>
          <a:solidFill>
            <a:srgbClr val="E8722C"/>
          </a:solidFill>
          <a:ln w="12700">
            <a:solidFill>
              <a:srgbClr val="E8722C"/>
            </a:solidFill>
            <a:prstDash val="solid"/>
          </a:ln>
        </p:spPr>
        <p:txBody>
          <a:bodyPr/>
          <a:lstStyle/>
          <a:p>
            <a:endParaRPr lang="en-SE"/>
          </a:p>
        </p:txBody>
      </p:sp>
      <p:sp>
        <p:nvSpPr>
          <p:cNvPr id="24" name="Text 22">
            <a:extLst>
              <a:ext uri="{C183D7F6-B498-43B3-948B-1728B52AA6E4}">
                <adec:decorative xmlns:adec="http://schemas.microsoft.com/office/drawing/2017/decorative" val="1"/>
              </a:ext>
            </a:extLst>
          </p:cNvPr>
          <p:cNvSpPr/>
          <p:nvPr/>
        </p:nvSpPr>
        <p:spPr>
          <a:xfrm>
            <a:off x="3489960" y="3072384"/>
            <a:ext cx="310896" cy="310896"/>
          </a:xfrm>
          <a:prstGeom prst="rect">
            <a:avLst/>
          </a:prstGeom>
          <a:noFill/>
          <a:ln/>
        </p:spPr>
        <p:txBody>
          <a:bodyPr wrap="square" lIns="0" tIns="0" rIns="0" bIns="0" rtlCol="0" anchor="ctr"/>
          <a:lstStyle/>
          <a:p>
            <a:pPr marL="0" indent="0" algn="ctr">
              <a:buNone/>
            </a:pPr>
            <a:endParaRPr lang="en-US" sz="1300" dirty="0"/>
          </a:p>
        </p:txBody>
      </p:sp>
      <p:sp>
        <p:nvSpPr>
          <p:cNvPr id="25" name="Text 23">
            <a:extLst>
              <a:ext uri="{C183D7F6-B498-43B3-948B-1728B52AA6E4}">
                <adec:decorative xmlns:adec="http://schemas.microsoft.com/office/drawing/2017/decorative" val="1"/>
              </a:ext>
            </a:extLst>
          </p:cNvPr>
          <p:cNvSpPr/>
          <p:nvPr/>
        </p:nvSpPr>
        <p:spPr>
          <a:xfrm>
            <a:off x="3892296" y="3072384"/>
            <a:ext cx="1780032" cy="329184"/>
          </a:xfrm>
          <a:prstGeom prst="rect">
            <a:avLst/>
          </a:prstGeom>
          <a:noFill/>
          <a:ln/>
        </p:spPr>
        <p:txBody>
          <a:bodyPr wrap="square" lIns="0" tIns="0" rIns="0" bIns="0" rtlCol="0" anchor="ctr"/>
          <a:lstStyle/>
          <a:p>
            <a:pPr marL="0" indent="0">
              <a:buNone/>
            </a:pPr>
            <a:r>
              <a:rPr lang="en-US" sz="1400" b="1" dirty="0">
                <a:solidFill>
                  <a:srgbClr val="E8722C"/>
                </a:solidFill>
                <a:latin typeface="Trebuchet MS" pitchFamily="34" charset="0"/>
                <a:ea typeface="Trebuchet MS" pitchFamily="34" charset="-122"/>
                <a:cs typeface="Trebuchet MS" pitchFamily="34" charset="-120"/>
              </a:rPr>
              <a:t>Research scripts</a:t>
            </a:r>
            <a:endParaRPr lang="en-US" sz="1400" dirty="0"/>
          </a:p>
        </p:txBody>
      </p:sp>
      <p:sp>
        <p:nvSpPr>
          <p:cNvPr id="26" name="Text 24"/>
          <p:cNvSpPr/>
          <p:nvPr/>
        </p:nvSpPr>
        <p:spPr>
          <a:xfrm>
            <a:off x="3508248" y="3438144"/>
            <a:ext cx="2127504" cy="731520"/>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Notebooks pulling daily bars, snapshots and the trade tape for analysis.</a:t>
            </a:r>
            <a:endParaRPr lang="en-US" sz="1050" dirty="0"/>
          </a:p>
        </p:txBody>
      </p:sp>
      <p:sp>
        <p:nvSpPr>
          <p:cNvPr id="27" name="card background">
            <a:extLst>
              <a:ext uri="{C183D7F6-B498-43B3-948B-1728B52AA6E4}">
                <adec:decorative xmlns:adec="http://schemas.microsoft.com/office/drawing/2017/decorative" val="1"/>
              </a:ext>
            </a:extLst>
          </p:cNvPr>
          <p:cNvSpPr/>
          <p:nvPr/>
        </p:nvSpPr>
        <p:spPr>
          <a:xfrm>
            <a:off x="6074664" y="2889504"/>
            <a:ext cx="2566416" cy="1389888"/>
          </a:xfrm>
          <a:prstGeom prst="roundRect">
            <a:avLst>
              <a:gd name="adj" fmla="val 3947"/>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28" name="Text 26"/>
          <p:cNvSpPr/>
          <p:nvPr/>
        </p:nvSpPr>
        <p:spPr>
          <a:xfrm>
            <a:off x="6294120" y="3072384"/>
            <a:ext cx="2164080" cy="329184"/>
          </a:xfrm>
          <a:prstGeom prst="rect">
            <a:avLst/>
          </a:prstGeom>
          <a:noFill/>
          <a:ln/>
        </p:spPr>
        <p:txBody>
          <a:bodyPr wrap="square" lIns="0" tIns="0" rIns="0" bIns="0" rtlCol="0" anchor="ctr"/>
          <a:lstStyle/>
          <a:p>
            <a:pPr marL="0" indent="0">
              <a:buNone/>
            </a:pPr>
            <a:r>
              <a:rPr lang="en-US" sz="1400" b="1" dirty="0">
                <a:solidFill>
                  <a:srgbClr val="D9534F"/>
                </a:solidFill>
                <a:latin typeface="Trebuchet MS" pitchFamily="34" charset="0"/>
                <a:ea typeface="Trebuchet MS" pitchFamily="34" charset="-122"/>
                <a:cs typeface="Trebuchet MS" pitchFamily="34" charset="-120"/>
              </a:rPr>
              <a:t>Operations tools</a:t>
            </a:r>
            <a:endParaRPr lang="en-US" sz="1400" dirty="0"/>
          </a:p>
        </p:txBody>
      </p:sp>
      <p:sp>
        <p:nvSpPr>
          <p:cNvPr id="29" name="Text 27">
            <a:extLst>
              <a:ext uri="{C183D7F6-B498-43B3-948B-1728B52AA6E4}">
                <adec:decorative xmlns:adec="http://schemas.microsoft.com/office/drawing/2017/decorative" val="1"/>
              </a:ext>
            </a:extLst>
          </p:cNvPr>
          <p:cNvSpPr/>
          <p:nvPr/>
        </p:nvSpPr>
        <p:spPr>
          <a:xfrm>
            <a:off x="6294120" y="3438144"/>
            <a:ext cx="2127504" cy="731520"/>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Admin clients that move the session, halt a symbol or pull the kill switch.</a:t>
            </a:r>
            <a:endParaRPr lang="en-US" sz="1050" dirty="0"/>
          </a:p>
        </p:txBody>
      </p:sp>
      <p:sp>
        <p:nvSpPr>
          <p:cNvPr id="30" name="Text 28">
            <a:extLst>
              <a:ext uri="{C183D7F6-B498-43B3-948B-1728B52AA6E4}">
                <adec:decorative xmlns:adec="http://schemas.microsoft.com/office/drawing/2017/decorative" val="1"/>
              </a:ext>
            </a:extLst>
          </p:cNvPr>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Orientation</a:t>
            </a:r>
            <a:endParaRPr lang="en-US" sz="900" dirty="0"/>
          </a:p>
        </p:txBody>
      </p:sp>
      <p:sp>
        <p:nvSpPr>
          <p:cNvPr id="31" name="Text 29"/>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8138160" cy="548640"/>
          </a:xfrm>
          <a:prstGeom prst="rect">
            <a:avLst/>
          </a:prstGeom>
          <a:noFill/>
          <a:ln/>
        </p:spPr>
        <p:txBody>
          <a:bodyPr wrap="square" lIns="0" tIns="0" rIns="0" bIns="0" rtlCol="0" anchor="ctr"/>
          <a:lstStyle/>
          <a:p>
            <a:pPr marL="0" indent="0">
              <a:buNone/>
            </a:pPr>
            <a:r>
              <a:rPr lang="en-US" sz="2700" b="1" dirty="0">
                <a:solidFill>
                  <a:srgbClr val="F3F5F7"/>
                </a:solidFill>
                <a:latin typeface="Trebuchet MS" pitchFamily="34" charset="0"/>
                <a:ea typeface="Trebuchet MS" pitchFamily="34" charset="-122"/>
                <a:cs typeface="Trebuchet MS" pitchFamily="34" charset="-120"/>
              </a:rPr>
              <a:t>Inside the gateway</a:t>
            </a:r>
            <a:endParaRPr lang="en-US" sz="2700" dirty="0"/>
          </a:p>
        </p:txBody>
      </p:sp>
      <p:sp>
        <p:nvSpPr>
          <p:cNvPr id="3" name="Text 1"/>
          <p:cNvSpPr/>
          <p:nvPr/>
        </p:nvSpPr>
        <p:spPr>
          <a:xfrm>
            <a:off x="502920" y="841248"/>
            <a:ext cx="8138160" cy="237744"/>
          </a:xfrm>
          <a:prstGeom prst="rect">
            <a:avLst/>
          </a:prstGeom>
          <a:noFill/>
          <a:ln/>
        </p:spPr>
        <p:txBody>
          <a:bodyPr wrap="square" lIns="0" tIns="0" rIns="0" bIns="0" rtlCol="0" anchor="ctr"/>
          <a:lstStyle/>
          <a:p>
            <a:pPr marL="0" indent="0">
              <a:buNone/>
            </a:pPr>
            <a:r>
              <a:rPr lang="en-US" sz="1100" b="1" kern="0" spc="200" dirty="0">
                <a:solidFill>
                  <a:srgbClr val="E8722C"/>
                </a:solidFill>
                <a:latin typeface="Calibri" pitchFamily="34" charset="0"/>
                <a:ea typeface="Calibri" pitchFamily="34" charset="-122"/>
                <a:cs typeface="Calibri" pitchFamily="34" charset="-120"/>
              </a:rPr>
              <a:t>ARCHITECTURE</a:t>
            </a:r>
            <a:endParaRPr lang="en-US" sz="1100" dirty="0"/>
          </a:p>
        </p:txBody>
      </p:sp>
      <p:sp>
        <p:nvSpPr>
          <p:cNvPr id="4" name="card background">
            <a:extLst>
              <a:ext uri="{C183D7F6-B498-43B3-948B-1728B52AA6E4}">
                <adec:decorative xmlns:adec="http://schemas.microsoft.com/office/drawing/2017/decorative" val="1"/>
              </a:ext>
            </a:extLst>
          </p:cNvPr>
          <p:cNvSpPr/>
          <p:nvPr/>
        </p:nvSpPr>
        <p:spPr>
          <a:xfrm>
            <a:off x="502920" y="1170432"/>
            <a:ext cx="1463040" cy="566928"/>
          </a:xfrm>
          <a:prstGeom prst="roundRect">
            <a:avLst>
              <a:gd name="adj" fmla="val 9677"/>
            </a:avLst>
          </a:prstGeom>
          <a:solidFill>
            <a:srgbClr val="2E353D"/>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5" name="Text 3"/>
          <p:cNvSpPr/>
          <p:nvPr/>
        </p:nvSpPr>
        <p:spPr>
          <a:xfrm>
            <a:off x="502920" y="1170432"/>
            <a:ext cx="1463040" cy="566928"/>
          </a:xfrm>
          <a:prstGeom prst="rect">
            <a:avLst/>
          </a:prstGeom>
          <a:noFill/>
          <a:ln/>
        </p:spPr>
        <p:txBody>
          <a:bodyPr wrap="square" lIns="0" tIns="0" rIns="0" bIns="0" rtlCol="0" anchor="ctr"/>
          <a:lstStyle/>
          <a:p>
            <a:pPr marL="0" indent="0" algn="ctr">
              <a:buNone/>
            </a:pPr>
            <a:r>
              <a:rPr lang="en-US" sz="1150" b="1" dirty="0">
                <a:solidFill>
                  <a:srgbClr val="F3F5F7"/>
                </a:solidFill>
                <a:latin typeface="Calibri" pitchFamily="34" charset="0"/>
                <a:ea typeface="Calibri" pitchFamily="34" charset="-122"/>
                <a:cs typeface="Calibri" pitchFamily="34" charset="-120"/>
              </a:rPr>
              <a:t>Trading UI</a:t>
            </a:r>
            <a:endParaRPr lang="en-US" sz="1150" dirty="0"/>
          </a:p>
        </p:txBody>
      </p:sp>
      <p:sp>
        <p:nvSpPr>
          <p:cNvPr id="6" name="card background">
            <a:extLst>
              <a:ext uri="{C183D7F6-B498-43B3-948B-1728B52AA6E4}">
                <adec:decorative xmlns:adec="http://schemas.microsoft.com/office/drawing/2017/decorative" val="1"/>
              </a:ext>
            </a:extLst>
          </p:cNvPr>
          <p:cNvSpPr/>
          <p:nvPr/>
        </p:nvSpPr>
        <p:spPr>
          <a:xfrm>
            <a:off x="2148840" y="1170432"/>
            <a:ext cx="1463040" cy="566928"/>
          </a:xfrm>
          <a:prstGeom prst="roundRect">
            <a:avLst>
              <a:gd name="adj" fmla="val 9677"/>
            </a:avLst>
          </a:prstGeom>
          <a:solidFill>
            <a:srgbClr val="2E353D"/>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7" name="Text 5"/>
          <p:cNvSpPr/>
          <p:nvPr/>
        </p:nvSpPr>
        <p:spPr>
          <a:xfrm>
            <a:off x="2148840" y="1170432"/>
            <a:ext cx="1463040" cy="566928"/>
          </a:xfrm>
          <a:prstGeom prst="rect">
            <a:avLst/>
          </a:prstGeom>
          <a:noFill/>
          <a:ln/>
        </p:spPr>
        <p:txBody>
          <a:bodyPr wrap="square" lIns="0" tIns="0" rIns="0" bIns="0" rtlCol="0" anchor="ctr"/>
          <a:lstStyle/>
          <a:p>
            <a:pPr marL="0" indent="0" algn="ctr">
              <a:buNone/>
            </a:pPr>
            <a:r>
              <a:rPr lang="en-US" sz="1150" b="1" dirty="0">
                <a:solidFill>
                  <a:srgbClr val="F3F5F7"/>
                </a:solidFill>
                <a:latin typeface="Calibri" pitchFamily="34" charset="0"/>
                <a:ea typeface="Calibri" pitchFamily="34" charset="-122"/>
                <a:cs typeface="Calibri" pitchFamily="34" charset="-120"/>
              </a:rPr>
              <a:t>Bot</a:t>
            </a:r>
            <a:endParaRPr lang="en-US" sz="1150" dirty="0"/>
          </a:p>
        </p:txBody>
      </p:sp>
      <p:sp>
        <p:nvSpPr>
          <p:cNvPr id="8" name="card background">
            <a:extLst>
              <a:ext uri="{C183D7F6-B498-43B3-948B-1728B52AA6E4}">
                <adec:decorative xmlns:adec="http://schemas.microsoft.com/office/drawing/2017/decorative" val="1"/>
              </a:ext>
            </a:extLst>
          </p:cNvPr>
          <p:cNvSpPr/>
          <p:nvPr/>
        </p:nvSpPr>
        <p:spPr>
          <a:xfrm>
            <a:off x="3794760" y="1170432"/>
            <a:ext cx="1463040" cy="566928"/>
          </a:xfrm>
          <a:prstGeom prst="roundRect">
            <a:avLst>
              <a:gd name="adj" fmla="val 9677"/>
            </a:avLst>
          </a:prstGeom>
          <a:solidFill>
            <a:srgbClr val="2E353D"/>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9" name="Text 7"/>
          <p:cNvSpPr/>
          <p:nvPr/>
        </p:nvSpPr>
        <p:spPr>
          <a:xfrm>
            <a:off x="3794760" y="1170432"/>
            <a:ext cx="1463040" cy="566928"/>
          </a:xfrm>
          <a:prstGeom prst="rect">
            <a:avLst/>
          </a:prstGeom>
          <a:noFill/>
          <a:ln/>
        </p:spPr>
        <p:txBody>
          <a:bodyPr wrap="square" lIns="0" tIns="0" rIns="0" bIns="0" rtlCol="0" anchor="ctr"/>
          <a:lstStyle/>
          <a:p>
            <a:pPr marL="0" indent="0" algn="ctr">
              <a:buNone/>
            </a:pPr>
            <a:r>
              <a:rPr lang="en-US" sz="1150" b="1" dirty="0">
                <a:solidFill>
                  <a:srgbClr val="F3F5F7"/>
                </a:solidFill>
                <a:latin typeface="Calibri" pitchFamily="34" charset="0"/>
                <a:ea typeface="Calibri" pitchFamily="34" charset="-122"/>
                <a:cs typeface="Calibri" pitchFamily="34" charset="-120"/>
              </a:rPr>
              <a:t>Dashboard</a:t>
            </a:r>
            <a:endParaRPr lang="en-US" sz="1150" dirty="0"/>
          </a:p>
        </p:txBody>
      </p:sp>
      <p:sp>
        <p:nvSpPr>
          <p:cNvPr id="10" name="Text 8"/>
          <p:cNvSpPr/>
          <p:nvPr/>
        </p:nvSpPr>
        <p:spPr>
          <a:xfrm>
            <a:off x="502920" y="1828800"/>
            <a:ext cx="4754880" cy="274320"/>
          </a:xfrm>
          <a:prstGeom prst="rect">
            <a:avLst/>
          </a:prstGeom>
          <a:noFill/>
          <a:ln/>
        </p:spPr>
        <p:txBody>
          <a:bodyPr wrap="square" lIns="0" tIns="0" rIns="0" bIns="0" rtlCol="0" anchor="ctr"/>
          <a:lstStyle/>
          <a:p>
            <a:pPr marL="0" indent="0" algn="ctr">
              <a:buNone/>
            </a:pPr>
            <a:r>
              <a:rPr lang="en-US" sz="1050" dirty="0">
                <a:solidFill>
                  <a:srgbClr val="F2A65A"/>
                </a:solidFill>
                <a:latin typeface="Consolas" pitchFamily="34" charset="0"/>
                <a:ea typeface="Consolas" pitchFamily="34" charset="-122"/>
                <a:cs typeface="Consolas" pitchFamily="34" charset="-120"/>
              </a:rPr>
              <a:t>REST /api/v1  and  WebSocket streams</a:t>
            </a:r>
            <a:endParaRPr lang="en-US" sz="1050" dirty="0"/>
          </a:p>
        </p:txBody>
      </p:sp>
      <p:sp>
        <p:nvSpPr>
          <p:cNvPr id="11" name="card background">
            <a:extLst>
              <a:ext uri="{C183D7F6-B498-43B3-948B-1728B52AA6E4}">
                <adec:decorative xmlns:adec="http://schemas.microsoft.com/office/drawing/2017/decorative" val="1"/>
              </a:ext>
            </a:extLst>
          </p:cNvPr>
          <p:cNvSpPr/>
          <p:nvPr/>
        </p:nvSpPr>
        <p:spPr>
          <a:xfrm>
            <a:off x="502920" y="2157984"/>
            <a:ext cx="4754880" cy="914400"/>
          </a:xfrm>
          <a:prstGeom prst="roundRect">
            <a:avLst>
              <a:gd name="adj" fmla="val 6000"/>
            </a:avLst>
          </a:prstGeom>
          <a:solidFill>
            <a:srgbClr val="E8722C"/>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2" name="Text 10"/>
          <p:cNvSpPr/>
          <p:nvPr/>
        </p:nvSpPr>
        <p:spPr>
          <a:xfrm>
            <a:off x="640080" y="2249424"/>
            <a:ext cx="4480560" cy="329184"/>
          </a:xfrm>
          <a:prstGeom prst="rect">
            <a:avLst/>
          </a:prstGeom>
          <a:noFill/>
          <a:ln/>
        </p:spPr>
        <p:txBody>
          <a:bodyPr wrap="square" lIns="0" tIns="0" rIns="0" bIns="0" rtlCol="0" anchor="ctr"/>
          <a:lstStyle/>
          <a:p>
            <a:pPr marL="0" indent="0">
              <a:buNone/>
            </a:pPr>
            <a:r>
              <a:rPr lang="en-US" sz="1600" b="1" dirty="0">
                <a:solidFill>
                  <a:srgbClr val="17191C"/>
                </a:solidFill>
                <a:latin typeface="Trebuchet MS" pitchFamily="34" charset="0"/>
                <a:ea typeface="Trebuchet MS" pitchFamily="34" charset="-122"/>
                <a:cs typeface="Trebuchet MS" pitchFamily="34" charset="-120"/>
              </a:rPr>
              <a:t>pm-api-gwy</a:t>
            </a:r>
            <a:endParaRPr lang="en-US" sz="1600" dirty="0"/>
          </a:p>
        </p:txBody>
      </p:sp>
      <p:sp>
        <p:nvSpPr>
          <p:cNvPr id="13" name="Text 11"/>
          <p:cNvSpPr/>
          <p:nvPr/>
        </p:nvSpPr>
        <p:spPr>
          <a:xfrm>
            <a:off x="640080" y="2578608"/>
            <a:ext cx="4480560" cy="420624"/>
          </a:xfrm>
          <a:prstGeom prst="rect">
            <a:avLst/>
          </a:prstGeom>
          <a:noFill/>
          <a:ln/>
        </p:spPr>
        <p:txBody>
          <a:bodyPr wrap="square" lIns="0" tIns="0" rIns="0" bIns="0" rtlCol="0" anchor="ctr"/>
          <a:lstStyle/>
          <a:p>
            <a:pPr marL="0" indent="0">
              <a:buNone/>
            </a:pPr>
            <a:r>
              <a:rPr lang="en-US" sz="1050" dirty="0">
                <a:solidFill>
                  <a:srgbClr val="1C2126"/>
                </a:solidFill>
                <a:latin typeface="Calibri" pitchFamily="34" charset="0"/>
                <a:ea typeface="Calibri" pitchFamily="34" charset="-122"/>
                <a:cs typeface="Calibri" pitchFamily="34" charset="-120"/>
              </a:rPr>
              <a:t>Authenticates keys · validates payloads · rate limits writes · caches orders, fills and quotes · wraps events</a:t>
            </a:r>
            <a:endParaRPr lang="en-US" sz="1050" dirty="0"/>
          </a:p>
        </p:txBody>
      </p:sp>
      <p:sp>
        <p:nvSpPr>
          <p:cNvPr id="14" name="Text 12"/>
          <p:cNvSpPr/>
          <p:nvPr/>
        </p:nvSpPr>
        <p:spPr>
          <a:xfrm>
            <a:off x="502920" y="3145536"/>
            <a:ext cx="4754880" cy="274320"/>
          </a:xfrm>
          <a:prstGeom prst="rect">
            <a:avLst/>
          </a:prstGeom>
          <a:noFill/>
          <a:ln/>
        </p:spPr>
        <p:txBody>
          <a:bodyPr wrap="square" lIns="0" tIns="0" rIns="0" bIns="0" rtlCol="0" anchor="ctr"/>
          <a:lstStyle/>
          <a:p>
            <a:pPr marL="0" indent="0" algn="ctr">
              <a:buNone/>
            </a:pPr>
            <a:r>
              <a:rPr lang="en-US" sz="1050" dirty="0">
                <a:solidFill>
                  <a:srgbClr val="97A1AC"/>
                </a:solidFill>
                <a:latin typeface="Consolas" pitchFamily="34" charset="0"/>
                <a:ea typeface="Consolas" pitchFamily="34" charset="-122"/>
                <a:cs typeface="Consolas" pitchFamily="34" charset="-120"/>
              </a:rPr>
              <a:t>engine messages over internal sockets</a:t>
            </a:r>
            <a:endParaRPr lang="en-US" sz="1050" dirty="0"/>
          </a:p>
        </p:txBody>
      </p:sp>
      <p:sp>
        <p:nvSpPr>
          <p:cNvPr id="15" name="card background">
            <a:extLst>
              <a:ext uri="{C183D7F6-B498-43B3-948B-1728B52AA6E4}">
                <adec:decorative xmlns:adec="http://schemas.microsoft.com/office/drawing/2017/decorative" val="1"/>
              </a:ext>
            </a:extLst>
          </p:cNvPr>
          <p:cNvSpPr/>
          <p:nvPr/>
        </p:nvSpPr>
        <p:spPr>
          <a:xfrm>
            <a:off x="502920" y="3456432"/>
            <a:ext cx="1463040" cy="914400"/>
          </a:xfrm>
          <a:prstGeom prst="roundRect">
            <a:avLst>
              <a:gd name="adj" fmla="val 600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6" name="Text 14"/>
          <p:cNvSpPr/>
          <p:nvPr/>
        </p:nvSpPr>
        <p:spPr>
          <a:xfrm>
            <a:off x="576072" y="3529584"/>
            <a:ext cx="1316736" cy="274320"/>
          </a:xfrm>
          <a:prstGeom prst="rect">
            <a:avLst/>
          </a:prstGeom>
          <a:noFill/>
          <a:ln/>
        </p:spPr>
        <p:txBody>
          <a:bodyPr wrap="square" lIns="0" tIns="0" rIns="0" bIns="0" rtlCol="0" anchor="ctr"/>
          <a:lstStyle/>
          <a:p>
            <a:pPr marL="0" indent="0" algn="ctr">
              <a:buNone/>
            </a:pPr>
            <a:r>
              <a:rPr lang="en-US" sz="1100" b="1" dirty="0">
                <a:solidFill>
                  <a:srgbClr val="35A79C"/>
                </a:solidFill>
                <a:latin typeface="Consolas" pitchFamily="34" charset="0"/>
                <a:ea typeface="Consolas" pitchFamily="34" charset="-122"/>
                <a:cs typeface="Consolas" pitchFamily="34" charset="-120"/>
              </a:rPr>
              <a:t>pm-engine</a:t>
            </a:r>
            <a:endParaRPr lang="en-US" sz="1100" dirty="0"/>
          </a:p>
        </p:txBody>
      </p:sp>
      <p:sp>
        <p:nvSpPr>
          <p:cNvPr id="17" name="Text 15"/>
          <p:cNvSpPr/>
          <p:nvPr/>
        </p:nvSpPr>
        <p:spPr>
          <a:xfrm>
            <a:off x="576072" y="3803904"/>
            <a:ext cx="1316736" cy="512064"/>
          </a:xfrm>
          <a:prstGeom prst="rect">
            <a:avLst/>
          </a:prstGeom>
          <a:noFill/>
          <a:ln/>
        </p:spPr>
        <p:txBody>
          <a:bodyPr wrap="square" lIns="0" tIns="0" rIns="0" bIns="0" rtlCol="0" anchor="ctr"/>
          <a:lstStyle/>
          <a:p>
            <a:pPr marL="0" indent="0" algn="ctr">
              <a:buNone/>
            </a:pPr>
            <a:r>
              <a:rPr lang="en-US" sz="950" dirty="0">
                <a:solidFill>
                  <a:srgbClr val="D5DAE0"/>
                </a:solidFill>
                <a:latin typeface="Calibri" pitchFamily="34" charset="0"/>
                <a:ea typeface="Calibri" pitchFamily="34" charset="-122"/>
                <a:cs typeface="Calibri" pitchFamily="34" charset="-120"/>
              </a:rPr>
              <a:t>Orders, matching, session, risk</a:t>
            </a:r>
            <a:endParaRPr lang="en-US" sz="950" dirty="0"/>
          </a:p>
        </p:txBody>
      </p:sp>
      <p:sp>
        <p:nvSpPr>
          <p:cNvPr id="18" name="card background">
            <a:extLst>
              <a:ext uri="{C183D7F6-B498-43B3-948B-1728B52AA6E4}">
                <adec:decorative xmlns:adec="http://schemas.microsoft.com/office/drawing/2017/decorative" val="1"/>
              </a:ext>
            </a:extLst>
          </p:cNvPr>
          <p:cNvSpPr/>
          <p:nvPr/>
        </p:nvSpPr>
        <p:spPr>
          <a:xfrm>
            <a:off x="2148840" y="3456432"/>
            <a:ext cx="1463040" cy="914400"/>
          </a:xfrm>
          <a:prstGeom prst="roundRect">
            <a:avLst>
              <a:gd name="adj" fmla="val 600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9" name="Text 17"/>
          <p:cNvSpPr/>
          <p:nvPr/>
        </p:nvSpPr>
        <p:spPr>
          <a:xfrm>
            <a:off x="2221992" y="3529584"/>
            <a:ext cx="1316736" cy="274320"/>
          </a:xfrm>
          <a:prstGeom prst="rect">
            <a:avLst/>
          </a:prstGeom>
          <a:noFill/>
          <a:ln/>
        </p:spPr>
        <p:txBody>
          <a:bodyPr wrap="square" lIns="0" tIns="0" rIns="0" bIns="0" rtlCol="0" anchor="ctr"/>
          <a:lstStyle/>
          <a:p>
            <a:pPr marL="0" indent="0" algn="ctr">
              <a:buNone/>
            </a:pPr>
            <a:r>
              <a:rPr lang="en-US" sz="1100" b="1" dirty="0">
                <a:solidFill>
                  <a:srgbClr val="8B7BD8"/>
                </a:solidFill>
                <a:latin typeface="Consolas" pitchFamily="34" charset="0"/>
                <a:ea typeface="Consolas" pitchFamily="34" charset="-122"/>
                <a:cs typeface="Consolas" pitchFamily="34" charset="-120"/>
              </a:rPr>
              <a:t>pm-stats</a:t>
            </a:r>
            <a:endParaRPr lang="en-US" sz="1100" dirty="0"/>
          </a:p>
        </p:txBody>
      </p:sp>
      <p:sp>
        <p:nvSpPr>
          <p:cNvPr id="20" name="Text 18"/>
          <p:cNvSpPr/>
          <p:nvPr/>
        </p:nvSpPr>
        <p:spPr>
          <a:xfrm>
            <a:off x="2221992" y="3803904"/>
            <a:ext cx="1316736" cy="512064"/>
          </a:xfrm>
          <a:prstGeom prst="rect">
            <a:avLst/>
          </a:prstGeom>
          <a:noFill/>
          <a:ln/>
        </p:spPr>
        <p:txBody>
          <a:bodyPr wrap="square" lIns="0" tIns="0" rIns="0" bIns="0" rtlCol="0" anchor="ctr"/>
          <a:lstStyle/>
          <a:p>
            <a:pPr marL="0" indent="0" algn="ctr">
              <a:buNone/>
            </a:pPr>
            <a:r>
              <a:rPr lang="en-US" sz="950" dirty="0">
                <a:solidFill>
                  <a:srgbClr val="D5DAE0"/>
                </a:solidFill>
                <a:latin typeface="Calibri" pitchFamily="34" charset="0"/>
                <a:ea typeface="Calibri" pitchFamily="34" charset="-122"/>
                <a:cs typeface="Calibri" pitchFamily="34" charset="-120"/>
              </a:rPr>
              <a:t>Recorded history database</a:t>
            </a:r>
            <a:endParaRPr lang="en-US" sz="950" dirty="0"/>
          </a:p>
        </p:txBody>
      </p:sp>
      <p:sp>
        <p:nvSpPr>
          <p:cNvPr id="21" name="card background">
            <a:extLst>
              <a:ext uri="{C183D7F6-B498-43B3-948B-1728B52AA6E4}">
                <adec:decorative xmlns:adec="http://schemas.microsoft.com/office/drawing/2017/decorative" val="1"/>
              </a:ext>
            </a:extLst>
          </p:cNvPr>
          <p:cNvSpPr/>
          <p:nvPr/>
        </p:nvSpPr>
        <p:spPr>
          <a:xfrm>
            <a:off x="3794760" y="3456432"/>
            <a:ext cx="1463040" cy="914400"/>
          </a:xfrm>
          <a:prstGeom prst="roundRect">
            <a:avLst>
              <a:gd name="adj" fmla="val 600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22" name="Text 20"/>
          <p:cNvSpPr/>
          <p:nvPr/>
        </p:nvSpPr>
        <p:spPr>
          <a:xfrm>
            <a:off x="3867912" y="3529584"/>
            <a:ext cx="1316736" cy="274320"/>
          </a:xfrm>
          <a:prstGeom prst="rect">
            <a:avLst/>
          </a:prstGeom>
          <a:noFill/>
          <a:ln/>
        </p:spPr>
        <p:txBody>
          <a:bodyPr wrap="square" lIns="0" tIns="0" rIns="0" bIns="0" rtlCol="0" anchor="ctr"/>
          <a:lstStyle/>
          <a:p>
            <a:pPr marL="0" indent="0" algn="ctr">
              <a:buNone/>
            </a:pPr>
            <a:r>
              <a:rPr lang="en-US" sz="1100" b="1" dirty="0">
                <a:solidFill>
                  <a:srgbClr val="F2A65A"/>
                </a:solidFill>
                <a:latin typeface="Consolas" pitchFamily="34" charset="0"/>
                <a:ea typeface="Consolas" pitchFamily="34" charset="-122"/>
                <a:cs typeface="Consolas" pitchFamily="34" charset="-120"/>
              </a:rPr>
              <a:t>pm-index</a:t>
            </a:r>
            <a:endParaRPr lang="en-US" sz="1100" dirty="0"/>
          </a:p>
        </p:txBody>
      </p:sp>
      <p:sp>
        <p:nvSpPr>
          <p:cNvPr id="23" name="Text 21"/>
          <p:cNvSpPr/>
          <p:nvPr/>
        </p:nvSpPr>
        <p:spPr>
          <a:xfrm>
            <a:off x="3867912" y="3803904"/>
            <a:ext cx="1316736" cy="512064"/>
          </a:xfrm>
          <a:prstGeom prst="rect">
            <a:avLst/>
          </a:prstGeom>
          <a:noFill/>
          <a:ln/>
        </p:spPr>
        <p:txBody>
          <a:bodyPr wrap="square" lIns="0" tIns="0" rIns="0" bIns="0" rtlCol="0" anchor="ctr"/>
          <a:lstStyle/>
          <a:p>
            <a:pPr marL="0" indent="0" algn="ctr">
              <a:buNone/>
            </a:pPr>
            <a:r>
              <a:rPr lang="en-US" sz="950" dirty="0">
                <a:solidFill>
                  <a:srgbClr val="D5DAE0"/>
                </a:solidFill>
                <a:latin typeface="Calibri" pitchFamily="34" charset="0"/>
                <a:ea typeface="Calibri" pitchFamily="34" charset="-122"/>
                <a:cs typeface="Calibri" pitchFamily="34" charset="-120"/>
              </a:rPr>
              <a:t>Index structure and audit log</a:t>
            </a:r>
            <a:endParaRPr lang="en-US" sz="950" dirty="0"/>
          </a:p>
        </p:txBody>
      </p:sp>
      <p:sp>
        <p:nvSpPr>
          <p:cNvPr id="24" name="card background">
            <a:extLst>
              <a:ext uri="{C183D7F6-B498-43B3-948B-1728B52AA6E4}">
                <adec:decorative xmlns:adec="http://schemas.microsoft.com/office/drawing/2017/decorative" val="1"/>
              </a:ext>
            </a:extLst>
          </p:cNvPr>
          <p:cNvSpPr/>
          <p:nvPr/>
        </p:nvSpPr>
        <p:spPr>
          <a:xfrm>
            <a:off x="5532120" y="1170432"/>
            <a:ext cx="3108960" cy="3200400"/>
          </a:xfrm>
          <a:prstGeom prst="roundRect">
            <a:avLst>
              <a:gd name="adj" fmla="val 1765"/>
            </a:avLst>
          </a:prstGeom>
          <a:solidFill>
            <a:srgbClr val="2E353D"/>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25" name="Text 23"/>
          <p:cNvSpPr/>
          <p:nvPr/>
        </p:nvSpPr>
        <p:spPr>
          <a:xfrm>
            <a:off x="5715000" y="1280160"/>
            <a:ext cx="2743200" cy="320040"/>
          </a:xfrm>
          <a:prstGeom prst="rect">
            <a:avLst/>
          </a:prstGeom>
          <a:noFill/>
          <a:ln/>
        </p:spPr>
        <p:txBody>
          <a:bodyPr wrap="square" lIns="0" tIns="0" rIns="0" bIns="0" rtlCol="0" anchor="ctr"/>
          <a:lstStyle/>
          <a:p>
            <a:pPr marL="0" indent="0">
              <a:buNone/>
            </a:pPr>
            <a:r>
              <a:rPr lang="en-US" sz="1400" b="1" dirty="0">
                <a:solidFill>
                  <a:srgbClr val="E8722C"/>
                </a:solidFill>
                <a:latin typeface="Trebuchet MS" pitchFamily="34" charset="0"/>
                <a:ea typeface="Trebuchet MS" pitchFamily="34" charset="-122"/>
                <a:cs typeface="Trebuchet MS" pitchFamily="34" charset="-120"/>
              </a:rPr>
              <a:t>Read it top to bottom</a:t>
            </a:r>
            <a:endParaRPr lang="en-US" sz="1400" dirty="0"/>
          </a:p>
        </p:txBody>
      </p:sp>
      <p:sp>
        <p:nvSpPr>
          <p:cNvPr id="26" name="Text 24"/>
          <p:cNvSpPr/>
          <p:nvPr/>
        </p:nvSpPr>
        <p:spPr>
          <a:xfrm>
            <a:off x="5715000" y="1691640"/>
            <a:ext cx="2743200" cy="2560320"/>
          </a:xfrm>
          <a:prstGeom prst="rect">
            <a:avLst/>
          </a:prstGeom>
          <a:noFill/>
          <a:ln/>
        </p:spPr>
        <p:txBody>
          <a:bodyPr wrap="square" lIns="0" tIns="0" rIns="0" bIns="0" rtlCol="0" anchor="t"/>
          <a:lstStyle/>
          <a:p>
            <a:pPr marL="342900" indent="-342900">
              <a:spcAft>
                <a:spcPts val="1000"/>
              </a:spcAft>
              <a:buSzPct val="100000"/>
              <a:buChar char="▪"/>
            </a:pPr>
            <a:r>
              <a:rPr lang="en-US" sz="1150" dirty="0">
                <a:solidFill>
                  <a:srgbClr val="D5DAE0"/>
                </a:solidFill>
                <a:latin typeface="Calibri" pitchFamily="34" charset="0"/>
                <a:ea typeface="Calibri" pitchFamily="34" charset="-122"/>
                <a:cs typeface="Calibri" pitchFamily="34" charset="-120"/>
              </a:rPr>
              <a:t>Your client only ever speaks HTTP and WebSocket.</a:t>
            </a:r>
            <a:endParaRPr lang="en-US" sz="1150" dirty="0"/>
          </a:p>
          <a:p>
            <a:pPr marL="342900" indent="-342900">
              <a:spcAft>
                <a:spcPts val="1000"/>
              </a:spcAft>
              <a:buSzPct val="100000"/>
              <a:buChar char="▪"/>
            </a:pPr>
            <a:r>
              <a:rPr lang="en-US" sz="1150" dirty="0">
                <a:solidFill>
                  <a:srgbClr val="D5DAE0"/>
                </a:solidFill>
                <a:latin typeface="Calibri" pitchFamily="34" charset="0"/>
                <a:ea typeface="Calibri" pitchFamily="34" charset="-122"/>
                <a:cs typeface="Calibri" pitchFamily="34" charset="-120"/>
              </a:rPr>
              <a:t>The gateway is the only component that knows both worlds.</a:t>
            </a:r>
            <a:endParaRPr lang="en-US" sz="1150" dirty="0"/>
          </a:p>
          <a:p>
            <a:pPr marL="342900" indent="-342900">
              <a:spcAft>
                <a:spcPts val="1000"/>
              </a:spcAft>
              <a:buSzPct val="100000"/>
              <a:buChar char="▪"/>
            </a:pPr>
            <a:r>
              <a:rPr lang="en-US" sz="1150" dirty="0">
                <a:solidFill>
                  <a:srgbClr val="D5DAE0"/>
                </a:solidFill>
                <a:latin typeface="Calibri" pitchFamily="34" charset="0"/>
                <a:ea typeface="Calibri" pitchFamily="34" charset="-122"/>
                <a:cs typeface="Calibri" pitchFamily="34" charset="-120"/>
              </a:rPr>
              <a:t>Live trading and market events come from the engine.</a:t>
            </a:r>
            <a:endParaRPr lang="en-US" sz="1150" dirty="0"/>
          </a:p>
          <a:p>
            <a:pPr marL="342900" indent="-342900">
              <a:spcAft>
                <a:spcPts val="1000"/>
              </a:spcAft>
              <a:buSzPct val="100000"/>
              <a:buChar char="▪"/>
            </a:pPr>
            <a:r>
              <a:rPr lang="en-US" sz="1150" dirty="0">
                <a:solidFill>
                  <a:srgbClr val="D5DAE0"/>
                </a:solidFill>
                <a:latin typeface="Calibri" pitchFamily="34" charset="0"/>
                <a:ea typeface="Calibri" pitchFamily="34" charset="-122"/>
                <a:cs typeface="Calibri" pitchFamily="34" charset="-120"/>
              </a:rPr>
              <a:t>Anything historical is read from the statistics database.</a:t>
            </a:r>
            <a:endParaRPr lang="en-US" sz="1150" dirty="0"/>
          </a:p>
          <a:p>
            <a:pPr marL="342900" indent="-342900">
              <a:buSzPct val="100000"/>
              <a:buChar char="▪"/>
            </a:pPr>
            <a:r>
              <a:rPr lang="en-US" sz="1150" dirty="0">
                <a:solidFill>
                  <a:srgbClr val="D5DAE0"/>
                </a:solidFill>
                <a:latin typeface="Calibri" pitchFamily="34" charset="0"/>
                <a:ea typeface="Calibri" pitchFamily="34" charset="-122"/>
                <a:cs typeface="Calibri" pitchFamily="34" charset="-120"/>
              </a:rPr>
              <a:t>Index structure and audit events are answered live by the index process.</a:t>
            </a:r>
            <a:endParaRPr lang="en-US" sz="1150" dirty="0"/>
          </a:p>
        </p:txBody>
      </p:sp>
      <p:sp>
        <p:nvSpPr>
          <p:cNvPr id="27" name="Text 25"/>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Orientation</a:t>
            </a:r>
            <a:endParaRPr lang="en-US" sz="900" dirty="0"/>
          </a:p>
        </p:txBody>
      </p:sp>
      <p:sp>
        <p:nvSpPr>
          <p:cNvPr id="28" name="Text 26"/>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8138160" cy="548640"/>
          </a:xfrm>
          <a:prstGeom prst="rect">
            <a:avLst/>
          </a:prstGeom>
          <a:noFill/>
          <a:ln/>
        </p:spPr>
        <p:txBody>
          <a:bodyPr wrap="square" lIns="0" tIns="0" rIns="0" bIns="0" rtlCol="0" anchor="ctr"/>
          <a:lstStyle/>
          <a:p>
            <a:pPr marL="0" indent="0">
              <a:buNone/>
            </a:pPr>
            <a:r>
              <a:rPr lang="en-US" sz="2700" b="1" dirty="0">
                <a:solidFill>
                  <a:srgbClr val="F3F5F7"/>
                </a:solidFill>
                <a:latin typeface="Trebuchet MS" pitchFamily="34" charset="0"/>
                <a:ea typeface="Trebuchet MS" pitchFamily="34" charset="-122"/>
                <a:cs typeface="Trebuchet MS" pitchFamily="34" charset="-120"/>
              </a:rPr>
              <a:t>The gateway among its siblings</a:t>
            </a:r>
            <a:endParaRPr lang="en-US" sz="2700" dirty="0"/>
          </a:p>
        </p:txBody>
      </p:sp>
      <p:sp>
        <p:nvSpPr>
          <p:cNvPr id="3" name="Text 1"/>
          <p:cNvSpPr/>
          <p:nvPr/>
        </p:nvSpPr>
        <p:spPr>
          <a:xfrm>
            <a:off x="502920" y="841248"/>
            <a:ext cx="8138160" cy="237744"/>
          </a:xfrm>
          <a:prstGeom prst="rect">
            <a:avLst/>
          </a:prstGeom>
          <a:noFill/>
          <a:ln/>
        </p:spPr>
        <p:txBody>
          <a:bodyPr wrap="square" lIns="0" tIns="0" rIns="0" bIns="0" rtlCol="0" anchor="ctr"/>
          <a:lstStyle/>
          <a:p>
            <a:pPr marL="0" indent="0">
              <a:buNone/>
            </a:pPr>
            <a:r>
              <a:rPr lang="en-US" sz="1100" b="1" kern="0" spc="200" dirty="0">
                <a:solidFill>
                  <a:srgbClr val="E8722C"/>
                </a:solidFill>
                <a:latin typeface="Calibri" pitchFamily="34" charset="0"/>
                <a:ea typeface="Calibri" pitchFamily="34" charset="-122"/>
                <a:cs typeface="Calibri" pitchFamily="34" charset="-120"/>
              </a:rPr>
              <a:t>PROTOCOL FAMILY</a:t>
            </a:r>
            <a:endParaRPr lang="en-US" sz="1100" dirty="0"/>
          </a:p>
        </p:txBody>
      </p:sp>
      <p:sp>
        <p:nvSpPr>
          <p:cNvPr id="4" name="Text 2"/>
          <p:cNvSpPr/>
          <p:nvPr/>
        </p:nvSpPr>
        <p:spPr>
          <a:xfrm>
            <a:off x="502920" y="1097280"/>
            <a:ext cx="8138160" cy="310896"/>
          </a:xfrm>
          <a:prstGeom prst="rect">
            <a:avLst/>
          </a:prstGeom>
          <a:noFill/>
          <a:ln/>
        </p:spPr>
        <p:txBody>
          <a:bodyPr wrap="square" lIns="0" tIns="0" rIns="0" bIns="0" rtlCol="0" anchor="t"/>
          <a:lstStyle/>
          <a:p>
            <a:pPr marL="0" indent="0" algn="l">
              <a:buNone/>
            </a:pPr>
            <a:r>
              <a:rPr lang="en-US" sz="1250" dirty="0">
                <a:solidFill>
                  <a:srgbClr val="D5DAE0"/>
                </a:solidFill>
                <a:latin typeface="Calibri" pitchFamily="34" charset="0"/>
                <a:ea typeface="Calibri" pitchFamily="34" charset="-122"/>
                <a:cs typeface="Calibri" pitchFamily="34" charset="-120"/>
              </a:rPr>
              <a:t>EduMatcher speaks several external protocols. The API gateway is the web-native one — the others are text or binary socket protocols for specialised consumers.</a:t>
            </a:r>
            <a:endParaRPr lang="en-US" sz="1250" dirty="0"/>
          </a:p>
        </p:txBody>
      </p:sp>
      <p:sp>
        <p:nvSpPr>
          <p:cNvPr id="5" name="card background">
            <a:extLst>
              <a:ext uri="{C183D7F6-B498-43B3-948B-1728B52AA6E4}">
                <adec:decorative xmlns:adec="http://schemas.microsoft.com/office/drawing/2017/decorative" val="1"/>
              </a:ext>
            </a:extLst>
          </p:cNvPr>
          <p:cNvSpPr/>
          <p:nvPr/>
        </p:nvSpPr>
        <p:spPr>
          <a:xfrm>
            <a:off x="502920" y="1536192"/>
            <a:ext cx="2566416" cy="1371600"/>
          </a:xfrm>
          <a:prstGeom prst="roundRect">
            <a:avLst>
              <a:gd name="adj" fmla="val 400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6" name="Text 4">
            <a:extLst>
              <a:ext uri="{C183D7F6-B498-43B3-948B-1728B52AA6E4}">
                <adec:decorative xmlns:adec="http://schemas.microsoft.com/office/drawing/2017/decorative" val="1"/>
              </a:ext>
            </a:extLst>
          </p:cNvPr>
          <p:cNvSpPr/>
          <p:nvPr/>
        </p:nvSpPr>
        <p:spPr>
          <a:xfrm>
            <a:off x="722376" y="1719072"/>
            <a:ext cx="2164080" cy="329184"/>
          </a:xfrm>
          <a:prstGeom prst="rect">
            <a:avLst/>
          </a:prstGeom>
          <a:noFill/>
          <a:ln/>
        </p:spPr>
        <p:txBody>
          <a:bodyPr wrap="square" lIns="0" tIns="0" rIns="0" bIns="0" rtlCol="0" anchor="ctr"/>
          <a:lstStyle/>
          <a:p>
            <a:pPr marL="0" indent="0">
              <a:buNone/>
            </a:pPr>
            <a:r>
              <a:rPr lang="en-US" sz="1400" b="1" dirty="0">
                <a:solidFill>
                  <a:srgbClr val="E8722C"/>
                </a:solidFill>
                <a:latin typeface="Trebuchet MS" pitchFamily="34" charset="0"/>
                <a:ea typeface="Trebuchet MS" pitchFamily="34" charset="-122"/>
                <a:cs typeface="Trebuchet MS" pitchFamily="34" charset="-120"/>
              </a:rPr>
              <a:t>REST / WebSocket</a:t>
            </a:r>
            <a:endParaRPr lang="en-US" sz="1400" dirty="0"/>
          </a:p>
        </p:txBody>
      </p:sp>
      <p:sp>
        <p:nvSpPr>
          <p:cNvPr id="7" name="Text 5"/>
          <p:cNvSpPr/>
          <p:nvPr/>
        </p:nvSpPr>
        <p:spPr>
          <a:xfrm>
            <a:off x="722376" y="2084832"/>
            <a:ext cx="2127504" cy="71323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This gateway. JSON over HTTP for any client, including browsers.</a:t>
            </a:r>
            <a:endParaRPr lang="en-US" sz="1050" dirty="0"/>
          </a:p>
        </p:txBody>
      </p:sp>
      <p:sp>
        <p:nvSpPr>
          <p:cNvPr id="8" name="card background">
            <a:extLst>
              <a:ext uri="{C183D7F6-B498-43B3-948B-1728B52AA6E4}">
                <adec:decorative xmlns:adec="http://schemas.microsoft.com/office/drawing/2017/decorative" val="1"/>
              </a:ext>
            </a:extLst>
          </p:cNvPr>
          <p:cNvSpPr/>
          <p:nvPr/>
        </p:nvSpPr>
        <p:spPr>
          <a:xfrm>
            <a:off x="3288792" y="1536192"/>
            <a:ext cx="2566416" cy="1371600"/>
          </a:xfrm>
          <a:prstGeom prst="roundRect">
            <a:avLst>
              <a:gd name="adj" fmla="val 400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9" name="Text 7"/>
          <p:cNvSpPr/>
          <p:nvPr/>
        </p:nvSpPr>
        <p:spPr>
          <a:xfrm>
            <a:off x="3508248" y="1719072"/>
            <a:ext cx="2164080" cy="329184"/>
          </a:xfrm>
          <a:prstGeom prst="rect">
            <a:avLst/>
          </a:prstGeom>
          <a:noFill/>
          <a:ln/>
        </p:spPr>
        <p:txBody>
          <a:bodyPr wrap="square" lIns="0" tIns="0" rIns="0" bIns="0" rtlCol="0" anchor="ctr"/>
          <a:lstStyle/>
          <a:p>
            <a:pPr marL="0" indent="0">
              <a:buNone/>
            </a:pPr>
            <a:r>
              <a:rPr lang="en-US" sz="1400" b="1" dirty="0">
                <a:solidFill>
                  <a:srgbClr val="35A79C"/>
                </a:solidFill>
                <a:latin typeface="Trebuchet MS" pitchFamily="34" charset="0"/>
                <a:ea typeface="Trebuchet MS" pitchFamily="34" charset="-122"/>
                <a:cs typeface="Trebuchet MS" pitchFamily="34" charset="-120"/>
              </a:rPr>
              <a:t>ALF</a:t>
            </a:r>
            <a:endParaRPr lang="en-US" sz="1400" dirty="0"/>
          </a:p>
        </p:txBody>
      </p:sp>
      <p:sp>
        <p:nvSpPr>
          <p:cNvPr id="10" name="Text 8">
            <a:extLst>
              <a:ext uri="{C183D7F6-B498-43B3-948B-1728B52AA6E4}">
                <adec:decorative xmlns:adec="http://schemas.microsoft.com/office/drawing/2017/decorative" val="1"/>
              </a:ext>
            </a:extLst>
          </p:cNvPr>
          <p:cNvSpPr/>
          <p:nvPr/>
        </p:nvSpPr>
        <p:spPr>
          <a:xfrm>
            <a:off x="3508248" y="2084832"/>
            <a:ext cx="2127504" cy="71323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Human-readable text order entry. Interactive console, or a TCP gateway for bots.</a:t>
            </a:r>
            <a:endParaRPr lang="en-US" sz="1050" dirty="0"/>
          </a:p>
        </p:txBody>
      </p:sp>
      <p:sp>
        <p:nvSpPr>
          <p:cNvPr id="11" name="card background">
            <a:extLst>
              <a:ext uri="{C183D7F6-B498-43B3-948B-1728B52AA6E4}">
                <adec:decorative xmlns:adec="http://schemas.microsoft.com/office/drawing/2017/decorative" val="1"/>
              </a:ext>
            </a:extLst>
          </p:cNvPr>
          <p:cNvSpPr/>
          <p:nvPr/>
        </p:nvSpPr>
        <p:spPr>
          <a:xfrm>
            <a:off x="6074664" y="1536192"/>
            <a:ext cx="2566416" cy="1371600"/>
          </a:xfrm>
          <a:prstGeom prst="roundRect">
            <a:avLst>
              <a:gd name="adj" fmla="val 400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2" name="step marker">
            <a:extLst>
              <a:ext uri="{C183D7F6-B498-43B3-948B-1728B52AA6E4}">
                <adec:decorative xmlns:adec="http://schemas.microsoft.com/office/drawing/2017/decorative" val="1"/>
              </a:ext>
            </a:extLst>
          </p:cNvPr>
          <p:cNvSpPr/>
          <p:nvPr/>
        </p:nvSpPr>
        <p:spPr>
          <a:xfrm>
            <a:off x="6275832" y="1719072"/>
            <a:ext cx="310896" cy="310896"/>
          </a:xfrm>
          <a:prstGeom prst="ellipse">
            <a:avLst/>
          </a:prstGeom>
          <a:solidFill>
            <a:srgbClr val="8B7BD8"/>
          </a:solidFill>
          <a:ln w="12700">
            <a:solidFill>
              <a:srgbClr val="8B7BD8"/>
            </a:solidFill>
            <a:prstDash val="solid"/>
          </a:ln>
        </p:spPr>
        <p:txBody>
          <a:bodyPr/>
          <a:lstStyle/>
          <a:p>
            <a:endParaRPr lang="en-SE"/>
          </a:p>
        </p:txBody>
      </p:sp>
      <p:sp>
        <p:nvSpPr>
          <p:cNvPr id="13" name="Text 11"/>
          <p:cNvSpPr/>
          <p:nvPr/>
        </p:nvSpPr>
        <p:spPr>
          <a:xfrm>
            <a:off x="6275832" y="1719072"/>
            <a:ext cx="310896" cy="310896"/>
          </a:xfrm>
          <a:prstGeom prst="rect">
            <a:avLst/>
          </a:prstGeom>
          <a:noFill/>
          <a:ln/>
        </p:spPr>
        <p:txBody>
          <a:bodyPr wrap="square" lIns="0" tIns="0" rIns="0" bIns="0" rtlCol="0" anchor="ctr"/>
          <a:lstStyle/>
          <a:p>
            <a:pPr marL="0" indent="0" algn="ctr">
              <a:buNone/>
            </a:pPr>
            <a:endParaRPr lang="en-US" sz="1300" dirty="0"/>
          </a:p>
        </p:txBody>
      </p:sp>
      <p:sp>
        <p:nvSpPr>
          <p:cNvPr id="14" name="Text 12"/>
          <p:cNvSpPr/>
          <p:nvPr/>
        </p:nvSpPr>
        <p:spPr>
          <a:xfrm>
            <a:off x="6678168" y="1719072"/>
            <a:ext cx="1780032" cy="329184"/>
          </a:xfrm>
          <a:prstGeom prst="rect">
            <a:avLst/>
          </a:prstGeom>
          <a:noFill/>
          <a:ln/>
        </p:spPr>
        <p:txBody>
          <a:bodyPr wrap="square" lIns="0" tIns="0" rIns="0" bIns="0" rtlCol="0" anchor="ctr"/>
          <a:lstStyle/>
          <a:p>
            <a:pPr marL="0" indent="0">
              <a:buNone/>
            </a:pPr>
            <a:r>
              <a:rPr lang="en-US" sz="1400" b="1" dirty="0">
                <a:solidFill>
                  <a:srgbClr val="8B7BD8"/>
                </a:solidFill>
                <a:latin typeface="Trebuchet MS" pitchFamily="34" charset="0"/>
                <a:ea typeface="Trebuchet MS" pitchFamily="34" charset="-122"/>
                <a:cs typeface="Trebuchet MS" pitchFamily="34" charset="-120"/>
              </a:rPr>
              <a:t>BALF</a:t>
            </a:r>
            <a:endParaRPr lang="en-US" sz="1400" dirty="0"/>
          </a:p>
        </p:txBody>
      </p:sp>
      <p:sp>
        <p:nvSpPr>
          <p:cNvPr id="15" name="Text 13">
            <a:extLst>
              <a:ext uri="{C183D7F6-B498-43B3-948B-1728B52AA6E4}">
                <adec:decorative xmlns:adec="http://schemas.microsoft.com/office/drawing/2017/decorative" val="1"/>
              </a:ext>
            </a:extLst>
          </p:cNvPr>
          <p:cNvSpPr/>
          <p:nvPr/>
        </p:nvSpPr>
        <p:spPr>
          <a:xfrm>
            <a:off x="6294120" y="2084832"/>
            <a:ext cx="2127504" cy="71323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Binary framed order entry for programmatic clients that want low latency.</a:t>
            </a:r>
            <a:endParaRPr lang="en-US" sz="1050" dirty="0"/>
          </a:p>
        </p:txBody>
      </p:sp>
      <p:sp>
        <p:nvSpPr>
          <p:cNvPr id="16" name="card background">
            <a:extLst>
              <a:ext uri="{C183D7F6-B498-43B3-948B-1728B52AA6E4}">
                <adec:decorative xmlns:adec="http://schemas.microsoft.com/office/drawing/2017/decorative" val="1"/>
              </a:ext>
            </a:extLst>
          </p:cNvPr>
          <p:cNvSpPr/>
          <p:nvPr/>
        </p:nvSpPr>
        <p:spPr>
          <a:xfrm>
            <a:off x="502920" y="3127248"/>
            <a:ext cx="2566416" cy="1371600"/>
          </a:xfrm>
          <a:prstGeom prst="roundRect">
            <a:avLst>
              <a:gd name="adj" fmla="val 400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7" name="step marker">
            <a:extLst>
              <a:ext uri="{C183D7F6-B498-43B3-948B-1728B52AA6E4}">
                <adec:decorative xmlns:adec="http://schemas.microsoft.com/office/drawing/2017/decorative" val="1"/>
              </a:ext>
            </a:extLst>
          </p:cNvPr>
          <p:cNvSpPr/>
          <p:nvPr/>
        </p:nvSpPr>
        <p:spPr>
          <a:xfrm>
            <a:off x="704088" y="3310128"/>
            <a:ext cx="310896" cy="310896"/>
          </a:xfrm>
          <a:prstGeom prst="ellipse">
            <a:avLst/>
          </a:prstGeom>
          <a:solidFill>
            <a:srgbClr val="F2A65A"/>
          </a:solidFill>
          <a:ln w="12700">
            <a:solidFill>
              <a:srgbClr val="F2A65A"/>
            </a:solidFill>
            <a:prstDash val="solid"/>
          </a:ln>
        </p:spPr>
        <p:txBody>
          <a:bodyPr/>
          <a:lstStyle/>
          <a:p>
            <a:endParaRPr lang="en-SE"/>
          </a:p>
        </p:txBody>
      </p:sp>
      <p:sp>
        <p:nvSpPr>
          <p:cNvPr id="18" name="Text 16"/>
          <p:cNvSpPr/>
          <p:nvPr/>
        </p:nvSpPr>
        <p:spPr>
          <a:xfrm>
            <a:off x="704088" y="3310128"/>
            <a:ext cx="310896" cy="310896"/>
          </a:xfrm>
          <a:prstGeom prst="rect">
            <a:avLst/>
          </a:prstGeom>
          <a:noFill/>
          <a:ln/>
        </p:spPr>
        <p:txBody>
          <a:bodyPr wrap="square" lIns="0" tIns="0" rIns="0" bIns="0" rtlCol="0" anchor="ctr"/>
          <a:lstStyle/>
          <a:p>
            <a:pPr marL="0" indent="0" algn="ctr">
              <a:buNone/>
            </a:pPr>
            <a:endParaRPr lang="en-US" sz="1300" dirty="0"/>
          </a:p>
        </p:txBody>
      </p:sp>
      <p:sp>
        <p:nvSpPr>
          <p:cNvPr id="19" name="Text 17"/>
          <p:cNvSpPr/>
          <p:nvPr/>
        </p:nvSpPr>
        <p:spPr>
          <a:xfrm>
            <a:off x="1106424" y="3310128"/>
            <a:ext cx="1780032" cy="329184"/>
          </a:xfrm>
          <a:prstGeom prst="rect">
            <a:avLst/>
          </a:prstGeom>
          <a:noFill/>
          <a:ln/>
        </p:spPr>
        <p:txBody>
          <a:bodyPr wrap="square" lIns="0" tIns="0" rIns="0" bIns="0" rtlCol="0" anchor="ctr"/>
          <a:lstStyle/>
          <a:p>
            <a:pPr marL="0" indent="0">
              <a:buNone/>
            </a:pPr>
            <a:r>
              <a:rPr lang="en-US" sz="1400" b="1" dirty="0">
                <a:solidFill>
                  <a:srgbClr val="F2A65A"/>
                </a:solidFill>
                <a:latin typeface="Trebuchet MS" pitchFamily="34" charset="0"/>
                <a:ea typeface="Trebuchet MS" pitchFamily="34" charset="-122"/>
                <a:cs typeface="Trebuchet MS" pitchFamily="34" charset="-120"/>
              </a:rPr>
              <a:t>CALF</a:t>
            </a:r>
            <a:endParaRPr lang="en-US" sz="1400" dirty="0"/>
          </a:p>
        </p:txBody>
      </p:sp>
      <p:sp>
        <p:nvSpPr>
          <p:cNvPr id="20" name="Text 18">
            <a:extLst>
              <a:ext uri="{C183D7F6-B498-43B3-948B-1728B52AA6E4}">
                <adec:decorative xmlns:adec="http://schemas.microsoft.com/office/drawing/2017/decorative" val="1"/>
              </a:ext>
            </a:extLst>
          </p:cNvPr>
          <p:cNvSpPr/>
          <p:nvPr/>
        </p:nvSpPr>
        <p:spPr>
          <a:xfrm>
            <a:off x="722376" y="3675888"/>
            <a:ext cx="2127504" cy="71323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Channelised market-data feed with snapshot, incremental and replay semantics.</a:t>
            </a:r>
            <a:endParaRPr lang="en-US" sz="1050" dirty="0"/>
          </a:p>
        </p:txBody>
      </p:sp>
      <p:sp>
        <p:nvSpPr>
          <p:cNvPr id="21" name="card background">
            <a:extLst>
              <a:ext uri="{C183D7F6-B498-43B3-948B-1728B52AA6E4}">
                <adec:decorative xmlns:adec="http://schemas.microsoft.com/office/drawing/2017/decorative" val="1"/>
              </a:ext>
            </a:extLst>
          </p:cNvPr>
          <p:cNvSpPr/>
          <p:nvPr/>
        </p:nvSpPr>
        <p:spPr>
          <a:xfrm>
            <a:off x="3288792" y="3127248"/>
            <a:ext cx="2566416" cy="1371600"/>
          </a:xfrm>
          <a:prstGeom prst="roundRect">
            <a:avLst>
              <a:gd name="adj" fmla="val 400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22" name="Text 20"/>
          <p:cNvSpPr/>
          <p:nvPr/>
        </p:nvSpPr>
        <p:spPr>
          <a:xfrm>
            <a:off x="3508248" y="3310128"/>
            <a:ext cx="2164080" cy="329184"/>
          </a:xfrm>
          <a:prstGeom prst="rect">
            <a:avLst/>
          </a:prstGeom>
          <a:noFill/>
          <a:ln/>
        </p:spPr>
        <p:txBody>
          <a:bodyPr wrap="square" lIns="0" tIns="0" rIns="0" bIns="0" rtlCol="0" anchor="ctr"/>
          <a:lstStyle/>
          <a:p>
            <a:pPr marL="0" indent="0">
              <a:buNone/>
            </a:pPr>
            <a:r>
              <a:rPr lang="en-US" sz="1400" b="1" dirty="0">
                <a:solidFill>
                  <a:srgbClr val="35A79C"/>
                </a:solidFill>
                <a:latin typeface="Trebuchet MS" pitchFamily="34" charset="0"/>
                <a:ea typeface="Trebuchet MS" pitchFamily="34" charset="-122"/>
                <a:cs typeface="Trebuchet MS" pitchFamily="34" charset="-120"/>
              </a:rPr>
              <a:t>RALF</a:t>
            </a:r>
            <a:endParaRPr lang="en-US" sz="1400" dirty="0"/>
          </a:p>
        </p:txBody>
      </p:sp>
      <p:sp>
        <p:nvSpPr>
          <p:cNvPr id="23" name="Text 21"/>
          <p:cNvSpPr/>
          <p:nvPr/>
        </p:nvSpPr>
        <p:spPr>
          <a:xfrm>
            <a:off x="3508248" y="3675888"/>
            <a:ext cx="2127504" cy="71323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Post-trade dissemination for clearing, drop-copy and audit consumers.</a:t>
            </a:r>
            <a:endParaRPr lang="en-US" sz="1050" dirty="0"/>
          </a:p>
        </p:txBody>
      </p:sp>
      <p:sp>
        <p:nvSpPr>
          <p:cNvPr id="24" name="card background">
            <a:extLst>
              <a:ext uri="{C183D7F6-B498-43B3-948B-1728B52AA6E4}">
                <adec:decorative xmlns:adec="http://schemas.microsoft.com/office/drawing/2017/decorative" val="1"/>
              </a:ext>
            </a:extLst>
          </p:cNvPr>
          <p:cNvSpPr/>
          <p:nvPr/>
        </p:nvSpPr>
        <p:spPr>
          <a:xfrm>
            <a:off x="6074664" y="3127248"/>
            <a:ext cx="2566416" cy="1371600"/>
          </a:xfrm>
          <a:prstGeom prst="roundRect">
            <a:avLst>
              <a:gd name="adj" fmla="val 400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25" name="Text 23">
            <a:extLst>
              <a:ext uri="{C183D7F6-B498-43B3-948B-1728B52AA6E4}">
                <adec:decorative xmlns:adec="http://schemas.microsoft.com/office/drawing/2017/decorative" val="1"/>
              </a:ext>
            </a:extLst>
          </p:cNvPr>
          <p:cNvSpPr/>
          <p:nvPr/>
        </p:nvSpPr>
        <p:spPr>
          <a:xfrm>
            <a:off x="6294120" y="3310128"/>
            <a:ext cx="2164080" cy="329184"/>
          </a:xfrm>
          <a:prstGeom prst="rect">
            <a:avLst/>
          </a:prstGeom>
          <a:noFill/>
          <a:ln/>
        </p:spPr>
        <p:txBody>
          <a:bodyPr wrap="square" lIns="0" tIns="0" rIns="0" bIns="0" rtlCol="0" anchor="ctr"/>
          <a:lstStyle/>
          <a:p>
            <a:pPr marL="0" indent="0">
              <a:buNone/>
            </a:pPr>
            <a:r>
              <a:rPr lang="en-US" sz="1400" b="1" dirty="0">
                <a:solidFill>
                  <a:srgbClr val="E8722C"/>
                </a:solidFill>
                <a:latin typeface="Trebuchet MS" pitchFamily="34" charset="0"/>
                <a:ea typeface="Trebuchet MS" pitchFamily="34" charset="-122"/>
                <a:cs typeface="Trebuchet MS" pitchFamily="34" charset="-120"/>
              </a:rPr>
              <a:t>Choosing</a:t>
            </a:r>
            <a:endParaRPr lang="en-US" sz="1400" dirty="0"/>
          </a:p>
        </p:txBody>
      </p:sp>
      <p:sp>
        <p:nvSpPr>
          <p:cNvPr id="26" name="Text 24">
            <a:extLst>
              <a:ext uri="{C183D7F6-B498-43B3-948B-1728B52AA6E4}">
                <adec:decorative xmlns:adec="http://schemas.microsoft.com/office/drawing/2017/decorative" val="1"/>
              </a:ext>
            </a:extLst>
          </p:cNvPr>
          <p:cNvSpPr/>
          <p:nvPr/>
        </p:nvSpPr>
        <p:spPr>
          <a:xfrm>
            <a:off x="6294120" y="3675888"/>
            <a:ext cx="2127504" cy="71323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Start here if you write software over HTTP. Move to CALF or BALF only when you need their specialisms.</a:t>
            </a:r>
            <a:endParaRPr lang="en-US" sz="1050" dirty="0"/>
          </a:p>
        </p:txBody>
      </p:sp>
      <p:sp>
        <p:nvSpPr>
          <p:cNvPr id="27" name="Text 25"/>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Orientation</a:t>
            </a:r>
            <a:endParaRPr lang="en-US" sz="900" dirty="0"/>
          </a:p>
        </p:txBody>
      </p:sp>
      <p:sp>
        <p:nvSpPr>
          <p:cNvPr id="28" name="Text 26"/>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8138160" cy="548640"/>
          </a:xfrm>
          <a:prstGeom prst="rect">
            <a:avLst/>
          </a:prstGeom>
          <a:noFill/>
          <a:ln/>
        </p:spPr>
        <p:txBody>
          <a:bodyPr wrap="square" lIns="0" tIns="0" rIns="0" bIns="0" rtlCol="0" anchor="ctr"/>
          <a:lstStyle/>
          <a:p>
            <a:pPr marL="0" indent="0">
              <a:buNone/>
            </a:pPr>
            <a:r>
              <a:rPr lang="en-US" sz="2700" b="1" dirty="0">
                <a:solidFill>
                  <a:srgbClr val="F3F5F7"/>
                </a:solidFill>
                <a:latin typeface="Trebuchet MS" pitchFamily="34" charset="0"/>
                <a:ea typeface="Trebuchet MS" pitchFamily="34" charset="-122"/>
                <a:cs typeface="Trebuchet MS" pitchFamily="34" charset="-120"/>
              </a:rPr>
              <a:t>Which protocol should I use?</a:t>
            </a:r>
            <a:endParaRPr lang="en-US" sz="2700" dirty="0"/>
          </a:p>
        </p:txBody>
      </p:sp>
      <p:sp>
        <p:nvSpPr>
          <p:cNvPr id="3" name="Text 1"/>
          <p:cNvSpPr/>
          <p:nvPr/>
        </p:nvSpPr>
        <p:spPr>
          <a:xfrm>
            <a:off x="502920" y="841248"/>
            <a:ext cx="8138160" cy="237744"/>
          </a:xfrm>
          <a:prstGeom prst="rect">
            <a:avLst/>
          </a:prstGeom>
          <a:noFill/>
          <a:ln/>
        </p:spPr>
        <p:txBody>
          <a:bodyPr wrap="square" lIns="0" tIns="0" rIns="0" bIns="0" rtlCol="0" anchor="ctr"/>
          <a:lstStyle/>
          <a:p>
            <a:pPr marL="0" indent="0">
              <a:buNone/>
            </a:pPr>
            <a:r>
              <a:rPr lang="en-US" sz="1100" b="1" kern="0" spc="200" dirty="0">
                <a:solidFill>
                  <a:srgbClr val="E8722C"/>
                </a:solidFill>
                <a:latin typeface="Calibri" pitchFamily="34" charset="0"/>
                <a:ea typeface="Calibri" pitchFamily="34" charset="-122"/>
                <a:cs typeface="Calibri" pitchFamily="34" charset="-120"/>
              </a:rPr>
              <a:t>SELECTION GUIDE</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2501919932"/>
              </p:ext>
            </p:extLst>
          </p:nvPr>
        </p:nvGraphicFramePr>
        <p:xfrm>
          <a:off x="502920" y="1207008"/>
          <a:ext cx="8138160" cy="914400"/>
        </p:xfrm>
        <a:graphic>
          <a:graphicData uri="http://schemas.openxmlformats.org/drawingml/2006/table">
            <a:tbl>
              <a:tblPr/>
              <a:tblGrid>
                <a:gridCol w="320040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tblGrid>
              <a:tr h="310896">
                <a:tc>
                  <a:txBody>
                    <a:bodyPr/>
                    <a:lstStyle/>
                    <a:p>
                      <a:pPr marL="0" indent="0">
                        <a:buNone/>
                      </a:pPr>
                      <a:r>
                        <a:rPr lang="en-US" sz="1100" b="1" dirty="0">
                          <a:solidFill>
                            <a:srgbClr val="121519"/>
                          </a:solidFill>
                          <a:latin typeface="Trebuchet MS" pitchFamily="34" charset="0"/>
                          <a:ea typeface="Trebuchet MS" pitchFamily="34" charset="-122"/>
                          <a:cs typeface="Trebuchet MS" pitchFamily="34" charset="-120"/>
                        </a:rPr>
                        <a:t>If you need to...</a:t>
                      </a:r>
                      <a:endParaRPr lang="en-US" sz="1100" dirty="0">
                        <a:latin typeface="Trebuchet MS" charset="0"/>
                        <a:ea typeface="Trebuchet MS" charset="0"/>
                        <a:cs typeface="Trebuchet M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E8722C"/>
                    </a:solidFill>
                  </a:tcPr>
                </a:tc>
                <a:tc>
                  <a:txBody>
                    <a:bodyPr/>
                    <a:lstStyle/>
                    <a:p>
                      <a:pPr marL="0" indent="0">
                        <a:buNone/>
                      </a:pPr>
                      <a:r>
                        <a:rPr lang="en-US" sz="1100" b="1" dirty="0">
                          <a:solidFill>
                            <a:srgbClr val="121519"/>
                          </a:solidFill>
                          <a:latin typeface="Trebuchet MS" pitchFamily="34" charset="0"/>
                          <a:ea typeface="Trebuchet MS" pitchFamily="34" charset="-122"/>
                          <a:cs typeface="Trebuchet MS" pitchFamily="34" charset="-120"/>
                        </a:rPr>
                        <a:t>Start with</a:t>
                      </a:r>
                      <a:endParaRPr lang="en-US" sz="1100" dirty="0">
                        <a:latin typeface="Trebuchet MS" charset="0"/>
                        <a:ea typeface="Trebuchet MS" charset="0"/>
                        <a:cs typeface="Trebuchet M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E8722C"/>
                    </a:solidFill>
                  </a:tcPr>
                </a:tc>
                <a:tc>
                  <a:txBody>
                    <a:bodyPr/>
                    <a:lstStyle/>
                    <a:p>
                      <a:pPr marL="0" indent="0">
                        <a:buNone/>
                      </a:pPr>
                      <a:r>
                        <a:rPr lang="en-US" sz="1100" b="1" dirty="0">
                          <a:solidFill>
                            <a:srgbClr val="121519"/>
                          </a:solidFill>
                          <a:latin typeface="Trebuchet MS" pitchFamily="34" charset="0"/>
                          <a:ea typeface="Trebuchet MS" pitchFamily="34" charset="-122"/>
                          <a:cs typeface="Trebuchet MS" pitchFamily="34" charset="-120"/>
                        </a:rPr>
                        <a:t>Why</a:t>
                      </a:r>
                      <a:endParaRPr lang="en-US" sz="1100" dirty="0">
                        <a:latin typeface="Trebuchet MS" charset="0"/>
                        <a:ea typeface="Trebuchet MS" charset="0"/>
                        <a:cs typeface="Trebuchet M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E8722C"/>
                    </a:solidFill>
                  </a:tcPr>
                </a:tc>
                <a:extLst>
                  <a:ext uri="{0D108BD9-81ED-4DB2-BD59-A6C34878D82A}">
                    <a16:rowId xmlns:a16="http://schemas.microsoft.com/office/drawing/2014/main" val="10000"/>
                  </a:ext>
                </a:extLst>
              </a:tr>
              <a:tr h="310896">
                <a:tc>
                  <a:txBody>
                    <a:bodyPr/>
                    <a:lstStyle/>
                    <a:p>
                      <a:pPr marL="0" indent="0">
                        <a:buNone/>
                      </a:pPr>
                      <a:r>
                        <a:rPr lang="en-US" sz="1050" dirty="0">
                          <a:solidFill>
                            <a:srgbClr val="F2A65A"/>
                          </a:solidFill>
                          <a:latin typeface="Calibri" pitchFamily="34" charset="0"/>
                          <a:ea typeface="Calibri" pitchFamily="34" charset="-122"/>
                          <a:cs typeface="Calibri" pitchFamily="34" charset="-120"/>
                        </a:rPr>
                        <a:t>Build a web or desktop trading UI</a:t>
                      </a:r>
                      <a:endParaRPr lang="en-US" sz="10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1050" dirty="0">
                          <a:solidFill>
                            <a:srgbClr val="D5DAE0"/>
                          </a:solidFill>
                          <a:latin typeface="Calibri" pitchFamily="34" charset="0"/>
                          <a:ea typeface="Calibri" pitchFamily="34" charset="-122"/>
                          <a:cs typeface="Calibri" pitchFamily="34" charset="-120"/>
                        </a:rPr>
                        <a:t>API gateway</a:t>
                      </a:r>
                      <a:endParaRPr lang="en-US" sz="10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1050" dirty="0">
                          <a:solidFill>
                            <a:srgbClr val="D5DAE0"/>
                          </a:solidFill>
                          <a:latin typeface="Calibri" pitchFamily="34" charset="0"/>
                          <a:ea typeface="Calibri" pitchFamily="34" charset="-122"/>
                          <a:cs typeface="Calibri" pitchFamily="34" charset="-120"/>
                        </a:rPr>
                        <a:t>JSON over HTTP, plus live WebSocket events</a:t>
                      </a:r>
                      <a:endParaRPr lang="en-US" sz="10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extLst>
                  <a:ext uri="{0D108BD9-81ED-4DB2-BD59-A6C34878D82A}">
                    <a16:rowId xmlns:a16="http://schemas.microsoft.com/office/drawing/2014/main" val="10001"/>
                  </a:ext>
                </a:extLst>
              </a:tr>
              <a:tr h="310896">
                <a:tc>
                  <a:txBody>
                    <a:bodyPr/>
                    <a:lstStyle/>
                    <a:p>
                      <a:pPr marL="0" indent="0">
                        <a:buNone/>
                      </a:pPr>
                      <a:r>
                        <a:rPr lang="en-US" sz="1050" dirty="0">
                          <a:solidFill>
                            <a:srgbClr val="F2A65A"/>
                          </a:solidFill>
                          <a:latin typeface="Calibri" pitchFamily="34" charset="0"/>
                          <a:ea typeface="Calibri" pitchFamily="34" charset="-122"/>
                          <a:cs typeface="Calibri" pitchFamily="34" charset="-120"/>
                        </a:rPr>
                        <a:t>Write a simple bot or teaching script</a:t>
                      </a:r>
                      <a:endParaRPr lang="en-US" sz="10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1050" dirty="0">
                          <a:solidFill>
                            <a:srgbClr val="D5DAE0"/>
                          </a:solidFill>
                          <a:latin typeface="Calibri" pitchFamily="34" charset="0"/>
                          <a:ea typeface="Calibri" pitchFamily="34" charset="-122"/>
                          <a:cs typeface="Calibri" pitchFamily="34" charset="-120"/>
                        </a:rPr>
                        <a:t>API gateway</a:t>
                      </a:r>
                      <a:endParaRPr lang="en-US" sz="10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1050" dirty="0">
                          <a:solidFill>
                            <a:srgbClr val="D5DAE0"/>
                          </a:solidFill>
                          <a:latin typeface="Calibri" pitchFamily="34" charset="0"/>
                          <a:ea typeface="Calibri" pitchFamily="34" charset="-122"/>
                          <a:cs typeface="Calibri" pitchFamily="34" charset="-120"/>
                        </a:rPr>
                        <a:t>Few lines of code, ready-made client examples</a:t>
                      </a:r>
                      <a:endParaRPr lang="en-US" sz="10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extLst>
                  <a:ext uri="{0D108BD9-81ED-4DB2-BD59-A6C34878D82A}">
                    <a16:rowId xmlns:a16="http://schemas.microsoft.com/office/drawing/2014/main" val="10002"/>
                  </a:ext>
                </a:extLst>
              </a:tr>
              <a:tr h="310896">
                <a:tc>
                  <a:txBody>
                    <a:bodyPr/>
                    <a:lstStyle/>
                    <a:p>
                      <a:pPr marL="0" indent="0">
                        <a:buNone/>
                      </a:pPr>
                      <a:r>
                        <a:rPr lang="en-US" sz="1050" dirty="0">
                          <a:solidFill>
                            <a:srgbClr val="F2A65A"/>
                          </a:solidFill>
                          <a:latin typeface="Calibri" pitchFamily="34" charset="0"/>
                          <a:ea typeface="Calibri" pitchFamily="34" charset="-122"/>
                          <a:cs typeface="Calibri" pitchFamily="34" charset="-120"/>
                        </a:rPr>
                        <a:t>Show a read-only price dashboard</a:t>
                      </a:r>
                      <a:endParaRPr lang="en-US" sz="10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1050" dirty="0">
                          <a:solidFill>
                            <a:srgbClr val="D5DAE0"/>
                          </a:solidFill>
                          <a:latin typeface="Calibri" pitchFamily="34" charset="0"/>
                          <a:ea typeface="Calibri" pitchFamily="34" charset="-122"/>
                          <a:cs typeface="Calibri" pitchFamily="34" charset="-120"/>
                        </a:rPr>
                        <a:t>API gateway</a:t>
                      </a:r>
                      <a:endParaRPr lang="en-US" sz="10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1050" dirty="0">
                          <a:solidFill>
                            <a:srgbClr val="D5DAE0"/>
                          </a:solidFill>
                          <a:latin typeface="Calibri" pitchFamily="34" charset="0"/>
                          <a:ea typeface="Calibri" pitchFamily="34" charset="-122"/>
                          <a:cs typeface="Calibri" pitchFamily="34" charset="-120"/>
                        </a:rPr>
                        <a:t>A read-only key streams public market data</a:t>
                      </a:r>
                      <a:endParaRPr lang="en-US" sz="10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extLst>
                  <a:ext uri="{0D108BD9-81ED-4DB2-BD59-A6C34878D82A}">
                    <a16:rowId xmlns:a16="http://schemas.microsoft.com/office/drawing/2014/main" val="10003"/>
                  </a:ext>
                </a:extLst>
              </a:tr>
              <a:tr h="310896">
                <a:tc>
                  <a:txBody>
                    <a:bodyPr/>
                    <a:lstStyle/>
                    <a:p>
                      <a:pPr marL="0" indent="0">
                        <a:buNone/>
                      </a:pPr>
                      <a:r>
                        <a:rPr lang="en-US" sz="1050" dirty="0">
                          <a:solidFill>
                            <a:srgbClr val="F2A65A"/>
                          </a:solidFill>
                          <a:latin typeface="Calibri" pitchFamily="34" charset="0"/>
                          <a:ea typeface="Calibri" pitchFamily="34" charset="-122"/>
                          <a:cs typeface="Calibri" pitchFamily="34" charset="-120"/>
                        </a:rPr>
                        <a:t>Enter orders by hand at a terminal</a:t>
                      </a:r>
                      <a:endParaRPr lang="en-US" sz="10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1050" dirty="0">
                          <a:solidFill>
                            <a:srgbClr val="D5DAE0"/>
                          </a:solidFill>
                          <a:latin typeface="Calibri" pitchFamily="34" charset="0"/>
                          <a:ea typeface="Calibri" pitchFamily="34" charset="-122"/>
                          <a:cs typeface="Calibri" pitchFamily="34" charset="-120"/>
                        </a:rPr>
                        <a:t>ALF console</a:t>
                      </a:r>
                      <a:endParaRPr lang="en-US" sz="10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1050" dirty="0">
                          <a:solidFill>
                            <a:srgbClr val="D5DAE0"/>
                          </a:solidFill>
                          <a:latin typeface="Calibri" pitchFamily="34" charset="0"/>
                          <a:ea typeface="Calibri" pitchFamily="34" charset="-122"/>
                          <a:cs typeface="Calibri" pitchFamily="34" charset="-120"/>
                        </a:rPr>
                        <a:t>Interactive, readable command syntax</a:t>
                      </a:r>
                      <a:endParaRPr lang="en-US" sz="10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extLst>
                  <a:ext uri="{0D108BD9-81ED-4DB2-BD59-A6C34878D82A}">
                    <a16:rowId xmlns:a16="http://schemas.microsoft.com/office/drawing/2014/main" val="10004"/>
                  </a:ext>
                </a:extLst>
              </a:tr>
              <a:tr h="310896">
                <a:tc>
                  <a:txBody>
                    <a:bodyPr/>
                    <a:lstStyle/>
                    <a:p>
                      <a:pPr marL="0" indent="0">
                        <a:buNone/>
                      </a:pPr>
                      <a:r>
                        <a:rPr lang="en-US" sz="1050" dirty="0">
                          <a:solidFill>
                            <a:srgbClr val="F2A65A"/>
                          </a:solidFill>
                          <a:latin typeface="Calibri" pitchFamily="34" charset="0"/>
                          <a:ea typeface="Calibri" pitchFamily="34" charset="-122"/>
                          <a:cs typeface="Calibri" pitchFamily="34" charset="-120"/>
                        </a:rPr>
                        <a:t>Run a low-latency programmatic strategy</a:t>
                      </a:r>
                      <a:endParaRPr lang="en-US" sz="10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1050" dirty="0">
                          <a:solidFill>
                            <a:srgbClr val="D5DAE0"/>
                          </a:solidFill>
                          <a:latin typeface="Calibri" pitchFamily="34" charset="0"/>
                          <a:ea typeface="Calibri" pitchFamily="34" charset="-122"/>
                          <a:cs typeface="Calibri" pitchFamily="34" charset="-120"/>
                        </a:rPr>
                        <a:t>BALF</a:t>
                      </a:r>
                      <a:endParaRPr lang="en-US" sz="10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1050" dirty="0">
                          <a:solidFill>
                            <a:srgbClr val="D5DAE0"/>
                          </a:solidFill>
                          <a:latin typeface="Calibri" pitchFamily="34" charset="0"/>
                          <a:ea typeface="Calibri" pitchFamily="34" charset="-122"/>
                          <a:cs typeface="Calibri" pitchFamily="34" charset="-120"/>
                        </a:rPr>
                        <a:t>Compact binary framing, less parsing overhead</a:t>
                      </a:r>
                      <a:endParaRPr lang="en-US" sz="10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extLst>
                  <a:ext uri="{0D108BD9-81ED-4DB2-BD59-A6C34878D82A}">
                    <a16:rowId xmlns:a16="http://schemas.microsoft.com/office/drawing/2014/main" val="10005"/>
                  </a:ext>
                </a:extLst>
              </a:tr>
              <a:tr h="310896">
                <a:tc>
                  <a:txBody>
                    <a:bodyPr/>
                    <a:lstStyle/>
                    <a:p>
                      <a:pPr marL="0" indent="0">
                        <a:buNone/>
                      </a:pPr>
                      <a:r>
                        <a:rPr lang="en-US" sz="1050" dirty="0">
                          <a:solidFill>
                            <a:srgbClr val="F2A65A"/>
                          </a:solidFill>
                          <a:latin typeface="Calibri" pitchFamily="34" charset="0"/>
                          <a:ea typeface="Calibri" pitchFamily="34" charset="-122"/>
                          <a:cs typeface="Calibri" pitchFamily="34" charset="-120"/>
                        </a:rPr>
                        <a:t>Consume a full external market-data feed</a:t>
                      </a:r>
                      <a:endParaRPr lang="en-US" sz="10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1050" dirty="0">
                          <a:solidFill>
                            <a:srgbClr val="D5DAE0"/>
                          </a:solidFill>
                          <a:latin typeface="Calibri" pitchFamily="34" charset="0"/>
                          <a:ea typeface="Calibri" pitchFamily="34" charset="-122"/>
                          <a:cs typeface="Calibri" pitchFamily="34" charset="-120"/>
                        </a:rPr>
                        <a:t>CALF</a:t>
                      </a:r>
                      <a:endParaRPr lang="en-US" sz="10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1050" dirty="0">
                          <a:solidFill>
                            <a:srgbClr val="D5DAE0"/>
                          </a:solidFill>
                          <a:latin typeface="Calibri" pitchFamily="34" charset="0"/>
                          <a:ea typeface="Calibri" pitchFamily="34" charset="-122"/>
                          <a:cs typeface="Calibri" pitchFamily="34" charset="-120"/>
                        </a:rPr>
                        <a:t>Sequence-aware channels and recovery</a:t>
                      </a:r>
                      <a:endParaRPr lang="en-US" sz="10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extLst>
                  <a:ext uri="{0D108BD9-81ED-4DB2-BD59-A6C34878D82A}">
                    <a16:rowId xmlns:a16="http://schemas.microsoft.com/office/drawing/2014/main" val="10006"/>
                  </a:ext>
                </a:extLst>
              </a:tr>
              <a:tr h="310896">
                <a:tc>
                  <a:txBody>
                    <a:bodyPr/>
                    <a:lstStyle/>
                    <a:p>
                      <a:pPr marL="0" indent="0">
                        <a:buNone/>
                      </a:pPr>
                      <a:r>
                        <a:rPr lang="en-US" sz="1050" dirty="0">
                          <a:solidFill>
                            <a:srgbClr val="F2A65A"/>
                          </a:solidFill>
                          <a:latin typeface="Calibri" pitchFamily="34" charset="0"/>
                          <a:ea typeface="Calibri" pitchFamily="34" charset="-122"/>
                          <a:cs typeface="Calibri" pitchFamily="34" charset="-120"/>
                        </a:rPr>
                        <a:t>Feed clearing, drop-copy or audit systems</a:t>
                      </a:r>
                      <a:endParaRPr lang="en-US" sz="10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1050" dirty="0">
                          <a:solidFill>
                            <a:srgbClr val="D5DAE0"/>
                          </a:solidFill>
                          <a:latin typeface="Calibri" pitchFamily="34" charset="0"/>
                          <a:ea typeface="Calibri" pitchFamily="34" charset="-122"/>
                          <a:cs typeface="Calibri" pitchFamily="34" charset="-120"/>
                        </a:rPr>
                        <a:t>RALF</a:t>
                      </a:r>
                      <a:endParaRPr lang="en-US" sz="10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1050" dirty="0">
                          <a:solidFill>
                            <a:srgbClr val="D5DAE0"/>
                          </a:solidFill>
                          <a:latin typeface="Calibri" pitchFamily="34" charset="0"/>
                          <a:ea typeface="Calibri" pitchFamily="34" charset="-122"/>
                          <a:cs typeface="Calibri" pitchFamily="34" charset="-120"/>
                        </a:rPr>
                        <a:t>Role-based post-trade streams with replay</a:t>
                      </a:r>
                      <a:endParaRPr lang="en-US" sz="10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extLst>
                  <a:ext uri="{0D108BD9-81ED-4DB2-BD59-A6C34878D82A}">
                    <a16:rowId xmlns:a16="http://schemas.microsoft.com/office/drawing/2014/main" val="10007"/>
                  </a:ext>
                </a:extLst>
              </a:tr>
            </a:tbl>
          </a:graphicData>
        </a:graphic>
      </p:graphicFrame>
      <p:sp>
        <p:nvSpPr>
          <p:cNvPr id="5" name="Text 2"/>
          <p:cNvSpPr/>
          <p:nvPr/>
        </p:nvSpPr>
        <p:spPr>
          <a:xfrm>
            <a:off x="502920" y="4224528"/>
            <a:ext cx="8138160" cy="384048"/>
          </a:xfrm>
          <a:prstGeom prst="rect">
            <a:avLst/>
          </a:prstGeom>
          <a:noFill/>
          <a:ln/>
        </p:spPr>
        <p:txBody>
          <a:bodyPr wrap="square" lIns="0" tIns="0" rIns="0" bIns="0" rtlCol="0" anchor="t"/>
          <a:lstStyle/>
          <a:p>
            <a:pPr marL="0" indent="0" algn="l">
              <a:buNone/>
            </a:pPr>
            <a:r>
              <a:rPr lang="en-US" sz="1200" i="1" dirty="0">
                <a:solidFill>
                  <a:srgbClr val="F2A65A"/>
                </a:solidFill>
                <a:latin typeface="Calibri" pitchFamily="34" charset="0"/>
                <a:ea typeface="Calibri" pitchFamily="34" charset="-122"/>
                <a:cs typeface="Calibri" pitchFamily="34" charset="-120"/>
              </a:rPr>
              <a:t>Rule of thumb for beginners: if your program can make an HTTP request, the API gateway is the right starting point.</a:t>
            </a:r>
            <a:endParaRPr lang="en-US" sz="1200" dirty="0"/>
          </a:p>
        </p:txBody>
      </p:sp>
      <p:sp>
        <p:nvSpPr>
          <p:cNvPr id="6" name="Text 3"/>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Orientation</a:t>
            </a:r>
            <a:endParaRPr lang="en-US" sz="900" dirty="0"/>
          </a:p>
        </p:txBody>
      </p:sp>
      <p:sp>
        <p:nvSpPr>
          <p:cNvPr id="7" name="Text 4"/>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ide band">
            <a:extLst>
              <a:ext uri="{C183D7F6-B498-43B3-948B-1728B52AA6E4}">
                <adec:decorative xmlns:adec="http://schemas.microsoft.com/office/drawing/2017/decorative" val="1"/>
              </a:ext>
            </a:extLst>
          </p:cNvPr>
          <p:cNvSpPr/>
          <p:nvPr/>
        </p:nvSpPr>
        <p:spPr>
          <a:xfrm>
            <a:off x="0" y="0"/>
            <a:ext cx="384048" cy="5143500"/>
          </a:xfrm>
          <a:prstGeom prst="rect">
            <a:avLst/>
          </a:prstGeom>
          <a:solidFill>
            <a:srgbClr val="E8722C"/>
          </a:solidFill>
          <a:ln w="12700">
            <a:solidFill>
              <a:srgbClr val="E8722C"/>
            </a:solidFill>
            <a:prstDash val="solid"/>
          </a:ln>
        </p:spPr>
        <p:txBody>
          <a:bodyPr/>
          <a:lstStyle/>
          <a:p>
            <a:endParaRPr lang="en-SE"/>
          </a:p>
        </p:txBody>
      </p:sp>
      <p:sp>
        <p:nvSpPr>
          <p:cNvPr id="3" name="Text 1"/>
          <p:cNvSpPr/>
          <p:nvPr/>
        </p:nvSpPr>
        <p:spPr>
          <a:xfrm>
            <a:off x="960120" y="1371600"/>
            <a:ext cx="2743200" cy="822960"/>
          </a:xfrm>
          <a:prstGeom prst="rect">
            <a:avLst/>
          </a:prstGeom>
          <a:noFill/>
          <a:ln/>
        </p:spPr>
        <p:txBody>
          <a:bodyPr wrap="square" lIns="0" tIns="0" rIns="0" bIns="0" rtlCol="0" anchor="ctr"/>
          <a:lstStyle/>
          <a:p>
            <a:pPr marL="0" indent="0">
              <a:buNone/>
            </a:pPr>
            <a:r>
              <a:rPr lang="en-US" sz="6200" b="1" dirty="0">
                <a:solidFill>
                  <a:srgbClr val="2E353D"/>
                </a:solidFill>
                <a:latin typeface="Trebuchet MS" pitchFamily="34" charset="0"/>
                <a:ea typeface="Trebuchet MS" pitchFamily="34" charset="-122"/>
                <a:cs typeface="Trebuchet MS" pitchFamily="34" charset="-120"/>
              </a:rPr>
              <a:t>02</a:t>
            </a:r>
            <a:endParaRPr lang="en-US" sz="6200" dirty="0"/>
          </a:p>
        </p:txBody>
      </p:sp>
      <p:sp>
        <p:nvSpPr>
          <p:cNvPr id="4" name="Text 0"/>
          <p:cNvSpPr>
            <a:spLocks noGrp="1"/>
          </p:cNvSpPr>
          <p:nvPr>
            <p:ph type="title" idx="100" hasCustomPrompt="1"/>
          </p:nvPr>
        </p:nvSpPr>
        <p:spPr>
          <a:xfrm>
            <a:off x="1005840" y="2148840"/>
            <a:ext cx="7132320" cy="914400"/>
          </a:xfrm>
          <a:prstGeom prst="rect">
            <a:avLst/>
          </a:prstGeom>
          <a:noFill/>
          <a:ln/>
        </p:spPr>
        <p:txBody>
          <a:bodyPr wrap="square" lIns="0" tIns="0" rIns="0" bIns="0" rtlCol="0"/>
          <a:lstStyle/>
          <a:p>
            <a:pPr marL="0" indent="0" algn="l">
              <a:buNone/>
            </a:pPr>
            <a:r>
              <a:rPr lang="en-US" sz="3600" b="1" dirty="0">
                <a:solidFill>
                  <a:srgbClr val="F3F5F7"/>
                </a:solidFill>
                <a:latin typeface="Trebuchet MS" pitchFamily="34" charset="0"/>
                <a:ea typeface="Trebuchet MS" pitchFamily="34" charset="-122"/>
                <a:cs typeface="Trebuchet MS" pitchFamily="34" charset="-120"/>
              </a:rPr>
              <a:t>REST and WebSocket</a:t>
            </a:r>
            <a:endParaRPr lang="en-US" sz="3600" dirty="0"/>
          </a:p>
        </p:txBody>
      </p:sp>
      <p:sp>
        <p:nvSpPr>
          <p:cNvPr id="5" name="Text 3"/>
          <p:cNvSpPr/>
          <p:nvPr/>
        </p:nvSpPr>
        <p:spPr>
          <a:xfrm>
            <a:off x="1024128" y="3108960"/>
            <a:ext cx="6949440" cy="731520"/>
          </a:xfrm>
          <a:prstGeom prst="rect">
            <a:avLst/>
          </a:prstGeom>
          <a:noFill/>
          <a:ln/>
        </p:spPr>
        <p:txBody>
          <a:bodyPr wrap="square" lIns="0" tIns="0" rIns="0" bIns="0" rtlCol="0" anchor="ctr"/>
          <a:lstStyle/>
          <a:p>
            <a:pPr marL="0" indent="0">
              <a:buNone/>
            </a:pPr>
            <a:r>
              <a:rPr lang="en-US" sz="1400" dirty="0">
                <a:solidFill>
                  <a:srgbClr val="97A1AC"/>
                </a:solidFill>
                <a:latin typeface="Calibri" pitchFamily="34" charset="0"/>
                <a:ea typeface="Calibri" pitchFamily="34" charset="-122"/>
                <a:cs typeface="Calibri" pitchFamily="34" charset="-120"/>
              </a:rPr>
              <a:t>Two doors into the exchange — and a simple rule for choosing between them</a:t>
            </a:r>
            <a:endParaRPr lang="en-US" sz="1400" dirty="0"/>
          </a:p>
        </p:txBody>
      </p:sp>
      <p:sp>
        <p:nvSpPr>
          <p:cNvPr id="6" name="Text 4"/>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REST and WebSocket</a:t>
            </a:r>
            <a:endParaRPr lang="en-US" sz="900" dirty="0"/>
          </a:p>
        </p:txBody>
      </p:sp>
      <p:sp>
        <p:nvSpPr>
          <p:cNvPr id="7" name="Text 5"/>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8138160" cy="548640"/>
          </a:xfrm>
          <a:prstGeom prst="rect">
            <a:avLst/>
          </a:prstGeom>
          <a:noFill/>
          <a:ln/>
        </p:spPr>
        <p:txBody>
          <a:bodyPr wrap="square" lIns="0" tIns="0" rIns="0" bIns="0" rtlCol="0" anchor="ctr"/>
          <a:lstStyle/>
          <a:p>
            <a:pPr marL="0" indent="0">
              <a:buNone/>
            </a:pPr>
            <a:r>
              <a:rPr lang="en-US" sz="2700" b="1" dirty="0">
                <a:solidFill>
                  <a:srgbClr val="F3F5F7"/>
                </a:solidFill>
                <a:latin typeface="Trebuchet MS" pitchFamily="34" charset="0"/>
                <a:ea typeface="Trebuchet MS" pitchFamily="34" charset="-122"/>
                <a:cs typeface="Trebuchet MS" pitchFamily="34" charset="-120"/>
              </a:rPr>
              <a:t>Two conversation styles</a:t>
            </a:r>
            <a:endParaRPr lang="en-US" sz="2700" dirty="0"/>
          </a:p>
        </p:txBody>
      </p:sp>
      <p:sp>
        <p:nvSpPr>
          <p:cNvPr id="3" name="Text 1"/>
          <p:cNvSpPr/>
          <p:nvPr/>
        </p:nvSpPr>
        <p:spPr>
          <a:xfrm>
            <a:off x="502920" y="841248"/>
            <a:ext cx="8138160" cy="237744"/>
          </a:xfrm>
          <a:prstGeom prst="rect">
            <a:avLst/>
          </a:prstGeom>
          <a:noFill/>
          <a:ln/>
        </p:spPr>
        <p:txBody>
          <a:bodyPr wrap="square" lIns="0" tIns="0" rIns="0" bIns="0" rtlCol="0" anchor="ctr"/>
          <a:lstStyle/>
          <a:p>
            <a:pPr marL="0" indent="0">
              <a:buNone/>
            </a:pPr>
            <a:r>
              <a:rPr lang="en-US" sz="1100" b="1" kern="0" spc="200" dirty="0">
                <a:solidFill>
                  <a:srgbClr val="E8722C"/>
                </a:solidFill>
                <a:latin typeface="Calibri" pitchFamily="34" charset="0"/>
                <a:ea typeface="Calibri" pitchFamily="34" charset="-122"/>
                <a:cs typeface="Calibri" pitchFamily="34" charset="-120"/>
              </a:rPr>
              <a:t>MENTAL MODEL</a:t>
            </a:r>
            <a:endParaRPr lang="en-US" sz="1100" dirty="0"/>
          </a:p>
        </p:txBody>
      </p:sp>
      <p:sp>
        <p:nvSpPr>
          <p:cNvPr id="4" name="card background">
            <a:extLst>
              <a:ext uri="{C183D7F6-B498-43B3-948B-1728B52AA6E4}">
                <adec:decorative xmlns:adec="http://schemas.microsoft.com/office/drawing/2017/decorative" val="1"/>
              </a:ext>
            </a:extLst>
          </p:cNvPr>
          <p:cNvSpPr/>
          <p:nvPr/>
        </p:nvSpPr>
        <p:spPr>
          <a:xfrm>
            <a:off x="502920" y="1234440"/>
            <a:ext cx="3959352" cy="3383280"/>
          </a:xfrm>
          <a:prstGeom prst="roundRect">
            <a:avLst>
              <a:gd name="adj" fmla="val 1622"/>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5" name="card top edge">
            <a:extLst>
              <a:ext uri="{C183D7F6-B498-43B3-948B-1728B52AA6E4}">
                <adec:decorative xmlns:adec="http://schemas.microsoft.com/office/drawing/2017/decorative" val="1"/>
              </a:ext>
            </a:extLst>
          </p:cNvPr>
          <p:cNvSpPr/>
          <p:nvPr/>
        </p:nvSpPr>
        <p:spPr>
          <a:xfrm>
            <a:off x="502920" y="1234440"/>
            <a:ext cx="3959352" cy="73152"/>
          </a:xfrm>
          <a:prstGeom prst="rect">
            <a:avLst/>
          </a:prstGeom>
          <a:solidFill>
            <a:srgbClr val="E8722C"/>
          </a:solidFill>
          <a:ln w="12700">
            <a:solidFill>
              <a:srgbClr val="E8722C"/>
            </a:solidFill>
            <a:prstDash val="solid"/>
          </a:ln>
        </p:spPr>
        <p:txBody>
          <a:bodyPr/>
          <a:lstStyle/>
          <a:p>
            <a:endParaRPr lang="en-SE"/>
          </a:p>
        </p:txBody>
      </p:sp>
      <p:sp>
        <p:nvSpPr>
          <p:cNvPr id="6" name="Text 4"/>
          <p:cNvSpPr/>
          <p:nvPr/>
        </p:nvSpPr>
        <p:spPr>
          <a:xfrm>
            <a:off x="740664" y="1453896"/>
            <a:ext cx="3502152" cy="365760"/>
          </a:xfrm>
          <a:prstGeom prst="rect">
            <a:avLst/>
          </a:prstGeom>
          <a:noFill/>
          <a:ln/>
        </p:spPr>
        <p:txBody>
          <a:bodyPr wrap="square" lIns="0" tIns="0" rIns="0" bIns="0" rtlCol="0" anchor="ctr"/>
          <a:lstStyle/>
          <a:p>
            <a:pPr marL="0" indent="0">
              <a:buNone/>
            </a:pPr>
            <a:r>
              <a:rPr lang="en-US" sz="1700" b="1" dirty="0">
                <a:solidFill>
                  <a:srgbClr val="E8722C"/>
                </a:solidFill>
                <a:latin typeface="Trebuchet MS" pitchFamily="34" charset="0"/>
                <a:ea typeface="Trebuchet MS" pitchFamily="34" charset="-122"/>
                <a:cs typeface="Trebuchet MS" pitchFamily="34" charset="-120"/>
              </a:rPr>
              <a:t>REST — the request</a:t>
            </a:r>
            <a:endParaRPr lang="en-US" sz="1700" dirty="0"/>
          </a:p>
        </p:txBody>
      </p:sp>
      <p:sp>
        <p:nvSpPr>
          <p:cNvPr id="7" name="Text 5"/>
          <p:cNvSpPr/>
          <p:nvPr/>
        </p:nvSpPr>
        <p:spPr>
          <a:xfrm>
            <a:off x="740664" y="1819656"/>
            <a:ext cx="3502152" cy="274320"/>
          </a:xfrm>
          <a:prstGeom prst="rect">
            <a:avLst/>
          </a:prstGeom>
          <a:noFill/>
          <a:ln/>
        </p:spPr>
        <p:txBody>
          <a:bodyPr wrap="square" lIns="0" tIns="0" rIns="0" bIns="0" rtlCol="0" anchor="ctr"/>
          <a:lstStyle/>
          <a:p>
            <a:pPr marL="0" indent="0">
              <a:buNone/>
            </a:pPr>
            <a:r>
              <a:rPr lang="en-US" sz="1100" i="1" dirty="0">
                <a:solidFill>
                  <a:srgbClr val="97A1AC"/>
                </a:solidFill>
                <a:latin typeface="Calibri" pitchFamily="34" charset="0"/>
                <a:ea typeface="Calibri" pitchFamily="34" charset="-122"/>
                <a:cs typeface="Calibri" pitchFamily="34" charset="-120"/>
              </a:rPr>
              <a:t>You ask, the gateway answers, the conversation ends</a:t>
            </a:r>
            <a:endParaRPr lang="en-US" sz="1100" dirty="0"/>
          </a:p>
        </p:txBody>
      </p:sp>
      <p:sp>
        <p:nvSpPr>
          <p:cNvPr id="8" name="Text 6"/>
          <p:cNvSpPr/>
          <p:nvPr/>
        </p:nvSpPr>
        <p:spPr>
          <a:xfrm>
            <a:off x="740664" y="2167128"/>
            <a:ext cx="3502152" cy="2267712"/>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One question, one answer, then the connection is done</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Perfect for actions you initiate: submit, cancel, amend, look up</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Every call carries your API key in a header</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Result arrives as an HTTP status code plus a JSON body</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Easy to test with a browser, curl or any HTTP library</a:t>
            </a:r>
            <a:endParaRPr lang="en-US" sz="1150" dirty="0"/>
          </a:p>
        </p:txBody>
      </p:sp>
      <p:sp>
        <p:nvSpPr>
          <p:cNvPr id="9" name="card background">
            <a:extLst>
              <a:ext uri="{C183D7F6-B498-43B3-948B-1728B52AA6E4}">
                <adec:decorative xmlns:adec="http://schemas.microsoft.com/office/drawing/2017/decorative" val="1"/>
              </a:ext>
            </a:extLst>
          </p:cNvPr>
          <p:cNvSpPr/>
          <p:nvPr/>
        </p:nvSpPr>
        <p:spPr>
          <a:xfrm>
            <a:off x="4681728" y="1234440"/>
            <a:ext cx="3959352" cy="3383280"/>
          </a:xfrm>
          <a:prstGeom prst="roundRect">
            <a:avLst>
              <a:gd name="adj" fmla="val 1622"/>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0" name="card top edge">
            <a:extLst>
              <a:ext uri="{C183D7F6-B498-43B3-948B-1728B52AA6E4}">
                <adec:decorative xmlns:adec="http://schemas.microsoft.com/office/drawing/2017/decorative" val="1"/>
              </a:ext>
            </a:extLst>
          </p:cNvPr>
          <p:cNvSpPr/>
          <p:nvPr/>
        </p:nvSpPr>
        <p:spPr>
          <a:xfrm>
            <a:off x="4681728" y="1234440"/>
            <a:ext cx="3959352" cy="73152"/>
          </a:xfrm>
          <a:prstGeom prst="rect">
            <a:avLst/>
          </a:prstGeom>
          <a:solidFill>
            <a:srgbClr val="35A79C"/>
          </a:solidFill>
          <a:ln w="12700">
            <a:solidFill>
              <a:srgbClr val="35A79C"/>
            </a:solidFill>
            <a:prstDash val="solid"/>
          </a:ln>
        </p:spPr>
        <p:txBody>
          <a:bodyPr/>
          <a:lstStyle/>
          <a:p>
            <a:endParaRPr lang="en-SE"/>
          </a:p>
        </p:txBody>
      </p:sp>
      <p:sp>
        <p:nvSpPr>
          <p:cNvPr id="11" name="Text 9"/>
          <p:cNvSpPr/>
          <p:nvPr/>
        </p:nvSpPr>
        <p:spPr>
          <a:xfrm>
            <a:off x="4919472" y="1453896"/>
            <a:ext cx="3502152" cy="365760"/>
          </a:xfrm>
          <a:prstGeom prst="rect">
            <a:avLst/>
          </a:prstGeom>
          <a:noFill/>
          <a:ln/>
        </p:spPr>
        <p:txBody>
          <a:bodyPr wrap="square" lIns="0" tIns="0" rIns="0" bIns="0" rtlCol="0" anchor="ctr"/>
          <a:lstStyle/>
          <a:p>
            <a:pPr marL="0" indent="0">
              <a:buNone/>
            </a:pPr>
            <a:r>
              <a:rPr lang="en-US" sz="1700" b="1" dirty="0">
                <a:solidFill>
                  <a:srgbClr val="35A79C"/>
                </a:solidFill>
                <a:latin typeface="Trebuchet MS" pitchFamily="34" charset="0"/>
                <a:ea typeface="Trebuchet MS" pitchFamily="34" charset="-122"/>
                <a:cs typeface="Trebuchet MS" pitchFamily="34" charset="-120"/>
              </a:rPr>
              <a:t>WebSocket — the stream</a:t>
            </a:r>
            <a:endParaRPr lang="en-US" sz="1700" dirty="0"/>
          </a:p>
        </p:txBody>
      </p:sp>
      <p:sp>
        <p:nvSpPr>
          <p:cNvPr id="12" name="Text 10"/>
          <p:cNvSpPr/>
          <p:nvPr/>
        </p:nvSpPr>
        <p:spPr>
          <a:xfrm>
            <a:off x="4919472" y="1819656"/>
            <a:ext cx="3502152" cy="274320"/>
          </a:xfrm>
          <a:prstGeom prst="rect">
            <a:avLst/>
          </a:prstGeom>
          <a:noFill/>
          <a:ln/>
        </p:spPr>
        <p:txBody>
          <a:bodyPr wrap="square" lIns="0" tIns="0" rIns="0" bIns="0" rtlCol="0" anchor="ctr"/>
          <a:lstStyle/>
          <a:p>
            <a:pPr marL="0" indent="0">
              <a:buNone/>
            </a:pPr>
            <a:r>
              <a:rPr lang="en-US" sz="1100" i="1" dirty="0">
                <a:solidFill>
                  <a:srgbClr val="97A1AC"/>
                </a:solidFill>
                <a:latin typeface="Calibri" pitchFamily="34" charset="0"/>
                <a:ea typeface="Calibri" pitchFamily="34" charset="-122"/>
                <a:cs typeface="Calibri" pitchFamily="34" charset="-120"/>
              </a:rPr>
              <a:t>You connect once and the exchange keeps talking</a:t>
            </a:r>
            <a:endParaRPr lang="en-US" sz="1100" dirty="0"/>
          </a:p>
        </p:txBody>
      </p:sp>
      <p:sp>
        <p:nvSpPr>
          <p:cNvPr id="13" name="Text 11"/>
          <p:cNvSpPr/>
          <p:nvPr/>
        </p:nvSpPr>
        <p:spPr>
          <a:xfrm>
            <a:off x="4919472" y="2167128"/>
            <a:ext cx="3502152" cy="2267712"/>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The connection stays open for the whole session</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Perfect for things the exchange initiates: fills, price changes, halts</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You authenticate once with a first JSON message</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Events arrive whenever they happen — no polling</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One stream can feed an entire screen of live widgets</a:t>
            </a:r>
            <a:endParaRPr lang="en-US" sz="1150" dirty="0"/>
          </a:p>
        </p:txBody>
      </p:sp>
      <p:sp>
        <p:nvSpPr>
          <p:cNvPr id="14" name="Text 12"/>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REST and WebSocket</a:t>
            </a:r>
            <a:endParaRPr lang="en-US" sz="900" dirty="0"/>
          </a:p>
        </p:txBody>
      </p:sp>
      <p:sp>
        <p:nvSpPr>
          <p:cNvPr id="15" name="Text 13"/>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8138160" cy="548640"/>
          </a:xfrm>
          <a:prstGeom prst="rect">
            <a:avLst/>
          </a:prstGeom>
          <a:noFill/>
          <a:ln/>
        </p:spPr>
        <p:txBody>
          <a:bodyPr wrap="square" lIns="0" tIns="0" rIns="0" bIns="0" rtlCol="0" anchor="ctr"/>
          <a:lstStyle/>
          <a:p>
            <a:pPr marL="0" indent="0">
              <a:buNone/>
            </a:pPr>
            <a:r>
              <a:rPr lang="en-US" sz="2700" b="1" dirty="0">
                <a:solidFill>
                  <a:srgbClr val="F3F5F7"/>
                </a:solidFill>
                <a:latin typeface="Trebuchet MS" pitchFamily="34" charset="0"/>
                <a:ea typeface="Trebuchet MS" pitchFamily="34" charset="-122"/>
                <a:cs typeface="Trebuchet MS" pitchFamily="34" charset="-120"/>
              </a:rPr>
              <a:t>Push versus pull, illustrated</a:t>
            </a:r>
            <a:endParaRPr lang="en-US" sz="2700" dirty="0"/>
          </a:p>
        </p:txBody>
      </p:sp>
      <p:sp>
        <p:nvSpPr>
          <p:cNvPr id="3" name="Text 1"/>
          <p:cNvSpPr/>
          <p:nvPr/>
        </p:nvSpPr>
        <p:spPr>
          <a:xfrm>
            <a:off x="502920" y="841248"/>
            <a:ext cx="8138160" cy="237744"/>
          </a:xfrm>
          <a:prstGeom prst="rect">
            <a:avLst/>
          </a:prstGeom>
          <a:noFill/>
          <a:ln/>
        </p:spPr>
        <p:txBody>
          <a:bodyPr wrap="square" lIns="0" tIns="0" rIns="0" bIns="0" rtlCol="0" anchor="ctr"/>
          <a:lstStyle/>
          <a:p>
            <a:pPr marL="0" indent="0">
              <a:buNone/>
            </a:pPr>
            <a:r>
              <a:rPr lang="en-US" sz="1100" b="1" kern="0" spc="200" dirty="0">
                <a:solidFill>
                  <a:srgbClr val="E8722C"/>
                </a:solidFill>
                <a:latin typeface="Calibri" pitchFamily="34" charset="0"/>
                <a:ea typeface="Calibri" pitchFamily="34" charset="-122"/>
                <a:cs typeface="Calibri" pitchFamily="34" charset="-120"/>
              </a:rPr>
              <a:t>CONTRAST</a:t>
            </a:r>
            <a:endParaRPr lang="en-US" sz="1100" dirty="0"/>
          </a:p>
        </p:txBody>
      </p:sp>
      <p:sp>
        <p:nvSpPr>
          <p:cNvPr id="4" name="card background">
            <a:extLst>
              <a:ext uri="{C183D7F6-B498-43B3-948B-1728B52AA6E4}">
                <adec:decorative xmlns:adec="http://schemas.microsoft.com/office/drawing/2017/decorative" val="1"/>
              </a:ext>
            </a:extLst>
          </p:cNvPr>
          <p:cNvSpPr/>
          <p:nvPr/>
        </p:nvSpPr>
        <p:spPr>
          <a:xfrm>
            <a:off x="502920" y="1207008"/>
            <a:ext cx="8138160" cy="1463040"/>
          </a:xfrm>
          <a:prstGeom prst="roundRect">
            <a:avLst>
              <a:gd name="adj" fmla="val 375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5" name="Text 3"/>
          <p:cNvSpPr/>
          <p:nvPr/>
        </p:nvSpPr>
        <p:spPr>
          <a:xfrm>
            <a:off x="713232" y="1298448"/>
            <a:ext cx="2743200" cy="292608"/>
          </a:xfrm>
          <a:prstGeom prst="rect">
            <a:avLst/>
          </a:prstGeom>
          <a:noFill/>
          <a:ln/>
        </p:spPr>
        <p:txBody>
          <a:bodyPr wrap="square" lIns="0" tIns="0" rIns="0" bIns="0" rtlCol="0" anchor="ctr"/>
          <a:lstStyle/>
          <a:p>
            <a:pPr marL="0" indent="0">
              <a:buNone/>
            </a:pPr>
            <a:r>
              <a:rPr lang="en-US" sz="1400" b="1" dirty="0">
                <a:solidFill>
                  <a:srgbClr val="E8722C"/>
                </a:solidFill>
                <a:latin typeface="Trebuchet MS" pitchFamily="34" charset="0"/>
                <a:ea typeface="Trebuchet MS" pitchFamily="34" charset="-122"/>
                <a:cs typeface="Trebuchet MS" pitchFamily="34" charset="-120"/>
              </a:rPr>
              <a:t>REST  ·  you pull</a:t>
            </a:r>
            <a:endParaRPr lang="en-US" sz="1400" dirty="0"/>
          </a:p>
        </p:txBody>
      </p:sp>
      <p:sp>
        <p:nvSpPr>
          <p:cNvPr id="6" name="message box">
            <a:extLst>
              <a:ext uri="{C183D7F6-B498-43B3-948B-1728B52AA6E4}">
                <adec:decorative xmlns:adec="http://schemas.microsoft.com/office/drawing/2017/decorative" val="1"/>
              </a:ext>
            </a:extLst>
          </p:cNvPr>
          <p:cNvSpPr/>
          <p:nvPr/>
        </p:nvSpPr>
        <p:spPr>
          <a:xfrm>
            <a:off x="713232" y="1700784"/>
            <a:ext cx="1188720" cy="457200"/>
          </a:xfrm>
          <a:prstGeom prst="roundRect">
            <a:avLst>
              <a:gd name="adj" fmla="val 10000"/>
            </a:avLst>
          </a:prstGeom>
          <a:solidFill>
            <a:srgbClr val="2E353D"/>
          </a:solidFill>
          <a:ln w="12700">
            <a:solidFill>
              <a:srgbClr val="3A424B"/>
            </a:solidFill>
            <a:prstDash val="solid"/>
          </a:ln>
        </p:spPr>
        <p:txBody>
          <a:bodyPr/>
          <a:lstStyle/>
          <a:p>
            <a:endParaRPr lang="en-SE"/>
          </a:p>
        </p:txBody>
      </p:sp>
      <p:sp>
        <p:nvSpPr>
          <p:cNvPr id="7" name="Text 5"/>
          <p:cNvSpPr/>
          <p:nvPr/>
        </p:nvSpPr>
        <p:spPr>
          <a:xfrm>
            <a:off x="713232" y="1700784"/>
            <a:ext cx="1188720" cy="457200"/>
          </a:xfrm>
          <a:prstGeom prst="rect">
            <a:avLst/>
          </a:prstGeom>
          <a:noFill/>
          <a:ln/>
        </p:spPr>
        <p:txBody>
          <a:bodyPr wrap="square" lIns="0" tIns="0" rIns="0" bIns="0" rtlCol="0" anchor="ctr"/>
          <a:lstStyle/>
          <a:p>
            <a:pPr marL="0" indent="0" algn="ctr">
              <a:buNone/>
            </a:pPr>
            <a:r>
              <a:rPr lang="en-US" sz="950" dirty="0">
                <a:solidFill>
                  <a:srgbClr val="F2A65A"/>
                </a:solidFill>
                <a:latin typeface="Consolas" pitchFamily="34" charset="0"/>
                <a:ea typeface="Consolas" pitchFamily="34" charset="-122"/>
                <a:cs typeface="Consolas" pitchFamily="34" charset="-120"/>
              </a:rPr>
              <a:t>GET /status</a:t>
            </a:r>
            <a:endParaRPr lang="en-US" sz="950" dirty="0"/>
          </a:p>
        </p:txBody>
      </p:sp>
      <p:sp>
        <p:nvSpPr>
          <p:cNvPr id="8" name="message box">
            <a:extLst>
              <a:ext uri="{C183D7F6-B498-43B3-948B-1728B52AA6E4}">
                <adec:decorative xmlns:adec="http://schemas.microsoft.com/office/drawing/2017/decorative" val="1"/>
              </a:ext>
            </a:extLst>
          </p:cNvPr>
          <p:cNvSpPr/>
          <p:nvPr/>
        </p:nvSpPr>
        <p:spPr>
          <a:xfrm>
            <a:off x="2011680" y="1700784"/>
            <a:ext cx="1188720" cy="457200"/>
          </a:xfrm>
          <a:prstGeom prst="roundRect">
            <a:avLst>
              <a:gd name="adj" fmla="val 10000"/>
            </a:avLst>
          </a:prstGeom>
          <a:solidFill>
            <a:srgbClr val="121519"/>
          </a:solidFill>
          <a:ln w="12700">
            <a:solidFill>
              <a:srgbClr val="3A424B"/>
            </a:solidFill>
            <a:prstDash val="solid"/>
          </a:ln>
        </p:spPr>
        <p:txBody>
          <a:bodyPr/>
          <a:lstStyle/>
          <a:p>
            <a:endParaRPr lang="en-SE"/>
          </a:p>
        </p:txBody>
      </p:sp>
      <p:sp>
        <p:nvSpPr>
          <p:cNvPr id="9" name="Text 7"/>
          <p:cNvSpPr/>
          <p:nvPr/>
        </p:nvSpPr>
        <p:spPr>
          <a:xfrm>
            <a:off x="2011680" y="1700784"/>
            <a:ext cx="1188720" cy="457200"/>
          </a:xfrm>
          <a:prstGeom prst="rect">
            <a:avLst/>
          </a:prstGeom>
          <a:noFill/>
          <a:ln/>
        </p:spPr>
        <p:txBody>
          <a:bodyPr wrap="square" lIns="0" tIns="0" rIns="0" bIns="0" rtlCol="0" anchor="ctr"/>
          <a:lstStyle/>
          <a:p>
            <a:pPr marL="0" indent="0" algn="ctr">
              <a:buNone/>
            </a:pPr>
            <a:r>
              <a:rPr lang="en-US" sz="950" dirty="0">
                <a:solidFill>
                  <a:srgbClr val="35A79C"/>
                </a:solidFill>
                <a:latin typeface="Consolas" pitchFamily="34" charset="0"/>
                <a:ea typeface="Consolas" pitchFamily="34" charset="-122"/>
                <a:cs typeface="Consolas" pitchFamily="34" charset="-120"/>
              </a:rPr>
              <a:t>→ 200 OK</a:t>
            </a:r>
            <a:endParaRPr lang="en-US" sz="950" dirty="0"/>
          </a:p>
        </p:txBody>
      </p:sp>
      <p:sp>
        <p:nvSpPr>
          <p:cNvPr id="10" name="message box">
            <a:extLst>
              <a:ext uri="{C183D7F6-B498-43B3-948B-1728B52AA6E4}">
                <adec:decorative xmlns:adec="http://schemas.microsoft.com/office/drawing/2017/decorative" val="1"/>
              </a:ext>
            </a:extLst>
          </p:cNvPr>
          <p:cNvSpPr/>
          <p:nvPr/>
        </p:nvSpPr>
        <p:spPr>
          <a:xfrm>
            <a:off x="3310128" y="1700784"/>
            <a:ext cx="1188720" cy="457200"/>
          </a:xfrm>
          <a:prstGeom prst="roundRect">
            <a:avLst>
              <a:gd name="adj" fmla="val 10000"/>
            </a:avLst>
          </a:prstGeom>
          <a:solidFill>
            <a:srgbClr val="2E353D"/>
          </a:solidFill>
          <a:ln w="12700">
            <a:solidFill>
              <a:srgbClr val="3A424B"/>
            </a:solidFill>
            <a:prstDash val="solid"/>
          </a:ln>
        </p:spPr>
        <p:txBody>
          <a:bodyPr/>
          <a:lstStyle/>
          <a:p>
            <a:endParaRPr lang="en-SE"/>
          </a:p>
        </p:txBody>
      </p:sp>
      <p:sp>
        <p:nvSpPr>
          <p:cNvPr id="11" name="Text 9"/>
          <p:cNvSpPr/>
          <p:nvPr/>
        </p:nvSpPr>
        <p:spPr>
          <a:xfrm>
            <a:off x="3310128" y="1700784"/>
            <a:ext cx="1188720" cy="457200"/>
          </a:xfrm>
          <a:prstGeom prst="rect">
            <a:avLst/>
          </a:prstGeom>
          <a:noFill/>
          <a:ln/>
        </p:spPr>
        <p:txBody>
          <a:bodyPr wrap="square" lIns="0" tIns="0" rIns="0" bIns="0" rtlCol="0" anchor="ctr"/>
          <a:lstStyle/>
          <a:p>
            <a:pPr marL="0" indent="0" algn="ctr">
              <a:buNone/>
            </a:pPr>
            <a:r>
              <a:rPr lang="en-US" sz="950" dirty="0">
                <a:solidFill>
                  <a:srgbClr val="F2A65A"/>
                </a:solidFill>
                <a:latin typeface="Consolas" pitchFamily="34" charset="0"/>
                <a:ea typeface="Consolas" pitchFamily="34" charset="-122"/>
                <a:cs typeface="Consolas" pitchFamily="34" charset="-120"/>
              </a:rPr>
              <a:t>GET /status</a:t>
            </a:r>
            <a:endParaRPr lang="en-US" sz="950" dirty="0"/>
          </a:p>
        </p:txBody>
      </p:sp>
      <p:sp>
        <p:nvSpPr>
          <p:cNvPr id="12" name="message box">
            <a:extLst>
              <a:ext uri="{C183D7F6-B498-43B3-948B-1728B52AA6E4}">
                <adec:decorative xmlns:adec="http://schemas.microsoft.com/office/drawing/2017/decorative" val="1"/>
              </a:ext>
            </a:extLst>
          </p:cNvPr>
          <p:cNvSpPr/>
          <p:nvPr/>
        </p:nvSpPr>
        <p:spPr>
          <a:xfrm>
            <a:off x="4608576" y="1700784"/>
            <a:ext cx="1188720" cy="457200"/>
          </a:xfrm>
          <a:prstGeom prst="roundRect">
            <a:avLst>
              <a:gd name="adj" fmla="val 10000"/>
            </a:avLst>
          </a:prstGeom>
          <a:solidFill>
            <a:srgbClr val="121519"/>
          </a:solidFill>
          <a:ln w="12700">
            <a:solidFill>
              <a:srgbClr val="3A424B"/>
            </a:solidFill>
            <a:prstDash val="solid"/>
          </a:ln>
        </p:spPr>
        <p:txBody>
          <a:bodyPr/>
          <a:lstStyle/>
          <a:p>
            <a:endParaRPr lang="en-SE"/>
          </a:p>
        </p:txBody>
      </p:sp>
      <p:sp>
        <p:nvSpPr>
          <p:cNvPr id="13" name="Text 11"/>
          <p:cNvSpPr/>
          <p:nvPr/>
        </p:nvSpPr>
        <p:spPr>
          <a:xfrm>
            <a:off x="4608576" y="1700784"/>
            <a:ext cx="1188720" cy="457200"/>
          </a:xfrm>
          <a:prstGeom prst="rect">
            <a:avLst/>
          </a:prstGeom>
          <a:noFill/>
          <a:ln/>
        </p:spPr>
        <p:txBody>
          <a:bodyPr wrap="square" lIns="0" tIns="0" rIns="0" bIns="0" rtlCol="0" anchor="ctr"/>
          <a:lstStyle/>
          <a:p>
            <a:pPr marL="0" indent="0" algn="ctr">
              <a:buNone/>
            </a:pPr>
            <a:r>
              <a:rPr lang="en-US" sz="950" dirty="0">
                <a:solidFill>
                  <a:srgbClr val="35A79C"/>
                </a:solidFill>
                <a:latin typeface="Consolas" pitchFamily="34" charset="0"/>
                <a:ea typeface="Consolas" pitchFamily="34" charset="-122"/>
                <a:cs typeface="Consolas" pitchFamily="34" charset="-120"/>
              </a:rPr>
              <a:t>→ 200 OK</a:t>
            </a:r>
            <a:endParaRPr lang="en-US" sz="950" dirty="0"/>
          </a:p>
        </p:txBody>
      </p:sp>
      <p:sp>
        <p:nvSpPr>
          <p:cNvPr id="14" name="message box">
            <a:extLst>
              <a:ext uri="{C183D7F6-B498-43B3-948B-1728B52AA6E4}">
                <adec:decorative xmlns:adec="http://schemas.microsoft.com/office/drawing/2017/decorative" val="1"/>
              </a:ext>
            </a:extLst>
          </p:cNvPr>
          <p:cNvSpPr/>
          <p:nvPr/>
        </p:nvSpPr>
        <p:spPr>
          <a:xfrm>
            <a:off x="5907024" y="1700784"/>
            <a:ext cx="1188720" cy="457200"/>
          </a:xfrm>
          <a:prstGeom prst="roundRect">
            <a:avLst>
              <a:gd name="adj" fmla="val 10000"/>
            </a:avLst>
          </a:prstGeom>
          <a:solidFill>
            <a:srgbClr val="2E353D"/>
          </a:solidFill>
          <a:ln w="12700">
            <a:solidFill>
              <a:srgbClr val="3A424B"/>
            </a:solidFill>
            <a:prstDash val="solid"/>
          </a:ln>
        </p:spPr>
        <p:txBody>
          <a:bodyPr/>
          <a:lstStyle/>
          <a:p>
            <a:endParaRPr lang="en-SE"/>
          </a:p>
        </p:txBody>
      </p:sp>
      <p:sp>
        <p:nvSpPr>
          <p:cNvPr id="15" name="Text 13"/>
          <p:cNvSpPr/>
          <p:nvPr/>
        </p:nvSpPr>
        <p:spPr>
          <a:xfrm>
            <a:off x="5907024" y="1700784"/>
            <a:ext cx="1188720" cy="457200"/>
          </a:xfrm>
          <a:prstGeom prst="rect">
            <a:avLst/>
          </a:prstGeom>
          <a:noFill/>
          <a:ln/>
        </p:spPr>
        <p:txBody>
          <a:bodyPr wrap="square" lIns="0" tIns="0" rIns="0" bIns="0" rtlCol="0" anchor="ctr"/>
          <a:lstStyle/>
          <a:p>
            <a:pPr marL="0" indent="0" algn="ctr">
              <a:buNone/>
            </a:pPr>
            <a:r>
              <a:rPr lang="en-US" sz="950" dirty="0">
                <a:solidFill>
                  <a:srgbClr val="F2A65A"/>
                </a:solidFill>
                <a:latin typeface="Consolas" pitchFamily="34" charset="0"/>
                <a:ea typeface="Consolas" pitchFamily="34" charset="-122"/>
                <a:cs typeface="Consolas" pitchFamily="34" charset="-120"/>
              </a:rPr>
              <a:t>GET /status</a:t>
            </a:r>
            <a:endParaRPr lang="en-US" sz="950" dirty="0"/>
          </a:p>
        </p:txBody>
      </p:sp>
      <p:sp>
        <p:nvSpPr>
          <p:cNvPr id="16" name="message box">
            <a:extLst>
              <a:ext uri="{C183D7F6-B498-43B3-948B-1728B52AA6E4}">
                <adec:decorative xmlns:adec="http://schemas.microsoft.com/office/drawing/2017/decorative" val="1"/>
              </a:ext>
            </a:extLst>
          </p:cNvPr>
          <p:cNvSpPr/>
          <p:nvPr/>
        </p:nvSpPr>
        <p:spPr>
          <a:xfrm>
            <a:off x="7205472" y="1700784"/>
            <a:ext cx="1188720" cy="457200"/>
          </a:xfrm>
          <a:prstGeom prst="roundRect">
            <a:avLst>
              <a:gd name="adj" fmla="val 10000"/>
            </a:avLst>
          </a:prstGeom>
          <a:solidFill>
            <a:srgbClr val="121519"/>
          </a:solidFill>
          <a:ln w="12700">
            <a:solidFill>
              <a:srgbClr val="3A424B"/>
            </a:solidFill>
            <a:prstDash val="solid"/>
          </a:ln>
        </p:spPr>
        <p:txBody>
          <a:bodyPr/>
          <a:lstStyle/>
          <a:p>
            <a:endParaRPr lang="en-SE"/>
          </a:p>
        </p:txBody>
      </p:sp>
      <p:sp>
        <p:nvSpPr>
          <p:cNvPr id="17" name="Text 15"/>
          <p:cNvSpPr/>
          <p:nvPr/>
        </p:nvSpPr>
        <p:spPr>
          <a:xfrm>
            <a:off x="7205472" y="1700784"/>
            <a:ext cx="1188720" cy="457200"/>
          </a:xfrm>
          <a:prstGeom prst="rect">
            <a:avLst/>
          </a:prstGeom>
          <a:noFill/>
          <a:ln/>
        </p:spPr>
        <p:txBody>
          <a:bodyPr wrap="square" lIns="0" tIns="0" rIns="0" bIns="0" rtlCol="0" anchor="ctr"/>
          <a:lstStyle/>
          <a:p>
            <a:pPr marL="0" indent="0" algn="ctr">
              <a:buNone/>
            </a:pPr>
            <a:r>
              <a:rPr lang="en-US" sz="950" dirty="0">
                <a:solidFill>
                  <a:srgbClr val="35A79C"/>
                </a:solidFill>
                <a:latin typeface="Consolas" pitchFamily="34" charset="0"/>
                <a:ea typeface="Consolas" pitchFamily="34" charset="-122"/>
                <a:cs typeface="Consolas" pitchFamily="34" charset="-120"/>
              </a:rPr>
              <a:t>→ 200 OK</a:t>
            </a:r>
            <a:endParaRPr lang="en-US" sz="950" dirty="0"/>
          </a:p>
        </p:txBody>
      </p:sp>
      <p:sp>
        <p:nvSpPr>
          <p:cNvPr id="18" name="Text 16"/>
          <p:cNvSpPr/>
          <p:nvPr/>
        </p:nvSpPr>
        <p:spPr>
          <a:xfrm>
            <a:off x="713232" y="2231136"/>
            <a:ext cx="7680960" cy="329184"/>
          </a:xfrm>
          <a:prstGeom prst="rect">
            <a:avLst/>
          </a:prstGeom>
          <a:noFill/>
          <a:ln/>
        </p:spPr>
        <p:txBody>
          <a:bodyPr wrap="square" lIns="0" tIns="0" rIns="0" bIns="0" rtlCol="0" anchor="ctr"/>
          <a:lstStyle/>
          <a:p>
            <a:pPr marL="0" indent="0">
              <a:buNone/>
            </a:pPr>
            <a:r>
              <a:rPr lang="en-US" sz="1100" dirty="0">
                <a:solidFill>
                  <a:srgbClr val="97A1AC"/>
                </a:solidFill>
                <a:latin typeface="Calibri" pitchFamily="34" charset="0"/>
                <a:ea typeface="Calibri" pitchFamily="34" charset="-122"/>
                <a:cs typeface="Calibri" pitchFamily="34" charset="-120"/>
              </a:rPr>
              <a:t>You keep asking. Between two questions you are blind — and most answers are identical.</a:t>
            </a:r>
            <a:endParaRPr lang="en-US" sz="1100" dirty="0"/>
          </a:p>
        </p:txBody>
      </p:sp>
      <p:sp>
        <p:nvSpPr>
          <p:cNvPr id="19" name="card background">
            <a:extLst>
              <a:ext uri="{C183D7F6-B498-43B3-948B-1728B52AA6E4}">
                <adec:decorative xmlns:adec="http://schemas.microsoft.com/office/drawing/2017/decorative" val="1"/>
              </a:ext>
            </a:extLst>
          </p:cNvPr>
          <p:cNvSpPr/>
          <p:nvPr/>
        </p:nvSpPr>
        <p:spPr>
          <a:xfrm>
            <a:off x="502920" y="2798064"/>
            <a:ext cx="8138160" cy="1600200"/>
          </a:xfrm>
          <a:prstGeom prst="roundRect">
            <a:avLst>
              <a:gd name="adj" fmla="val 3429"/>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20" name="Text 18"/>
          <p:cNvSpPr/>
          <p:nvPr/>
        </p:nvSpPr>
        <p:spPr>
          <a:xfrm>
            <a:off x="713232" y="2889504"/>
            <a:ext cx="4114800" cy="292608"/>
          </a:xfrm>
          <a:prstGeom prst="rect">
            <a:avLst/>
          </a:prstGeom>
          <a:noFill/>
          <a:ln/>
        </p:spPr>
        <p:txBody>
          <a:bodyPr wrap="square" lIns="0" tIns="0" rIns="0" bIns="0" rtlCol="0" anchor="ctr"/>
          <a:lstStyle/>
          <a:p>
            <a:pPr marL="0" indent="0">
              <a:buNone/>
            </a:pPr>
            <a:r>
              <a:rPr lang="en-US" sz="1400" b="1" dirty="0">
                <a:solidFill>
                  <a:srgbClr val="35A79C"/>
                </a:solidFill>
                <a:latin typeface="Trebuchet MS" pitchFamily="34" charset="0"/>
                <a:ea typeface="Trebuchet MS" pitchFamily="34" charset="-122"/>
                <a:cs typeface="Trebuchet MS" pitchFamily="34" charset="-120"/>
              </a:rPr>
              <a:t>WebSocket  ·  the exchange pushes</a:t>
            </a:r>
            <a:endParaRPr lang="en-US" sz="1400" dirty="0"/>
          </a:p>
        </p:txBody>
      </p:sp>
      <p:sp>
        <p:nvSpPr>
          <p:cNvPr id="21" name="connect box">
            <a:extLst>
              <a:ext uri="{C183D7F6-B498-43B3-948B-1728B52AA6E4}">
                <adec:decorative xmlns:adec="http://schemas.microsoft.com/office/drawing/2017/decorative" val="1"/>
              </a:ext>
            </a:extLst>
          </p:cNvPr>
          <p:cNvSpPr/>
          <p:nvPr/>
        </p:nvSpPr>
        <p:spPr>
          <a:xfrm>
            <a:off x="713232" y="3310128"/>
            <a:ext cx="1371600" cy="457200"/>
          </a:xfrm>
          <a:prstGeom prst="roundRect">
            <a:avLst>
              <a:gd name="adj" fmla="val 10000"/>
            </a:avLst>
          </a:prstGeom>
          <a:solidFill>
            <a:srgbClr val="35A79C"/>
          </a:solidFill>
          <a:ln w="12700">
            <a:solidFill>
              <a:srgbClr val="35A79C"/>
            </a:solidFill>
            <a:prstDash val="solid"/>
          </a:ln>
        </p:spPr>
        <p:txBody>
          <a:bodyPr/>
          <a:lstStyle/>
          <a:p>
            <a:endParaRPr lang="en-SE"/>
          </a:p>
        </p:txBody>
      </p:sp>
      <p:sp>
        <p:nvSpPr>
          <p:cNvPr id="22" name="Text 20"/>
          <p:cNvSpPr/>
          <p:nvPr/>
        </p:nvSpPr>
        <p:spPr>
          <a:xfrm>
            <a:off x="713232" y="3310128"/>
            <a:ext cx="1371600" cy="457200"/>
          </a:xfrm>
          <a:prstGeom prst="rect">
            <a:avLst/>
          </a:prstGeom>
          <a:noFill/>
          <a:ln/>
        </p:spPr>
        <p:txBody>
          <a:bodyPr wrap="square" lIns="0" tIns="0" rIns="0" bIns="0" rtlCol="0" anchor="ctr"/>
          <a:lstStyle/>
          <a:p>
            <a:pPr marL="0" indent="0" algn="ctr">
              <a:buNone/>
            </a:pPr>
            <a:r>
              <a:rPr lang="en-US" sz="950" b="1" dirty="0">
                <a:solidFill>
                  <a:srgbClr val="13161A"/>
                </a:solidFill>
                <a:latin typeface="Consolas" pitchFamily="34" charset="0"/>
                <a:ea typeface="Consolas" pitchFamily="34" charset="-122"/>
                <a:cs typeface="Consolas" pitchFamily="34" charset="-120"/>
              </a:rPr>
              <a:t>connect once</a:t>
            </a:r>
            <a:endParaRPr lang="en-US" sz="950" dirty="0"/>
          </a:p>
        </p:txBody>
      </p:sp>
      <p:sp>
        <p:nvSpPr>
          <p:cNvPr id="23" name="event box">
            <a:extLst>
              <a:ext uri="{C183D7F6-B498-43B3-948B-1728B52AA6E4}">
                <adec:decorative xmlns:adec="http://schemas.microsoft.com/office/drawing/2017/decorative" val="1"/>
              </a:ext>
            </a:extLst>
          </p:cNvPr>
          <p:cNvSpPr/>
          <p:nvPr/>
        </p:nvSpPr>
        <p:spPr>
          <a:xfrm>
            <a:off x="2267712" y="3310128"/>
            <a:ext cx="1170432" cy="457200"/>
          </a:xfrm>
          <a:prstGeom prst="roundRect">
            <a:avLst>
              <a:gd name="adj" fmla="val 10000"/>
            </a:avLst>
          </a:prstGeom>
          <a:solidFill>
            <a:srgbClr val="121519"/>
          </a:solidFill>
          <a:ln w="12700">
            <a:solidFill>
              <a:srgbClr val="35A79C"/>
            </a:solidFill>
            <a:prstDash val="solid"/>
          </a:ln>
        </p:spPr>
        <p:txBody>
          <a:bodyPr/>
          <a:lstStyle/>
          <a:p>
            <a:endParaRPr lang="en-SE"/>
          </a:p>
        </p:txBody>
      </p:sp>
      <p:sp>
        <p:nvSpPr>
          <p:cNvPr id="24" name="Text 22"/>
          <p:cNvSpPr/>
          <p:nvPr/>
        </p:nvSpPr>
        <p:spPr>
          <a:xfrm>
            <a:off x="2267712" y="3310128"/>
            <a:ext cx="1170432" cy="457200"/>
          </a:xfrm>
          <a:prstGeom prst="rect">
            <a:avLst/>
          </a:prstGeom>
          <a:noFill/>
          <a:ln/>
        </p:spPr>
        <p:txBody>
          <a:bodyPr wrap="square" lIns="0" tIns="0" rIns="0" bIns="0" rtlCol="0" anchor="ctr"/>
          <a:lstStyle/>
          <a:p>
            <a:pPr marL="0" indent="0" algn="ctr">
              <a:buNone/>
            </a:pPr>
            <a:r>
              <a:rPr lang="en-US" sz="900" dirty="0">
                <a:solidFill>
                  <a:srgbClr val="F2A65A"/>
                </a:solidFill>
                <a:latin typeface="Consolas" pitchFamily="34" charset="0"/>
                <a:ea typeface="Consolas" pitchFamily="34" charset="-122"/>
                <a:cs typeface="Consolas" pitchFamily="34" charset="-120"/>
              </a:rPr>
              <a:t>order.acked</a:t>
            </a:r>
            <a:endParaRPr lang="en-US" sz="900" dirty="0"/>
          </a:p>
        </p:txBody>
      </p:sp>
      <p:sp>
        <p:nvSpPr>
          <p:cNvPr id="25" name="event box">
            <a:extLst>
              <a:ext uri="{C183D7F6-B498-43B3-948B-1728B52AA6E4}">
                <adec:decorative xmlns:adec="http://schemas.microsoft.com/office/drawing/2017/decorative" val="1"/>
              </a:ext>
            </a:extLst>
          </p:cNvPr>
          <p:cNvSpPr/>
          <p:nvPr/>
        </p:nvSpPr>
        <p:spPr>
          <a:xfrm>
            <a:off x="3547872" y="3310128"/>
            <a:ext cx="1170432" cy="457200"/>
          </a:xfrm>
          <a:prstGeom prst="roundRect">
            <a:avLst>
              <a:gd name="adj" fmla="val 10000"/>
            </a:avLst>
          </a:prstGeom>
          <a:solidFill>
            <a:srgbClr val="121519"/>
          </a:solidFill>
          <a:ln w="12700">
            <a:solidFill>
              <a:srgbClr val="35A79C"/>
            </a:solidFill>
            <a:prstDash val="solid"/>
          </a:ln>
        </p:spPr>
        <p:txBody>
          <a:bodyPr/>
          <a:lstStyle/>
          <a:p>
            <a:endParaRPr lang="en-SE"/>
          </a:p>
        </p:txBody>
      </p:sp>
      <p:sp>
        <p:nvSpPr>
          <p:cNvPr id="26" name="Text 24"/>
          <p:cNvSpPr/>
          <p:nvPr/>
        </p:nvSpPr>
        <p:spPr>
          <a:xfrm>
            <a:off x="3547872" y="3310128"/>
            <a:ext cx="1170432" cy="457200"/>
          </a:xfrm>
          <a:prstGeom prst="rect">
            <a:avLst/>
          </a:prstGeom>
          <a:noFill/>
          <a:ln/>
        </p:spPr>
        <p:txBody>
          <a:bodyPr wrap="square" lIns="0" tIns="0" rIns="0" bIns="0" rtlCol="0" anchor="ctr"/>
          <a:lstStyle/>
          <a:p>
            <a:pPr marL="0" indent="0" algn="ctr">
              <a:buNone/>
            </a:pPr>
            <a:r>
              <a:rPr lang="en-US" sz="900" dirty="0">
                <a:solidFill>
                  <a:srgbClr val="F2A65A"/>
                </a:solidFill>
                <a:latin typeface="Consolas" pitchFamily="34" charset="0"/>
                <a:ea typeface="Consolas" pitchFamily="34" charset="-122"/>
                <a:cs typeface="Consolas" pitchFamily="34" charset="-120"/>
              </a:rPr>
              <a:t>book.update</a:t>
            </a:r>
            <a:endParaRPr lang="en-US" sz="900" dirty="0"/>
          </a:p>
        </p:txBody>
      </p:sp>
      <p:sp>
        <p:nvSpPr>
          <p:cNvPr id="27" name="event box">
            <a:extLst>
              <a:ext uri="{C183D7F6-B498-43B3-948B-1728B52AA6E4}">
                <adec:decorative xmlns:adec="http://schemas.microsoft.com/office/drawing/2017/decorative" val="1"/>
              </a:ext>
            </a:extLst>
          </p:cNvPr>
          <p:cNvSpPr/>
          <p:nvPr/>
        </p:nvSpPr>
        <p:spPr>
          <a:xfrm>
            <a:off x="4828032" y="3310128"/>
            <a:ext cx="1170432" cy="457200"/>
          </a:xfrm>
          <a:prstGeom prst="roundRect">
            <a:avLst>
              <a:gd name="adj" fmla="val 10000"/>
            </a:avLst>
          </a:prstGeom>
          <a:solidFill>
            <a:srgbClr val="121519"/>
          </a:solidFill>
          <a:ln w="12700">
            <a:solidFill>
              <a:srgbClr val="35A79C"/>
            </a:solidFill>
            <a:prstDash val="solid"/>
          </a:ln>
        </p:spPr>
        <p:txBody>
          <a:bodyPr/>
          <a:lstStyle/>
          <a:p>
            <a:endParaRPr lang="en-SE"/>
          </a:p>
        </p:txBody>
      </p:sp>
      <p:sp>
        <p:nvSpPr>
          <p:cNvPr id="28" name="Text 26"/>
          <p:cNvSpPr/>
          <p:nvPr/>
        </p:nvSpPr>
        <p:spPr>
          <a:xfrm>
            <a:off x="4828032" y="3310128"/>
            <a:ext cx="1170432" cy="457200"/>
          </a:xfrm>
          <a:prstGeom prst="rect">
            <a:avLst/>
          </a:prstGeom>
          <a:noFill/>
          <a:ln/>
        </p:spPr>
        <p:txBody>
          <a:bodyPr wrap="square" lIns="0" tIns="0" rIns="0" bIns="0" rtlCol="0" anchor="ctr"/>
          <a:lstStyle/>
          <a:p>
            <a:pPr marL="0" indent="0" algn="ctr">
              <a:buNone/>
            </a:pPr>
            <a:r>
              <a:rPr lang="en-US" sz="900" dirty="0">
                <a:solidFill>
                  <a:srgbClr val="F2A65A"/>
                </a:solidFill>
                <a:latin typeface="Consolas" pitchFamily="34" charset="0"/>
                <a:ea typeface="Consolas" pitchFamily="34" charset="-122"/>
                <a:cs typeface="Consolas" pitchFamily="34" charset="-120"/>
              </a:rPr>
              <a:t>order.fill</a:t>
            </a:r>
            <a:endParaRPr lang="en-US" sz="900" dirty="0"/>
          </a:p>
        </p:txBody>
      </p:sp>
      <p:sp>
        <p:nvSpPr>
          <p:cNvPr id="29" name="event box">
            <a:extLst>
              <a:ext uri="{C183D7F6-B498-43B3-948B-1728B52AA6E4}">
                <adec:decorative xmlns:adec="http://schemas.microsoft.com/office/drawing/2017/decorative" val="1"/>
              </a:ext>
            </a:extLst>
          </p:cNvPr>
          <p:cNvSpPr/>
          <p:nvPr/>
        </p:nvSpPr>
        <p:spPr>
          <a:xfrm>
            <a:off x="6108192" y="3310128"/>
            <a:ext cx="1170432" cy="457200"/>
          </a:xfrm>
          <a:prstGeom prst="roundRect">
            <a:avLst>
              <a:gd name="adj" fmla="val 10000"/>
            </a:avLst>
          </a:prstGeom>
          <a:solidFill>
            <a:srgbClr val="121519"/>
          </a:solidFill>
          <a:ln w="12700">
            <a:solidFill>
              <a:srgbClr val="35A79C"/>
            </a:solidFill>
            <a:prstDash val="solid"/>
          </a:ln>
        </p:spPr>
        <p:txBody>
          <a:bodyPr/>
          <a:lstStyle/>
          <a:p>
            <a:endParaRPr lang="en-SE"/>
          </a:p>
        </p:txBody>
      </p:sp>
      <p:sp>
        <p:nvSpPr>
          <p:cNvPr id="30" name="Text 28"/>
          <p:cNvSpPr/>
          <p:nvPr/>
        </p:nvSpPr>
        <p:spPr>
          <a:xfrm>
            <a:off x="6108192" y="3310128"/>
            <a:ext cx="1170432" cy="457200"/>
          </a:xfrm>
          <a:prstGeom prst="rect">
            <a:avLst/>
          </a:prstGeom>
          <a:noFill/>
          <a:ln/>
        </p:spPr>
        <p:txBody>
          <a:bodyPr wrap="square" lIns="0" tIns="0" rIns="0" bIns="0" rtlCol="0" anchor="ctr"/>
          <a:lstStyle/>
          <a:p>
            <a:pPr marL="0" indent="0" algn="ctr">
              <a:buNone/>
            </a:pPr>
            <a:r>
              <a:rPr lang="en-US" sz="900" dirty="0">
                <a:solidFill>
                  <a:srgbClr val="F2A65A"/>
                </a:solidFill>
                <a:latin typeface="Consolas" pitchFamily="34" charset="0"/>
                <a:ea typeface="Consolas" pitchFamily="34" charset="-122"/>
                <a:cs typeface="Consolas" pitchFamily="34" charset="-120"/>
              </a:rPr>
              <a:t>trade</a:t>
            </a:r>
            <a:endParaRPr lang="en-US" sz="900" dirty="0"/>
          </a:p>
        </p:txBody>
      </p:sp>
      <p:sp>
        <p:nvSpPr>
          <p:cNvPr id="31" name="event box">
            <a:extLst>
              <a:ext uri="{C183D7F6-B498-43B3-948B-1728B52AA6E4}">
                <adec:decorative xmlns:adec="http://schemas.microsoft.com/office/drawing/2017/decorative" val="1"/>
              </a:ext>
            </a:extLst>
          </p:cNvPr>
          <p:cNvSpPr/>
          <p:nvPr/>
        </p:nvSpPr>
        <p:spPr>
          <a:xfrm>
            <a:off x="7388352" y="3310128"/>
            <a:ext cx="1170432" cy="457200"/>
          </a:xfrm>
          <a:prstGeom prst="roundRect">
            <a:avLst>
              <a:gd name="adj" fmla="val 10000"/>
            </a:avLst>
          </a:prstGeom>
          <a:solidFill>
            <a:srgbClr val="121519"/>
          </a:solidFill>
          <a:ln w="12700">
            <a:solidFill>
              <a:srgbClr val="35A79C"/>
            </a:solidFill>
            <a:prstDash val="solid"/>
          </a:ln>
        </p:spPr>
        <p:txBody>
          <a:bodyPr/>
          <a:lstStyle/>
          <a:p>
            <a:endParaRPr lang="en-SE"/>
          </a:p>
        </p:txBody>
      </p:sp>
      <p:sp>
        <p:nvSpPr>
          <p:cNvPr id="32" name="Text 30"/>
          <p:cNvSpPr/>
          <p:nvPr/>
        </p:nvSpPr>
        <p:spPr>
          <a:xfrm>
            <a:off x="7388352" y="3310128"/>
            <a:ext cx="1170432" cy="457200"/>
          </a:xfrm>
          <a:prstGeom prst="rect">
            <a:avLst/>
          </a:prstGeom>
          <a:noFill/>
          <a:ln/>
        </p:spPr>
        <p:txBody>
          <a:bodyPr wrap="square" lIns="0" tIns="0" rIns="0" bIns="0" rtlCol="0" anchor="ctr"/>
          <a:lstStyle/>
          <a:p>
            <a:pPr marL="0" indent="0" algn="ctr">
              <a:buNone/>
            </a:pPr>
            <a:r>
              <a:rPr lang="en-US" sz="900" dirty="0">
                <a:solidFill>
                  <a:srgbClr val="F2A65A"/>
                </a:solidFill>
                <a:latin typeface="Consolas" pitchFamily="34" charset="0"/>
                <a:ea typeface="Consolas" pitchFamily="34" charset="-122"/>
                <a:cs typeface="Consolas" pitchFamily="34" charset="-120"/>
              </a:rPr>
              <a:t>session.state</a:t>
            </a:r>
            <a:endParaRPr lang="en-US" sz="900" dirty="0"/>
          </a:p>
        </p:txBody>
      </p:sp>
      <p:sp>
        <p:nvSpPr>
          <p:cNvPr id="33" name="Text 31"/>
          <p:cNvSpPr/>
          <p:nvPr/>
        </p:nvSpPr>
        <p:spPr>
          <a:xfrm>
            <a:off x="713232" y="3858768"/>
            <a:ext cx="7680960" cy="329184"/>
          </a:xfrm>
          <a:prstGeom prst="rect">
            <a:avLst/>
          </a:prstGeom>
          <a:noFill/>
          <a:ln/>
        </p:spPr>
        <p:txBody>
          <a:bodyPr wrap="square" lIns="0" tIns="0" rIns="0" bIns="0" rtlCol="0" anchor="ctr"/>
          <a:lstStyle/>
          <a:p>
            <a:pPr marL="0" indent="0">
              <a:buNone/>
            </a:pPr>
            <a:r>
              <a:rPr lang="en-US" sz="1100" dirty="0">
                <a:solidFill>
                  <a:srgbClr val="97A1AC"/>
                </a:solidFill>
                <a:latin typeface="Calibri" pitchFamily="34" charset="0"/>
                <a:ea typeface="Calibri" pitchFamily="34" charset="-122"/>
                <a:cs typeface="Calibri" pitchFamily="34" charset="-120"/>
              </a:rPr>
              <a:t>Events arrive the instant they occur, in order, with no wasted requests.</a:t>
            </a:r>
            <a:endParaRPr lang="en-US" sz="1100" dirty="0"/>
          </a:p>
        </p:txBody>
      </p:sp>
      <p:sp>
        <p:nvSpPr>
          <p:cNvPr id="34" name="Text 32"/>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REST and WebSocket</a:t>
            </a:r>
            <a:endParaRPr lang="en-US" sz="900" dirty="0"/>
          </a:p>
        </p:txBody>
      </p:sp>
      <p:sp>
        <p:nvSpPr>
          <p:cNvPr id="35" name="Text 33"/>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8138160" cy="548640"/>
          </a:xfrm>
          <a:prstGeom prst="rect">
            <a:avLst/>
          </a:prstGeom>
          <a:noFill/>
          <a:ln/>
        </p:spPr>
        <p:txBody>
          <a:bodyPr wrap="square" lIns="0" tIns="0" rIns="0" bIns="0" rtlCol="0" anchor="ctr"/>
          <a:lstStyle/>
          <a:p>
            <a:pPr marL="0" indent="0">
              <a:buNone/>
            </a:pPr>
            <a:r>
              <a:rPr lang="en-US" sz="2700" b="1" dirty="0">
                <a:solidFill>
                  <a:srgbClr val="F3F5F7"/>
                </a:solidFill>
                <a:latin typeface="Trebuchet MS" pitchFamily="34" charset="0"/>
                <a:ea typeface="Trebuchet MS" pitchFamily="34" charset="-122"/>
                <a:cs typeface="Trebuchet MS" pitchFamily="34" charset="-120"/>
              </a:rPr>
              <a:t>Choosing between them</a:t>
            </a:r>
            <a:endParaRPr lang="en-US" sz="2700" dirty="0"/>
          </a:p>
        </p:txBody>
      </p:sp>
      <p:sp>
        <p:nvSpPr>
          <p:cNvPr id="3" name="Text 1"/>
          <p:cNvSpPr/>
          <p:nvPr/>
        </p:nvSpPr>
        <p:spPr>
          <a:xfrm>
            <a:off x="502920" y="841248"/>
            <a:ext cx="8138160" cy="237744"/>
          </a:xfrm>
          <a:prstGeom prst="rect">
            <a:avLst/>
          </a:prstGeom>
          <a:noFill/>
          <a:ln/>
        </p:spPr>
        <p:txBody>
          <a:bodyPr wrap="square" lIns="0" tIns="0" rIns="0" bIns="0" rtlCol="0" anchor="ctr"/>
          <a:lstStyle/>
          <a:p>
            <a:pPr marL="0" indent="0">
              <a:buNone/>
            </a:pPr>
            <a:r>
              <a:rPr lang="en-US" sz="1100" b="1" kern="0" spc="200" dirty="0">
                <a:solidFill>
                  <a:srgbClr val="E8722C"/>
                </a:solidFill>
                <a:latin typeface="Calibri" pitchFamily="34" charset="0"/>
                <a:ea typeface="Calibri" pitchFamily="34" charset="-122"/>
                <a:cs typeface="Calibri" pitchFamily="34" charset="-120"/>
              </a:rPr>
              <a:t>DECISION GUIDE</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236761558"/>
              </p:ext>
            </p:extLst>
          </p:nvPr>
        </p:nvGraphicFramePr>
        <p:xfrm>
          <a:off x="502920" y="1188720"/>
          <a:ext cx="8138160" cy="914400"/>
        </p:xfrm>
        <a:graphic>
          <a:graphicData uri="http://schemas.openxmlformats.org/drawingml/2006/table">
            <a:tbl>
              <a:tblPr/>
              <a:tblGrid>
                <a:gridCol w="356616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tblGrid>
              <a:tr h="274320">
                <a:tc>
                  <a:txBody>
                    <a:bodyPr/>
                    <a:lstStyle/>
                    <a:p>
                      <a:pPr marL="0" indent="0">
                        <a:buNone/>
                      </a:pPr>
                      <a:r>
                        <a:rPr lang="en-US" sz="1100" b="1" dirty="0">
                          <a:solidFill>
                            <a:srgbClr val="121519"/>
                          </a:solidFill>
                          <a:latin typeface="Trebuchet MS" pitchFamily="34" charset="0"/>
                          <a:ea typeface="Trebuchet MS" pitchFamily="34" charset="-122"/>
                          <a:cs typeface="Trebuchet MS" pitchFamily="34" charset="-120"/>
                        </a:rPr>
                        <a:t>Your goal</a:t>
                      </a:r>
                      <a:endParaRPr lang="en-US" sz="1100" dirty="0">
                        <a:latin typeface="Trebuchet MS" charset="0"/>
                        <a:ea typeface="Trebuchet MS" charset="0"/>
                        <a:cs typeface="Trebuchet M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E8722C"/>
                    </a:solidFill>
                  </a:tcPr>
                </a:tc>
                <a:tc>
                  <a:txBody>
                    <a:bodyPr/>
                    <a:lstStyle/>
                    <a:p>
                      <a:pPr marL="0" indent="0">
                        <a:buNone/>
                      </a:pPr>
                      <a:r>
                        <a:rPr lang="en-US" sz="1100" b="1" dirty="0">
                          <a:solidFill>
                            <a:srgbClr val="121519"/>
                          </a:solidFill>
                          <a:latin typeface="Trebuchet MS" pitchFamily="34" charset="0"/>
                          <a:ea typeface="Trebuchet MS" pitchFamily="34" charset="-122"/>
                          <a:cs typeface="Trebuchet MS" pitchFamily="34" charset="-120"/>
                        </a:rPr>
                        <a:t>Use</a:t>
                      </a:r>
                      <a:endParaRPr lang="en-US" sz="1100" dirty="0">
                        <a:latin typeface="Trebuchet MS" charset="0"/>
                        <a:ea typeface="Trebuchet MS" charset="0"/>
                        <a:cs typeface="Trebuchet M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E8722C"/>
                    </a:solidFill>
                  </a:tcPr>
                </a:tc>
                <a:tc>
                  <a:txBody>
                    <a:bodyPr/>
                    <a:lstStyle/>
                    <a:p>
                      <a:pPr marL="0" indent="0">
                        <a:buNone/>
                      </a:pPr>
                      <a:r>
                        <a:rPr lang="en-US" sz="1100" b="1" dirty="0">
                          <a:solidFill>
                            <a:srgbClr val="121519"/>
                          </a:solidFill>
                          <a:latin typeface="Trebuchet MS" pitchFamily="34" charset="0"/>
                          <a:ea typeface="Trebuchet MS" pitchFamily="34" charset="-122"/>
                          <a:cs typeface="Trebuchet MS" pitchFamily="34" charset="-120"/>
                        </a:rPr>
                        <a:t>Endpoint family</a:t>
                      </a:r>
                      <a:endParaRPr lang="en-US" sz="1100" dirty="0">
                        <a:latin typeface="Trebuchet MS" charset="0"/>
                        <a:ea typeface="Trebuchet MS" charset="0"/>
                        <a:cs typeface="Trebuchet M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E8722C"/>
                    </a:solidFill>
                  </a:tcPr>
                </a:tc>
                <a:extLst>
                  <a:ext uri="{0D108BD9-81ED-4DB2-BD59-A6C34878D82A}">
                    <a16:rowId xmlns:a16="http://schemas.microsoft.com/office/drawing/2014/main" val="10000"/>
                  </a:ext>
                </a:extLst>
              </a:tr>
              <a:tr h="274320">
                <a:tc>
                  <a:txBody>
                    <a:bodyPr/>
                    <a:lstStyle/>
                    <a:p>
                      <a:pPr marL="0" indent="0">
                        <a:buNone/>
                      </a:pPr>
                      <a:r>
                        <a:rPr lang="en-US" sz="1000" dirty="0">
                          <a:solidFill>
                            <a:srgbClr val="F2A65A"/>
                          </a:solidFill>
                          <a:latin typeface="Calibri" pitchFamily="34" charset="0"/>
                          <a:ea typeface="Calibri" pitchFamily="34" charset="-122"/>
                          <a:cs typeface="Calibri" pitchFamily="34" charset="-120"/>
                        </a:rPr>
                        <a:t>Place, amend, cancel or replace an order</a:t>
                      </a:r>
                      <a:endParaRPr lang="en-US" sz="10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1000" dirty="0">
                          <a:solidFill>
                            <a:srgbClr val="D5DAE0"/>
                          </a:solidFill>
                          <a:latin typeface="Calibri" pitchFamily="34" charset="0"/>
                          <a:ea typeface="Calibri" pitchFamily="34" charset="-122"/>
                          <a:cs typeface="Calibri" pitchFamily="34" charset="-120"/>
                        </a:rPr>
                        <a:t>REST</a:t>
                      </a:r>
                      <a:endParaRPr lang="en-US" sz="10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1000" dirty="0">
                          <a:solidFill>
                            <a:srgbClr val="D5DAE0"/>
                          </a:solidFill>
                          <a:latin typeface="Calibri" pitchFamily="34" charset="0"/>
                          <a:ea typeface="Calibri" pitchFamily="34" charset="-122"/>
                          <a:cs typeface="Calibri" pitchFamily="34" charset="-120"/>
                        </a:rPr>
                        <a:t>/orders, /oco, /combos, /quotes</a:t>
                      </a:r>
                      <a:endParaRPr lang="en-US" sz="10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extLst>
                  <a:ext uri="{0D108BD9-81ED-4DB2-BD59-A6C34878D82A}">
                    <a16:rowId xmlns:a16="http://schemas.microsoft.com/office/drawing/2014/main" val="10001"/>
                  </a:ext>
                </a:extLst>
              </a:tr>
              <a:tr h="274320">
                <a:tc>
                  <a:txBody>
                    <a:bodyPr/>
                    <a:lstStyle/>
                    <a:p>
                      <a:pPr marL="0" indent="0">
                        <a:buNone/>
                      </a:pPr>
                      <a:r>
                        <a:rPr lang="en-US" sz="1000" dirty="0">
                          <a:solidFill>
                            <a:srgbClr val="F2A65A"/>
                          </a:solidFill>
                          <a:latin typeface="Calibri" pitchFamily="34" charset="0"/>
                          <a:ea typeface="Calibri" pitchFamily="34" charset="-122"/>
                          <a:cs typeface="Calibri" pitchFamily="34" charset="-120"/>
                        </a:rPr>
                        <a:t>Know the moment your order fills</a:t>
                      </a:r>
                      <a:endParaRPr lang="en-US" sz="10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1000" dirty="0">
                          <a:solidFill>
                            <a:srgbClr val="D5DAE0"/>
                          </a:solidFill>
                          <a:latin typeface="Calibri" pitchFamily="34" charset="0"/>
                          <a:ea typeface="Calibri" pitchFamily="34" charset="-122"/>
                          <a:cs typeface="Calibri" pitchFamily="34" charset="-120"/>
                        </a:rPr>
                        <a:t>WebSocket</a:t>
                      </a:r>
                      <a:endParaRPr lang="en-US" sz="10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1000" dirty="0">
                          <a:solidFill>
                            <a:srgbClr val="D5DAE0"/>
                          </a:solidFill>
                          <a:latin typeface="Calibri" pitchFamily="34" charset="0"/>
                          <a:ea typeface="Calibri" pitchFamily="34" charset="-122"/>
                          <a:cs typeface="Calibri" pitchFamily="34" charset="-120"/>
                        </a:rPr>
                        <a:t>/events</a:t>
                      </a:r>
                      <a:endParaRPr lang="en-US" sz="10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extLst>
                  <a:ext uri="{0D108BD9-81ED-4DB2-BD59-A6C34878D82A}">
                    <a16:rowId xmlns:a16="http://schemas.microsoft.com/office/drawing/2014/main" val="10002"/>
                  </a:ext>
                </a:extLst>
              </a:tr>
              <a:tr h="274320">
                <a:tc>
                  <a:txBody>
                    <a:bodyPr/>
                    <a:lstStyle/>
                    <a:p>
                      <a:pPr marL="0" indent="0">
                        <a:buNone/>
                      </a:pPr>
                      <a:r>
                        <a:rPr lang="en-US" sz="1000" dirty="0">
                          <a:solidFill>
                            <a:srgbClr val="F2A65A"/>
                          </a:solidFill>
                          <a:latin typeface="Calibri" pitchFamily="34" charset="0"/>
                          <a:ea typeface="Calibri" pitchFamily="34" charset="-122"/>
                          <a:cs typeface="Calibri" pitchFamily="34" charset="-120"/>
                        </a:rPr>
                        <a:t>Read instrument metadata or session state</a:t>
                      </a:r>
                      <a:endParaRPr lang="en-US" sz="10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1000" dirty="0">
                          <a:solidFill>
                            <a:srgbClr val="D5DAE0"/>
                          </a:solidFill>
                          <a:latin typeface="Calibri" pitchFamily="34" charset="0"/>
                          <a:ea typeface="Calibri" pitchFamily="34" charset="-122"/>
                          <a:cs typeface="Calibri" pitchFamily="34" charset="-120"/>
                        </a:rPr>
                        <a:t>REST</a:t>
                      </a:r>
                      <a:endParaRPr lang="en-US" sz="10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1000" dirty="0">
                          <a:solidFill>
                            <a:srgbClr val="D5DAE0"/>
                          </a:solidFill>
                          <a:latin typeface="Calibri" pitchFamily="34" charset="0"/>
                          <a:ea typeface="Calibri" pitchFamily="34" charset="-122"/>
                          <a:cs typeface="Calibri" pitchFamily="34" charset="-120"/>
                        </a:rPr>
                        <a:t>/symbols, /session</a:t>
                      </a:r>
                      <a:endParaRPr lang="en-US" sz="10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extLst>
                  <a:ext uri="{0D108BD9-81ED-4DB2-BD59-A6C34878D82A}">
                    <a16:rowId xmlns:a16="http://schemas.microsoft.com/office/drawing/2014/main" val="10003"/>
                  </a:ext>
                </a:extLst>
              </a:tr>
              <a:tr h="274320">
                <a:tc>
                  <a:txBody>
                    <a:bodyPr/>
                    <a:lstStyle/>
                    <a:p>
                      <a:pPr marL="0" indent="0">
                        <a:buNone/>
                      </a:pPr>
                      <a:r>
                        <a:rPr lang="en-US" sz="1000" dirty="0">
                          <a:solidFill>
                            <a:srgbClr val="F2A65A"/>
                          </a:solidFill>
                          <a:latin typeface="Calibri" pitchFamily="34" charset="0"/>
                          <a:ea typeface="Calibri" pitchFamily="34" charset="-122"/>
                          <a:cs typeface="Calibri" pitchFamily="34" charset="-120"/>
                        </a:rPr>
                        <a:t>Keep a live order book on screen</a:t>
                      </a:r>
                      <a:endParaRPr lang="en-US" sz="10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1000" dirty="0">
                          <a:solidFill>
                            <a:srgbClr val="D5DAE0"/>
                          </a:solidFill>
                          <a:latin typeface="Calibri" pitchFamily="34" charset="0"/>
                          <a:ea typeface="Calibri" pitchFamily="34" charset="-122"/>
                          <a:cs typeface="Calibri" pitchFamily="34" charset="-120"/>
                        </a:rPr>
                        <a:t>WebSocket</a:t>
                      </a:r>
                      <a:endParaRPr lang="en-US" sz="10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1000" dirty="0">
                          <a:solidFill>
                            <a:srgbClr val="D5DAE0"/>
                          </a:solidFill>
                          <a:latin typeface="Calibri" pitchFamily="34" charset="0"/>
                          <a:ea typeface="Calibri" pitchFamily="34" charset="-122"/>
                          <a:cs typeface="Calibri" pitchFamily="34" charset="-120"/>
                        </a:rPr>
                        <a:t>/market-data (book, depth)</a:t>
                      </a:r>
                      <a:endParaRPr lang="en-US" sz="10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extLst>
                  <a:ext uri="{0D108BD9-81ED-4DB2-BD59-A6C34878D82A}">
                    <a16:rowId xmlns:a16="http://schemas.microsoft.com/office/drawing/2014/main" val="10004"/>
                  </a:ext>
                </a:extLst>
              </a:tr>
              <a:tr h="274320">
                <a:tc>
                  <a:txBody>
                    <a:bodyPr/>
                    <a:lstStyle/>
                    <a:p>
                      <a:pPr marL="0" indent="0">
                        <a:buNone/>
                      </a:pPr>
                      <a:r>
                        <a:rPr lang="en-US" sz="1000" dirty="0">
                          <a:solidFill>
                            <a:srgbClr val="F2A65A"/>
                          </a:solidFill>
                          <a:latin typeface="Calibri" pitchFamily="34" charset="0"/>
                          <a:ea typeface="Calibri" pitchFamily="34" charset="-122"/>
                          <a:cs typeface="Calibri" pitchFamily="34" charset="-120"/>
                        </a:rPr>
                        <a:t>Show the running trade tape</a:t>
                      </a:r>
                      <a:endParaRPr lang="en-US" sz="10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1000" dirty="0">
                          <a:solidFill>
                            <a:srgbClr val="D5DAE0"/>
                          </a:solidFill>
                          <a:latin typeface="Calibri" pitchFamily="34" charset="0"/>
                          <a:ea typeface="Calibri" pitchFamily="34" charset="-122"/>
                          <a:cs typeface="Calibri" pitchFamily="34" charset="-120"/>
                        </a:rPr>
                        <a:t>WebSocket</a:t>
                      </a:r>
                      <a:endParaRPr lang="en-US" sz="10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1000" dirty="0">
                          <a:solidFill>
                            <a:srgbClr val="D5DAE0"/>
                          </a:solidFill>
                          <a:latin typeface="Calibri" pitchFamily="34" charset="0"/>
                          <a:ea typeface="Calibri" pitchFamily="34" charset="-122"/>
                          <a:cs typeface="Calibri" pitchFamily="34" charset="-120"/>
                        </a:rPr>
                        <a:t>/market-data (trades)</a:t>
                      </a:r>
                      <a:endParaRPr lang="en-US" sz="10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extLst>
                  <a:ext uri="{0D108BD9-81ED-4DB2-BD59-A6C34878D82A}">
                    <a16:rowId xmlns:a16="http://schemas.microsoft.com/office/drawing/2014/main" val="10005"/>
                  </a:ext>
                </a:extLst>
              </a:tr>
              <a:tr h="274320">
                <a:tc>
                  <a:txBody>
                    <a:bodyPr/>
                    <a:lstStyle/>
                    <a:p>
                      <a:pPr marL="0" indent="0">
                        <a:buNone/>
                      </a:pPr>
                      <a:r>
                        <a:rPr lang="en-US" sz="1000" dirty="0">
                          <a:solidFill>
                            <a:srgbClr val="F2A65A"/>
                          </a:solidFill>
                          <a:latin typeface="Calibri" pitchFamily="34" charset="0"/>
                          <a:ea typeface="Calibri" pitchFamily="34" charset="-122"/>
                          <a:cs typeface="Calibri" pitchFamily="34" charset="-120"/>
                        </a:rPr>
                        <a:t>Chart yesterday's prices</a:t>
                      </a:r>
                      <a:endParaRPr lang="en-US" sz="10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1000" dirty="0">
                          <a:solidFill>
                            <a:srgbClr val="D5DAE0"/>
                          </a:solidFill>
                          <a:latin typeface="Calibri" pitchFamily="34" charset="0"/>
                          <a:ea typeface="Calibri" pitchFamily="34" charset="-122"/>
                          <a:cs typeface="Calibri" pitchFamily="34" charset="-120"/>
                        </a:rPr>
                        <a:t>REST</a:t>
                      </a:r>
                      <a:endParaRPr lang="en-US" sz="10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1000" dirty="0">
                          <a:solidFill>
                            <a:srgbClr val="D5DAE0"/>
                          </a:solidFill>
                          <a:latin typeface="Calibri" pitchFamily="34" charset="0"/>
                          <a:ea typeface="Calibri" pitchFamily="34" charset="-122"/>
                          <a:cs typeface="Calibri" pitchFamily="34" charset="-120"/>
                        </a:rPr>
                        <a:t>/history/daily, /history/price-snapshots</a:t>
                      </a:r>
                      <a:endParaRPr lang="en-US" sz="10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extLst>
                  <a:ext uri="{0D108BD9-81ED-4DB2-BD59-A6C34878D82A}">
                    <a16:rowId xmlns:a16="http://schemas.microsoft.com/office/drawing/2014/main" val="10006"/>
                  </a:ext>
                </a:extLst>
              </a:tr>
              <a:tr h="274320">
                <a:tc>
                  <a:txBody>
                    <a:bodyPr/>
                    <a:lstStyle/>
                    <a:p>
                      <a:pPr marL="0" indent="0">
                        <a:buNone/>
                      </a:pPr>
                      <a:r>
                        <a:rPr lang="en-US" sz="1000" dirty="0">
                          <a:solidFill>
                            <a:srgbClr val="F2A65A"/>
                          </a:solidFill>
                          <a:latin typeface="Calibri" pitchFamily="34" charset="0"/>
                          <a:ea typeface="Calibri" pitchFamily="34" charset="-122"/>
                          <a:cs typeface="Calibri" pitchFamily="34" charset="-120"/>
                        </a:rPr>
                        <a:t>React to a trading halt or session change</a:t>
                      </a:r>
                      <a:endParaRPr lang="en-US" sz="10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1000" dirty="0">
                          <a:solidFill>
                            <a:srgbClr val="D5DAE0"/>
                          </a:solidFill>
                          <a:latin typeface="Calibri" pitchFamily="34" charset="0"/>
                          <a:ea typeface="Calibri" pitchFamily="34" charset="-122"/>
                          <a:cs typeface="Calibri" pitchFamily="34" charset="-120"/>
                        </a:rPr>
                        <a:t>WebSocket</a:t>
                      </a:r>
                      <a:endParaRPr lang="en-US" sz="10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1000" dirty="0">
                          <a:solidFill>
                            <a:srgbClr val="D5DAE0"/>
                          </a:solidFill>
                          <a:latin typeface="Calibri" pitchFamily="34" charset="0"/>
                          <a:ea typeface="Calibri" pitchFamily="34" charset="-122"/>
                          <a:cs typeface="Calibri" pitchFamily="34" charset="-120"/>
                        </a:rPr>
                        <a:t>/market-data (always delivered)</a:t>
                      </a:r>
                      <a:endParaRPr lang="en-US" sz="10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extLst>
                  <a:ext uri="{0D108BD9-81ED-4DB2-BD59-A6C34878D82A}">
                    <a16:rowId xmlns:a16="http://schemas.microsoft.com/office/drawing/2014/main" val="10007"/>
                  </a:ext>
                </a:extLst>
              </a:tr>
              <a:tr h="274320">
                <a:tc>
                  <a:txBody>
                    <a:bodyPr/>
                    <a:lstStyle/>
                    <a:p>
                      <a:pPr marL="0" indent="0">
                        <a:buNone/>
                      </a:pPr>
                      <a:r>
                        <a:rPr lang="en-US" sz="1000" dirty="0">
                          <a:solidFill>
                            <a:srgbClr val="F2A65A"/>
                          </a:solidFill>
                          <a:latin typeface="Calibri" pitchFamily="34" charset="0"/>
                          <a:ea typeface="Calibri" pitchFamily="34" charset="-122"/>
                          <a:cs typeface="Calibri" pitchFamily="34" charset="-120"/>
                        </a:rPr>
                        <a:t>Recover state after a restart</a:t>
                      </a:r>
                      <a:endParaRPr lang="en-US" sz="10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1000" dirty="0">
                          <a:solidFill>
                            <a:srgbClr val="D5DAE0"/>
                          </a:solidFill>
                          <a:latin typeface="Calibri" pitchFamily="34" charset="0"/>
                          <a:ea typeface="Calibri" pitchFamily="34" charset="-122"/>
                          <a:cs typeface="Calibri" pitchFamily="34" charset="-120"/>
                        </a:rPr>
                        <a:t>REST</a:t>
                      </a:r>
                      <a:endParaRPr lang="en-US" sz="10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1000" dirty="0">
                          <a:solidFill>
                            <a:srgbClr val="D5DAE0"/>
                          </a:solidFill>
                          <a:latin typeface="Calibri" pitchFamily="34" charset="0"/>
                          <a:ea typeface="Calibri" pitchFamily="34" charset="-122"/>
                          <a:cs typeface="Calibri" pitchFamily="34" charset="-120"/>
                        </a:rPr>
                        <a:t>/orders, /positions, /status</a:t>
                      </a:r>
                      <a:endParaRPr lang="en-US" sz="10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extLst>
                  <a:ext uri="{0D108BD9-81ED-4DB2-BD59-A6C34878D82A}">
                    <a16:rowId xmlns:a16="http://schemas.microsoft.com/office/drawing/2014/main" val="10008"/>
                  </a:ext>
                </a:extLst>
              </a:tr>
            </a:tbl>
          </a:graphicData>
        </a:graphic>
      </p:graphicFrame>
      <p:sp>
        <p:nvSpPr>
          <p:cNvPr id="5" name="Text 2"/>
          <p:cNvSpPr/>
          <p:nvPr/>
        </p:nvSpPr>
        <p:spPr>
          <a:xfrm>
            <a:off x="502920" y="4224528"/>
            <a:ext cx="8138160" cy="384048"/>
          </a:xfrm>
          <a:prstGeom prst="rect">
            <a:avLst/>
          </a:prstGeom>
          <a:noFill/>
          <a:ln/>
        </p:spPr>
        <p:txBody>
          <a:bodyPr wrap="square" lIns="0" tIns="0" rIns="0" bIns="0" rtlCol="0" anchor="t"/>
          <a:lstStyle/>
          <a:p>
            <a:pPr marL="0" indent="0" algn="l">
              <a:buNone/>
            </a:pPr>
            <a:r>
              <a:rPr lang="en-US" sz="1200" i="1" dirty="0">
                <a:solidFill>
                  <a:srgbClr val="F2A65A"/>
                </a:solidFill>
                <a:latin typeface="Calibri" pitchFamily="34" charset="0"/>
                <a:ea typeface="Calibri" pitchFamily="34" charset="-122"/>
                <a:cs typeface="Calibri" pitchFamily="34" charset="-120"/>
              </a:rPr>
              <a:t>Actions and lookups go over REST. Anything you would otherwise poll for belongs on a WebSocket.</a:t>
            </a:r>
            <a:endParaRPr lang="en-US" sz="1200" dirty="0"/>
          </a:p>
        </p:txBody>
      </p:sp>
      <p:sp>
        <p:nvSpPr>
          <p:cNvPr id="6" name="Text 3"/>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REST and WebSocket</a:t>
            </a:r>
            <a:endParaRPr lang="en-US" sz="900" dirty="0"/>
          </a:p>
        </p:txBody>
      </p:sp>
      <p:sp>
        <p:nvSpPr>
          <p:cNvPr id="7" name="Text 4"/>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8138160" cy="548640"/>
          </a:xfrm>
          <a:prstGeom prst="rect">
            <a:avLst/>
          </a:prstGeom>
          <a:noFill/>
          <a:ln/>
        </p:spPr>
        <p:txBody>
          <a:bodyPr wrap="square" lIns="0" tIns="0" rIns="0" bIns="0" rtlCol="0" anchor="ctr"/>
          <a:lstStyle/>
          <a:p>
            <a:pPr marL="0" indent="0">
              <a:buNone/>
            </a:pPr>
            <a:r>
              <a:rPr lang="en-US" sz="2700" b="1" dirty="0">
                <a:solidFill>
                  <a:srgbClr val="F3F5F7"/>
                </a:solidFill>
                <a:latin typeface="Trebuchet MS" pitchFamily="34" charset="0"/>
                <a:ea typeface="Trebuchet MS" pitchFamily="34" charset="-122"/>
                <a:cs typeface="Trebuchet MS" pitchFamily="34" charset="-120"/>
              </a:rPr>
              <a:t>Real clients use both</a:t>
            </a:r>
            <a:endParaRPr lang="en-US" sz="2700" dirty="0"/>
          </a:p>
        </p:txBody>
      </p:sp>
      <p:sp>
        <p:nvSpPr>
          <p:cNvPr id="3" name="Text 1"/>
          <p:cNvSpPr/>
          <p:nvPr/>
        </p:nvSpPr>
        <p:spPr>
          <a:xfrm>
            <a:off x="502920" y="841248"/>
            <a:ext cx="8138160" cy="237744"/>
          </a:xfrm>
          <a:prstGeom prst="rect">
            <a:avLst/>
          </a:prstGeom>
          <a:noFill/>
          <a:ln/>
        </p:spPr>
        <p:txBody>
          <a:bodyPr wrap="square" lIns="0" tIns="0" rIns="0" bIns="0" rtlCol="0" anchor="ctr"/>
          <a:lstStyle/>
          <a:p>
            <a:pPr marL="0" indent="0">
              <a:buNone/>
            </a:pPr>
            <a:r>
              <a:rPr lang="en-US" sz="1100" b="1" kern="0" spc="200" dirty="0">
                <a:solidFill>
                  <a:srgbClr val="E8722C"/>
                </a:solidFill>
                <a:latin typeface="Calibri" pitchFamily="34" charset="0"/>
                <a:ea typeface="Calibri" pitchFamily="34" charset="-122"/>
                <a:cs typeface="Calibri" pitchFamily="34" charset="-120"/>
              </a:rPr>
              <a:t>THE COMBINED PATTERN</a:t>
            </a:r>
            <a:endParaRPr lang="en-US" sz="1100" dirty="0"/>
          </a:p>
        </p:txBody>
      </p:sp>
      <p:sp>
        <p:nvSpPr>
          <p:cNvPr id="4" name="card background">
            <a:extLst>
              <a:ext uri="{C183D7F6-B498-43B3-948B-1728B52AA6E4}">
                <adec:decorative xmlns:adec="http://schemas.microsoft.com/office/drawing/2017/decorative" val="1"/>
              </a:ext>
            </a:extLst>
          </p:cNvPr>
          <p:cNvSpPr/>
          <p:nvPr/>
        </p:nvSpPr>
        <p:spPr>
          <a:xfrm>
            <a:off x="502920" y="1463040"/>
            <a:ext cx="1801368" cy="1463040"/>
          </a:xfrm>
          <a:prstGeom prst="roundRect">
            <a:avLst>
              <a:gd name="adj" fmla="val 375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5" name="card top edge">
            <a:extLst>
              <a:ext uri="{C183D7F6-B498-43B3-948B-1728B52AA6E4}">
                <adec:decorative xmlns:adec="http://schemas.microsoft.com/office/drawing/2017/decorative" val="1"/>
              </a:ext>
            </a:extLst>
          </p:cNvPr>
          <p:cNvSpPr/>
          <p:nvPr/>
        </p:nvSpPr>
        <p:spPr>
          <a:xfrm>
            <a:off x="502920" y="1463040"/>
            <a:ext cx="1801368" cy="64008"/>
          </a:xfrm>
          <a:prstGeom prst="rect">
            <a:avLst/>
          </a:prstGeom>
          <a:solidFill>
            <a:srgbClr val="E8722C"/>
          </a:solidFill>
          <a:ln w="12700">
            <a:solidFill>
              <a:srgbClr val="E8722C"/>
            </a:solidFill>
            <a:prstDash val="solid"/>
          </a:ln>
        </p:spPr>
        <p:txBody>
          <a:bodyPr/>
          <a:lstStyle/>
          <a:p>
            <a:endParaRPr lang="en-SE"/>
          </a:p>
        </p:txBody>
      </p:sp>
      <p:sp>
        <p:nvSpPr>
          <p:cNvPr id="6" name="Text 4"/>
          <p:cNvSpPr/>
          <p:nvPr/>
        </p:nvSpPr>
        <p:spPr>
          <a:xfrm>
            <a:off x="649224" y="1645920"/>
            <a:ext cx="1508760" cy="310896"/>
          </a:xfrm>
          <a:prstGeom prst="rect">
            <a:avLst/>
          </a:prstGeom>
          <a:noFill/>
          <a:ln/>
        </p:spPr>
        <p:txBody>
          <a:bodyPr wrap="square" lIns="0" tIns="0" rIns="0" bIns="0" rtlCol="0" anchor="ctr"/>
          <a:lstStyle/>
          <a:p>
            <a:pPr marL="0" indent="0" algn="ctr">
              <a:buNone/>
            </a:pPr>
            <a:r>
              <a:rPr lang="en-US" sz="1300" b="1" dirty="0">
                <a:solidFill>
                  <a:srgbClr val="E8722C"/>
                </a:solidFill>
                <a:latin typeface="Trebuchet MS" pitchFamily="34" charset="0"/>
                <a:ea typeface="Trebuchet MS" pitchFamily="34" charset="-122"/>
                <a:cs typeface="Trebuchet MS" pitchFamily="34" charset="-120"/>
              </a:rPr>
              <a:t>1 · Open stream</a:t>
            </a:r>
            <a:endParaRPr lang="en-US" sz="1300" dirty="0"/>
          </a:p>
        </p:txBody>
      </p:sp>
      <p:sp>
        <p:nvSpPr>
          <p:cNvPr id="7" name="Text 5"/>
          <p:cNvSpPr/>
          <p:nvPr/>
        </p:nvSpPr>
        <p:spPr>
          <a:xfrm>
            <a:off x="630936" y="1975104"/>
            <a:ext cx="1545336" cy="841248"/>
          </a:xfrm>
          <a:prstGeom prst="rect">
            <a:avLst/>
          </a:prstGeom>
          <a:noFill/>
          <a:ln/>
        </p:spPr>
        <p:txBody>
          <a:bodyPr wrap="square" lIns="0" tIns="0" rIns="0" bIns="0" rtlCol="0" anchor="t"/>
          <a:lstStyle/>
          <a:p>
            <a:pPr marL="0" indent="0" algn="ctr">
              <a:buNone/>
            </a:pPr>
            <a:r>
              <a:rPr lang="en-US" sz="1050" dirty="0">
                <a:solidFill>
                  <a:srgbClr val="D5DAE0"/>
                </a:solidFill>
                <a:latin typeface="Calibri" pitchFamily="34" charset="0"/>
                <a:ea typeface="Calibri" pitchFamily="34" charset="-122"/>
                <a:cs typeface="Calibri" pitchFamily="34" charset="-120"/>
              </a:rPr>
              <a:t>Connect and authenticate the events WebSocket before you trade</a:t>
            </a:r>
            <a:endParaRPr lang="en-US" sz="1050" dirty="0"/>
          </a:p>
        </p:txBody>
      </p:sp>
      <p:sp>
        <p:nvSpPr>
          <p:cNvPr id="8" name="Text 6"/>
          <p:cNvSpPr/>
          <p:nvPr/>
        </p:nvSpPr>
        <p:spPr>
          <a:xfrm>
            <a:off x="2304288" y="1975104"/>
            <a:ext cx="310896" cy="438912"/>
          </a:xfrm>
          <a:prstGeom prst="rect">
            <a:avLst/>
          </a:prstGeom>
          <a:noFill/>
          <a:ln/>
        </p:spPr>
        <p:txBody>
          <a:bodyPr wrap="square" lIns="0" tIns="0" rIns="0" bIns="0" rtlCol="0" anchor="ctr"/>
          <a:lstStyle/>
          <a:p>
            <a:pPr marL="0" indent="0" algn="ctr">
              <a:buNone/>
            </a:pPr>
            <a:r>
              <a:rPr lang="en-US" sz="2200" b="1" dirty="0">
                <a:solidFill>
                  <a:srgbClr val="E8722C"/>
                </a:solidFill>
                <a:latin typeface="Trebuchet MS" pitchFamily="34" charset="0"/>
                <a:ea typeface="Trebuchet MS" pitchFamily="34" charset="-122"/>
                <a:cs typeface="Trebuchet MS" pitchFamily="34" charset="-120"/>
              </a:rPr>
              <a:t>›</a:t>
            </a:r>
            <a:endParaRPr lang="en-US" sz="2200" dirty="0"/>
          </a:p>
        </p:txBody>
      </p:sp>
      <p:sp>
        <p:nvSpPr>
          <p:cNvPr id="9" name="card background">
            <a:extLst>
              <a:ext uri="{C183D7F6-B498-43B3-948B-1728B52AA6E4}">
                <adec:decorative xmlns:adec="http://schemas.microsoft.com/office/drawing/2017/decorative" val="1"/>
              </a:ext>
            </a:extLst>
          </p:cNvPr>
          <p:cNvSpPr/>
          <p:nvPr/>
        </p:nvSpPr>
        <p:spPr>
          <a:xfrm>
            <a:off x="2615184" y="1463040"/>
            <a:ext cx="1801368" cy="1463040"/>
          </a:xfrm>
          <a:prstGeom prst="roundRect">
            <a:avLst>
              <a:gd name="adj" fmla="val 375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0" name="card top edge">
            <a:extLst>
              <a:ext uri="{C183D7F6-B498-43B3-948B-1728B52AA6E4}">
                <adec:decorative xmlns:adec="http://schemas.microsoft.com/office/drawing/2017/decorative" val="1"/>
              </a:ext>
            </a:extLst>
          </p:cNvPr>
          <p:cNvSpPr/>
          <p:nvPr/>
        </p:nvSpPr>
        <p:spPr>
          <a:xfrm>
            <a:off x="2615184" y="1463040"/>
            <a:ext cx="1801368" cy="64008"/>
          </a:xfrm>
          <a:prstGeom prst="rect">
            <a:avLst/>
          </a:prstGeom>
          <a:solidFill>
            <a:srgbClr val="F2A65A"/>
          </a:solidFill>
          <a:ln w="12700">
            <a:solidFill>
              <a:srgbClr val="F2A65A"/>
            </a:solidFill>
            <a:prstDash val="solid"/>
          </a:ln>
        </p:spPr>
        <p:txBody>
          <a:bodyPr/>
          <a:lstStyle/>
          <a:p>
            <a:endParaRPr lang="en-SE"/>
          </a:p>
        </p:txBody>
      </p:sp>
      <p:sp>
        <p:nvSpPr>
          <p:cNvPr id="11" name="Text 9"/>
          <p:cNvSpPr/>
          <p:nvPr/>
        </p:nvSpPr>
        <p:spPr>
          <a:xfrm>
            <a:off x="2761488" y="1645920"/>
            <a:ext cx="1508760" cy="310896"/>
          </a:xfrm>
          <a:prstGeom prst="rect">
            <a:avLst/>
          </a:prstGeom>
          <a:noFill/>
          <a:ln/>
        </p:spPr>
        <p:txBody>
          <a:bodyPr wrap="square" lIns="0" tIns="0" rIns="0" bIns="0" rtlCol="0" anchor="ctr"/>
          <a:lstStyle/>
          <a:p>
            <a:pPr marL="0" indent="0" algn="ctr">
              <a:buNone/>
            </a:pPr>
            <a:r>
              <a:rPr lang="en-US" sz="1300" b="1" dirty="0">
                <a:solidFill>
                  <a:srgbClr val="F2A65A"/>
                </a:solidFill>
                <a:latin typeface="Trebuchet MS" pitchFamily="34" charset="0"/>
                <a:ea typeface="Trebuchet MS" pitchFamily="34" charset="-122"/>
                <a:cs typeface="Trebuchet MS" pitchFamily="34" charset="-120"/>
              </a:rPr>
              <a:t>2 · Snapshot</a:t>
            </a:r>
            <a:endParaRPr lang="en-US" sz="1300" dirty="0"/>
          </a:p>
        </p:txBody>
      </p:sp>
      <p:sp>
        <p:nvSpPr>
          <p:cNvPr id="12" name="Text 10"/>
          <p:cNvSpPr/>
          <p:nvPr/>
        </p:nvSpPr>
        <p:spPr>
          <a:xfrm>
            <a:off x="2743200" y="1975104"/>
            <a:ext cx="1545336" cy="841248"/>
          </a:xfrm>
          <a:prstGeom prst="rect">
            <a:avLst/>
          </a:prstGeom>
          <a:noFill/>
          <a:ln/>
        </p:spPr>
        <p:txBody>
          <a:bodyPr wrap="square" lIns="0" tIns="0" rIns="0" bIns="0" rtlCol="0" anchor="t"/>
          <a:lstStyle/>
          <a:p>
            <a:pPr marL="0" indent="0" algn="ctr">
              <a:buNone/>
            </a:pPr>
            <a:r>
              <a:rPr lang="en-US" sz="1050" dirty="0">
                <a:solidFill>
                  <a:srgbClr val="D5DAE0"/>
                </a:solidFill>
                <a:latin typeface="Calibri" pitchFamily="34" charset="0"/>
                <a:ea typeface="Calibri" pitchFamily="34" charset="-122"/>
                <a:cs typeface="Calibri" pitchFamily="34" charset="-120"/>
              </a:rPr>
              <a:t>Call REST once for symbols, session and your live orders</a:t>
            </a:r>
            <a:endParaRPr lang="en-US" sz="1050" dirty="0"/>
          </a:p>
        </p:txBody>
      </p:sp>
      <p:sp>
        <p:nvSpPr>
          <p:cNvPr id="13" name="Text 11"/>
          <p:cNvSpPr/>
          <p:nvPr/>
        </p:nvSpPr>
        <p:spPr>
          <a:xfrm>
            <a:off x="4416552" y="1975104"/>
            <a:ext cx="310896" cy="438912"/>
          </a:xfrm>
          <a:prstGeom prst="rect">
            <a:avLst/>
          </a:prstGeom>
          <a:noFill/>
          <a:ln/>
        </p:spPr>
        <p:txBody>
          <a:bodyPr wrap="square" lIns="0" tIns="0" rIns="0" bIns="0" rtlCol="0" anchor="ctr"/>
          <a:lstStyle/>
          <a:p>
            <a:pPr marL="0" indent="0" algn="ctr">
              <a:buNone/>
            </a:pPr>
            <a:r>
              <a:rPr lang="en-US" sz="2200" b="1" dirty="0">
                <a:solidFill>
                  <a:srgbClr val="E8722C"/>
                </a:solidFill>
                <a:latin typeface="Trebuchet MS" pitchFamily="34" charset="0"/>
                <a:ea typeface="Trebuchet MS" pitchFamily="34" charset="-122"/>
                <a:cs typeface="Trebuchet MS" pitchFamily="34" charset="-120"/>
              </a:rPr>
              <a:t>›</a:t>
            </a:r>
            <a:endParaRPr lang="en-US" sz="2200" dirty="0"/>
          </a:p>
        </p:txBody>
      </p:sp>
      <p:sp>
        <p:nvSpPr>
          <p:cNvPr id="14" name="card background">
            <a:extLst>
              <a:ext uri="{C183D7F6-B498-43B3-948B-1728B52AA6E4}">
                <adec:decorative xmlns:adec="http://schemas.microsoft.com/office/drawing/2017/decorative" val="1"/>
              </a:ext>
            </a:extLst>
          </p:cNvPr>
          <p:cNvSpPr/>
          <p:nvPr/>
        </p:nvSpPr>
        <p:spPr>
          <a:xfrm>
            <a:off x="4727448" y="1463040"/>
            <a:ext cx="1801368" cy="1463040"/>
          </a:xfrm>
          <a:prstGeom prst="roundRect">
            <a:avLst>
              <a:gd name="adj" fmla="val 375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5" name="card top edge">
            <a:extLst>
              <a:ext uri="{C183D7F6-B498-43B3-948B-1728B52AA6E4}">
                <adec:decorative xmlns:adec="http://schemas.microsoft.com/office/drawing/2017/decorative" val="1"/>
              </a:ext>
            </a:extLst>
          </p:cNvPr>
          <p:cNvSpPr/>
          <p:nvPr/>
        </p:nvSpPr>
        <p:spPr>
          <a:xfrm>
            <a:off x="4727448" y="1463040"/>
            <a:ext cx="1801368" cy="64008"/>
          </a:xfrm>
          <a:prstGeom prst="rect">
            <a:avLst/>
          </a:prstGeom>
          <a:solidFill>
            <a:srgbClr val="35A79C"/>
          </a:solidFill>
          <a:ln w="12700">
            <a:solidFill>
              <a:srgbClr val="35A79C"/>
            </a:solidFill>
            <a:prstDash val="solid"/>
          </a:ln>
        </p:spPr>
        <p:txBody>
          <a:bodyPr/>
          <a:lstStyle/>
          <a:p>
            <a:endParaRPr lang="en-SE"/>
          </a:p>
        </p:txBody>
      </p:sp>
      <p:sp>
        <p:nvSpPr>
          <p:cNvPr id="16" name="Text 14"/>
          <p:cNvSpPr/>
          <p:nvPr/>
        </p:nvSpPr>
        <p:spPr>
          <a:xfrm>
            <a:off x="4873752" y="1645920"/>
            <a:ext cx="1508760" cy="310896"/>
          </a:xfrm>
          <a:prstGeom prst="rect">
            <a:avLst/>
          </a:prstGeom>
          <a:noFill/>
          <a:ln/>
        </p:spPr>
        <p:txBody>
          <a:bodyPr wrap="square" lIns="0" tIns="0" rIns="0" bIns="0" rtlCol="0" anchor="ctr"/>
          <a:lstStyle/>
          <a:p>
            <a:pPr marL="0" indent="0" algn="ctr">
              <a:buNone/>
            </a:pPr>
            <a:r>
              <a:rPr lang="en-US" sz="1300" b="1" dirty="0">
                <a:solidFill>
                  <a:srgbClr val="35A79C"/>
                </a:solidFill>
                <a:latin typeface="Trebuchet MS" pitchFamily="34" charset="0"/>
                <a:ea typeface="Trebuchet MS" pitchFamily="34" charset="-122"/>
                <a:cs typeface="Trebuchet MS" pitchFamily="34" charset="-120"/>
              </a:rPr>
              <a:t>3 · Act</a:t>
            </a:r>
            <a:endParaRPr lang="en-US" sz="1300" dirty="0"/>
          </a:p>
        </p:txBody>
      </p:sp>
      <p:sp>
        <p:nvSpPr>
          <p:cNvPr id="17" name="Text 15"/>
          <p:cNvSpPr/>
          <p:nvPr/>
        </p:nvSpPr>
        <p:spPr>
          <a:xfrm>
            <a:off x="4855464" y="1975104"/>
            <a:ext cx="1545336" cy="841248"/>
          </a:xfrm>
          <a:prstGeom prst="rect">
            <a:avLst/>
          </a:prstGeom>
          <a:noFill/>
          <a:ln/>
        </p:spPr>
        <p:txBody>
          <a:bodyPr wrap="square" lIns="0" tIns="0" rIns="0" bIns="0" rtlCol="0" anchor="t"/>
          <a:lstStyle/>
          <a:p>
            <a:pPr marL="0" indent="0" algn="ctr">
              <a:buNone/>
            </a:pPr>
            <a:r>
              <a:rPr lang="en-US" sz="1050" dirty="0">
                <a:solidFill>
                  <a:srgbClr val="D5DAE0"/>
                </a:solidFill>
                <a:latin typeface="Calibri" pitchFamily="34" charset="0"/>
                <a:ea typeface="Calibri" pitchFamily="34" charset="-122"/>
                <a:cs typeface="Calibri" pitchFamily="34" charset="-120"/>
              </a:rPr>
              <a:t>Submit and cancel orders over REST as decisions are made</a:t>
            </a:r>
            <a:endParaRPr lang="en-US" sz="1050" dirty="0"/>
          </a:p>
        </p:txBody>
      </p:sp>
      <p:sp>
        <p:nvSpPr>
          <p:cNvPr id="18" name="Text 16"/>
          <p:cNvSpPr/>
          <p:nvPr/>
        </p:nvSpPr>
        <p:spPr>
          <a:xfrm>
            <a:off x="6528816" y="1975104"/>
            <a:ext cx="310896" cy="438912"/>
          </a:xfrm>
          <a:prstGeom prst="rect">
            <a:avLst/>
          </a:prstGeom>
          <a:noFill/>
          <a:ln/>
        </p:spPr>
        <p:txBody>
          <a:bodyPr wrap="square" lIns="0" tIns="0" rIns="0" bIns="0" rtlCol="0" anchor="ctr"/>
          <a:lstStyle/>
          <a:p>
            <a:pPr marL="0" indent="0" algn="ctr">
              <a:buNone/>
            </a:pPr>
            <a:r>
              <a:rPr lang="en-US" sz="2200" b="1" dirty="0">
                <a:solidFill>
                  <a:srgbClr val="E8722C"/>
                </a:solidFill>
                <a:latin typeface="Trebuchet MS" pitchFamily="34" charset="0"/>
                <a:ea typeface="Trebuchet MS" pitchFamily="34" charset="-122"/>
                <a:cs typeface="Trebuchet MS" pitchFamily="34" charset="-120"/>
              </a:rPr>
              <a:t>›</a:t>
            </a:r>
            <a:endParaRPr lang="en-US" sz="2200" dirty="0"/>
          </a:p>
        </p:txBody>
      </p:sp>
      <p:sp>
        <p:nvSpPr>
          <p:cNvPr id="19" name="card background">
            <a:extLst>
              <a:ext uri="{C183D7F6-B498-43B3-948B-1728B52AA6E4}">
                <adec:decorative xmlns:adec="http://schemas.microsoft.com/office/drawing/2017/decorative" val="1"/>
              </a:ext>
            </a:extLst>
          </p:cNvPr>
          <p:cNvSpPr/>
          <p:nvPr/>
        </p:nvSpPr>
        <p:spPr>
          <a:xfrm>
            <a:off x="6839712" y="1463040"/>
            <a:ext cx="1801368" cy="1463040"/>
          </a:xfrm>
          <a:prstGeom prst="roundRect">
            <a:avLst>
              <a:gd name="adj" fmla="val 375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20" name="card top edge">
            <a:extLst>
              <a:ext uri="{C183D7F6-B498-43B3-948B-1728B52AA6E4}">
                <adec:decorative xmlns:adec="http://schemas.microsoft.com/office/drawing/2017/decorative" val="1"/>
              </a:ext>
            </a:extLst>
          </p:cNvPr>
          <p:cNvSpPr/>
          <p:nvPr/>
        </p:nvSpPr>
        <p:spPr>
          <a:xfrm>
            <a:off x="6839712" y="1463040"/>
            <a:ext cx="1801368" cy="64008"/>
          </a:xfrm>
          <a:prstGeom prst="rect">
            <a:avLst/>
          </a:prstGeom>
          <a:solidFill>
            <a:srgbClr val="8B7BD8"/>
          </a:solidFill>
          <a:ln w="12700">
            <a:solidFill>
              <a:srgbClr val="8B7BD8"/>
            </a:solidFill>
            <a:prstDash val="solid"/>
          </a:ln>
        </p:spPr>
        <p:txBody>
          <a:bodyPr/>
          <a:lstStyle/>
          <a:p>
            <a:endParaRPr lang="en-SE"/>
          </a:p>
        </p:txBody>
      </p:sp>
      <p:sp>
        <p:nvSpPr>
          <p:cNvPr id="21" name="Text 19"/>
          <p:cNvSpPr/>
          <p:nvPr/>
        </p:nvSpPr>
        <p:spPr>
          <a:xfrm>
            <a:off x="6986016" y="1645920"/>
            <a:ext cx="1508760" cy="310896"/>
          </a:xfrm>
          <a:prstGeom prst="rect">
            <a:avLst/>
          </a:prstGeom>
          <a:noFill/>
          <a:ln/>
        </p:spPr>
        <p:txBody>
          <a:bodyPr wrap="square" lIns="0" tIns="0" rIns="0" bIns="0" rtlCol="0" anchor="ctr"/>
          <a:lstStyle/>
          <a:p>
            <a:pPr marL="0" indent="0" algn="ctr">
              <a:buNone/>
            </a:pPr>
            <a:r>
              <a:rPr lang="en-US" sz="1300" b="1" dirty="0">
                <a:solidFill>
                  <a:srgbClr val="8B7BD8"/>
                </a:solidFill>
                <a:latin typeface="Trebuchet MS" pitchFamily="34" charset="0"/>
                <a:ea typeface="Trebuchet MS" pitchFamily="34" charset="-122"/>
                <a:cs typeface="Trebuchet MS" pitchFamily="34" charset="-120"/>
              </a:rPr>
              <a:t>4 · Listen</a:t>
            </a:r>
            <a:endParaRPr lang="en-US" sz="1300" dirty="0"/>
          </a:p>
        </p:txBody>
      </p:sp>
      <p:sp>
        <p:nvSpPr>
          <p:cNvPr id="22" name="Text 20"/>
          <p:cNvSpPr/>
          <p:nvPr/>
        </p:nvSpPr>
        <p:spPr>
          <a:xfrm>
            <a:off x="6967728" y="1975104"/>
            <a:ext cx="1545336" cy="841248"/>
          </a:xfrm>
          <a:prstGeom prst="rect">
            <a:avLst/>
          </a:prstGeom>
          <a:noFill/>
          <a:ln/>
        </p:spPr>
        <p:txBody>
          <a:bodyPr wrap="square" lIns="0" tIns="0" rIns="0" bIns="0" rtlCol="0" anchor="t"/>
          <a:lstStyle/>
          <a:p>
            <a:pPr marL="0" indent="0" algn="ctr">
              <a:buNone/>
            </a:pPr>
            <a:r>
              <a:rPr lang="en-US" sz="1050" dirty="0">
                <a:solidFill>
                  <a:srgbClr val="D5DAE0"/>
                </a:solidFill>
                <a:latin typeface="Calibri" pitchFamily="34" charset="0"/>
                <a:ea typeface="Calibri" pitchFamily="34" charset="-122"/>
                <a:cs typeface="Calibri" pitchFamily="34" charset="-120"/>
              </a:rPr>
              <a:t>Let acks, fills and price moves arrive on the stream</a:t>
            </a:r>
            <a:endParaRPr lang="en-US" sz="1050" dirty="0"/>
          </a:p>
        </p:txBody>
      </p:sp>
      <p:sp>
        <p:nvSpPr>
          <p:cNvPr id="23" name="card background">
            <a:extLst>
              <a:ext uri="{C183D7F6-B498-43B3-948B-1728B52AA6E4}">
                <adec:decorative xmlns:adec="http://schemas.microsoft.com/office/drawing/2017/decorative" val="1"/>
              </a:ext>
            </a:extLst>
          </p:cNvPr>
          <p:cNvSpPr/>
          <p:nvPr/>
        </p:nvSpPr>
        <p:spPr>
          <a:xfrm>
            <a:off x="502920" y="3200400"/>
            <a:ext cx="8138160" cy="1234440"/>
          </a:xfrm>
          <a:prstGeom prst="roundRect">
            <a:avLst>
              <a:gd name="adj" fmla="val 4444"/>
            </a:avLst>
          </a:prstGeom>
          <a:solidFill>
            <a:srgbClr val="2E353D"/>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24" name="Text 22"/>
          <p:cNvSpPr/>
          <p:nvPr/>
        </p:nvSpPr>
        <p:spPr>
          <a:xfrm>
            <a:off x="713232" y="3291840"/>
            <a:ext cx="3657600" cy="292608"/>
          </a:xfrm>
          <a:prstGeom prst="rect">
            <a:avLst/>
          </a:prstGeom>
          <a:noFill/>
          <a:ln/>
        </p:spPr>
        <p:txBody>
          <a:bodyPr wrap="square" lIns="0" tIns="0" rIns="0" bIns="0" rtlCol="0" anchor="ctr"/>
          <a:lstStyle/>
          <a:p>
            <a:pPr marL="0" indent="0">
              <a:buNone/>
            </a:pPr>
            <a:r>
              <a:rPr lang="en-US" sz="1300" b="1" dirty="0">
                <a:solidFill>
                  <a:srgbClr val="E8722C"/>
                </a:solidFill>
                <a:latin typeface="Trebuchet MS" pitchFamily="34" charset="0"/>
                <a:ea typeface="Trebuchet MS" pitchFamily="34" charset="-122"/>
                <a:cs typeface="Trebuchet MS" pitchFamily="34" charset="-120"/>
              </a:rPr>
              <a:t>Why this order matters</a:t>
            </a:r>
            <a:endParaRPr lang="en-US" sz="1300" dirty="0"/>
          </a:p>
        </p:txBody>
      </p:sp>
      <p:sp>
        <p:nvSpPr>
          <p:cNvPr id="25" name="Text 23"/>
          <p:cNvSpPr/>
          <p:nvPr/>
        </p:nvSpPr>
        <p:spPr>
          <a:xfrm>
            <a:off x="713232" y="3639312"/>
            <a:ext cx="7680960" cy="731520"/>
          </a:xfrm>
          <a:prstGeom prst="rect">
            <a:avLst/>
          </a:prstGeom>
          <a:noFill/>
          <a:ln/>
        </p:spPr>
        <p:txBody>
          <a:bodyPr wrap="square" lIns="0" tIns="0" rIns="0" bIns="0" rtlCol="0" anchor="ctr"/>
          <a:lstStyle/>
          <a:p>
            <a:pPr marL="342900" indent="-342900">
              <a:spcAft>
                <a:spcPts val="800"/>
              </a:spcAft>
              <a:buSzPct val="100000"/>
              <a:buChar char="▪"/>
            </a:pPr>
            <a:r>
              <a:rPr lang="en-US" sz="1150" dirty="0">
                <a:solidFill>
                  <a:srgbClr val="D5DAE0"/>
                </a:solidFill>
                <a:latin typeface="Calibri" pitchFamily="34" charset="0"/>
                <a:ea typeface="Calibri" pitchFamily="34" charset="-122"/>
                <a:cs typeface="Calibri" pitchFamily="34" charset="-120"/>
              </a:rPr>
              <a:t>Connect the stream first, then trade — otherwise the outcome of your first order can arrive before you are listening.</a:t>
            </a:r>
            <a:endParaRPr lang="en-US" sz="1150" dirty="0"/>
          </a:p>
          <a:p>
            <a:pPr marL="342900" indent="-342900">
              <a:spcAft>
                <a:spcPts val="800"/>
              </a:spcAft>
              <a:buSzPct val="100000"/>
              <a:buChar char="▪"/>
            </a:pPr>
            <a:r>
              <a:rPr lang="en-US" sz="1150" dirty="0">
                <a:solidFill>
                  <a:srgbClr val="D5DAE0"/>
                </a:solidFill>
                <a:latin typeface="Calibri" pitchFamily="34" charset="0"/>
                <a:ea typeface="Calibri" pitchFamily="34" charset="-122"/>
                <a:cs typeface="Calibri" pitchFamily="34" charset="-120"/>
              </a:rPr>
              <a:t>Use REST once at start-up to establish the current picture, then let the stream keep it current.</a:t>
            </a:r>
            <a:endParaRPr lang="en-US" sz="1150" dirty="0"/>
          </a:p>
          <a:p>
            <a:pPr marL="342900" indent="-342900">
              <a:buSzPct val="100000"/>
              <a:buChar char="▪"/>
            </a:pPr>
            <a:r>
              <a:rPr lang="en-US" sz="1150" dirty="0">
                <a:solidFill>
                  <a:srgbClr val="D5DAE0"/>
                </a:solidFill>
                <a:latin typeface="Calibri" pitchFamily="34" charset="0"/>
                <a:ea typeface="Calibri" pitchFamily="34" charset="-122"/>
                <a:cs typeface="Calibri" pitchFamily="34" charset="-120"/>
              </a:rPr>
              <a:t>Re-snapshot over REST after any reconnect, so you never trade on a stale view.</a:t>
            </a:r>
            <a:endParaRPr lang="en-US" sz="1150" dirty="0"/>
          </a:p>
        </p:txBody>
      </p:sp>
      <p:sp>
        <p:nvSpPr>
          <p:cNvPr id="26" name="Text 24"/>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REST and WebSocket</a:t>
            </a:r>
            <a:endParaRPr lang="en-US" sz="900" dirty="0"/>
          </a:p>
        </p:txBody>
      </p:sp>
      <p:sp>
        <p:nvSpPr>
          <p:cNvPr id="27" name="Text 25"/>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8138160" cy="548640"/>
          </a:xfrm>
          <a:prstGeom prst="rect">
            <a:avLst/>
          </a:prstGeom>
          <a:noFill/>
          <a:ln/>
        </p:spPr>
        <p:txBody>
          <a:bodyPr wrap="square" lIns="0" tIns="0" rIns="0" bIns="0" rtlCol="0" anchor="ctr"/>
          <a:lstStyle/>
          <a:p>
            <a:pPr marL="0" indent="0">
              <a:buNone/>
            </a:pPr>
            <a:r>
              <a:rPr lang="en-US" sz="2700" b="1" dirty="0">
                <a:solidFill>
                  <a:srgbClr val="F3F5F7"/>
                </a:solidFill>
                <a:latin typeface="Trebuchet MS" pitchFamily="34" charset="0"/>
                <a:ea typeface="Trebuchet MS" pitchFamily="34" charset="-122"/>
                <a:cs typeface="Trebuchet MS" pitchFamily="34" charset="-120"/>
              </a:rPr>
              <a:t>Synchronous or fire-and-forget?</a:t>
            </a:r>
            <a:endParaRPr lang="en-US" sz="2700" dirty="0"/>
          </a:p>
        </p:txBody>
      </p:sp>
      <p:sp>
        <p:nvSpPr>
          <p:cNvPr id="3" name="Text 1"/>
          <p:cNvSpPr/>
          <p:nvPr/>
        </p:nvSpPr>
        <p:spPr>
          <a:xfrm>
            <a:off x="502920" y="841248"/>
            <a:ext cx="8138160" cy="237744"/>
          </a:xfrm>
          <a:prstGeom prst="rect">
            <a:avLst/>
          </a:prstGeom>
          <a:noFill/>
          <a:ln/>
        </p:spPr>
        <p:txBody>
          <a:bodyPr wrap="square" lIns="0" tIns="0" rIns="0" bIns="0" rtlCol="0" anchor="ctr"/>
          <a:lstStyle/>
          <a:p>
            <a:pPr marL="0" indent="0">
              <a:buNone/>
            </a:pPr>
            <a:r>
              <a:rPr lang="en-US" sz="1100" b="1" kern="0" spc="200" dirty="0">
                <a:solidFill>
                  <a:srgbClr val="E8722C"/>
                </a:solidFill>
                <a:latin typeface="Calibri" pitchFamily="34" charset="0"/>
                <a:ea typeface="Calibri" pitchFamily="34" charset="-122"/>
                <a:cs typeface="Calibri" pitchFamily="34" charset="-120"/>
              </a:rPr>
              <a:t>A REST SUBTLETY</a:t>
            </a:r>
            <a:endParaRPr lang="en-US" sz="1100" dirty="0"/>
          </a:p>
        </p:txBody>
      </p:sp>
      <p:sp>
        <p:nvSpPr>
          <p:cNvPr id="4" name="card background">
            <a:extLst>
              <a:ext uri="{C183D7F6-B498-43B3-948B-1728B52AA6E4}">
                <adec:decorative xmlns:adec="http://schemas.microsoft.com/office/drawing/2017/decorative" val="1"/>
              </a:ext>
            </a:extLst>
          </p:cNvPr>
          <p:cNvSpPr/>
          <p:nvPr/>
        </p:nvSpPr>
        <p:spPr>
          <a:xfrm>
            <a:off x="502920" y="1234440"/>
            <a:ext cx="3959352" cy="2788920"/>
          </a:xfrm>
          <a:prstGeom prst="roundRect">
            <a:avLst>
              <a:gd name="adj" fmla="val 1967"/>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5" name="card top edge">
            <a:extLst>
              <a:ext uri="{C183D7F6-B498-43B3-948B-1728B52AA6E4}">
                <adec:decorative xmlns:adec="http://schemas.microsoft.com/office/drawing/2017/decorative" val="1"/>
              </a:ext>
            </a:extLst>
          </p:cNvPr>
          <p:cNvSpPr/>
          <p:nvPr/>
        </p:nvSpPr>
        <p:spPr>
          <a:xfrm>
            <a:off x="502920" y="1234440"/>
            <a:ext cx="3959352" cy="73152"/>
          </a:xfrm>
          <a:prstGeom prst="rect">
            <a:avLst/>
          </a:prstGeom>
          <a:solidFill>
            <a:srgbClr val="F2A65A"/>
          </a:solidFill>
          <a:ln w="12700">
            <a:solidFill>
              <a:srgbClr val="F2A65A"/>
            </a:solidFill>
            <a:prstDash val="solid"/>
          </a:ln>
        </p:spPr>
        <p:txBody>
          <a:bodyPr/>
          <a:lstStyle/>
          <a:p>
            <a:endParaRPr lang="en-SE"/>
          </a:p>
        </p:txBody>
      </p:sp>
      <p:sp>
        <p:nvSpPr>
          <p:cNvPr id="6" name="Text 4"/>
          <p:cNvSpPr/>
          <p:nvPr/>
        </p:nvSpPr>
        <p:spPr>
          <a:xfrm>
            <a:off x="740664" y="1453896"/>
            <a:ext cx="3502152" cy="365760"/>
          </a:xfrm>
          <a:prstGeom prst="rect">
            <a:avLst/>
          </a:prstGeom>
          <a:noFill/>
          <a:ln/>
        </p:spPr>
        <p:txBody>
          <a:bodyPr wrap="square" lIns="0" tIns="0" rIns="0" bIns="0" rtlCol="0" anchor="ctr"/>
          <a:lstStyle/>
          <a:p>
            <a:pPr marL="0" indent="0">
              <a:buNone/>
            </a:pPr>
            <a:r>
              <a:rPr lang="en-US" sz="1700" b="1" dirty="0">
                <a:solidFill>
                  <a:srgbClr val="F2A65A"/>
                </a:solidFill>
                <a:latin typeface="Trebuchet MS" pitchFamily="34" charset="0"/>
                <a:ea typeface="Trebuchet MS" pitchFamily="34" charset="-122"/>
                <a:cs typeface="Trebuchet MS" pitchFamily="34" charset="-120"/>
              </a:rPr>
              <a:t>Default — 202 Accepted</a:t>
            </a:r>
            <a:endParaRPr lang="en-US" sz="1700" dirty="0"/>
          </a:p>
        </p:txBody>
      </p:sp>
      <p:sp>
        <p:nvSpPr>
          <p:cNvPr id="7" name="Text 5"/>
          <p:cNvSpPr/>
          <p:nvPr/>
        </p:nvSpPr>
        <p:spPr>
          <a:xfrm>
            <a:off x="740664" y="1819656"/>
            <a:ext cx="3502152" cy="274320"/>
          </a:xfrm>
          <a:prstGeom prst="rect">
            <a:avLst/>
          </a:prstGeom>
          <a:noFill/>
          <a:ln/>
        </p:spPr>
        <p:txBody>
          <a:bodyPr wrap="square" lIns="0" tIns="0" rIns="0" bIns="0" rtlCol="0" anchor="ctr"/>
          <a:lstStyle/>
          <a:p>
            <a:pPr marL="0" indent="0">
              <a:buNone/>
            </a:pPr>
            <a:r>
              <a:rPr lang="en-US" sz="1100" i="1" dirty="0">
                <a:solidFill>
                  <a:srgbClr val="97A1AC"/>
                </a:solidFill>
                <a:latin typeface="Calibri" pitchFamily="34" charset="0"/>
                <a:ea typeface="Calibri" pitchFamily="34" charset="-122"/>
                <a:cs typeface="Calibri" pitchFamily="34" charset="-120"/>
              </a:rPr>
              <a:t>The gateway hands your order on and returns immediately</a:t>
            </a:r>
            <a:endParaRPr lang="en-US" sz="1100" dirty="0"/>
          </a:p>
        </p:txBody>
      </p:sp>
      <p:sp>
        <p:nvSpPr>
          <p:cNvPr id="8" name="Text 6"/>
          <p:cNvSpPr/>
          <p:nvPr/>
        </p:nvSpPr>
        <p:spPr>
          <a:xfrm>
            <a:off x="740664" y="2167128"/>
            <a:ext cx="3502152" cy="1673352"/>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Fast: your code is not blocked waiting for the engine</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The reply confirms receipt, not acceptance</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The real outcome arrives on the events stream</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Best for UIs and any client that already listens to events</a:t>
            </a:r>
            <a:endParaRPr lang="en-US" sz="1150" dirty="0"/>
          </a:p>
        </p:txBody>
      </p:sp>
      <p:sp>
        <p:nvSpPr>
          <p:cNvPr id="9" name="card background">
            <a:extLst>
              <a:ext uri="{C183D7F6-B498-43B3-948B-1728B52AA6E4}">
                <adec:decorative xmlns:adec="http://schemas.microsoft.com/office/drawing/2017/decorative" val="1"/>
              </a:ext>
            </a:extLst>
          </p:cNvPr>
          <p:cNvSpPr/>
          <p:nvPr/>
        </p:nvSpPr>
        <p:spPr>
          <a:xfrm>
            <a:off x="4681728" y="1234440"/>
            <a:ext cx="3959352" cy="2788920"/>
          </a:xfrm>
          <a:prstGeom prst="roundRect">
            <a:avLst>
              <a:gd name="adj" fmla="val 1967"/>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0" name="card top edge">
            <a:extLst>
              <a:ext uri="{C183D7F6-B498-43B3-948B-1728B52AA6E4}">
                <adec:decorative xmlns:adec="http://schemas.microsoft.com/office/drawing/2017/decorative" val="1"/>
              </a:ext>
            </a:extLst>
          </p:cNvPr>
          <p:cNvSpPr/>
          <p:nvPr/>
        </p:nvSpPr>
        <p:spPr>
          <a:xfrm>
            <a:off x="4681728" y="1234440"/>
            <a:ext cx="3959352" cy="73152"/>
          </a:xfrm>
          <a:prstGeom prst="rect">
            <a:avLst/>
          </a:prstGeom>
          <a:solidFill>
            <a:srgbClr val="35A79C"/>
          </a:solidFill>
          <a:ln w="12700">
            <a:solidFill>
              <a:srgbClr val="35A79C"/>
            </a:solidFill>
            <a:prstDash val="solid"/>
          </a:ln>
        </p:spPr>
        <p:txBody>
          <a:bodyPr/>
          <a:lstStyle/>
          <a:p>
            <a:endParaRPr lang="en-SE"/>
          </a:p>
        </p:txBody>
      </p:sp>
      <p:sp>
        <p:nvSpPr>
          <p:cNvPr id="11" name="Text 9"/>
          <p:cNvSpPr/>
          <p:nvPr/>
        </p:nvSpPr>
        <p:spPr>
          <a:xfrm>
            <a:off x="4919472" y="1453896"/>
            <a:ext cx="3502152" cy="365760"/>
          </a:xfrm>
          <a:prstGeom prst="rect">
            <a:avLst/>
          </a:prstGeom>
          <a:noFill/>
          <a:ln/>
        </p:spPr>
        <p:txBody>
          <a:bodyPr wrap="square" lIns="0" tIns="0" rIns="0" bIns="0" rtlCol="0" anchor="ctr"/>
          <a:lstStyle/>
          <a:p>
            <a:pPr marL="0" indent="0">
              <a:buNone/>
            </a:pPr>
            <a:r>
              <a:rPr lang="en-US" sz="1700" b="1" dirty="0">
                <a:solidFill>
                  <a:srgbClr val="35A79C"/>
                </a:solidFill>
                <a:latin typeface="Trebuchet MS" pitchFamily="34" charset="0"/>
                <a:ea typeface="Trebuchet MS" pitchFamily="34" charset="-122"/>
                <a:cs typeface="Trebuchet MS" pitchFamily="34" charset="-120"/>
              </a:rPr>
              <a:t>Add ?wait=ack</a:t>
            </a:r>
            <a:endParaRPr lang="en-US" sz="1700" dirty="0"/>
          </a:p>
        </p:txBody>
      </p:sp>
      <p:sp>
        <p:nvSpPr>
          <p:cNvPr id="12" name="Text 10"/>
          <p:cNvSpPr/>
          <p:nvPr/>
        </p:nvSpPr>
        <p:spPr>
          <a:xfrm>
            <a:off x="4919472" y="1819656"/>
            <a:ext cx="3502152" cy="274320"/>
          </a:xfrm>
          <a:prstGeom prst="rect">
            <a:avLst/>
          </a:prstGeom>
          <a:noFill/>
          <a:ln/>
        </p:spPr>
        <p:txBody>
          <a:bodyPr wrap="square" lIns="0" tIns="0" rIns="0" bIns="0" rtlCol="0" anchor="ctr"/>
          <a:lstStyle/>
          <a:p>
            <a:pPr marL="0" indent="0">
              <a:buNone/>
            </a:pPr>
            <a:r>
              <a:rPr lang="en-US" sz="1100" i="1" dirty="0">
                <a:solidFill>
                  <a:srgbClr val="97A1AC"/>
                </a:solidFill>
                <a:latin typeface="Calibri" pitchFamily="34" charset="0"/>
                <a:ea typeface="Calibri" pitchFamily="34" charset="-122"/>
                <a:cs typeface="Calibri" pitchFamily="34" charset="-120"/>
              </a:rPr>
              <a:t>The gateway waits for the engine's acknowledgement for you</a:t>
            </a:r>
            <a:endParaRPr lang="en-US" sz="1100" dirty="0"/>
          </a:p>
        </p:txBody>
      </p:sp>
      <p:sp>
        <p:nvSpPr>
          <p:cNvPr id="13" name="Text 11"/>
          <p:cNvSpPr/>
          <p:nvPr/>
        </p:nvSpPr>
        <p:spPr>
          <a:xfrm>
            <a:off x="4919472" y="2167128"/>
            <a:ext cx="3502152" cy="1673352"/>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Simple: one call gives you the final answer</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Waits only for your own order, so parallel requests never cross</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Times out and returns an error if the engine stays silent</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Best for scripts, tests and step-by-step teaching examples</a:t>
            </a:r>
            <a:endParaRPr lang="en-US" sz="1150" dirty="0"/>
          </a:p>
        </p:txBody>
      </p:sp>
      <p:sp>
        <p:nvSpPr>
          <p:cNvPr id="14" name="Text 12"/>
          <p:cNvSpPr/>
          <p:nvPr/>
        </p:nvSpPr>
        <p:spPr>
          <a:xfrm>
            <a:off x="502920" y="4160520"/>
            <a:ext cx="8138160" cy="457200"/>
          </a:xfrm>
          <a:prstGeom prst="rect">
            <a:avLst/>
          </a:prstGeom>
          <a:noFill/>
          <a:ln/>
        </p:spPr>
        <p:txBody>
          <a:bodyPr wrap="square" lIns="0" tIns="0" rIns="0" bIns="0" rtlCol="0" anchor="t"/>
          <a:lstStyle/>
          <a:p>
            <a:pPr marL="0" indent="0" algn="l">
              <a:buNone/>
            </a:pPr>
            <a:r>
              <a:rPr lang="en-US" sz="1150" i="1" dirty="0">
                <a:solidFill>
                  <a:srgbClr val="97A1AC"/>
                </a:solidFill>
                <a:latin typeface="Calibri" pitchFamily="34" charset="0"/>
                <a:ea typeface="Calibri" pitchFamily="34" charset="-122"/>
                <a:cs typeface="Calibri" pitchFamily="34" charset="-120"/>
              </a:rPr>
              <a:t>Cancel and amend accept ?wait=ack too. Cancel-replace always waits for the cancel before submitting the replacement.</a:t>
            </a:r>
            <a:endParaRPr lang="en-US" sz="1150" dirty="0"/>
          </a:p>
        </p:txBody>
      </p:sp>
      <p:sp>
        <p:nvSpPr>
          <p:cNvPr id="15" name="Text 13"/>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REST and WebSocket</a:t>
            </a:r>
            <a:endParaRPr lang="en-US" sz="900" dirty="0"/>
          </a:p>
        </p:txBody>
      </p:sp>
      <p:sp>
        <p:nvSpPr>
          <p:cNvPr id="16" name="Text 14"/>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ide band">
            <a:extLst>
              <a:ext uri="{C183D7F6-B498-43B3-948B-1728B52AA6E4}">
                <adec:decorative xmlns:adec="http://schemas.microsoft.com/office/drawing/2017/decorative" val="1"/>
              </a:ext>
            </a:extLst>
          </p:cNvPr>
          <p:cNvSpPr/>
          <p:nvPr/>
        </p:nvSpPr>
        <p:spPr>
          <a:xfrm>
            <a:off x="0" y="0"/>
            <a:ext cx="384048" cy="5143500"/>
          </a:xfrm>
          <a:prstGeom prst="rect">
            <a:avLst/>
          </a:prstGeom>
          <a:solidFill>
            <a:srgbClr val="E8722C"/>
          </a:solidFill>
          <a:ln w="12700">
            <a:solidFill>
              <a:srgbClr val="E8722C"/>
            </a:solidFill>
            <a:prstDash val="solid"/>
          </a:ln>
        </p:spPr>
        <p:txBody>
          <a:bodyPr/>
          <a:lstStyle/>
          <a:p>
            <a:endParaRPr lang="en-SE"/>
          </a:p>
        </p:txBody>
      </p:sp>
      <p:sp>
        <p:nvSpPr>
          <p:cNvPr id="3" name="Text 1"/>
          <p:cNvSpPr/>
          <p:nvPr/>
        </p:nvSpPr>
        <p:spPr>
          <a:xfrm>
            <a:off x="960120" y="1371600"/>
            <a:ext cx="2743200" cy="822960"/>
          </a:xfrm>
          <a:prstGeom prst="rect">
            <a:avLst/>
          </a:prstGeom>
          <a:noFill/>
          <a:ln/>
        </p:spPr>
        <p:txBody>
          <a:bodyPr wrap="square" lIns="0" tIns="0" rIns="0" bIns="0" rtlCol="0" anchor="ctr"/>
          <a:lstStyle/>
          <a:p>
            <a:pPr marL="0" indent="0">
              <a:buNone/>
            </a:pPr>
            <a:r>
              <a:rPr lang="en-US" sz="6200" b="1" dirty="0">
                <a:solidFill>
                  <a:srgbClr val="2E353D"/>
                </a:solidFill>
                <a:latin typeface="Trebuchet MS" pitchFamily="34" charset="0"/>
                <a:ea typeface="Trebuchet MS" pitchFamily="34" charset="-122"/>
                <a:cs typeface="Trebuchet MS" pitchFamily="34" charset="-120"/>
              </a:rPr>
              <a:t>03</a:t>
            </a:r>
            <a:endParaRPr lang="en-US" sz="6200" dirty="0"/>
          </a:p>
        </p:txBody>
      </p:sp>
      <p:sp>
        <p:nvSpPr>
          <p:cNvPr id="4" name="Text 0"/>
          <p:cNvSpPr>
            <a:spLocks noGrp="1"/>
          </p:cNvSpPr>
          <p:nvPr>
            <p:ph type="title" idx="100" hasCustomPrompt="1"/>
          </p:nvPr>
        </p:nvSpPr>
        <p:spPr>
          <a:xfrm>
            <a:off x="1005840" y="2148840"/>
            <a:ext cx="7132320" cy="914400"/>
          </a:xfrm>
          <a:prstGeom prst="rect">
            <a:avLst/>
          </a:prstGeom>
          <a:noFill/>
          <a:ln/>
        </p:spPr>
        <p:txBody>
          <a:bodyPr wrap="square" lIns="0" tIns="0" rIns="0" bIns="0" rtlCol="0"/>
          <a:lstStyle/>
          <a:p>
            <a:pPr marL="0" indent="0" algn="l">
              <a:buNone/>
            </a:pPr>
            <a:r>
              <a:rPr lang="en-US" sz="3600" b="1" dirty="0">
                <a:solidFill>
                  <a:srgbClr val="F3F5F7"/>
                </a:solidFill>
                <a:latin typeface="Trebuchet MS" pitchFamily="34" charset="0"/>
                <a:ea typeface="Trebuchet MS" pitchFamily="34" charset="-122"/>
                <a:cs typeface="Trebuchet MS" pitchFamily="34" charset="-120"/>
              </a:rPr>
              <a:t>Getting connected</a:t>
            </a:r>
            <a:endParaRPr lang="en-US" sz="3600" dirty="0"/>
          </a:p>
        </p:txBody>
      </p:sp>
      <p:sp>
        <p:nvSpPr>
          <p:cNvPr id="5" name="Text 3"/>
          <p:cNvSpPr/>
          <p:nvPr/>
        </p:nvSpPr>
        <p:spPr>
          <a:xfrm>
            <a:off x="1024128" y="3108960"/>
            <a:ext cx="6949440" cy="731520"/>
          </a:xfrm>
          <a:prstGeom prst="rect">
            <a:avLst/>
          </a:prstGeom>
          <a:noFill/>
          <a:ln/>
        </p:spPr>
        <p:txBody>
          <a:bodyPr wrap="square" lIns="0" tIns="0" rIns="0" bIns="0" rtlCol="0" anchor="ctr"/>
          <a:lstStyle/>
          <a:p>
            <a:pPr marL="0" indent="0">
              <a:buNone/>
            </a:pPr>
            <a:r>
              <a:rPr lang="en-US" sz="1400" dirty="0">
                <a:solidFill>
                  <a:srgbClr val="97A1AC"/>
                </a:solidFill>
                <a:latin typeface="Calibri" pitchFamily="34" charset="0"/>
                <a:ea typeface="Calibri" pitchFamily="34" charset="-122"/>
                <a:cs typeface="Calibri" pitchFamily="34" charset="-120"/>
              </a:rPr>
              <a:t>From a configuration block to your first successful call</a:t>
            </a:r>
            <a:endParaRPr lang="en-US" sz="1400" dirty="0"/>
          </a:p>
        </p:txBody>
      </p:sp>
      <p:sp>
        <p:nvSpPr>
          <p:cNvPr id="6" name="Text 4"/>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Getting connected</a:t>
            </a:r>
            <a:endParaRPr lang="en-US" sz="900" dirty="0"/>
          </a:p>
        </p:txBody>
      </p:sp>
      <p:sp>
        <p:nvSpPr>
          <p:cNvPr id="7" name="Text 5"/>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8138160" cy="548640"/>
          </a:xfrm>
          <a:prstGeom prst="rect">
            <a:avLst/>
          </a:prstGeom>
          <a:noFill/>
          <a:ln/>
        </p:spPr>
        <p:txBody>
          <a:bodyPr wrap="square" lIns="0" tIns="0" rIns="0" bIns="0" rtlCol="0" anchor="ctr"/>
          <a:lstStyle/>
          <a:p>
            <a:pPr marL="0" indent="0">
              <a:buNone/>
            </a:pPr>
            <a:r>
              <a:rPr lang="en-US" sz="2700" b="1" dirty="0">
                <a:solidFill>
                  <a:srgbClr val="F3F5F7"/>
                </a:solidFill>
                <a:latin typeface="Trebuchet MS" pitchFamily="34" charset="0"/>
                <a:ea typeface="Trebuchet MS" pitchFamily="34" charset="-122"/>
                <a:cs typeface="Trebuchet MS" pitchFamily="34" charset="-120"/>
              </a:rPr>
              <a:t>The five-minute path</a:t>
            </a:r>
            <a:endParaRPr lang="en-US" sz="2700" dirty="0"/>
          </a:p>
        </p:txBody>
      </p:sp>
      <p:sp>
        <p:nvSpPr>
          <p:cNvPr id="3" name="Text 1"/>
          <p:cNvSpPr/>
          <p:nvPr/>
        </p:nvSpPr>
        <p:spPr>
          <a:xfrm>
            <a:off x="502920" y="841248"/>
            <a:ext cx="8138160" cy="237744"/>
          </a:xfrm>
          <a:prstGeom prst="rect">
            <a:avLst/>
          </a:prstGeom>
          <a:noFill/>
          <a:ln/>
        </p:spPr>
        <p:txBody>
          <a:bodyPr wrap="square" lIns="0" tIns="0" rIns="0" bIns="0" rtlCol="0" anchor="ctr"/>
          <a:lstStyle/>
          <a:p>
            <a:pPr marL="0" indent="0">
              <a:buNone/>
            </a:pPr>
            <a:r>
              <a:rPr lang="en-US" sz="1100" b="1" kern="0" spc="200" dirty="0">
                <a:solidFill>
                  <a:srgbClr val="E8722C"/>
                </a:solidFill>
                <a:latin typeface="Calibri" pitchFamily="34" charset="0"/>
                <a:ea typeface="Calibri" pitchFamily="34" charset="-122"/>
                <a:cs typeface="Calibri" pitchFamily="34" charset="-120"/>
              </a:rPr>
              <a:t>OVERVIEW</a:t>
            </a:r>
            <a:endParaRPr lang="en-US" sz="1100" dirty="0"/>
          </a:p>
        </p:txBody>
      </p:sp>
      <p:sp>
        <p:nvSpPr>
          <p:cNvPr id="4" name="card background">
            <a:extLst>
              <a:ext uri="{C183D7F6-B498-43B3-948B-1728B52AA6E4}">
                <adec:decorative xmlns:adec="http://schemas.microsoft.com/office/drawing/2017/decorative" val="1"/>
              </a:ext>
            </a:extLst>
          </p:cNvPr>
          <p:cNvSpPr/>
          <p:nvPr/>
        </p:nvSpPr>
        <p:spPr>
          <a:xfrm>
            <a:off x="502920" y="1371600"/>
            <a:ext cx="1378915" cy="1371600"/>
          </a:xfrm>
          <a:prstGeom prst="roundRect">
            <a:avLst>
              <a:gd name="adj" fmla="val 400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5" name="card top edge">
            <a:extLst>
              <a:ext uri="{C183D7F6-B498-43B3-948B-1728B52AA6E4}">
                <adec:decorative xmlns:adec="http://schemas.microsoft.com/office/drawing/2017/decorative" val="1"/>
              </a:ext>
            </a:extLst>
          </p:cNvPr>
          <p:cNvSpPr/>
          <p:nvPr/>
        </p:nvSpPr>
        <p:spPr>
          <a:xfrm>
            <a:off x="502920" y="1371600"/>
            <a:ext cx="1378915" cy="64008"/>
          </a:xfrm>
          <a:prstGeom prst="rect">
            <a:avLst/>
          </a:prstGeom>
          <a:solidFill>
            <a:srgbClr val="E8722C"/>
          </a:solidFill>
          <a:ln w="12700">
            <a:solidFill>
              <a:srgbClr val="E8722C"/>
            </a:solidFill>
            <a:prstDash val="solid"/>
          </a:ln>
        </p:spPr>
        <p:txBody>
          <a:bodyPr/>
          <a:lstStyle/>
          <a:p>
            <a:endParaRPr lang="en-SE"/>
          </a:p>
        </p:txBody>
      </p:sp>
      <p:sp>
        <p:nvSpPr>
          <p:cNvPr id="6" name="Text 4"/>
          <p:cNvSpPr/>
          <p:nvPr/>
        </p:nvSpPr>
        <p:spPr>
          <a:xfrm>
            <a:off x="649224" y="1554480"/>
            <a:ext cx="1086307" cy="310896"/>
          </a:xfrm>
          <a:prstGeom prst="rect">
            <a:avLst/>
          </a:prstGeom>
          <a:noFill/>
          <a:ln/>
        </p:spPr>
        <p:txBody>
          <a:bodyPr wrap="square" lIns="0" tIns="0" rIns="0" bIns="0" rtlCol="0" anchor="ctr"/>
          <a:lstStyle/>
          <a:p>
            <a:pPr marL="0" indent="0" algn="ctr">
              <a:buNone/>
            </a:pPr>
            <a:r>
              <a:rPr lang="en-US" sz="1300" b="1" dirty="0">
                <a:solidFill>
                  <a:srgbClr val="E8722C"/>
                </a:solidFill>
                <a:latin typeface="Trebuchet MS" pitchFamily="34" charset="0"/>
                <a:ea typeface="Trebuchet MS" pitchFamily="34" charset="-122"/>
                <a:cs typeface="Trebuchet MS" pitchFamily="34" charset="-120"/>
              </a:rPr>
              <a:t>Configure</a:t>
            </a:r>
            <a:endParaRPr lang="en-US" sz="1300" dirty="0"/>
          </a:p>
        </p:txBody>
      </p:sp>
      <p:sp>
        <p:nvSpPr>
          <p:cNvPr id="7" name="Text 5"/>
          <p:cNvSpPr/>
          <p:nvPr/>
        </p:nvSpPr>
        <p:spPr>
          <a:xfrm>
            <a:off x="630936" y="1883664"/>
            <a:ext cx="1122883" cy="749808"/>
          </a:xfrm>
          <a:prstGeom prst="rect">
            <a:avLst/>
          </a:prstGeom>
          <a:noFill/>
          <a:ln/>
        </p:spPr>
        <p:txBody>
          <a:bodyPr wrap="square" lIns="0" tIns="0" rIns="0" bIns="0" rtlCol="0" anchor="t"/>
          <a:lstStyle/>
          <a:p>
            <a:pPr marL="0" indent="0" algn="ctr">
              <a:buNone/>
            </a:pPr>
            <a:r>
              <a:rPr lang="en-US" sz="1050" dirty="0">
                <a:solidFill>
                  <a:srgbClr val="D5DAE0"/>
                </a:solidFill>
                <a:latin typeface="Calibri" pitchFamily="34" charset="0"/>
                <a:ea typeface="Calibri" pitchFamily="34" charset="-122"/>
                <a:cs typeface="Calibri" pitchFamily="34" charset="-120"/>
              </a:rPr>
              <a:t>Add an api_gateways block with a port and API keys</a:t>
            </a:r>
            <a:endParaRPr lang="en-US" sz="1050" dirty="0"/>
          </a:p>
        </p:txBody>
      </p:sp>
      <p:sp>
        <p:nvSpPr>
          <p:cNvPr id="8" name="Text 6"/>
          <p:cNvSpPr/>
          <p:nvPr/>
        </p:nvSpPr>
        <p:spPr>
          <a:xfrm>
            <a:off x="1881835" y="1837944"/>
            <a:ext cx="310896" cy="438912"/>
          </a:xfrm>
          <a:prstGeom prst="rect">
            <a:avLst/>
          </a:prstGeom>
          <a:noFill/>
          <a:ln/>
        </p:spPr>
        <p:txBody>
          <a:bodyPr wrap="square" lIns="0" tIns="0" rIns="0" bIns="0" rtlCol="0" anchor="ctr"/>
          <a:lstStyle/>
          <a:p>
            <a:pPr marL="0" indent="0" algn="ctr">
              <a:buNone/>
            </a:pPr>
            <a:r>
              <a:rPr lang="en-US" sz="2200" b="1" dirty="0">
                <a:solidFill>
                  <a:srgbClr val="E8722C"/>
                </a:solidFill>
                <a:latin typeface="Trebuchet MS" pitchFamily="34" charset="0"/>
                <a:ea typeface="Trebuchet MS" pitchFamily="34" charset="-122"/>
                <a:cs typeface="Trebuchet MS" pitchFamily="34" charset="-120"/>
              </a:rPr>
              <a:t>›</a:t>
            </a:r>
            <a:endParaRPr lang="en-US" sz="2200" dirty="0"/>
          </a:p>
        </p:txBody>
      </p:sp>
      <p:sp>
        <p:nvSpPr>
          <p:cNvPr id="9" name="card background">
            <a:extLst>
              <a:ext uri="{C183D7F6-B498-43B3-948B-1728B52AA6E4}">
                <adec:decorative xmlns:adec="http://schemas.microsoft.com/office/drawing/2017/decorative" val="1"/>
              </a:ext>
            </a:extLst>
          </p:cNvPr>
          <p:cNvSpPr/>
          <p:nvPr/>
        </p:nvSpPr>
        <p:spPr>
          <a:xfrm>
            <a:off x="2192731" y="1371600"/>
            <a:ext cx="1378915" cy="1371600"/>
          </a:xfrm>
          <a:prstGeom prst="roundRect">
            <a:avLst>
              <a:gd name="adj" fmla="val 400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0" name="card top edge">
            <a:extLst>
              <a:ext uri="{C183D7F6-B498-43B3-948B-1728B52AA6E4}">
                <adec:decorative xmlns:adec="http://schemas.microsoft.com/office/drawing/2017/decorative" val="1"/>
              </a:ext>
            </a:extLst>
          </p:cNvPr>
          <p:cNvSpPr/>
          <p:nvPr/>
        </p:nvSpPr>
        <p:spPr>
          <a:xfrm>
            <a:off x="2192731" y="1371600"/>
            <a:ext cx="1378915" cy="64008"/>
          </a:xfrm>
          <a:prstGeom prst="rect">
            <a:avLst/>
          </a:prstGeom>
          <a:solidFill>
            <a:srgbClr val="F2A65A"/>
          </a:solidFill>
          <a:ln w="12700">
            <a:solidFill>
              <a:srgbClr val="F2A65A"/>
            </a:solidFill>
            <a:prstDash val="solid"/>
          </a:ln>
        </p:spPr>
        <p:txBody>
          <a:bodyPr/>
          <a:lstStyle/>
          <a:p>
            <a:endParaRPr lang="en-SE"/>
          </a:p>
        </p:txBody>
      </p:sp>
      <p:sp>
        <p:nvSpPr>
          <p:cNvPr id="11" name="Text 9"/>
          <p:cNvSpPr/>
          <p:nvPr/>
        </p:nvSpPr>
        <p:spPr>
          <a:xfrm>
            <a:off x="2339035" y="1554480"/>
            <a:ext cx="1086307" cy="310896"/>
          </a:xfrm>
          <a:prstGeom prst="rect">
            <a:avLst/>
          </a:prstGeom>
          <a:noFill/>
          <a:ln/>
        </p:spPr>
        <p:txBody>
          <a:bodyPr wrap="square" lIns="0" tIns="0" rIns="0" bIns="0" rtlCol="0" anchor="ctr"/>
          <a:lstStyle/>
          <a:p>
            <a:pPr marL="0" indent="0" algn="ctr">
              <a:buNone/>
            </a:pPr>
            <a:r>
              <a:rPr lang="en-US" sz="1300" b="1" dirty="0">
                <a:solidFill>
                  <a:srgbClr val="F2A65A"/>
                </a:solidFill>
                <a:latin typeface="Trebuchet MS" pitchFamily="34" charset="0"/>
                <a:ea typeface="Trebuchet MS" pitchFamily="34" charset="-122"/>
                <a:cs typeface="Trebuchet MS" pitchFamily="34" charset="-120"/>
              </a:rPr>
              <a:t>Start</a:t>
            </a:r>
            <a:endParaRPr lang="en-US" sz="1300" dirty="0"/>
          </a:p>
        </p:txBody>
      </p:sp>
      <p:sp>
        <p:nvSpPr>
          <p:cNvPr id="12" name="Text 10"/>
          <p:cNvSpPr/>
          <p:nvPr/>
        </p:nvSpPr>
        <p:spPr>
          <a:xfrm>
            <a:off x="2320747" y="1883664"/>
            <a:ext cx="1122883" cy="749808"/>
          </a:xfrm>
          <a:prstGeom prst="rect">
            <a:avLst/>
          </a:prstGeom>
          <a:noFill/>
          <a:ln/>
        </p:spPr>
        <p:txBody>
          <a:bodyPr wrap="square" lIns="0" tIns="0" rIns="0" bIns="0" rtlCol="0" anchor="t"/>
          <a:lstStyle/>
          <a:p>
            <a:pPr marL="0" indent="0" algn="ctr">
              <a:buNone/>
            </a:pPr>
            <a:r>
              <a:rPr lang="en-US" sz="1050" dirty="0">
                <a:solidFill>
                  <a:srgbClr val="D5DAE0"/>
                </a:solidFill>
                <a:latin typeface="Calibri" pitchFamily="34" charset="0"/>
                <a:ea typeface="Calibri" pitchFamily="34" charset="-122"/>
                <a:cs typeface="Calibri" pitchFamily="34" charset="-120"/>
              </a:rPr>
              <a:t>Engine, then statistics, then the gateway process</a:t>
            </a:r>
            <a:endParaRPr lang="en-US" sz="1050" dirty="0"/>
          </a:p>
        </p:txBody>
      </p:sp>
      <p:sp>
        <p:nvSpPr>
          <p:cNvPr id="13" name="Text 11"/>
          <p:cNvSpPr/>
          <p:nvPr/>
        </p:nvSpPr>
        <p:spPr>
          <a:xfrm>
            <a:off x="3571646" y="1837944"/>
            <a:ext cx="310896" cy="438912"/>
          </a:xfrm>
          <a:prstGeom prst="rect">
            <a:avLst/>
          </a:prstGeom>
          <a:noFill/>
          <a:ln/>
        </p:spPr>
        <p:txBody>
          <a:bodyPr wrap="square" lIns="0" tIns="0" rIns="0" bIns="0" rtlCol="0" anchor="ctr"/>
          <a:lstStyle/>
          <a:p>
            <a:pPr marL="0" indent="0" algn="ctr">
              <a:buNone/>
            </a:pPr>
            <a:r>
              <a:rPr lang="en-US" sz="2200" b="1" dirty="0">
                <a:solidFill>
                  <a:srgbClr val="E8722C"/>
                </a:solidFill>
                <a:latin typeface="Trebuchet MS" pitchFamily="34" charset="0"/>
                <a:ea typeface="Trebuchet MS" pitchFamily="34" charset="-122"/>
                <a:cs typeface="Trebuchet MS" pitchFamily="34" charset="-120"/>
              </a:rPr>
              <a:t>›</a:t>
            </a:r>
            <a:endParaRPr lang="en-US" sz="2200" dirty="0"/>
          </a:p>
        </p:txBody>
      </p:sp>
      <p:sp>
        <p:nvSpPr>
          <p:cNvPr id="14" name="card background">
            <a:extLst>
              <a:ext uri="{C183D7F6-B498-43B3-948B-1728B52AA6E4}">
                <adec:decorative xmlns:adec="http://schemas.microsoft.com/office/drawing/2017/decorative" val="1"/>
              </a:ext>
            </a:extLst>
          </p:cNvPr>
          <p:cNvSpPr/>
          <p:nvPr/>
        </p:nvSpPr>
        <p:spPr>
          <a:xfrm>
            <a:off x="3882542" y="1371600"/>
            <a:ext cx="1378915" cy="1371600"/>
          </a:xfrm>
          <a:prstGeom prst="roundRect">
            <a:avLst>
              <a:gd name="adj" fmla="val 400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5" name="card top edge">
            <a:extLst>
              <a:ext uri="{C183D7F6-B498-43B3-948B-1728B52AA6E4}">
                <adec:decorative xmlns:adec="http://schemas.microsoft.com/office/drawing/2017/decorative" val="1"/>
              </a:ext>
            </a:extLst>
          </p:cNvPr>
          <p:cNvSpPr/>
          <p:nvPr/>
        </p:nvSpPr>
        <p:spPr>
          <a:xfrm>
            <a:off x="3882542" y="1371600"/>
            <a:ext cx="1378915" cy="64008"/>
          </a:xfrm>
          <a:prstGeom prst="rect">
            <a:avLst/>
          </a:prstGeom>
          <a:solidFill>
            <a:srgbClr val="35A79C"/>
          </a:solidFill>
          <a:ln w="12700">
            <a:solidFill>
              <a:srgbClr val="35A79C"/>
            </a:solidFill>
            <a:prstDash val="solid"/>
          </a:ln>
        </p:spPr>
        <p:txBody>
          <a:bodyPr/>
          <a:lstStyle/>
          <a:p>
            <a:endParaRPr lang="en-SE"/>
          </a:p>
        </p:txBody>
      </p:sp>
      <p:sp>
        <p:nvSpPr>
          <p:cNvPr id="16" name="Text 14"/>
          <p:cNvSpPr/>
          <p:nvPr/>
        </p:nvSpPr>
        <p:spPr>
          <a:xfrm>
            <a:off x="4028846" y="1554480"/>
            <a:ext cx="1086307" cy="310896"/>
          </a:xfrm>
          <a:prstGeom prst="rect">
            <a:avLst/>
          </a:prstGeom>
          <a:noFill/>
          <a:ln/>
        </p:spPr>
        <p:txBody>
          <a:bodyPr wrap="square" lIns="0" tIns="0" rIns="0" bIns="0" rtlCol="0" anchor="ctr"/>
          <a:lstStyle/>
          <a:p>
            <a:pPr marL="0" indent="0" algn="ctr">
              <a:buNone/>
            </a:pPr>
            <a:r>
              <a:rPr lang="en-US" sz="1300" b="1" dirty="0">
                <a:solidFill>
                  <a:srgbClr val="35A79C"/>
                </a:solidFill>
                <a:latin typeface="Trebuchet MS" pitchFamily="34" charset="0"/>
                <a:ea typeface="Trebuchet MS" pitchFamily="34" charset="-122"/>
                <a:cs typeface="Trebuchet MS" pitchFamily="34" charset="-120"/>
              </a:rPr>
              <a:t>Verify</a:t>
            </a:r>
            <a:endParaRPr lang="en-US" sz="1300" dirty="0"/>
          </a:p>
        </p:txBody>
      </p:sp>
      <p:sp>
        <p:nvSpPr>
          <p:cNvPr id="17" name="Text 15"/>
          <p:cNvSpPr/>
          <p:nvPr/>
        </p:nvSpPr>
        <p:spPr>
          <a:xfrm>
            <a:off x="4010558" y="1883664"/>
            <a:ext cx="1122883" cy="749808"/>
          </a:xfrm>
          <a:prstGeom prst="rect">
            <a:avLst/>
          </a:prstGeom>
          <a:noFill/>
          <a:ln/>
        </p:spPr>
        <p:txBody>
          <a:bodyPr wrap="square" lIns="0" tIns="0" rIns="0" bIns="0" rtlCol="0" anchor="t"/>
          <a:lstStyle/>
          <a:p>
            <a:pPr marL="0" indent="0" algn="ctr">
              <a:buNone/>
            </a:pPr>
            <a:r>
              <a:rPr lang="en-US" sz="1050" dirty="0">
                <a:solidFill>
                  <a:srgbClr val="D5DAE0"/>
                </a:solidFill>
                <a:latin typeface="Calibri" pitchFamily="34" charset="0"/>
                <a:ea typeface="Calibri" pitchFamily="34" charset="-122"/>
                <a:cs typeface="Calibri" pitchFamily="34" charset="-120"/>
              </a:rPr>
              <a:t>Call the health endpoint — no key required</a:t>
            </a:r>
            <a:endParaRPr lang="en-US" sz="1050" dirty="0"/>
          </a:p>
        </p:txBody>
      </p:sp>
      <p:sp>
        <p:nvSpPr>
          <p:cNvPr id="18" name="Text 16"/>
          <p:cNvSpPr/>
          <p:nvPr/>
        </p:nvSpPr>
        <p:spPr>
          <a:xfrm>
            <a:off x="5261458" y="1837944"/>
            <a:ext cx="310896" cy="438912"/>
          </a:xfrm>
          <a:prstGeom prst="rect">
            <a:avLst/>
          </a:prstGeom>
          <a:noFill/>
          <a:ln/>
        </p:spPr>
        <p:txBody>
          <a:bodyPr wrap="square" lIns="0" tIns="0" rIns="0" bIns="0" rtlCol="0" anchor="ctr"/>
          <a:lstStyle/>
          <a:p>
            <a:pPr marL="0" indent="0" algn="ctr">
              <a:buNone/>
            </a:pPr>
            <a:r>
              <a:rPr lang="en-US" sz="2200" b="1" dirty="0">
                <a:solidFill>
                  <a:srgbClr val="E8722C"/>
                </a:solidFill>
                <a:latin typeface="Trebuchet MS" pitchFamily="34" charset="0"/>
                <a:ea typeface="Trebuchet MS" pitchFamily="34" charset="-122"/>
                <a:cs typeface="Trebuchet MS" pitchFamily="34" charset="-120"/>
              </a:rPr>
              <a:t>›</a:t>
            </a:r>
            <a:endParaRPr lang="en-US" sz="2200" dirty="0"/>
          </a:p>
        </p:txBody>
      </p:sp>
      <p:sp>
        <p:nvSpPr>
          <p:cNvPr id="19" name="card background">
            <a:extLst>
              <a:ext uri="{C183D7F6-B498-43B3-948B-1728B52AA6E4}">
                <adec:decorative xmlns:adec="http://schemas.microsoft.com/office/drawing/2017/decorative" val="1"/>
              </a:ext>
            </a:extLst>
          </p:cNvPr>
          <p:cNvSpPr/>
          <p:nvPr/>
        </p:nvSpPr>
        <p:spPr>
          <a:xfrm>
            <a:off x="5572354" y="1371600"/>
            <a:ext cx="1378915" cy="1371600"/>
          </a:xfrm>
          <a:prstGeom prst="roundRect">
            <a:avLst>
              <a:gd name="adj" fmla="val 400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20" name="card top edge">
            <a:extLst>
              <a:ext uri="{C183D7F6-B498-43B3-948B-1728B52AA6E4}">
                <adec:decorative xmlns:adec="http://schemas.microsoft.com/office/drawing/2017/decorative" val="1"/>
              </a:ext>
            </a:extLst>
          </p:cNvPr>
          <p:cNvSpPr/>
          <p:nvPr/>
        </p:nvSpPr>
        <p:spPr>
          <a:xfrm>
            <a:off x="5572354" y="1371600"/>
            <a:ext cx="1378915" cy="64008"/>
          </a:xfrm>
          <a:prstGeom prst="rect">
            <a:avLst/>
          </a:prstGeom>
          <a:solidFill>
            <a:srgbClr val="8B7BD8"/>
          </a:solidFill>
          <a:ln w="12700">
            <a:solidFill>
              <a:srgbClr val="8B7BD8"/>
            </a:solidFill>
            <a:prstDash val="solid"/>
          </a:ln>
        </p:spPr>
        <p:txBody>
          <a:bodyPr/>
          <a:lstStyle/>
          <a:p>
            <a:endParaRPr lang="en-SE"/>
          </a:p>
        </p:txBody>
      </p:sp>
      <p:sp>
        <p:nvSpPr>
          <p:cNvPr id="21" name="Text 19"/>
          <p:cNvSpPr/>
          <p:nvPr/>
        </p:nvSpPr>
        <p:spPr>
          <a:xfrm>
            <a:off x="5718658" y="1554480"/>
            <a:ext cx="1086307" cy="310896"/>
          </a:xfrm>
          <a:prstGeom prst="rect">
            <a:avLst/>
          </a:prstGeom>
          <a:noFill/>
          <a:ln/>
        </p:spPr>
        <p:txBody>
          <a:bodyPr wrap="square" lIns="0" tIns="0" rIns="0" bIns="0" rtlCol="0" anchor="ctr"/>
          <a:lstStyle/>
          <a:p>
            <a:pPr marL="0" indent="0" algn="ctr">
              <a:buNone/>
            </a:pPr>
            <a:r>
              <a:rPr lang="en-US" sz="1300" b="1" dirty="0">
                <a:solidFill>
                  <a:srgbClr val="8B7BD8"/>
                </a:solidFill>
                <a:latin typeface="Trebuchet MS" pitchFamily="34" charset="0"/>
                <a:ea typeface="Trebuchet MS" pitchFamily="34" charset="-122"/>
                <a:cs typeface="Trebuchet MS" pitchFamily="34" charset="-120"/>
              </a:rPr>
              <a:t>Explore</a:t>
            </a:r>
            <a:endParaRPr lang="en-US" sz="1300" dirty="0"/>
          </a:p>
        </p:txBody>
      </p:sp>
      <p:sp>
        <p:nvSpPr>
          <p:cNvPr id="22" name="Text 20"/>
          <p:cNvSpPr/>
          <p:nvPr/>
        </p:nvSpPr>
        <p:spPr>
          <a:xfrm>
            <a:off x="5700370" y="1883664"/>
            <a:ext cx="1122883" cy="749808"/>
          </a:xfrm>
          <a:prstGeom prst="rect">
            <a:avLst/>
          </a:prstGeom>
          <a:noFill/>
          <a:ln/>
        </p:spPr>
        <p:txBody>
          <a:bodyPr wrap="square" lIns="0" tIns="0" rIns="0" bIns="0" rtlCol="0" anchor="t"/>
          <a:lstStyle/>
          <a:p>
            <a:pPr marL="0" indent="0" algn="ctr">
              <a:buNone/>
            </a:pPr>
            <a:r>
              <a:rPr lang="en-US" sz="1050" dirty="0">
                <a:solidFill>
                  <a:srgbClr val="D5DAE0"/>
                </a:solidFill>
                <a:latin typeface="Calibri" pitchFamily="34" charset="0"/>
                <a:ea typeface="Calibri" pitchFamily="34" charset="-122"/>
                <a:cs typeface="Calibri" pitchFamily="34" charset="-120"/>
              </a:rPr>
              <a:t>Open the interactive docs in a browser</a:t>
            </a:r>
            <a:endParaRPr lang="en-US" sz="1050" dirty="0"/>
          </a:p>
        </p:txBody>
      </p:sp>
      <p:sp>
        <p:nvSpPr>
          <p:cNvPr id="23" name="Text 21"/>
          <p:cNvSpPr/>
          <p:nvPr/>
        </p:nvSpPr>
        <p:spPr>
          <a:xfrm>
            <a:off x="6951269" y="1837944"/>
            <a:ext cx="310896" cy="438912"/>
          </a:xfrm>
          <a:prstGeom prst="rect">
            <a:avLst/>
          </a:prstGeom>
          <a:noFill/>
          <a:ln/>
        </p:spPr>
        <p:txBody>
          <a:bodyPr wrap="square" lIns="0" tIns="0" rIns="0" bIns="0" rtlCol="0" anchor="ctr"/>
          <a:lstStyle/>
          <a:p>
            <a:pPr marL="0" indent="0" algn="ctr">
              <a:buNone/>
            </a:pPr>
            <a:r>
              <a:rPr lang="en-US" sz="2200" b="1" dirty="0">
                <a:solidFill>
                  <a:srgbClr val="E8722C"/>
                </a:solidFill>
                <a:latin typeface="Trebuchet MS" pitchFamily="34" charset="0"/>
                <a:ea typeface="Trebuchet MS" pitchFamily="34" charset="-122"/>
                <a:cs typeface="Trebuchet MS" pitchFamily="34" charset="-120"/>
              </a:rPr>
              <a:t>›</a:t>
            </a:r>
            <a:endParaRPr lang="en-US" sz="2200" dirty="0"/>
          </a:p>
        </p:txBody>
      </p:sp>
      <p:sp>
        <p:nvSpPr>
          <p:cNvPr id="24" name="card background">
            <a:extLst>
              <a:ext uri="{C183D7F6-B498-43B3-948B-1728B52AA6E4}">
                <adec:decorative xmlns:adec="http://schemas.microsoft.com/office/drawing/2017/decorative" val="1"/>
              </a:ext>
            </a:extLst>
          </p:cNvPr>
          <p:cNvSpPr/>
          <p:nvPr/>
        </p:nvSpPr>
        <p:spPr>
          <a:xfrm>
            <a:off x="7262165" y="1371600"/>
            <a:ext cx="1378915" cy="1371600"/>
          </a:xfrm>
          <a:prstGeom prst="roundRect">
            <a:avLst>
              <a:gd name="adj" fmla="val 400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25" name="card top edge">
            <a:extLst>
              <a:ext uri="{C183D7F6-B498-43B3-948B-1728B52AA6E4}">
                <adec:decorative xmlns:adec="http://schemas.microsoft.com/office/drawing/2017/decorative" val="1"/>
              </a:ext>
            </a:extLst>
          </p:cNvPr>
          <p:cNvSpPr/>
          <p:nvPr/>
        </p:nvSpPr>
        <p:spPr>
          <a:xfrm>
            <a:off x="7262165" y="1371600"/>
            <a:ext cx="1378915" cy="64008"/>
          </a:xfrm>
          <a:prstGeom prst="rect">
            <a:avLst/>
          </a:prstGeom>
          <a:solidFill>
            <a:srgbClr val="E8722C"/>
          </a:solidFill>
          <a:ln w="12700">
            <a:solidFill>
              <a:srgbClr val="E8722C"/>
            </a:solidFill>
            <a:prstDash val="solid"/>
          </a:ln>
        </p:spPr>
        <p:txBody>
          <a:bodyPr/>
          <a:lstStyle/>
          <a:p>
            <a:endParaRPr lang="en-SE"/>
          </a:p>
        </p:txBody>
      </p:sp>
      <p:sp>
        <p:nvSpPr>
          <p:cNvPr id="26" name="Text 24"/>
          <p:cNvSpPr/>
          <p:nvPr/>
        </p:nvSpPr>
        <p:spPr>
          <a:xfrm>
            <a:off x="7408469" y="1554480"/>
            <a:ext cx="1086307" cy="310896"/>
          </a:xfrm>
          <a:prstGeom prst="rect">
            <a:avLst/>
          </a:prstGeom>
          <a:noFill/>
          <a:ln/>
        </p:spPr>
        <p:txBody>
          <a:bodyPr wrap="square" lIns="0" tIns="0" rIns="0" bIns="0" rtlCol="0" anchor="ctr"/>
          <a:lstStyle/>
          <a:p>
            <a:pPr marL="0" indent="0" algn="ctr">
              <a:buNone/>
            </a:pPr>
            <a:r>
              <a:rPr lang="en-US" sz="1300" b="1" dirty="0">
                <a:solidFill>
                  <a:srgbClr val="E8722C"/>
                </a:solidFill>
                <a:latin typeface="Trebuchet MS" pitchFamily="34" charset="0"/>
                <a:ea typeface="Trebuchet MS" pitchFamily="34" charset="-122"/>
                <a:cs typeface="Trebuchet MS" pitchFamily="34" charset="-120"/>
              </a:rPr>
              <a:t>Call</a:t>
            </a:r>
            <a:endParaRPr lang="en-US" sz="1300" dirty="0"/>
          </a:p>
        </p:txBody>
      </p:sp>
      <p:sp>
        <p:nvSpPr>
          <p:cNvPr id="27" name="Text 25"/>
          <p:cNvSpPr/>
          <p:nvPr/>
        </p:nvSpPr>
        <p:spPr>
          <a:xfrm>
            <a:off x="7390181" y="1883664"/>
            <a:ext cx="1122883" cy="749808"/>
          </a:xfrm>
          <a:prstGeom prst="rect">
            <a:avLst/>
          </a:prstGeom>
          <a:noFill/>
          <a:ln/>
        </p:spPr>
        <p:txBody>
          <a:bodyPr wrap="square" lIns="0" tIns="0" rIns="0" bIns="0" rtlCol="0" anchor="t"/>
          <a:lstStyle/>
          <a:p>
            <a:pPr marL="0" indent="0" algn="ctr">
              <a:buNone/>
            </a:pPr>
            <a:r>
              <a:rPr lang="en-US" sz="1050" dirty="0">
                <a:solidFill>
                  <a:srgbClr val="D5DAE0"/>
                </a:solidFill>
                <a:latin typeface="Calibri" pitchFamily="34" charset="0"/>
                <a:ea typeface="Calibri" pitchFamily="34" charset="-122"/>
                <a:cs typeface="Calibri" pitchFamily="34" charset="-120"/>
              </a:rPr>
              <a:t>Send your first authenticated request</a:t>
            </a:r>
            <a:endParaRPr lang="en-US" sz="1050" dirty="0"/>
          </a:p>
        </p:txBody>
      </p:sp>
      <p:sp>
        <p:nvSpPr>
          <p:cNvPr id="28" name="card background">
            <a:extLst>
              <a:ext uri="{C183D7F6-B498-43B3-948B-1728B52AA6E4}">
                <adec:decorative xmlns:adec="http://schemas.microsoft.com/office/drawing/2017/decorative" val="1"/>
              </a:ext>
            </a:extLst>
          </p:cNvPr>
          <p:cNvSpPr/>
          <p:nvPr/>
        </p:nvSpPr>
        <p:spPr>
          <a:xfrm>
            <a:off x="502920" y="3017520"/>
            <a:ext cx="2566416" cy="1325880"/>
          </a:xfrm>
          <a:prstGeom prst="roundRect">
            <a:avLst>
              <a:gd name="adj" fmla="val 4138"/>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29" name="step marker">
            <a:extLst>
              <a:ext uri="{C183D7F6-B498-43B3-948B-1728B52AA6E4}">
                <adec:decorative xmlns:adec="http://schemas.microsoft.com/office/drawing/2017/decorative" val="1"/>
              </a:ext>
            </a:extLst>
          </p:cNvPr>
          <p:cNvSpPr/>
          <p:nvPr/>
        </p:nvSpPr>
        <p:spPr>
          <a:xfrm>
            <a:off x="704088" y="3200400"/>
            <a:ext cx="310896" cy="310896"/>
          </a:xfrm>
          <a:prstGeom prst="ellipse">
            <a:avLst/>
          </a:prstGeom>
          <a:solidFill>
            <a:srgbClr val="E8722C"/>
          </a:solidFill>
          <a:ln w="12700">
            <a:solidFill>
              <a:srgbClr val="E8722C"/>
            </a:solidFill>
            <a:prstDash val="solid"/>
          </a:ln>
        </p:spPr>
        <p:txBody>
          <a:bodyPr/>
          <a:lstStyle/>
          <a:p>
            <a:endParaRPr lang="en-SE"/>
          </a:p>
        </p:txBody>
      </p:sp>
      <p:sp>
        <p:nvSpPr>
          <p:cNvPr id="30" name="Text 28"/>
          <p:cNvSpPr/>
          <p:nvPr/>
        </p:nvSpPr>
        <p:spPr>
          <a:xfrm>
            <a:off x="704088" y="3200400"/>
            <a:ext cx="310896" cy="310896"/>
          </a:xfrm>
          <a:prstGeom prst="rect">
            <a:avLst/>
          </a:prstGeom>
          <a:noFill/>
          <a:ln/>
        </p:spPr>
        <p:txBody>
          <a:bodyPr wrap="square" lIns="0" tIns="0" rIns="0" bIns="0" rtlCol="0" anchor="ctr"/>
          <a:lstStyle/>
          <a:p>
            <a:pPr marL="0" indent="0" algn="ctr">
              <a:buNone/>
            </a:pPr>
            <a:endParaRPr lang="en-US" sz="1300" dirty="0"/>
          </a:p>
        </p:txBody>
      </p:sp>
      <p:sp>
        <p:nvSpPr>
          <p:cNvPr id="31" name="Text 29"/>
          <p:cNvSpPr/>
          <p:nvPr/>
        </p:nvSpPr>
        <p:spPr>
          <a:xfrm>
            <a:off x="1106424" y="3200400"/>
            <a:ext cx="1780032" cy="329184"/>
          </a:xfrm>
          <a:prstGeom prst="rect">
            <a:avLst/>
          </a:prstGeom>
          <a:noFill/>
          <a:ln/>
        </p:spPr>
        <p:txBody>
          <a:bodyPr wrap="square" lIns="0" tIns="0" rIns="0" bIns="0" rtlCol="0" anchor="ctr"/>
          <a:lstStyle/>
          <a:p>
            <a:pPr marL="0" indent="0">
              <a:buNone/>
            </a:pPr>
            <a:r>
              <a:rPr lang="en-US" sz="1400" b="1" dirty="0">
                <a:solidFill>
                  <a:srgbClr val="E8722C"/>
                </a:solidFill>
                <a:latin typeface="Trebuchet MS" pitchFamily="34" charset="0"/>
                <a:ea typeface="Trebuchet MS" pitchFamily="34" charset="-122"/>
                <a:cs typeface="Trebuchet MS" pitchFamily="34" charset="-120"/>
              </a:rPr>
              <a:t>You will need</a:t>
            </a:r>
            <a:endParaRPr lang="en-US" sz="1400" dirty="0"/>
          </a:p>
        </p:txBody>
      </p:sp>
      <p:sp>
        <p:nvSpPr>
          <p:cNvPr id="32" name="Text 30"/>
          <p:cNvSpPr/>
          <p:nvPr/>
        </p:nvSpPr>
        <p:spPr>
          <a:xfrm>
            <a:off x="722376" y="3566160"/>
            <a:ext cx="2127504" cy="66751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A running engine, a valid API key, and the gateway's host and port.</a:t>
            </a:r>
            <a:endParaRPr lang="en-US" sz="1050" dirty="0"/>
          </a:p>
        </p:txBody>
      </p:sp>
      <p:sp>
        <p:nvSpPr>
          <p:cNvPr id="33" name="card background">
            <a:extLst>
              <a:ext uri="{C183D7F6-B498-43B3-948B-1728B52AA6E4}">
                <adec:decorative xmlns:adec="http://schemas.microsoft.com/office/drawing/2017/decorative" val="1"/>
              </a:ext>
            </a:extLst>
          </p:cNvPr>
          <p:cNvSpPr/>
          <p:nvPr/>
        </p:nvSpPr>
        <p:spPr>
          <a:xfrm>
            <a:off x="3288792" y="3017520"/>
            <a:ext cx="2566416" cy="1325880"/>
          </a:xfrm>
          <a:prstGeom prst="roundRect">
            <a:avLst>
              <a:gd name="adj" fmla="val 4138"/>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34" name="Text 32">
            <a:extLst>
              <a:ext uri="{C183D7F6-B498-43B3-948B-1728B52AA6E4}">
                <adec:decorative xmlns:adec="http://schemas.microsoft.com/office/drawing/2017/decorative" val="1"/>
              </a:ext>
            </a:extLst>
          </p:cNvPr>
          <p:cNvSpPr/>
          <p:nvPr/>
        </p:nvSpPr>
        <p:spPr>
          <a:xfrm>
            <a:off x="3508248" y="3200400"/>
            <a:ext cx="2164080" cy="329184"/>
          </a:xfrm>
          <a:prstGeom prst="rect">
            <a:avLst/>
          </a:prstGeom>
          <a:noFill/>
          <a:ln/>
        </p:spPr>
        <p:txBody>
          <a:bodyPr wrap="square" lIns="0" tIns="0" rIns="0" bIns="0" rtlCol="0" anchor="ctr"/>
          <a:lstStyle/>
          <a:p>
            <a:pPr marL="0" indent="0">
              <a:buNone/>
            </a:pPr>
            <a:r>
              <a:rPr lang="en-US" sz="1400" b="1" dirty="0">
                <a:solidFill>
                  <a:srgbClr val="35A79C"/>
                </a:solidFill>
                <a:latin typeface="Trebuchet MS" pitchFamily="34" charset="0"/>
                <a:ea typeface="Trebuchet MS" pitchFamily="34" charset="-122"/>
                <a:cs typeface="Trebuchet MS" pitchFamily="34" charset="-120"/>
              </a:rPr>
              <a:t>You will get</a:t>
            </a:r>
            <a:endParaRPr lang="en-US" sz="1400" dirty="0"/>
          </a:p>
        </p:txBody>
      </p:sp>
      <p:sp>
        <p:nvSpPr>
          <p:cNvPr id="35" name="Text 33"/>
          <p:cNvSpPr/>
          <p:nvPr/>
        </p:nvSpPr>
        <p:spPr>
          <a:xfrm>
            <a:off x="3508248" y="3566160"/>
            <a:ext cx="2127504" cy="66751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An HTTP server on the configured port serving /api/v1 and live WebSocket streams.</a:t>
            </a:r>
            <a:endParaRPr lang="en-US" sz="1050" dirty="0"/>
          </a:p>
        </p:txBody>
      </p:sp>
      <p:sp>
        <p:nvSpPr>
          <p:cNvPr id="36" name="card background">
            <a:extLst>
              <a:ext uri="{C183D7F6-B498-43B3-948B-1728B52AA6E4}">
                <adec:decorative xmlns:adec="http://schemas.microsoft.com/office/drawing/2017/decorative" val="1"/>
              </a:ext>
            </a:extLst>
          </p:cNvPr>
          <p:cNvSpPr/>
          <p:nvPr/>
        </p:nvSpPr>
        <p:spPr>
          <a:xfrm>
            <a:off x="6074664" y="3017520"/>
            <a:ext cx="2566416" cy="1325880"/>
          </a:xfrm>
          <a:prstGeom prst="roundRect">
            <a:avLst>
              <a:gd name="adj" fmla="val 4138"/>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37" name="step marker">
            <a:extLst>
              <a:ext uri="{C183D7F6-B498-43B3-948B-1728B52AA6E4}">
                <adec:decorative xmlns:adec="http://schemas.microsoft.com/office/drawing/2017/decorative" val="1"/>
              </a:ext>
            </a:extLst>
          </p:cNvPr>
          <p:cNvSpPr/>
          <p:nvPr/>
        </p:nvSpPr>
        <p:spPr>
          <a:xfrm>
            <a:off x="6275832" y="3200400"/>
            <a:ext cx="310896" cy="310896"/>
          </a:xfrm>
          <a:prstGeom prst="ellipse">
            <a:avLst/>
          </a:prstGeom>
          <a:solidFill>
            <a:srgbClr val="F2A65A"/>
          </a:solidFill>
          <a:ln w="12700">
            <a:solidFill>
              <a:srgbClr val="F2A65A"/>
            </a:solidFill>
            <a:prstDash val="solid"/>
          </a:ln>
        </p:spPr>
        <p:txBody>
          <a:bodyPr/>
          <a:lstStyle/>
          <a:p>
            <a:endParaRPr lang="en-SE"/>
          </a:p>
        </p:txBody>
      </p:sp>
      <p:sp>
        <p:nvSpPr>
          <p:cNvPr id="38" name="Text 36">
            <a:extLst>
              <a:ext uri="{C183D7F6-B498-43B3-948B-1728B52AA6E4}">
                <adec:decorative xmlns:adec="http://schemas.microsoft.com/office/drawing/2017/decorative" val="1"/>
              </a:ext>
            </a:extLst>
          </p:cNvPr>
          <p:cNvSpPr/>
          <p:nvPr/>
        </p:nvSpPr>
        <p:spPr>
          <a:xfrm>
            <a:off x="6275832" y="3200400"/>
            <a:ext cx="310896" cy="310896"/>
          </a:xfrm>
          <a:prstGeom prst="rect">
            <a:avLst/>
          </a:prstGeom>
          <a:noFill/>
          <a:ln/>
        </p:spPr>
        <p:txBody>
          <a:bodyPr wrap="square" lIns="0" tIns="0" rIns="0" bIns="0" rtlCol="0" anchor="ctr"/>
          <a:lstStyle/>
          <a:p>
            <a:pPr marL="0" indent="0" algn="ctr">
              <a:buNone/>
            </a:pPr>
            <a:endParaRPr lang="en-US" sz="1300" dirty="0"/>
          </a:p>
        </p:txBody>
      </p:sp>
      <p:sp>
        <p:nvSpPr>
          <p:cNvPr id="39" name="Text 37">
            <a:extLst>
              <a:ext uri="{C183D7F6-B498-43B3-948B-1728B52AA6E4}">
                <adec:decorative xmlns:adec="http://schemas.microsoft.com/office/drawing/2017/decorative" val="1"/>
              </a:ext>
            </a:extLst>
          </p:cNvPr>
          <p:cNvSpPr/>
          <p:nvPr/>
        </p:nvSpPr>
        <p:spPr>
          <a:xfrm>
            <a:off x="6678168" y="3200400"/>
            <a:ext cx="1780032" cy="329184"/>
          </a:xfrm>
          <a:prstGeom prst="rect">
            <a:avLst/>
          </a:prstGeom>
          <a:noFill/>
          <a:ln/>
        </p:spPr>
        <p:txBody>
          <a:bodyPr wrap="square" lIns="0" tIns="0" rIns="0" bIns="0" rtlCol="0" anchor="ctr"/>
          <a:lstStyle/>
          <a:p>
            <a:pPr marL="0" indent="0">
              <a:buNone/>
            </a:pPr>
            <a:r>
              <a:rPr lang="en-US" sz="1400" b="1" dirty="0">
                <a:solidFill>
                  <a:srgbClr val="F2A65A"/>
                </a:solidFill>
                <a:latin typeface="Trebuchet MS" pitchFamily="34" charset="0"/>
                <a:ea typeface="Trebuchet MS" pitchFamily="34" charset="-122"/>
                <a:cs typeface="Trebuchet MS" pitchFamily="34" charset="-120"/>
              </a:rPr>
              <a:t>You will check</a:t>
            </a:r>
            <a:endParaRPr lang="en-US" sz="1400" dirty="0"/>
          </a:p>
        </p:txBody>
      </p:sp>
      <p:sp>
        <p:nvSpPr>
          <p:cNvPr id="40" name="Text 38"/>
          <p:cNvSpPr/>
          <p:nvPr/>
        </p:nvSpPr>
        <p:spPr>
          <a:xfrm>
            <a:off x="6294120" y="3566160"/>
            <a:ext cx="2127504" cy="66751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Health first, then an authenticated status call. If both pass, you are connected.</a:t>
            </a:r>
            <a:endParaRPr lang="en-US" sz="1050" dirty="0"/>
          </a:p>
        </p:txBody>
      </p:sp>
      <p:sp>
        <p:nvSpPr>
          <p:cNvPr id="41" name="Text 39"/>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Getting connected</a:t>
            </a:r>
            <a:endParaRPr lang="en-US" sz="900" dirty="0"/>
          </a:p>
        </p:txBody>
      </p:sp>
      <p:sp>
        <p:nvSpPr>
          <p:cNvPr id="42" name="Text 40"/>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8138160" cy="548640"/>
          </a:xfrm>
          <a:prstGeom prst="rect">
            <a:avLst/>
          </a:prstGeom>
          <a:noFill/>
          <a:ln/>
        </p:spPr>
        <p:txBody>
          <a:bodyPr wrap="square" lIns="0" tIns="0" rIns="0" bIns="0" rtlCol="0" anchor="ctr"/>
          <a:lstStyle/>
          <a:p>
            <a:pPr marL="0" indent="0">
              <a:buNone/>
            </a:pPr>
            <a:r>
              <a:rPr lang="en-US" sz="2700" b="1" dirty="0">
                <a:solidFill>
                  <a:srgbClr val="F3F5F7"/>
                </a:solidFill>
                <a:latin typeface="Trebuchet MS" pitchFamily="34" charset="0"/>
                <a:ea typeface="Trebuchet MS" pitchFamily="34" charset="-122"/>
                <a:cs typeface="Trebuchet MS" pitchFamily="34" charset="-120"/>
              </a:rPr>
              <a:t>Configuration lives with the engine</a:t>
            </a:r>
            <a:endParaRPr lang="en-US" sz="2700" dirty="0"/>
          </a:p>
        </p:txBody>
      </p:sp>
      <p:sp>
        <p:nvSpPr>
          <p:cNvPr id="3" name="Text 1"/>
          <p:cNvSpPr/>
          <p:nvPr/>
        </p:nvSpPr>
        <p:spPr>
          <a:xfrm>
            <a:off x="502920" y="841248"/>
            <a:ext cx="8138160" cy="237744"/>
          </a:xfrm>
          <a:prstGeom prst="rect">
            <a:avLst/>
          </a:prstGeom>
          <a:noFill/>
          <a:ln/>
        </p:spPr>
        <p:txBody>
          <a:bodyPr wrap="square" lIns="0" tIns="0" rIns="0" bIns="0" rtlCol="0" anchor="ctr"/>
          <a:lstStyle/>
          <a:p>
            <a:pPr marL="0" indent="0">
              <a:buNone/>
            </a:pPr>
            <a:r>
              <a:rPr lang="en-US" sz="1100" b="1" kern="0" spc="200" dirty="0">
                <a:solidFill>
                  <a:srgbClr val="E8722C"/>
                </a:solidFill>
                <a:latin typeface="Calibri" pitchFamily="34" charset="0"/>
                <a:ea typeface="Calibri" pitchFamily="34" charset="-122"/>
                <a:cs typeface="Calibri" pitchFamily="34" charset="-120"/>
              </a:rPr>
              <a:t>SETUP</a:t>
            </a:r>
            <a:endParaRPr lang="en-US" sz="1100" dirty="0"/>
          </a:p>
        </p:txBody>
      </p:sp>
      <p:sp>
        <p:nvSpPr>
          <p:cNvPr id="4" name="code panel">
            <a:extLst>
              <a:ext uri="{C183D7F6-B498-43B3-948B-1728B52AA6E4}">
                <adec:decorative xmlns:adec="http://schemas.microsoft.com/office/drawing/2017/decorative" val="1"/>
              </a:ext>
            </a:extLst>
          </p:cNvPr>
          <p:cNvSpPr/>
          <p:nvPr/>
        </p:nvSpPr>
        <p:spPr>
          <a:xfrm>
            <a:off x="502920" y="1170432"/>
            <a:ext cx="4572000" cy="3246120"/>
          </a:xfrm>
          <a:prstGeom prst="roundRect">
            <a:avLst>
              <a:gd name="adj" fmla="val 1408"/>
            </a:avLst>
          </a:prstGeom>
          <a:solidFill>
            <a:srgbClr val="121519"/>
          </a:solidFill>
          <a:ln w="12700">
            <a:solidFill>
              <a:srgbClr val="3A424B"/>
            </a:solidFill>
            <a:prstDash val="solid"/>
          </a:ln>
        </p:spPr>
        <p:txBody>
          <a:bodyPr/>
          <a:lstStyle/>
          <a:p>
            <a:endParaRPr lang="en-SE"/>
          </a:p>
        </p:txBody>
      </p:sp>
      <p:sp>
        <p:nvSpPr>
          <p:cNvPr id="5" name="code panel edge">
            <a:extLst>
              <a:ext uri="{C183D7F6-B498-43B3-948B-1728B52AA6E4}">
                <adec:decorative xmlns:adec="http://schemas.microsoft.com/office/drawing/2017/decorative" val="1"/>
              </a:ext>
            </a:extLst>
          </p:cNvPr>
          <p:cNvSpPr/>
          <p:nvPr/>
        </p:nvSpPr>
        <p:spPr>
          <a:xfrm>
            <a:off x="502920" y="1170432"/>
            <a:ext cx="54864" cy="3246120"/>
          </a:xfrm>
          <a:prstGeom prst="rect">
            <a:avLst/>
          </a:prstGeom>
          <a:solidFill>
            <a:srgbClr val="E8722C"/>
          </a:solidFill>
          <a:ln w="12700">
            <a:solidFill>
              <a:srgbClr val="E8722C"/>
            </a:solidFill>
            <a:prstDash val="solid"/>
          </a:ln>
        </p:spPr>
        <p:txBody>
          <a:bodyPr/>
          <a:lstStyle/>
          <a:p>
            <a:endParaRPr lang="en-SE"/>
          </a:p>
        </p:txBody>
      </p:sp>
      <p:sp>
        <p:nvSpPr>
          <p:cNvPr id="6" name="Text 4"/>
          <p:cNvSpPr/>
          <p:nvPr/>
        </p:nvSpPr>
        <p:spPr>
          <a:xfrm>
            <a:off x="704088" y="1298448"/>
            <a:ext cx="4206240" cy="2990088"/>
          </a:xfrm>
          <a:prstGeom prst="rect">
            <a:avLst/>
          </a:prstGeom>
          <a:noFill/>
          <a:ln/>
        </p:spPr>
        <p:txBody>
          <a:bodyPr wrap="square" lIns="0" tIns="0" rIns="0" bIns="0" rtlCol="0" anchor="t"/>
          <a:lstStyle/>
          <a:p>
            <a:pPr marL="0" indent="0">
              <a:buNone/>
            </a:pPr>
            <a:r>
              <a:rPr lang="en-US" sz="950" b="1" dirty="0">
                <a:solidFill>
                  <a:srgbClr val="F2A65A"/>
                </a:solidFill>
                <a:latin typeface="Consolas" pitchFamily="34" charset="0"/>
                <a:ea typeface="Consolas" pitchFamily="34" charset="-122"/>
                <a:cs typeface="Consolas" pitchFamily="34" charset="-120"/>
              </a:rPr>
              <a:t>api_gateways:</a:t>
            </a:r>
            <a:endParaRPr lang="en-US" sz="950" dirty="0"/>
          </a:p>
          <a:p>
            <a:pPr marL="0" indent="0">
              <a:buNone/>
            </a:pPr>
            <a:r>
              <a:rPr lang="en-US" sz="950" dirty="0">
                <a:solidFill>
                  <a:srgbClr val="D5DAE0"/>
                </a:solidFill>
                <a:latin typeface="Consolas" pitchFamily="34" charset="0"/>
                <a:ea typeface="Consolas" pitchFamily="34" charset="-122"/>
                <a:cs typeface="Consolas" pitchFamily="34" charset="-120"/>
              </a:rPr>
              <a:t>  desk:</a:t>
            </a:r>
            <a:endParaRPr lang="en-US" sz="950" dirty="0"/>
          </a:p>
          <a:p>
            <a:pPr marL="0" indent="0">
              <a:buNone/>
            </a:pPr>
            <a:r>
              <a:rPr lang="en-US" sz="950" dirty="0">
                <a:solidFill>
                  <a:srgbClr val="D5DAE0"/>
                </a:solidFill>
                <a:latin typeface="Consolas" pitchFamily="34" charset="0"/>
                <a:ea typeface="Consolas" pitchFamily="34" charset="-122"/>
                <a:cs typeface="Consolas" pitchFamily="34" charset="-120"/>
              </a:rPr>
              <a:t>    enabled: true</a:t>
            </a:r>
            <a:endParaRPr lang="en-US" sz="950" dirty="0"/>
          </a:p>
          <a:p>
            <a:pPr marL="0" indent="0">
              <a:buNone/>
            </a:pPr>
            <a:r>
              <a:rPr lang="en-US" sz="950" dirty="0">
                <a:solidFill>
                  <a:srgbClr val="D5DAE0"/>
                </a:solidFill>
                <a:latin typeface="Consolas" pitchFamily="34" charset="0"/>
                <a:ea typeface="Consolas" pitchFamily="34" charset="-122"/>
                <a:cs typeface="Consolas" pitchFamily="34" charset="-120"/>
              </a:rPr>
              <a:t>    host: 0.0.0.0</a:t>
            </a:r>
            <a:endParaRPr lang="en-US" sz="950" dirty="0"/>
          </a:p>
          <a:p>
            <a:pPr marL="0" indent="0">
              <a:buNone/>
            </a:pPr>
            <a:r>
              <a:rPr lang="en-US" sz="950" dirty="0">
                <a:solidFill>
                  <a:srgbClr val="D5DAE0"/>
                </a:solidFill>
                <a:latin typeface="Consolas" pitchFamily="34" charset="0"/>
                <a:ea typeface="Consolas" pitchFamily="34" charset="-122"/>
                <a:cs typeface="Consolas" pitchFamily="34" charset="-120"/>
              </a:rPr>
              <a:t>    port: 8080</a:t>
            </a:r>
            <a:endParaRPr lang="en-US" sz="950" dirty="0"/>
          </a:p>
          <a:p>
            <a:pPr marL="0" indent="0">
              <a:buNone/>
            </a:pPr>
            <a:r>
              <a:rPr lang="en-US" sz="950" dirty="0">
                <a:solidFill>
                  <a:srgbClr val="D5DAE0"/>
                </a:solidFill>
                <a:latin typeface="Consolas" pitchFamily="34" charset="0"/>
                <a:ea typeface="Consolas" pitchFamily="34" charset="-122"/>
                <a:cs typeface="Consolas" pitchFamily="34" charset="-120"/>
              </a:rPr>
              <a:t>    swagger_enabled: true</a:t>
            </a:r>
            <a:endParaRPr lang="en-US" sz="950" dirty="0"/>
          </a:p>
          <a:p>
            <a:pPr marL="0" indent="0">
              <a:buNone/>
            </a:pPr>
            <a:r>
              <a:rPr lang="en-US" sz="950" dirty="0">
                <a:solidFill>
                  <a:srgbClr val="D5DAE0"/>
                </a:solidFill>
                <a:latin typeface="Consolas" pitchFamily="34" charset="0"/>
                <a:ea typeface="Consolas" pitchFamily="34" charset="-122"/>
                <a:cs typeface="Consolas" pitchFamily="34" charset="-120"/>
              </a:rPr>
              <a:t>    stats_db: data/stats.db</a:t>
            </a:r>
            <a:endParaRPr lang="en-US" sz="950" dirty="0"/>
          </a:p>
          <a:p>
            <a:pPr marL="0" indent="0">
              <a:buNone/>
            </a:pPr>
            <a:r>
              <a:rPr lang="en-US" sz="950" dirty="0">
                <a:solidFill>
                  <a:srgbClr val="F2A65A"/>
                </a:solidFill>
                <a:latin typeface="Consolas" pitchFamily="34" charset="0"/>
                <a:ea typeface="Consolas" pitchFamily="34" charset="-122"/>
                <a:cs typeface="Consolas" pitchFamily="34" charset="-120"/>
              </a:rPr>
              <a:t>    credentials:</a:t>
            </a:r>
            <a:endParaRPr lang="en-US" sz="950" dirty="0"/>
          </a:p>
          <a:p>
            <a:pPr marL="0" indent="0">
              <a:buNone/>
            </a:pPr>
            <a:r>
              <a:rPr lang="en-US" sz="950" dirty="0">
                <a:solidFill>
                  <a:srgbClr val="D5DAE0"/>
                </a:solidFill>
                <a:latin typeface="Consolas" pitchFamily="34" charset="0"/>
                <a:ea typeface="Consolas" pitchFamily="34" charset="-122"/>
                <a:cs typeface="Consolas" pitchFamily="34" charset="-120"/>
              </a:rPr>
              <a:t>      - api_key: key-trader-demo</a:t>
            </a:r>
            <a:endParaRPr lang="en-US" sz="950" dirty="0"/>
          </a:p>
          <a:p>
            <a:pPr marL="0" indent="0">
              <a:buNone/>
            </a:pPr>
            <a:r>
              <a:rPr lang="en-US" sz="950" dirty="0">
                <a:solidFill>
                  <a:srgbClr val="D5DAE0"/>
                </a:solidFill>
                <a:latin typeface="Consolas" pitchFamily="34" charset="0"/>
                <a:ea typeface="Consolas" pitchFamily="34" charset="-122"/>
                <a:cs typeface="Consolas" pitchFamily="34" charset="-120"/>
              </a:rPr>
              <a:t>        gateway_id: TRADER01</a:t>
            </a:r>
            <a:endParaRPr lang="en-US" sz="950" dirty="0"/>
          </a:p>
          <a:p>
            <a:pPr marL="0" indent="0">
              <a:buNone/>
            </a:pPr>
            <a:r>
              <a:rPr lang="en-US" sz="950" dirty="0">
                <a:solidFill>
                  <a:srgbClr val="D5DAE0"/>
                </a:solidFill>
                <a:latin typeface="Consolas" pitchFamily="34" charset="0"/>
                <a:ea typeface="Consolas" pitchFamily="34" charset="-122"/>
                <a:cs typeface="Consolas" pitchFamily="34" charset="-120"/>
              </a:rPr>
              <a:t>        description: Demo trading client</a:t>
            </a:r>
            <a:endParaRPr lang="en-US" sz="950" dirty="0"/>
          </a:p>
          <a:p>
            <a:pPr marL="0" indent="0">
              <a:buNone/>
            </a:pPr>
            <a:r>
              <a:rPr lang="en-US" sz="950" dirty="0">
                <a:solidFill>
                  <a:srgbClr val="D5DAE0"/>
                </a:solidFill>
                <a:latin typeface="Consolas" pitchFamily="34" charset="0"/>
                <a:ea typeface="Consolas" pitchFamily="34" charset="-122"/>
                <a:cs typeface="Consolas" pitchFamily="34" charset="-120"/>
              </a:rPr>
              <a:t>      - api_key: key-dashboard-demo</a:t>
            </a:r>
            <a:endParaRPr lang="en-US" sz="950" dirty="0"/>
          </a:p>
          <a:p>
            <a:pPr marL="0" indent="0">
              <a:buNone/>
            </a:pPr>
            <a:r>
              <a:rPr lang="en-US" sz="950" dirty="0">
                <a:solidFill>
                  <a:srgbClr val="D5DAE0"/>
                </a:solidFill>
                <a:latin typeface="Consolas" pitchFamily="34" charset="0"/>
                <a:ea typeface="Consolas" pitchFamily="34" charset="-122"/>
                <a:cs typeface="Consolas" pitchFamily="34" charset="-120"/>
              </a:rPr>
              <a:t>        gateway_id: null</a:t>
            </a:r>
            <a:endParaRPr lang="en-US" sz="950" dirty="0"/>
          </a:p>
          <a:p>
            <a:pPr marL="0" indent="0">
              <a:buNone/>
            </a:pPr>
            <a:r>
              <a:rPr lang="en-US" sz="950" dirty="0">
                <a:solidFill>
                  <a:srgbClr val="D5DAE0"/>
                </a:solidFill>
                <a:latin typeface="Consolas" pitchFamily="34" charset="0"/>
                <a:ea typeface="Consolas" pitchFamily="34" charset="-122"/>
                <a:cs typeface="Consolas" pitchFamily="34" charset="-120"/>
              </a:rPr>
              <a:t>        description: Read-only dashboard</a:t>
            </a:r>
            <a:endParaRPr lang="en-US" sz="950" dirty="0"/>
          </a:p>
          <a:p>
            <a:pPr marL="0" indent="0">
              <a:buNone/>
            </a:pPr>
            <a:r>
              <a:rPr lang="en-US" sz="950" dirty="0">
                <a:solidFill>
                  <a:srgbClr val="F2A65A"/>
                </a:solidFill>
                <a:latin typeface="Consolas" pitchFamily="34" charset="0"/>
                <a:ea typeface="Consolas" pitchFamily="34" charset="-122"/>
                <a:cs typeface="Consolas" pitchFamily="34" charset="-120"/>
              </a:rPr>
              <a:t>    rate_limit:</a:t>
            </a:r>
            <a:endParaRPr lang="en-US" sz="950" dirty="0"/>
          </a:p>
          <a:p>
            <a:pPr marL="0" indent="0">
              <a:buNone/>
            </a:pPr>
            <a:r>
              <a:rPr lang="en-US" sz="950" dirty="0">
                <a:solidFill>
                  <a:srgbClr val="D5DAE0"/>
                </a:solidFill>
                <a:latin typeface="Consolas" pitchFamily="34" charset="0"/>
                <a:ea typeface="Consolas" pitchFamily="34" charset="-122"/>
                <a:cs typeface="Consolas" pitchFamily="34" charset="-120"/>
              </a:rPr>
              <a:t>      writes_per_second: 10</a:t>
            </a:r>
            <a:endParaRPr lang="en-US" sz="950" dirty="0"/>
          </a:p>
          <a:p>
            <a:pPr marL="0" indent="0">
              <a:buNone/>
            </a:pPr>
            <a:r>
              <a:rPr lang="en-US" sz="950" dirty="0">
                <a:solidFill>
                  <a:srgbClr val="D5DAE0"/>
                </a:solidFill>
                <a:latin typeface="Consolas" pitchFamily="34" charset="0"/>
                <a:ea typeface="Consolas" pitchFamily="34" charset="-122"/>
                <a:cs typeface="Consolas" pitchFamily="34" charset="-120"/>
              </a:rPr>
              <a:t>      burst: 20</a:t>
            </a:r>
            <a:endParaRPr lang="en-US" sz="950" dirty="0"/>
          </a:p>
          <a:p>
            <a:pPr marL="0" indent="0">
              <a:buNone/>
            </a:pPr>
            <a:r>
              <a:rPr lang="en-US" sz="950" dirty="0">
                <a:solidFill>
                  <a:srgbClr val="F2A65A"/>
                </a:solidFill>
                <a:latin typeface="Consolas" pitchFamily="34" charset="0"/>
                <a:ea typeface="Consolas" pitchFamily="34" charset="-122"/>
                <a:cs typeface="Consolas" pitchFamily="34" charset="-120"/>
              </a:rPr>
              <a:t>    timeouts:</a:t>
            </a:r>
            <a:endParaRPr lang="en-US" sz="950" dirty="0"/>
          </a:p>
          <a:p>
            <a:pPr marL="0" indent="0">
              <a:buNone/>
            </a:pPr>
            <a:r>
              <a:rPr lang="en-US" sz="950" dirty="0">
                <a:solidFill>
                  <a:srgbClr val="D5DAE0"/>
                </a:solidFill>
                <a:latin typeface="Consolas" pitchFamily="34" charset="0"/>
                <a:ea typeface="Consolas" pitchFamily="34" charset="-122"/>
                <a:cs typeface="Consolas" pitchFamily="34" charset="-120"/>
              </a:rPr>
              <a:t>      engine_auth_sec: 3.0</a:t>
            </a:r>
            <a:endParaRPr lang="en-US" sz="950" dirty="0"/>
          </a:p>
          <a:p>
            <a:pPr marL="0" indent="0">
              <a:buNone/>
            </a:pPr>
            <a:r>
              <a:rPr lang="en-US" sz="950" dirty="0">
                <a:solidFill>
                  <a:srgbClr val="D5DAE0"/>
                </a:solidFill>
                <a:latin typeface="Consolas" pitchFamily="34" charset="0"/>
                <a:ea typeface="Consolas" pitchFamily="34" charset="-122"/>
                <a:cs typeface="Consolas" pitchFamily="34" charset="-120"/>
              </a:rPr>
              <a:t>      engine_reply_sec: 3.0</a:t>
            </a:r>
            <a:endParaRPr lang="en-US" sz="950" dirty="0"/>
          </a:p>
          <a:p>
            <a:pPr marL="0" indent="0">
              <a:buNone/>
            </a:pPr>
            <a:r>
              <a:rPr lang="en-US" sz="950" dirty="0">
                <a:solidFill>
                  <a:srgbClr val="D5DAE0"/>
                </a:solidFill>
                <a:latin typeface="Consolas" pitchFamily="34" charset="0"/>
                <a:ea typeface="Consolas" pitchFamily="34" charset="-122"/>
                <a:cs typeface="Consolas" pitchFamily="34" charset="-120"/>
              </a:rPr>
              <a:t>      wait_ack_sec: 3.0</a:t>
            </a:r>
            <a:endParaRPr lang="en-US" sz="950" dirty="0"/>
          </a:p>
        </p:txBody>
      </p:sp>
      <p:sp>
        <p:nvSpPr>
          <p:cNvPr id="7" name="card background">
            <a:extLst>
              <a:ext uri="{C183D7F6-B498-43B3-948B-1728B52AA6E4}">
                <adec:decorative xmlns:adec="http://schemas.microsoft.com/office/drawing/2017/decorative" val="1"/>
              </a:ext>
            </a:extLst>
          </p:cNvPr>
          <p:cNvSpPr/>
          <p:nvPr/>
        </p:nvSpPr>
        <p:spPr>
          <a:xfrm>
            <a:off x="5303520" y="1170432"/>
            <a:ext cx="3337560" cy="3246120"/>
          </a:xfrm>
          <a:prstGeom prst="roundRect">
            <a:avLst>
              <a:gd name="adj" fmla="val 169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8" name="Text 6"/>
          <p:cNvSpPr/>
          <p:nvPr/>
        </p:nvSpPr>
        <p:spPr>
          <a:xfrm>
            <a:off x="5504688" y="1280160"/>
            <a:ext cx="2926080" cy="292608"/>
          </a:xfrm>
          <a:prstGeom prst="rect">
            <a:avLst/>
          </a:prstGeom>
          <a:noFill/>
          <a:ln/>
        </p:spPr>
        <p:txBody>
          <a:bodyPr wrap="square" lIns="0" tIns="0" rIns="0" bIns="0" rtlCol="0" anchor="ctr"/>
          <a:lstStyle/>
          <a:p>
            <a:pPr marL="0" indent="0">
              <a:buNone/>
            </a:pPr>
            <a:r>
              <a:rPr lang="en-US" sz="1400" b="1" dirty="0">
                <a:solidFill>
                  <a:srgbClr val="E8722C"/>
                </a:solidFill>
                <a:latin typeface="Trebuchet MS" pitchFamily="34" charset="0"/>
                <a:ea typeface="Trebuchet MS" pitchFamily="34" charset="-122"/>
                <a:cs typeface="Trebuchet MS" pitchFamily="34" charset="-120"/>
              </a:rPr>
              <a:t>What matters here</a:t>
            </a:r>
            <a:endParaRPr lang="en-US" sz="1400" dirty="0"/>
          </a:p>
        </p:txBody>
      </p:sp>
      <p:sp>
        <p:nvSpPr>
          <p:cNvPr id="9" name="Text 7"/>
          <p:cNvSpPr/>
          <p:nvPr/>
        </p:nvSpPr>
        <p:spPr>
          <a:xfrm>
            <a:off x="5504688" y="1691640"/>
            <a:ext cx="2926080" cy="2606040"/>
          </a:xfrm>
          <a:prstGeom prst="rect">
            <a:avLst/>
          </a:prstGeom>
          <a:noFill/>
          <a:ln/>
        </p:spPr>
        <p:txBody>
          <a:bodyPr wrap="square" lIns="0" tIns="0" rIns="0" bIns="0" rtlCol="0" anchor="t"/>
          <a:lstStyle/>
          <a:p>
            <a:pPr marL="342900" indent="-342900">
              <a:spcAft>
                <a:spcPts val="900"/>
              </a:spcAft>
              <a:buSzPct val="100000"/>
              <a:buChar char="▪"/>
            </a:pPr>
            <a:r>
              <a:rPr lang="en-US" sz="1100" dirty="0">
                <a:solidFill>
                  <a:srgbClr val="D5DAE0"/>
                </a:solidFill>
                <a:latin typeface="Calibri" pitchFamily="34" charset="0"/>
                <a:ea typeface="Calibri" pitchFamily="34" charset="-122"/>
                <a:cs typeface="Calibri" pitchFamily="34" charset="-120"/>
              </a:rPr>
              <a:t>The settings sit in the central engine configuration under api_gateways — the underscore form is the valid one.</a:t>
            </a:r>
            <a:endParaRPr lang="en-US" sz="1100" dirty="0"/>
          </a:p>
          <a:p>
            <a:pPr marL="342900" indent="-342900">
              <a:spcAft>
                <a:spcPts val="900"/>
              </a:spcAft>
              <a:buSzPct val="100000"/>
              <a:buChar char="▪"/>
            </a:pPr>
            <a:r>
              <a:rPr lang="en-US" sz="1100" dirty="0">
                <a:solidFill>
                  <a:srgbClr val="D5DAE0"/>
                </a:solidFill>
                <a:latin typeface="Calibri" pitchFamily="34" charset="0"/>
                <a:ea typeface="Calibri" pitchFamily="34" charset="-122"/>
                <a:cs typeface="Calibri" pitchFamily="34" charset="-120"/>
              </a:rPr>
              <a:t>Each named block is one gateway process, selected by name when it starts.</a:t>
            </a:r>
            <a:endParaRPr lang="en-US" sz="1100" dirty="0"/>
          </a:p>
          <a:p>
            <a:pPr marL="342900" indent="-342900">
              <a:spcAft>
                <a:spcPts val="900"/>
              </a:spcAft>
              <a:buSzPct val="100000"/>
              <a:buChar char="▪"/>
            </a:pPr>
            <a:r>
              <a:rPr lang="en-US" sz="1100" dirty="0">
                <a:solidFill>
                  <a:srgbClr val="D5DAE0"/>
                </a:solidFill>
                <a:latin typeface="Calibri" pitchFamily="34" charset="0"/>
                <a:ea typeface="Calibri" pitchFamily="34" charset="-122"/>
                <a:cs typeface="Calibri" pitchFamily="34" charset="-120"/>
              </a:rPr>
              <a:t>A credential with a gateway identity can trade; one without it is read-only.</a:t>
            </a:r>
            <a:endParaRPr lang="en-US" sz="1100" dirty="0"/>
          </a:p>
          <a:p>
            <a:pPr marL="342900" indent="-342900">
              <a:spcAft>
                <a:spcPts val="900"/>
              </a:spcAft>
              <a:buSzPct val="100000"/>
              <a:buChar char="▪"/>
            </a:pPr>
            <a:r>
              <a:rPr lang="en-US" sz="1100" dirty="0">
                <a:solidFill>
                  <a:srgbClr val="D5DAE0"/>
                </a:solidFill>
                <a:latin typeface="Calibri" pitchFamily="34" charset="0"/>
                <a:ea typeface="Calibri" pitchFamily="34" charset="-122"/>
                <a:cs typeface="Calibri" pitchFamily="34" charset="-120"/>
              </a:rPr>
              <a:t>The default bind address is open to the network, so browsers and dashboards on other machines can reach it.</a:t>
            </a:r>
            <a:endParaRPr lang="en-US" sz="1100" dirty="0"/>
          </a:p>
          <a:p>
            <a:pPr marL="342900" indent="-342900">
              <a:buSzPct val="100000"/>
              <a:buChar char="▪"/>
            </a:pPr>
            <a:r>
              <a:rPr lang="en-US" sz="1100" dirty="0">
                <a:solidFill>
                  <a:srgbClr val="D5DAE0"/>
                </a:solidFill>
                <a:latin typeface="Calibri" pitchFamily="34" charset="0"/>
                <a:ea typeface="Calibri" pitchFamily="34" charset="-122"/>
                <a:cs typeface="Calibri" pitchFamily="34" charset="-120"/>
              </a:rPr>
              <a:t>Write limits and timeouts are per gateway, not per client.</a:t>
            </a:r>
            <a:endParaRPr lang="en-US" sz="1100" dirty="0"/>
          </a:p>
        </p:txBody>
      </p:sp>
      <p:sp>
        <p:nvSpPr>
          <p:cNvPr id="10" name="Text 8"/>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Getting connected</a:t>
            </a:r>
            <a:endParaRPr lang="en-US" sz="900" dirty="0"/>
          </a:p>
        </p:txBody>
      </p:sp>
      <p:sp>
        <p:nvSpPr>
          <p:cNvPr id="11" name="Text 9"/>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8138160" cy="548640"/>
          </a:xfrm>
          <a:prstGeom prst="rect">
            <a:avLst/>
          </a:prstGeom>
          <a:noFill/>
          <a:ln/>
        </p:spPr>
        <p:txBody>
          <a:bodyPr wrap="square" lIns="0" tIns="0" rIns="0" bIns="0" rtlCol="0" anchor="ctr"/>
          <a:lstStyle/>
          <a:p>
            <a:pPr marL="0" indent="0">
              <a:buNone/>
            </a:pPr>
            <a:r>
              <a:rPr lang="en-US" sz="2700" b="1" dirty="0">
                <a:solidFill>
                  <a:srgbClr val="F3F5F7"/>
                </a:solidFill>
                <a:latin typeface="Trebuchet MS" pitchFamily="34" charset="0"/>
                <a:ea typeface="Trebuchet MS" pitchFamily="34" charset="-122"/>
                <a:cs typeface="Trebuchet MS" pitchFamily="34" charset="-120"/>
              </a:rPr>
              <a:t>Two identities, two levels of power</a:t>
            </a:r>
            <a:endParaRPr lang="en-US" sz="2700" dirty="0"/>
          </a:p>
        </p:txBody>
      </p:sp>
      <p:sp>
        <p:nvSpPr>
          <p:cNvPr id="3" name="Text 1"/>
          <p:cNvSpPr/>
          <p:nvPr/>
        </p:nvSpPr>
        <p:spPr>
          <a:xfrm>
            <a:off x="502920" y="841248"/>
            <a:ext cx="8138160" cy="237744"/>
          </a:xfrm>
          <a:prstGeom prst="rect">
            <a:avLst/>
          </a:prstGeom>
          <a:noFill/>
          <a:ln/>
        </p:spPr>
        <p:txBody>
          <a:bodyPr wrap="square" lIns="0" tIns="0" rIns="0" bIns="0" rtlCol="0" anchor="ctr"/>
          <a:lstStyle/>
          <a:p>
            <a:pPr marL="0" indent="0">
              <a:buNone/>
            </a:pPr>
            <a:r>
              <a:rPr lang="en-US" sz="1100" b="1" kern="0" spc="200" dirty="0">
                <a:solidFill>
                  <a:srgbClr val="E8722C"/>
                </a:solidFill>
                <a:latin typeface="Calibri" pitchFamily="34" charset="0"/>
                <a:ea typeface="Calibri" pitchFamily="34" charset="-122"/>
                <a:cs typeface="Calibri" pitchFamily="34" charset="-120"/>
              </a:rPr>
              <a:t>CREDENTIALS</a:t>
            </a:r>
            <a:endParaRPr lang="en-US" sz="1100" dirty="0"/>
          </a:p>
        </p:txBody>
      </p:sp>
      <p:sp>
        <p:nvSpPr>
          <p:cNvPr id="4" name="card background">
            <a:extLst>
              <a:ext uri="{C183D7F6-B498-43B3-948B-1728B52AA6E4}">
                <adec:decorative xmlns:adec="http://schemas.microsoft.com/office/drawing/2017/decorative" val="1"/>
              </a:ext>
            </a:extLst>
          </p:cNvPr>
          <p:cNvSpPr/>
          <p:nvPr/>
        </p:nvSpPr>
        <p:spPr>
          <a:xfrm>
            <a:off x="502920" y="1234440"/>
            <a:ext cx="3959352" cy="2743200"/>
          </a:xfrm>
          <a:prstGeom prst="roundRect">
            <a:avLst>
              <a:gd name="adj" fmla="val 200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5" name="card top edge">
            <a:extLst>
              <a:ext uri="{C183D7F6-B498-43B3-948B-1728B52AA6E4}">
                <adec:decorative xmlns:adec="http://schemas.microsoft.com/office/drawing/2017/decorative" val="1"/>
              </a:ext>
            </a:extLst>
          </p:cNvPr>
          <p:cNvSpPr/>
          <p:nvPr/>
        </p:nvSpPr>
        <p:spPr>
          <a:xfrm>
            <a:off x="502920" y="1234440"/>
            <a:ext cx="3959352" cy="73152"/>
          </a:xfrm>
          <a:prstGeom prst="rect">
            <a:avLst/>
          </a:prstGeom>
          <a:solidFill>
            <a:srgbClr val="E8722C"/>
          </a:solidFill>
          <a:ln w="12700">
            <a:solidFill>
              <a:srgbClr val="E8722C"/>
            </a:solidFill>
            <a:prstDash val="solid"/>
          </a:ln>
        </p:spPr>
        <p:txBody>
          <a:bodyPr/>
          <a:lstStyle/>
          <a:p>
            <a:endParaRPr lang="en-SE"/>
          </a:p>
        </p:txBody>
      </p:sp>
      <p:sp>
        <p:nvSpPr>
          <p:cNvPr id="6" name="Text 4"/>
          <p:cNvSpPr/>
          <p:nvPr/>
        </p:nvSpPr>
        <p:spPr>
          <a:xfrm>
            <a:off x="740664" y="1453896"/>
            <a:ext cx="3502152" cy="365760"/>
          </a:xfrm>
          <a:prstGeom prst="rect">
            <a:avLst/>
          </a:prstGeom>
          <a:noFill/>
          <a:ln/>
        </p:spPr>
        <p:txBody>
          <a:bodyPr wrap="square" lIns="0" tIns="0" rIns="0" bIns="0" rtlCol="0" anchor="ctr"/>
          <a:lstStyle/>
          <a:p>
            <a:pPr marL="0" indent="0">
              <a:buNone/>
            </a:pPr>
            <a:r>
              <a:rPr lang="en-US" sz="1700" b="1" dirty="0">
                <a:solidFill>
                  <a:srgbClr val="E8722C"/>
                </a:solidFill>
                <a:latin typeface="Trebuchet MS" pitchFamily="34" charset="0"/>
                <a:ea typeface="Trebuchet MS" pitchFamily="34" charset="-122"/>
                <a:cs typeface="Trebuchet MS" pitchFamily="34" charset="-120"/>
              </a:rPr>
              <a:t>Trading credential</a:t>
            </a:r>
            <a:endParaRPr lang="en-US" sz="1700" dirty="0"/>
          </a:p>
        </p:txBody>
      </p:sp>
      <p:sp>
        <p:nvSpPr>
          <p:cNvPr id="7" name="Text 5"/>
          <p:cNvSpPr/>
          <p:nvPr/>
        </p:nvSpPr>
        <p:spPr>
          <a:xfrm>
            <a:off x="740664" y="1819656"/>
            <a:ext cx="3502152" cy="274320"/>
          </a:xfrm>
          <a:prstGeom prst="rect">
            <a:avLst/>
          </a:prstGeom>
          <a:noFill/>
          <a:ln/>
        </p:spPr>
        <p:txBody>
          <a:bodyPr wrap="square" lIns="0" tIns="0" rIns="0" bIns="0" rtlCol="0" anchor="ctr"/>
          <a:lstStyle/>
          <a:p>
            <a:pPr marL="0" indent="0">
              <a:buNone/>
            </a:pPr>
            <a:r>
              <a:rPr lang="en-US" sz="1100" i="1" dirty="0">
                <a:solidFill>
                  <a:srgbClr val="97A1AC"/>
                </a:solidFill>
                <a:latin typeface="Calibri" pitchFamily="34" charset="0"/>
                <a:ea typeface="Calibri" pitchFamily="34" charset="-122"/>
                <a:cs typeface="Calibri" pitchFamily="34" charset="-120"/>
              </a:rPr>
              <a:t>gateway_id names a real exchange participant</a:t>
            </a:r>
            <a:endParaRPr lang="en-US" sz="1100" dirty="0"/>
          </a:p>
        </p:txBody>
      </p:sp>
      <p:sp>
        <p:nvSpPr>
          <p:cNvPr id="8" name="Text 6"/>
          <p:cNvSpPr/>
          <p:nvPr/>
        </p:nvSpPr>
        <p:spPr>
          <a:xfrm>
            <a:off x="740664" y="2167128"/>
            <a:ext cx="3502152" cy="1627632"/>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Can submit, amend, cancel and replace orders</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Sees its own live orders, positions and private events</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Reads its own historical orders and fills</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Each identity belongs to exactly one gateway process</a:t>
            </a:r>
            <a:endParaRPr lang="en-US" sz="1150" dirty="0"/>
          </a:p>
        </p:txBody>
      </p:sp>
      <p:sp>
        <p:nvSpPr>
          <p:cNvPr id="9" name="card background">
            <a:extLst>
              <a:ext uri="{C183D7F6-B498-43B3-948B-1728B52AA6E4}">
                <adec:decorative xmlns:adec="http://schemas.microsoft.com/office/drawing/2017/decorative" val="1"/>
              </a:ext>
            </a:extLst>
          </p:cNvPr>
          <p:cNvSpPr/>
          <p:nvPr/>
        </p:nvSpPr>
        <p:spPr>
          <a:xfrm>
            <a:off x="4681728" y="1234440"/>
            <a:ext cx="3959352" cy="2743200"/>
          </a:xfrm>
          <a:prstGeom prst="roundRect">
            <a:avLst>
              <a:gd name="adj" fmla="val 200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0" name="card top edge">
            <a:extLst>
              <a:ext uri="{C183D7F6-B498-43B3-948B-1728B52AA6E4}">
                <adec:decorative xmlns:adec="http://schemas.microsoft.com/office/drawing/2017/decorative" val="1"/>
              </a:ext>
            </a:extLst>
          </p:cNvPr>
          <p:cNvSpPr/>
          <p:nvPr/>
        </p:nvSpPr>
        <p:spPr>
          <a:xfrm>
            <a:off x="4681728" y="1234440"/>
            <a:ext cx="3959352" cy="73152"/>
          </a:xfrm>
          <a:prstGeom prst="rect">
            <a:avLst/>
          </a:prstGeom>
          <a:solidFill>
            <a:srgbClr val="35A79C"/>
          </a:solidFill>
          <a:ln w="12700">
            <a:solidFill>
              <a:srgbClr val="35A79C"/>
            </a:solidFill>
            <a:prstDash val="solid"/>
          </a:ln>
        </p:spPr>
        <p:txBody>
          <a:bodyPr/>
          <a:lstStyle/>
          <a:p>
            <a:endParaRPr lang="en-SE"/>
          </a:p>
        </p:txBody>
      </p:sp>
      <p:sp>
        <p:nvSpPr>
          <p:cNvPr id="11" name="Text 9"/>
          <p:cNvSpPr/>
          <p:nvPr/>
        </p:nvSpPr>
        <p:spPr>
          <a:xfrm>
            <a:off x="4919472" y="1453896"/>
            <a:ext cx="3502152" cy="365760"/>
          </a:xfrm>
          <a:prstGeom prst="rect">
            <a:avLst/>
          </a:prstGeom>
          <a:noFill/>
          <a:ln/>
        </p:spPr>
        <p:txBody>
          <a:bodyPr wrap="square" lIns="0" tIns="0" rIns="0" bIns="0" rtlCol="0" anchor="ctr"/>
          <a:lstStyle/>
          <a:p>
            <a:pPr marL="0" indent="0">
              <a:buNone/>
            </a:pPr>
            <a:r>
              <a:rPr lang="en-US" sz="1700" b="1" dirty="0">
                <a:solidFill>
                  <a:srgbClr val="35A79C"/>
                </a:solidFill>
                <a:latin typeface="Trebuchet MS" pitchFamily="34" charset="0"/>
                <a:ea typeface="Trebuchet MS" pitchFamily="34" charset="-122"/>
                <a:cs typeface="Trebuchet MS" pitchFamily="34" charset="-120"/>
              </a:rPr>
              <a:t>Read-only credential</a:t>
            </a:r>
            <a:endParaRPr lang="en-US" sz="1700" dirty="0"/>
          </a:p>
        </p:txBody>
      </p:sp>
      <p:sp>
        <p:nvSpPr>
          <p:cNvPr id="12" name="Text 10"/>
          <p:cNvSpPr/>
          <p:nvPr/>
        </p:nvSpPr>
        <p:spPr>
          <a:xfrm>
            <a:off x="4919472" y="1819656"/>
            <a:ext cx="3502152" cy="274320"/>
          </a:xfrm>
          <a:prstGeom prst="rect">
            <a:avLst/>
          </a:prstGeom>
          <a:noFill/>
          <a:ln/>
        </p:spPr>
        <p:txBody>
          <a:bodyPr wrap="square" lIns="0" tIns="0" rIns="0" bIns="0" rtlCol="0" anchor="ctr"/>
          <a:lstStyle/>
          <a:p>
            <a:pPr marL="0" indent="0">
              <a:buNone/>
            </a:pPr>
            <a:r>
              <a:rPr lang="en-US" sz="1100" i="1" dirty="0">
                <a:solidFill>
                  <a:srgbClr val="97A1AC"/>
                </a:solidFill>
                <a:latin typeface="Calibri" pitchFamily="34" charset="0"/>
                <a:ea typeface="Calibri" pitchFamily="34" charset="-122"/>
                <a:cs typeface="Calibri" pitchFamily="34" charset="-120"/>
              </a:rPr>
              <a:t>no gateway_id — a viewer, not a participant</a:t>
            </a:r>
            <a:endParaRPr lang="en-US" sz="1100" dirty="0"/>
          </a:p>
        </p:txBody>
      </p:sp>
      <p:sp>
        <p:nvSpPr>
          <p:cNvPr id="13" name="Text 11"/>
          <p:cNvSpPr/>
          <p:nvPr/>
        </p:nvSpPr>
        <p:spPr>
          <a:xfrm>
            <a:off x="4919472" y="2167128"/>
            <a:ext cx="3502152" cy="1627632"/>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Streams public market data and session events</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Reads the public trade tape, daily bars and snapshots</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Cannot submit orders or see anyone's private state</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Safe to hand to a wallboard or a classroom demo</a:t>
            </a:r>
            <a:endParaRPr lang="en-US" sz="1150" dirty="0"/>
          </a:p>
        </p:txBody>
      </p:sp>
      <p:sp>
        <p:nvSpPr>
          <p:cNvPr id="14" name="Text 12"/>
          <p:cNvSpPr/>
          <p:nvPr/>
        </p:nvSpPr>
        <p:spPr>
          <a:xfrm>
            <a:off x="502920" y="4114800"/>
            <a:ext cx="8138160" cy="502920"/>
          </a:xfrm>
          <a:prstGeom prst="rect">
            <a:avLst/>
          </a:prstGeom>
          <a:noFill/>
          <a:ln/>
        </p:spPr>
        <p:txBody>
          <a:bodyPr wrap="square" lIns="0" tIns="0" rIns="0" bIns="0" rtlCol="0" anchor="t"/>
          <a:lstStyle/>
          <a:p>
            <a:pPr marL="0" indent="0" algn="l">
              <a:buNone/>
            </a:pPr>
            <a:r>
              <a:rPr lang="en-US" sz="1150" i="1" dirty="0">
                <a:solidFill>
                  <a:srgbClr val="97A1AC"/>
                </a:solidFill>
                <a:latin typeface="Calibri" pitchFamily="34" charset="0"/>
                <a:ea typeface="Calibri" pitchFamily="34" charset="-122"/>
                <a:cs typeface="Calibri" pitchFamily="34" charset="-120"/>
              </a:rPr>
              <a:t>The engine keeps the final say: if its own allow-list does not recognise the identity behind a key, every request using that key is refused.</a:t>
            </a:r>
            <a:endParaRPr lang="en-US" sz="1150" dirty="0"/>
          </a:p>
        </p:txBody>
      </p:sp>
      <p:sp>
        <p:nvSpPr>
          <p:cNvPr id="15" name="Text 13"/>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Getting connected</a:t>
            </a:r>
            <a:endParaRPr lang="en-US" sz="900" dirty="0"/>
          </a:p>
        </p:txBody>
      </p:sp>
      <p:sp>
        <p:nvSpPr>
          <p:cNvPr id="16" name="Text 14"/>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8138160" cy="548640"/>
          </a:xfrm>
          <a:prstGeom prst="rect">
            <a:avLst/>
          </a:prstGeom>
          <a:noFill/>
          <a:ln/>
        </p:spPr>
        <p:txBody>
          <a:bodyPr wrap="square" lIns="0" tIns="0" rIns="0" bIns="0" rtlCol="0" anchor="ctr"/>
          <a:lstStyle/>
          <a:p>
            <a:pPr marL="0" indent="0">
              <a:buNone/>
            </a:pPr>
            <a:r>
              <a:rPr lang="en-US" sz="2700" b="1" dirty="0">
                <a:solidFill>
                  <a:srgbClr val="F3F5F7"/>
                </a:solidFill>
                <a:latin typeface="Trebuchet MS" pitchFamily="34" charset="0"/>
                <a:ea typeface="Trebuchet MS" pitchFamily="34" charset="-122"/>
                <a:cs typeface="Trebuchet MS" pitchFamily="34" charset="-120"/>
              </a:rPr>
              <a:t>Starting the processes</a:t>
            </a:r>
            <a:endParaRPr lang="en-US" sz="2700" dirty="0"/>
          </a:p>
        </p:txBody>
      </p:sp>
      <p:sp>
        <p:nvSpPr>
          <p:cNvPr id="3" name="Text 1"/>
          <p:cNvSpPr/>
          <p:nvPr/>
        </p:nvSpPr>
        <p:spPr>
          <a:xfrm>
            <a:off x="502920" y="841248"/>
            <a:ext cx="8138160" cy="237744"/>
          </a:xfrm>
          <a:prstGeom prst="rect">
            <a:avLst/>
          </a:prstGeom>
          <a:noFill/>
          <a:ln/>
        </p:spPr>
        <p:txBody>
          <a:bodyPr wrap="square" lIns="0" tIns="0" rIns="0" bIns="0" rtlCol="0" anchor="ctr"/>
          <a:lstStyle/>
          <a:p>
            <a:pPr marL="0" indent="0">
              <a:buNone/>
            </a:pPr>
            <a:r>
              <a:rPr lang="en-US" sz="1100" b="1" kern="0" spc="200" dirty="0">
                <a:solidFill>
                  <a:srgbClr val="E8722C"/>
                </a:solidFill>
                <a:latin typeface="Calibri" pitchFamily="34" charset="0"/>
                <a:ea typeface="Calibri" pitchFamily="34" charset="-122"/>
                <a:cs typeface="Calibri" pitchFamily="34" charset="-120"/>
              </a:rPr>
              <a:t>RUN ORDER</a:t>
            </a:r>
            <a:endParaRPr lang="en-US" sz="1100" dirty="0"/>
          </a:p>
        </p:txBody>
      </p:sp>
      <p:sp>
        <p:nvSpPr>
          <p:cNvPr id="4" name="card background">
            <a:extLst>
              <a:ext uri="{C183D7F6-B498-43B3-948B-1728B52AA6E4}">
                <adec:decorative xmlns:adec="http://schemas.microsoft.com/office/drawing/2017/decorative" val="1"/>
              </a:ext>
            </a:extLst>
          </p:cNvPr>
          <p:cNvSpPr/>
          <p:nvPr/>
        </p:nvSpPr>
        <p:spPr>
          <a:xfrm>
            <a:off x="502920" y="1280160"/>
            <a:ext cx="2505456" cy="1051560"/>
          </a:xfrm>
          <a:prstGeom prst="roundRect">
            <a:avLst>
              <a:gd name="adj" fmla="val 5217"/>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5" name="card top edge">
            <a:extLst>
              <a:ext uri="{C183D7F6-B498-43B3-948B-1728B52AA6E4}">
                <adec:decorative xmlns:adec="http://schemas.microsoft.com/office/drawing/2017/decorative" val="1"/>
              </a:ext>
            </a:extLst>
          </p:cNvPr>
          <p:cNvSpPr/>
          <p:nvPr/>
        </p:nvSpPr>
        <p:spPr>
          <a:xfrm>
            <a:off x="502920" y="1280160"/>
            <a:ext cx="2505456" cy="64008"/>
          </a:xfrm>
          <a:prstGeom prst="rect">
            <a:avLst/>
          </a:prstGeom>
          <a:solidFill>
            <a:srgbClr val="35A79C"/>
          </a:solidFill>
          <a:ln w="12700">
            <a:solidFill>
              <a:srgbClr val="35A79C"/>
            </a:solidFill>
            <a:prstDash val="solid"/>
          </a:ln>
        </p:spPr>
        <p:txBody>
          <a:bodyPr/>
          <a:lstStyle/>
          <a:p>
            <a:endParaRPr lang="en-SE"/>
          </a:p>
        </p:txBody>
      </p:sp>
      <p:sp>
        <p:nvSpPr>
          <p:cNvPr id="6" name="Text 4"/>
          <p:cNvSpPr/>
          <p:nvPr/>
        </p:nvSpPr>
        <p:spPr>
          <a:xfrm>
            <a:off x="649224" y="1463040"/>
            <a:ext cx="2212848" cy="310896"/>
          </a:xfrm>
          <a:prstGeom prst="rect">
            <a:avLst/>
          </a:prstGeom>
          <a:noFill/>
          <a:ln/>
        </p:spPr>
        <p:txBody>
          <a:bodyPr wrap="square" lIns="0" tIns="0" rIns="0" bIns="0" rtlCol="0" anchor="ctr"/>
          <a:lstStyle/>
          <a:p>
            <a:pPr marL="0" indent="0" algn="ctr">
              <a:buNone/>
            </a:pPr>
            <a:r>
              <a:rPr lang="en-US" sz="1300" b="1" dirty="0">
                <a:solidFill>
                  <a:srgbClr val="35A79C"/>
                </a:solidFill>
                <a:latin typeface="Trebuchet MS" pitchFamily="34" charset="0"/>
                <a:ea typeface="Trebuchet MS" pitchFamily="34" charset="-122"/>
                <a:cs typeface="Trebuchet MS" pitchFamily="34" charset="-120"/>
              </a:rPr>
              <a:t>pm-engine</a:t>
            </a:r>
            <a:endParaRPr lang="en-US" sz="1300" dirty="0"/>
          </a:p>
        </p:txBody>
      </p:sp>
      <p:sp>
        <p:nvSpPr>
          <p:cNvPr id="7" name="Text 5"/>
          <p:cNvSpPr/>
          <p:nvPr/>
        </p:nvSpPr>
        <p:spPr>
          <a:xfrm>
            <a:off x="630936" y="1792224"/>
            <a:ext cx="2249424" cy="429768"/>
          </a:xfrm>
          <a:prstGeom prst="rect">
            <a:avLst/>
          </a:prstGeom>
          <a:noFill/>
          <a:ln/>
        </p:spPr>
        <p:txBody>
          <a:bodyPr wrap="square" lIns="0" tIns="0" rIns="0" bIns="0" rtlCol="0" anchor="t"/>
          <a:lstStyle/>
          <a:p>
            <a:pPr marL="0" indent="0" algn="ctr">
              <a:buNone/>
            </a:pPr>
            <a:r>
              <a:rPr lang="en-US" sz="1050" dirty="0">
                <a:solidFill>
                  <a:srgbClr val="D5DAE0"/>
                </a:solidFill>
                <a:latin typeface="Calibri" pitchFamily="34" charset="0"/>
                <a:ea typeface="Calibri" pitchFamily="34" charset="-122"/>
                <a:cs typeface="Calibri" pitchFamily="34" charset="-120"/>
              </a:rPr>
              <a:t>The matching engine. Nothing trades without it.</a:t>
            </a:r>
            <a:endParaRPr lang="en-US" sz="1050" dirty="0"/>
          </a:p>
        </p:txBody>
      </p:sp>
      <p:sp>
        <p:nvSpPr>
          <p:cNvPr id="8" name="Text 6"/>
          <p:cNvSpPr/>
          <p:nvPr/>
        </p:nvSpPr>
        <p:spPr>
          <a:xfrm>
            <a:off x="3008376" y="1586484"/>
            <a:ext cx="310896" cy="438912"/>
          </a:xfrm>
          <a:prstGeom prst="rect">
            <a:avLst/>
          </a:prstGeom>
          <a:noFill/>
          <a:ln/>
        </p:spPr>
        <p:txBody>
          <a:bodyPr wrap="square" lIns="0" tIns="0" rIns="0" bIns="0" rtlCol="0" anchor="ctr"/>
          <a:lstStyle/>
          <a:p>
            <a:pPr marL="0" indent="0" algn="ctr">
              <a:buNone/>
            </a:pPr>
            <a:r>
              <a:rPr lang="en-US" sz="2200" b="1" dirty="0">
                <a:solidFill>
                  <a:srgbClr val="E8722C"/>
                </a:solidFill>
                <a:latin typeface="Trebuchet MS" pitchFamily="34" charset="0"/>
                <a:ea typeface="Trebuchet MS" pitchFamily="34" charset="-122"/>
                <a:cs typeface="Trebuchet MS" pitchFamily="34" charset="-120"/>
              </a:rPr>
              <a:t>›</a:t>
            </a:r>
            <a:endParaRPr lang="en-US" sz="2200" dirty="0"/>
          </a:p>
        </p:txBody>
      </p:sp>
      <p:sp>
        <p:nvSpPr>
          <p:cNvPr id="9" name="card background">
            <a:extLst>
              <a:ext uri="{C183D7F6-B498-43B3-948B-1728B52AA6E4}">
                <adec:decorative xmlns:adec="http://schemas.microsoft.com/office/drawing/2017/decorative" val="1"/>
              </a:ext>
            </a:extLst>
          </p:cNvPr>
          <p:cNvSpPr/>
          <p:nvPr/>
        </p:nvSpPr>
        <p:spPr>
          <a:xfrm>
            <a:off x="3319272" y="1280160"/>
            <a:ext cx="2505456" cy="1051560"/>
          </a:xfrm>
          <a:prstGeom prst="roundRect">
            <a:avLst>
              <a:gd name="adj" fmla="val 5217"/>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0" name="card top edge">
            <a:extLst>
              <a:ext uri="{C183D7F6-B498-43B3-948B-1728B52AA6E4}">
                <adec:decorative xmlns:adec="http://schemas.microsoft.com/office/drawing/2017/decorative" val="1"/>
              </a:ext>
            </a:extLst>
          </p:cNvPr>
          <p:cNvSpPr/>
          <p:nvPr/>
        </p:nvSpPr>
        <p:spPr>
          <a:xfrm>
            <a:off x="3319272" y="1280160"/>
            <a:ext cx="2505456" cy="64008"/>
          </a:xfrm>
          <a:prstGeom prst="rect">
            <a:avLst/>
          </a:prstGeom>
          <a:solidFill>
            <a:srgbClr val="8B7BD8"/>
          </a:solidFill>
          <a:ln w="12700">
            <a:solidFill>
              <a:srgbClr val="8B7BD8"/>
            </a:solidFill>
            <a:prstDash val="solid"/>
          </a:ln>
        </p:spPr>
        <p:txBody>
          <a:bodyPr/>
          <a:lstStyle/>
          <a:p>
            <a:endParaRPr lang="en-SE"/>
          </a:p>
        </p:txBody>
      </p:sp>
      <p:sp>
        <p:nvSpPr>
          <p:cNvPr id="11" name="Text 9"/>
          <p:cNvSpPr/>
          <p:nvPr/>
        </p:nvSpPr>
        <p:spPr>
          <a:xfrm>
            <a:off x="3465576" y="1463040"/>
            <a:ext cx="2212848" cy="310896"/>
          </a:xfrm>
          <a:prstGeom prst="rect">
            <a:avLst/>
          </a:prstGeom>
          <a:noFill/>
          <a:ln/>
        </p:spPr>
        <p:txBody>
          <a:bodyPr wrap="square" lIns="0" tIns="0" rIns="0" bIns="0" rtlCol="0" anchor="ctr"/>
          <a:lstStyle/>
          <a:p>
            <a:pPr marL="0" indent="0" algn="ctr">
              <a:buNone/>
            </a:pPr>
            <a:r>
              <a:rPr lang="en-US" sz="1300" b="1" dirty="0">
                <a:solidFill>
                  <a:srgbClr val="8B7BD8"/>
                </a:solidFill>
                <a:latin typeface="Trebuchet MS" pitchFamily="34" charset="0"/>
                <a:ea typeface="Trebuchet MS" pitchFamily="34" charset="-122"/>
                <a:cs typeface="Trebuchet MS" pitchFamily="34" charset="-120"/>
              </a:rPr>
              <a:t>pm-stats</a:t>
            </a:r>
            <a:endParaRPr lang="en-US" sz="1300" dirty="0"/>
          </a:p>
        </p:txBody>
      </p:sp>
      <p:sp>
        <p:nvSpPr>
          <p:cNvPr id="12" name="Text 10"/>
          <p:cNvSpPr/>
          <p:nvPr/>
        </p:nvSpPr>
        <p:spPr>
          <a:xfrm>
            <a:off x="3447288" y="1792224"/>
            <a:ext cx="2249424" cy="429768"/>
          </a:xfrm>
          <a:prstGeom prst="rect">
            <a:avLst/>
          </a:prstGeom>
          <a:noFill/>
          <a:ln/>
        </p:spPr>
        <p:txBody>
          <a:bodyPr wrap="square" lIns="0" tIns="0" rIns="0" bIns="0" rtlCol="0" anchor="t"/>
          <a:lstStyle/>
          <a:p>
            <a:pPr marL="0" indent="0" algn="ctr">
              <a:buNone/>
            </a:pPr>
            <a:r>
              <a:rPr lang="en-US" sz="1050" dirty="0">
                <a:solidFill>
                  <a:srgbClr val="D5DAE0"/>
                </a:solidFill>
                <a:latin typeface="Calibri" pitchFamily="34" charset="0"/>
                <a:ea typeface="Calibri" pitchFamily="34" charset="-122"/>
                <a:cs typeface="Calibri" pitchFamily="34" charset="-120"/>
              </a:rPr>
              <a:t>Records history into the statistics database.</a:t>
            </a:r>
            <a:endParaRPr lang="en-US" sz="1050" dirty="0"/>
          </a:p>
        </p:txBody>
      </p:sp>
      <p:sp>
        <p:nvSpPr>
          <p:cNvPr id="13" name="Text 11"/>
          <p:cNvSpPr/>
          <p:nvPr/>
        </p:nvSpPr>
        <p:spPr>
          <a:xfrm>
            <a:off x="5824728" y="1586484"/>
            <a:ext cx="310896" cy="438912"/>
          </a:xfrm>
          <a:prstGeom prst="rect">
            <a:avLst/>
          </a:prstGeom>
          <a:noFill/>
          <a:ln/>
        </p:spPr>
        <p:txBody>
          <a:bodyPr wrap="square" lIns="0" tIns="0" rIns="0" bIns="0" rtlCol="0" anchor="ctr"/>
          <a:lstStyle/>
          <a:p>
            <a:pPr marL="0" indent="0" algn="ctr">
              <a:buNone/>
            </a:pPr>
            <a:r>
              <a:rPr lang="en-US" sz="2200" b="1" dirty="0">
                <a:solidFill>
                  <a:srgbClr val="E8722C"/>
                </a:solidFill>
                <a:latin typeface="Trebuchet MS" pitchFamily="34" charset="0"/>
                <a:ea typeface="Trebuchet MS" pitchFamily="34" charset="-122"/>
                <a:cs typeface="Trebuchet MS" pitchFamily="34" charset="-120"/>
              </a:rPr>
              <a:t>›</a:t>
            </a:r>
            <a:endParaRPr lang="en-US" sz="2200" dirty="0"/>
          </a:p>
        </p:txBody>
      </p:sp>
      <p:sp>
        <p:nvSpPr>
          <p:cNvPr id="14" name="card background">
            <a:extLst>
              <a:ext uri="{C183D7F6-B498-43B3-948B-1728B52AA6E4}">
                <adec:decorative xmlns:adec="http://schemas.microsoft.com/office/drawing/2017/decorative" val="1"/>
              </a:ext>
            </a:extLst>
          </p:cNvPr>
          <p:cNvSpPr/>
          <p:nvPr/>
        </p:nvSpPr>
        <p:spPr>
          <a:xfrm>
            <a:off x="6135624" y="1280160"/>
            <a:ext cx="2505456" cy="1051560"/>
          </a:xfrm>
          <a:prstGeom prst="roundRect">
            <a:avLst>
              <a:gd name="adj" fmla="val 5217"/>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5" name="card top edge">
            <a:extLst>
              <a:ext uri="{C183D7F6-B498-43B3-948B-1728B52AA6E4}">
                <adec:decorative xmlns:adec="http://schemas.microsoft.com/office/drawing/2017/decorative" val="1"/>
              </a:ext>
            </a:extLst>
          </p:cNvPr>
          <p:cNvSpPr/>
          <p:nvPr/>
        </p:nvSpPr>
        <p:spPr>
          <a:xfrm>
            <a:off x="6135624" y="1280160"/>
            <a:ext cx="2505456" cy="64008"/>
          </a:xfrm>
          <a:prstGeom prst="rect">
            <a:avLst/>
          </a:prstGeom>
          <a:solidFill>
            <a:srgbClr val="E8722C"/>
          </a:solidFill>
          <a:ln w="12700">
            <a:solidFill>
              <a:srgbClr val="E8722C"/>
            </a:solidFill>
            <a:prstDash val="solid"/>
          </a:ln>
        </p:spPr>
        <p:txBody>
          <a:bodyPr/>
          <a:lstStyle/>
          <a:p>
            <a:endParaRPr lang="en-SE"/>
          </a:p>
        </p:txBody>
      </p:sp>
      <p:sp>
        <p:nvSpPr>
          <p:cNvPr id="16" name="Text 14"/>
          <p:cNvSpPr/>
          <p:nvPr/>
        </p:nvSpPr>
        <p:spPr>
          <a:xfrm>
            <a:off x="6281928" y="1463040"/>
            <a:ext cx="2212848" cy="310896"/>
          </a:xfrm>
          <a:prstGeom prst="rect">
            <a:avLst/>
          </a:prstGeom>
          <a:noFill/>
          <a:ln/>
        </p:spPr>
        <p:txBody>
          <a:bodyPr wrap="square" lIns="0" tIns="0" rIns="0" bIns="0" rtlCol="0" anchor="ctr"/>
          <a:lstStyle/>
          <a:p>
            <a:pPr marL="0" indent="0" algn="ctr">
              <a:buNone/>
            </a:pPr>
            <a:r>
              <a:rPr lang="en-US" sz="1300" b="1" dirty="0">
                <a:solidFill>
                  <a:srgbClr val="E8722C"/>
                </a:solidFill>
                <a:latin typeface="Trebuchet MS" pitchFamily="34" charset="0"/>
                <a:ea typeface="Trebuchet MS" pitchFamily="34" charset="-122"/>
                <a:cs typeface="Trebuchet MS" pitchFamily="34" charset="-120"/>
              </a:rPr>
              <a:t>pm-api-gwy</a:t>
            </a:r>
            <a:endParaRPr lang="en-US" sz="1300" dirty="0"/>
          </a:p>
        </p:txBody>
      </p:sp>
      <p:sp>
        <p:nvSpPr>
          <p:cNvPr id="17" name="Text 15"/>
          <p:cNvSpPr/>
          <p:nvPr/>
        </p:nvSpPr>
        <p:spPr>
          <a:xfrm>
            <a:off x="6263640" y="1792224"/>
            <a:ext cx="2249424" cy="429768"/>
          </a:xfrm>
          <a:prstGeom prst="rect">
            <a:avLst/>
          </a:prstGeom>
          <a:noFill/>
          <a:ln/>
        </p:spPr>
        <p:txBody>
          <a:bodyPr wrap="square" lIns="0" tIns="0" rIns="0" bIns="0" rtlCol="0" anchor="t"/>
          <a:lstStyle/>
          <a:p>
            <a:pPr marL="0" indent="0" algn="ctr">
              <a:buNone/>
            </a:pPr>
            <a:r>
              <a:rPr lang="en-US" sz="1050" dirty="0">
                <a:solidFill>
                  <a:srgbClr val="D5DAE0"/>
                </a:solidFill>
                <a:latin typeface="Calibri" pitchFamily="34" charset="0"/>
                <a:ea typeface="Calibri" pitchFamily="34" charset="-122"/>
                <a:cs typeface="Calibri" pitchFamily="34" charset="-120"/>
              </a:rPr>
              <a:t>The gateway itself, started with an instance name.</a:t>
            </a:r>
            <a:endParaRPr lang="en-US" sz="1050" dirty="0"/>
          </a:p>
        </p:txBody>
      </p:sp>
      <p:sp>
        <p:nvSpPr>
          <p:cNvPr id="18" name="code panel">
            <a:extLst>
              <a:ext uri="{C183D7F6-B498-43B3-948B-1728B52AA6E4}">
                <adec:decorative xmlns:adec="http://schemas.microsoft.com/office/drawing/2017/decorative" val="1"/>
              </a:ext>
            </a:extLst>
          </p:cNvPr>
          <p:cNvSpPr/>
          <p:nvPr/>
        </p:nvSpPr>
        <p:spPr>
          <a:xfrm>
            <a:off x="502920" y="2542032"/>
            <a:ext cx="3977640" cy="1234440"/>
          </a:xfrm>
          <a:prstGeom prst="roundRect">
            <a:avLst>
              <a:gd name="adj" fmla="val 3704"/>
            </a:avLst>
          </a:prstGeom>
          <a:solidFill>
            <a:srgbClr val="121519"/>
          </a:solidFill>
          <a:ln w="12700">
            <a:solidFill>
              <a:srgbClr val="3A424B"/>
            </a:solidFill>
            <a:prstDash val="solid"/>
          </a:ln>
        </p:spPr>
        <p:txBody>
          <a:bodyPr/>
          <a:lstStyle/>
          <a:p>
            <a:endParaRPr lang="en-SE"/>
          </a:p>
        </p:txBody>
      </p:sp>
      <p:sp>
        <p:nvSpPr>
          <p:cNvPr id="19" name="code panel edge">
            <a:extLst>
              <a:ext uri="{C183D7F6-B498-43B3-948B-1728B52AA6E4}">
                <adec:decorative xmlns:adec="http://schemas.microsoft.com/office/drawing/2017/decorative" val="1"/>
              </a:ext>
            </a:extLst>
          </p:cNvPr>
          <p:cNvSpPr/>
          <p:nvPr/>
        </p:nvSpPr>
        <p:spPr>
          <a:xfrm>
            <a:off x="502920" y="2542032"/>
            <a:ext cx="54864" cy="1234440"/>
          </a:xfrm>
          <a:prstGeom prst="rect">
            <a:avLst/>
          </a:prstGeom>
          <a:solidFill>
            <a:srgbClr val="E8722C"/>
          </a:solidFill>
          <a:ln w="12700">
            <a:solidFill>
              <a:srgbClr val="E8722C"/>
            </a:solidFill>
            <a:prstDash val="solid"/>
          </a:ln>
        </p:spPr>
        <p:txBody>
          <a:bodyPr/>
          <a:lstStyle/>
          <a:p>
            <a:endParaRPr lang="en-SE"/>
          </a:p>
        </p:txBody>
      </p:sp>
      <p:sp>
        <p:nvSpPr>
          <p:cNvPr id="20" name="Text 18"/>
          <p:cNvSpPr/>
          <p:nvPr/>
        </p:nvSpPr>
        <p:spPr>
          <a:xfrm>
            <a:off x="704088" y="2670048"/>
            <a:ext cx="3611880" cy="978408"/>
          </a:xfrm>
          <a:prstGeom prst="rect">
            <a:avLst/>
          </a:prstGeom>
          <a:noFill/>
          <a:ln/>
        </p:spPr>
        <p:txBody>
          <a:bodyPr wrap="square" lIns="0" tIns="0" rIns="0" bIns="0" rtlCol="0" anchor="t"/>
          <a:lstStyle/>
          <a:p>
            <a:pPr marL="0" indent="0">
              <a:buNone/>
            </a:pPr>
            <a:r>
              <a:rPr lang="en-US" sz="1100" dirty="0">
                <a:solidFill>
                  <a:srgbClr val="97A1AC"/>
                </a:solidFill>
                <a:latin typeface="Consolas" pitchFamily="34" charset="0"/>
                <a:ea typeface="Consolas" pitchFamily="34" charset="-122"/>
                <a:cs typeface="Consolas" pitchFamily="34" charset="-120"/>
              </a:rPr>
              <a:t># installed</a:t>
            </a:r>
            <a:endParaRPr lang="en-US" sz="1100" dirty="0"/>
          </a:p>
          <a:p>
            <a:pPr marL="0" indent="0">
              <a:buNone/>
            </a:pPr>
            <a:r>
              <a:rPr lang="en-US" sz="1100" dirty="0">
                <a:solidFill>
                  <a:srgbClr val="D5DAE0"/>
                </a:solidFill>
                <a:latin typeface="Consolas" pitchFamily="34" charset="0"/>
                <a:ea typeface="Consolas" pitchFamily="34" charset="-122"/>
                <a:cs typeface="Consolas" pitchFamily="34" charset="-120"/>
              </a:rPr>
              <a:t>pm-engine --verbose</a:t>
            </a:r>
            <a:endParaRPr lang="en-US" sz="1100" dirty="0"/>
          </a:p>
          <a:p>
            <a:pPr marL="0" indent="0">
              <a:buNone/>
            </a:pPr>
            <a:r>
              <a:rPr lang="en-US" sz="1100" dirty="0">
                <a:solidFill>
                  <a:srgbClr val="D5DAE0"/>
                </a:solidFill>
                <a:latin typeface="Consolas" pitchFamily="34" charset="0"/>
                <a:ea typeface="Consolas" pitchFamily="34" charset="-122"/>
                <a:cs typeface="Consolas" pitchFamily="34" charset="-120"/>
              </a:rPr>
              <a:t>pm-stats</a:t>
            </a:r>
            <a:endParaRPr lang="en-US" sz="1100" dirty="0"/>
          </a:p>
          <a:p>
            <a:pPr marL="0" indent="0">
              <a:buNone/>
            </a:pPr>
            <a:r>
              <a:rPr lang="en-US" sz="1100" dirty="0">
                <a:solidFill>
                  <a:srgbClr val="D5DAE0"/>
                </a:solidFill>
                <a:latin typeface="Consolas" pitchFamily="34" charset="0"/>
                <a:ea typeface="Consolas" pitchFamily="34" charset="-122"/>
                <a:cs typeface="Consolas" pitchFamily="34" charset="-120"/>
              </a:rPr>
              <a:t>pm-api-gwy --instance desk</a:t>
            </a:r>
            <a:endParaRPr lang="en-US" sz="1100" dirty="0"/>
          </a:p>
        </p:txBody>
      </p:sp>
      <p:sp>
        <p:nvSpPr>
          <p:cNvPr id="21" name="code panel">
            <a:extLst>
              <a:ext uri="{C183D7F6-B498-43B3-948B-1728B52AA6E4}">
                <adec:decorative xmlns:adec="http://schemas.microsoft.com/office/drawing/2017/decorative" val="1"/>
              </a:ext>
            </a:extLst>
          </p:cNvPr>
          <p:cNvSpPr/>
          <p:nvPr/>
        </p:nvSpPr>
        <p:spPr>
          <a:xfrm>
            <a:off x="4663440" y="2542032"/>
            <a:ext cx="3977640" cy="1234440"/>
          </a:xfrm>
          <a:prstGeom prst="roundRect">
            <a:avLst>
              <a:gd name="adj" fmla="val 3704"/>
            </a:avLst>
          </a:prstGeom>
          <a:solidFill>
            <a:srgbClr val="121519"/>
          </a:solidFill>
          <a:ln w="12700">
            <a:solidFill>
              <a:srgbClr val="3A424B"/>
            </a:solidFill>
            <a:prstDash val="solid"/>
          </a:ln>
        </p:spPr>
        <p:txBody>
          <a:bodyPr/>
          <a:lstStyle/>
          <a:p>
            <a:endParaRPr lang="en-SE"/>
          </a:p>
        </p:txBody>
      </p:sp>
      <p:sp>
        <p:nvSpPr>
          <p:cNvPr id="22" name="code panel edge">
            <a:extLst>
              <a:ext uri="{C183D7F6-B498-43B3-948B-1728B52AA6E4}">
                <adec:decorative xmlns:adec="http://schemas.microsoft.com/office/drawing/2017/decorative" val="1"/>
              </a:ext>
            </a:extLst>
          </p:cNvPr>
          <p:cNvSpPr/>
          <p:nvPr/>
        </p:nvSpPr>
        <p:spPr>
          <a:xfrm>
            <a:off x="4663440" y="2542032"/>
            <a:ext cx="54864" cy="1234440"/>
          </a:xfrm>
          <a:prstGeom prst="rect">
            <a:avLst/>
          </a:prstGeom>
          <a:solidFill>
            <a:srgbClr val="35A79C"/>
          </a:solidFill>
          <a:ln w="12700">
            <a:solidFill>
              <a:srgbClr val="35A79C"/>
            </a:solidFill>
            <a:prstDash val="solid"/>
          </a:ln>
        </p:spPr>
        <p:txBody>
          <a:bodyPr/>
          <a:lstStyle/>
          <a:p>
            <a:endParaRPr lang="en-SE"/>
          </a:p>
        </p:txBody>
      </p:sp>
      <p:sp>
        <p:nvSpPr>
          <p:cNvPr id="23" name="Text 21"/>
          <p:cNvSpPr/>
          <p:nvPr/>
        </p:nvSpPr>
        <p:spPr>
          <a:xfrm>
            <a:off x="4864608" y="2670048"/>
            <a:ext cx="3611880" cy="978408"/>
          </a:xfrm>
          <a:prstGeom prst="rect">
            <a:avLst/>
          </a:prstGeom>
          <a:noFill/>
          <a:ln/>
        </p:spPr>
        <p:txBody>
          <a:bodyPr wrap="square" lIns="0" tIns="0" rIns="0" bIns="0" rtlCol="0" anchor="t"/>
          <a:lstStyle/>
          <a:p>
            <a:pPr marL="0" indent="0">
              <a:buNone/>
            </a:pPr>
            <a:r>
              <a:rPr lang="en-US" sz="1100" dirty="0">
                <a:solidFill>
                  <a:srgbClr val="97A1AC"/>
                </a:solidFill>
                <a:latin typeface="Consolas" pitchFamily="34" charset="0"/>
                <a:ea typeface="Consolas" pitchFamily="34" charset="-122"/>
                <a:cs typeface="Consolas" pitchFamily="34" charset="-120"/>
              </a:rPr>
              <a:t># from a source checkout</a:t>
            </a:r>
            <a:endParaRPr lang="en-US" sz="1100" dirty="0"/>
          </a:p>
          <a:p>
            <a:pPr marL="0" indent="0">
              <a:buNone/>
            </a:pPr>
            <a:r>
              <a:rPr lang="en-US" sz="1100" dirty="0">
                <a:solidFill>
                  <a:srgbClr val="D5DAE0"/>
                </a:solidFill>
                <a:latin typeface="Consolas" pitchFamily="34" charset="0"/>
                <a:ea typeface="Consolas" pitchFamily="34" charset="-122"/>
                <a:cs typeface="Consolas" pitchFamily="34" charset="-120"/>
              </a:rPr>
              <a:t>poetry run pm-engine --verbose</a:t>
            </a:r>
            <a:endParaRPr lang="en-US" sz="1100" dirty="0"/>
          </a:p>
          <a:p>
            <a:pPr marL="0" indent="0">
              <a:buNone/>
            </a:pPr>
            <a:r>
              <a:rPr lang="en-US" sz="1100" dirty="0">
                <a:solidFill>
                  <a:srgbClr val="D5DAE0"/>
                </a:solidFill>
                <a:latin typeface="Consolas" pitchFamily="34" charset="0"/>
                <a:ea typeface="Consolas" pitchFamily="34" charset="-122"/>
                <a:cs typeface="Consolas" pitchFamily="34" charset="-120"/>
              </a:rPr>
              <a:t>poetry run pm-stats</a:t>
            </a:r>
            <a:endParaRPr lang="en-US" sz="1100" dirty="0"/>
          </a:p>
          <a:p>
            <a:pPr marL="0" indent="0">
              <a:buNone/>
            </a:pPr>
            <a:r>
              <a:rPr lang="en-US" sz="1100" dirty="0">
                <a:solidFill>
                  <a:srgbClr val="D5DAE0"/>
                </a:solidFill>
                <a:latin typeface="Consolas" pitchFamily="34" charset="0"/>
                <a:ea typeface="Consolas" pitchFamily="34" charset="-122"/>
                <a:cs typeface="Consolas" pitchFamily="34" charset="-120"/>
              </a:rPr>
              <a:t>poetry run pm-api-gwy --instance desk</a:t>
            </a:r>
            <a:endParaRPr lang="en-US" sz="1100" dirty="0"/>
          </a:p>
        </p:txBody>
      </p:sp>
      <p:sp>
        <p:nvSpPr>
          <p:cNvPr id="24" name="Text 22"/>
          <p:cNvSpPr/>
          <p:nvPr/>
        </p:nvSpPr>
        <p:spPr>
          <a:xfrm>
            <a:off x="502920" y="3913632"/>
            <a:ext cx="8138160" cy="548640"/>
          </a:xfrm>
          <a:prstGeom prst="rect">
            <a:avLst/>
          </a:prstGeom>
          <a:noFill/>
          <a:ln/>
        </p:spPr>
        <p:txBody>
          <a:bodyPr wrap="square" lIns="0" tIns="0" rIns="0" bIns="0" rtlCol="0" anchor="t"/>
          <a:lstStyle/>
          <a:p>
            <a:pPr marL="0" indent="0" algn="l">
              <a:buNone/>
            </a:pPr>
            <a:r>
              <a:rPr lang="en-US" sz="1150" i="1" dirty="0">
                <a:solidFill>
                  <a:srgbClr val="97A1AC"/>
                </a:solidFill>
                <a:latin typeface="Calibri" pitchFamily="34" charset="0"/>
                <a:ea typeface="Calibri" pitchFamily="34" charset="-122"/>
                <a:cs typeface="Calibri" pitchFamily="34" charset="-120"/>
              </a:rPr>
              <a:t>Order matters: the gateway greets the engine at start-up. Logs go to the console, so redirect them to a file when running unattended.</a:t>
            </a:r>
            <a:endParaRPr lang="en-US" sz="1150" dirty="0"/>
          </a:p>
        </p:txBody>
      </p:sp>
      <p:sp>
        <p:nvSpPr>
          <p:cNvPr id="25" name="Text 23"/>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Getting connected</a:t>
            </a:r>
            <a:endParaRPr lang="en-US" sz="900" dirty="0"/>
          </a:p>
        </p:txBody>
      </p:sp>
      <p:sp>
        <p:nvSpPr>
          <p:cNvPr id="26" name="Text 24"/>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8138160" cy="548640"/>
          </a:xfrm>
          <a:prstGeom prst="rect">
            <a:avLst/>
          </a:prstGeom>
          <a:noFill/>
          <a:ln/>
        </p:spPr>
        <p:txBody>
          <a:bodyPr wrap="square" lIns="0" tIns="0" rIns="0" bIns="0" rtlCol="0" anchor="ctr"/>
          <a:lstStyle/>
          <a:p>
            <a:pPr marL="0" indent="0">
              <a:buNone/>
            </a:pPr>
            <a:r>
              <a:rPr lang="en-US" sz="2700" b="1" dirty="0">
                <a:solidFill>
                  <a:srgbClr val="F3F5F7"/>
                </a:solidFill>
                <a:latin typeface="Trebuchet MS" pitchFamily="34" charset="0"/>
                <a:ea typeface="Trebuchet MS" pitchFamily="34" charset="-122"/>
                <a:cs typeface="Trebuchet MS" pitchFamily="34" charset="-120"/>
              </a:rPr>
              <a:t>Command-line overrides</a:t>
            </a:r>
            <a:endParaRPr lang="en-US" sz="2700" dirty="0"/>
          </a:p>
        </p:txBody>
      </p:sp>
      <p:sp>
        <p:nvSpPr>
          <p:cNvPr id="3" name="Text 1"/>
          <p:cNvSpPr/>
          <p:nvPr/>
        </p:nvSpPr>
        <p:spPr>
          <a:xfrm>
            <a:off x="502920" y="841248"/>
            <a:ext cx="8138160" cy="237744"/>
          </a:xfrm>
          <a:prstGeom prst="rect">
            <a:avLst/>
          </a:prstGeom>
          <a:noFill/>
          <a:ln/>
        </p:spPr>
        <p:txBody>
          <a:bodyPr wrap="square" lIns="0" tIns="0" rIns="0" bIns="0" rtlCol="0" anchor="ctr"/>
          <a:lstStyle/>
          <a:p>
            <a:pPr marL="0" indent="0">
              <a:buNone/>
            </a:pPr>
            <a:r>
              <a:rPr lang="en-US" sz="1100" b="1" kern="0" spc="200" dirty="0">
                <a:solidFill>
                  <a:srgbClr val="E8722C"/>
                </a:solidFill>
                <a:latin typeface="Calibri" pitchFamily="34" charset="0"/>
                <a:ea typeface="Calibri" pitchFamily="34" charset="-122"/>
                <a:cs typeface="Calibri" pitchFamily="34" charset="-120"/>
              </a:rPr>
              <a:t>OPTIONS</a:t>
            </a:r>
            <a:endParaRPr lang="en-US" sz="1100" dirty="0"/>
          </a:p>
        </p:txBody>
      </p:sp>
      <p:graphicFrame>
        <p:nvGraphicFramePr>
          <p:cNvPr id="23" name="Table 0"/>
          <p:cNvGraphicFramePr>
            <a:graphicFrameLocks noGrp="1"/>
          </p:cNvGraphicFramePr>
          <p:nvPr>
            <p:extLst>
              <p:ext uri="{D42A27DB-BD31-4B8C-83A1-F6EECF244321}">
                <p14:modId xmlns:p14="http://schemas.microsoft.com/office/powerpoint/2010/main" val="2535246551"/>
              </p:ext>
            </p:extLst>
          </p:nvPr>
        </p:nvGraphicFramePr>
        <p:xfrm>
          <a:off x="502920" y="1207008"/>
          <a:ext cx="8138160" cy="914400"/>
        </p:xfrm>
        <a:graphic>
          <a:graphicData uri="http://schemas.openxmlformats.org/drawingml/2006/table">
            <a:tbl>
              <a:tblPr/>
              <a:tblGrid>
                <a:gridCol w="237744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3474720">
                  <a:extLst>
                    <a:ext uri="{9D8B030D-6E8A-4147-A177-3AD203B41FA5}">
                      <a16:colId xmlns:a16="http://schemas.microsoft.com/office/drawing/2014/main" val="20002"/>
                    </a:ext>
                  </a:extLst>
                </a:gridCol>
              </a:tblGrid>
              <a:tr h="365760">
                <a:tc>
                  <a:txBody>
                    <a:bodyPr/>
                    <a:lstStyle/>
                    <a:p>
                      <a:pPr marL="0" indent="0">
                        <a:buNone/>
                      </a:pPr>
                      <a:r>
                        <a:rPr lang="en-US" sz="1100" b="1" dirty="0">
                          <a:solidFill>
                            <a:srgbClr val="121519"/>
                          </a:solidFill>
                          <a:latin typeface="Trebuchet MS" pitchFamily="34" charset="0"/>
                          <a:ea typeface="Trebuchet MS" pitchFamily="34" charset="-122"/>
                          <a:cs typeface="Trebuchet MS" pitchFamily="34" charset="-120"/>
                        </a:rPr>
                        <a:t>Option</a:t>
                      </a:r>
                      <a:endParaRPr lang="en-US" sz="1100" dirty="0">
                        <a:latin typeface="Trebuchet MS" charset="0"/>
                        <a:ea typeface="Trebuchet MS" charset="0"/>
                        <a:cs typeface="Trebuchet M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E8722C"/>
                    </a:solidFill>
                  </a:tcPr>
                </a:tc>
                <a:tc>
                  <a:txBody>
                    <a:bodyPr/>
                    <a:lstStyle/>
                    <a:p>
                      <a:pPr marL="0" indent="0">
                        <a:buNone/>
                      </a:pPr>
                      <a:r>
                        <a:rPr lang="en-US" sz="1100" b="1" dirty="0">
                          <a:solidFill>
                            <a:srgbClr val="121519"/>
                          </a:solidFill>
                          <a:latin typeface="Trebuchet MS" pitchFamily="34" charset="0"/>
                          <a:ea typeface="Trebuchet MS" pitchFamily="34" charset="-122"/>
                          <a:cs typeface="Trebuchet MS" pitchFamily="34" charset="-120"/>
                        </a:rPr>
                        <a:t>Default</a:t>
                      </a:r>
                      <a:endParaRPr lang="en-US" sz="1100" dirty="0">
                        <a:latin typeface="Trebuchet MS" charset="0"/>
                        <a:ea typeface="Trebuchet MS" charset="0"/>
                        <a:cs typeface="Trebuchet M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E8722C"/>
                    </a:solidFill>
                  </a:tcPr>
                </a:tc>
                <a:tc>
                  <a:txBody>
                    <a:bodyPr/>
                    <a:lstStyle/>
                    <a:p>
                      <a:pPr marL="0" indent="0">
                        <a:buNone/>
                      </a:pPr>
                      <a:r>
                        <a:rPr lang="en-US" sz="1100" b="1" dirty="0">
                          <a:solidFill>
                            <a:srgbClr val="121519"/>
                          </a:solidFill>
                          <a:latin typeface="Trebuchet MS" pitchFamily="34" charset="0"/>
                          <a:ea typeface="Trebuchet MS" pitchFamily="34" charset="-122"/>
                          <a:cs typeface="Trebuchet MS" pitchFamily="34" charset="-120"/>
                        </a:rPr>
                        <a:t>What it does</a:t>
                      </a:r>
                      <a:endParaRPr lang="en-US" sz="1100" dirty="0">
                        <a:latin typeface="Trebuchet MS" charset="0"/>
                        <a:ea typeface="Trebuchet MS" charset="0"/>
                        <a:cs typeface="Trebuchet M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E8722C"/>
                    </a:solidFill>
                  </a:tcPr>
                </a:tc>
                <a:extLst>
                  <a:ext uri="{0D108BD9-81ED-4DB2-BD59-A6C34878D82A}">
                    <a16:rowId xmlns:a16="http://schemas.microsoft.com/office/drawing/2014/main" val="10000"/>
                  </a:ext>
                </a:extLst>
              </a:tr>
              <a:tr h="365760">
                <a:tc>
                  <a:txBody>
                    <a:bodyPr/>
                    <a:lstStyle/>
                    <a:p>
                      <a:pPr marL="0" indent="0">
                        <a:buNone/>
                      </a:pPr>
                      <a:r>
                        <a:rPr lang="en-US" sz="1050" dirty="0">
                          <a:solidFill>
                            <a:srgbClr val="F2A65A"/>
                          </a:solidFill>
                          <a:latin typeface="Consolas" pitchFamily="34" charset="0"/>
                          <a:ea typeface="Consolas" pitchFamily="34" charset="-122"/>
                          <a:cs typeface="Consolas" pitchFamily="34" charset="-120"/>
                        </a:rPr>
                        <a:t>--instance NAME</a:t>
                      </a:r>
                      <a:endParaRPr lang="en-US" sz="105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1050" dirty="0">
                          <a:solidFill>
                            <a:srgbClr val="D5DAE0"/>
                          </a:solidFill>
                          <a:latin typeface="Calibri" pitchFamily="34" charset="0"/>
                          <a:ea typeface="Calibri" pitchFamily="34" charset="-122"/>
                          <a:cs typeface="Calibri" pitchFamily="34" charset="-120"/>
                        </a:rPr>
                        <a:t>auto when only one block exists</a:t>
                      </a:r>
                      <a:endParaRPr lang="en-US" sz="10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1050" dirty="0">
                          <a:solidFill>
                            <a:srgbClr val="D5DAE0"/>
                          </a:solidFill>
                          <a:latin typeface="Calibri" pitchFamily="34" charset="0"/>
                          <a:ea typeface="Calibri" pitchFamily="34" charset="-122"/>
                          <a:cs typeface="Calibri" pitchFamily="34" charset="-120"/>
                        </a:rPr>
                        <a:t>Choose which configured gateway to run</a:t>
                      </a:r>
                      <a:endParaRPr lang="en-US" sz="10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extLst>
                  <a:ext uri="{0D108BD9-81ED-4DB2-BD59-A6C34878D82A}">
                    <a16:rowId xmlns:a16="http://schemas.microsoft.com/office/drawing/2014/main" val="10001"/>
                  </a:ext>
                </a:extLst>
              </a:tr>
              <a:tr h="365760">
                <a:tc>
                  <a:txBody>
                    <a:bodyPr/>
                    <a:lstStyle/>
                    <a:p>
                      <a:pPr marL="0" indent="0">
                        <a:buNone/>
                      </a:pPr>
                      <a:r>
                        <a:rPr lang="en-US" sz="1050" dirty="0">
                          <a:solidFill>
                            <a:srgbClr val="F2A65A"/>
                          </a:solidFill>
                          <a:latin typeface="Consolas" pitchFamily="34" charset="0"/>
                          <a:ea typeface="Consolas" pitchFamily="34" charset="-122"/>
                          <a:cs typeface="Consolas" pitchFamily="34" charset="-120"/>
                        </a:rPr>
                        <a:t>--host ADDR</a:t>
                      </a:r>
                      <a:endParaRPr lang="en-US" sz="105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1050" dirty="0">
                          <a:solidFill>
                            <a:srgbClr val="D5DAE0"/>
                          </a:solidFill>
                          <a:latin typeface="Calibri" pitchFamily="34" charset="0"/>
                          <a:ea typeface="Calibri" pitchFamily="34" charset="-122"/>
                          <a:cs typeface="Calibri" pitchFamily="34" charset="-120"/>
                        </a:rPr>
                        <a:t>config value</a:t>
                      </a:r>
                      <a:endParaRPr lang="en-US" sz="10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1050" dirty="0">
                          <a:solidFill>
                            <a:srgbClr val="D5DAE0"/>
                          </a:solidFill>
                          <a:latin typeface="Calibri" pitchFamily="34" charset="0"/>
                          <a:ea typeface="Calibri" pitchFamily="34" charset="-122"/>
                          <a:cs typeface="Calibri" pitchFamily="34" charset="-120"/>
                        </a:rPr>
                        <a:t>Override the address the server binds to</a:t>
                      </a:r>
                      <a:endParaRPr lang="en-US" sz="10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extLst>
                  <a:ext uri="{0D108BD9-81ED-4DB2-BD59-A6C34878D82A}">
                    <a16:rowId xmlns:a16="http://schemas.microsoft.com/office/drawing/2014/main" val="10002"/>
                  </a:ext>
                </a:extLst>
              </a:tr>
              <a:tr h="365760">
                <a:tc>
                  <a:txBody>
                    <a:bodyPr/>
                    <a:lstStyle/>
                    <a:p>
                      <a:pPr marL="0" indent="0">
                        <a:buNone/>
                      </a:pPr>
                      <a:r>
                        <a:rPr lang="en-US" sz="1050" dirty="0">
                          <a:solidFill>
                            <a:srgbClr val="F2A65A"/>
                          </a:solidFill>
                          <a:latin typeface="Consolas" pitchFamily="34" charset="0"/>
                          <a:ea typeface="Consolas" pitchFamily="34" charset="-122"/>
                          <a:cs typeface="Consolas" pitchFamily="34" charset="-120"/>
                        </a:rPr>
                        <a:t>--port PORT</a:t>
                      </a:r>
                      <a:endParaRPr lang="en-US" sz="105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1050" dirty="0">
                          <a:solidFill>
                            <a:srgbClr val="D5DAE0"/>
                          </a:solidFill>
                          <a:latin typeface="Calibri" pitchFamily="34" charset="0"/>
                          <a:ea typeface="Calibri" pitchFamily="34" charset="-122"/>
                          <a:cs typeface="Calibri" pitchFamily="34" charset="-120"/>
                        </a:rPr>
                        <a:t>config value</a:t>
                      </a:r>
                      <a:endParaRPr lang="en-US" sz="10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1050" dirty="0">
                          <a:solidFill>
                            <a:srgbClr val="D5DAE0"/>
                          </a:solidFill>
                          <a:latin typeface="Calibri" pitchFamily="34" charset="0"/>
                          <a:ea typeface="Calibri" pitchFamily="34" charset="-122"/>
                          <a:cs typeface="Calibri" pitchFamily="34" charset="-120"/>
                        </a:rPr>
                        <a:t>Override the listening port</a:t>
                      </a:r>
                      <a:endParaRPr lang="en-US" sz="10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extLst>
                  <a:ext uri="{0D108BD9-81ED-4DB2-BD59-A6C34878D82A}">
                    <a16:rowId xmlns:a16="http://schemas.microsoft.com/office/drawing/2014/main" val="10003"/>
                  </a:ext>
                </a:extLst>
              </a:tr>
              <a:tr h="365760">
                <a:tc>
                  <a:txBody>
                    <a:bodyPr/>
                    <a:lstStyle/>
                    <a:p>
                      <a:pPr marL="0" indent="0">
                        <a:buNone/>
                      </a:pPr>
                      <a:r>
                        <a:rPr lang="en-US" sz="1050" dirty="0">
                          <a:solidFill>
                            <a:srgbClr val="F2A65A"/>
                          </a:solidFill>
                          <a:latin typeface="Consolas" pitchFamily="34" charset="0"/>
                          <a:ea typeface="Consolas" pitchFamily="34" charset="-122"/>
                          <a:cs typeface="Consolas" pitchFamily="34" charset="-120"/>
                        </a:rPr>
                        <a:t>--engine-host HOST</a:t>
                      </a:r>
                      <a:endParaRPr lang="en-US" sz="105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1050" dirty="0">
                          <a:solidFill>
                            <a:srgbClr val="D5DAE0"/>
                          </a:solidFill>
                          <a:latin typeface="Calibri" pitchFamily="34" charset="0"/>
                          <a:ea typeface="Calibri" pitchFamily="34" charset="-122"/>
                          <a:cs typeface="Calibri" pitchFamily="34" charset="-120"/>
                        </a:rPr>
                        <a:t>config value</a:t>
                      </a:r>
                      <a:endParaRPr lang="en-US" sz="10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1050" dirty="0">
                          <a:solidFill>
                            <a:srgbClr val="D5DAE0"/>
                          </a:solidFill>
                          <a:latin typeface="Calibri" pitchFamily="34" charset="0"/>
                          <a:ea typeface="Calibri" pitchFamily="34" charset="-122"/>
                          <a:cs typeface="Calibri" pitchFamily="34" charset="-120"/>
                        </a:rPr>
                        <a:t>Point the gateway at an engine on another machine</a:t>
                      </a:r>
                      <a:endParaRPr lang="en-US" sz="10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extLst>
                  <a:ext uri="{0D108BD9-81ED-4DB2-BD59-A6C34878D82A}">
                    <a16:rowId xmlns:a16="http://schemas.microsoft.com/office/drawing/2014/main" val="10004"/>
                  </a:ext>
                </a:extLst>
              </a:tr>
              <a:tr h="365760">
                <a:tc>
                  <a:txBody>
                    <a:bodyPr/>
                    <a:lstStyle/>
                    <a:p>
                      <a:pPr marL="0" indent="0">
                        <a:buNone/>
                      </a:pPr>
                      <a:r>
                        <a:rPr lang="en-US" sz="1050" dirty="0">
                          <a:solidFill>
                            <a:srgbClr val="F2A65A"/>
                          </a:solidFill>
                          <a:latin typeface="Consolas" pitchFamily="34" charset="0"/>
                          <a:ea typeface="Consolas" pitchFamily="34" charset="-122"/>
                          <a:cs typeface="Consolas" pitchFamily="34" charset="-120"/>
                        </a:rPr>
                        <a:t>--stats-db PATH</a:t>
                      </a:r>
                      <a:endParaRPr lang="en-US" sz="105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1050" dirty="0">
                          <a:solidFill>
                            <a:srgbClr val="D5DAE0"/>
                          </a:solidFill>
                          <a:latin typeface="Calibri" pitchFamily="34" charset="0"/>
                          <a:ea typeface="Calibri" pitchFamily="34" charset="-122"/>
                          <a:cs typeface="Calibri" pitchFamily="34" charset="-120"/>
                        </a:rPr>
                        <a:t>config value</a:t>
                      </a:r>
                      <a:endParaRPr lang="en-US" sz="10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1050" dirty="0">
                          <a:solidFill>
                            <a:srgbClr val="D5DAE0"/>
                          </a:solidFill>
                          <a:latin typeface="Calibri" pitchFamily="34" charset="0"/>
                          <a:ea typeface="Calibri" pitchFamily="34" charset="-122"/>
                          <a:cs typeface="Calibri" pitchFamily="34" charset="-120"/>
                        </a:rPr>
                        <a:t>Choose the history database file</a:t>
                      </a:r>
                      <a:endParaRPr lang="en-US" sz="10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extLst>
                  <a:ext uri="{0D108BD9-81ED-4DB2-BD59-A6C34878D82A}">
                    <a16:rowId xmlns:a16="http://schemas.microsoft.com/office/drawing/2014/main" val="10005"/>
                  </a:ext>
                </a:extLst>
              </a:tr>
              <a:tr h="365760">
                <a:tc>
                  <a:txBody>
                    <a:bodyPr/>
                    <a:lstStyle/>
                    <a:p>
                      <a:pPr marL="0" indent="0">
                        <a:buNone/>
                      </a:pPr>
                      <a:r>
                        <a:rPr lang="en-US" sz="1050" dirty="0">
                          <a:solidFill>
                            <a:srgbClr val="F2A65A"/>
                          </a:solidFill>
                          <a:latin typeface="Consolas" pitchFamily="34" charset="0"/>
                          <a:ea typeface="Consolas" pitchFamily="34" charset="-122"/>
                          <a:cs typeface="Consolas" pitchFamily="34" charset="-120"/>
                        </a:rPr>
                        <a:t>--log-level LEVEL</a:t>
                      </a:r>
                      <a:endParaRPr lang="en-US" sz="105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1050" dirty="0">
                          <a:solidFill>
                            <a:srgbClr val="D5DAE0"/>
                          </a:solidFill>
                          <a:latin typeface="Calibri" pitchFamily="34" charset="0"/>
                          <a:ea typeface="Calibri" pitchFamily="34" charset="-122"/>
                          <a:cs typeface="Calibri" pitchFamily="34" charset="-120"/>
                        </a:rPr>
                        <a:t>config value</a:t>
                      </a:r>
                      <a:endParaRPr lang="en-US" sz="10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1050" dirty="0">
                          <a:solidFill>
                            <a:srgbClr val="D5DAE0"/>
                          </a:solidFill>
                          <a:latin typeface="Calibri" pitchFamily="34" charset="0"/>
                          <a:ea typeface="Calibri" pitchFamily="34" charset="-122"/>
                          <a:cs typeface="Calibri" pitchFamily="34" charset="-120"/>
                        </a:rPr>
                        <a:t>debug, info, warning or error</a:t>
                      </a:r>
                      <a:endParaRPr lang="en-US" sz="10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extLst>
                  <a:ext uri="{0D108BD9-81ED-4DB2-BD59-A6C34878D82A}">
                    <a16:rowId xmlns:a16="http://schemas.microsoft.com/office/drawing/2014/main" val="10006"/>
                  </a:ext>
                </a:extLst>
              </a:tr>
            </a:tbl>
          </a:graphicData>
        </a:graphic>
      </p:graphicFrame>
      <p:sp>
        <p:nvSpPr>
          <p:cNvPr id="5" name="Text 2"/>
          <p:cNvSpPr/>
          <p:nvPr/>
        </p:nvSpPr>
        <p:spPr>
          <a:xfrm>
            <a:off x="502920" y="4023360"/>
            <a:ext cx="8138160" cy="548640"/>
          </a:xfrm>
          <a:prstGeom prst="rect">
            <a:avLst/>
          </a:prstGeom>
          <a:noFill/>
          <a:ln/>
        </p:spPr>
        <p:txBody>
          <a:bodyPr wrap="square" lIns="0" tIns="0" rIns="0" bIns="0" rtlCol="0" anchor="t"/>
          <a:lstStyle/>
          <a:p>
            <a:pPr marL="0" indent="0" algn="l">
              <a:buNone/>
            </a:pPr>
            <a:r>
              <a:rPr lang="en-US" sz="1150" i="1" dirty="0">
                <a:solidFill>
                  <a:srgbClr val="97A1AC"/>
                </a:solidFill>
                <a:latin typeface="Calibri" pitchFamily="34" charset="0"/>
                <a:ea typeface="Calibri" pitchFamily="34" charset="-122"/>
                <a:cs typeface="Calibri" pitchFamily="34" charset="-120"/>
              </a:rPr>
              <a:t>Useful in a classroom: run several gateways side by side on different ports, each with its own configuration block and its own keys.</a:t>
            </a:r>
            <a:endParaRPr lang="en-US" sz="1150" dirty="0"/>
          </a:p>
        </p:txBody>
      </p:sp>
      <p:sp>
        <p:nvSpPr>
          <p:cNvPr id="6" name="Text 3"/>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Getting connected</a:t>
            </a:r>
            <a:endParaRPr lang="en-US" sz="900" dirty="0"/>
          </a:p>
        </p:txBody>
      </p:sp>
      <p:sp>
        <p:nvSpPr>
          <p:cNvPr id="7" name="Text 4"/>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8138160" cy="548640"/>
          </a:xfrm>
          <a:prstGeom prst="rect">
            <a:avLst/>
          </a:prstGeom>
          <a:noFill/>
          <a:ln/>
        </p:spPr>
        <p:txBody>
          <a:bodyPr wrap="square" lIns="0" tIns="0" rIns="0" bIns="0" rtlCol="0" anchor="ctr"/>
          <a:lstStyle/>
          <a:p>
            <a:pPr marL="0" indent="0">
              <a:buNone/>
            </a:pPr>
            <a:r>
              <a:rPr lang="en-US" sz="2700" b="1" dirty="0">
                <a:solidFill>
                  <a:srgbClr val="F3F5F7"/>
                </a:solidFill>
                <a:latin typeface="Trebuchet MS" pitchFamily="34" charset="0"/>
                <a:ea typeface="Trebuchet MS" pitchFamily="34" charset="-122"/>
                <a:cs typeface="Trebuchet MS" pitchFamily="34" charset="-120"/>
              </a:rPr>
              <a:t>Your first two calls</a:t>
            </a:r>
            <a:endParaRPr lang="en-US" sz="2700" dirty="0"/>
          </a:p>
        </p:txBody>
      </p:sp>
      <p:sp>
        <p:nvSpPr>
          <p:cNvPr id="3" name="Text 1"/>
          <p:cNvSpPr/>
          <p:nvPr/>
        </p:nvSpPr>
        <p:spPr>
          <a:xfrm>
            <a:off x="502920" y="841248"/>
            <a:ext cx="8138160" cy="237744"/>
          </a:xfrm>
          <a:prstGeom prst="rect">
            <a:avLst/>
          </a:prstGeom>
          <a:noFill/>
          <a:ln/>
        </p:spPr>
        <p:txBody>
          <a:bodyPr wrap="square" lIns="0" tIns="0" rIns="0" bIns="0" rtlCol="0" anchor="ctr"/>
          <a:lstStyle/>
          <a:p>
            <a:pPr marL="0" indent="0">
              <a:buNone/>
            </a:pPr>
            <a:r>
              <a:rPr lang="en-US" sz="1100" b="1" kern="0" spc="200" dirty="0">
                <a:solidFill>
                  <a:srgbClr val="E8722C"/>
                </a:solidFill>
                <a:latin typeface="Calibri" pitchFamily="34" charset="0"/>
                <a:ea typeface="Calibri" pitchFamily="34" charset="-122"/>
                <a:cs typeface="Calibri" pitchFamily="34" charset="-120"/>
              </a:rPr>
              <a:t>HELLO, EXCHANGE</a:t>
            </a:r>
            <a:endParaRPr lang="en-US" sz="1100" dirty="0"/>
          </a:p>
        </p:txBody>
      </p:sp>
      <p:sp>
        <p:nvSpPr>
          <p:cNvPr id="4" name="code panel">
            <a:extLst>
              <a:ext uri="{C183D7F6-B498-43B3-948B-1728B52AA6E4}">
                <adec:decorative xmlns:adec="http://schemas.microsoft.com/office/drawing/2017/decorative" val="1"/>
              </a:ext>
            </a:extLst>
          </p:cNvPr>
          <p:cNvSpPr/>
          <p:nvPr/>
        </p:nvSpPr>
        <p:spPr>
          <a:xfrm>
            <a:off x="502920" y="1170432"/>
            <a:ext cx="8138160" cy="1051560"/>
          </a:xfrm>
          <a:prstGeom prst="roundRect">
            <a:avLst>
              <a:gd name="adj" fmla="val 4348"/>
            </a:avLst>
          </a:prstGeom>
          <a:solidFill>
            <a:srgbClr val="121519"/>
          </a:solidFill>
          <a:ln w="12700">
            <a:solidFill>
              <a:srgbClr val="3A424B"/>
            </a:solidFill>
            <a:prstDash val="solid"/>
          </a:ln>
        </p:spPr>
        <p:txBody>
          <a:bodyPr/>
          <a:lstStyle/>
          <a:p>
            <a:endParaRPr lang="en-SE"/>
          </a:p>
        </p:txBody>
      </p:sp>
      <p:sp>
        <p:nvSpPr>
          <p:cNvPr id="5" name="code panel edge">
            <a:extLst>
              <a:ext uri="{C183D7F6-B498-43B3-948B-1728B52AA6E4}">
                <adec:decorative xmlns:adec="http://schemas.microsoft.com/office/drawing/2017/decorative" val="1"/>
              </a:ext>
            </a:extLst>
          </p:cNvPr>
          <p:cNvSpPr/>
          <p:nvPr/>
        </p:nvSpPr>
        <p:spPr>
          <a:xfrm>
            <a:off x="502920" y="1170432"/>
            <a:ext cx="54864" cy="1051560"/>
          </a:xfrm>
          <a:prstGeom prst="rect">
            <a:avLst/>
          </a:prstGeom>
          <a:solidFill>
            <a:srgbClr val="E8722C"/>
          </a:solidFill>
          <a:ln w="12700">
            <a:solidFill>
              <a:srgbClr val="E8722C"/>
            </a:solidFill>
            <a:prstDash val="solid"/>
          </a:ln>
        </p:spPr>
        <p:txBody>
          <a:bodyPr/>
          <a:lstStyle/>
          <a:p>
            <a:endParaRPr lang="en-SE"/>
          </a:p>
        </p:txBody>
      </p:sp>
      <p:sp>
        <p:nvSpPr>
          <p:cNvPr id="6" name="Text 4"/>
          <p:cNvSpPr/>
          <p:nvPr/>
        </p:nvSpPr>
        <p:spPr>
          <a:xfrm>
            <a:off x="704088" y="1298448"/>
            <a:ext cx="7772400" cy="795528"/>
          </a:xfrm>
          <a:prstGeom prst="rect">
            <a:avLst/>
          </a:prstGeom>
          <a:noFill/>
          <a:ln/>
        </p:spPr>
        <p:txBody>
          <a:bodyPr wrap="square" lIns="0" tIns="0" rIns="0" bIns="0" rtlCol="0" anchor="t"/>
          <a:lstStyle/>
          <a:p>
            <a:pPr marL="0" indent="0">
              <a:buNone/>
            </a:pPr>
            <a:r>
              <a:rPr lang="en-US" sz="1200" b="1" dirty="0">
                <a:solidFill>
                  <a:srgbClr val="F2A65A"/>
                </a:solidFill>
                <a:latin typeface="Consolas" pitchFamily="34" charset="0"/>
                <a:ea typeface="Consolas" pitchFamily="34" charset="-122"/>
                <a:cs typeface="Consolas" pitchFamily="34" charset="-120"/>
              </a:rPr>
              <a:t>curl -s http://127.0.0.1:8080/api/v1/healthz</a:t>
            </a:r>
            <a:endParaRPr lang="en-US" sz="1200" dirty="0"/>
          </a:p>
          <a:p>
            <a:pPr marL="0" indent="0">
              <a:buNone/>
            </a:pPr>
            <a:r>
              <a:rPr lang="en-US" sz="1200" dirty="0">
                <a:solidFill>
                  <a:srgbClr val="35A79C"/>
                </a:solidFill>
                <a:latin typeface="Consolas" pitchFamily="34" charset="0"/>
                <a:ea typeface="Consolas" pitchFamily="34" charset="-122"/>
                <a:cs typeface="Consolas" pitchFamily="34" charset="-120"/>
              </a:rPr>
              <a:t>{"ok": true, "enabled": true, "active_gateways": ["TRADER01"]}</a:t>
            </a:r>
            <a:endParaRPr lang="en-US" sz="1200" dirty="0"/>
          </a:p>
        </p:txBody>
      </p:sp>
      <p:sp>
        <p:nvSpPr>
          <p:cNvPr id="7" name="Text 5"/>
          <p:cNvSpPr/>
          <p:nvPr/>
        </p:nvSpPr>
        <p:spPr>
          <a:xfrm>
            <a:off x="502920" y="2286000"/>
            <a:ext cx="8138160" cy="329184"/>
          </a:xfrm>
          <a:prstGeom prst="rect">
            <a:avLst/>
          </a:prstGeom>
          <a:noFill/>
          <a:ln/>
        </p:spPr>
        <p:txBody>
          <a:bodyPr wrap="square" lIns="0" tIns="0" rIns="0" bIns="0" rtlCol="0" anchor="t"/>
          <a:lstStyle/>
          <a:p>
            <a:pPr marL="0" indent="0" algn="l">
              <a:buNone/>
            </a:pPr>
            <a:r>
              <a:rPr lang="en-US" sz="1150" dirty="0">
                <a:solidFill>
                  <a:srgbClr val="97A1AC"/>
                </a:solidFill>
                <a:latin typeface="Calibri" pitchFamily="34" charset="0"/>
                <a:ea typeface="Calibri" pitchFamily="34" charset="-122"/>
                <a:cs typeface="Calibri" pitchFamily="34" charset="-120"/>
              </a:rPr>
              <a:t>Health needs no key. It confirms the gateway is enabled and its event listener is alive — it does not prove the engine is up.</a:t>
            </a:r>
            <a:endParaRPr lang="en-US" sz="1150" dirty="0"/>
          </a:p>
        </p:txBody>
      </p:sp>
      <p:sp>
        <p:nvSpPr>
          <p:cNvPr id="8" name="code panel">
            <a:extLst>
              <a:ext uri="{C183D7F6-B498-43B3-948B-1728B52AA6E4}">
                <adec:decorative xmlns:adec="http://schemas.microsoft.com/office/drawing/2017/decorative" val="1"/>
              </a:ext>
            </a:extLst>
          </p:cNvPr>
          <p:cNvSpPr/>
          <p:nvPr/>
        </p:nvSpPr>
        <p:spPr>
          <a:xfrm>
            <a:off x="502920" y="2688336"/>
            <a:ext cx="8138160" cy="1143000"/>
          </a:xfrm>
          <a:prstGeom prst="roundRect">
            <a:avLst>
              <a:gd name="adj" fmla="val 4000"/>
            </a:avLst>
          </a:prstGeom>
          <a:solidFill>
            <a:srgbClr val="121519"/>
          </a:solidFill>
          <a:ln w="12700">
            <a:solidFill>
              <a:srgbClr val="3A424B"/>
            </a:solidFill>
            <a:prstDash val="solid"/>
          </a:ln>
        </p:spPr>
        <p:txBody>
          <a:bodyPr/>
          <a:lstStyle/>
          <a:p>
            <a:endParaRPr lang="en-SE"/>
          </a:p>
        </p:txBody>
      </p:sp>
      <p:sp>
        <p:nvSpPr>
          <p:cNvPr id="9" name="code panel edge">
            <a:extLst>
              <a:ext uri="{C183D7F6-B498-43B3-948B-1728B52AA6E4}">
                <adec:decorative xmlns:adec="http://schemas.microsoft.com/office/drawing/2017/decorative" val="1"/>
              </a:ext>
            </a:extLst>
          </p:cNvPr>
          <p:cNvSpPr/>
          <p:nvPr/>
        </p:nvSpPr>
        <p:spPr>
          <a:xfrm>
            <a:off x="502920" y="2688336"/>
            <a:ext cx="54864" cy="1143000"/>
          </a:xfrm>
          <a:prstGeom prst="rect">
            <a:avLst/>
          </a:prstGeom>
          <a:solidFill>
            <a:srgbClr val="35A79C"/>
          </a:solidFill>
          <a:ln w="12700">
            <a:solidFill>
              <a:srgbClr val="35A79C"/>
            </a:solidFill>
            <a:prstDash val="solid"/>
          </a:ln>
        </p:spPr>
        <p:txBody>
          <a:bodyPr/>
          <a:lstStyle/>
          <a:p>
            <a:endParaRPr lang="en-SE"/>
          </a:p>
        </p:txBody>
      </p:sp>
      <p:sp>
        <p:nvSpPr>
          <p:cNvPr id="10" name="Text 8"/>
          <p:cNvSpPr/>
          <p:nvPr/>
        </p:nvSpPr>
        <p:spPr>
          <a:xfrm>
            <a:off x="704088" y="2816352"/>
            <a:ext cx="7772400" cy="886968"/>
          </a:xfrm>
          <a:prstGeom prst="rect">
            <a:avLst/>
          </a:prstGeom>
          <a:noFill/>
          <a:ln/>
        </p:spPr>
        <p:txBody>
          <a:bodyPr wrap="square" lIns="0" tIns="0" rIns="0" bIns="0" rtlCol="0" anchor="t"/>
          <a:lstStyle/>
          <a:p>
            <a:pPr marL="0" indent="0">
              <a:buNone/>
            </a:pPr>
            <a:r>
              <a:rPr lang="en-US" sz="1200" b="1" dirty="0">
                <a:solidFill>
                  <a:srgbClr val="F2A65A"/>
                </a:solidFill>
                <a:latin typeface="Consolas" pitchFamily="34" charset="0"/>
                <a:ea typeface="Consolas" pitchFamily="34" charset="-122"/>
                <a:cs typeface="Consolas" pitchFamily="34" charset="-120"/>
              </a:rPr>
              <a:t>curl -s -H "Authorization: Bearer key-trader-demo" \</a:t>
            </a:r>
            <a:endParaRPr lang="en-US" sz="1200" dirty="0"/>
          </a:p>
          <a:p>
            <a:pPr marL="0" indent="0">
              <a:buNone/>
            </a:pPr>
            <a:r>
              <a:rPr lang="en-US" sz="1200" b="1" dirty="0">
                <a:solidFill>
                  <a:srgbClr val="F2A65A"/>
                </a:solidFill>
                <a:latin typeface="Consolas" pitchFamily="34" charset="0"/>
                <a:ea typeface="Consolas" pitchFamily="34" charset="-122"/>
                <a:cs typeface="Consolas" pitchFamily="34" charset="-120"/>
              </a:rPr>
              <a:t>     http://127.0.0.1:8080/api/v1/status</a:t>
            </a:r>
            <a:endParaRPr lang="en-US" sz="1200" dirty="0"/>
          </a:p>
          <a:p>
            <a:pPr marL="0" indent="0">
              <a:buNone/>
            </a:pPr>
            <a:r>
              <a:rPr lang="en-US" sz="1200" dirty="0">
                <a:solidFill>
                  <a:srgbClr val="35A79C"/>
                </a:solidFill>
                <a:latin typeface="Consolas" pitchFamily="34" charset="0"/>
                <a:ea typeface="Consolas" pitchFamily="34" charset="-122"/>
                <a:cs typeface="Consolas" pitchFamily="34" charset="-120"/>
              </a:rPr>
              <a:t>→ your gateway role, cache summary and connection state</a:t>
            </a:r>
            <a:endParaRPr lang="en-US" sz="1200" dirty="0"/>
          </a:p>
        </p:txBody>
      </p:sp>
      <p:sp>
        <p:nvSpPr>
          <p:cNvPr id="11" name="Text 9"/>
          <p:cNvSpPr/>
          <p:nvPr/>
        </p:nvSpPr>
        <p:spPr>
          <a:xfrm>
            <a:off x="502920" y="3931920"/>
            <a:ext cx="8138160" cy="548640"/>
          </a:xfrm>
          <a:prstGeom prst="rect">
            <a:avLst/>
          </a:prstGeom>
          <a:noFill/>
          <a:ln/>
        </p:spPr>
        <p:txBody>
          <a:bodyPr wrap="square" lIns="0" tIns="0" rIns="0" bIns="0" rtlCol="0" anchor="t"/>
          <a:lstStyle/>
          <a:p>
            <a:pPr marL="0" indent="0" algn="l">
              <a:buNone/>
            </a:pPr>
            <a:r>
              <a:rPr lang="en-US" sz="1150" i="1" dirty="0">
                <a:solidFill>
                  <a:srgbClr val="F2A65A"/>
                </a:solidFill>
                <a:latin typeface="Calibri" pitchFamily="34" charset="0"/>
                <a:ea typeface="Calibri" pitchFamily="34" charset="-122"/>
                <a:cs typeface="Calibri" pitchFamily="34" charset="-120"/>
              </a:rPr>
              <a:t>If health passes but status returns an authorisation error, the problem is the key or the identity behind it — not the network.</a:t>
            </a:r>
            <a:endParaRPr lang="en-US" sz="1150" dirty="0"/>
          </a:p>
        </p:txBody>
      </p:sp>
      <p:sp>
        <p:nvSpPr>
          <p:cNvPr id="12" name="Text 10"/>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Getting connected</a:t>
            </a:r>
            <a:endParaRPr lang="en-US" sz="900" dirty="0"/>
          </a:p>
        </p:txBody>
      </p:sp>
      <p:sp>
        <p:nvSpPr>
          <p:cNvPr id="13" name="Text 11"/>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8138160" cy="548640"/>
          </a:xfrm>
          <a:prstGeom prst="rect">
            <a:avLst/>
          </a:prstGeom>
          <a:noFill/>
          <a:ln/>
        </p:spPr>
        <p:txBody>
          <a:bodyPr wrap="square" lIns="0" tIns="0" rIns="0" bIns="0" rtlCol="0" anchor="ctr"/>
          <a:lstStyle/>
          <a:p>
            <a:pPr marL="0" indent="0">
              <a:buNone/>
            </a:pPr>
            <a:r>
              <a:rPr lang="en-US" sz="2700" b="1" dirty="0">
                <a:solidFill>
                  <a:srgbClr val="F3F5F7"/>
                </a:solidFill>
                <a:latin typeface="Trebuchet MS" pitchFamily="34" charset="0"/>
                <a:ea typeface="Trebuchet MS" pitchFamily="34" charset="-122"/>
                <a:cs typeface="Trebuchet MS" pitchFamily="34" charset="-120"/>
              </a:rPr>
              <a:t>The interactive documentation</a:t>
            </a:r>
            <a:endParaRPr lang="en-US" sz="2700" dirty="0"/>
          </a:p>
        </p:txBody>
      </p:sp>
      <p:sp>
        <p:nvSpPr>
          <p:cNvPr id="3" name="Text 1"/>
          <p:cNvSpPr/>
          <p:nvPr/>
        </p:nvSpPr>
        <p:spPr>
          <a:xfrm>
            <a:off x="502920" y="841248"/>
            <a:ext cx="8138160" cy="237744"/>
          </a:xfrm>
          <a:prstGeom prst="rect">
            <a:avLst/>
          </a:prstGeom>
          <a:noFill/>
          <a:ln/>
        </p:spPr>
        <p:txBody>
          <a:bodyPr wrap="square" lIns="0" tIns="0" rIns="0" bIns="0" rtlCol="0" anchor="ctr"/>
          <a:lstStyle/>
          <a:p>
            <a:pPr marL="0" indent="0">
              <a:buNone/>
            </a:pPr>
            <a:r>
              <a:rPr lang="en-US" sz="1100" b="1" kern="0" spc="200" dirty="0">
                <a:solidFill>
                  <a:srgbClr val="E8722C"/>
                </a:solidFill>
                <a:latin typeface="Calibri" pitchFamily="34" charset="0"/>
                <a:ea typeface="Calibri" pitchFamily="34" charset="-122"/>
                <a:cs typeface="Calibri" pitchFamily="34" charset="-120"/>
              </a:rPr>
              <a:t>SWAGGER</a:t>
            </a:r>
            <a:endParaRPr lang="en-US" sz="1100" dirty="0"/>
          </a:p>
        </p:txBody>
      </p:sp>
      <p:sp>
        <p:nvSpPr>
          <p:cNvPr id="4" name="card background">
            <a:extLst>
              <a:ext uri="{C183D7F6-B498-43B3-948B-1728B52AA6E4}">
                <adec:decorative xmlns:adec="http://schemas.microsoft.com/office/drawing/2017/decorative" val="1"/>
              </a:ext>
            </a:extLst>
          </p:cNvPr>
          <p:cNvSpPr/>
          <p:nvPr/>
        </p:nvSpPr>
        <p:spPr>
          <a:xfrm>
            <a:off x="502920" y="1170432"/>
            <a:ext cx="3977640" cy="3108960"/>
          </a:xfrm>
          <a:prstGeom prst="roundRect">
            <a:avLst>
              <a:gd name="adj" fmla="val 1765"/>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5" name="Text 3"/>
          <p:cNvSpPr/>
          <p:nvPr/>
        </p:nvSpPr>
        <p:spPr>
          <a:xfrm>
            <a:off x="713232" y="1280160"/>
            <a:ext cx="3566160" cy="310896"/>
          </a:xfrm>
          <a:prstGeom prst="rect">
            <a:avLst/>
          </a:prstGeom>
          <a:noFill/>
          <a:ln/>
        </p:spPr>
        <p:txBody>
          <a:bodyPr wrap="square" lIns="0" tIns="0" rIns="0" bIns="0" rtlCol="0" anchor="ctr"/>
          <a:lstStyle/>
          <a:p>
            <a:pPr marL="0" indent="0">
              <a:buNone/>
            </a:pPr>
            <a:r>
              <a:rPr lang="en-US" sz="1500" b="1" dirty="0">
                <a:solidFill>
                  <a:srgbClr val="E8722C"/>
                </a:solidFill>
                <a:latin typeface="Trebuchet MS" pitchFamily="34" charset="0"/>
                <a:ea typeface="Trebuchet MS" pitchFamily="34" charset="-122"/>
                <a:cs typeface="Trebuchet MS" pitchFamily="34" charset="-120"/>
              </a:rPr>
              <a:t>Open it in a browser</a:t>
            </a:r>
            <a:endParaRPr lang="en-US" sz="1500" dirty="0"/>
          </a:p>
        </p:txBody>
      </p:sp>
      <p:sp>
        <p:nvSpPr>
          <p:cNvPr id="6" name="Text 4"/>
          <p:cNvSpPr/>
          <p:nvPr/>
        </p:nvSpPr>
        <p:spPr>
          <a:xfrm>
            <a:off x="713232" y="1627632"/>
            <a:ext cx="3566160" cy="310896"/>
          </a:xfrm>
          <a:prstGeom prst="rect">
            <a:avLst/>
          </a:prstGeom>
          <a:noFill/>
          <a:ln/>
        </p:spPr>
        <p:txBody>
          <a:bodyPr wrap="square" lIns="0" tIns="0" rIns="0" bIns="0" rtlCol="0" anchor="ctr"/>
          <a:lstStyle/>
          <a:p>
            <a:pPr marL="0" indent="0">
              <a:buNone/>
            </a:pPr>
            <a:r>
              <a:rPr lang="en-US" sz="1250" dirty="0">
                <a:solidFill>
                  <a:srgbClr val="F2A65A"/>
                </a:solidFill>
                <a:latin typeface="Consolas" pitchFamily="34" charset="0"/>
                <a:ea typeface="Consolas" pitchFamily="34" charset="-122"/>
                <a:cs typeface="Consolas" pitchFamily="34" charset="-120"/>
              </a:rPr>
              <a:t>http://127.0.0.1:8080/docs</a:t>
            </a:r>
            <a:endParaRPr lang="en-US" sz="1250" dirty="0"/>
          </a:p>
        </p:txBody>
      </p:sp>
      <p:sp>
        <p:nvSpPr>
          <p:cNvPr id="7" name="Text 5"/>
          <p:cNvSpPr/>
          <p:nvPr/>
        </p:nvSpPr>
        <p:spPr>
          <a:xfrm>
            <a:off x="713232" y="2029968"/>
            <a:ext cx="3566160" cy="2103120"/>
          </a:xfrm>
          <a:prstGeom prst="rect">
            <a:avLst/>
          </a:prstGeom>
          <a:noFill/>
          <a:ln/>
        </p:spPr>
        <p:txBody>
          <a:bodyPr wrap="square" lIns="0" tIns="0" rIns="0" bIns="0" rtlCol="0" anchor="ctr"/>
          <a:lstStyle/>
          <a:p>
            <a:pPr marL="342900" indent="-342900">
              <a:spcAft>
                <a:spcPts val="900"/>
              </a:spcAft>
              <a:buSzPct val="100000"/>
              <a:buChar char="▪"/>
            </a:pPr>
            <a:r>
              <a:rPr lang="en-US" sz="1150" dirty="0">
                <a:solidFill>
                  <a:srgbClr val="D5DAE0"/>
                </a:solidFill>
                <a:latin typeface="Calibri" pitchFamily="34" charset="0"/>
                <a:ea typeface="Calibri" pitchFamily="34" charset="-122"/>
                <a:cs typeface="Calibri" pitchFamily="34" charset="-120"/>
              </a:rPr>
              <a:t>Every endpoint, with its request and response shape</a:t>
            </a:r>
            <a:endParaRPr lang="en-US" sz="1150" dirty="0"/>
          </a:p>
          <a:p>
            <a:pPr marL="342900" indent="-342900">
              <a:spcAft>
                <a:spcPts val="900"/>
              </a:spcAft>
              <a:buSzPct val="100000"/>
              <a:buChar char="▪"/>
            </a:pPr>
            <a:r>
              <a:rPr lang="en-US" sz="1150" dirty="0">
                <a:solidFill>
                  <a:srgbClr val="D5DAE0"/>
                </a:solidFill>
                <a:latin typeface="Calibri" pitchFamily="34" charset="0"/>
                <a:ea typeface="Calibri" pitchFamily="34" charset="-122"/>
                <a:cs typeface="Calibri" pitchFamily="34" charset="-120"/>
              </a:rPr>
              <a:t>All permitted values for each field, listed explicitly</a:t>
            </a:r>
            <a:endParaRPr lang="en-US" sz="1150" dirty="0"/>
          </a:p>
          <a:p>
            <a:pPr marL="342900" indent="-342900">
              <a:spcAft>
                <a:spcPts val="900"/>
              </a:spcAft>
              <a:buSzPct val="100000"/>
              <a:buChar char="▪"/>
            </a:pPr>
            <a:r>
              <a:rPr lang="en-US" sz="1150" dirty="0">
                <a:solidFill>
                  <a:srgbClr val="D5DAE0"/>
                </a:solidFill>
                <a:latin typeface="Calibri" pitchFamily="34" charset="0"/>
                <a:ea typeface="Calibri" pitchFamily="34" charset="-122"/>
                <a:cs typeface="Calibri" pitchFamily="34" charset="-120"/>
              </a:rPr>
              <a:t>An Authorize button — paste your bearer key once</a:t>
            </a:r>
            <a:endParaRPr lang="en-US" sz="1150" dirty="0"/>
          </a:p>
          <a:p>
            <a:pPr marL="342900" indent="-342900">
              <a:spcAft>
                <a:spcPts val="900"/>
              </a:spcAft>
              <a:buSzPct val="100000"/>
              <a:buChar char="▪"/>
            </a:pPr>
            <a:r>
              <a:rPr lang="en-US" sz="1150" dirty="0">
                <a:solidFill>
                  <a:srgbClr val="D5DAE0"/>
                </a:solidFill>
                <a:latin typeface="Calibri" pitchFamily="34" charset="0"/>
                <a:ea typeface="Calibri" pitchFamily="34" charset="-122"/>
                <a:cs typeface="Calibri" pitchFamily="34" charset="-120"/>
              </a:rPr>
              <a:t>Try any call live and see the real response</a:t>
            </a:r>
            <a:endParaRPr lang="en-US" sz="1150" dirty="0"/>
          </a:p>
          <a:p>
            <a:pPr marL="342900" indent="-342900">
              <a:buSzPct val="100000"/>
              <a:buChar char="▪"/>
            </a:pPr>
            <a:r>
              <a:rPr lang="en-US" sz="1150" dirty="0">
                <a:solidFill>
                  <a:srgbClr val="D5DAE0"/>
                </a:solidFill>
                <a:latin typeface="Calibri" pitchFamily="34" charset="0"/>
                <a:ea typeface="Calibri" pitchFamily="34" charset="-122"/>
                <a:cs typeface="Calibri" pitchFamily="34" charset="-120"/>
              </a:rPr>
              <a:t>A machine-readable schema for generating client code</a:t>
            </a:r>
            <a:endParaRPr lang="en-US" sz="1150" dirty="0"/>
          </a:p>
        </p:txBody>
      </p:sp>
      <p:sp>
        <p:nvSpPr>
          <p:cNvPr id="8" name="code panel">
            <a:extLst>
              <a:ext uri="{C183D7F6-B498-43B3-948B-1728B52AA6E4}">
                <adec:decorative xmlns:adec="http://schemas.microsoft.com/office/drawing/2017/decorative" val="1"/>
              </a:ext>
            </a:extLst>
          </p:cNvPr>
          <p:cNvSpPr/>
          <p:nvPr/>
        </p:nvSpPr>
        <p:spPr>
          <a:xfrm>
            <a:off x="4709160" y="1170432"/>
            <a:ext cx="3931920" cy="1005840"/>
          </a:xfrm>
          <a:prstGeom prst="roundRect">
            <a:avLst>
              <a:gd name="adj" fmla="val 4545"/>
            </a:avLst>
          </a:prstGeom>
          <a:solidFill>
            <a:srgbClr val="121519"/>
          </a:solidFill>
          <a:ln w="12700">
            <a:solidFill>
              <a:srgbClr val="3A424B"/>
            </a:solidFill>
            <a:prstDash val="solid"/>
          </a:ln>
        </p:spPr>
        <p:txBody>
          <a:bodyPr/>
          <a:lstStyle/>
          <a:p>
            <a:endParaRPr lang="en-SE"/>
          </a:p>
        </p:txBody>
      </p:sp>
      <p:sp>
        <p:nvSpPr>
          <p:cNvPr id="9" name="code panel edge">
            <a:extLst>
              <a:ext uri="{C183D7F6-B498-43B3-948B-1728B52AA6E4}">
                <adec:decorative xmlns:adec="http://schemas.microsoft.com/office/drawing/2017/decorative" val="1"/>
              </a:ext>
            </a:extLst>
          </p:cNvPr>
          <p:cNvSpPr/>
          <p:nvPr/>
        </p:nvSpPr>
        <p:spPr>
          <a:xfrm>
            <a:off x="4709160" y="1170432"/>
            <a:ext cx="54864" cy="1005840"/>
          </a:xfrm>
          <a:prstGeom prst="rect">
            <a:avLst/>
          </a:prstGeom>
          <a:solidFill>
            <a:srgbClr val="E8722C"/>
          </a:solidFill>
          <a:ln w="12700">
            <a:solidFill>
              <a:srgbClr val="E8722C"/>
            </a:solidFill>
            <a:prstDash val="solid"/>
          </a:ln>
        </p:spPr>
        <p:txBody>
          <a:bodyPr/>
          <a:lstStyle/>
          <a:p>
            <a:endParaRPr lang="en-SE"/>
          </a:p>
        </p:txBody>
      </p:sp>
      <p:sp>
        <p:nvSpPr>
          <p:cNvPr id="10" name="Text 8"/>
          <p:cNvSpPr/>
          <p:nvPr/>
        </p:nvSpPr>
        <p:spPr>
          <a:xfrm>
            <a:off x="4910328" y="1298448"/>
            <a:ext cx="3566160" cy="749808"/>
          </a:xfrm>
          <a:prstGeom prst="rect">
            <a:avLst/>
          </a:prstGeom>
          <a:noFill/>
          <a:ln/>
        </p:spPr>
        <p:txBody>
          <a:bodyPr wrap="square" lIns="0" tIns="0" rIns="0" bIns="0" rtlCol="0" anchor="t"/>
          <a:lstStyle/>
          <a:p>
            <a:pPr marL="0" indent="0">
              <a:buNone/>
            </a:pPr>
            <a:r>
              <a:rPr lang="en-US" sz="1200" dirty="0">
                <a:solidFill>
                  <a:srgbClr val="97A1AC"/>
                </a:solidFill>
                <a:latin typeface="Consolas" pitchFamily="34" charset="0"/>
                <a:ea typeface="Consolas" pitchFamily="34" charset="-122"/>
                <a:cs typeface="Consolas" pitchFamily="34" charset="-120"/>
              </a:rPr>
              <a:t>Authorize →</a:t>
            </a:r>
            <a:endParaRPr lang="en-US" sz="1200" dirty="0"/>
          </a:p>
          <a:p>
            <a:pPr marL="0" indent="0">
              <a:buNone/>
            </a:pPr>
            <a:r>
              <a:rPr lang="en-US" sz="1200" b="1" dirty="0">
                <a:solidFill>
                  <a:srgbClr val="F2A65A"/>
                </a:solidFill>
                <a:latin typeface="Consolas" pitchFamily="34" charset="0"/>
                <a:ea typeface="Consolas" pitchFamily="34" charset="-122"/>
                <a:cs typeface="Consolas" pitchFamily="34" charset="-120"/>
              </a:rPr>
              <a:t>Bearer key-trader-demo</a:t>
            </a:r>
            <a:endParaRPr lang="en-US" sz="1200" dirty="0"/>
          </a:p>
        </p:txBody>
      </p:sp>
      <p:sp>
        <p:nvSpPr>
          <p:cNvPr id="11" name="card background">
            <a:extLst>
              <a:ext uri="{C183D7F6-B498-43B3-948B-1728B52AA6E4}">
                <adec:decorative xmlns:adec="http://schemas.microsoft.com/office/drawing/2017/decorative" val="1"/>
              </a:ext>
            </a:extLst>
          </p:cNvPr>
          <p:cNvSpPr/>
          <p:nvPr/>
        </p:nvSpPr>
        <p:spPr>
          <a:xfrm>
            <a:off x="4709160" y="2377440"/>
            <a:ext cx="3931920" cy="1901952"/>
          </a:xfrm>
          <a:prstGeom prst="roundRect">
            <a:avLst>
              <a:gd name="adj" fmla="val 2885"/>
            </a:avLst>
          </a:prstGeom>
          <a:solidFill>
            <a:srgbClr val="2E353D"/>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2" name="Text 10"/>
          <p:cNvSpPr/>
          <p:nvPr/>
        </p:nvSpPr>
        <p:spPr>
          <a:xfrm>
            <a:off x="4919472" y="2487168"/>
            <a:ext cx="3520440" cy="292608"/>
          </a:xfrm>
          <a:prstGeom prst="rect">
            <a:avLst/>
          </a:prstGeom>
          <a:noFill/>
          <a:ln/>
        </p:spPr>
        <p:txBody>
          <a:bodyPr wrap="square" lIns="0" tIns="0" rIns="0" bIns="0" rtlCol="0" anchor="ctr"/>
          <a:lstStyle/>
          <a:p>
            <a:pPr marL="0" indent="0">
              <a:buNone/>
            </a:pPr>
            <a:r>
              <a:rPr lang="en-US" sz="1400" b="1" dirty="0">
                <a:solidFill>
                  <a:srgbClr val="35A79C"/>
                </a:solidFill>
                <a:latin typeface="Trebuchet MS" pitchFamily="34" charset="0"/>
                <a:ea typeface="Trebuchet MS" pitchFamily="34" charset="-122"/>
                <a:cs typeface="Trebuchet MS" pitchFamily="34" charset="-120"/>
              </a:rPr>
              <a:t>Treat it as your map</a:t>
            </a:r>
            <a:endParaRPr lang="en-US" sz="1400" dirty="0"/>
          </a:p>
        </p:txBody>
      </p:sp>
      <p:sp>
        <p:nvSpPr>
          <p:cNvPr id="13" name="Text 11"/>
          <p:cNvSpPr/>
          <p:nvPr/>
        </p:nvSpPr>
        <p:spPr>
          <a:xfrm>
            <a:off x="4919472" y="2852928"/>
            <a:ext cx="3520440" cy="1325880"/>
          </a:xfrm>
          <a:prstGeom prst="rect">
            <a:avLst/>
          </a:prstGeom>
          <a:noFill/>
          <a:ln/>
        </p:spPr>
        <p:txBody>
          <a:bodyPr wrap="square" lIns="0" tIns="0" rIns="0" bIns="0" rtlCol="0" anchor="ctr"/>
          <a:lstStyle/>
          <a:p>
            <a:pPr marL="0" indent="0">
              <a:buNone/>
            </a:pPr>
            <a:r>
              <a:rPr lang="en-US" sz="1150" dirty="0">
                <a:solidFill>
                  <a:srgbClr val="D5DAE0"/>
                </a:solidFill>
                <a:latin typeface="Calibri" pitchFamily="34" charset="0"/>
                <a:ea typeface="Calibri" pitchFamily="34" charset="-122"/>
                <a:cs typeface="Calibri" pitchFamily="34" charset="-120"/>
              </a:rPr>
              <a:t>The pages that follow explain the ideas. The interactive documentation always shows the exact, current contract for the build you are running — when the two disagree, believe the running system. It can be switched off in configuration, so a gateway without it is not broken.</a:t>
            </a:r>
            <a:endParaRPr lang="en-US" sz="1150" dirty="0"/>
          </a:p>
        </p:txBody>
      </p:sp>
      <p:sp>
        <p:nvSpPr>
          <p:cNvPr id="14" name="Text 12"/>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Getting connected</a:t>
            </a:r>
            <a:endParaRPr lang="en-US" sz="900" dirty="0"/>
          </a:p>
        </p:txBody>
      </p:sp>
      <p:sp>
        <p:nvSpPr>
          <p:cNvPr id="15" name="Text 13"/>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ide band">
            <a:extLst>
              <a:ext uri="{C183D7F6-B498-43B3-948B-1728B52AA6E4}">
                <adec:decorative xmlns:adec="http://schemas.microsoft.com/office/drawing/2017/decorative" val="1"/>
              </a:ext>
            </a:extLst>
          </p:cNvPr>
          <p:cNvSpPr/>
          <p:nvPr/>
        </p:nvSpPr>
        <p:spPr>
          <a:xfrm>
            <a:off x="0" y="0"/>
            <a:ext cx="384048" cy="5143500"/>
          </a:xfrm>
          <a:prstGeom prst="rect">
            <a:avLst/>
          </a:prstGeom>
          <a:solidFill>
            <a:srgbClr val="E8722C"/>
          </a:solidFill>
          <a:ln w="12700">
            <a:solidFill>
              <a:srgbClr val="E8722C"/>
            </a:solidFill>
            <a:prstDash val="solid"/>
          </a:ln>
        </p:spPr>
        <p:txBody>
          <a:bodyPr/>
          <a:lstStyle/>
          <a:p>
            <a:endParaRPr lang="en-SE"/>
          </a:p>
        </p:txBody>
      </p:sp>
      <p:sp>
        <p:nvSpPr>
          <p:cNvPr id="3" name="Text 1"/>
          <p:cNvSpPr/>
          <p:nvPr/>
        </p:nvSpPr>
        <p:spPr>
          <a:xfrm>
            <a:off x="960120" y="1371600"/>
            <a:ext cx="2743200" cy="822960"/>
          </a:xfrm>
          <a:prstGeom prst="rect">
            <a:avLst/>
          </a:prstGeom>
          <a:noFill/>
          <a:ln/>
        </p:spPr>
        <p:txBody>
          <a:bodyPr wrap="square" lIns="0" tIns="0" rIns="0" bIns="0" rtlCol="0" anchor="ctr"/>
          <a:lstStyle/>
          <a:p>
            <a:pPr marL="0" indent="0">
              <a:buNone/>
            </a:pPr>
            <a:r>
              <a:rPr lang="en-US" sz="6200" b="1" dirty="0">
                <a:solidFill>
                  <a:srgbClr val="2E353D"/>
                </a:solidFill>
                <a:latin typeface="Trebuchet MS" pitchFamily="34" charset="0"/>
                <a:ea typeface="Trebuchet MS" pitchFamily="34" charset="-122"/>
                <a:cs typeface="Trebuchet MS" pitchFamily="34" charset="-120"/>
              </a:rPr>
              <a:t>04</a:t>
            </a:r>
            <a:endParaRPr lang="en-US" sz="6200" dirty="0"/>
          </a:p>
        </p:txBody>
      </p:sp>
      <p:sp>
        <p:nvSpPr>
          <p:cNvPr id="4" name="Text 0"/>
          <p:cNvSpPr>
            <a:spLocks noGrp="1"/>
          </p:cNvSpPr>
          <p:nvPr>
            <p:ph type="title" idx="100" hasCustomPrompt="1"/>
          </p:nvPr>
        </p:nvSpPr>
        <p:spPr>
          <a:xfrm>
            <a:off x="1005840" y="2148840"/>
            <a:ext cx="7132320" cy="914400"/>
          </a:xfrm>
          <a:prstGeom prst="rect">
            <a:avLst/>
          </a:prstGeom>
          <a:noFill/>
          <a:ln/>
        </p:spPr>
        <p:txBody>
          <a:bodyPr wrap="square" lIns="0" tIns="0" rIns="0" bIns="0" rtlCol="0"/>
          <a:lstStyle/>
          <a:p>
            <a:pPr marL="0" indent="0" algn="l">
              <a:buNone/>
            </a:pPr>
            <a:r>
              <a:rPr lang="en-US" sz="3600" b="1" dirty="0">
                <a:solidFill>
                  <a:srgbClr val="F3F5F7"/>
                </a:solidFill>
                <a:latin typeface="Trebuchet MS" pitchFamily="34" charset="0"/>
                <a:ea typeface="Trebuchet MS" pitchFamily="34" charset="-122"/>
                <a:cs typeface="Trebuchet MS" pitchFamily="34" charset="-120"/>
              </a:rPr>
              <a:t>API keys and access</a:t>
            </a:r>
            <a:endParaRPr lang="en-US" sz="3600" dirty="0"/>
          </a:p>
        </p:txBody>
      </p:sp>
      <p:sp>
        <p:nvSpPr>
          <p:cNvPr id="5" name="Text 3"/>
          <p:cNvSpPr/>
          <p:nvPr/>
        </p:nvSpPr>
        <p:spPr>
          <a:xfrm>
            <a:off x="1024128" y="3108960"/>
            <a:ext cx="6949440" cy="731520"/>
          </a:xfrm>
          <a:prstGeom prst="rect">
            <a:avLst/>
          </a:prstGeom>
          <a:noFill/>
          <a:ln/>
        </p:spPr>
        <p:txBody>
          <a:bodyPr wrap="square" lIns="0" tIns="0" rIns="0" bIns="0" rtlCol="0" anchor="ctr"/>
          <a:lstStyle/>
          <a:p>
            <a:pPr marL="0" indent="0">
              <a:buNone/>
            </a:pPr>
            <a:r>
              <a:rPr lang="en-US" sz="1400" dirty="0">
                <a:solidFill>
                  <a:srgbClr val="97A1AC"/>
                </a:solidFill>
                <a:latin typeface="Calibri" pitchFamily="34" charset="0"/>
                <a:ea typeface="Calibri" pitchFamily="34" charset="-122"/>
                <a:cs typeface="Calibri" pitchFamily="34" charset="-120"/>
              </a:rPr>
              <a:t>How you prove who you are — over REST and over a stream</a:t>
            </a:r>
            <a:endParaRPr lang="en-US" sz="1400" dirty="0"/>
          </a:p>
        </p:txBody>
      </p:sp>
      <p:sp>
        <p:nvSpPr>
          <p:cNvPr id="6" name="Text 4"/>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API keys and access</a:t>
            </a:r>
            <a:endParaRPr lang="en-US" sz="900" dirty="0"/>
          </a:p>
        </p:txBody>
      </p:sp>
      <p:sp>
        <p:nvSpPr>
          <p:cNvPr id="7" name="Text 5"/>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8138160" cy="548640"/>
          </a:xfrm>
          <a:prstGeom prst="rect">
            <a:avLst/>
          </a:prstGeom>
          <a:noFill/>
          <a:ln/>
        </p:spPr>
        <p:txBody>
          <a:bodyPr wrap="square" lIns="0" tIns="0" rIns="0" bIns="0" rtlCol="0" anchor="ctr"/>
          <a:lstStyle/>
          <a:p>
            <a:pPr marL="0" indent="0">
              <a:buNone/>
            </a:pPr>
            <a:r>
              <a:rPr lang="en-US" sz="2700" b="1" dirty="0">
                <a:solidFill>
                  <a:srgbClr val="F3F5F7"/>
                </a:solidFill>
                <a:latin typeface="Trebuchet MS" pitchFamily="34" charset="0"/>
                <a:ea typeface="Trebuchet MS" pitchFamily="34" charset="-122"/>
                <a:cs typeface="Trebuchet MS" pitchFamily="34" charset="-120"/>
              </a:rPr>
              <a:t>One key, two ways to present it</a:t>
            </a:r>
            <a:endParaRPr lang="en-US" sz="2700" dirty="0"/>
          </a:p>
        </p:txBody>
      </p:sp>
      <p:sp>
        <p:nvSpPr>
          <p:cNvPr id="3" name="Text 1"/>
          <p:cNvSpPr/>
          <p:nvPr/>
        </p:nvSpPr>
        <p:spPr>
          <a:xfrm>
            <a:off x="502920" y="841248"/>
            <a:ext cx="8138160" cy="237744"/>
          </a:xfrm>
          <a:prstGeom prst="rect">
            <a:avLst/>
          </a:prstGeom>
          <a:noFill/>
          <a:ln/>
        </p:spPr>
        <p:txBody>
          <a:bodyPr wrap="square" lIns="0" tIns="0" rIns="0" bIns="0" rtlCol="0" anchor="ctr"/>
          <a:lstStyle/>
          <a:p>
            <a:pPr marL="0" indent="0">
              <a:buNone/>
            </a:pPr>
            <a:r>
              <a:rPr lang="en-US" sz="1100" b="1" kern="0" spc="200" dirty="0">
                <a:solidFill>
                  <a:srgbClr val="E8722C"/>
                </a:solidFill>
                <a:latin typeface="Calibri" pitchFamily="34" charset="0"/>
                <a:ea typeface="Calibri" pitchFamily="34" charset="-122"/>
                <a:cs typeface="Calibri" pitchFamily="34" charset="-120"/>
              </a:rPr>
              <a:t>AUTHENTICATION</a:t>
            </a:r>
            <a:endParaRPr lang="en-US" sz="1100" dirty="0"/>
          </a:p>
        </p:txBody>
      </p:sp>
      <p:sp>
        <p:nvSpPr>
          <p:cNvPr id="4" name="card background">
            <a:extLst>
              <a:ext uri="{C183D7F6-B498-43B3-948B-1728B52AA6E4}">
                <adec:decorative xmlns:adec="http://schemas.microsoft.com/office/drawing/2017/decorative" val="1"/>
              </a:ext>
            </a:extLst>
          </p:cNvPr>
          <p:cNvSpPr/>
          <p:nvPr/>
        </p:nvSpPr>
        <p:spPr>
          <a:xfrm>
            <a:off x="502920" y="1188720"/>
            <a:ext cx="3959352" cy="2606040"/>
          </a:xfrm>
          <a:prstGeom prst="roundRect">
            <a:avLst>
              <a:gd name="adj" fmla="val 2105"/>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5" name="card top edge">
            <a:extLst>
              <a:ext uri="{C183D7F6-B498-43B3-948B-1728B52AA6E4}">
                <adec:decorative xmlns:adec="http://schemas.microsoft.com/office/drawing/2017/decorative" val="1"/>
              </a:ext>
            </a:extLst>
          </p:cNvPr>
          <p:cNvSpPr/>
          <p:nvPr/>
        </p:nvSpPr>
        <p:spPr>
          <a:xfrm>
            <a:off x="502920" y="1188720"/>
            <a:ext cx="3959352" cy="73152"/>
          </a:xfrm>
          <a:prstGeom prst="rect">
            <a:avLst/>
          </a:prstGeom>
          <a:solidFill>
            <a:srgbClr val="E8722C"/>
          </a:solidFill>
          <a:ln w="12700">
            <a:solidFill>
              <a:srgbClr val="E8722C"/>
            </a:solidFill>
            <a:prstDash val="solid"/>
          </a:ln>
        </p:spPr>
        <p:txBody>
          <a:bodyPr/>
          <a:lstStyle/>
          <a:p>
            <a:endParaRPr lang="en-SE"/>
          </a:p>
        </p:txBody>
      </p:sp>
      <p:sp>
        <p:nvSpPr>
          <p:cNvPr id="6" name="Text 4"/>
          <p:cNvSpPr/>
          <p:nvPr/>
        </p:nvSpPr>
        <p:spPr>
          <a:xfrm>
            <a:off x="740664" y="1408176"/>
            <a:ext cx="3502152" cy="365760"/>
          </a:xfrm>
          <a:prstGeom prst="rect">
            <a:avLst/>
          </a:prstGeom>
          <a:noFill/>
          <a:ln/>
        </p:spPr>
        <p:txBody>
          <a:bodyPr wrap="square" lIns="0" tIns="0" rIns="0" bIns="0" rtlCol="0" anchor="ctr"/>
          <a:lstStyle/>
          <a:p>
            <a:pPr marL="0" indent="0">
              <a:buNone/>
            </a:pPr>
            <a:r>
              <a:rPr lang="en-US" sz="1700" b="1" dirty="0">
                <a:solidFill>
                  <a:srgbClr val="E8722C"/>
                </a:solidFill>
                <a:latin typeface="Trebuchet MS" pitchFamily="34" charset="0"/>
                <a:ea typeface="Trebuchet MS" pitchFamily="34" charset="-122"/>
                <a:cs typeface="Trebuchet MS" pitchFamily="34" charset="-120"/>
              </a:rPr>
              <a:t>REST — an HTTP header</a:t>
            </a:r>
            <a:endParaRPr lang="en-US" sz="1700" dirty="0"/>
          </a:p>
        </p:txBody>
      </p:sp>
      <p:sp>
        <p:nvSpPr>
          <p:cNvPr id="7" name="Text 5"/>
          <p:cNvSpPr/>
          <p:nvPr/>
        </p:nvSpPr>
        <p:spPr>
          <a:xfrm>
            <a:off x="740664" y="1773936"/>
            <a:ext cx="3502152" cy="274320"/>
          </a:xfrm>
          <a:prstGeom prst="rect">
            <a:avLst/>
          </a:prstGeom>
          <a:noFill/>
          <a:ln/>
        </p:spPr>
        <p:txBody>
          <a:bodyPr wrap="square" lIns="0" tIns="0" rIns="0" bIns="0" rtlCol="0" anchor="ctr"/>
          <a:lstStyle/>
          <a:p>
            <a:pPr marL="0" indent="0">
              <a:buNone/>
            </a:pPr>
            <a:r>
              <a:rPr lang="en-US" sz="1100" i="1" dirty="0">
                <a:solidFill>
                  <a:srgbClr val="97A1AC"/>
                </a:solidFill>
                <a:latin typeface="Calibri" pitchFamily="34" charset="0"/>
                <a:ea typeface="Calibri" pitchFamily="34" charset="-122"/>
                <a:cs typeface="Calibri" pitchFamily="34" charset="-120"/>
              </a:rPr>
              <a:t>Sent on every single request</a:t>
            </a:r>
            <a:endParaRPr lang="en-US" sz="1100" dirty="0"/>
          </a:p>
        </p:txBody>
      </p:sp>
      <p:sp>
        <p:nvSpPr>
          <p:cNvPr id="8" name="Text 6"/>
          <p:cNvSpPr/>
          <p:nvPr/>
        </p:nvSpPr>
        <p:spPr>
          <a:xfrm>
            <a:off x="740664" y="2121408"/>
            <a:ext cx="3502152" cy="1490472"/>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Add an Authorization header with the word Bearer and your key</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No login step and no session cookie to manage</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An unknown key is refused before anything else happens</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Only the health endpoint needs no key</a:t>
            </a:r>
            <a:endParaRPr lang="en-US" sz="1150" dirty="0"/>
          </a:p>
        </p:txBody>
      </p:sp>
      <p:sp>
        <p:nvSpPr>
          <p:cNvPr id="9" name="card background">
            <a:extLst>
              <a:ext uri="{C183D7F6-B498-43B3-948B-1728B52AA6E4}">
                <adec:decorative xmlns:adec="http://schemas.microsoft.com/office/drawing/2017/decorative" val="1"/>
              </a:ext>
            </a:extLst>
          </p:cNvPr>
          <p:cNvSpPr/>
          <p:nvPr/>
        </p:nvSpPr>
        <p:spPr>
          <a:xfrm>
            <a:off x="4681728" y="1188720"/>
            <a:ext cx="3959352" cy="2606040"/>
          </a:xfrm>
          <a:prstGeom prst="roundRect">
            <a:avLst>
              <a:gd name="adj" fmla="val 2105"/>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0" name="card top edge">
            <a:extLst>
              <a:ext uri="{C183D7F6-B498-43B3-948B-1728B52AA6E4}">
                <adec:decorative xmlns:adec="http://schemas.microsoft.com/office/drawing/2017/decorative" val="1"/>
              </a:ext>
            </a:extLst>
          </p:cNvPr>
          <p:cNvSpPr/>
          <p:nvPr/>
        </p:nvSpPr>
        <p:spPr>
          <a:xfrm>
            <a:off x="4681728" y="1188720"/>
            <a:ext cx="3959352" cy="73152"/>
          </a:xfrm>
          <a:prstGeom prst="rect">
            <a:avLst/>
          </a:prstGeom>
          <a:solidFill>
            <a:srgbClr val="35A79C"/>
          </a:solidFill>
          <a:ln w="12700">
            <a:solidFill>
              <a:srgbClr val="35A79C"/>
            </a:solidFill>
            <a:prstDash val="solid"/>
          </a:ln>
        </p:spPr>
        <p:txBody>
          <a:bodyPr/>
          <a:lstStyle/>
          <a:p>
            <a:endParaRPr lang="en-SE"/>
          </a:p>
        </p:txBody>
      </p:sp>
      <p:sp>
        <p:nvSpPr>
          <p:cNvPr id="11" name="Text 9"/>
          <p:cNvSpPr/>
          <p:nvPr/>
        </p:nvSpPr>
        <p:spPr>
          <a:xfrm>
            <a:off x="4919472" y="1408176"/>
            <a:ext cx="3502152" cy="365760"/>
          </a:xfrm>
          <a:prstGeom prst="rect">
            <a:avLst/>
          </a:prstGeom>
          <a:noFill/>
          <a:ln/>
        </p:spPr>
        <p:txBody>
          <a:bodyPr wrap="square" lIns="0" tIns="0" rIns="0" bIns="0" rtlCol="0" anchor="ctr"/>
          <a:lstStyle/>
          <a:p>
            <a:pPr marL="0" indent="0">
              <a:buNone/>
            </a:pPr>
            <a:r>
              <a:rPr lang="en-US" sz="1700" b="1" dirty="0">
                <a:solidFill>
                  <a:srgbClr val="35A79C"/>
                </a:solidFill>
                <a:latin typeface="Trebuchet MS" pitchFamily="34" charset="0"/>
                <a:ea typeface="Trebuchet MS" pitchFamily="34" charset="-122"/>
                <a:cs typeface="Trebuchet MS" pitchFamily="34" charset="-120"/>
              </a:rPr>
              <a:t>WebSocket — a first message</a:t>
            </a:r>
            <a:endParaRPr lang="en-US" sz="1700" dirty="0"/>
          </a:p>
        </p:txBody>
      </p:sp>
      <p:sp>
        <p:nvSpPr>
          <p:cNvPr id="12" name="Text 10"/>
          <p:cNvSpPr/>
          <p:nvPr/>
        </p:nvSpPr>
        <p:spPr>
          <a:xfrm>
            <a:off x="4919472" y="1773936"/>
            <a:ext cx="3502152" cy="274320"/>
          </a:xfrm>
          <a:prstGeom prst="rect">
            <a:avLst/>
          </a:prstGeom>
          <a:noFill/>
          <a:ln/>
        </p:spPr>
        <p:txBody>
          <a:bodyPr wrap="square" lIns="0" tIns="0" rIns="0" bIns="0" rtlCol="0" anchor="ctr"/>
          <a:lstStyle/>
          <a:p>
            <a:pPr marL="0" indent="0">
              <a:buNone/>
            </a:pPr>
            <a:r>
              <a:rPr lang="en-US" sz="1100" i="1" dirty="0">
                <a:solidFill>
                  <a:srgbClr val="97A1AC"/>
                </a:solidFill>
                <a:latin typeface="Calibri" pitchFamily="34" charset="0"/>
                <a:ea typeface="Calibri" pitchFamily="34" charset="-122"/>
                <a:cs typeface="Calibri" pitchFamily="34" charset="-120"/>
              </a:rPr>
              <a:t>Sent once, right after connecting</a:t>
            </a:r>
            <a:endParaRPr lang="en-US" sz="1100" dirty="0"/>
          </a:p>
        </p:txBody>
      </p:sp>
      <p:sp>
        <p:nvSpPr>
          <p:cNvPr id="13" name="Text 11"/>
          <p:cNvSpPr/>
          <p:nvPr/>
        </p:nvSpPr>
        <p:spPr>
          <a:xfrm>
            <a:off x="4919472" y="2121408"/>
            <a:ext cx="3502152" cy="1490472"/>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Open the socket, then send a small JSON object holding your key</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Authentication is confirmed before any event flows</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A rejected key is disconnected immediately</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The connection then stays authenticated for its lifetime</a:t>
            </a:r>
            <a:endParaRPr lang="en-US" sz="1150" dirty="0"/>
          </a:p>
        </p:txBody>
      </p:sp>
      <p:sp>
        <p:nvSpPr>
          <p:cNvPr id="14" name="code panel">
            <a:extLst>
              <a:ext uri="{C183D7F6-B498-43B3-948B-1728B52AA6E4}">
                <adec:decorative xmlns:adec="http://schemas.microsoft.com/office/drawing/2017/decorative" val="1"/>
              </a:ext>
            </a:extLst>
          </p:cNvPr>
          <p:cNvSpPr/>
          <p:nvPr/>
        </p:nvSpPr>
        <p:spPr>
          <a:xfrm>
            <a:off x="502920" y="3913632"/>
            <a:ext cx="3959352" cy="658368"/>
          </a:xfrm>
          <a:prstGeom prst="roundRect">
            <a:avLst>
              <a:gd name="adj" fmla="val 6944"/>
            </a:avLst>
          </a:prstGeom>
          <a:solidFill>
            <a:srgbClr val="121519"/>
          </a:solidFill>
          <a:ln w="12700">
            <a:solidFill>
              <a:srgbClr val="3A424B"/>
            </a:solidFill>
            <a:prstDash val="solid"/>
          </a:ln>
        </p:spPr>
        <p:txBody>
          <a:bodyPr/>
          <a:lstStyle/>
          <a:p>
            <a:endParaRPr lang="en-SE"/>
          </a:p>
        </p:txBody>
      </p:sp>
      <p:sp>
        <p:nvSpPr>
          <p:cNvPr id="15" name="code panel edge">
            <a:extLst>
              <a:ext uri="{C183D7F6-B498-43B3-948B-1728B52AA6E4}">
                <adec:decorative xmlns:adec="http://schemas.microsoft.com/office/drawing/2017/decorative" val="1"/>
              </a:ext>
            </a:extLst>
          </p:cNvPr>
          <p:cNvSpPr/>
          <p:nvPr/>
        </p:nvSpPr>
        <p:spPr>
          <a:xfrm>
            <a:off x="502920" y="3913632"/>
            <a:ext cx="54864" cy="658368"/>
          </a:xfrm>
          <a:prstGeom prst="rect">
            <a:avLst/>
          </a:prstGeom>
          <a:solidFill>
            <a:srgbClr val="E8722C"/>
          </a:solidFill>
          <a:ln w="12700">
            <a:solidFill>
              <a:srgbClr val="E8722C"/>
            </a:solidFill>
            <a:prstDash val="solid"/>
          </a:ln>
        </p:spPr>
        <p:txBody>
          <a:bodyPr/>
          <a:lstStyle/>
          <a:p>
            <a:endParaRPr lang="en-SE"/>
          </a:p>
        </p:txBody>
      </p:sp>
      <p:sp>
        <p:nvSpPr>
          <p:cNvPr id="16" name="Text 14"/>
          <p:cNvSpPr/>
          <p:nvPr/>
        </p:nvSpPr>
        <p:spPr>
          <a:xfrm>
            <a:off x="704088" y="4041648"/>
            <a:ext cx="3593592" cy="402336"/>
          </a:xfrm>
          <a:prstGeom prst="rect">
            <a:avLst/>
          </a:prstGeom>
          <a:noFill/>
          <a:ln/>
        </p:spPr>
        <p:txBody>
          <a:bodyPr wrap="square" lIns="0" tIns="0" rIns="0" bIns="0" rtlCol="0" anchor="t"/>
          <a:lstStyle/>
          <a:p>
            <a:pPr marL="0" indent="0">
              <a:buNone/>
            </a:pPr>
            <a:r>
              <a:rPr lang="en-US" sz="1150" b="1" dirty="0">
                <a:solidFill>
                  <a:srgbClr val="F2A65A"/>
                </a:solidFill>
                <a:latin typeface="Consolas" pitchFamily="34" charset="0"/>
                <a:ea typeface="Consolas" pitchFamily="34" charset="-122"/>
                <a:cs typeface="Consolas" pitchFamily="34" charset="-120"/>
              </a:rPr>
              <a:t>Authorization: Bearer key-trader-demo</a:t>
            </a:r>
            <a:endParaRPr lang="en-US" sz="1150" dirty="0"/>
          </a:p>
        </p:txBody>
      </p:sp>
      <p:sp>
        <p:nvSpPr>
          <p:cNvPr id="17" name="code panel">
            <a:extLst>
              <a:ext uri="{C183D7F6-B498-43B3-948B-1728B52AA6E4}">
                <adec:decorative xmlns:adec="http://schemas.microsoft.com/office/drawing/2017/decorative" val="1"/>
              </a:ext>
            </a:extLst>
          </p:cNvPr>
          <p:cNvSpPr/>
          <p:nvPr/>
        </p:nvSpPr>
        <p:spPr>
          <a:xfrm>
            <a:off x="4681728" y="3913632"/>
            <a:ext cx="3959352" cy="658368"/>
          </a:xfrm>
          <a:prstGeom prst="roundRect">
            <a:avLst>
              <a:gd name="adj" fmla="val 6944"/>
            </a:avLst>
          </a:prstGeom>
          <a:solidFill>
            <a:srgbClr val="121519"/>
          </a:solidFill>
          <a:ln w="12700">
            <a:solidFill>
              <a:srgbClr val="3A424B"/>
            </a:solidFill>
            <a:prstDash val="solid"/>
          </a:ln>
        </p:spPr>
        <p:txBody>
          <a:bodyPr/>
          <a:lstStyle/>
          <a:p>
            <a:endParaRPr lang="en-SE"/>
          </a:p>
        </p:txBody>
      </p:sp>
      <p:sp>
        <p:nvSpPr>
          <p:cNvPr id="18" name="code panel edge">
            <a:extLst>
              <a:ext uri="{C183D7F6-B498-43B3-948B-1728B52AA6E4}">
                <adec:decorative xmlns:adec="http://schemas.microsoft.com/office/drawing/2017/decorative" val="1"/>
              </a:ext>
            </a:extLst>
          </p:cNvPr>
          <p:cNvSpPr/>
          <p:nvPr/>
        </p:nvSpPr>
        <p:spPr>
          <a:xfrm>
            <a:off x="4681728" y="3913632"/>
            <a:ext cx="54864" cy="658368"/>
          </a:xfrm>
          <a:prstGeom prst="rect">
            <a:avLst/>
          </a:prstGeom>
          <a:solidFill>
            <a:srgbClr val="35A79C"/>
          </a:solidFill>
          <a:ln w="12700">
            <a:solidFill>
              <a:srgbClr val="35A79C"/>
            </a:solidFill>
            <a:prstDash val="solid"/>
          </a:ln>
        </p:spPr>
        <p:txBody>
          <a:bodyPr/>
          <a:lstStyle/>
          <a:p>
            <a:endParaRPr lang="en-SE"/>
          </a:p>
        </p:txBody>
      </p:sp>
      <p:sp>
        <p:nvSpPr>
          <p:cNvPr id="19" name="Text 17"/>
          <p:cNvSpPr/>
          <p:nvPr/>
        </p:nvSpPr>
        <p:spPr>
          <a:xfrm>
            <a:off x="4882896" y="4041648"/>
            <a:ext cx="3593592" cy="402336"/>
          </a:xfrm>
          <a:prstGeom prst="rect">
            <a:avLst/>
          </a:prstGeom>
          <a:noFill/>
          <a:ln/>
        </p:spPr>
        <p:txBody>
          <a:bodyPr wrap="square" lIns="0" tIns="0" rIns="0" bIns="0" rtlCol="0" anchor="t"/>
          <a:lstStyle/>
          <a:p>
            <a:pPr marL="0" indent="0">
              <a:buNone/>
            </a:pPr>
            <a:r>
              <a:rPr lang="en-US" sz="1150" b="1" dirty="0">
                <a:solidFill>
                  <a:srgbClr val="F2A65A"/>
                </a:solidFill>
                <a:latin typeface="Consolas" pitchFamily="34" charset="0"/>
                <a:ea typeface="Consolas" pitchFamily="34" charset="-122"/>
                <a:cs typeface="Consolas" pitchFamily="34" charset="-120"/>
              </a:rPr>
              <a:t>{ "api_key": "key-trader-demo" }</a:t>
            </a:r>
            <a:endParaRPr lang="en-US" sz="1150" dirty="0"/>
          </a:p>
        </p:txBody>
      </p:sp>
      <p:sp>
        <p:nvSpPr>
          <p:cNvPr id="20" name="Text 18"/>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API keys and access</a:t>
            </a:r>
            <a:endParaRPr lang="en-US" sz="900" dirty="0"/>
          </a:p>
        </p:txBody>
      </p:sp>
      <p:sp>
        <p:nvSpPr>
          <p:cNvPr id="21" name="Text 19"/>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8138160" cy="548640"/>
          </a:xfrm>
          <a:prstGeom prst="rect">
            <a:avLst/>
          </a:prstGeom>
          <a:noFill/>
          <a:ln/>
        </p:spPr>
        <p:txBody>
          <a:bodyPr wrap="square" lIns="0" tIns="0" rIns="0" bIns="0" rtlCol="0" anchor="ctr"/>
          <a:lstStyle/>
          <a:p>
            <a:pPr marL="0" indent="0">
              <a:buNone/>
            </a:pPr>
            <a:r>
              <a:rPr lang="en-US" sz="2700" b="1" dirty="0">
                <a:solidFill>
                  <a:srgbClr val="F3F5F7"/>
                </a:solidFill>
                <a:latin typeface="Trebuchet MS" pitchFamily="34" charset="0"/>
                <a:ea typeface="Trebuchet MS" pitchFamily="34" charset="-122"/>
                <a:cs typeface="Trebuchet MS" pitchFamily="34" charset="-120"/>
              </a:rPr>
              <a:t>What a key is allowed to do</a:t>
            </a:r>
            <a:endParaRPr lang="en-US" sz="2700" dirty="0"/>
          </a:p>
        </p:txBody>
      </p:sp>
      <p:sp>
        <p:nvSpPr>
          <p:cNvPr id="3" name="Text 1"/>
          <p:cNvSpPr/>
          <p:nvPr/>
        </p:nvSpPr>
        <p:spPr>
          <a:xfrm>
            <a:off x="502920" y="841248"/>
            <a:ext cx="8138160" cy="237744"/>
          </a:xfrm>
          <a:prstGeom prst="rect">
            <a:avLst/>
          </a:prstGeom>
          <a:noFill/>
          <a:ln/>
        </p:spPr>
        <p:txBody>
          <a:bodyPr wrap="square" lIns="0" tIns="0" rIns="0" bIns="0" rtlCol="0" anchor="ctr"/>
          <a:lstStyle/>
          <a:p>
            <a:pPr marL="0" indent="0">
              <a:buNone/>
            </a:pPr>
            <a:r>
              <a:rPr lang="en-US" sz="1100" b="1" kern="0" spc="200" dirty="0">
                <a:solidFill>
                  <a:srgbClr val="E8722C"/>
                </a:solidFill>
                <a:latin typeface="Calibri" pitchFamily="34" charset="0"/>
                <a:ea typeface="Calibri" pitchFamily="34" charset="-122"/>
                <a:cs typeface="Calibri" pitchFamily="34" charset="-120"/>
              </a:rPr>
              <a:t>PERMISSION LEVELS</a:t>
            </a:r>
            <a:endParaRPr lang="en-US" sz="1100" dirty="0"/>
          </a:p>
        </p:txBody>
      </p:sp>
      <p:sp>
        <p:nvSpPr>
          <p:cNvPr id="4" name="card background">
            <a:extLst>
              <a:ext uri="{C183D7F6-B498-43B3-948B-1728B52AA6E4}">
                <adec:decorative xmlns:adec="http://schemas.microsoft.com/office/drawing/2017/decorative" val="1"/>
              </a:ext>
            </a:extLst>
          </p:cNvPr>
          <p:cNvSpPr/>
          <p:nvPr/>
        </p:nvSpPr>
        <p:spPr>
          <a:xfrm>
            <a:off x="502920" y="1188720"/>
            <a:ext cx="2566416" cy="1207008"/>
          </a:xfrm>
          <a:prstGeom prst="roundRect">
            <a:avLst>
              <a:gd name="adj" fmla="val 4545"/>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5" name="Text 3">
            <a:extLst>
              <a:ext uri="{C183D7F6-B498-43B3-948B-1728B52AA6E4}">
                <adec:decorative xmlns:adec="http://schemas.microsoft.com/office/drawing/2017/decorative" val="1"/>
              </a:ext>
            </a:extLst>
          </p:cNvPr>
          <p:cNvSpPr/>
          <p:nvPr/>
        </p:nvSpPr>
        <p:spPr>
          <a:xfrm>
            <a:off x="722376" y="1371600"/>
            <a:ext cx="2164080" cy="329184"/>
          </a:xfrm>
          <a:prstGeom prst="rect">
            <a:avLst/>
          </a:prstGeom>
          <a:noFill/>
          <a:ln/>
        </p:spPr>
        <p:txBody>
          <a:bodyPr wrap="square" lIns="0" tIns="0" rIns="0" bIns="0" rtlCol="0" anchor="ctr"/>
          <a:lstStyle/>
          <a:p>
            <a:pPr marL="0" indent="0">
              <a:buNone/>
            </a:pPr>
            <a:r>
              <a:rPr lang="en-US" sz="1400" b="1" dirty="0">
                <a:solidFill>
                  <a:srgbClr val="35A79C"/>
                </a:solidFill>
                <a:latin typeface="Trebuchet MS" pitchFamily="34" charset="0"/>
                <a:ea typeface="Trebuchet MS" pitchFamily="34" charset="-122"/>
                <a:cs typeface="Trebuchet MS" pitchFamily="34" charset="-120"/>
              </a:rPr>
              <a:t>Read-only</a:t>
            </a:r>
            <a:endParaRPr lang="en-US" sz="1400" dirty="0"/>
          </a:p>
        </p:txBody>
      </p:sp>
      <p:sp>
        <p:nvSpPr>
          <p:cNvPr id="6" name="Text 4"/>
          <p:cNvSpPr/>
          <p:nvPr/>
        </p:nvSpPr>
        <p:spPr>
          <a:xfrm>
            <a:off x="722376" y="1737360"/>
            <a:ext cx="2127504" cy="548640"/>
          </a:xfrm>
          <a:prstGeom prst="rect">
            <a:avLst/>
          </a:prstGeom>
          <a:noFill/>
          <a:ln/>
        </p:spPr>
        <p:txBody>
          <a:bodyPr wrap="square" lIns="0" tIns="0" rIns="0" bIns="0" rtlCol="0" anchor="t"/>
          <a:lstStyle/>
          <a:p>
            <a:pPr marL="0" indent="0">
              <a:buNone/>
            </a:pPr>
            <a:r>
              <a:rPr lang="en-US" sz="1100" dirty="0">
                <a:solidFill>
                  <a:srgbClr val="D5DAE0"/>
                </a:solidFill>
                <a:latin typeface="Calibri" pitchFamily="34" charset="0"/>
                <a:ea typeface="Calibri" pitchFamily="34" charset="-122"/>
                <a:cs typeface="Calibri" pitchFamily="34" charset="-120"/>
              </a:rPr>
              <a:t>Public market data, the trade tape and history. No orders, no private state.</a:t>
            </a:r>
            <a:endParaRPr lang="en-US" sz="1100" dirty="0"/>
          </a:p>
        </p:txBody>
      </p:sp>
      <p:sp>
        <p:nvSpPr>
          <p:cNvPr id="7" name="card background">
            <a:extLst>
              <a:ext uri="{C183D7F6-B498-43B3-948B-1728B52AA6E4}">
                <adec:decorative xmlns:adec="http://schemas.microsoft.com/office/drawing/2017/decorative" val="1"/>
              </a:ext>
            </a:extLst>
          </p:cNvPr>
          <p:cNvSpPr/>
          <p:nvPr/>
        </p:nvSpPr>
        <p:spPr>
          <a:xfrm>
            <a:off x="3288792" y="1188720"/>
            <a:ext cx="2566416" cy="1207008"/>
          </a:xfrm>
          <a:prstGeom prst="roundRect">
            <a:avLst>
              <a:gd name="adj" fmla="val 4545"/>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8" name="Text 6"/>
          <p:cNvSpPr/>
          <p:nvPr/>
        </p:nvSpPr>
        <p:spPr>
          <a:xfrm>
            <a:off x="3508248" y="1371600"/>
            <a:ext cx="2164080" cy="329184"/>
          </a:xfrm>
          <a:prstGeom prst="rect">
            <a:avLst/>
          </a:prstGeom>
          <a:noFill/>
          <a:ln/>
        </p:spPr>
        <p:txBody>
          <a:bodyPr wrap="square" lIns="0" tIns="0" rIns="0" bIns="0" rtlCol="0" anchor="ctr"/>
          <a:lstStyle/>
          <a:p>
            <a:pPr marL="0" indent="0">
              <a:buNone/>
            </a:pPr>
            <a:r>
              <a:rPr lang="en-US" sz="1400" b="1" dirty="0">
                <a:solidFill>
                  <a:srgbClr val="E8722C"/>
                </a:solidFill>
                <a:latin typeface="Trebuchet MS" pitchFamily="34" charset="0"/>
                <a:ea typeface="Trebuchet MS" pitchFamily="34" charset="-122"/>
                <a:cs typeface="Trebuchet MS" pitchFamily="34" charset="-120"/>
              </a:rPr>
              <a:t>Trading</a:t>
            </a:r>
            <a:endParaRPr lang="en-US" sz="1400" dirty="0"/>
          </a:p>
        </p:txBody>
      </p:sp>
      <p:sp>
        <p:nvSpPr>
          <p:cNvPr id="9" name="Text 7">
            <a:extLst>
              <a:ext uri="{C183D7F6-B498-43B3-948B-1728B52AA6E4}">
                <adec:decorative xmlns:adec="http://schemas.microsoft.com/office/drawing/2017/decorative" val="1"/>
              </a:ext>
            </a:extLst>
          </p:cNvPr>
          <p:cNvSpPr/>
          <p:nvPr/>
        </p:nvSpPr>
        <p:spPr>
          <a:xfrm>
            <a:off x="3508248" y="1737360"/>
            <a:ext cx="2127504" cy="548640"/>
          </a:xfrm>
          <a:prstGeom prst="rect">
            <a:avLst/>
          </a:prstGeom>
          <a:noFill/>
          <a:ln/>
        </p:spPr>
        <p:txBody>
          <a:bodyPr wrap="square" lIns="0" tIns="0" rIns="0" bIns="0" rtlCol="0" anchor="t"/>
          <a:lstStyle/>
          <a:p>
            <a:pPr marL="0" indent="0">
              <a:buNone/>
            </a:pPr>
            <a:r>
              <a:rPr lang="en-US" sz="1100" dirty="0">
                <a:solidFill>
                  <a:srgbClr val="D5DAE0"/>
                </a:solidFill>
                <a:latin typeface="Calibri" pitchFamily="34" charset="0"/>
                <a:ea typeface="Calibri" pitchFamily="34" charset="-122"/>
                <a:cs typeface="Calibri" pitchFamily="34" charset="-120"/>
              </a:rPr>
              <a:t>Everything read-only can do, plus order entry, management, positions and its own history.</a:t>
            </a:r>
            <a:endParaRPr lang="en-US" sz="1100" dirty="0"/>
          </a:p>
        </p:txBody>
      </p:sp>
      <p:sp>
        <p:nvSpPr>
          <p:cNvPr id="10" name="card background">
            <a:extLst>
              <a:ext uri="{C183D7F6-B498-43B3-948B-1728B52AA6E4}">
                <adec:decorative xmlns:adec="http://schemas.microsoft.com/office/drawing/2017/decorative" val="1"/>
              </a:ext>
            </a:extLst>
          </p:cNvPr>
          <p:cNvSpPr/>
          <p:nvPr/>
        </p:nvSpPr>
        <p:spPr>
          <a:xfrm>
            <a:off x="6074664" y="1188720"/>
            <a:ext cx="2566416" cy="1207008"/>
          </a:xfrm>
          <a:prstGeom prst="roundRect">
            <a:avLst>
              <a:gd name="adj" fmla="val 4545"/>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1" name="step marker">
            <a:extLst>
              <a:ext uri="{C183D7F6-B498-43B3-948B-1728B52AA6E4}">
                <adec:decorative xmlns:adec="http://schemas.microsoft.com/office/drawing/2017/decorative" val="1"/>
              </a:ext>
            </a:extLst>
          </p:cNvPr>
          <p:cNvSpPr/>
          <p:nvPr/>
        </p:nvSpPr>
        <p:spPr>
          <a:xfrm>
            <a:off x="6275832" y="1371600"/>
            <a:ext cx="310896" cy="310896"/>
          </a:xfrm>
          <a:prstGeom prst="ellipse">
            <a:avLst/>
          </a:prstGeom>
          <a:solidFill>
            <a:srgbClr val="8B7BD8"/>
          </a:solidFill>
          <a:ln w="12700">
            <a:solidFill>
              <a:srgbClr val="8B7BD8"/>
            </a:solidFill>
            <a:prstDash val="solid"/>
          </a:ln>
        </p:spPr>
        <p:txBody>
          <a:bodyPr/>
          <a:lstStyle/>
          <a:p>
            <a:endParaRPr lang="en-SE"/>
          </a:p>
        </p:txBody>
      </p:sp>
      <p:sp>
        <p:nvSpPr>
          <p:cNvPr id="12" name="Text 10"/>
          <p:cNvSpPr/>
          <p:nvPr/>
        </p:nvSpPr>
        <p:spPr>
          <a:xfrm>
            <a:off x="6275832" y="1371600"/>
            <a:ext cx="310896" cy="310896"/>
          </a:xfrm>
          <a:prstGeom prst="rect">
            <a:avLst/>
          </a:prstGeom>
          <a:noFill/>
          <a:ln/>
        </p:spPr>
        <p:txBody>
          <a:bodyPr wrap="square" lIns="0" tIns="0" rIns="0" bIns="0" rtlCol="0" anchor="ctr"/>
          <a:lstStyle/>
          <a:p>
            <a:pPr marL="0" indent="0" algn="ctr">
              <a:buNone/>
            </a:pPr>
            <a:endParaRPr lang="en-US" sz="1300" dirty="0"/>
          </a:p>
        </p:txBody>
      </p:sp>
      <p:sp>
        <p:nvSpPr>
          <p:cNvPr id="13" name="Text 11"/>
          <p:cNvSpPr/>
          <p:nvPr/>
        </p:nvSpPr>
        <p:spPr>
          <a:xfrm>
            <a:off x="6678168" y="1371600"/>
            <a:ext cx="1780032" cy="329184"/>
          </a:xfrm>
          <a:prstGeom prst="rect">
            <a:avLst/>
          </a:prstGeom>
          <a:noFill/>
          <a:ln/>
        </p:spPr>
        <p:txBody>
          <a:bodyPr wrap="square" lIns="0" tIns="0" rIns="0" bIns="0" rtlCol="0" anchor="ctr"/>
          <a:lstStyle/>
          <a:p>
            <a:pPr marL="0" indent="0">
              <a:buNone/>
            </a:pPr>
            <a:r>
              <a:rPr lang="en-US" sz="1400" b="1" dirty="0">
                <a:solidFill>
                  <a:srgbClr val="8B7BD8"/>
                </a:solidFill>
                <a:latin typeface="Trebuchet MS" pitchFamily="34" charset="0"/>
                <a:ea typeface="Trebuchet MS" pitchFamily="34" charset="-122"/>
                <a:cs typeface="Trebuchet MS" pitchFamily="34" charset="-120"/>
              </a:rPr>
              <a:t>Admin</a:t>
            </a:r>
            <a:endParaRPr lang="en-US" sz="1400" dirty="0"/>
          </a:p>
        </p:txBody>
      </p:sp>
      <p:sp>
        <p:nvSpPr>
          <p:cNvPr id="14" name="Text 12">
            <a:extLst>
              <a:ext uri="{C183D7F6-B498-43B3-948B-1728B52AA6E4}">
                <adec:decorative xmlns:adec="http://schemas.microsoft.com/office/drawing/2017/decorative" val="1"/>
              </a:ext>
            </a:extLst>
          </p:cNvPr>
          <p:cNvSpPr/>
          <p:nvPr/>
        </p:nvSpPr>
        <p:spPr>
          <a:xfrm>
            <a:off x="6294120" y="1737360"/>
            <a:ext cx="2127504" cy="548640"/>
          </a:xfrm>
          <a:prstGeom prst="rect">
            <a:avLst/>
          </a:prstGeom>
          <a:noFill/>
          <a:ln/>
        </p:spPr>
        <p:txBody>
          <a:bodyPr wrap="square" lIns="0" tIns="0" rIns="0" bIns="0" rtlCol="0" anchor="t"/>
          <a:lstStyle/>
          <a:p>
            <a:pPr marL="0" indent="0">
              <a:buNone/>
            </a:pPr>
            <a:r>
              <a:rPr lang="en-US" sz="1100" dirty="0">
                <a:solidFill>
                  <a:srgbClr val="D5DAE0"/>
                </a:solidFill>
                <a:latin typeface="Calibri" pitchFamily="34" charset="0"/>
                <a:ea typeface="Calibri" pitchFamily="34" charset="-122"/>
                <a:cs typeface="Calibri" pitchFamily="34" charset="-120"/>
              </a:rPr>
              <a:t>Everything trading can do, plus session control, halts and the cross-gateway monitor stream.</a:t>
            </a:r>
            <a:endParaRPr lang="en-US" sz="1100" dirty="0"/>
          </a:p>
        </p:txBody>
      </p:sp>
      <p:graphicFrame>
        <p:nvGraphicFramePr>
          <p:cNvPr id="28" name="Table 0"/>
          <p:cNvGraphicFramePr>
            <a:graphicFrameLocks noGrp="1"/>
          </p:cNvGraphicFramePr>
          <p:nvPr>
            <p:extLst>
              <p:ext uri="{D42A27DB-BD31-4B8C-83A1-F6EECF244321}">
                <p14:modId xmlns:p14="http://schemas.microsoft.com/office/powerpoint/2010/main" val="1756865914"/>
              </p:ext>
            </p:extLst>
          </p:nvPr>
        </p:nvGraphicFramePr>
        <p:xfrm>
          <a:off x="502920" y="2633472"/>
          <a:ext cx="8138160" cy="914400"/>
        </p:xfrm>
        <a:graphic>
          <a:graphicData uri="http://schemas.openxmlformats.org/drawingml/2006/table">
            <a:tbl>
              <a:tblPr/>
              <a:tblGrid>
                <a:gridCol w="402336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219456">
                <a:tc>
                  <a:txBody>
                    <a:bodyPr/>
                    <a:lstStyle/>
                    <a:p>
                      <a:pPr marL="0" indent="0">
                        <a:buNone/>
                      </a:pPr>
                      <a:r>
                        <a:rPr lang="en-US" sz="1100" b="1" dirty="0">
                          <a:solidFill>
                            <a:srgbClr val="121519"/>
                          </a:solidFill>
                          <a:latin typeface="Trebuchet MS" pitchFamily="34" charset="0"/>
                          <a:ea typeface="Trebuchet MS" pitchFamily="34" charset="-122"/>
                          <a:cs typeface="Trebuchet MS" pitchFamily="34" charset="-120"/>
                        </a:rPr>
                        <a:t>Capability</a:t>
                      </a:r>
                      <a:endParaRPr lang="en-US" sz="1100" dirty="0">
                        <a:latin typeface="Trebuchet MS" charset="0"/>
                        <a:ea typeface="Trebuchet MS" charset="0"/>
                        <a:cs typeface="Trebuchet M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E8722C"/>
                    </a:solidFill>
                  </a:tcPr>
                </a:tc>
                <a:tc>
                  <a:txBody>
                    <a:bodyPr/>
                    <a:lstStyle/>
                    <a:p>
                      <a:pPr marL="0" indent="0">
                        <a:buNone/>
                      </a:pPr>
                      <a:r>
                        <a:rPr lang="en-US" sz="1100" b="1" dirty="0">
                          <a:solidFill>
                            <a:srgbClr val="121519"/>
                          </a:solidFill>
                          <a:latin typeface="Trebuchet MS" pitchFamily="34" charset="0"/>
                          <a:ea typeface="Trebuchet MS" pitchFamily="34" charset="-122"/>
                          <a:cs typeface="Trebuchet MS" pitchFamily="34" charset="-120"/>
                        </a:rPr>
                        <a:t>Read-only</a:t>
                      </a:r>
                      <a:endParaRPr lang="en-US" sz="1100" dirty="0">
                        <a:latin typeface="Trebuchet MS" charset="0"/>
                        <a:ea typeface="Trebuchet MS" charset="0"/>
                        <a:cs typeface="Trebuchet M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E8722C"/>
                    </a:solidFill>
                  </a:tcPr>
                </a:tc>
                <a:tc>
                  <a:txBody>
                    <a:bodyPr/>
                    <a:lstStyle/>
                    <a:p>
                      <a:pPr marL="0" indent="0">
                        <a:buNone/>
                      </a:pPr>
                      <a:r>
                        <a:rPr lang="en-US" sz="1100" b="1" dirty="0">
                          <a:solidFill>
                            <a:srgbClr val="121519"/>
                          </a:solidFill>
                          <a:latin typeface="Trebuchet MS" pitchFamily="34" charset="0"/>
                          <a:ea typeface="Trebuchet MS" pitchFamily="34" charset="-122"/>
                          <a:cs typeface="Trebuchet MS" pitchFamily="34" charset="-120"/>
                        </a:rPr>
                        <a:t>Trading</a:t>
                      </a:r>
                      <a:endParaRPr lang="en-US" sz="1100" dirty="0">
                        <a:latin typeface="Trebuchet MS" charset="0"/>
                        <a:ea typeface="Trebuchet MS" charset="0"/>
                        <a:cs typeface="Trebuchet M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E8722C"/>
                    </a:solidFill>
                  </a:tcPr>
                </a:tc>
                <a:tc>
                  <a:txBody>
                    <a:bodyPr/>
                    <a:lstStyle/>
                    <a:p>
                      <a:pPr marL="0" indent="0">
                        <a:buNone/>
                      </a:pPr>
                      <a:r>
                        <a:rPr lang="en-US" sz="1100" b="1" dirty="0">
                          <a:solidFill>
                            <a:srgbClr val="121519"/>
                          </a:solidFill>
                          <a:latin typeface="Trebuchet MS" pitchFamily="34" charset="0"/>
                          <a:ea typeface="Trebuchet MS" pitchFamily="34" charset="-122"/>
                          <a:cs typeface="Trebuchet MS" pitchFamily="34" charset="-120"/>
                        </a:rPr>
                        <a:t>Admin</a:t>
                      </a:r>
                      <a:endParaRPr lang="en-US" sz="1100" dirty="0">
                        <a:latin typeface="Trebuchet MS" charset="0"/>
                        <a:ea typeface="Trebuchet MS" charset="0"/>
                        <a:cs typeface="Trebuchet M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E8722C"/>
                    </a:solidFill>
                  </a:tcPr>
                </a:tc>
                <a:extLst>
                  <a:ext uri="{0D108BD9-81ED-4DB2-BD59-A6C34878D82A}">
                    <a16:rowId xmlns:a16="http://schemas.microsoft.com/office/drawing/2014/main" val="10000"/>
                  </a:ext>
                </a:extLst>
              </a:tr>
              <a:tr h="219456">
                <a:tc>
                  <a:txBody>
                    <a:bodyPr/>
                    <a:lstStyle/>
                    <a:p>
                      <a:pPr marL="0" indent="0">
                        <a:buNone/>
                      </a:pPr>
                      <a:r>
                        <a:rPr lang="en-US" sz="950" dirty="0">
                          <a:solidFill>
                            <a:srgbClr val="F2A65A"/>
                          </a:solidFill>
                          <a:latin typeface="Calibri" pitchFamily="34" charset="0"/>
                          <a:ea typeface="Calibri" pitchFamily="34" charset="-122"/>
                          <a:cs typeface="Calibri" pitchFamily="34" charset="-120"/>
                        </a:rPr>
                        <a:t>Public market data and trade tape</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extLst>
                  <a:ext uri="{0D108BD9-81ED-4DB2-BD59-A6C34878D82A}">
                    <a16:rowId xmlns:a16="http://schemas.microsoft.com/office/drawing/2014/main" val="10001"/>
                  </a:ext>
                </a:extLst>
              </a:tr>
              <a:tr h="219456">
                <a:tc>
                  <a:txBody>
                    <a:bodyPr/>
                    <a:lstStyle/>
                    <a:p>
                      <a:pPr marL="0" indent="0">
                        <a:buNone/>
                      </a:pPr>
                      <a:r>
                        <a:rPr lang="en-US" sz="950" dirty="0">
                          <a:solidFill>
                            <a:srgbClr val="F2A65A"/>
                          </a:solidFill>
                          <a:latin typeface="Calibri" pitchFamily="34" charset="0"/>
                          <a:ea typeface="Calibri" pitchFamily="34" charset="-122"/>
                          <a:cs typeface="Calibri" pitchFamily="34" charset="-120"/>
                        </a:rPr>
                        <a:t>Daily bars, snapshots, index history</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extLst>
                  <a:ext uri="{0D108BD9-81ED-4DB2-BD59-A6C34878D82A}">
                    <a16:rowId xmlns:a16="http://schemas.microsoft.com/office/drawing/2014/main" val="10002"/>
                  </a:ext>
                </a:extLst>
              </a:tr>
              <a:tr h="219456">
                <a:tc>
                  <a:txBody>
                    <a:bodyPr/>
                    <a:lstStyle/>
                    <a:p>
                      <a:pPr marL="0" indent="0">
                        <a:buNone/>
                      </a:pPr>
                      <a:r>
                        <a:rPr lang="en-US" sz="950" dirty="0">
                          <a:solidFill>
                            <a:srgbClr val="F2A65A"/>
                          </a:solidFill>
                          <a:latin typeface="Calibri" pitchFamily="34" charset="0"/>
                          <a:ea typeface="Calibri" pitchFamily="34" charset="-122"/>
                          <a:cs typeface="Calibri" pitchFamily="34" charset="-120"/>
                        </a:rPr>
                        <a:t>Submit, amend and cancel orders</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extLst>
                  <a:ext uri="{0D108BD9-81ED-4DB2-BD59-A6C34878D82A}">
                    <a16:rowId xmlns:a16="http://schemas.microsoft.com/office/drawing/2014/main" val="10003"/>
                  </a:ext>
                </a:extLst>
              </a:tr>
              <a:tr h="219456">
                <a:tc>
                  <a:txBody>
                    <a:bodyPr/>
                    <a:lstStyle/>
                    <a:p>
                      <a:pPr marL="0" indent="0">
                        <a:buNone/>
                      </a:pPr>
                      <a:r>
                        <a:rPr lang="en-US" sz="950" dirty="0">
                          <a:solidFill>
                            <a:srgbClr val="F2A65A"/>
                          </a:solidFill>
                          <a:latin typeface="Calibri" pitchFamily="34" charset="0"/>
                          <a:ea typeface="Calibri" pitchFamily="34" charset="-122"/>
                          <a:cs typeface="Calibri" pitchFamily="34" charset="-120"/>
                        </a:rPr>
                        <a:t>Own live orders, positions and fills</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extLst>
                  <a:ext uri="{0D108BD9-81ED-4DB2-BD59-A6C34878D82A}">
                    <a16:rowId xmlns:a16="http://schemas.microsoft.com/office/drawing/2014/main" val="10004"/>
                  </a:ext>
                </a:extLst>
              </a:tr>
              <a:tr h="219456">
                <a:tc>
                  <a:txBody>
                    <a:bodyPr/>
                    <a:lstStyle/>
                    <a:p>
                      <a:pPr marL="0" indent="0">
                        <a:buNone/>
                      </a:pPr>
                      <a:r>
                        <a:rPr lang="en-US" sz="950" dirty="0">
                          <a:solidFill>
                            <a:srgbClr val="F2A65A"/>
                          </a:solidFill>
                          <a:latin typeface="Calibri" pitchFamily="34" charset="0"/>
                          <a:ea typeface="Calibri" pitchFamily="34" charset="-122"/>
                          <a:cs typeface="Calibri" pitchFamily="34" charset="-120"/>
                        </a:rPr>
                        <a:t>Private lifecycle event stream</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extLst>
                  <a:ext uri="{0D108BD9-81ED-4DB2-BD59-A6C34878D82A}">
                    <a16:rowId xmlns:a16="http://schemas.microsoft.com/office/drawing/2014/main" val="10005"/>
                  </a:ext>
                </a:extLst>
              </a:tr>
              <a:tr h="219456">
                <a:tc>
                  <a:txBody>
                    <a:bodyPr/>
                    <a:lstStyle/>
                    <a:p>
                      <a:pPr marL="0" indent="0">
                        <a:buNone/>
                      </a:pPr>
                      <a:r>
                        <a:rPr lang="en-US" sz="950" dirty="0">
                          <a:solidFill>
                            <a:srgbClr val="F2A65A"/>
                          </a:solidFill>
                          <a:latin typeface="Calibri" pitchFamily="34" charset="0"/>
                          <a:ea typeface="Calibri" pitchFamily="34" charset="-122"/>
                          <a:cs typeface="Calibri" pitchFamily="34" charset="-120"/>
                        </a:rPr>
                        <a:t>Session transitions, halts, kill switch</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extLst>
                  <a:ext uri="{0D108BD9-81ED-4DB2-BD59-A6C34878D82A}">
                    <a16:rowId xmlns:a16="http://schemas.microsoft.com/office/drawing/2014/main" val="10006"/>
                  </a:ext>
                </a:extLst>
              </a:tr>
              <a:tr h="219456">
                <a:tc>
                  <a:txBody>
                    <a:bodyPr/>
                    <a:lstStyle/>
                    <a:p>
                      <a:pPr marL="0" indent="0">
                        <a:buNone/>
                      </a:pPr>
                      <a:r>
                        <a:rPr lang="en-US" sz="950" dirty="0">
                          <a:solidFill>
                            <a:srgbClr val="F2A65A"/>
                          </a:solidFill>
                          <a:latin typeface="Calibri" pitchFamily="34" charset="0"/>
                          <a:ea typeface="Calibri" pitchFamily="34" charset="-122"/>
                          <a:cs typeface="Calibri" pitchFamily="34" charset="-120"/>
                        </a:rPr>
                        <a:t>Cross-gateway monitor stream</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extLst>
                  <a:ext uri="{0D108BD9-81ED-4DB2-BD59-A6C34878D82A}">
                    <a16:rowId xmlns:a16="http://schemas.microsoft.com/office/drawing/2014/main" val="10007"/>
                  </a:ext>
                </a:extLst>
              </a:tr>
            </a:tbl>
          </a:graphicData>
        </a:graphic>
      </p:graphicFrame>
      <p:sp>
        <p:nvSpPr>
          <p:cNvPr id="16" name="Text 13"/>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API keys and access</a:t>
            </a:r>
            <a:endParaRPr lang="en-US" sz="900" dirty="0"/>
          </a:p>
        </p:txBody>
      </p:sp>
      <p:sp>
        <p:nvSpPr>
          <p:cNvPr id="17" name="Text 14"/>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8138160" cy="548640"/>
          </a:xfrm>
          <a:prstGeom prst="rect">
            <a:avLst/>
          </a:prstGeom>
          <a:noFill/>
          <a:ln/>
        </p:spPr>
        <p:txBody>
          <a:bodyPr wrap="square" lIns="0" tIns="0" rIns="0" bIns="0" rtlCol="0" anchor="ctr"/>
          <a:lstStyle/>
          <a:p>
            <a:pPr marL="0" indent="0">
              <a:buNone/>
            </a:pPr>
            <a:r>
              <a:rPr lang="en-US" sz="2700" b="1" dirty="0">
                <a:solidFill>
                  <a:srgbClr val="F3F5F7"/>
                </a:solidFill>
                <a:latin typeface="Trebuchet MS" pitchFamily="34" charset="0"/>
                <a:ea typeface="Trebuchet MS" pitchFamily="34" charset="-122"/>
                <a:cs typeface="Trebuchet MS" pitchFamily="34" charset="-120"/>
              </a:rPr>
              <a:t>Where the admin role comes from</a:t>
            </a:r>
            <a:endParaRPr lang="en-US" sz="2700" dirty="0"/>
          </a:p>
        </p:txBody>
      </p:sp>
      <p:sp>
        <p:nvSpPr>
          <p:cNvPr id="3" name="Text 1"/>
          <p:cNvSpPr/>
          <p:nvPr/>
        </p:nvSpPr>
        <p:spPr>
          <a:xfrm>
            <a:off x="502920" y="841248"/>
            <a:ext cx="8138160" cy="237744"/>
          </a:xfrm>
          <a:prstGeom prst="rect">
            <a:avLst/>
          </a:prstGeom>
          <a:noFill/>
          <a:ln/>
        </p:spPr>
        <p:txBody>
          <a:bodyPr wrap="square" lIns="0" tIns="0" rIns="0" bIns="0" rtlCol="0" anchor="ctr"/>
          <a:lstStyle/>
          <a:p>
            <a:pPr marL="0" indent="0">
              <a:buNone/>
            </a:pPr>
            <a:r>
              <a:rPr lang="en-US" sz="1100" b="1" kern="0" spc="200" dirty="0">
                <a:solidFill>
                  <a:srgbClr val="E8722C"/>
                </a:solidFill>
                <a:latin typeface="Calibri" pitchFamily="34" charset="0"/>
                <a:ea typeface="Calibri" pitchFamily="34" charset="-122"/>
                <a:cs typeface="Calibri" pitchFamily="34" charset="-120"/>
              </a:rPr>
              <a:t>ROLES</a:t>
            </a:r>
            <a:endParaRPr lang="en-US" sz="1100" dirty="0"/>
          </a:p>
        </p:txBody>
      </p:sp>
      <p:sp>
        <p:nvSpPr>
          <p:cNvPr id="4" name="card background">
            <a:extLst>
              <a:ext uri="{C183D7F6-B498-43B3-948B-1728B52AA6E4}">
                <adec:decorative xmlns:adec="http://schemas.microsoft.com/office/drawing/2017/decorative" val="1"/>
              </a:ext>
            </a:extLst>
          </p:cNvPr>
          <p:cNvSpPr/>
          <p:nvPr/>
        </p:nvSpPr>
        <p:spPr>
          <a:xfrm>
            <a:off x="502920" y="1463040"/>
            <a:ext cx="1801368" cy="1417320"/>
          </a:xfrm>
          <a:prstGeom prst="roundRect">
            <a:avLst>
              <a:gd name="adj" fmla="val 3871"/>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5" name="card top edge">
            <a:extLst>
              <a:ext uri="{C183D7F6-B498-43B3-948B-1728B52AA6E4}">
                <adec:decorative xmlns:adec="http://schemas.microsoft.com/office/drawing/2017/decorative" val="1"/>
              </a:ext>
            </a:extLst>
          </p:cNvPr>
          <p:cNvSpPr/>
          <p:nvPr/>
        </p:nvSpPr>
        <p:spPr>
          <a:xfrm>
            <a:off x="502920" y="1463040"/>
            <a:ext cx="1801368" cy="64008"/>
          </a:xfrm>
          <a:prstGeom prst="rect">
            <a:avLst/>
          </a:prstGeom>
          <a:solidFill>
            <a:srgbClr val="E8722C"/>
          </a:solidFill>
          <a:ln w="12700">
            <a:solidFill>
              <a:srgbClr val="E8722C"/>
            </a:solidFill>
            <a:prstDash val="solid"/>
          </a:ln>
        </p:spPr>
        <p:txBody>
          <a:bodyPr/>
          <a:lstStyle/>
          <a:p>
            <a:endParaRPr lang="en-SE"/>
          </a:p>
        </p:txBody>
      </p:sp>
      <p:sp>
        <p:nvSpPr>
          <p:cNvPr id="6" name="Text 4"/>
          <p:cNvSpPr/>
          <p:nvPr/>
        </p:nvSpPr>
        <p:spPr>
          <a:xfrm>
            <a:off x="649224" y="1645920"/>
            <a:ext cx="1508760" cy="310896"/>
          </a:xfrm>
          <a:prstGeom prst="rect">
            <a:avLst/>
          </a:prstGeom>
          <a:noFill/>
          <a:ln/>
        </p:spPr>
        <p:txBody>
          <a:bodyPr wrap="square" lIns="0" tIns="0" rIns="0" bIns="0" rtlCol="0" anchor="ctr"/>
          <a:lstStyle/>
          <a:p>
            <a:pPr marL="0" indent="0" algn="ctr">
              <a:buNone/>
            </a:pPr>
            <a:r>
              <a:rPr lang="en-US" sz="1300" b="1" dirty="0">
                <a:solidFill>
                  <a:srgbClr val="E8722C"/>
                </a:solidFill>
                <a:latin typeface="Trebuchet MS" pitchFamily="34" charset="0"/>
                <a:ea typeface="Trebuchet MS" pitchFamily="34" charset="-122"/>
                <a:cs typeface="Trebuchet MS" pitchFamily="34" charset="-120"/>
              </a:rPr>
              <a:t>Your key</a:t>
            </a:r>
            <a:endParaRPr lang="en-US" sz="1300" dirty="0"/>
          </a:p>
        </p:txBody>
      </p:sp>
      <p:sp>
        <p:nvSpPr>
          <p:cNvPr id="7" name="Text 5"/>
          <p:cNvSpPr/>
          <p:nvPr/>
        </p:nvSpPr>
        <p:spPr>
          <a:xfrm>
            <a:off x="630936" y="1975104"/>
            <a:ext cx="1545336" cy="795528"/>
          </a:xfrm>
          <a:prstGeom prst="rect">
            <a:avLst/>
          </a:prstGeom>
          <a:noFill/>
          <a:ln/>
        </p:spPr>
        <p:txBody>
          <a:bodyPr wrap="square" lIns="0" tIns="0" rIns="0" bIns="0" rtlCol="0" anchor="t"/>
          <a:lstStyle/>
          <a:p>
            <a:pPr marL="0" indent="0" algn="ctr">
              <a:buNone/>
            </a:pPr>
            <a:r>
              <a:rPr lang="en-US" sz="1050" dirty="0">
                <a:solidFill>
                  <a:srgbClr val="D5DAE0"/>
                </a:solidFill>
                <a:latin typeface="Calibri" pitchFamily="34" charset="0"/>
                <a:ea typeface="Calibri" pitchFamily="34" charset="-122"/>
                <a:cs typeface="Calibri" pitchFamily="34" charset="-120"/>
              </a:rPr>
              <a:t>Names an exchange identity in the gateway configuration</a:t>
            </a:r>
            <a:endParaRPr lang="en-US" sz="1050" dirty="0"/>
          </a:p>
        </p:txBody>
      </p:sp>
      <p:sp>
        <p:nvSpPr>
          <p:cNvPr id="8" name="Text 6"/>
          <p:cNvSpPr/>
          <p:nvPr/>
        </p:nvSpPr>
        <p:spPr>
          <a:xfrm>
            <a:off x="2304288" y="1952244"/>
            <a:ext cx="310896" cy="438912"/>
          </a:xfrm>
          <a:prstGeom prst="rect">
            <a:avLst/>
          </a:prstGeom>
          <a:noFill/>
          <a:ln/>
        </p:spPr>
        <p:txBody>
          <a:bodyPr wrap="square" lIns="0" tIns="0" rIns="0" bIns="0" rtlCol="0" anchor="ctr"/>
          <a:lstStyle/>
          <a:p>
            <a:pPr marL="0" indent="0" algn="ctr">
              <a:buNone/>
            </a:pPr>
            <a:r>
              <a:rPr lang="en-US" sz="2200" b="1" dirty="0">
                <a:solidFill>
                  <a:srgbClr val="E8722C"/>
                </a:solidFill>
                <a:latin typeface="Trebuchet MS" pitchFamily="34" charset="0"/>
                <a:ea typeface="Trebuchet MS" pitchFamily="34" charset="-122"/>
                <a:cs typeface="Trebuchet MS" pitchFamily="34" charset="-120"/>
              </a:rPr>
              <a:t>›</a:t>
            </a:r>
            <a:endParaRPr lang="en-US" sz="2200" dirty="0"/>
          </a:p>
        </p:txBody>
      </p:sp>
      <p:sp>
        <p:nvSpPr>
          <p:cNvPr id="9" name="card background">
            <a:extLst>
              <a:ext uri="{C183D7F6-B498-43B3-948B-1728B52AA6E4}">
                <adec:decorative xmlns:adec="http://schemas.microsoft.com/office/drawing/2017/decorative" val="1"/>
              </a:ext>
            </a:extLst>
          </p:cNvPr>
          <p:cNvSpPr/>
          <p:nvPr/>
        </p:nvSpPr>
        <p:spPr>
          <a:xfrm>
            <a:off x="2615184" y="1463040"/>
            <a:ext cx="1801368" cy="1417320"/>
          </a:xfrm>
          <a:prstGeom prst="roundRect">
            <a:avLst>
              <a:gd name="adj" fmla="val 3871"/>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0" name="card top edge">
            <a:extLst>
              <a:ext uri="{C183D7F6-B498-43B3-948B-1728B52AA6E4}">
                <adec:decorative xmlns:adec="http://schemas.microsoft.com/office/drawing/2017/decorative" val="1"/>
              </a:ext>
            </a:extLst>
          </p:cNvPr>
          <p:cNvSpPr/>
          <p:nvPr/>
        </p:nvSpPr>
        <p:spPr>
          <a:xfrm>
            <a:off x="2615184" y="1463040"/>
            <a:ext cx="1801368" cy="64008"/>
          </a:xfrm>
          <a:prstGeom prst="rect">
            <a:avLst/>
          </a:prstGeom>
          <a:solidFill>
            <a:srgbClr val="35A79C"/>
          </a:solidFill>
          <a:ln w="12700">
            <a:solidFill>
              <a:srgbClr val="35A79C"/>
            </a:solidFill>
            <a:prstDash val="solid"/>
          </a:ln>
        </p:spPr>
        <p:txBody>
          <a:bodyPr/>
          <a:lstStyle/>
          <a:p>
            <a:endParaRPr lang="en-SE"/>
          </a:p>
        </p:txBody>
      </p:sp>
      <p:sp>
        <p:nvSpPr>
          <p:cNvPr id="11" name="Text 9"/>
          <p:cNvSpPr/>
          <p:nvPr/>
        </p:nvSpPr>
        <p:spPr>
          <a:xfrm>
            <a:off x="2761488" y="1645920"/>
            <a:ext cx="1508760" cy="310896"/>
          </a:xfrm>
          <a:prstGeom prst="rect">
            <a:avLst/>
          </a:prstGeom>
          <a:noFill/>
          <a:ln/>
        </p:spPr>
        <p:txBody>
          <a:bodyPr wrap="square" lIns="0" tIns="0" rIns="0" bIns="0" rtlCol="0" anchor="ctr"/>
          <a:lstStyle/>
          <a:p>
            <a:pPr marL="0" indent="0" algn="ctr">
              <a:buNone/>
            </a:pPr>
            <a:r>
              <a:rPr lang="en-US" sz="1300" b="1" dirty="0">
                <a:solidFill>
                  <a:srgbClr val="35A79C"/>
                </a:solidFill>
                <a:latin typeface="Trebuchet MS" pitchFamily="34" charset="0"/>
                <a:ea typeface="Trebuchet MS" pitchFamily="34" charset="-122"/>
                <a:cs typeface="Trebuchet MS" pitchFamily="34" charset="-120"/>
              </a:rPr>
              <a:t>The engine</a:t>
            </a:r>
            <a:endParaRPr lang="en-US" sz="1300" dirty="0"/>
          </a:p>
        </p:txBody>
      </p:sp>
      <p:sp>
        <p:nvSpPr>
          <p:cNvPr id="12" name="Text 10"/>
          <p:cNvSpPr/>
          <p:nvPr/>
        </p:nvSpPr>
        <p:spPr>
          <a:xfrm>
            <a:off x="2743200" y="1975104"/>
            <a:ext cx="1545336" cy="795528"/>
          </a:xfrm>
          <a:prstGeom prst="rect">
            <a:avLst/>
          </a:prstGeom>
          <a:noFill/>
          <a:ln/>
        </p:spPr>
        <p:txBody>
          <a:bodyPr wrap="square" lIns="0" tIns="0" rIns="0" bIns="0" rtlCol="0" anchor="t"/>
          <a:lstStyle/>
          <a:p>
            <a:pPr marL="0" indent="0" algn="ctr">
              <a:buNone/>
            </a:pPr>
            <a:r>
              <a:rPr lang="en-US" sz="1050" dirty="0">
                <a:solidFill>
                  <a:srgbClr val="D5DAE0"/>
                </a:solidFill>
                <a:latin typeface="Calibri" pitchFamily="34" charset="0"/>
                <a:ea typeface="Calibri" pitchFamily="34" charset="-122"/>
                <a:cs typeface="Calibri" pitchFamily="34" charset="-120"/>
              </a:rPr>
              <a:t>Holds the roles: trader, market maker or admin</a:t>
            </a:r>
            <a:endParaRPr lang="en-US" sz="1050" dirty="0"/>
          </a:p>
        </p:txBody>
      </p:sp>
      <p:sp>
        <p:nvSpPr>
          <p:cNvPr id="13" name="Text 11"/>
          <p:cNvSpPr/>
          <p:nvPr/>
        </p:nvSpPr>
        <p:spPr>
          <a:xfrm>
            <a:off x="4416552" y="1952244"/>
            <a:ext cx="310896" cy="438912"/>
          </a:xfrm>
          <a:prstGeom prst="rect">
            <a:avLst/>
          </a:prstGeom>
          <a:noFill/>
          <a:ln/>
        </p:spPr>
        <p:txBody>
          <a:bodyPr wrap="square" lIns="0" tIns="0" rIns="0" bIns="0" rtlCol="0" anchor="ctr"/>
          <a:lstStyle/>
          <a:p>
            <a:pPr marL="0" indent="0" algn="ctr">
              <a:buNone/>
            </a:pPr>
            <a:r>
              <a:rPr lang="en-US" sz="2200" b="1" dirty="0">
                <a:solidFill>
                  <a:srgbClr val="E8722C"/>
                </a:solidFill>
                <a:latin typeface="Trebuchet MS" pitchFamily="34" charset="0"/>
                <a:ea typeface="Trebuchet MS" pitchFamily="34" charset="-122"/>
                <a:cs typeface="Trebuchet MS" pitchFamily="34" charset="-120"/>
              </a:rPr>
              <a:t>›</a:t>
            </a:r>
            <a:endParaRPr lang="en-US" sz="2200" dirty="0"/>
          </a:p>
        </p:txBody>
      </p:sp>
      <p:sp>
        <p:nvSpPr>
          <p:cNvPr id="14" name="card background">
            <a:extLst>
              <a:ext uri="{C183D7F6-B498-43B3-948B-1728B52AA6E4}">
                <adec:decorative xmlns:adec="http://schemas.microsoft.com/office/drawing/2017/decorative" val="1"/>
              </a:ext>
            </a:extLst>
          </p:cNvPr>
          <p:cNvSpPr/>
          <p:nvPr/>
        </p:nvSpPr>
        <p:spPr>
          <a:xfrm>
            <a:off x="4727448" y="1463040"/>
            <a:ext cx="1801368" cy="1417320"/>
          </a:xfrm>
          <a:prstGeom prst="roundRect">
            <a:avLst>
              <a:gd name="adj" fmla="val 3871"/>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5" name="card top edge">
            <a:extLst>
              <a:ext uri="{C183D7F6-B498-43B3-948B-1728B52AA6E4}">
                <adec:decorative xmlns:adec="http://schemas.microsoft.com/office/drawing/2017/decorative" val="1"/>
              </a:ext>
            </a:extLst>
          </p:cNvPr>
          <p:cNvSpPr/>
          <p:nvPr/>
        </p:nvSpPr>
        <p:spPr>
          <a:xfrm>
            <a:off x="4727448" y="1463040"/>
            <a:ext cx="1801368" cy="64008"/>
          </a:xfrm>
          <a:prstGeom prst="rect">
            <a:avLst/>
          </a:prstGeom>
          <a:solidFill>
            <a:srgbClr val="F2A65A"/>
          </a:solidFill>
          <a:ln w="12700">
            <a:solidFill>
              <a:srgbClr val="F2A65A"/>
            </a:solidFill>
            <a:prstDash val="solid"/>
          </a:ln>
        </p:spPr>
        <p:txBody>
          <a:bodyPr/>
          <a:lstStyle/>
          <a:p>
            <a:endParaRPr lang="en-SE"/>
          </a:p>
        </p:txBody>
      </p:sp>
      <p:sp>
        <p:nvSpPr>
          <p:cNvPr id="16" name="Text 14"/>
          <p:cNvSpPr/>
          <p:nvPr/>
        </p:nvSpPr>
        <p:spPr>
          <a:xfrm>
            <a:off x="4873752" y="1645920"/>
            <a:ext cx="1508760" cy="310896"/>
          </a:xfrm>
          <a:prstGeom prst="rect">
            <a:avLst/>
          </a:prstGeom>
          <a:noFill/>
          <a:ln/>
        </p:spPr>
        <p:txBody>
          <a:bodyPr wrap="square" lIns="0" tIns="0" rIns="0" bIns="0" rtlCol="0" anchor="ctr"/>
          <a:lstStyle/>
          <a:p>
            <a:pPr marL="0" indent="0" algn="ctr">
              <a:buNone/>
            </a:pPr>
            <a:r>
              <a:rPr lang="en-US" sz="1300" b="1" dirty="0">
                <a:solidFill>
                  <a:srgbClr val="F2A65A"/>
                </a:solidFill>
                <a:latin typeface="Trebuchet MS" pitchFamily="34" charset="0"/>
                <a:ea typeface="Trebuchet MS" pitchFamily="34" charset="-122"/>
                <a:cs typeface="Trebuchet MS" pitchFamily="34" charset="-120"/>
              </a:rPr>
              <a:t>First admin call</a:t>
            </a:r>
            <a:endParaRPr lang="en-US" sz="1300" dirty="0"/>
          </a:p>
        </p:txBody>
      </p:sp>
      <p:sp>
        <p:nvSpPr>
          <p:cNvPr id="17" name="Text 15"/>
          <p:cNvSpPr/>
          <p:nvPr/>
        </p:nvSpPr>
        <p:spPr>
          <a:xfrm>
            <a:off x="4855464" y="1975104"/>
            <a:ext cx="1545336" cy="795528"/>
          </a:xfrm>
          <a:prstGeom prst="rect">
            <a:avLst/>
          </a:prstGeom>
          <a:noFill/>
          <a:ln/>
        </p:spPr>
        <p:txBody>
          <a:bodyPr wrap="square" lIns="0" tIns="0" rIns="0" bIns="0" rtlCol="0" anchor="t"/>
          <a:lstStyle/>
          <a:p>
            <a:pPr marL="0" indent="0" algn="ctr">
              <a:buNone/>
            </a:pPr>
            <a:r>
              <a:rPr lang="en-US" sz="1050" dirty="0">
                <a:solidFill>
                  <a:srgbClr val="D5DAE0"/>
                </a:solidFill>
                <a:latin typeface="Calibri" pitchFamily="34" charset="0"/>
                <a:ea typeface="Calibri" pitchFamily="34" charset="-122"/>
                <a:cs typeface="Calibri" pitchFamily="34" charset="-120"/>
              </a:rPr>
              <a:t>The gateway asks the engine once and remembers the answer</a:t>
            </a:r>
            <a:endParaRPr lang="en-US" sz="1050" dirty="0"/>
          </a:p>
        </p:txBody>
      </p:sp>
      <p:sp>
        <p:nvSpPr>
          <p:cNvPr id="18" name="Text 16"/>
          <p:cNvSpPr/>
          <p:nvPr/>
        </p:nvSpPr>
        <p:spPr>
          <a:xfrm>
            <a:off x="6528816" y="1952244"/>
            <a:ext cx="310896" cy="438912"/>
          </a:xfrm>
          <a:prstGeom prst="rect">
            <a:avLst/>
          </a:prstGeom>
          <a:noFill/>
          <a:ln/>
        </p:spPr>
        <p:txBody>
          <a:bodyPr wrap="square" lIns="0" tIns="0" rIns="0" bIns="0" rtlCol="0" anchor="ctr"/>
          <a:lstStyle/>
          <a:p>
            <a:pPr marL="0" indent="0" algn="ctr">
              <a:buNone/>
            </a:pPr>
            <a:r>
              <a:rPr lang="en-US" sz="2200" b="1" dirty="0">
                <a:solidFill>
                  <a:srgbClr val="E8722C"/>
                </a:solidFill>
                <a:latin typeface="Trebuchet MS" pitchFamily="34" charset="0"/>
                <a:ea typeface="Trebuchet MS" pitchFamily="34" charset="-122"/>
                <a:cs typeface="Trebuchet MS" pitchFamily="34" charset="-120"/>
              </a:rPr>
              <a:t>›</a:t>
            </a:r>
            <a:endParaRPr lang="en-US" sz="2200" dirty="0"/>
          </a:p>
        </p:txBody>
      </p:sp>
      <p:sp>
        <p:nvSpPr>
          <p:cNvPr id="19" name="card background">
            <a:extLst>
              <a:ext uri="{C183D7F6-B498-43B3-948B-1728B52AA6E4}">
                <adec:decorative xmlns:adec="http://schemas.microsoft.com/office/drawing/2017/decorative" val="1"/>
              </a:ext>
            </a:extLst>
          </p:cNvPr>
          <p:cNvSpPr/>
          <p:nvPr/>
        </p:nvSpPr>
        <p:spPr>
          <a:xfrm>
            <a:off x="6839712" y="1463040"/>
            <a:ext cx="1801368" cy="1417320"/>
          </a:xfrm>
          <a:prstGeom prst="roundRect">
            <a:avLst>
              <a:gd name="adj" fmla="val 3871"/>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20" name="card top edge">
            <a:extLst>
              <a:ext uri="{C183D7F6-B498-43B3-948B-1728B52AA6E4}">
                <adec:decorative xmlns:adec="http://schemas.microsoft.com/office/drawing/2017/decorative" val="1"/>
              </a:ext>
            </a:extLst>
          </p:cNvPr>
          <p:cNvSpPr/>
          <p:nvPr/>
        </p:nvSpPr>
        <p:spPr>
          <a:xfrm>
            <a:off x="6839712" y="1463040"/>
            <a:ext cx="1801368" cy="64008"/>
          </a:xfrm>
          <a:prstGeom prst="rect">
            <a:avLst/>
          </a:prstGeom>
          <a:solidFill>
            <a:srgbClr val="8B7BD8"/>
          </a:solidFill>
          <a:ln w="12700">
            <a:solidFill>
              <a:srgbClr val="8B7BD8"/>
            </a:solidFill>
            <a:prstDash val="solid"/>
          </a:ln>
        </p:spPr>
        <p:txBody>
          <a:bodyPr/>
          <a:lstStyle/>
          <a:p>
            <a:endParaRPr lang="en-SE"/>
          </a:p>
        </p:txBody>
      </p:sp>
      <p:sp>
        <p:nvSpPr>
          <p:cNvPr id="21" name="Text 19"/>
          <p:cNvSpPr/>
          <p:nvPr/>
        </p:nvSpPr>
        <p:spPr>
          <a:xfrm>
            <a:off x="6986016" y="1645920"/>
            <a:ext cx="1508760" cy="310896"/>
          </a:xfrm>
          <a:prstGeom prst="rect">
            <a:avLst/>
          </a:prstGeom>
          <a:noFill/>
          <a:ln/>
        </p:spPr>
        <p:txBody>
          <a:bodyPr wrap="square" lIns="0" tIns="0" rIns="0" bIns="0" rtlCol="0" anchor="ctr"/>
          <a:lstStyle/>
          <a:p>
            <a:pPr marL="0" indent="0" algn="ctr">
              <a:buNone/>
            </a:pPr>
            <a:r>
              <a:rPr lang="en-US" sz="1300" b="1" dirty="0">
                <a:solidFill>
                  <a:srgbClr val="8B7BD8"/>
                </a:solidFill>
                <a:latin typeface="Trebuchet MS" pitchFamily="34" charset="0"/>
                <a:ea typeface="Trebuchet MS" pitchFamily="34" charset="-122"/>
                <a:cs typeface="Trebuchet MS" pitchFamily="34" charset="-120"/>
              </a:rPr>
              <a:t>Decision</a:t>
            </a:r>
            <a:endParaRPr lang="en-US" sz="1300" dirty="0"/>
          </a:p>
        </p:txBody>
      </p:sp>
      <p:sp>
        <p:nvSpPr>
          <p:cNvPr id="22" name="Text 20"/>
          <p:cNvSpPr/>
          <p:nvPr/>
        </p:nvSpPr>
        <p:spPr>
          <a:xfrm>
            <a:off x="6967728" y="1975104"/>
            <a:ext cx="1545336" cy="795528"/>
          </a:xfrm>
          <a:prstGeom prst="rect">
            <a:avLst/>
          </a:prstGeom>
          <a:noFill/>
          <a:ln/>
        </p:spPr>
        <p:txBody>
          <a:bodyPr wrap="square" lIns="0" tIns="0" rIns="0" bIns="0" rtlCol="0" anchor="t"/>
          <a:lstStyle/>
          <a:p>
            <a:pPr marL="0" indent="0" algn="ctr">
              <a:buNone/>
            </a:pPr>
            <a:r>
              <a:rPr lang="en-US" sz="1050" dirty="0">
                <a:solidFill>
                  <a:srgbClr val="D5DAE0"/>
                </a:solidFill>
                <a:latin typeface="Calibri" pitchFamily="34" charset="0"/>
                <a:ea typeface="Calibri" pitchFamily="34" charset="-122"/>
                <a:cs typeface="Calibri" pitchFamily="34" charset="-120"/>
              </a:rPr>
              <a:t>Allowed, or refused with a role error</a:t>
            </a:r>
            <a:endParaRPr lang="en-US" sz="1050" dirty="0"/>
          </a:p>
        </p:txBody>
      </p:sp>
      <p:sp>
        <p:nvSpPr>
          <p:cNvPr id="23" name="card background">
            <a:extLst>
              <a:ext uri="{C183D7F6-B498-43B3-948B-1728B52AA6E4}">
                <adec:decorative xmlns:adec="http://schemas.microsoft.com/office/drawing/2017/decorative" val="1"/>
              </a:ext>
            </a:extLst>
          </p:cNvPr>
          <p:cNvSpPr/>
          <p:nvPr/>
        </p:nvSpPr>
        <p:spPr>
          <a:xfrm>
            <a:off x="502920" y="3154680"/>
            <a:ext cx="8138160" cy="1280160"/>
          </a:xfrm>
          <a:prstGeom prst="roundRect">
            <a:avLst>
              <a:gd name="adj" fmla="val 4286"/>
            </a:avLst>
          </a:prstGeom>
          <a:solidFill>
            <a:srgbClr val="2E353D"/>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24" name="Text 22"/>
          <p:cNvSpPr/>
          <p:nvPr/>
        </p:nvSpPr>
        <p:spPr>
          <a:xfrm>
            <a:off x="713232" y="3255264"/>
            <a:ext cx="3657600" cy="292608"/>
          </a:xfrm>
          <a:prstGeom prst="rect">
            <a:avLst/>
          </a:prstGeom>
          <a:noFill/>
          <a:ln/>
        </p:spPr>
        <p:txBody>
          <a:bodyPr wrap="square" lIns="0" tIns="0" rIns="0" bIns="0" rtlCol="0" anchor="ctr"/>
          <a:lstStyle/>
          <a:p>
            <a:pPr marL="0" indent="0">
              <a:buNone/>
            </a:pPr>
            <a:r>
              <a:rPr lang="en-US" sz="1300" b="1" dirty="0">
                <a:solidFill>
                  <a:srgbClr val="E8722C"/>
                </a:solidFill>
                <a:latin typeface="Trebuchet MS" pitchFamily="34" charset="0"/>
                <a:ea typeface="Trebuchet MS" pitchFamily="34" charset="-122"/>
                <a:cs typeface="Trebuchet MS" pitchFamily="34" charset="-120"/>
              </a:rPr>
              <a:t>Why it works this way</a:t>
            </a:r>
            <a:endParaRPr lang="en-US" sz="1300" dirty="0"/>
          </a:p>
        </p:txBody>
      </p:sp>
      <p:sp>
        <p:nvSpPr>
          <p:cNvPr id="25" name="Text 23"/>
          <p:cNvSpPr/>
          <p:nvPr/>
        </p:nvSpPr>
        <p:spPr>
          <a:xfrm>
            <a:off x="713232" y="3602736"/>
            <a:ext cx="7680960" cy="731520"/>
          </a:xfrm>
          <a:prstGeom prst="rect">
            <a:avLst/>
          </a:prstGeom>
          <a:noFill/>
          <a:ln/>
        </p:spPr>
        <p:txBody>
          <a:bodyPr wrap="square" lIns="0" tIns="0" rIns="0" bIns="0" rtlCol="0" anchor="ctr"/>
          <a:lstStyle/>
          <a:p>
            <a:pPr marL="0" indent="0">
              <a:buNone/>
            </a:pPr>
            <a:r>
              <a:rPr lang="en-US" sz="1200" dirty="0">
                <a:solidFill>
                  <a:srgbClr val="D5DAE0"/>
                </a:solidFill>
                <a:latin typeface="Calibri" pitchFamily="34" charset="0"/>
                <a:ea typeface="Calibri" pitchFamily="34" charset="-122"/>
                <a:cs typeface="Calibri" pitchFamily="34" charset="-120"/>
              </a:rPr>
              <a:t>Roles are a property of the exchange participant, not of the API key. That keeps one source of truth: change an identity's role at the exchange and every client using it follows automatically. The trade-off is a single extra round trip on your first administrative call.</a:t>
            </a:r>
            <a:endParaRPr lang="en-US" sz="1200" dirty="0"/>
          </a:p>
        </p:txBody>
      </p:sp>
      <p:sp>
        <p:nvSpPr>
          <p:cNvPr id="26" name="Text 24"/>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API keys and access</a:t>
            </a:r>
            <a:endParaRPr lang="en-US" sz="900" dirty="0"/>
          </a:p>
        </p:txBody>
      </p:sp>
      <p:sp>
        <p:nvSpPr>
          <p:cNvPr id="27" name="Text 25"/>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8138160" cy="548640"/>
          </a:xfrm>
          <a:prstGeom prst="rect">
            <a:avLst/>
          </a:prstGeom>
          <a:noFill/>
          <a:ln/>
        </p:spPr>
        <p:txBody>
          <a:bodyPr wrap="square" lIns="0" tIns="0" rIns="0" bIns="0" rtlCol="0" anchor="ctr"/>
          <a:lstStyle/>
          <a:p>
            <a:pPr marL="0" indent="0">
              <a:buNone/>
            </a:pPr>
            <a:r>
              <a:rPr lang="en-US" sz="2700" b="1" dirty="0">
                <a:solidFill>
                  <a:srgbClr val="F3F5F7"/>
                </a:solidFill>
                <a:latin typeface="Trebuchet MS" pitchFamily="34" charset="0"/>
                <a:ea typeface="Trebuchet MS" pitchFamily="34" charset="-122"/>
                <a:cs typeface="Trebuchet MS" pitchFamily="34" charset="-120"/>
              </a:rPr>
              <a:t>Handling keys sensibly</a:t>
            </a:r>
            <a:endParaRPr lang="en-US" sz="2700" dirty="0"/>
          </a:p>
        </p:txBody>
      </p:sp>
      <p:sp>
        <p:nvSpPr>
          <p:cNvPr id="3" name="Text 1"/>
          <p:cNvSpPr/>
          <p:nvPr/>
        </p:nvSpPr>
        <p:spPr>
          <a:xfrm>
            <a:off x="502920" y="841248"/>
            <a:ext cx="8138160" cy="237744"/>
          </a:xfrm>
          <a:prstGeom prst="rect">
            <a:avLst/>
          </a:prstGeom>
          <a:noFill/>
          <a:ln/>
        </p:spPr>
        <p:txBody>
          <a:bodyPr wrap="square" lIns="0" tIns="0" rIns="0" bIns="0" rtlCol="0" anchor="ctr"/>
          <a:lstStyle/>
          <a:p>
            <a:pPr marL="0" indent="0">
              <a:buNone/>
            </a:pPr>
            <a:r>
              <a:rPr lang="en-US" sz="1100" b="1" kern="0" spc="200" dirty="0">
                <a:solidFill>
                  <a:srgbClr val="E8722C"/>
                </a:solidFill>
                <a:latin typeface="Calibri" pitchFamily="34" charset="0"/>
                <a:ea typeface="Calibri" pitchFamily="34" charset="-122"/>
                <a:cs typeface="Calibri" pitchFamily="34" charset="-120"/>
              </a:rPr>
              <a:t>PRACTICE</a:t>
            </a:r>
            <a:endParaRPr lang="en-US" sz="1100" dirty="0"/>
          </a:p>
        </p:txBody>
      </p:sp>
      <p:sp>
        <p:nvSpPr>
          <p:cNvPr id="4" name="card background">
            <a:extLst>
              <a:ext uri="{C183D7F6-B498-43B3-948B-1728B52AA6E4}">
                <adec:decorative xmlns:adec="http://schemas.microsoft.com/office/drawing/2017/decorative" val="1"/>
              </a:ext>
            </a:extLst>
          </p:cNvPr>
          <p:cNvSpPr/>
          <p:nvPr/>
        </p:nvSpPr>
        <p:spPr>
          <a:xfrm>
            <a:off x="502920" y="1280160"/>
            <a:ext cx="2566416" cy="1417320"/>
          </a:xfrm>
          <a:prstGeom prst="roundRect">
            <a:avLst>
              <a:gd name="adj" fmla="val 3871"/>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5" name="Text 3">
            <a:extLst>
              <a:ext uri="{C183D7F6-B498-43B3-948B-1728B52AA6E4}">
                <adec:decorative xmlns:adec="http://schemas.microsoft.com/office/drawing/2017/decorative" val="1"/>
              </a:ext>
            </a:extLst>
          </p:cNvPr>
          <p:cNvSpPr/>
          <p:nvPr/>
        </p:nvSpPr>
        <p:spPr>
          <a:xfrm>
            <a:off x="722376" y="1463040"/>
            <a:ext cx="2164080" cy="329184"/>
          </a:xfrm>
          <a:prstGeom prst="rect">
            <a:avLst/>
          </a:prstGeom>
          <a:noFill/>
          <a:ln/>
        </p:spPr>
        <p:txBody>
          <a:bodyPr wrap="square" lIns="0" tIns="0" rIns="0" bIns="0" rtlCol="0" anchor="ctr"/>
          <a:lstStyle/>
          <a:p>
            <a:pPr marL="0" indent="0">
              <a:buNone/>
            </a:pPr>
            <a:r>
              <a:rPr lang="en-US" sz="1400" b="1" dirty="0">
                <a:solidFill>
                  <a:srgbClr val="E8722C"/>
                </a:solidFill>
                <a:latin typeface="Trebuchet MS" pitchFamily="34" charset="0"/>
                <a:ea typeface="Trebuchet MS" pitchFamily="34" charset="-122"/>
                <a:cs typeface="Trebuchet MS" pitchFamily="34" charset="-120"/>
              </a:rPr>
              <a:t>Keep them out of code</a:t>
            </a:r>
            <a:endParaRPr lang="en-US" sz="1400" dirty="0"/>
          </a:p>
        </p:txBody>
      </p:sp>
      <p:sp>
        <p:nvSpPr>
          <p:cNvPr id="6" name="Text 4"/>
          <p:cNvSpPr/>
          <p:nvPr/>
        </p:nvSpPr>
        <p:spPr>
          <a:xfrm>
            <a:off x="722376" y="1828800"/>
            <a:ext cx="2127504" cy="75895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Read the key from an environment variable or a local settings file — never paste it into a source file you will share.</a:t>
            </a:r>
            <a:endParaRPr lang="en-US" sz="1050" dirty="0"/>
          </a:p>
        </p:txBody>
      </p:sp>
      <p:sp>
        <p:nvSpPr>
          <p:cNvPr id="7" name="card background">
            <a:extLst>
              <a:ext uri="{C183D7F6-B498-43B3-948B-1728B52AA6E4}">
                <adec:decorative xmlns:adec="http://schemas.microsoft.com/office/drawing/2017/decorative" val="1"/>
              </a:ext>
            </a:extLst>
          </p:cNvPr>
          <p:cNvSpPr/>
          <p:nvPr/>
        </p:nvSpPr>
        <p:spPr>
          <a:xfrm>
            <a:off x="3288792" y="1280160"/>
            <a:ext cx="2566416" cy="1417320"/>
          </a:xfrm>
          <a:prstGeom prst="roundRect">
            <a:avLst>
              <a:gd name="adj" fmla="val 3871"/>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8" name="Text 6"/>
          <p:cNvSpPr/>
          <p:nvPr/>
        </p:nvSpPr>
        <p:spPr>
          <a:xfrm>
            <a:off x="3508248" y="1463040"/>
            <a:ext cx="2164080" cy="329184"/>
          </a:xfrm>
          <a:prstGeom prst="rect">
            <a:avLst/>
          </a:prstGeom>
          <a:noFill/>
          <a:ln/>
        </p:spPr>
        <p:txBody>
          <a:bodyPr wrap="square" lIns="0" tIns="0" rIns="0" bIns="0" rtlCol="0" anchor="ctr"/>
          <a:lstStyle/>
          <a:p>
            <a:pPr marL="0" indent="0">
              <a:buNone/>
            </a:pPr>
            <a:r>
              <a:rPr lang="en-US" sz="1400" b="1" dirty="0">
                <a:solidFill>
                  <a:srgbClr val="D9534F"/>
                </a:solidFill>
                <a:latin typeface="Trebuchet MS" pitchFamily="34" charset="0"/>
                <a:ea typeface="Trebuchet MS" pitchFamily="34" charset="-122"/>
                <a:cs typeface="Trebuchet MS" pitchFamily="34" charset="-120"/>
              </a:rPr>
              <a:t>Never ship them to a browser</a:t>
            </a:r>
            <a:endParaRPr lang="en-US" sz="1400" dirty="0"/>
          </a:p>
        </p:txBody>
      </p:sp>
      <p:sp>
        <p:nvSpPr>
          <p:cNvPr id="9" name="Text 7">
            <a:extLst>
              <a:ext uri="{C183D7F6-B498-43B3-948B-1728B52AA6E4}">
                <adec:decorative xmlns:adec="http://schemas.microsoft.com/office/drawing/2017/decorative" val="1"/>
              </a:ext>
            </a:extLst>
          </p:cNvPr>
          <p:cNvSpPr/>
          <p:nvPr/>
        </p:nvSpPr>
        <p:spPr>
          <a:xfrm>
            <a:off x="3508248" y="1828800"/>
            <a:ext cx="2127504" cy="75895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A key in front-end JavaScript is public. Put a small server of your own in between.</a:t>
            </a:r>
            <a:endParaRPr lang="en-US" sz="1050" dirty="0"/>
          </a:p>
        </p:txBody>
      </p:sp>
      <p:sp>
        <p:nvSpPr>
          <p:cNvPr id="10" name="card background">
            <a:extLst>
              <a:ext uri="{C183D7F6-B498-43B3-948B-1728B52AA6E4}">
                <adec:decorative xmlns:adec="http://schemas.microsoft.com/office/drawing/2017/decorative" val="1"/>
              </a:ext>
            </a:extLst>
          </p:cNvPr>
          <p:cNvSpPr/>
          <p:nvPr/>
        </p:nvSpPr>
        <p:spPr>
          <a:xfrm>
            <a:off x="6074664" y="1280160"/>
            <a:ext cx="2566416" cy="1417320"/>
          </a:xfrm>
          <a:prstGeom prst="roundRect">
            <a:avLst>
              <a:gd name="adj" fmla="val 3871"/>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1" name="Text 9"/>
          <p:cNvSpPr/>
          <p:nvPr/>
        </p:nvSpPr>
        <p:spPr>
          <a:xfrm>
            <a:off x="6294120" y="1463040"/>
            <a:ext cx="2164080" cy="329184"/>
          </a:xfrm>
          <a:prstGeom prst="rect">
            <a:avLst/>
          </a:prstGeom>
          <a:noFill/>
          <a:ln/>
        </p:spPr>
        <p:txBody>
          <a:bodyPr wrap="square" lIns="0" tIns="0" rIns="0" bIns="0" rtlCol="0" anchor="ctr"/>
          <a:lstStyle/>
          <a:p>
            <a:pPr marL="0" indent="0">
              <a:buNone/>
            </a:pPr>
            <a:r>
              <a:rPr lang="en-US" sz="1400" b="1" dirty="0">
                <a:solidFill>
                  <a:srgbClr val="35A79C"/>
                </a:solidFill>
                <a:latin typeface="Trebuchet MS" pitchFamily="34" charset="0"/>
                <a:ea typeface="Trebuchet MS" pitchFamily="34" charset="-122"/>
                <a:cs typeface="Trebuchet MS" pitchFamily="34" charset="-120"/>
              </a:rPr>
              <a:t>One key per purpose</a:t>
            </a:r>
            <a:endParaRPr lang="en-US" sz="1400" dirty="0"/>
          </a:p>
        </p:txBody>
      </p:sp>
      <p:sp>
        <p:nvSpPr>
          <p:cNvPr id="12" name="Text 10"/>
          <p:cNvSpPr/>
          <p:nvPr/>
        </p:nvSpPr>
        <p:spPr>
          <a:xfrm>
            <a:off x="6294120" y="1828800"/>
            <a:ext cx="2127504" cy="75895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A separate key per bot, screen or classroom group makes rate limits and audit trails meaningful.</a:t>
            </a:r>
            <a:endParaRPr lang="en-US" sz="1050" dirty="0"/>
          </a:p>
        </p:txBody>
      </p:sp>
      <p:sp>
        <p:nvSpPr>
          <p:cNvPr id="13" name="card background">
            <a:extLst>
              <a:ext uri="{C183D7F6-B498-43B3-948B-1728B52AA6E4}">
                <adec:decorative xmlns:adec="http://schemas.microsoft.com/office/drawing/2017/decorative" val="1"/>
              </a:ext>
            </a:extLst>
          </p:cNvPr>
          <p:cNvSpPr/>
          <p:nvPr/>
        </p:nvSpPr>
        <p:spPr>
          <a:xfrm>
            <a:off x="502920" y="2898648"/>
            <a:ext cx="2566416" cy="1417320"/>
          </a:xfrm>
          <a:prstGeom prst="roundRect">
            <a:avLst>
              <a:gd name="adj" fmla="val 3871"/>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4" name="step marker">
            <a:extLst>
              <a:ext uri="{C183D7F6-B498-43B3-948B-1728B52AA6E4}">
                <adec:decorative xmlns:adec="http://schemas.microsoft.com/office/drawing/2017/decorative" val="1"/>
              </a:ext>
            </a:extLst>
          </p:cNvPr>
          <p:cNvSpPr/>
          <p:nvPr/>
        </p:nvSpPr>
        <p:spPr>
          <a:xfrm>
            <a:off x="704088" y="3081528"/>
            <a:ext cx="310896" cy="310896"/>
          </a:xfrm>
          <a:prstGeom prst="ellipse">
            <a:avLst/>
          </a:prstGeom>
          <a:solidFill>
            <a:srgbClr val="F2A65A"/>
          </a:solidFill>
          <a:ln w="12700">
            <a:solidFill>
              <a:srgbClr val="F2A65A"/>
            </a:solidFill>
            <a:prstDash val="solid"/>
          </a:ln>
        </p:spPr>
        <p:txBody>
          <a:bodyPr/>
          <a:lstStyle/>
          <a:p>
            <a:endParaRPr lang="en-SE"/>
          </a:p>
        </p:txBody>
      </p:sp>
      <p:sp>
        <p:nvSpPr>
          <p:cNvPr id="15" name="Text 13">
            <a:extLst>
              <a:ext uri="{C183D7F6-B498-43B3-948B-1728B52AA6E4}">
                <adec:decorative xmlns:adec="http://schemas.microsoft.com/office/drawing/2017/decorative" val="1"/>
              </a:ext>
            </a:extLst>
          </p:cNvPr>
          <p:cNvSpPr/>
          <p:nvPr/>
        </p:nvSpPr>
        <p:spPr>
          <a:xfrm>
            <a:off x="704088" y="3081528"/>
            <a:ext cx="310896" cy="310896"/>
          </a:xfrm>
          <a:prstGeom prst="rect">
            <a:avLst/>
          </a:prstGeom>
          <a:noFill/>
          <a:ln/>
        </p:spPr>
        <p:txBody>
          <a:bodyPr wrap="square" lIns="0" tIns="0" rIns="0" bIns="0" rtlCol="0" anchor="ctr"/>
          <a:lstStyle/>
          <a:p>
            <a:pPr marL="0" indent="0" algn="ctr">
              <a:buNone/>
            </a:pPr>
            <a:endParaRPr lang="en-US" sz="1300" dirty="0"/>
          </a:p>
        </p:txBody>
      </p:sp>
      <p:sp>
        <p:nvSpPr>
          <p:cNvPr id="16" name="Text 14"/>
          <p:cNvSpPr/>
          <p:nvPr/>
        </p:nvSpPr>
        <p:spPr>
          <a:xfrm>
            <a:off x="1106424" y="3081528"/>
            <a:ext cx="1780032" cy="329184"/>
          </a:xfrm>
          <a:prstGeom prst="rect">
            <a:avLst/>
          </a:prstGeom>
          <a:noFill/>
          <a:ln/>
        </p:spPr>
        <p:txBody>
          <a:bodyPr wrap="square" lIns="0" tIns="0" rIns="0" bIns="0" rtlCol="0" anchor="ctr"/>
          <a:lstStyle/>
          <a:p>
            <a:pPr marL="0" indent="0">
              <a:buNone/>
            </a:pPr>
            <a:r>
              <a:rPr lang="en-US" sz="1400" b="1" dirty="0">
                <a:solidFill>
                  <a:srgbClr val="F2A65A"/>
                </a:solidFill>
                <a:latin typeface="Trebuchet MS" pitchFamily="34" charset="0"/>
                <a:ea typeface="Trebuchet MS" pitchFamily="34" charset="-122"/>
                <a:cs typeface="Trebuchet MS" pitchFamily="34" charset="-120"/>
              </a:rPr>
              <a:t>Prefer the weakest key</a:t>
            </a:r>
            <a:endParaRPr lang="en-US" sz="1400" dirty="0"/>
          </a:p>
        </p:txBody>
      </p:sp>
      <p:sp>
        <p:nvSpPr>
          <p:cNvPr id="17" name="Text 15"/>
          <p:cNvSpPr/>
          <p:nvPr/>
        </p:nvSpPr>
        <p:spPr>
          <a:xfrm>
            <a:off x="722376" y="3447288"/>
            <a:ext cx="2127504" cy="75895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If a client only displays prices, give it a read-only key. It then cannot trade by accident.</a:t>
            </a:r>
            <a:endParaRPr lang="en-US" sz="1050" dirty="0"/>
          </a:p>
        </p:txBody>
      </p:sp>
      <p:sp>
        <p:nvSpPr>
          <p:cNvPr id="18" name="card background">
            <a:extLst>
              <a:ext uri="{C183D7F6-B498-43B3-948B-1728B52AA6E4}">
                <adec:decorative xmlns:adec="http://schemas.microsoft.com/office/drawing/2017/decorative" val="1"/>
              </a:ext>
            </a:extLst>
          </p:cNvPr>
          <p:cNvSpPr/>
          <p:nvPr/>
        </p:nvSpPr>
        <p:spPr>
          <a:xfrm>
            <a:off x="3288792" y="2898648"/>
            <a:ext cx="2566416" cy="1417320"/>
          </a:xfrm>
          <a:prstGeom prst="roundRect">
            <a:avLst>
              <a:gd name="adj" fmla="val 3871"/>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9" name="step marker">
            <a:extLst>
              <a:ext uri="{C183D7F6-B498-43B3-948B-1728B52AA6E4}">
                <adec:decorative xmlns:adec="http://schemas.microsoft.com/office/drawing/2017/decorative" val="1"/>
              </a:ext>
            </a:extLst>
          </p:cNvPr>
          <p:cNvSpPr/>
          <p:nvPr/>
        </p:nvSpPr>
        <p:spPr>
          <a:xfrm>
            <a:off x="3489960" y="3081528"/>
            <a:ext cx="310896" cy="310896"/>
          </a:xfrm>
          <a:prstGeom prst="ellipse">
            <a:avLst/>
          </a:prstGeom>
          <a:solidFill>
            <a:srgbClr val="8B7BD8"/>
          </a:solidFill>
          <a:ln w="12700">
            <a:solidFill>
              <a:srgbClr val="8B7BD8"/>
            </a:solidFill>
            <a:prstDash val="solid"/>
          </a:ln>
        </p:spPr>
        <p:txBody>
          <a:bodyPr/>
          <a:lstStyle/>
          <a:p>
            <a:endParaRPr lang="en-SE"/>
          </a:p>
        </p:txBody>
      </p:sp>
      <p:sp>
        <p:nvSpPr>
          <p:cNvPr id="20" name="Text 18">
            <a:extLst>
              <a:ext uri="{C183D7F6-B498-43B3-948B-1728B52AA6E4}">
                <adec:decorative xmlns:adec="http://schemas.microsoft.com/office/drawing/2017/decorative" val="1"/>
              </a:ext>
            </a:extLst>
          </p:cNvPr>
          <p:cNvSpPr/>
          <p:nvPr/>
        </p:nvSpPr>
        <p:spPr>
          <a:xfrm>
            <a:off x="3489960" y="3081528"/>
            <a:ext cx="310896" cy="310896"/>
          </a:xfrm>
          <a:prstGeom prst="rect">
            <a:avLst/>
          </a:prstGeom>
          <a:noFill/>
          <a:ln/>
        </p:spPr>
        <p:txBody>
          <a:bodyPr wrap="square" lIns="0" tIns="0" rIns="0" bIns="0" rtlCol="0" anchor="ctr"/>
          <a:lstStyle/>
          <a:p>
            <a:pPr marL="0" indent="0" algn="ctr">
              <a:buNone/>
            </a:pPr>
            <a:endParaRPr lang="en-US" sz="1300" dirty="0"/>
          </a:p>
        </p:txBody>
      </p:sp>
      <p:sp>
        <p:nvSpPr>
          <p:cNvPr id="21" name="Text 19"/>
          <p:cNvSpPr/>
          <p:nvPr/>
        </p:nvSpPr>
        <p:spPr>
          <a:xfrm>
            <a:off x="3892296" y="3081528"/>
            <a:ext cx="1780032" cy="329184"/>
          </a:xfrm>
          <a:prstGeom prst="rect">
            <a:avLst/>
          </a:prstGeom>
          <a:noFill/>
          <a:ln/>
        </p:spPr>
        <p:txBody>
          <a:bodyPr wrap="square" lIns="0" tIns="0" rIns="0" bIns="0" rtlCol="0" anchor="ctr"/>
          <a:lstStyle/>
          <a:p>
            <a:pPr marL="0" indent="0">
              <a:buNone/>
            </a:pPr>
            <a:r>
              <a:rPr lang="en-US" sz="1400" b="1" dirty="0">
                <a:solidFill>
                  <a:srgbClr val="8B7BD8"/>
                </a:solidFill>
                <a:latin typeface="Trebuchet MS" pitchFamily="34" charset="0"/>
                <a:ea typeface="Trebuchet MS" pitchFamily="34" charset="-122"/>
                <a:cs typeface="Trebuchet MS" pitchFamily="34" charset="-120"/>
              </a:rPr>
              <a:t>Expect plain text in labs</a:t>
            </a:r>
            <a:endParaRPr lang="en-US" sz="1400" dirty="0"/>
          </a:p>
        </p:txBody>
      </p:sp>
      <p:sp>
        <p:nvSpPr>
          <p:cNvPr id="22" name="Text 20"/>
          <p:cNvSpPr/>
          <p:nvPr/>
        </p:nvSpPr>
        <p:spPr>
          <a:xfrm>
            <a:off x="3508248" y="3447288"/>
            <a:ext cx="2127504" cy="75895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Teaching setups keep keys in the configuration file. That is deliberate — and not a production pattern.</a:t>
            </a:r>
            <a:endParaRPr lang="en-US" sz="1050" dirty="0"/>
          </a:p>
        </p:txBody>
      </p:sp>
      <p:sp>
        <p:nvSpPr>
          <p:cNvPr id="23" name="card background">
            <a:extLst>
              <a:ext uri="{C183D7F6-B498-43B3-948B-1728B52AA6E4}">
                <adec:decorative xmlns:adec="http://schemas.microsoft.com/office/drawing/2017/decorative" val="1"/>
              </a:ext>
            </a:extLst>
          </p:cNvPr>
          <p:cNvSpPr/>
          <p:nvPr/>
        </p:nvSpPr>
        <p:spPr>
          <a:xfrm>
            <a:off x="6074664" y="2898648"/>
            <a:ext cx="2566416" cy="1417320"/>
          </a:xfrm>
          <a:prstGeom prst="roundRect">
            <a:avLst>
              <a:gd name="adj" fmla="val 3871"/>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24" name="Text 22">
            <a:extLst>
              <a:ext uri="{C183D7F6-B498-43B3-948B-1728B52AA6E4}">
                <adec:decorative xmlns:adec="http://schemas.microsoft.com/office/drawing/2017/decorative" val="1"/>
              </a:ext>
            </a:extLst>
          </p:cNvPr>
          <p:cNvSpPr/>
          <p:nvPr/>
        </p:nvSpPr>
        <p:spPr>
          <a:xfrm>
            <a:off x="6294120" y="3081528"/>
            <a:ext cx="2164080" cy="329184"/>
          </a:xfrm>
          <a:prstGeom prst="rect">
            <a:avLst/>
          </a:prstGeom>
          <a:noFill/>
          <a:ln/>
        </p:spPr>
        <p:txBody>
          <a:bodyPr wrap="square" lIns="0" tIns="0" rIns="0" bIns="0" rtlCol="0" anchor="ctr"/>
          <a:lstStyle/>
          <a:p>
            <a:pPr marL="0" indent="0">
              <a:buNone/>
            </a:pPr>
            <a:r>
              <a:rPr lang="en-US" sz="1400" b="1" dirty="0">
                <a:solidFill>
                  <a:srgbClr val="E8722C"/>
                </a:solidFill>
                <a:latin typeface="Trebuchet MS" pitchFamily="34" charset="0"/>
                <a:ea typeface="Trebuchet MS" pitchFamily="34" charset="-122"/>
                <a:cs typeface="Trebuchet MS" pitchFamily="34" charset="-120"/>
              </a:rPr>
              <a:t>Wrap for production</a:t>
            </a:r>
            <a:endParaRPr lang="en-US" sz="1400" dirty="0"/>
          </a:p>
        </p:txBody>
      </p:sp>
      <p:sp>
        <p:nvSpPr>
          <p:cNvPr id="25" name="Text 23">
            <a:extLst>
              <a:ext uri="{C183D7F6-B498-43B3-948B-1728B52AA6E4}">
                <adec:decorative xmlns:adec="http://schemas.microsoft.com/office/drawing/2017/decorative" val="1"/>
              </a:ext>
            </a:extLst>
          </p:cNvPr>
          <p:cNvSpPr/>
          <p:nvPr/>
        </p:nvSpPr>
        <p:spPr>
          <a:xfrm>
            <a:off x="6294120" y="3447288"/>
            <a:ext cx="2127504" cy="75895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Terminate encryption in front of the gateway and let your platform manage the secrets.</a:t>
            </a:r>
            <a:endParaRPr lang="en-US" sz="1050" dirty="0"/>
          </a:p>
        </p:txBody>
      </p:sp>
      <p:sp>
        <p:nvSpPr>
          <p:cNvPr id="26" name="Text 24"/>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API keys and access</a:t>
            </a:r>
            <a:endParaRPr lang="en-US" sz="900" dirty="0"/>
          </a:p>
        </p:txBody>
      </p:sp>
      <p:sp>
        <p:nvSpPr>
          <p:cNvPr id="27" name="Text 25"/>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8138160" cy="548640"/>
          </a:xfrm>
          <a:prstGeom prst="rect">
            <a:avLst/>
          </a:prstGeom>
          <a:noFill/>
          <a:ln/>
        </p:spPr>
        <p:txBody>
          <a:bodyPr wrap="square" lIns="0" tIns="0" rIns="0" bIns="0" rtlCol="0" anchor="ctr"/>
          <a:lstStyle/>
          <a:p>
            <a:pPr marL="0" indent="0">
              <a:buNone/>
            </a:pPr>
            <a:r>
              <a:rPr lang="en-US" sz="2700" b="1" dirty="0">
                <a:solidFill>
                  <a:srgbClr val="F3F5F7"/>
                </a:solidFill>
                <a:latin typeface="Trebuchet MS" pitchFamily="34" charset="0"/>
                <a:ea typeface="Trebuchet MS" pitchFamily="34" charset="-122"/>
                <a:cs typeface="Trebuchet MS" pitchFamily="34" charset="-120"/>
              </a:rPr>
              <a:t>The client library pattern</a:t>
            </a:r>
            <a:endParaRPr lang="en-US" sz="2700" dirty="0"/>
          </a:p>
        </p:txBody>
      </p:sp>
      <p:sp>
        <p:nvSpPr>
          <p:cNvPr id="3" name="Text 1"/>
          <p:cNvSpPr/>
          <p:nvPr/>
        </p:nvSpPr>
        <p:spPr>
          <a:xfrm>
            <a:off x="502920" y="841248"/>
            <a:ext cx="8138160" cy="237744"/>
          </a:xfrm>
          <a:prstGeom prst="rect">
            <a:avLst/>
          </a:prstGeom>
          <a:noFill/>
          <a:ln/>
        </p:spPr>
        <p:txBody>
          <a:bodyPr wrap="square" lIns="0" tIns="0" rIns="0" bIns="0" rtlCol="0" anchor="ctr"/>
          <a:lstStyle/>
          <a:p>
            <a:pPr marL="0" indent="0">
              <a:buNone/>
            </a:pPr>
            <a:r>
              <a:rPr lang="en-US" sz="1100" b="1" kern="0" spc="200" dirty="0">
                <a:solidFill>
                  <a:srgbClr val="E8722C"/>
                </a:solidFill>
                <a:latin typeface="Calibri" pitchFamily="34" charset="0"/>
                <a:ea typeface="Calibri" pitchFamily="34" charset="-122"/>
                <a:cs typeface="Calibri" pitchFamily="34" charset="-120"/>
              </a:rPr>
              <a:t>REUSE</a:t>
            </a:r>
            <a:endParaRPr lang="en-US" sz="1100" dirty="0"/>
          </a:p>
        </p:txBody>
      </p:sp>
      <p:sp>
        <p:nvSpPr>
          <p:cNvPr id="4" name="code panel">
            <a:extLst>
              <a:ext uri="{C183D7F6-B498-43B3-948B-1728B52AA6E4}">
                <adec:decorative xmlns:adec="http://schemas.microsoft.com/office/drawing/2017/decorative" val="1"/>
              </a:ext>
            </a:extLst>
          </p:cNvPr>
          <p:cNvSpPr/>
          <p:nvPr/>
        </p:nvSpPr>
        <p:spPr>
          <a:xfrm>
            <a:off x="502920" y="1188720"/>
            <a:ext cx="4114800" cy="2103120"/>
          </a:xfrm>
          <a:prstGeom prst="roundRect">
            <a:avLst>
              <a:gd name="adj" fmla="val 2174"/>
            </a:avLst>
          </a:prstGeom>
          <a:solidFill>
            <a:srgbClr val="121519"/>
          </a:solidFill>
          <a:ln w="12700">
            <a:solidFill>
              <a:srgbClr val="3A424B"/>
            </a:solidFill>
            <a:prstDash val="solid"/>
          </a:ln>
        </p:spPr>
        <p:txBody>
          <a:bodyPr/>
          <a:lstStyle/>
          <a:p>
            <a:endParaRPr lang="en-SE"/>
          </a:p>
        </p:txBody>
      </p:sp>
      <p:sp>
        <p:nvSpPr>
          <p:cNvPr id="5" name="code panel edge">
            <a:extLst>
              <a:ext uri="{C183D7F6-B498-43B3-948B-1728B52AA6E4}">
                <adec:decorative xmlns:adec="http://schemas.microsoft.com/office/drawing/2017/decorative" val="1"/>
              </a:ext>
            </a:extLst>
          </p:cNvPr>
          <p:cNvSpPr/>
          <p:nvPr/>
        </p:nvSpPr>
        <p:spPr>
          <a:xfrm>
            <a:off x="502920" y="1188720"/>
            <a:ext cx="54864" cy="2103120"/>
          </a:xfrm>
          <a:prstGeom prst="rect">
            <a:avLst/>
          </a:prstGeom>
          <a:solidFill>
            <a:srgbClr val="E8722C"/>
          </a:solidFill>
          <a:ln w="12700">
            <a:solidFill>
              <a:srgbClr val="E8722C"/>
            </a:solidFill>
            <a:prstDash val="solid"/>
          </a:ln>
        </p:spPr>
        <p:txBody>
          <a:bodyPr/>
          <a:lstStyle/>
          <a:p>
            <a:endParaRPr lang="en-SE"/>
          </a:p>
        </p:txBody>
      </p:sp>
      <p:sp>
        <p:nvSpPr>
          <p:cNvPr id="6" name="Text 4"/>
          <p:cNvSpPr/>
          <p:nvPr/>
        </p:nvSpPr>
        <p:spPr>
          <a:xfrm>
            <a:off x="704088" y="1316736"/>
            <a:ext cx="3749040" cy="1847088"/>
          </a:xfrm>
          <a:prstGeom prst="rect">
            <a:avLst/>
          </a:prstGeom>
          <a:noFill/>
          <a:ln/>
        </p:spPr>
        <p:txBody>
          <a:bodyPr wrap="square" lIns="0" tIns="0" rIns="0" bIns="0" rtlCol="0" anchor="t"/>
          <a:lstStyle/>
          <a:p>
            <a:pPr marL="0" indent="0">
              <a:buNone/>
            </a:pPr>
            <a:r>
              <a:rPr lang="en-US" sz="1050" dirty="0">
                <a:solidFill>
                  <a:srgbClr val="97A1AC"/>
                </a:solidFill>
                <a:latin typeface="Consolas" pitchFamily="34" charset="0"/>
                <a:ea typeface="Consolas" pitchFamily="34" charset="-122"/>
                <a:cs typeface="Consolas" pitchFamily="34" charset="-120"/>
              </a:rPr>
              <a:t># Python</a:t>
            </a:r>
            <a:endParaRPr lang="en-US" sz="1050" dirty="0"/>
          </a:p>
          <a:p>
            <a:pPr marL="0" indent="0">
              <a:buNone/>
            </a:pPr>
            <a:r>
              <a:rPr lang="en-US" sz="1050" dirty="0">
                <a:solidFill>
                  <a:srgbClr val="D5DAE0"/>
                </a:solidFill>
                <a:latin typeface="Consolas" pitchFamily="34" charset="0"/>
                <a:ea typeface="Consolas" pitchFamily="34" charset="-122"/>
                <a:cs typeface="Consolas" pitchFamily="34" charset="-120"/>
              </a:rPr>
              <a:t>from api_gateway_client import \</a:t>
            </a:r>
            <a:endParaRPr lang="en-US" sz="1050" dirty="0"/>
          </a:p>
          <a:p>
            <a:pPr marL="0" indent="0">
              <a:buNone/>
            </a:pPr>
            <a:r>
              <a:rPr lang="en-US" sz="1050" dirty="0">
                <a:solidFill>
                  <a:srgbClr val="D5DAE0"/>
                </a:solidFill>
                <a:latin typeface="Consolas" pitchFamily="34" charset="0"/>
                <a:ea typeface="Consolas" pitchFamily="34" charset="-122"/>
                <a:cs typeface="Consolas" pitchFamily="34" charset="-120"/>
              </a:rPr>
              <a:t>     ApiGatewayClient</a:t>
            </a:r>
            <a:endParaRPr lang="en-US" sz="1050" dirty="0"/>
          </a:p>
          <a:p>
            <a:pPr marL="0" indent="0">
              <a:buNone/>
            </a:pPr>
            <a:endParaRPr lang="en-US" sz="1050" dirty="0"/>
          </a:p>
          <a:p>
            <a:pPr marL="0" indent="0">
              <a:buNone/>
            </a:pPr>
            <a:r>
              <a:rPr lang="en-US" sz="1050" dirty="0">
                <a:solidFill>
                  <a:srgbClr val="D5DAE0"/>
                </a:solidFill>
                <a:latin typeface="Consolas" pitchFamily="34" charset="0"/>
                <a:ea typeface="Consolas" pitchFamily="34" charset="-122"/>
                <a:cs typeface="Consolas" pitchFamily="34" charset="-120"/>
              </a:rPr>
              <a:t>client = ApiGatewayClient(</a:t>
            </a:r>
            <a:endParaRPr lang="en-US" sz="1050" dirty="0"/>
          </a:p>
          <a:p>
            <a:pPr marL="0" indent="0">
              <a:buNone/>
            </a:pPr>
            <a:r>
              <a:rPr lang="en-US" sz="1050" dirty="0">
                <a:solidFill>
                  <a:srgbClr val="D5DAE0"/>
                </a:solidFill>
                <a:latin typeface="Consolas" pitchFamily="34" charset="0"/>
                <a:ea typeface="Consolas" pitchFamily="34" charset="-122"/>
                <a:cs typeface="Consolas" pitchFamily="34" charset="-120"/>
              </a:rPr>
              <a:t>   "http://127.0.0.1:8080",</a:t>
            </a:r>
            <a:endParaRPr lang="en-US" sz="1050" dirty="0"/>
          </a:p>
          <a:p>
            <a:pPr marL="0" indent="0">
              <a:buNone/>
            </a:pPr>
            <a:r>
              <a:rPr lang="en-US" sz="1050" dirty="0">
                <a:solidFill>
                  <a:srgbClr val="D5DAE0"/>
                </a:solidFill>
                <a:latin typeface="Consolas" pitchFamily="34" charset="0"/>
                <a:ea typeface="Consolas" pitchFamily="34" charset="-122"/>
                <a:cs typeface="Consolas" pitchFamily="34" charset="-120"/>
              </a:rPr>
              <a:t>   "key-trader-demo")</a:t>
            </a:r>
            <a:endParaRPr lang="en-US" sz="1050" dirty="0"/>
          </a:p>
          <a:p>
            <a:pPr marL="0" indent="0">
              <a:buNone/>
            </a:pPr>
            <a:endParaRPr lang="en-US" sz="1050" dirty="0"/>
          </a:p>
          <a:p>
            <a:pPr marL="0" indent="0">
              <a:buNone/>
            </a:pPr>
            <a:r>
              <a:rPr lang="en-US" sz="1050" dirty="0">
                <a:solidFill>
                  <a:srgbClr val="D5DAE0"/>
                </a:solidFill>
                <a:latin typeface="Consolas" pitchFamily="34" charset="0"/>
                <a:ea typeface="Consolas" pitchFamily="34" charset="-122"/>
                <a:cs typeface="Consolas" pitchFamily="34" charset="-120"/>
              </a:rPr>
              <a:t>print(client.get_json("/api/v1/status"))</a:t>
            </a:r>
            <a:endParaRPr lang="en-US" sz="1050" dirty="0"/>
          </a:p>
          <a:p>
            <a:pPr marL="0" indent="0">
              <a:buNone/>
            </a:pPr>
            <a:r>
              <a:rPr lang="en-US" sz="1050" dirty="0">
                <a:solidFill>
                  <a:srgbClr val="D5DAE0"/>
                </a:solidFill>
                <a:latin typeface="Consolas" pitchFamily="34" charset="0"/>
                <a:ea typeface="Consolas" pitchFamily="34" charset="-122"/>
                <a:cs typeface="Consolas" pitchFamily="34" charset="-120"/>
              </a:rPr>
              <a:t>print(client.get_json("/api/v1/symbols"))</a:t>
            </a:r>
            <a:endParaRPr lang="en-US" sz="1050" dirty="0"/>
          </a:p>
        </p:txBody>
      </p:sp>
      <p:sp>
        <p:nvSpPr>
          <p:cNvPr id="7" name="code panel">
            <a:extLst>
              <a:ext uri="{C183D7F6-B498-43B3-948B-1728B52AA6E4}">
                <adec:decorative xmlns:adec="http://schemas.microsoft.com/office/drawing/2017/decorative" val="1"/>
              </a:ext>
            </a:extLst>
          </p:cNvPr>
          <p:cNvSpPr/>
          <p:nvPr/>
        </p:nvSpPr>
        <p:spPr>
          <a:xfrm>
            <a:off x="4800600" y="1188720"/>
            <a:ext cx="3840480" cy="2103120"/>
          </a:xfrm>
          <a:prstGeom prst="roundRect">
            <a:avLst>
              <a:gd name="adj" fmla="val 2174"/>
            </a:avLst>
          </a:prstGeom>
          <a:solidFill>
            <a:srgbClr val="121519"/>
          </a:solidFill>
          <a:ln w="12700">
            <a:solidFill>
              <a:srgbClr val="3A424B"/>
            </a:solidFill>
            <a:prstDash val="solid"/>
          </a:ln>
        </p:spPr>
        <p:txBody>
          <a:bodyPr/>
          <a:lstStyle/>
          <a:p>
            <a:endParaRPr lang="en-SE"/>
          </a:p>
        </p:txBody>
      </p:sp>
      <p:sp>
        <p:nvSpPr>
          <p:cNvPr id="8" name="code panel edge">
            <a:extLst>
              <a:ext uri="{C183D7F6-B498-43B3-948B-1728B52AA6E4}">
                <adec:decorative xmlns:adec="http://schemas.microsoft.com/office/drawing/2017/decorative" val="1"/>
              </a:ext>
            </a:extLst>
          </p:cNvPr>
          <p:cNvSpPr/>
          <p:nvPr/>
        </p:nvSpPr>
        <p:spPr>
          <a:xfrm>
            <a:off x="4800600" y="1188720"/>
            <a:ext cx="54864" cy="2103120"/>
          </a:xfrm>
          <a:prstGeom prst="rect">
            <a:avLst/>
          </a:prstGeom>
          <a:solidFill>
            <a:srgbClr val="35A79C"/>
          </a:solidFill>
          <a:ln w="12700">
            <a:solidFill>
              <a:srgbClr val="35A79C"/>
            </a:solidFill>
            <a:prstDash val="solid"/>
          </a:ln>
        </p:spPr>
        <p:txBody>
          <a:bodyPr/>
          <a:lstStyle/>
          <a:p>
            <a:endParaRPr lang="en-SE"/>
          </a:p>
        </p:txBody>
      </p:sp>
      <p:sp>
        <p:nvSpPr>
          <p:cNvPr id="9" name="Text 7"/>
          <p:cNvSpPr/>
          <p:nvPr/>
        </p:nvSpPr>
        <p:spPr>
          <a:xfrm>
            <a:off x="5001768" y="1316736"/>
            <a:ext cx="3474720" cy="1847088"/>
          </a:xfrm>
          <a:prstGeom prst="rect">
            <a:avLst/>
          </a:prstGeom>
          <a:noFill/>
          <a:ln/>
        </p:spPr>
        <p:txBody>
          <a:bodyPr wrap="square" lIns="0" tIns="0" rIns="0" bIns="0" rtlCol="0" anchor="t"/>
          <a:lstStyle/>
          <a:p>
            <a:pPr marL="0" indent="0">
              <a:buNone/>
            </a:pPr>
            <a:r>
              <a:rPr lang="en-US" sz="1050" dirty="0">
                <a:solidFill>
                  <a:srgbClr val="97A1AC"/>
                </a:solidFill>
                <a:latin typeface="Consolas" pitchFamily="34" charset="0"/>
                <a:ea typeface="Consolas" pitchFamily="34" charset="-122"/>
                <a:cs typeface="Consolas" pitchFamily="34" charset="-120"/>
              </a:rPr>
              <a:t>/* C */</a:t>
            </a:r>
            <a:endParaRPr lang="en-US" sz="1050" dirty="0"/>
          </a:p>
          <a:p>
            <a:pPr marL="0" indent="0">
              <a:buNone/>
            </a:pPr>
            <a:r>
              <a:rPr lang="en-US" sz="1050" dirty="0">
                <a:solidFill>
                  <a:srgbClr val="D5DAE0"/>
                </a:solidFill>
                <a:latin typeface="Consolas" pitchFamily="34" charset="0"/>
                <a:ea typeface="Consolas" pitchFamily="34" charset="-122"/>
                <a:cs typeface="Consolas" pitchFamily="34" charset="-120"/>
              </a:rPr>
              <a:t>ApiGatewayClient client =</a:t>
            </a:r>
            <a:endParaRPr lang="en-US" sz="1050" dirty="0"/>
          </a:p>
          <a:p>
            <a:pPr marL="0" indent="0">
              <a:buNone/>
            </a:pPr>
            <a:r>
              <a:rPr lang="en-US" sz="1050" dirty="0">
                <a:solidFill>
                  <a:srgbClr val="D5DAE0"/>
                </a:solidFill>
                <a:latin typeface="Consolas" pitchFamily="34" charset="0"/>
                <a:ea typeface="Consolas" pitchFamily="34" charset="-122"/>
                <a:cs typeface="Consolas" pitchFamily="34" charset="-120"/>
              </a:rPr>
              <a:t>  api_gateway_client(</a:t>
            </a:r>
            <a:endParaRPr lang="en-US" sz="1050" dirty="0"/>
          </a:p>
          <a:p>
            <a:pPr marL="0" indent="0">
              <a:buNone/>
            </a:pPr>
            <a:r>
              <a:rPr lang="en-US" sz="1050" dirty="0">
                <a:solidFill>
                  <a:srgbClr val="D5DAE0"/>
                </a:solidFill>
                <a:latin typeface="Consolas" pitchFamily="34" charset="0"/>
                <a:ea typeface="Consolas" pitchFamily="34" charset="-122"/>
                <a:cs typeface="Consolas" pitchFamily="34" charset="-120"/>
              </a:rPr>
              <a:t>    "127.0.0.1", 8080,</a:t>
            </a:r>
            <a:endParaRPr lang="en-US" sz="1050" dirty="0"/>
          </a:p>
          <a:p>
            <a:pPr marL="0" indent="0">
              <a:buNone/>
            </a:pPr>
            <a:r>
              <a:rPr lang="en-US" sz="1050" dirty="0">
                <a:solidFill>
                  <a:srgbClr val="D5DAE0"/>
                </a:solidFill>
                <a:latin typeface="Consolas" pitchFamily="34" charset="0"/>
                <a:ea typeface="Consolas" pitchFamily="34" charset="-122"/>
                <a:cs typeface="Consolas" pitchFamily="34" charset="-120"/>
              </a:rPr>
              <a:t>    "key-trader-demo");</a:t>
            </a:r>
            <a:endParaRPr lang="en-US" sz="1050" dirty="0"/>
          </a:p>
          <a:p>
            <a:pPr marL="0" indent="0">
              <a:buNone/>
            </a:pPr>
            <a:endParaRPr lang="en-US" sz="1050" dirty="0"/>
          </a:p>
          <a:p>
            <a:pPr marL="0" indent="0">
              <a:buNone/>
            </a:pPr>
            <a:r>
              <a:rPr lang="en-US" sz="1050" dirty="0">
                <a:solidFill>
                  <a:srgbClr val="D5DAE0"/>
                </a:solidFill>
                <a:latin typeface="Consolas" pitchFamily="34" charset="0"/>
                <a:ea typeface="Consolas" pitchFamily="34" charset="-122"/>
                <a:cs typeface="Consolas" pitchFamily="34" charset="-120"/>
              </a:rPr>
              <a:t>char *body = api_gateway_get(</a:t>
            </a:r>
            <a:endParaRPr lang="en-US" sz="1050" dirty="0"/>
          </a:p>
          <a:p>
            <a:pPr marL="0" indent="0">
              <a:buNone/>
            </a:pPr>
            <a:r>
              <a:rPr lang="en-US" sz="1050" dirty="0">
                <a:solidFill>
                  <a:srgbClr val="D5DAE0"/>
                </a:solidFill>
                <a:latin typeface="Consolas" pitchFamily="34" charset="0"/>
                <a:ea typeface="Consolas" pitchFamily="34" charset="-122"/>
                <a:cs typeface="Consolas" pitchFamily="34" charset="-120"/>
              </a:rPr>
              <a:t>   &amp;client, "/api/v1/status");</a:t>
            </a:r>
            <a:endParaRPr lang="en-US" sz="1050" dirty="0"/>
          </a:p>
          <a:p>
            <a:pPr marL="0" indent="0">
              <a:buNone/>
            </a:pPr>
            <a:r>
              <a:rPr lang="en-US" sz="1050" dirty="0">
                <a:solidFill>
                  <a:srgbClr val="D5DAE0"/>
                </a:solidFill>
                <a:latin typeface="Consolas" pitchFamily="34" charset="0"/>
                <a:ea typeface="Consolas" pitchFamily="34" charset="-122"/>
                <a:cs typeface="Consolas" pitchFamily="34" charset="-120"/>
              </a:rPr>
              <a:t>puts(body);</a:t>
            </a:r>
            <a:endParaRPr lang="en-US" sz="1050" dirty="0"/>
          </a:p>
          <a:p>
            <a:pPr marL="0" indent="0">
              <a:buNone/>
            </a:pPr>
            <a:r>
              <a:rPr lang="en-US" sz="1050" dirty="0">
                <a:solidFill>
                  <a:srgbClr val="D5DAE0"/>
                </a:solidFill>
                <a:latin typeface="Consolas" pitchFamily="34" charset="0"/>
                <a:ea typeface="Consolas" pitchFamily="34" charset="-122"/>
                <a:cs typeface="Consolas" pitchFamily="34" charset="-120"/>
              </a:rPr>
              <a:t>free(body);</a:t>
            </a:r>
            <a:endParaRPr lang="en-US" sz="1050" dirty="0"/>
          </a:p>
        </p:txBody>
      </p:sp>
      <p:sp>
        <p:nvSpPr>
          <p:cNvPr id="10" name="card background">
            <a:extLst>
              <a:ext uri="{C183D7F6-B498-43B3-948B-1728B52AA6E4}">
                <adec:decorative xmlns:adec="http://schemas.microsoft.com/office/drawing/2017/decorative" val="1"/>
              </a:ext>
            </a:extLst>
          </p:cNvPr>
          <p:cNvSpPr/>
          <p:nvPr/>
        </p:nvSpPr>
        <p:spPr>
          <a:xfrm>
            <a:off x="502920" y="3474720"/>
            <a:ext cx="2566416" cy="960120"/>
          </a:xfrm>
          <a:prstGeom prst="roundRect">
            <a:avLst>
              <a:gd name="adj" fmla="val 5714"/>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1" name="step marker">
            <a:extLst>
              <a:ext uri="{C183D7F6-B498-43B3-948B-1728B52AA6E4}">
                <adec:decorative xmlns:adec="http://schemas.microsoft.com/office/drawing/2017/decorative" val="1"/>
              </a:ext>
            </a:extLst>
          </p:cNvPr>
          <p:cNvSpPr/>
          <p:nvPr/>
        </p:nvSpPr>
        <p:spPr>
          <a:xfrm>
            <a:off x="704088" y="3657600"/>
            <a:ext cx="310896" cy="310896"/>
          </a:xfrm>
          <a:prstGeom prst="ellipse">
            <a:avLst/>
          </a:prstGeom>
          <a:solidFill>
            <a:srgbClr val="E8722C"/>
          </a:solidFill>
          <a:ln w="12700">
            <a:solidFill>
              <a:srgbClr val="E8722C"/>
            </a:solidFill>
            <a:prstDash val="solid"/>
          </a:ln>
        </p:spPr>
        <p:txBody>
          <a:bodyPr/>
          <a:lstStyle/>
          <a:p>
            <a:endParaRPr lang="en-SE"/>
          </a:p>
        </p:txBody>
      </p:sp>
      <p:sp>
        <p:nvSpPr>
          <p:cNvPr id="12" name="Text 10"/>
          <p:cNvSpPr/>
          <p:nvPr/>
        </p:nvSpPr>
        <p:spPr>
          <a:xfrm>
            <a:off x="704088" y="3657600"/>
            <a:ext cx="310896" cy="310896"/>
          </a:xfrm>
          <a:prstGeom prst="rect">
            <a:avLst/>
          </a:prstGeom>
          <a:noFill/>
          <a:ln/>
        </p:spPr>
        <p:txBody>
          <a:bodyPr wrap="square" lIns="0" tIns="0" rIns="0" bIns="0" rtlCol="0" anchor="ctr"/>
          <a:lstStyle/>
          <a:p>
            <a:pPr marL="0" indent="0" algn="ctr">
              <a:buNone/>
            </a:pPr>
            <a:endParaRPr lang="en-US" sz="1300" dirty="0"/>
          </a:p>
        </p:txBody>
      </p:sp>
      <p:sp>
        <p:nvSpPr>
          <p:cNvPr id="13" name="Text 11"/>
          <p:cNvSpPr/>
          <p:nvPr/>
        </p:nvSpPr>
        <p:spPr>
          <a:xfrm>
            <a:off x="1106424" y="3657600"/>
            <a:ext cx="1780032" cy="329184"/>
          </a:xfrm>
          <a:prstGeom prst="rect">
            <a:avLst/>
          </a:prstGeom>
          <a:noFill/>
          <a:ln/>
        </p:spPr>
        <p:txBody>
          <a:bodyPr wrap="square" lIns="0" tIns="0" rIns="0" bIns="0" rtlCol="0" anchor="ctr"/>
          <a:lstStyle/>
          <a:p>
            <a:pPr marL="0" indent="0">
              <a:buNone/>
            </a:pPr>
            <a:r>
              <a:rPr lang="en-US" sz="1400" b="1" dirty="0">
                <a:solidFill>
                  <a:srgbClr val="E8722C"/>
                </a:solidFill>
                <a:latin typeface="Trebuchet MS" pitchFamily="34" charset="0"/>
                <a:ea typeface="Trebuchet MS" pitchFamily="34" charset="-122"/>
                <a:cs typeface="Trebuchet MS" pitchFamily="34" charset="-120"/>
              </a:rPr>
              <a:t>Wrap the key once</a:t>
            </a:r>
            <a:endParaRPr lang="en-US" sz="1400" dirty="0"/>
          </a:p>
        </p:txBody>
      </p:sp>
      <p:sp>
        <p:nvSpPr>
          <p:cNvPr id="14" name="Text 12"/>
          <p:cNvSpPr/>
          <p:nvPr/>
        </p:nvSpPr>
        <p:spPr>
          <a:xfrm>
            <a:off x="722376" y="4023360"/>
            <a:ext cx="2127504" cy="30175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One small client object holds the address and the key so no call has to repeat them.</a:t>
            </a:r>
            <a:endParaRPr lang="en-US" sz="1050" dirty="0"/>
          </a:p>
        </p:txBody>
      </p:sp>
      <p:sp>
        <p:nvSpPr>
          <p:cNvPr id="15" name="card background">
            <a:extLst>
              <a:ext uri="{C183D7F6-B498-43B3-948B-1728B52AA6E4}">
                <adec:decorative xmlns:adec="http://schemas.microsoft.com/office/drawing/2017/decorative" val="1"/>
              </a:ext>
            </a:extLst>
          </p:cNvPr>
          <p:cNvSpPr/>
          <p:nvPr/>
        </p:nvSpPr>
        <p:spPr>
          <a:xfrm>
            <a:off x="3288792" y="3474720"/>
            <a:ext cx="2566416" cy="960120"/>
          </a:xfrm>
          <a:prstGeom prst="roundRect">
            <a:avLst>
              <a:gd name="adj" fmla="val 5714"/>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6" name="Text 14">
            <a:extLst>
              <a:ext uri="{C183D7F6-B498-43B3-948B-1728B52AA6E4}">
                <adec:decorative xmlns:adec="http://schemas.microsoft.com/office/drawing/2017/decorative" val="1"/>
              </a:ext>
            </a:extLst>
          </p:cNvPr>
          <p:cNvSpPr/>
          <p:nvPr/>
        </p:nvSpPr>
        <p:spPr>
          <a:xfrm>
            <a:off x="3508248" y="3657600"/>
            <a:ext cx="2164080" cy="329184"/>
          </a:xfrm>
          <a:prstGeom prst="rect">
            <a:avLst/>
          </a:prstGeom>
          <a:noFill/>
          <a:ln/>
        </p:spPr>
        <p:txBody>
          <a:bodyPr wrap="square" lIns="0" tIns="0" rIns="0" bIns="0" rtlCol="0" anchor="ctr"/>
          <a:lstStyle/>
          <a:p>
            <a:pPr marL="0" indent="0">
              <a:buNone/>
            </a:pPr>
            <a:r>
              <a:rPr lang="en-US" sz="1400" b="1" dirty="0">
                <a:solidFill>
                  <a:srgbClr val="35A79C"/>
                </a:solidFill>
                <a:latin typeface="Trebuchet MS" pitchFamily="34" charset="0"/>
                <a:ea typeface="Trebuchet MS" pitchFamily="34" charset="-122"/>
                <a:cs typeface="Trebuchet MS" pitchFamily="34" charset="-120"/>
              </a:rPr>
              <a:t>Runnable samples ship with the system</a:t>
            </a:r>
            <a:endParaRPr lang="en-US" sz="1400" dirty="0"/>
          </a:p>
        </p:txBody>
      </p:sp>
      <p:sp>
        <p:nvSpPr>
          <p:cNvPr id="17" name="Text 15"/>
          <p:cNvSpPr/>
          <p:nvPr/>
        </p:nvSpPr>
        <p:spPr>
          <a:xfrm>
            <a:off x="3508248" y="4023360"/>
            <a:ext cx="2127504" cy="30175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Both languages have working examples in the documentation's example folders.</a:t>
            </a:r>
            <a:endParaRPr lang="en-US" sz="1050" dirty="0"/>
          </a:p>
        </p:txBody>
      </p:sp>
      <p:sp>
        <p:nvSpPr>
          <p:cNvPr id="18" name="card background">
            <a:extLst>
              <a:ext uri="{C183D7F6-B498-43B3-948B-1728B52AA6E4}">
                <adec:decorative xmlns:adec="http://schemas.microsoft.com/office/drawing/2017/decorative" val="1"/>
              </a:ext>
            </a:extLst>
          </p:cNvPr>
          <p:cNvSpPr/>
          <p:nvPr/>
        </p:nvSpPr>
        <p:spPr>
          <a:xfrm>
            <a:off x="6074664" y="3474720"/>
            <a:ext cx="2566416" cy="960120"/>
          </a:xfrm>
          <a:prstGeom prst="roundRect">
            <a:avLst>
              <a:gd name="adj" fmla="val 5714"/>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9" name="step marker">
            <a:extLst>
              <a:ext uri="{C183D7F6-B498-43B3-948B-1728B52AA6E4}">
                <adec:decorative xmlns:adec="http://schemas.microsoft.com/office/drawing/2017/decorative" val="1"/>
              </a:ext>
            </a:extLst>
          </p:cNvPr>
          <p:cNvSpPr/>
          <p:nvPr/>
        </p:nvSpPr>
        <p:spPr>
          <a:xfrm>
            <a:off x="6275832" y="3657600"/>
            <a:ext cx="310896" cy="310896"/>
          </a:xfrm>
          <a:prstGeom prst="ellipse">
            <a:avLst/>
          </a:prstGeom>
          <a:solidFill>
            <a:srgbClr val="F2A65A"/>
          </a:solidFill>
          <a:ln w="12700">
            <a:solidFill>
              <a:srgbClr val="F2A65A"/>
            </a:solidFill>
            <a:prstDash val="solid"/>
          </a:ln>
        </p:spPr>
        <p:txBody>
          <a:bodyPr/>
          <a:lstStyle/>
          <a:p>
            <a:endParaRPr lang="en-SE"/>
          </a:p>
        </p:txBody>
      </p:sp>
      <p:sp>
        <p:nvSpPr>
          <p:cNvPr id="20" name="Text 18">
            <a:extLst>
              <a:ext uri="{C183D7F6-B498-43B3-948B-1728B52AA6E4}">
                <adec:decorative xmlns:adec="http://schemas.microsoft.com/office/drawing/2017/decorative" val="1"/>
              </a:ext>
            </a:extLst>
          </p:cNvPr>
          <p:cNvSpPr/>
          <p:nvPr/>
        </p:nvSpPr>
        <p:spPr>
          <a:xfrm>
            <a:off x="6275832" y="3657600"/>
            <a:ext cx="310896" cy="310896"/>
          </a:xfrm>
          <a:prstGeom prst="rect">
            <a:avLst/>
          </a:prstGeom>
          <a:noFill/>
          <a:ln/>
        </p:spPr>
        <p:txBody>
          <a:bodyPr wrap="square" lIns="0" tIns="0" rIns="0" bIns="0" rtlCol="0" anchor="ctr"/>
          <a:lstStyle/>
          <a:p>
            <a:pPr marL="0" indent="0" algn="ctr">
              <a:buNone/>
            </a:pPr>
            <a:endParaRPr lang="en-US" sz="1300" dirty="0"/>
          </a:p>
        </p:txBody>
      </p:sp>
      <p:sp>
        <p:nvSpPr>
          <p:cNvPr id="21" name="Text 19">
            <a:extLst>
              <a:ext uri="{C183D7F6-B498-43B3-948B-1728B52AA6E4}">
                <adec:decorative xmlns:adec="http://schemas.microsoft.com/office/drawing/2017/decorative" val="1"/>
              </a:ext>
            </a:extLst>
          </p:cNvPr>
          <p:cNvSpPr/>
          <p:nvPr/>
        </p:nvSpPr>
        <p:spPr>
          <a:xfrm>
            <a:off x="6678168" y="3657600"/>
            <a:ext cx="1780032" cy="329184"/>
          </a:xfrm>
          <a:prstGeom prst="rect">
            <a:avLst/>
          </a:prstGeom>
          <a:noFill/>
          <a:ln/>
        </p:spPr>
        <p:txBody>
          <a:bodyPr wrap="square" lIns="0" tIns="0" rIns="0" bIns="0" rtlCol="0" anchor="ctr"/>
          <a:lstStyle/>
          <a:p>
            <a:pPr marL="0" indent="0">
              <a:buNone/>
            </a:pPr>
            <a:r>
              <a:rPr lang="en-US" sz="1400" b="1" dirty="0">
                <a:solidFill>
                  <a:srgbClr val="F2A65A"/>
                </a:solidFill>
                <a:latin typeface="Trebuchet MS" pitchFamily="34" charset="0"/>
                <a:ea typeface="Trebuchet MS" pitchFamily="34" charset="-122"/>
                <a:cs typeface="Trebuchet MS" pitchFamily="34" charset="-120"/>
              </a:rPr>
              <a:t>Override without editing code</a:t>
            </a:r>
            <a:endParaRPr lang="en-US" sz="1400" dirty="0"/>
          </a:p>
        </p:txBody>
      </p:sp>
      <p:sp>
        <p:nvSpPr>
          <p:cNvPr id="22" name="Text 20"/>
          <p:cNvSpPr/>
          <p:nvPr/>
        </p:nvSpPr>
        <p:spPr>
          <a:xfrm>
            <a:off x="6294120" y="4023360"/>
            <a:ext cx="2127504" cy="30175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The sample tools read the address and key from environment variables.</a:t>
            </a:r>
            <a:endParaRPr lang="en-US" sz="1050" dirty="0"/>
          </a:p>
        </p:txBody>
      </p:sp>
      <p:sp>
        <p:nvSpPr>
          <p:cNvPr id="23" name="Text 21"/>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API keys and access</a:t>
            </a:r>
            <a:endParaRPr lang="en-US" sz="900" dirty="0"/>
          </a:p>
        </p:txBody>
      </p:sp>
      <p:sp>
        <p:nvSpPr>
          <p:cNvPr id="24" name="Text 22"/>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ide band">
            <a:extLst>
              <a:ext uri="{C183D7F6-B498-43B3-948B-1728B52AA6E4}">
                <adec:decorative xmlns:adec="http://schemas.microsoft.com/office/drawing/2017/decorative" val="1"/>
              </a:ext>
            </a:extLst>
          </p:cNvPr>
          <p:cNvSpPr/>
          <p:nvPr/>
        </p:nvSpPr>
        <p:spPr>
          <a:xfrm>
            <a:off x="0" y="0"/>
            <a:ext cx="384048" cy="5143500"/>
          </a:xfrm>
          <a:prstGeom prst="rect">
            <a:avLst/>
          </a:prstGeom>
          <a:solidFill>
            <a:srgbClr val="E8722C"/>
          </a:solidFill>
          <a:ln w="12700">
            <a:solidFill>
              <a:srgbClr val="E8722C"/>
            </a:solidFill>
            <a:prstDash val="solid"/>
          </a:ln>
        </p:spPr>
        <p:txBody>
          <a:bodyPr/>
          <a:lstStyle/>
          <a:p>
            <a:endParaRPr lang="en-SE"/>
          </a:p>
        </p:txBody>
      </p:sp>
      <p:sp>
        <p:nvSpPr>
          <p:cNvPr id="3" name="Text 1"/>
          <p:cNvSpPr/>
          <p:nvPr/>
        </p:nvSpPr>
        <p:spPr>
          <a:xfrm>
            <a:off x="960120" y="1371600"/>
            <a:ext cx="2743200" cy="822960"/>
          </a:xfrm>
          <a:prstGeom prst="rect">
            <a:avLst/>
          </a:prstGeom>
          <a:noFill/>
          <a:ln/>
        </p:spPr>
        <p:txBody>
          <a:bodyPr wrap="square" lIns="0" tIns="0" rIns="0" bIns="0" rtlCol="0" anchor="ctr"/>
          <a:lstStyle/>
          <a:p>
            <a:pPr marL="0" indent="0">
              <a:buNone/>
            </a:pPr>
            <a:r>
              <a:rPr lang="en-US" sz="6200" b="1" dirty="0">
                <a:solidFill>
                  <a:srgbClr val="2E353D"/>
                </a:solidFill>
                <a:latin typeface="Trebuchet MS" pitchFamily="34" charset="0"/>
                <a:ea typeface="Trebuchet MS" pitchFamily="34" charset="-122"/>
                <a:cs typeface="Trebuchet MS" pitchFamily="34" charset="-120"/>
              </a:rPr>
              <a:t>05</a:t>
            </a:r>
            <a:endParaRPr lang="en-US" sz="6200" dirty="0"/>
          </a:p>
        </p:txBody>
      </p:sp>
      <p:sp>
        <p:nvSpPr>
          <p:cNvPr id="4" name="Text 0"/>
          <p:cNvSpPr>
            <a:spLocks noGrp="1"/>
          </p:cNvSpPr>
          <p:nvPr>
            <p:ph type="title" idx="100" hasCustomPrompt="1"/>
          </p:nvPr>
        </p:nvSpPr>
        <p:spPr>
          <a:xfrm>
            <a:off x="1005840" y="2148840"/>
            <a:ext cx="7132320" cy="914400"/>
          </a:xfrm>
          <a:prstGeom prst="rect">
            <a:avLst/>
          </a:prstGeom>
          <a:noFill/>
          <a:ln/>
        </p:spPr>
        <p:txBody>
          <a:bodyPr wrap="square" lIns="0" tIns="0" rIns="0" bIns="0" rtlCol="0"/>
          <a:lstStyle/>
          <a:p>
            <a:pPr marL="0" indent="0" algn="l">
              <a:buNone/>
            </a:pPr>
            <a:r>
              <a:rPr lang="en-US" sz="3600" b="1" dirty="0">
                <a:solidFill>
                  <a:srgbClr val="F3F5F7"/>
                </a:solidFill>
                <a:latin typeface="Trebuchet MS" pitchFamily="34" charset="0"/>
                <a:ea typeface="Trebuchet MS" pitchFamily="34" charset="-122"/>
                <a:cs typeface="Trebuchet MS" pitchFamily="34" charset="-120"/>
              </a:rPr>
              <a:t>What flows through</a:t>
            </a:r>
            <a:endParaRPr lang="en-US" sz="3600" dirty="0"/>
          </a:p>
        </p:txBody>
      </p:sp>
      <p:sp>
        <p:nvSpPr>
          <p:cNvPr id="5" name="Text 3"/>
          <p:cNvSpPr/>
          <p:nvPr/>
        </p:nvSpPr>
        <p:spPr>
          <a:xfrm>
            <a:off x="1024128" y="3108960"/>
            <a:ext cx="6949440" cy="731520"/>
          </a:xfrm>
          <a:prstGeom prst="rect">
            <a:avLst/>
          </a:prstGeom>
          <a:noFill/>
          <a:ln/>
        </p:spPr>
        <p:txBody>
          <a:bodyPr wrap="square" lIns="0" tIns="0" rIns="0" bIns="0" rtlCol="0" anchor="ctr"/>
          <a:lstStyle/>
          <a:p>
            <a:pPr marL="0" indent="0">
              <a:buNone/>
            </a:pPr>
            <a:r>
              <a:rPr lang="en-US" sz="1400" dirty="0">
                <a:solidFill>
                  <a:srgbClr val="97A1AC"/>
                </a:solidFill>
                <a:latin typeface="Calibri" pitchFamily="34" charset="0"/>
                <a:ea typeface="Calibri" pitchFamily="34" charset="-122"/>
                <a:cs typeface="Calibri" pitchFamily="34" charset="-120"/>
              </a:rPr>
              <a:t>The categories of information you can send and receive</a:t>
            </a:r>
            <a:endParaRPr lang="en-US" sz="1400" dirty="0"/>
          </a:p>
        </p:txBody>
      </p:sp>
      <p:sp>
        <p:nvSpPr>
          <p:cNvPr id="6" name="Text 4"/>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What flows through</a:t>
            </a:r>
            <a:endParaRPr lang="en-US" sz="900" dirty="0"/>
          </a:p>
        </p:txBody>
      </p:sp>
      <p:sp>
        <p:nvSpPr>
          <p:cNvPr id="7" name="Text 5"/>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8138160" cy="548640"/>
          </a:xfrm>
          <a:prstGeom prst="rect">
            <a:avLst/>
          </a:prstGeom>
          <a:noFill/>
          <a:ln/>
        </p:spPr>
        <p:txBody>
          <a:bodyPr wrap="square" lIns="0" tIns="0" rIns="0" bIns="0" rtlCol="0" anchor="ctr"/>
          <a:lstStyle/>
          <a:p>
            <a:pPr marL="0" indent="0">
              <a:buNone/>
            </a:pPr>
            <a:r>
              <a:rPr lang="en-US" sz="2700" b="1" dirty="0">
                <a:solidFill>
                  <a:srgbClr val="F3F5F7"/>
                </a:solidFill>
                <a:latin typeface="Trebuchet MS" pitchFamily="34" charset="0"/>
                <a:ea typeface="Trebuchet MS" pitchFamily="34" charset="-122"/>
                <a:cs typeface="Trebuchet MS" pitchFamily="34" charset="-120"/>
              </a:rPr>
              <a:t>Six categories of information</a:t>
            </a:r>
            <a:endParaRPr lang="en-US" sz="2700" dirty="0"/>
          </a:p>
        </p:txBody>
      </p:sp>
      <p:sp>
        <p:nvSpPr>
          <p:cNvPr id="3" name="Text 1"/>
          <p:cNvSpPr/>
          <p:nvPr/>
        </p:nvSpPr>
        <p:spPr>
          <a:xfrm>
            <a:off x="502920" y="841248"/>
            <a:ext cx="8138160" cy="237744"/>
          </a:xfrm>
          <a:prstGeom prst="rect">
            <a:avLst/>
          </a:prstGeom>
          <a:noFill/>
          <a:ln/>
        </p:spPr>
        <p:txBody>
          <a:bodyPr wrap="square" lIns="0" tIns="0" rIns="0" bIns="0" rtlCol="0" anchor="ctr"/>
          <a:lstStyle/>
          <a:p>
            <a:pPr marL="0" indent="0">
              <a:buNone/>
            </a:pPr>
            <a:r>
              <a:rPr lang="en-US" sz="1100" b="1" kern="0" spc="200" dirty="0">
                <a:solidFill>
                  <a:srgbClr val="E8722C"/>
                </a:solidFill>
                <a:latin typeface="Calibri" pitchFamily="34" charset="0"/>
                <a:ea typeface="Calibri" pitchFamily="34" charset="-122"/>
                <a:cs typeface="Calibri" pitchFamily="34" charset="-120"/>
              </a:rPr>
              <a:t>MAP</a:t>
            </a:r>
            <a:endParaRPr lang="en-US" sz="1100" dirty="0"/>
          </a:p>
        </p:txBody>
      </p:sp>
      <p:sp>
        <p:nvSpPr>
          <p:cNvPr id="4" name="card background">
            <a:extLst>
              <a:ext uri="{C183D7F6-B498-43B3-948B-1728B52AA6E4}">
                <adec:decorative xmlns:adec="http://schemas.microsoft.com/office/drawing/2017/decorative" val="1"/>
              </a:ext>
            </a:extLst>
          </p:cNvPr>
          <p:cNvSpPr/>
          <p:nvPr/>
        </p:nvSpPr>
        <p:spPr>
          <a:xfrm>
            <a:off x="502920" y="1298448"/>
            <a:ext cx="2566416" cy="1417320"/>
          </a:xfrm>
          <a:prstGeom prst="roundRect">
            <a:avLst>
              <a:gd name="adj" fmla="val 3871"/>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5" name="step marker">
            <a:extLst>
              <a:ext uri="{C183D7F6-B498-43B3-948B-1728B52AA6E4}">
                <adec:decorative xmlns:adec="http://schemas.microsoft.com/office/drawing/2017/decorative" val="1"/>
              </a:ext>
            </a:extLst>
          </p:cNvPr>
          <p:cNvSpPr/>
          <p:nvPr/>
        </p:nvSpPr>
        <p:spPr>
          <a:xfrm>
            <a:off x="704088" y="1481328"/>
            <a:ext cx="310896" cy="310896"/>
          </a:xfrm>
          <a:prstGeom prst="ellipse">
            <a:avLst/>
          </a:prstGeom>
          <a:solidFill>
            <a:srgbClr val="E8722C"/>
          </a:solidFill>
          <a:ln w="12700">
            <a:solidFill>
              <a:srgbClr val="E8722C"/>
            </a:solidFill>
            <a:prstDash val="solid"/>
          </a:ln>
        </p:spPr>
        <p:txBody>
          <a:bodyPr/>
          <a:lstStyle/>
          <a:p>
            <a:endParaRPr lang="en-SE"/>
          </a:p>
        </p:txBody>
      </p:sp>
      <p:sp>
        <p:nvSpPr>
          <p:cNvPr id="6" name="Text 4"/>
          <p:cNvSpPr/>
          <p:nvPr/>
        </p:nvSpPr>
        <p:spPr>
          <a:xfrm>
            <a:off x="704088" y="1481328"/>
            <a:ext cx="310896" cy="310896"/>
          </a:xfrm>
          <a:prstGeom prst="rect">
            <a:avLst/>
          </a:prstGeom>
          <a:noFill/>
          <a:ln/>
        </p:spPr>
        <p:txBody>
          <a:bodyPr wrap="square" lIns="0" tIns="0" rIns="0" bIns="0" rtlCol="0" anchor="ctr"/>
          <a:lstStyle/>
          <a:p>
            <a:pPr marL="0" indent="0" algn="ctr">
              <a:buNone/>
            </a:pPr>
            <a:r>
              <a:rPr lang="en-US" sz="1300" b="1" dirty="0">
                <a:solidFill>
                  <a:srgbClr val="13161A"/>
                </a:solidFill>
                <a:latin typeface="Trebuchet MS" pitchFamily="34" charset="0"/>
                <a:ea typeface="Trebuchet MS" pitchFamily="34" charset="-122"/>
                <a:cs typeface="Trebuchet MS" pitchFamily="34" charset="-120"/>
              </a:rPr>
              <a:t>1</a:t>
            </a:r>
            <a:endParaRPr lang="en-US" sz="1300" dirty="0"/>
          </a:p>
        </p:txBody>
      </p:sp>
      <p:sp>
        <p:nvSpPr>
          <p:cNvPr id="7" name="Text 5"/>
          <p:cNvSpPr/>
          <p:nvPr/>
        </p:nvSpPr>
        <p:spPr>
          <a:xfrm>
            <a:off x="1106424" y="1481328"/>
            <a:ext cx="1780032" cy="329184"/>
          </a:xfrm>
          <a:prstGeom prst="rect">
            <a:avLst/>
          </a:prstGeom>
          <a:noFill/>
          <a:ln/>
        </p:spPr>
        <p:txBody>
          <a:bodyPr wrap="square" lIns="0" tIns="0" rIns="0" bIns="0" rtlCol="0" anchor="ctr"/>
          <a:lstStyle/>
          <a:p>
            <a:pPr marL="0" indent="0">
              <a:buNone/>
            </a:pPr>
            <a:r>
              <a:rPr lang="en-US" sz="1400" b="1" dirty="0">
                <a:solidFill>
                  <a:srgbClr val="E8722C"/>
                </a:solidFill>
                <a:latin typeface="Trebuchet MS" pitchFamily="34" charset="0"/>
                <a:ea typeface="Trebuchet MS" pitchFamily="34" charset="-122"/>
                <a:cs typeface="Trebuchet MS" pitchFamily="34" charset="-120"/>
              </a:rPr>
              <a:t>Order entry</a:t>
            </a:r>
            <a:endParaRPr lang="en-US" sz="1400" dirty="0"/>
          </a:p>
        </p:txBody>
      </p:sp>
      <p:sp>
        <p:nvSpPr>
          <p:cNvPr id="8" name="Text 6"/>
          <p:cNvSpPr/>
          <p:nvPr/>
        </p:nvSpPr>
        <p:spPr>
          <a:xfrm>
            <a:off x="722376" y="1847088"/>
            <a:ext cx="2127504" cy="758952"/>
          </a:xfrm>
          <a:prstGeom prst="rect">
            <a:avLst/>
          </a:prstGeom>
          <a:noFill/>
          <a:ln/>
        </p:spPr>
        <p:txBody>
          <a:bodyPr wrap="square" lIns="0" tIns="0" rIns="0" bIns="0" rtlCol="0" anchor="t"/>
          <a:lstStyle/>
          <a:p>
            <a:pPr marL="0" indent="0">
              <a:buNone/>
            </a:pPr>
            <a:r>
              <a:rPr lang="en-US" sz="1000" dirty="0">
                <a:solidFill>
                  <a:srgbClr val="D5DAE0"/>
                </a:solidFill>
                <a:latin typeface="Calibri" pitchFamily="34" charset="0"/>
                <a:ea typeface="Calibri" pitchFamily="34" charset="-122"/>
                <a:cs typeface="Calibri" pitchFamily="34" charset="-120"/>
              </a:rPr>
              <a:t>Send intent: single orders, paired orders, multi-leg combos and two-sided quotes.</a:t>
            </a:r>
            <a:endParaRPr lang="en-US" sz="1000" dirty="0"/>
          </a:p>
        </p:txBody>
      </p:sp>
      <p:sp>
        <p:nvSpPr>
          <p:cNvPr id="9" name="card background">
            <a:extLst>
              <a:ext uri="{C183D7F6-B498-43B3-948B-1728B52AA6E4}">
                <adec:decorative xmlns:adec="http://schemas.microsoft.com/office/drawing/2017/decorative" val="1"/>
              </a:ext>
            </a:extLst>
          </p:cNvPr>
          <p:cNvSpPr/>
          <p:nvPr/>
        </p:nvSpPr>
        <p:spPr>
          <a:xfrm>
            <a:off x="3288792" y="1298448"/>
            <a:ext cx="2566416" cy="1417320"/>
          </a:xfrm>
          <a:prstGeom prst="roundRect">
            <a:avLst>
              <a:gd name="adj" fmla="val 3871"/>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0" name="step marker">
            <a:extLst>
              <a:ext uri="{C183D7F6-B498-43B3-948B-1728B52AA6E4}">
                <adec:decorative xmlns:adec="http://schemas.microsoft.com/office/drawing/2017/decorative" val="1"/>
              </a:ext>
            </a:extLst>
          </p:cNvPr>
          <p:cNvSpPr/>
          <p:nvPr/>
        </p:nvSpPr>
        <p:spPr>
          <a:xfrm>
            <a:off x="3489960" y="1481328"/>
            <a:ext cx="310896" cy="310896"/>
          </a:xfrm>
          <a:prstGeom prst="ellipse">
            <a:avLst/>
          </a:prstGeom>
          <a:solidFill>
            <a:srgbClr val="F2A65A"/>
          </a:solidFill>
          <a:ln w="12700">
            <a:solidFill>
              <a:srgbClr val="F2A65A"/>
            </a:solidFill>
            <a:prstDash val="solid"/>
          </a:ln>
        </p:spPr>
        <p:txBody>
          <a:bodyPr/>
          <a:lstStyle/>
          <a:p>
            <a:endParaRPr lang="en-SE"/>
          </a:p>
        </p:txBody>
      </p:sp>
      <p:sp>
        <p:nvSpPr>
          <p:cNvPr id="11" name="Text 9"/>
          <p:cNvSpPr/>
          <p:nvPr/>
        </p:nvSpPr>
        <p:spPr>
          <a:xfrm>
            <a:off x="3489960" y="1481328"/>
            <a:ext cx="310896" cy="310896"/>
          </a:xfrm>
          <a:prstGeom prst="rect">
            <a:avLst/>
          </a:prstGeom>
          <a:noFill/>
          <a:ln/>
        </p:spPr>
        <p:txBody>
          <a:bodyPr wrap="square" lIns="0" tIns="0" rIns="0" bIns="0" rtlCol="0" anchor="ctr"/>
          <a:lstStyle/>
          <a:p>
            <a:pPr marL="0" indent="0" algn="ctr">
              <a:buNone/>
            </a:pPr>
            <a:r>
              <a:rPr lang="en-US" sz="1300" b="1" dirty="0">
                <a:solidFill>
                  <a:srgbClr val="13161A"/>
                </a:solidFill>
                <a:latin typeface="Trebuchet MS" pitchFamily="34" charset="0"/>
                <a:ea typeface="Trebuchet MS" pitchFamily="34" charset="-122"/>
                <a:cs typeface="Trebuchet MS" pitchFamily="34" charset="-120"/>
              </a:rPr>
              <a:t>2</a:t>
            </a:r>
            <a:endParaRPr lang="en-US" sz="1300" dirty="0"/>
          </a:p>
        </p:txBody>
      </p:sp>
      <p:sp>
        <p:nvSpPr>
          <p:cNvPr id="12" name="Text 10"/>
          <p:cNvSpPr/>
          <p:nvPr/>
        </p:nvSpPr>
        <p:spPr>
          <a:xfrm>
            <a:off x="3892296" y="1481328"/>
            <a:ext cx="1780032" cy="329184"/>
          </a:xfrm>
          <a:prstGeom prst="rect">
            <a:avLst/>
          </a:prstGeom>
          <a:noFill/>
          <a:ln/>
        </p:spPr>
        <p:txBody>
          <a:bodyPr wrap="square" lIns="0" tIns="0" rIns="0" bIns="0" rtlCol="0" anchor="ctr"/>
          <a:lstStyle/>
          <a:p>
            <a:pPr marL="0" indent="0">
              <a:buNone/>
            </a:pPr>
            <a:r>
              <a:rPr lang="en-US" sz="1400" b="1" dirty="0">
                <a:solidFill>
                  <a:srgbClr val="F2A65A"/>
                </a:solidFill>
                <a:latin typeface="Trebuchet MS" pitchFamily="34" charset="0"/>
                <a:ea typeface="Trebuchet MS" pitchFamily="34" charset="-122"/>
                <a:cs typeface="Trebuchet MS" pitchFamily="34" charset="-120"/>
              </a:rPr>
              <a:t>Order management</a:t>
            </a:r>
            <a:endParaRPr lang="en-US" sz="1400" dirty="0"/>
          </a:p>
        </p:txBody>
      </p:sp>
      <p:sp>
        <p:nvSpPr>
          <p:cNvPr id="13" name="Text 11"/>
          <p:cNvSpPr/>
          <p:nvPr/>
        </p:nvSpPr>
        <p:spPr>
          <a:xfrm>
            <a:off x="3508248" y="1847088"/>
            <a:ext cx="2127504" cy="758952"/>
          </a:xfrm>
          <a:prstGeom prst="rect">
            <a:avLst/>
          </a:prstGeom>
          <a:noFill/>
          <a:ln/>
        </p:spPr>
        <p:txBody>
          <a:bodyPr wrap="square" lIns="0" tIns="0" rIns="0" bIns="0" rtlCol="0" anchor="t"/>
          <a:lstStyle/>
          <a:p>
            <a:pPr marL="0" indent="0">
              <a:buNone/>
            </a:pPr>
            <a:r>
              <a:rPr lang="en-US" sz="1000" dirty="0">
                <a:solidFill>
                  <a:srgbClr val="D5DAE0"/>
                </a:solidFill>
                <a:latin typeface="Calibri" pitchFamily="34" charset="0"/>
                <a:ea typeface="Calibri" pitchFamily="34" charset="-122"/>
                <a:cs typeface="Calibri" pitchFamily="34" charset="-120"/>
              </a:rPr>
              <a:t>Change or withdraw intent: amend, replace, cancel one, cancel everything.</a:t>
            </a:r>
            <a:endParaRPr lang="en-US" sz="1000" dirty="0"/>
          </a:p>
        </p:txBody>
      </p:sp>
      <p:sp>
        <p:nvSpPr>
          <p:cNvPr id="14" name="card background">
            <a:extLst>
              <a:ext uri="{C183D7F6-B498-43B3-948B-1728B52AA6E4}">
                <adec:decorative xmlns:adec="http://schemas.microsoft.com/office/drawing/2017/decorative" val="1"/>
              </a:ext>
            </a:extLst>
          </p:cNvPr>
          <p:cNvSpPr/>
          <p:nvPr/>
        </p:nvSpPr>
        <p:spPr>
          <a:xfrm>
            <a:off x="6074664" y="1298448"/>
            <a:ext cx="2566416" cy="1417320"/>
          </a:xfrm>
          <a:prstGeom prst="roundRect">
            <a:avLst>
              <a:gd name="adj" fmla="val 3871"/>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5" name="step marker">
            <a:extLst>
              <a:ext uri="{C183D7F6-B498-43B3-948B-1728B52AA6E4}">
                <adec:decorative xmlns:adec="http://schemas.microsoft.com/office/drawing/2017/decorative" val="1"/>
              </a:ext>
            </a:extLst>
          </p:cNvPr>
          <p:cNvSpPr/>
          <p:nvPr/>
        </p:nvSpPr>
        <p:spPr>
          <a:xfrm>
            <a:off x="6275832" y="1481328"/>
            <a:ext cx="310896" cy="310896"/>
          </a:xfrm>
          <a:prstGeom prst="ellipse">
            <a:avLst/>
          </a:prstGeom>
          <a:solidFill>
            <a:srgbClr val="35A79C"/>
          </a:solidFill>
          <a:ln w="12700">
            <a:solidFill>
              <a:srgbClr val="35A79C"/>
            </a:solidFill>
            <a:prstDash val="solid"/>
          </a:ln>
        </p:spPr>
        <p:txBody>
          <a:bodyPr/>
          <a:lstStyle/>
          <a:p>
            <a:endParaRPr lang="en-SE"/>
          </a:p>
        </p:txBody>
      </p:sp>
      <p:sp>
        <p:nvSpPr>
          <p:cNvPr id="16" name="Text 14"/>
          <p:cNvSpPr/>
          <p:nvPr/>
        </p:nvSpPr>
        <p:spPr>
          <a:xfrm>
            <a:off x="6275832" y="1481328"/>
            <a:ext cx="310896" cy="310896"/>
          </a:xfrm>
          <a:prstGeom prst="rect">
            <a:avLst/>
          </a:prstGeom>
          <a:noFill/>
          <a:ln/>
        </p:spPr>
        <p:txBody>
          <a:bodyPr wrap="square" lIns="0" tIns="0" rIns="0" bIns="0" rtlCol="0" anchor="ctr"/>
          <a:lstStyle/>
          <a:p>
            <a:pPr marL="0" indent="0" algn="ctr">
              <a:buNone/>
            </a:pPr>
            <a:r>
              <a:rPr lang="en-US" sz="1300" b="1" dirty="0">
                <a:solidFill>
                  <a:srgbClr val="13161A"/>
                </a:solidFill>
                <a:latin typeface="Trebuchet MS" pitchFamily="34" charset="0"/>
                <a:ea typeface="Trebuchet MS" pitchFamily="34" charset="-122"/>
                <a:cs typeface="Trebuchet MS" pitchFamily="34" charset="-120"/>
              </a:rPr>
              <a:t>3</a:t>
            </a:r>
            <a:endParaRPr lang="en-US" sz="1300" dirty="0"/>
          </a:p>
        </p:txBody>
      </p:sp>
      <p:sp>
        <p:nvSpPr>
          <p:cNvPr id="17" name="Text 15"/>
          <p:cNvSpPr/>
          <p:nvPr/>
        </p:nvSpPr>
        <p:spPr>
          <a:xfrm>
            <a:off x="6678168" y="1481328"/>
            <a:ext cx="1780032" cy="329184"/>
          </a:xfrm>
          <a:prstGeom prst="rect">
            <a:avLst/>
          </a:prstGeom>
          <a:noFill/>
          <a:ln/>
        </p:spPr>
        <p:txBody>
          <a:bodyPr wrap="square" lIns="0" tIns="0" rIns="0" bIns="0" rtlCol="0" anchor="ctr"/>
          <a:lstStyle/>
          <a:p>
            <a:pPr marL="0" indent="0">
              <a:buNone/>
            </a:pPr>
            <a:r>
              <a:rPr lang="en-US" sz="1400" b="1" dirty="0">
                <a:solidFill>
                  <a:srgbClr val="35A79C"/>
                </a:solidFill>
                <a:latin typeface="Trebuchet MS" pitchFamily="34" charset="0"/>
                <a:ea typeface="Trebuchet MS" pitchFamily="34" charset="-122"/>
                <a:cs typeface="Trebuchet MS" pitchFamily="34" charset="-120"/>
              </a:rPr>
              <a:t>Reference data</a:t>
            </a:r>
            <a:endParaRPr lang="en-US" sz="1400" dirty="0"/>
          </a:p>
        </p:txBody>
      </p:sp>
      <p:sp>
        <p:nvSpPr>
          <p:cNvPr id="18" name="Text 16"/>
          <p:cNvSpPr/>
          <p:nvPr/>
        </p:nvSpPr>
        <p:spPr>
          <a:xfrm>
            <a:off x="6294120" y="1847088"/>
            <a:ext cx="2127504" cy="758952"/>
          </a:xfrm>
          <a:prstGeom prst="rect">
            <a:avLst/>
          </a:prstGeom>
          <a:noFill/>
          <a:ln/>
        </p:spPr>
        <p:txBody>
          <a:bodyPr wrap="square" lIns="0" tIns="0" rIns="0" bIns="0" rtlCol="0" anchor="t"/>
          <a:lstStyle/>
          <a:p>
            <a:pPr marL="0" indent="0">
              <a:buNone/>
            </a:pPr>
            <a:r>
              <a:rPr lang="en-US" sz="1000" dirty="0">
                <a:solidFill>
                  <a:srgbClr val="D5DAE0"/>
                </a:solidFill>
                <a:latin typeface="Calibri" pitchFamily="34" charset="0"/>
                <a:ea typeface="Calibri" pitchFamily="34" charset="-122"/>
                <a:cs typeface="Calibri" pitchFamily="34" charset="-120"/>
              </a:rPr>
              <a:t>The rules of the game: instruments, session state, your gateway's status.</a:t>
            </a:r>
            <a:endParaRPr lang="en-US" sz="1000" dirty="0"/>
          </a:p>
        </p:txBody>
      </p:sp>
      <p:sp>
        <p:nvSpPr>
          <p:cNvPr id="19" name="card background">
            <a:extLst>
              <a:ext uri="{C183D7F6-B498-43B3-948B-1728B52AA6E4}">
                <adec:decorative xmlns:adec="http://schemas.microsoft.com/office/drawing/2017/decorative" val="1"/>
              </a:ext>
            </a:extLst>
          </p:cNvPr>
          <p:cNvSpPr/>
          <p:nvPr/>
        </p:nvSpPr>
        <p:spPr>
          <a:xfrm>
            <a:off x="502920" y="2916936"/>
            <a:ext cx="2566416" cy="1417320"/>
          </a:xfrm>
          <a:prstGeom prst="roundRect">
            <a:avLst>
              <a:gd name="adj" fmla="val 3871"/>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20" name="step marker">
            <a:extLst>
              <a:ext uri="{C183D7F6-B498-43B3-948B-1728B52AA6E4}">
                <adec:decorative xmlns:adec="http://schemas.microsoft.com/office/drawing/2017/decorative" val="1"/>
              </a:ext>
            </a:extLst>
          </p:cNvPr>
          <p:cNvSpPr/>
          <p:nvPr/>
        </p:nvSpPr>
        <p:spPr>
          <a:xfrm>
            <a:off x="704088" y="3099816"/>
            <a:ext cx="310896" cy="310896"/>
          </a:xfrm>
          <a:prstGeom prst="ellipse">
            <a:avLst/>
          </a:prstGeom>
          <a:solidFill>
            <a:srgbClr val="8B7BD8"/>
          </a:solidFill>
          <a:ln w="12700">
            <a:solidFill>
              <a:srgbClr val="8B7BD8"/>
            </a:solidFill>
            <a:prstDash val="solid"/>
          </a:ln>
        </p:spPr>
        <p:txBody>
          <a:bodyPr/>
          <a:lstStyle/>
          <a:p>
            <a:endParaRPr lang="en-SE"/>
          </a:p>
        </p:txBody>
      </p:sp>
      <p:sp>
        <p:nvSpPr>
          <p:cNvPr id="21" name="Text 19"/>
          <p:cNvSpPr/>
          <p:nvPr/>
        </p:nvSpPr>
        <p:spPr>
          <a:xfrm>
            <a:off x="704088" y="3099816"/>
            <a:ext cx="310896" cy="310896"/>
          </a:xfrm>
          <a:prstGeom prst="rect">
            <a:avLst/>
          </a:prstGeom>
          <a:noFill/>
          <a:ln/>
        </p:spPr>
        <p:txBody>
          <a:bodyPr wrap="square" lIns="0" tIns="0" rIns="0" bIns="0" rtlCol="0" anchor="ctr"/>
          <a:lstStyle/>
          <a:p>
            <a:pPr marL="0" indent="0" algn="ctr">
              <a:buNone/>
            </a:pPr>
            <a:r>
              <a:rPr lang="en-US" sz="1300" b="1" dirty="0">
                <a:solidFill>
                  <a:srgbClr val="13161A"/>
                </a:solidFill>
                <a:latin typeface="Trebuchet MS" pitchFamily="34" charset="0"/>
                <a:ea typeface="Trebuchet MS" pitchFamily="34" charset="-122"/>
                <a:cs typeface="Trebuchet MS" pitchFamily="34" charset="-120"/>
              </a:rPr>
              <a:t>4</a:t>
            </a:r>
            <a:endParaRPr lang="en-US" sz="1300" dirty="0"/>
          </a:p>
        </p:txBody>
      </p:sp>
      <p:sp>
        <p:nvSpPr>
          <p:cNvPr id="22" name="Text 20"/>
          <p:cNvSpPr/>
          <p:nvPr/>
        </p:nvSpPr>
        <p:spPr>
          <a:xfrm>
            <a:off x="1106424" y="3099816"/>
            <a:ext cx="1780032" cy="329184"/>
          </a:xfrm>
          <a:prstGeom prst="rect">
            <a:avLst/>
          </a:prstGeom>
          <a:noFill/>
          <a:ln/>
        </p:spPr>
        <p:txBody>
          <a:bodyPr wrap="square" lIns="0" tIns="0" rIns="0" bIns="0" rtlCol="0" anchor="ctr"/>
          <a:lstStyle/>
          <a:p>
            <a:pPr marL="0" indent="0">
              <a:buNone/>
            </a:pPr>
            <a:r>
              <a:rPr lang="en-US" sz="1400" b="1" dirty="0">
                <a:solidFill>
                  <a:srgbClr val="8B7BD8"/>
                </a:solidFill>
                <a:latin typeface="Trebuchet MS" pitchFamily="34" charset="0"/>
                <a:ea typeface="Trebuchet MS" pitchFamily="34" charset="-122"/>
                <a:cs typeface="Trebuchet MS" pitchFamily="34" charset="-120"/>
              </a:rPr>
              <a:t>Market data</a:t>
            </a:r>
            <a:endParaRPr lang="en-US" sz="1400" dirty="0"/>
          </a:p>
        </p:txBody>
      </p:sp>
      <p:sp>
        <p:nvSpPr>
          <p:cNvPr id="23" name="Text 21"/>
          <p:cNvSpPr/>
          <p:nvPr/>
        </p:nvSpPr>
        <p:spPr>
          <a:xfrm>
            <a:off x="722376" y="3465576"/>
            <a:ext cx="2127504" cy="758952"/>
          </a:xfrm>
          <a:prstGeom prst="rect">
            <a:avLst/>
          </a:prstGeom>
          <a:noFill/>
          <a:ln/>
        </p:spPr>
        <p:txBody>
          <a:bodyPr wrap="square" lIns="0" tIns="0" rIns="0" bIns="0" rtlCol="0" anchor="t"/>
          <a:lstStyle/>
          <a:p>
            <a:pPr marL="0" indent="0">
              <a:buNone/>
            </a:pPr>
            <a:r>
              <a:rPr lang="en-US" sz="1000" dirty="0">
                <a:solidFill>
                  <a:srgbClr val="D5DAE0"/>
                </a:solidFill>
                <a:latin typeface="Calibri" pitchFamily="34" charset="0"/>
                <a:ea typeface="Calibri" pitchFamily="34" charset="-122"/>
                <a:cs typeface="Calibri" pitchFamily="34" charset="-120"/>
              </a:rPr>
              <a:t>What the market is doing right now: book, depth, trades, auctions, halts.</a:t>
            </a:r>
            <a:endParaRPr lang="en-US" sz="1000" dirty="0"/>
          </a:p>
        </p:txBody>
      </p:sp>
      <p:sp>
        <p:nvSpPr>
          <p:cNvPr id="24" name="card background">
            <a:extLst>
              <a:ext uri="{C183D7F6-B498-43B3-948B-1728B52AA6E4}">
                <adec:decorative xmlns:adec="http://schemas.microsoft.com/office/drawing/2017/decorative" val="1"/>
              </a:ext>
            </a:extLst>
          </p:cNvPr>
          <p:cNvSpPr/>
          <p:nvPr/>
        </p:nvSpPr>
        <p:spPr>
          <a:xfrm>
            <a:off x="3288792" y="2916936"/>
            <a:ext cx="2566416" cy="1417320"/>
          </a:xfrm>
          <a:prstGeom prst="roundRect">
            <a:avLst>
              <a:gd name="adj" fmla="val 3871"/>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25" name="step marker">
            <a:extLst>
              <a:ext uri="{C183D7F6-B498-43B3-948B-1728B52AA6E4}">
                <adec:decorative xmlns:adec="http://schemas.microsoft.com/office/drawing/2017/decorative" val="1"/>
              </a:ext>
            </a:extLst>
          </p:cNvPr>
          <p:cNvSpPr/>
          <p:nvPr/>
        </p:nvSpPr>
        <p:spPr>
          <a:xfrm>
            <a:off x="3489960" y="3099816"/>
            <a:ext cx="310896" cy="310896"/>
          </a:xfrm>
          <a:prstGeom prst="ellipse">
            <a:avLst/>
          </a:prstGeom>
          <a:solidFill>
            <a:srgbClr val="35A79C"/>
          </a:solidFill>
          <a:ln w="12700">
            <a:solidFill>
              <a:srgbClr val="35A79C"/>
            </a:solidFill>
            <a:prstDash val="solid"/>
          </a:ln>
        </p:spPr>
        <p:txBody>
          <a:bodyPr/>
          <a:lstStyle/>
          <a:p>
            <a:endParaRPr lang="en-SE"/>
          </a:p>
        </p:txBody>
      </p:sp>
      <p:sp>
        <p:nvSpPr>
          <p:cNvPr id="26" name="Text 24"/>
          <p:cNvSpPr/>
          <p:nvPr/>
        </p:nvSpPr>
        <p:spPr>
          <a:xfrm>
            <a:off x="3489960" y="3099816"/>
            <a:ext cx="310896" cy="310896"/>
          </a:xfrm>
          <a:prstGeom prst="rect">
            <a:avLst/>
          </a:prstGeom>
          <a:noFill/>
          <a:ln/>
        </p:spPr>
        <p:txBody>
          <a:bodyPr wrap="square" lIns="0" tIns="0" rIns="0" bIns="0" rtlCol="0" anchor="ctr"/>
          <a:lstStyle/>
          <a:p>
            <a:pPr marL="0" indent="0" algn="ctr">
              <a:buNone/>
            </a:pPr>
            <a:r>
              <a:rPr lang="en-US" sz="1300" b="1" dirty="0">
                <a:solidFill>
                  <a:srgbClr val="13161A"/>
                </a:solidFill>
                <a:latin typeface="Trebuchet MS" pitchFamily="34" charset="0"/>
                <a:ea typeface="Trebuchet MS" pitchFamily="34" charset="-122"/>
                <a:cs typeface="Trebuchet MS" pitchFamily="34" charset="-120"/>
              </a:rPr>
              <a:t>5</a:t>
            </a:r>
            <a:endParaRPr lang="en-US" sz="1300" dirty="0"/>
          </a:p>
        </p:txBody>
      </p:sp>
      <p:sp>
        <p:nvSpPr>
          <p:cNvPr id="27" name="Text 25"/>
          <p:cNvSpPr/>
          <p:nvPr/>
        </p:nvSpPr>
        <p:spPr>
          <a:xfrm>
            <a:off x="3892296" y="3099816"/>
            <a:ext cx="1780032" cy="329184"/>
          </a:xfrm>
          <a:prstGeom prst="rect">
            <a:avLst/>
          </a:prstGeom>
          <a:noFill/>
          <a:ln/>
        </p:spPr>
        <p:txBody>
          <a:bodyPr wrap="square" lIns="0" tIns="0" rIns="0" bIns="0" rtlCol="0" anchor="ctr"/>
          <a:lstStyle/>
          <a:p>
            <a:pPr marL="0" indent="0">
              <a:buNone/>
            </a:pPr>
            <a:r>
              <a:rPr lang="en-US" sz="1400" b="1" dirty="0">
                <a:solidFill>
                  <a:srgbClr val="35A79C"/>
                </a:solidFill>
                <a:latin typeface="Trebuchet MS" pitchFamily="34" charset="0"/>
                <a:ea typeface="Trebuchet MS" pitchFamily="34" charset="-122"/>
                <a:cs typeface="Trebuchet MS" pitchFamily="34" charset="-120"/>
              </a:rPr>
              <a:t>History</a:t>
            </a:r>
            <a:endParaRPr lang="en-US" sz="1400" dirty="0"/>
          </a:p>
        </p:txBody>
      </p:sp>
      <p:sp>
        <p:nvSpPr>
          <p:cNvPr id="28" name="Text 26"/>
          <p:cNvSpPr/>
          <p:nvPr/>
        </p:nvSpPr>
        <p:spPr>
          <a:xfrm>
            <a:off x="3508248" y="3465576"/>
            <a:ext cx="2127504" cy="758952"/>
          </a:xfrm>
          <a:prstGeom prst="rect">
            <a:avLst/>
          </a:prstGeom>
          <a:noFill/>
          <a:ln/>
        </p:spPr>
        <p:txBody>
          <a:bodyPr wrap="square" lIns="0" tIns="0" rIns="0" bIns="0" rtlCol="0" anchor="t"/>
          <a:lstStyle/>
          <a:p>
            <a:pPr marL="0" indent="0">
              <a:buNone/>
            </a:pPr>
            <a:r>
              <a:rPr lang="en-US" sz="1000" dirty="0">
                <a:solidFill>
                  <a:srgbClr val="D5DAE0"/>
                </a:solidFill>
                <a:latin typeface="Calibri" pitchFamily="34" charset="0"/>
                <a:ea typeface="Calibri" pitchFamily="34" charset="-122"/>
                <a:cs typeface="Calibri" pitchFamily="34" charset="-120"/>
              </a:rPr>
              <a:t>What already happened: your orders and fills, the public tape, daily bars, index levels.</a:t>
            </a:r>
            <a:endParaRPr lang="en-US" sz="1000" dirty="0"/>
          </a:p>
        </p:txBody>
      </p:sp>
      <p:sp>
        <p:nvSpPr>
          <p:cNvPr id="29" name="card background">
            <a:extLst>
              <a:ext uri="{C183D7F6-B498-43B3-948B-1728B52AA6E4}">
                <adec:decorative xmlns:adec="http://schemas.microsoft.com/office/drawing/2017/decorative" val="1"/>
              </a:ext>
            </a:extLst>
          </p:cNvPr>
          <p:cNvSpPr/>
          <p:nvPr/>
        </p:nvSpPr>
        <p:spPr>
          <a:xfrm>
            <a:off x="6074664" y="2916936"/>
            <a:ext cx="2566416" cy="1417320"/>
          </a:xfrm>
          <a:prstGeom prst="roundRect">
            <a:avLst>
              <a:gd name="adj" fmla="val 3871"/>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30" name="step marker">
            <a:extLst>
              <a:ext uri="{C183D7F6-B498-43B3-948B-1728B52AA6E4}">
                <adec:decorative xmlns:adec="http://schemas.microsoft.com/office/drawing/2017/decorative" val="1"/>
              </a:ext>
            </a:extLst>
          </p:cNvPr>
          <p:cNvSpPr/>
          <p:nvPr/>
        </p:nvSpPr>
        <p:spPr>
          <a:xfrm>
            <a:off x="6275832" y="3099816"/>
            <a:ext cx="310896" cy="310896"/>
          </a:xfrm>
          <a:prstGeom prst="ellipse">
            <a:avLst/>
          </a:prstGeom>
          <a:solidFill>
            <a:srgbClr val="D9534F"/>
          </a:solidFill>
          <a:ln w="12700">
            <a:solidFill>
              <a:srgbClr val="D9534F"/>
            </a:solidFill>
            <a:prstDash val="solid"/>
          </a:ln>
        </p:spPr>
        <p:txBody>
          <a:bodyPr/>
          <a:lstStyle/>
          <a:p>
            <a:endParaRPr lang="en-SE"/>
          </a:p>
        </p:txBody>
      </p:sp>
      <p:sp>
        <p:nvSpPr>
          <p:cNvPr id="31" name="Text 29"/>
          <p:cNvSpPr/>
          <p:nvPr/>
        </p:nvSpPr>
        <p:spPr>
          <a:xfrm>
            <a:off x="6275832" y="3099816"/>
            <a:ext cx="310896" cy="310896"/>
          </a:xfrm>
          <a:prstGeom prst="rect">
            <a:avLst/>
          </a:prstGeom>
          <a:noFill/>
          <a:ln/>
        </p:spPr>
        <p:txBody>
          <a:bodyPr wrap="square" lIns="0" tIns="0" rIns="0" bIns="0" rtlCol="0" anchor="ctr"/>
          <a:lstStyle/>
          <a:p>
            <a:pPr marL="0" indent="0" algn="ctr">
              <a:buNone/>
            </a:pPr>
            <a:r>
              <a:rPr lang="en-US" sz="1300" b="1" dirty="0">
                <a:solidFill>
                  <a:srgbClr val="13161A"/>
                </a:solidFill>
                <a:latin typeface="Trebuchet MS" pitchFamily="34" charset="0"/>
                <a:ea typeface="Trebuchet MS" pitchFamily="34" charset="-122"/>
                <a:cs typeface="Trebuchet MS" pitchFamily="34" charset="-120"/>
              </a:rPr>
              <a:t>6</a:t>
            </a:r>
            <a:endParaRPr lang="en-US" sz="1300" dirty="0"/>
          </a:p>
        </p:txBody>
      </p:sp>
      <p:sp>
        <p:nvSpPr>
          <p:cNvPr id="32" name="Text 30"/>
          <p:cNvSpPr/>
          <p:nvPr/>
        </p:nvSpPr>
        <p:spPr>
          <a:xfrm>
            <a:off x="6678168" y="3099816"/>
            <a:ext cx="1780032" cy="329184"/>
          </a:xfrm>
          <a:prstGeom prst="rect">
            <a:avLst/>
          </a:prstGeom>
          <a:noFill/>
          <a:ln/>
        </p:spPr>
        <p:txBody>
          <a:bodyPr wrap="square" lIns="0" tIns="0" rIns="0" bIns="0" rtlCol="0" anchor="ctr"/>
          <a:lstStyle/>
          <a:p>
            <a:pPr marL="0" indent="0">
              <a:buNone/>
            </a:pPr>
            <a:r>
              <a:rPr lang="en-US" sz="1400" b="1" dirty="0">
                <a:solidFill>
                  <a:srgbClr val="D9534F"/>
                </a:solidFill>
                <a:latin typeface="Trebuchet MS" pitchFamily="34" charset="0"/>
                <a:ea typeface="Trebuchet MS" pitchFamily="34" charset="-122"/>
                <a:cs typeface="Trebuchet MS" pitchFamily="34" charset="-120"/>
              </a:rPr>
              <a:t>Administration</a:t>
            </a:r>
            <a:endParaRPr lang="en-US" sz="1400" dirty="0"/>
          </a:p>
        </p:txBody>
      </p:sp>
      <p:sp>
        <p:nvSpPr>
          <p:cNvPr id="33" name="Text 31"/>
          <p:cNvSpPr/>
          <p:nvPr/>
        </p:nvSpPr>
        <p:spPr>
          <a:xfrm>
            <a:off x="6294120" y="3465576"/>
            <a:ext cx="2127504" cy="758952"/>
          </a:xfrm>
          <a:prstGeom prst="rect">
            <a:avLst/>
          </a:prstGeom>
          <a:noFill/>
          <a:ln/>
        </p:spPr>
        <p:txBody>
          <a:bodyPr wrap="square" lIns="0" tIns="0" rIns="0" bIns="0" rtlCol="0" anchor="t"/>
          <a:lstStyle/>
          <a:p>
            <a:pPr marL="0" indent="0">
              <a:buNone/>
            </a:pPr>
            <a:r>
              <a:rPr lang="en-US" sz="1000" dirty="0">
                <a:solidFill>
                  <a:srgbClr val="D5DAE0"/>
                </a:solidFill>
                <a:latin typeface="Calibri" pitchFamily="34" charset="0"/>
                <a:ea typeface="Calibri" pitchFamily="34" charset="-122"/>
                <a:cs typeface="Calibri" pitchFamily="34" charset="-120"/>
              </a:rPr>
              <a:t>Running the exchange: session transitions, circuit breakers, gateway control.</a:t>
            </a:r>
            <a:endParaRPr lang="en-US" sz="1000" dirty="0"/>
          </a:p>
        </p:txBody>
      </p:sp>
      <p:sp>
        <p:nvSpPr>
          <p:cNvPr id="34" name="Text 32"/>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What flows through</a:t>
            </a:r>
            <a:endParaRPr lang="en-US" sz="900" dirty="0"/>
          </a:p>
        </p:txBody>
      </p:sp>
      <p:sp>
        <p:nvSpPr>
          <p:cNvPr id="35" name="Text 33"/>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8138160" cy="548640"/>
          </a:xfrm>
          <a:prstGeom prst="rect">
            <a:avLst/>
          </a:prstGeom>
          <a:noFill/>
          <a:ln/>
        </p:spPr>
        <p:txBody>
          <a:bodyPr wrap="square" lIns="0" tIns="0" rIns="0" bIns="0" rtlCol="0" anchor="ctr"/>
          <a:lstStyle/>
          <a:p>
            <a:pPr marL="0" indent="0">
              <a:buNone/>
            </a:pPr>
            <a:r>
              <a:rPr lang="en-US" sz="2700" b="1" dirty="0">
                <a:solidFill>
                  <a:srgbClr val="F3F5F7"/>
                </a:solidFill>
                <a:latin typeface="Trebuchet MS" pitchFamily="34" charset="0"/>
                <a:ea typeface="Trebuchet MS" pitchFamily="34" charset="-122"/>
                <a:cs typeface="Trebuchet MS" pitchFamily="34" charset="-120"/>
              </a:rPr>
              <a:t>Direction of travel</a:t>
            </a:r>
            <a:endParaRPr lang="en-US" sz="2700" dirty="0"/>
          </a:p>
        </p:txBody>
      </p:sp>
      <p:sp>
        <p:nvSpPr>
          <p:cNvPr id="3" name="Text 1"/>
          <p:cNvSpPr/>
          <p:nvPr/>
        </p:nvSpPr>
        <p:spPr>
          <a:xfrm>
            <a:off x="502920" y="841248"/>
            <a:ext cx="8138160" cy="237744"/>
          </a:xfrm>
          <a:prstGeom prst="rect">
            <a:avLst/>
          </a:prstGeom>
          <a:noFill/>
          <a:ln/>
        </p:spPr>
        <p:txBody>
          <a:bodyPr wrap="square" lIns="0" tIns="0" rIns="0" bIns="0" rtlCol="0" anchor="ctr"/>
          <a:lstStyle/>
          <a:p>
            <a:pPr marL="0" indent="0">
              <a:buNone/>
            </a:pPr>
            <a:r>
              <a:rPr lang="en-US" sz="1100" b="1" kern="0" spc="200" dirty="0">
                <a:solidFill>
                  <a:srgbClr val="E8722C"/>
                </a:solidFill>
                <a:latin typeface="Calibri" pitchFamily="34" charset="0"/>
                <a:ea typeface="Calibri" pitchFamily="34" charset="-122"/>
                <a:cs typeface="Calibri" pitchFamily="34" charset="-120"/>
              </a:rPr>
              <a:t>SEND AND RECEIVE</a:t>
            </a:r>
            <a:endParaRPr lang="en-US" sz="1100" dirty="0"/>
          </a:p>
        </p:txBody>
      </p:sp>
      <p:sp>
        <p:nvSpPr>
          <p:cNvPr id="4" name="card background">
            <a:extLst>
              <a:ext uri="{C183D7F6-B498-43B3-948B-1728B52AA6E4}">
                <adec:decorative xmlns:adec="http://schemas.microsoft.com/office/drawing/2017/decorative" val="1"/>
              </a:ext>
            </a:extLst>
          </p:cNvPr>
          <p:cNvSpPr/>
          <p:nvPr/>
        </p:nvSpPr>
        <p:spPr>
          <a:xfrm>
            <a:off x="502920" y="1234440"/>
            <a:ext cx="3959352" cy="3383280"/>
          </a:xfrm>
          <a:prstGeom prst="roundRect">
            <a:avLst>
              <a:gd name="adj" fmla="val 1622"/>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5" name="card top edge">
            <a:extLst>
              <a:ext uri="{C183D7F6-B498-43B3-948B-1728B52AA6E4}">
                <adec:decorative xmlns:adec="http://schemas.microsoft.com/office/drawing/2017/decorative" val="1"/>
              </a:ext>
            </a:extLst>
          </p:cNvPr>
          <p:cNvSpPr/>
          <p:nvPr/>
        </p:nvSpPr>
        <p:spPr>
          <a:xfrm>
            <a:off x="502920" y="1234440"/>
            <a:ext cx="3959352" cy="73152"/>
          </a:xfrm>
          <a:prstGeom prst="rect">
            <a:avLst/>
          </a:prstGeom>
          <a:solidFill>
            <a:srgbClr val="E8722C"/>
          </a:solidFill>
          <a:ln w="12700">
            <a:solidFill>
              <a:srgbClr val="E8722C"/>
            </a:solidFill>
            <a:prstDash val="solid"/>
          </a:ln>
        </p:spPr>
        <p:txBody>
          <a:bodyPr/>
          <a:lstStyle/>
          <a:p>
            <a:endParaRPr lang="en-SE"/>
          </a:p>
        </p:txBody>
      </p:sp>
      <p:sp>
        <p:nvSpPr>
          <p:cNvPr id="6" name="Text 4"/>
          <p:cNvSpPr/>
          <p:nvPr/>
        </p:nvSpPr>
        <p:spPr>
          <a:xfrm>
            <a:off x="740664" y="1453896"/>
            <a:ext cx="3502152" cy="365760"/>
          </a:xfrm>
          <a:prstGeom prst="rect">
            <a:avLst/>
          </a:prstGeom>
          <a:noFill/>
          <a:ln/>
        </p:spPr>
        <p:txBody>
          <a:bodyPr wrap="square" lIns="0" tIns="0" rIns="0" bIns="0" rtlCol="0" anchor="ctr"/>
          <a:lstStyle/>
          <a:p>
            <a:pPr marL="0" indent="0">
              <a:buNone/>
            </a:pPr>
            <a:r>
              <a:rPr lang="en-US" sz="1700" b="1" dirty="0">
                <a:solidFill>
                  <a:srgbClr val="E8722C"/>
                </a:solidFill>
                <a:latin typeface="Trebuchet MS" pitchFamily="34" charset="0"/>
                <a:ea typeface="Trebuchet MS" pitchFamily="34" charset="-122"/>
                <a:cs typeface="Trebuchet MS" pitchFamily="34" charset="-120"/>
              </a:rPr>
              <a:t>You send</a:t>
            </a:r>
            <a:endParaRPr lang="en-US" sz="1700" dirty="0"/>
          </a:p>
        </p:txBody>
      </p:sp>
      <p:sp>
        <p:nvSpPr>
          <p:cNvPr id="7" name="Text 5"/>
          <p:cNvSpPr/>
          <p:nvPr/>
        </p:nvSpPr>
        <p:spPr>
          <a:xfrm>
            <a:off x="740664" y="1819656"/>
            <a:ext cx="3502152" cy="274320"/>
          </a:xfrm>
          <a:prstGeom prst="rect">
            <a:avLst/>
          </a:prstGeom>
          <a:noFill/>
          <a:ln/>
        </p:spPr>
        <p:txBody>
          <a:bodyPr wrap="square" lIns="0" tIns="0" rIns="0" bIns="0" rtlCol="0" anchor="ctr"/>
          <a:lstStyle/>
          <a:p>
            <a:pPr marL="0" indent="0">
              <a:buNone/>
            </a:pPr>
            <a:r>
              <a:rPr lang="en-US" sz="1100" i="1" dirty="0">
                <a:solidFill>
                  <a:srgbClr val="97A1AC"/>
                </a:solidFill>
                <a:latin typeface="Calibri" pitchFamily="34" charset="0"/>
                <a:ea typeface="Calibri" pitchFamily="34" charset="-122"/>
                <a:cs typeface="Calibri" pitchFamily="34" charset="-120"/>
              </a:rPr>
              <a:t>Always a request you initiate</a:t>
            </a:r>
            <a:endParaRPr lang="en-US" sz="1100" dirty="0"/>
          </a:p>
        </p:txBody>
      </p:sp>
      <p:sp>
        <p:nvSpPr>
          <p:cNvPr id="8" name="Text 6"/>
          <p:cNvSpPr/>
          <p:nvPr/>
        </p:nvSpPr>
        <p:spPr>
          <a:xfrm>
            <a:off x="740664" y="2167128"/>
            <a:ext cx="3502152" cy="2267712"/>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Orders and quotes you want in the market</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Amendments, cancellations and replacements</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Queries for instruments, session state and your own orders</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History queries with filters, ranges and page cursors</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Subscription instructions on the market-data stream</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Administrative commands, if your identity is permitted</a:t>
            </a:r>
            <a:endParaRPr lang="en-US" sz="1150" dirty="0"/>
          </a:p>
        </p:txBody>
      </p:sp>
      <p:sp>
        <p:nvSpPr>
          <p:cNvPr id="9" name="card background">
            <a:extLst>
              <a:ext uri="{C183D7F6-B498-43B3-948B-1728B52AA6E4}">
                <adec:decorative xmlns:adec="http://schemas.microsoft.com/office/drawing/2017/decorative" val="1"/>
              </a:ext>
            </a:extLst>
          </p:cNvPr>
          <p:cNvSpPr/>
          <p:nvPr/>
        </p:nvSpPr>
        <p:spPr>
          <a:xfrm>
            <a:off x="4681728" y="1234440"/>
            <a:ext cx="3959352" cy="3383280"/>
          </a:xfrm>
          <a:prstGeom prst="roundRect">
            <a:avLst>
              <a:gd name="adj" fmla="val 1622"/>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0" name="card top edge">
            <a:extLst>
              <a:ext uri="{C183D7F6-B498-43B3-948B-1728B52AA6E4}">
                <adec:decorative xmlns:adec="http://schemas.microsoft.com/office/drawing/2017/decorative" val="1"/>
              </a:ext>
            </a:extLst>
          </p:cNvPr>
          <p:cNvSpPr/>
          <p:nvPr/>
        </p:nvSpPr>
        <p:spPr>
          <a:xfrm>
            <a:off x="4681728" y="1234440"/>
            <a:ext cx="3959352" cy="73152"/>
          </a:xfrm>
          <a:prstGeom prst="rect">
            <a:avLst/>
          </a:prstGeom>
          <a:solidFill>
            <a:srgbClr val="35A79C"/>
          </a:solidFill>
          <a:ln w="12700">
            <a:solidFill>
              <a:srgbClr val="35A79C"/>
            </a:solidFill>
            <a:prstDash val="solid"/>
          </a:ln>
        </p:spPr>
        <p:txBody>
          <a:bodyPr/>
          <a:lstStyle/>
          <a:p>
            <a:endParaRPr lang="en-SE"/>
          </a:p>
        </p:txBody>
      </p:sp>
      <p:sp>
        <p:nvSpPr>
          <p:cNvPr id="11" name="Text 9"/>
          <p:cNvSpPr/>
          <p:nvPr/>
        </p:nvSpPr>
        <p:spPr>
          <a:xfrm>
            <a:off x="4919472" y="1453896"/>
            <a:ext cx="3502152" cy="365760"/>
          </a:xfrm>
          <a:prstGeom prst="rect">
            <a:avLst/>
          </a:prstGeom>
          <a:noFill/>
          <a:ln/>
        </p:spPr>
        <p:txBody>
          <a:bodyPr wrap="square" lIns="0" tIns="0" rIns="0" bIns="0" rtlCol="0" anchor="ctr"/>
          <a:lstStyle/>
          <a:p>
            <a:pPr marL="0" indent="0">
              <a:buNone/>
            </a:pPr>
            <a:r>
              <a:rPr lang="en-US" sz="1700" b="1" dirty="0">
                <a:solidFill>
                  <a:srgbClr val="35A79C"/>
                </a:solidFill>
                <a:latin typeface="Trebuchet MS" pitchFamily="34" charset="0"/>
                <a:ea typeface="Trebuchet MS" pitchFamily="34" charset="-122"/>
                <a:cs typeface="Trebuchet MS" pitchFamily="34" charset="-120"/>
              </a:rPr>
              <a:t>You receive</a:t>
            </a:r>
            <a:endParaRPr lang="en-US" sz="1700" dirty="0"/>
          </a:p>
        </p:txBody>
      </p:sp>
      <p:sp>
        <p:nvSpPr>
          <p:cNvPr id="12" name="Text 10"/>
          <p:cNvSpPr/>
          <p:nvPr/>
        </p:nvSpPr>
        <p:spPr>
          <a:xfrm>
            <a:off x="4919472" y="1819656"/>
            <a:ext cx="3502152" cy="274320"/>
          </a:xfrm>
          <a:prstGeom prst="rect">
            <a:avLst/>
          </a:prstGeom>
          <a:noFill/>
          <a:ln/>
        </p:spPr>
        <p:txBody>
          <a:bodyPr wrap="square" lIns="0" tIns="0" rIns="0" bIns="0" rtlCol="0" anchor="ctr"/>
          <a:lstStyle/>
          <a:p>
            <a:pPr marL="0" indent="0">
              <a:buNone/>
            </a:pPr>
            <a:r>
              <a:rPr lang="en-US" sz="1100" i="1" dirty="0">
                <a:solidFill>
                  <a:srgbClr val="97A1AC"/>
                </a:solidFill>
                <a:latin typeface="Calibri" pitchFamily="34" charset="0"/>
                <a:ea typeface="Calibri" pitchFamily="34" charset="-122"/>
                <a:cs typeface="Calibri" pitchFamily="34" charset="-120"/>
              </a:rPr>
              <a:t>Answers you asked for, and events you did not</a:t>
            </a:r>
            <a:endParaRPr lang="en-US" sz="1100" dirty="0"/>
          </a:p>
        </p:txBody>
      </p:sp>
      <p:sp>
        <p:nvSpPr>
          <p:cNvPr id="13" name="Text 11"/>
          <p:cNvSpPr/>
          <p:nvPr/>
        </p:nvSpPr>
        <p:spPr>
          <a:xfrm>
            <a:off x="4919472" y="2167128"/>
            <a:ext cx="3502152" cy="2267712"/>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Immediate confirmations that a request was accepted</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Order lifecycle events: acknowledged, amended, cancelled, filled</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Book, depth, trade and auction updates for your subscriptions</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Session changes and circuit-breaker notices, always delivered</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Pages of historical rows with a cursor to continue</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Errors carrying a code that tells you how to react</a:t>
            </a:r>
            <a:endParaRPr lang="en-US" sz="1150" dirty="0"/>
          </a:p>
        </p:txBody>
      </p:sp>
      <p:sp>
        <p:nvSpPr>
          <p:cNvPr id="14" name="Text 12"/>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What flows through</a:t>
            </a:r>
            <a:endParaRPr lang="en-US" sz="900" dirty="0"/>
          </a:p>
        </p:txBody>
      </p:sp>
      <p:sp>
        <p:nvSpPr>
          <p:cNvPr id="15" name="Text 13"/>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8138160" cy="548640"/>
          </a:xfrm>
          <a:prstGeom prst="rect">
            <a:avLst/>
          </a:prstGeom>
          <a:noFill/>
          <a:ln/>
        </p:spPr>
        <p:txBody>
          <a:bodyPr wrap="square" lIns="0" tIns="0" rIns="0" bIns="0" rtlCol="0" anchor="ctr"/>
          <a:lstStyle/>
          <a:p>
            <a:pPr marL="0" indent="0">
              <a:buNone/>
            </a:pPr>
            <a:r>
              <a:rPr lang="en-US" sz="2700" b="1" dirty="0">
                <a:solidFill>
                  <a:srgbClr val="F3F5F7"/>
                </a:solidFill>
                <a:latin typeface="Trebuchet MS" pitchFamily="34" charset="0"/>
                <a:ea typeface="Trebuchet MS" pitchFamily="34" charset="-122"/>
                <a:cs typeface="Trebuchet MS" pitchFamily="34" charset="-120"/>
              </a:rPr>
              <a:t>Order entry, beyond a single order</a:t>
            </a:r>
            <a:endParaRPr lang="en-US" sz="2700" dirty="0"/>
          </a:p>
        </p:txBody>
      </p:sp>
      <p:sp>
        <p:nvSpPr>
          <p:cNvPr id="3" name="Text 1"/>
          <p:cNvSpPr/>
          <p:nvPr/>
        </p:nvSpPr>
        <p:spPr>
          <a:xfrm>
            <a:off x="502920" y="841248"/>
            <a:ext cx="8138160" cy="237744"/>
          </a:xfrm>
          <a:prstGeom prst="rect">
            <a:avLst/>
          </a:prstGeom>
          <a:noFill/>
          <a:ln/>
        </p:spPr>
        <p:txBody>
          <a:bodyPr wrap="square" lIns="0" tIns="0" rIns="0" bIns="0" rtlCol="0" anchor="ctr"/>
          <a:lstStyle/>
          <a:p>
            <a:pPr marL="0" indent="0">
              <a:buNone/>
            </a:pPr>
            <a:r>
              <a:rPr lang="en-US" sz="1100" b="1" kern="0" spc="200" dirty="0">
                <a:solidFill>
                  <a:srgbClr val="E8722C"/>
                </a:solidFill>
                <a:latin typeface="Calibri" pitchFamily="34" charset="0"/>
                <a:ea typeface="Calibri" pitchFamily="34" charset="-122"/>
                <a:cs typeface="Calibri" pitchFamily="34" charset="-120"/>
              </a:rPr>
              <a:t>CATEGORY 1</a:t>
            </a:r>
            <a:endParaRPr lang="en-US" sz="1100" dirty="0"/>
          </a:p>
        </p:txBody>
      </p:sp>
      <p:sp>
        <p:nvSpPr>
          <p:cNvPr id="4" name="card background">
            <a:extLst>
              <a:ext uri="{C183D7F6-B498-43B3-948B-1728B52AA6E4}">
                <adec:decorative xmlns:adec="http://schemas.microsoft.com/office/drawing/2017/decorative" val="1"/>
              </a:ext>
            </a:extLst>
          </p:cNvPr>
          <p:cNvSpPr/>
          <p:nvPr/>
        </p:nvSpPr>
        <p:spPr>
          <a:xfrm>
            <a:off x="502920" y="1280160"/>
            <a:ext cx="2566416" cy="1371600"/>
          </a:xfrm>
          <a:prstGeom prst="roundRect">
            <a:avLst>
              <a:gd name="adj" fmla="val 400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5" name="Text 3">
            <a:extLst>
              <a:ext uri="{C183D7F6-B498-43B3-948B-1728B52AA6E4}">
                <adec:decorative xmlns:adec="http://schemas.microsoft.com/office/drawing/2017/decorative" val="1"/>
              </a:ext>
            </a:extLst>
          </p:cNvPr>
          <p:cNvSpPr/>
          <p:nvPr/>
        </p:nvSpPr>
        <p:spPr>
          <a:xfrm>
            <a:off x="722376" y="1463040"/>
            <a:ext cx="2164080" cy="329184"/>
          </a:xfrm>
          <a:prstGeom prst="rect">
            <a:avLst/>
          </a:prstGeom>
          <a:noFill/>
          <a:ln/>
        </p:spPr>
        <p:txBody>
          <a:bodyPr wrap="square" lIns="0" tIns="0" rIns="0" bIns="0" rtlCol="0" anchor="ctr"/>
          <a:lstStyle/>
          <a:p>
            <a:pPr marL="0" indent="0">
              <a:buNone/>
            </a:pPr>
            <a:r>
              <a:rPr lang="en-US" sz="1400" b="1" dirty="0">
                <a:solidFill>
                  <a:srgbClr val="E8722C"/>
                </a:solidFill>
                <a:latin typeface="Trebuchet MS" pitchFamily="34" charset="0"/>
                <a:ea typeface="Trebuchet MS" pitchFamily="34" charset="-122"/>
                <a:cs typeface="Trebuchet MS" pitchFamily="34" charset="-120"/>
              </a:rPr>
              <a:t>Single order</a:t>
            </a:r>
            <a:endParaRPr lang="en-US" sz="1400" dirty="0"/>
          </a:p>
        </p:txBody>
      </p:sp>
      <p:sp>
        <p:nvSpPr>
          <p:cNvPr id="6" name="Text 4"/>
          <p:cNvSpPr/>
          <p:nvPr/>
        </p:nvSpPr>
        <p:spPr>
          <a:xfrm>
            <a:off x="722376" y="1828800"/>
            <a:ext cx="2127504" cy="71323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One instrument, one side, one quantity. The building block everything else extends.</a:t>
            </a:r>
            <a:endParaRPr lang="en-US" sz="1050" dirty="0"/>
          </a:p>
        </p:txBody>
      </p:sp>
      <p:sp>
        <p:nvSpPr>
          <p:cNvPr id="7" name="card background">
            <a:extLst>
              <a:ext uri="{C183D7F6-B498-43B3-948B-1728B52AA6E4}">
                <adec:decorative xmlns:adec="http://schemas.microsoft.com/office/drawing/2017/decorative" val="1"/>
              </a:ext>
            </a:extLst>
          </p:cNvPr>
          <p:cNvSpPr/>
          <p:nvPr/>
        </p:nvSpPr>
        <p:spPr>
          <a:xfrm>
            <a:off x="3288792" y="1280160"/>
            <a:ext cx="2566416" cy="1371600"/>
          </a:xfrm>
          <a:prstGeom prst="roundRect">
            <a:avLst>
              <a:gd name="adj" fmla="val 400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8" name="step marker">
            <a:extLst>
              <a:ext uri="{C183D7F6-B498-43B3-948B-1728B52AA6E4}">
                <adec:decorative xmlns:adec="http://schemas.microsoft.com/office/drawing/2017/decorative" val="1"/>
              </a:ext>
            </a:extLst>
          </p:cNvPr>
          <p:cNvSpPr/>
          <p:nvPr/>
        </p:nvSpPr>
        <p:spPr>
          <a:xfrm>
            <a:off x="3489960" y="1463040"/>
            <a:ext cx="310896" cy="310896"/>
          </a:xfrm>
          <a:prstGeom prst="ellipse">
            <a:avLst/>
          </a:prstGeom>
          <a:solidFill>
            <a:srgbClr val="F2A65A"/>
          </a:solidFill>
          <a:ln w="12700">
            <a:solidFill>
              <a:srgbClr val="F2A65A"/>
            </a:solidFill>
            <a:prstDash val="solid"/>
          </a:ln>
        </p:spPr>
        <p:txBody>
          <a:bodyPr/>
          <a:lstStyle/>
          <a:p>
            <a:endParaRPr lang="en-SE"/>
          </a:p>
        </p:txBody>
      </p:sp>
      <p:sp>
        <p:nvSpPr>
          <p:cNvPr id="9" name="Text 7">
            <a:extLst>
              <a:ext uri="{C183D7F6-B498-43B3-948B-1728B52AA6E4}">
                <adec:decorative xmlns:adec="http://schemas.microsoft.com/office/drawing/2017/decorative" val="1"/>
              </a:ext>
            </a:extLst>
          </p:cNvPr>
          <p:cNvSpPr/>
          <p:nvPr/>
        </p:nvSpPr>
        <p:spPr>
          <a:xfrm>
            <a:off x="3489960" y="1463040"/>
            <a:ext cx="310896" cy="310896"/>
          </a:xfrm>
          <a:prstGeom prst="rect">
            <a:avLst/>
          </a:prstGeom>
          <a:noFill/>
          <a:ln/>
        </p:spPr>
        <p:txBody>
          <a:bodyPr wrap="square" lIns="0" tIns="0" rIns="0" bIns="0" rtlCol="0" anchor="ctr"/>
          <a:lstStyle/>
          <a:p>
            <a:pPr marL="0" indent="0" algn="ctr">
              <a:buNone/>
            </a:pPr>
            <a:endParaRPr lang="en-US" sz="1300" dirty="0"/>
          </a:p>
        </p:txBody>
      </p:sp>
      <p:sp>
        <p:nvSpPr>
          <p:cNvPr id="10" name="Text 8">
            <a:extLst>
              <a:ext uri="{C183D7F6-B498-43B3-948B-1728B52AA6E4}">
                <adec:decorative xmlns:adec="http://schemas.microsoft.com/office/drawing/2017/decorative" val="1"/>
              </a:ext>
            </a:extLst>
          </p:cNvPr>
          <p:cNvSpPr/>
          <p:nvPr/>
        </p:nvSpPr>
        <p:spPr>
          <a:xfrm>
            <a:off x="3892296" y="1463040"/>
            <a:ext cx="1780032" cy="329184"/>
          </a:xfrm>
          <a:prstGeom prst="rect">
            <a:avLst/>
          </a:prstGeom>
          <a:noFill/>
          <a:ln/>
        </p:spPr>
        <p:txBody>
          <a:bodyPr wrap="square" lIns="0" tIns="0" rIns="0" bIns="0" rtlCol="0" anchor="ctr"/>
          <a:lstStyle/>
          <a:p>
            <a:pPr marL="0" indent="0">
              <a:buNone/>
            </a:pPr>
            <a:r>
              <a:rPr lang="en-US" sz="1400" b="1" dirty="0">
                <a:solidFill>
                  <a:srgbClr val="F2A65A"/>
                </a:solidFill>
                <a:latin typeface="Trebuchet MS" pitchFamily="34" charset="0"/>
                <a:ea typeface="Trebuchet MS" pitchFamily="34" charset="-122"/>
                <a:cs typeface="Trebuchet MS" pitchFamily="34" charset="-120"/>
              </a:rPr>
              <a:t>OCO pair</a:t>
            </a:r>
            <a:endParaRPr lang="en-US" sz="1400" dirty="0"/>
          </a:p>
        </p:txBody>
      </p:sp>
      <p:sp>
        <p:nvSpPr>
          <p:cNvPr id="11" name="Text 9"/>
          <p:cNvSpPr/>
          <p:nvPr/>
        </p:nvSpPr>
        <p:spPr>
          <a:xfrm>
            <a:off x="3508248" y="1828800"/>
            <a:ext cx="2127504" cy="71323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Two linked exits — a target and a protective stop. When one triggers, the other is withdrawn.</a:t>
            </a:r>
            <a:endParaRPr lang="en-US" sz="1050" dirty="0"/>
          </a:p>
        </p:txBody>
      </p:sp>
      <p:sp>
        <p:nvSpPr>
          <p:cNvPr id="12" name="card background">
            <a:extLst>
              <a:ext uri="{C183D7F6-B498-43B3-948B-1728B52AA6E4}">
                <adec:decorative xmlns:adec="http://schemas.microsoft.com/office/drawing/2017/decorative" val="1"/>
              </a:ext>
            </a:extLst>
          </p:cNvPr>
          <p:cNvSpPr/>
          <p:nvPr/>
        </p:nvSpPr>
        <p:spPr>
          <a:xfrm>
            <a:off x="6074664" y="1280160"/>
            <a:ext cx="2566416" cy="1371600"/>
          </a:xfrm>
          <a:prstGeom prst="roundRect">
            <a:avLst>
              <a:gd name="adj" fmla="val 400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3" name="Text 11"/>
          <p:cNvSpPr/>
          <p:nvPr/>
        </p:nvSpPr>
        <p:spPr>
          <a:xfrm>
            <a:off x="6294120" y="1463040"/>
            <a:ext cx="2164080" cy="329184"/>
          </a:xfrm>
          <a:prstGeom prst="rect">
            <a:avLst/>
          </a:prstGeom>
          <a:noFill/>
          <a:ln/>
        </p:spPr>
        <p:txBody>
          <a:bodyPr wrap="square" lIns="0" tIns="0" rIns="0" bIns="0" rtlCol="0" anchor="ctr"/>
          <a:lstStyle/>
          <a:p>
            <a:pPr marL="0" indent="0">
              <a:buNone/>
            </a:pPr>
            <a:r>
              <a:rPr lang="en-US" sz="1400" b="1" dirty="0">
                <a:solidFill>
                  <a:srgbClr val="35A79C"/>
                </a:solidFill>
                <a:latin typeface="Trebuchet MS" pitchFamily="34" charset="0"/>
                <a:ea typeface="Trebuchet MS" pitchFamily="34" charset="-122"/>
                <a:cs typeface="Trebuchet MS" pitchFamily="34" charset="-120"/>
              </a:rPr>
              <a:t>Combo</a:t>
            </a:r>
            <a:endParaRPr lang="en-US" sz="1400" dirty="0"/>
          </a:p>
        </p:txBody>
      </p:sp>
      <p:sp>
        <p:nvSpPr>
          <p:cNvPr id="14" name="Text 12">
            <a:extLst>
              <a:ext uri="{C183D7F6-B498-43B3-948B-1728B52AA6E4}">
                <adec:decorative xmlns:adec="http://schemas.microsoft.com/office/drawing/2017/decorative" val="1"/>
              </a:ext>
            </a:extLst>
          </p:cNvPr>
          <p:cNvSpPr/>
          <p:nvPr/>
        </p:nvSpPr>
        <p:spPr>
          <a:xfrm>
            <a:off x="6294120" y="1828800"/>
            <a:ext cx="2127504" cy="71323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Several legs submitted as one instruction, for spreads across instruments.</a:t>
            </a:r>
            <a:endParaRPr lang="en-US" sz="1050" dirty="0"/>
          </a:p>
        </p:txBody>
      </p:sp>
      <p:sp>
        <p:nvSpPr>
          <p:cNvPr id="15" name="card background">
            <a:extLst>
              <a:ext uri="{C183D7F6-B498-43B3-948B-1728B52AA6E4}">
                <adec:decorative xmlns:adec="http://schemas.microsoft.com/office/drawing/2017/decorative" val="1"/>
              </a:ext>
            </a:extLst>
          </p:cNvPr>
          <p:cNvSpPr/>
          <p:nvPr/>
        </p:nvSpPr>
        <p:spPr>
          <a:xfrm>
            <a:off x="502920" y="2852928"/>
            <a:ext cx="2566416" cy="1371600"/>
          </a:xfrm>
          <a:prstGeom prst="roundRect">
            <a:avLst>
              <a:gd name="adj" fmla="val 400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6" name="step marker">
            <a:extLst>
              <a:ext uri="{C183D7F6-B498-43B3-948B-1728B52AA6E4}">
                <adec:decorative xmlns:adec="http://schemas.microsoft.com/office/drawing/2017/decorative" val="1"/>
              </a:ext>
            </a:extLst>
          </p:cNvPr>
          <p:cNvSpPr/>
          <p:nvPr/>
        </p:nvSpPr>
        <p:spPr>
          <a:xfrm>
            <a:off x="704088" y="3035808"/>
            <a:ext cx="310896" cy="310896"/>
          </a:xfrm>
          <a:prstGeom prst="ellipse">
            <a:avLst/>
          </a:prstGeom>
          <a:solidFill>
            <a:srgbClr val="8B7BD8"/>
          </a:solidFill>
          <a:ln w="12700">
            <a:solidFill>
              <a:srgbClr val="8B7BD8"/>
            </a:solidFill>
            <a:prstDash val="solid"/>
          </a:ln>
        </p:spPr>
        <p:txBody>
          <a:bodyPr/>
          <a:lstStyle/>
          <a:p>
            <a:endParaRPr lang="en-SE"/>
          </a:p>
        </p:txBody>
      </p:sp>
      <p:sp>
        <p:nvSpPr>
          <p:cNvPr id="17" name="Text 15"/>
          <p:cNvSpPr/>
          <p:nvPr/>
        </p:nvSpPr>
        <p:spPr>
          <a:xfrm>
            <a:off x="704088" y="3035808"/>
            <a:ext cx="310896" cy="310896"/>
          </a:xfrm>
          <a:prstGeom prst="rect">
            <a:avLst/>
          </a:prstGeom>
          <a:noFill/>
          <a:ln/>
        </p:spPr>
        <p:txBody>
          <a:bodyPr wrap="square" lIns="0" tIns="0" rIns="0" bIns="0" rtlCol="0" anchor="ctr"/>
          <a:lstStyle/>
          <a:p>
            <a:pPr marL="0" indent="0" algn="ctr">
              <a:buNone/>
            </a:pPr>
            <a:endParaRPr lang="en-US" sz="1300" dirty="0"/>
          </a:p>
        </p:txBody>
      </p:sp>
      <p:sp>
        <p:nvSpPr>
          <p:cNvPr id="18" name="Text 16"/>
          <p:cNvSpPr/>
          <p:nvPr/>
        </p:nvSpPr>
        <p:spPr>
          <a:xfrm>
            <a:off x="1106424" y="3035808"/>
            <a:ext cx="1780032" cy="329184"/>
          </a:xfrm>
          <a:prstGeom prst="rect">
            <a:avLst/>
          </a:prstGeom>
          <a:noFill/>
          <a:ln/>
        </p:spPr>
        <p:txBody>
          <a:bodyPr wrap="square" lIns="0" tIns="0" rIns="0" bIns="0" rtlCol="0" anchor="ctr"/>
          <a:lstStyle/>
          <a:p>
            <a:pPr marL="0" indent="0">
              <a:buNone/>
            </a:pPr>
            <a:r>
              <a:rPr lang="en-US" sz="1400" b="1" dirty="0">
                <a:solidFill>
                  <a:srgbClr val="8B7BD8"/>
                </a:solidFill>
                <a:latin typeface="Trebuchet MS" pitchFamily="34" charset="0"/>
                <a:ea typeface="Trebuchet MS" pitchFamily="34" charset="-122"/>
                <a:cs typeface="Trebuchet MS" pitchFamily="34" charset="-120"/>
              </a:rPr>
              <a:t>Two-sided quote</a:t>
            </a:r>
            <a:endParaRPr lang="en-US" sz="1400" dirty="0"/>
          </a:p>
        </p:txBody>
      </p:sp>
      <p:sp>
        <p:nvSpPr>
          <p:cNvPr id="19" name="Text 17">
            <a:extLst>
              <a:ext uri="{C183D7F6-B498-43B3-948B-1728B52AA6E4}">
                <adec:decorative xmlns:adec="http://schemas.microsoft.com/office/drawing/2017/decorative" val="1"/>
              </a:ext>
            </a:extLst>
          </p:cNvPr>
          <p:cNvSpPr/>
          <p:nvPr/>
        </p:nvSpPr>
        <p:spPr>
          <a:xfrm>
            <a:off x="722376" y="3401568"/>
            <a:ext cx="2127504" cy="71323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A bid and an offer posted together, the market maker's way of showing a price.</a:t>
            </a:r>
            <a:endParaRPr lang="en-US" sz="1050" dirty="0"/>
          </a:p>
        </p:txBody>
      </p:sp>
      <p:sp>
        <p:nvSpPr>
          <p:cNvPr id="20" name="card background">
            <a:extLst>
              <a:ext uri="{C183D7F6-B498-43B3-948B-1728B52AA6E4}">
                <adec:decorative xmlns:adec="http://schemas.microsoft.com/office/drawing/2017/decorative" val="1"/>
              </a:ext>
            </a:extLst>
          </p:cNvPr>
          <p:cNvSpPr/>
          <p:nvPr/>
        </p:nvSpPr>
        <p:spPr>
          <a:xfrm>
            <a:off x="3288792" y="2852928"/>
            <a:ext cx="2566416" cy="1371600"/>
          </a:xfrm>
          <a:prstGeom prst="roundRect">
            <a:avLst>
              <a:gd name="adj" fmla="val 400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21" name="Text 19"/>
          <p:cNvSpPr/>
          <p:nvPr/>
        </p:nvSpPr>
        <p:spPr>
          <a:xfrm>
            <a:off x="3508248" y="3035808"/>
            <a:ext cx="2164080" cy="329184"/>
          </a:xfrm>
          <a:prstGeom prst="rect">
            <a:avLst/>
          </a:prstGeom>
          <a:noFill/>
          <a:ln/>
        </p:spPr>
        <p:txBody>
          <a:bodyPr wrap="square" lIns="0" tIns="0" rIns="0" bIns="0" rtlCol="0" anchor="ctr"/>
          <a:lstStyle/>
          <a:p>
            <a:pPr marL="0" indent="0">
              <a:buNone/>
            </a:pPr>
            <a:r>
              <a:rPr lang="en-US" sz="1400" b="1" dirty="0">
                <a:solidFill>
                  <a:srgbClr val="D9534F"/>
                </a:solidFill>
                <a:latin typeface="Trebuchet MS" pitchFamily="34" charset="0"/>
                <a:ea typeface="Trebuchet MS" pitchFamily="34" charset="-122"/>
                <a:cs typeface="Trebuchet MS" pitchFamily="34" charset="-120"/>
              </a:rPr>
              <a:t>Mass cancel</a:t>
            </a:r>
            <a:endParaRPr lang="en-US" sz="1400" dirty="0"/>
          </a:p>
        </p:txBody>
      </p:sp>
      <p:sp>
        <p:nvSpPr>
          <p:cNvPr id="22" name="Text 20"/>
          <p:cNvSpPr/>
          <p:nvPr/>
        </p:nvSpPr>
        <p:spPr>
          <a:xfrm>
            <a:off x="3508248" y="3401568"/>
            <a:ext cx="2127504" cy="71323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Withdraw everything, or everything in one instrument, in a single call.</a:t>
            </a:r>
            <a:endParaRPr lang="en-US" sz="1050" dirty="0"/>
          </a:p>
        </p:txBody>
      </p:sp>
      <p:sp>
        <p:nvSpPr>
          <p:cNvPr id="23" name="card background">
            <a:extLst>
              <a:ext uri="{C183D7F6-B498-43B3-948B-1728B52AA6E4}">
                <adec:decorative xmlns:adec="http://schemas.microsoft.com/office/drawing/2017/decorative" val="1"/>
              </a:ext>
            </a:extLst>
          </p:cNvPr>
          <p:cNvSpPr/>
          <p:nvPr/>
        </p:nvSpPr>
        <p:spPr>
          <a:xfrm>
            <a:off x="6074664" y="2852928"/>
            <a:ext cx="2566416" cy="1371600"/>
          </a:xfrm>
          <a:prstGeom prst="roundRect">
            <a:avLst>
              <a:gd name="adj" fmla="val 400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24" name="Text 22">
            <a:extLst>
              <a:ext uri="{C183D7F6-B498-43B3-948B-1728B52AA6E4}">
                <adec:decorative xmlns:adec="http://schemas.microsoft.com/office/drawing/2017/decorative" val="1"/>
              </a:ext>
            </a:extLst>
          </p:cNvPr>
          <p:cNvSpPr/>
          <p:nvPr/>
        </p:nvSpPr>
        <p:spPr>
          <a:xfrm>
            <a:off x="6294120" y="3035808"/>
            <a:ext cx="2164080" cy="329184"/>
          </a:xfrm>
          <a:prstGeom prst="rect">
            <a:avLst/>
          </a:prstGeom>
          <a:noFill/>
          <a:ln/>
        </p:spPr>
        <p:txBody>
          <a:bodyPr wrap="square" lIns="0" tIns="0" rIns="0" bIns="0" rtlCol="0" anchor="ctr"/>
          <a:lstStyle/>
          <a:p>
            <a:pPr marL="0" indent="0">
              <a:buNone/>
            </a:pPr>
            <a:r>
              <a:rPr lang="en-US" sz="1400" b="1" dirty="0">
                <a:solidFill>
                  <a:srgbClr val="D9534F"/>
                </a:solidFill>
                <a:latin typeface="Trebuchet MS" pitchFamily="34" charset="0"/>
                <a:ea typeface="Trebuchet MS" pitchFamily="34" charset="-122"/>
                <a:cs typeface="Trebuchet MS" pitchFamily="34" charset="-120"/>
              </a:rPr>
              <a:t>Kill switch</a:t>
            </a:r>
            <a:endParaRPr lang="en-US" sz="1400" dirty="0"/>
          </a:p>
        </p:txBody>
      </p:sp>
      <p:sp>
        <p:nvSpPr>
          <p:cNvPr id="25" name="Text 23">
            <a:extLst>
              <a:ext uri="{C183D7F6-B498-43B3-948B-1728B52AA6E4}">
                <adec:decorative xmlns:adec="http://schemas.microsoft.com/office/drawing/2017/decorative" val="1"/>
              </a:ext>
            </a:extLst>
          </p:cNvPr>
          <p:cNvSpPr/>
          <p:nvPr/>
        </p:nvSpPr>
        <p:spPr>
          <a:xfrm>
            <a:off x="6294120" y="3401568"/>
            <a:ext cx="2127504" cy="71323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The same withdrawal under an emergency name, for the moment something goes wrong.</a:t>
            </a:r>
            <a:endParaRPr lang="en-US" sz="1050" dirty="0"/>
          </a:p>
        </p:txBody>
      </p:sp>
      <p:sp>
        <p:nvSpPr>
          <p:cNvPr id="26" name="Text 24"/>
          <p:cNvSpPr/>
          <p:nvPr/>
        </p:nvSpPr>
        <p:spPr>
          <a:xfrm>
            <a:off x="502920" y="4261104"/>
            <a:ext cx="8138160" cy="365760"/>
          </a:xfrm>
          <a:prstGeom prst="rect">
            <a:avLst/>
          </a:prstGeom>
          <a:noFill/>
          <a:ln/>
        </p:spPr>
        <p:txBody>
          <a:bodyPr wrap="square" lIns="0" tIns="0" rIns="0" bIns="0" rtlCol="0" anchor="t"/>
          <a:lstStyle/>
          <a:p>
            <a:pPr marL="0" indent="0" algn="l">
              <a:buNone/>
            </a:pPr>
            <a:r>
              <a:rPr lang="en-US" sz="1150" i="1" dirty="0">
                <a:solidFill>
                  <a:srgbClr val="97A1AC"/>
                </a:solidFill>
                <a:latin typeface="Calibri" pitchFamily="34" charset="0"/>
                <a:ea typeface="Calibri" pitchFamily="34" charset="-122"/>
                <a:cs typeface="Calibri" pitchFamily="34" charset="-120"/>
              </a:rPr>
              <a:t>Every one of these is a single HTTP call with a small JSON body.</a:t>
            </a:r>
            <a:endParaRPr lang="en-US" sz="1150" dirty="0"/>
          </a:p>
        </p:txBody>
      </p:sp>
      <p:sp>
        <p:nvSpPr>
          <p:cNvPr id="27" name="Text 25"/>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What flows through</a:t>
            </a:r>
            <a:endParaRPr lang="en-US" sz="900" dirty="0"/>
          </a:p>
        </p:txBody>
      </p:sp>
      <p:sp>
        <p:nvSpPr>
          <p:cNvPr id="28" name="Text 26"/>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8138160" cy="548640"/>
          </a:xfrm>
          <a:prstGeom prst="rect">
            <a:avLst/>
          </a:prstGeom>
          <a:noFill/>
          <a:ln/>
        </p:spPr>
        <p:txBody>
          <a:bodyPr wrap="square" lIns="0" tIns="0" rIns="0" bIns="0" rtlCol="0" anchor="ctr"/>
          <a:lstStyle/>
          <a:p>
            <a:pPr marL="0" indent="0">
              <a:buNone/>
            </a:pPr>
            <a:r>
              <a:rPr lang="en-US" sz="2700" b="1" dirty="0">
                <a:solidFill>
                  <a:srgbClr val="F3F5F7"/>
                </a:solidFill>
                <a:latin typeface="Trebuchet MS" pitchFamily="34" charset="0"/>
                <a:ea typeface="Trebuchet MS" pitchFamily="34" charset="-122"/>
                <a:cs typeface="Trebuchet MS" pitchFamily="34" charset="-120"/>
              </a:rPr>
              <a:t>The life of an order</a:t>
            </a:r>
            <a:endParaRPr lang="en-US" sz="2700" dirty="0"/>
          </a:p>
        </p:txBody>
      </p:sp>
      <p:sp>
        <p:nvSpPr>
          <p:cNvPr id="3" name="Text 1"/>
          <p:cNvSpPr/>
          <p:nvPr/>
        </p:nvSpPr>
        <p:spPr>
          <a:xfrm>
            <a:off x="502920" y="841248"/>
            <a:ext cx="8138160" cy="237744"/>
          </a:xfrm>
          <a:prstGeom prst="rect">
            <a:avLst/>
          </a:prstGeom>
          <a:noFill/>
          <a:ln/>
        </p:spPr>
        <p:txBody>
          <a:bodyPr wrap="square" lIns="0" tIns="0" rIns="0" bIns="0" rtlCol="0" anchor="ctr"/>
          <a:lstStyle/>
          <a:p>
            <a:pPr marL="0" indent="0">
              <a:buNone/>
            </a:pPr>
            <a:r>
              <a:rPr lang="en-US" sz="1100" b="1" kern="0" spc="200" dirty="0">
                <a:solidFill>
                  <a:srgbClr val="E8722C"/>
                </a:solidFill>
                <a:latin typeface="Calibri" pitchFamily="34" charset="0"/>
                <a:ea typeface="Calibri" pitchFamily="34" charset="-122"/>
                <a:cs typeface="Calibri" pitchFamily="34" charset="-120"/>
              </a:rPr>
              <a:t>CATEGORY 2</a:t>
            </a:r>
            <a:endParaRPr lang="en-US" sz="1100" dirty="0"/>
          </a:p>
        </p:txBody>
      </p:sp>
      <p:sp>
        <p:nvSpPr>
          <p:cNvPr id="4" name="card background">
            <a:extLst>
              <a:ext uri="{C183D7F6-B498-43B3-948B-1728B52AA6E4}">
                <adec:decorative xmlns:adec="http://schemas.microsoft.com/office/drawing/2017/decorative" val="1"/>
              </a:ext>
            </a:extLst>
          </p:cNvPr>
          <p:cNvSpPr/>
          <p:nvPr/>
        </p:nvSpPr>
        <p:spPr>
          <a:xfrm>
            <a:off x="502920" y="1463040"/>
            <a:ext cx="1378915" cy="1417320"/>
          </a:xfrm>
          <a:prstGeom prst="roundRect">
            <a:avLst>
              <a:gd name="adj" fmla="val 3979"/>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5" name="card top edge">
            <a:extLst>
              <a:ext uri="{C183D7F6-B498-43B3-948B-1728B52AA6E4}">
                <adec:decorative xmlns:adec="http://schemas.microsoft.com/office/drawing/2017/decorative" val="1"/>
              </a:ext>
            </a:extLst>
          </p:cNvPr>
          <p:cNvSpPr/>
          <p:nvPr/>
        </p:nvSpPr>
        <p:spPr>
          <a:xfrm>
            <a:off x="502920" y="1463040"/>
            <a:ext cx="1378915" cy="64008"/>
          </a:xfrm>
          <a:prstGeom prst="rect">
            <a:avLst/>
          </a:prstGeom>
          <a:solidFill>
            <a:srgbClr val="E8722C"/>
          </a:solidFill>
          <a:ln w="12700">
            <a:solidFill>
              <a:srgbClr val="E8722C"/>
            </a:solidFill>
            <a:prstDash val="solid"/>
          </a:ln>
        </p:spPr>
        <p:txBody>
          <a:bodyPr/>
          <a:lstStyle/>
          <a:p>
            <a:endParaRPr lang="en-SE"/>
          </a:p>
        </p:txBody>
      </p:sp>
      <p:sp>
        <p:nvSpPr>
          <p:cNvPr id="6" name="Text 4"/>
          <p:cNvSpPr/>
          <p:nvPr/>
        </p:nvSpPr>
        <p:spPr>
          <a:xfrm>
            <a:off x="649224" y="1645920"/>
            <a:ext cx="1086307" cy="310896"/>
          </a:xfrm>
          <a:prstGeom prst="rect">
            <a:avLst/>
          </a:prstGeom>
          <a:noFill/>
          <a:ln/>
        </p:spPr>
        <p:txBody>
          <a:bodyPr wrap="square" lIns="0" tIns="0" rIns="0" bIns="0" rtlCol="0" anchor="ctr"/>
          <a:lstStyle/>
          <a:p>
            <a:pPr marL="0" indent="0" algn="ctr">
              <a:buNone/>
            </a:pPr>
            <a:r>
              <a:rPr lang="en-US" sz="1300" b="1" dirty="0">
                <a:solidFill>
                  <a:srgbClr val="E8722C"/>
                </a:solidFill>
                <a:latin typeface="Trebuchet MS" pitchFamily="34" charset="0"/>
                <a:ea typeface="Trebuchet MS" pitchFamily="34" charset="-122"/>
                <a:cs typeface="Trebuchet MS" pitchFamily="34" charset="-120"/>
              </a:rPr>
              <a:t>Submit</a:t>
            </a:r>
            <a:endParaRPr lang="en-US" sz="1300" dirty="0"/>
          </a:p>
        </p:txBody>
      </p:sp>
      <p:sp>
        <p:nvSpPr>
          <p:cNvPr id="7" name="Text 5"/>
          <p:cNvSpPr/>
          <p:nvPr/>
        </p:nvSpPr>
        <p:spPr>
          <a:xfrm>
            <a:off x="630936" y="1975104"/>
            <a:ext cx="1122883" cy="795528"/>
          </a:xfrm>
          <a:prstGeom prst="rect">
            <a:avLst/>
          </a:prstGeom>
          <a:noFill/>
          <a:ln/>
        </p:spPr>
        <p:txBody>
          <a:bodyPr wrap="square" lIns="0" tIns="0" rIns="0" bIns="0" rtlCol="0" anchor="t"/>
          <a:lstStyle/>
          <a:p>
            <a:pPr marL="0" indent="0" algn="ctr">
              <a:buNone/>
            </a:pPr>
            <a:r>
              <a:rPr lang="en-US" sz="1050" dirty="0">
                <a:solidFill>
                  <a:srgbClr val="D5DAE0"/>
                </a:solidFill>
                <a:latin typeface="Calibri" pitchFamily="34" charset="0"/>
                <a:ea typeface="Calibri" pitchFamily="34" charset="-122"/>
                <a:cs typeface="Calibri" pitchFamily="34" charset="-120"/>
              </a:rPr>
              <a:t>You create the order and receive an identifier</a:t>
            </a:r>
            <a:endParaRPr lang="en-US" sz="1050" dirty="0"/>
          </a:p>
        </p:txBody>
      </p:sp>
      <p:sp>
        <p:nvSpPr>
          <p:cNvPr id="8" name="Text 6"/>
          <p:cNvSpPr/>
          <p:nvPr/>
        </p:nvSpPr>
        <p:spPr>
          <a:xfrm>
            <a:off x="1881835" y="1952244"/>
            <a:ext cx="310896" cy="438912"/>
          </a:xfrm>
          <a:prstGeom prst="rect">
            <a:avLst/>
          </a:prstGeom>
          <a:noFill/>
          <a:ln/>
        </p:spPr>
        <p:txBody>
          <a:bodyPr wrap="square" lIns="0" tIns="0" rIns="0" bIns="0" rtlCol="0" anchor="ctr"/>
          <a:lstStyle/>
          <a:p>
            <a:pPr marL="0" indent="0" algn="ctr">
              <a:buNone/>
            </a:pPr>
            <a:r>
              <a:rPr lang="en-US" sz="2200" b="1" dirty="0">
                <a:solidFill>
                  <a:srgbClr val="E8722C"/>
                </a:solidFill>
                <a:latin typeface="Trebuchet MS" pitchFamily="34" charset="0"/>
                <a:ea typeface="Trebuchet MS" pitchFamily="34" charset="-122"/>
                <a:cs typeface="Trebuchet MS" pitchFamily="34" charset="-120"/>
              </a:rPr>
              <a:t>›</a:t>
            </a:r>
            <a:endParaRPr lang="en-US" sz="2200" dirty="0"/>
          </a:p>
        </p:txBody>
      </p:sp>
      <p:sp>
        <p:nvSpPr>
          <p:cNvPr id="9" name="card background">
            <a:extLst>
              <a:ext uri="{C183D7F6-B498-43B3-948B-1728B52AA6E4}">
                <adec:decorative xmlns:adec="http://schemas.microsoft.com/office/drawing/2017/decorative" val="1"/>
              </a:ext>
            </a:extLst>
          </p:cNvPr>
          <p:cNvSpPr/>
          <p:nvPr/>
        </p:nvSpPr>
        <p:spPr>
          <a:xfrm>
            <a:off x="2192731" y="1463040"/>
            <a:ext cx="1378915" cy="1417320"/>
          </a:xfrm>
          <a:prstGeom prst="roundRect">
            <a:avLst>
              <a:gd name="adj" fmla="val 3979"/>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0" name="card top edge">
            <a:extLst>
              <a:ext uri="{C183D7F6-B498-43B3-948B-1728B52AA6E4}">
                <adec:decorative xmlns:adec="http://schemas.microsoft.com/office/drawing/2017/decorative" val="1"/>
              </a:ext>
            </a:extLst>
          </p:cNvPr>
          <p:cNvSpPr/>
          <p:nvPr/>
        </p:nvSpPr>
        <p:spPr>
          <a:xfrm>
            <a:off x="2192731" y="1463040"/>
            <a:ext cx="1378915" cy="64008"/>
          </a:xfrm>
          <a:prstGeom prst="rect">
            <a:avLst/>
          </a:prstGeom>
          <a:solidFill>
            <a:srgbClr val="35A79C"/>
          </a:solidFill>
          <a:ln w="12700">
            <a:solidFill>
              <a:srgbClr val="35A79C"/>
            </a:solidFill>
            <a:prstDash val="solid"/>
          </a:ln>
        </p:spPr>
        <p:txBody>
          <a:bodyPr/>
          <a:lstStyle/>
          <a:p>
            <a:endParaRPr lang="en-SE"/>
          </a:p>
        </p:txBody>
      </p:sp>
      <p:sp>
        <p:nvSpPr>
          <p:cNvPr id="11" name="Text 9"/>
          <p:cNvSpPr/>
          <p:nvPr/>
        </p:nvSpPr>
        <p:spPr>
          <a:xfrm>
            <a:off x="2339035" y="1645920"/>
            <a:ext cx="1086307" cy="310896"/>
          </a:xfrm>
          <a:prstGeom prst="rect">
            <a:avLst/>
          </a:prstGeom>
          <a:noFill/>
          <a:ln/>
        </p:spPr>
        <p:txBody>
          <a:bodyPr wrap="square" lIns="0" tIns="0" rIns="0" bIns="0" rtlCol="0" anchor="ctr"/>
          <a:lstStyle/>
          <a:p>
            <a:pPr marL="0" indent="0" algn="ctr">
              <a:buNone/>
            </a:pPr>
            <a:r>
              <a:rPr lang="en-US" sz="1300" b="1" dirty="0">
                <a:solidFill>
                  <a:srgbClr val="35A79C"/>
                </a:solidFill>
                <a:latin typeface="Trebuchet MS" pitchFamily="34" charset="0"/>
                <a:ea typeface="Trebuchet MS" pitchFamily="34" charset="-122"/>
                <a:cs typeface="Trebuchet MS" pitchFamily="34" charset="-120"/>
              </a:rPr>
              <a:t>Accepted</a:t>
            </a:r>
            <a:endParaRPr lang="en-US" sz="1300" dirty="0"/>
          </a:p>
        </p:txBody>
      </p:sp>
      <p:sp>
        <p:nvSpPr>
          <p:cNvPr id="12" name="Text 10"/>
          <p:cNvSpPr/>
          <p:nvPr/>
        </p:nvSpPr>
        <p:spPr>
          <a:xfrm>
            <a:off x="2320747" y="1975104"/>
            <a:ext cx="1122883" cy="795528"/>
          </a:xfrm>
          <a:prstGeom prst="rect">
            <a:avLst/>
          </a:prstGeom>
          <a:noFill/>
          <a:ln/>
        </p:spPr>
        <p:txBody>
          <a:bodyPr wrap="square" lIns="0" tIns="0" rIns="0" bIns="0" rtlCol="0" anchor="t"/>
          <a:lstStyle/>
          <a:p>
            <a:pPr marL="0" indent="0" algn="ctr">
              <a:buNone/>
            </a:pPr>
            <a:r>
              <a:rPr lang="en-US" sz="1050" dirty="0">
                <a:solidFill>
                  <a:srgbClr val="D5DAE0"/>
                </a:solidFill>
                <a:latin typeface="Calibri" pitchFamily="34" charset="0"/>
                <a:ea typeface="Calibri" pitchFamily="34" charset="-122"/>
                <a:cs typeface="Calibri" pitchFamily="34" charset="-120"/>
              </a:rPr>
              <a:t>The engine accepts it and it becomes live</a:t>
            </a:r>
            <a:endParaRPr lang="en-US" sz="1050" dirty="0"/>
          </a:p>
        </p:txBody>
      </p:sp>
      <p:sp>
        <p:nvSpPr>
          <p:cNvPr id="13" name="Text 11"/>
          <p:cNvSpPr/>
          <p:nvPr/>
        </p:nvSpPr>
        <p:spPr>
          <a:xfrm>
            <a:off x="3571646" y="1952244"/>
            <a:ext cx="310896" cy="438912"/>
          </a:xfrm>
          <a:prstGeom prst="rect">
            <a:avLst/>
          </a:prstGeom>
          <a:noFill/>
          <a:ln/>
        </p:spPr>
        <p:txBody>
          <a:bodyPr wrap="square" lIns="0" tIns="0" rIns="0" bIns="0" rtlCol="0" anchor="ctr"/>
          <a:lstStyle/>
          <a:p>
            <a:pPr marL="0" indent="0" algn="ctr">
              <a:buNone/>
            </a:pPr>
            <a:r>
              <a:rPr lang="en-US" sz="2200" b="1" dirty="0">
                <a:solidFill>
                  <a:srgbClr val="E8722C"/>
                </a:solidFill>
                <a:latin typeface="Trebuchet MS" pitchFamily="34" charset="0"/>
                <a:ea typeface="Trebuchet MS" pitchFamily="34" charset="-122"/>
                <a:cs typeface="Trebuchet MS" pitchFamily="34" charset="-120"/>
              </a:rPr>
              <a:t>›</a:t>
            </a:r>
            <a:endParaRPr lang="en-US" sz="2200" dirty="0"/>
          </a:p>
        </p:txBody>
      </p:sp>
      <p:sp>
        <p:nvSpPr>
          <p:cNvPr id="14" name="card background">
            <a:extLst>
              <a:ext uri="{C183D7F6-B498-43B3-948B-1728B52AA6E4}">
                <adec:decorative xmlns:adec="http://schemas.microsoft.com/office/drawing/2017/decorative" val="1"/>
              </a:ext>
            </a:extLst>
          </p:cNvPr>
          <p:cNvSpPr/>
          <p:nvPr/>
        </p:nvSpPr>
        <p:spPr>
          <a:xfrm>
            <a:off x="3882542" y="1463040"/>
            <a:ext cx="1378915" cy="1417320"/>
          </a:xfrm>
          <a:prstGeom prst="roundRect">
            <a:avLst>
              <a:gd name="adj" fmla="val 3979"/>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5" name="card top edge">
            <a:extLst>
              <a:ext uri="{C183D7F6-B498-43B3-948B-1728B52AA6E4}">
                <adec:decorative xmlns:adec="http://schemas.microsoft.com/office/drawing/2017/decorative" val="1"/>
              </a:ext>
            </a:extLst>
          </p:cNvPr>
          <p:cNvSpPr/>
          <p:nvPr/>
        </p:nvSpPr>
        <p:spPr>
          <a:xfrm>
            <a:off x="3882542" y="1463040"/>
            <a:ext cx="1378915" cy="64008"/>
          </a:xfrm>
          <a:prstGeom prst="rect">
            <a:avLst/>
          </a:prstGeom>
          <a:solidFill>
            <a:srgbClr val="F2A65A"/>
          </a:solidFill>
          <a:ln w="12700">
            <a:solidFill>
              <a:srgbClr val="F2A65A"/>
            </a:solidFill>
            <a:prstDash val="solid"/>
          </a:ln>
        </p:spPr>
        <p:txBody>
          <a:bodyPr/>
          <a:lstStyle/>
          <a:p>
            <a:endParaRPr lang="en-SE"/>
          </a:p>
        </p:txBody>
      </p:sp>
      <p:sp>
        <p:nvSpPr>
          <p:cNvPr id="16" name="Text 14"/>
          <p:cNvSpPr/>
          <p:nvPr/>
        </p:nvSpPr>
        <p:spPr>
          <a:xfrm>
            <a:off x="4028846" y="1645920"/>
            <a:ext cx="1086307" cy="310896"/>
          </a:xfrm>
          <a:prstGeom prst="rect">
            <a:avLst/>
          </a:prstGeom>
          <a:noFill/>
          <a:ln/>
        </p:spPr>
        <p:txBody>
          <a:bodyPr wrap="square" lIns="0" tIns="0" rIns="0" bIns="0" rtlCol="0" anchor="ctr"/>
          <a:lstStyle/>
          <a:p>
            <a:pPr marL="0" indent="0" algn="ctr">
              <a:buNone/>
            </a:pPr>
            <a:r>
              <a:rPr lang="en-US" sz="1300" b="1" dirty="0">
                <a:solidFill>
                  <a:srgbClr val="F2A65A"/>
                </a:solidFill>
                <a:latin typeface="Trebuchet MS" pitchFamily="34" charset="0"/>
                <a:ea typeface="Trebuchet MS" pitchFamily="34" charset="-122"/>
                <a:cs typeface="Trebuchet MS" pitchFamily="34" charset="-120"/>
              </a:rPr>
              <a:t>Amend</a:t>
            </a:r>
            <a:endParaRPr lang="en-US" sz="1300" dirty="0"/>
          </a:p>
        </p:txBody>
      </p:sp>
      <p:sp>
        <p:nvSpPr>
          <p:cNvPr id="17" name="Text 15"/>
          <p:cNvSpPr/>
          <p:nvPr/>
        </p:nvSpPr>
        <p:spPr>
          <a:xfrm>
            <a:off x="4010558" y="1975104"/>
            <a:ext cx="1122883" cy="795528"/>
          </a:xfrm>
          <a:prstGeom prst="rect">
            <a:avLst/>
          </a:prstGeom>
          <a:noFill/>
          <a:ln/>
        </p:spPr>
        <p:txBody>
          <a:bodyPr wrap="square" lIns="0" tIns="0" rIns="0" bIns="0" rtlCol="0" anchor="t"/>
          <a:lstStyle/>
          <a:p>
            <a:pPr marL="0" indent="0" algn="ctr">
              <a:buNone/>
            </a:pPr>
            <a:r>
              <a:rPr lang="en-US" sz="1050" dirty="0">
                <a:solidFill>
                  <a:srgbClr val="D5DAE0"/>
                </a:solidFill>
                <a:latin typeface="Calibri" pitchFamily="34" charset="0"/>
                <a:ea typeface="Calibri" pitchFamily="34" charset="-122"/>
                <a:cs typeface="Calibri" pitchFamily="34" charset="-120"/>
              </a:rPr>
              <a:t>Adjust price, quantity, or both</a:t>
            </a:r>
            <a:endParaRPr lang="en-US" sz="1050" dirty="0"/>
          </a:p>
        </p:txBody>
      </p:sp>
      <p:sp>
        <p:nvSpPr>
          <p:cNvPr id="18" name="Text 16"/>
          <p:cNvSpPr/>
          <p:nvPr/>
        </p:nvSpPr>
        <p:spPr>
          <a:xfrm>
            <a:off x="5261458" y="1952244"/>
            <a:ext cx="310896" cy="438912"/>
          </a:xfrm>
          <a:prstGeom prst="rect">
            <a:avLst/>
          </a:prstGeom>
          <a:noFill/>
          <a:ln/>
        </p:spPr>
        <p:txBody>
          <a:bodyPr wrap="square" lIns="0" tIns="0" rIns="0" bIns="0" rtlCol="0" anchor="ctr"/>
          <a:lstStyle/>
          <a:p>
            <a:pPr marL="0" indent="0" algn="ctr">
              <a:buNone/>
            </a:pPr>
            <a:r>
              <a:rPr lang="en-US" sz="2200" b="1" dirty="0">
                <a:solidFill>
                  <a:srgbClr val="E8722C"/>
                </a:solidFill>
                <a:latin typeface="Trebuchet MS" pitchFamily="34" charset="0"/>
                <a:ea typeface="Trebuchet MS" pitchFamily="34" charset="-122"/>
                <a:cs typeface="Trebuchet MS" pitchFamily="34" charset="-120"/>
              </a:rPr>
              <a:t>›</a:t>
            </a:r>
            <a:endParaRPr lang="en-US" sz="2200" dirty="0"/>
          </a:p>
        </p:txBody>
      </p:sp>
      <p:sp>
        <p:nvSpPr>
          <p:cNvPr id="19" name="card background">
            <a:extLst>
              <a:ext uri="{C183D7F6-B498-43B3-948B-1728B52AA6E4}">
                <adec:decorative xmlns:adec="http://schemas.microsoft.com/office/drawing/2017/decorative" val="1"/>
              </a:ext>
            </a:extLst>
          </p:cNvPr>
          <p:cNvSpPr/>
          <p:nvPr/>
        </p:nvSpPr>
        <p:spPr>
          <a:xfrm>
            <a:off x="5572354" y="1463040"/>
            <a:ext cx="1378915" cy="1417320"/>
          </a:xfrm>
          <a:prstGeom prst="roundRect">
            <a:avLst>
              <a:gd name="adj" fmla="val 3979"/>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20" name="card top edge">
            <a:extLst>
              <a:ext uri="{C183D7F6-B498-43B3-948B-1728B52AA6E4}">
                <adec:decorative xmlns:adec="http://schemas.microsoft.com/office/drawing/2017/decorative" val="1"/>
              </a:ext>
            </a:extLst>
          </p:cNvPr>
          <p:cNvSpPr/>
          <p:nvPr/>
        </p:nvSpPr>
        <p:spPr>
          <a:xfrm>
            <a:off x="5572354" y="1463040"/>
            <a:ext cx="1378915" cy="64008"/>
          </a:xfrm>
          <a:prstGeom prst="rect">
            <a:avLst/>
          </a:prstGeom>
          <a:solidFill>
            <a:srgbClr val="8B7BD8"/>
          </a:solidFill>
          <a:ln w="12700">
            <a:solidFill>
              <a:srgbClr val="8B7BD8"/>
            </a:solidFill>
            <a:prstDash val="solid"/>
          </a:ln>
        </p:spPr>
        <p:txBody>
          <a:bodyPr/>
          <a:lstStyle/>
          <a:p>
            <a:endParaRPr lang="en-SE"/>
          </a:p>
        </p:txBody>
      </p:sp>
      <p:sp>
        <p:nvSpPr>
          <p:cNvPr id="21" name="Text 19"/>
          <p:cNvSpPr/>
          <p:nvPr/>
        </p:nvSpPr>
        <p:spPr>
          <a:xfrm>
            <a:off x="5718658" y="1645920"/>
            <a:ext cx="1086307" cy="310896"/>
          </a:xfrm>
          <a:prstGeom prst="rect">
            <a:avLst/>
          </a:prstGeom>
          <a:noFill/>
          <a:ln/>
        </p:spPr>
        <p:txBody>
          <a:bodyPr wrap="square" lIns="0" tIns="0" rIns="0" bIns="0" rtlCol="0" anchor="ctr"/>
          <a:lstStyle/>
          <a:p>
            <a:pPr marL="0" indent="0" algn="ctr">
              <a:buNone/>
            </a:pPr>
            <a:r>
              <a:rPr lang="en-US" sz="1300" b="1" dirty="0">
                <a:solidFill>
                  <a:srgbClr val="8B7BD8"/>
                </a:solidFill>
                <a:latin typeface="Trebuchet MS" pitchFamily="34" charset="0"/>
                <a:ea typeface="Trebuchet MS" pitchFamily="34" charset="-122"/>
                <a:cs typeface="Trebuchet MS" pitchFamily="34" charset="-120"/>
              </a:rPr>
              <a:t>Fill</a:t>
            </a:r>
            <a:endParaRPr lang="en-US" sz="1300" dirty="0"/>
          </a:p>
        </p:txBody>
      </p:sp>
      <p:sp>
        <p:nvSpPr>
          <p:cNvPr id="22" name="Text 20"/>
          <p:cNvSpPr/>
          <p:nvPr/>
        </p:nvSpPr>
        <p:spPr>
          <a:xfrm>
            <a:off x="5700370" y="1975104"/>
            <a:ext cx="1122883" cy="795528"/>
          </a:xfrm>
          <a:prstGeom prst="rect">
            <a:avLst/>
          </a:prstGeom>
          <a:noFill/>
          <a:ln/>
        </p:spPr>
        <p:txBody>
          <a:bodyPr wrap="square" lIns="0" tIns="0" rIns="0" bIns="0" rtlCol="0" anchor="t"/>
          <a:lstStyle/>
          <a:p>
            <a:pPr marL="0" indent="0" algn="ctr">
              <a:buNone/>
            </a:pPr>
            <a:r>
              <a:rPr lang="en-US" sz="1050" dirty="0">
                <a:solidFill>
                  <a:srgbClr val="D5DAE0"/>
                </a:solidFill>
                <a:latin typeface="Calibri" pitchFamily="34" charset="0"/>
                <a:ea typeface="Calibri" pitchFamily="34" charset="-122"/>
                <a:cs typeface="Calibri" pitchFamily="34" charset="-120"/>
              </a:rPr>
              <a:t>Wholly or partly matched against the other side</a:t>
            </a:r>
            <a:endParaRPr lang="en-US" sz="1050" dirty="0"/>
          </a:p>
        </p:txBody>
      </p:sp>
      <p:sp>
        <p:nvSpPr>
          <p:cNvPr id="23" name="Text 21"/>
          <p:cNvSpPr/>
          <p:nvPr/>
        </p:nvSpPr>
        <p:spPr>
          <a:xfrm>
            <a:off x="6951269" y="1952244"/>
            <a:ext cx="310896" cy="438912"/>
          </a:xfrm>
          <a:prstGeom prst="rect">
            <a:avLst/>
          </a:prstGeom>
          <a:noFill/>
          <a:ln/>
        </p:spPr>
        <p:txBody>
          <a:bodyPr wrap="square" lIns="0" tIns="0" rIns="0" bIns="0" rtlCol="0" anchor="ctr"/>
          <a:lstStyle/>
          <a:p>
            <a:pPr marL="0" indent="0" algn="ctr">
              <a:buNone/>
            </a:pPr>
            <a:r>
              <a:rPr lang="en-US" sz="2200" b="1" dirty="0">
                <a:solidFill>
                  <a:srgbClr val="E8722C"/>
                </a:solidFill>
                <a:latin typeface="Trebuchet MS" pitchFamily="34" charset="0"/>
                <a:ea typeface="Trebuchet MS" pitchFamily="34" charset="-122"/>
                <a:cs typeface="Trebuchet MS" pitchFamily="34" charset="-120"/>
              </a:rPr>
              <a:t>›</a:t>
            </a:r>
            <a:endParaRPr lang="en-US" sz="2200" dirty="0"/>
          </a:p>
        </p:txBody>
      </p:sp>
      <p:sp>
        <p:nvSpPr>
          <p:cNvPr id="24" name="card background">
            <a:extLst>
              <a:ext uri="{C183D7F6-B498-43B3-948B-1728B52AA6E4}">
                <adec:decorative xmlns:adec="http://schemas.microsoft.com/office/drawing/2017/decorative" val="1"/>
              </a:ext>
            </a:extLst>
          </p:cNvPr>
          <p:cNvSpPr/>
          <p:nvPr/>
        </p:nvSpPr>
        <p:spPr>
          <a:xfrm>
            <a:off x="7262165" y="1463040"/>
            <a:ext cx="1378915" cy="1417320"/>
          </a:xfrm>
          <a:prstGeom prst="roundRect">
            <a:avLst>
              <a:gd name="adj" fmla="val 3979"/>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25" name="card top edge">
            <a:extLst>
              <a:ext uri="{C183D7F6-B498-43B3-948B-1728B52AA6E4}">
                <adec:decorative xmlns:adec="http://schemas.microsoft.com/office/drawing/2017/decorative" val="1"/>
              </a:ext>
            </a:extLst>
          </p:cNvPr>
          <p:cNvSpPr/>
          <p:nvPr/>
        </p:nvSpPr>
        <p:spPr>
          <a:xfrm>
            <a:off x="7262165" y="1463040"/>
            <a:ext cx="1378915" cy="64008"/>
          </a:xfrm>
          <a:prstGeom prst="rect">
            <a:avLst/>
          </a:prstGeom>
          <a:solidFill>
            <a:srgbClr val="D9534F"/>
          </a:solidFill>
          <a:ln w="12700">
            <a:solidFill>
              <a:srgbClr val="D9534F"/>
            </a:solidFill>
            <a:prstDash val="solid"/>
          </a:ln>
        </p:spPr>
        <p:txBody>
          <a:bodyPr/>
          <a:lstStyle/>
          <a:p>
            <a:endParaRPr lang="en-SE"/>
          </a:p>
        </p:txBody>
      </p:sp>
      <p:sp>
        <p:nvSpPr>
          <p:cNvPr id="26" name="Text 24"/>
          <p:cNvSpPr/>
          <p:nvPr/>
        </p:nvSpPr>
        <p:spPr>
          <a:xfrm>
            <a:off x="7408469" y="1645920"/>
            <a:ext cx="1086307" cy="310896"/>
          </a:xfrm>
          <a:prstGeom prst="rect">
            <a:avLst/>
          </a:prstGeom>
          <a:noFill/>
          <a:ln/>
        </p:spPr>
        <p:txBody>
          <a:bodyPr wrap="square" lIns="0" tIns="0" rIns="0" bIns="0" rtlCol="0" anchor="ctr"/>
          <a:lstStyle/>
          <a:p>
            <a:pPr marL="0" indent="0" algn="ctr">
              <a:buNone/>
            </a:pPr>
            <a:r>
              <a:rPr lang="en-US" sz="1300" b="1" dirty="0">
                <a:solidFill>
                  <a:srgbClr val="D9534F"/>
                </a:solidFill>
                <a:latin typeface="Trebuchet MS" pitchFamily="34" charset="0"/>
                <a:ea typeface="Trebuchet MS" pitchFamily="34" charset="-122"/>
                <a:cs typeface="Trebuchet MS" pitchFamily="34" charset="-120"/>
              </a:rPr>
              <a:t>Cancel</a:t>
            </a:r>
            <a:endParaRPr lang="en-US" sz="1300" dirty="0"/>
          </a:p>
        </p:txBody>
      </p:sp>
      <p:sp>
        <p:nvSpPr>
          <p:cNvPr id="27" name="Text 25"/>
          <p:cNvSpPr/>
          <p:nvPr/>
        </p:nvSpPr>
        <p:spPr>
          <a:xfrm>
            <a:off x="7390181" y="1975104"/>
            <a:ext cx="1122883" cy="795528"/>
          </a:xfrm>
          <a:prstGeom prst="rect">
            <a:avLst/>
          </a:prstGeom>
          <a:noFill/>
          <a:ln/>
        </p:spPr>
        <p:txBody>
          <a:bodyPr wrap="square" lIns="0" tIns="0" rIns="0" bIns="0" rtlCol="0" anchor="t"/>
          <a:lstStyle/>
          <a:p>
            <a:pPr marL="0" indent="0" algn="ctr">
              <a:buNone/>
            </a:pPr>
            <a:r>
              <a:rPr lang="en-US" sz="1050" dirty="0">
                <a:solidFill>
                  <a:srgbClr val="D5DAE0"/>
                </a:solidFill>
                <a:latin typeface="Calibri" pitchFamily="34" charset="0"/>
                <a:ea typeface="Calibri" pitchFamily="34" charset="-122"/>
                <a:cs typeface="Calibri" pitchFamily="34" charset="-120"/>
              </a:rPr>
              <a:t>Withdrawn by you, or by an exchange event</a:t>
            </a:r>
            <a:endParaRPr lang="en-US" sz="1050" dirty="0"/>
          </a:p>
        </p:txBody>
      </p:sp>
      <p:sp>
        <p:nvSpPr>
          <p:cNvPr id="28" name="card background">
            <a:extLst>
              <a:ext uri="{C183D7F6-B498-43B3-948B-1728B52AA6E4}">
                <adec:decorative xmlns:adec="http://schemas.microsoft.com/office/drawing/2017/decorative" val="1"/>
              </a:ext>
            </a:extLst>
          </p:cNvPr>
          <p:cNvSpPr/>
          <p:nvPr/>
        </p:nvSpPr>
        <p:spPr>
          <a:xfrm>
            <a:off x="502920" y="3108960"/>
            <a:ext cx="2566416" cy="1298448"/>
          </a:xfrm>
          <a:prstGeom prst="roundRect">
            <a:avLst>
              <a:gd name="adj" fmla="val 4225"/>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29" name="step marker">
            <a:extLst>
              <a:ext uri="{C183D7F6-B498-43B3-948B-1728B52AA6E4}">
                <adec:decorative xmlns:adec="http://schemas.microsoft.com/office/drawing/2017/decorative" val="1"/>
              </a:ext>
            </a:extLst>
          </p:cNvPr>
          <p:cNvSpPr/>
          <p:nvPr/>
        </p:nvSpPr>
        <p:spPr>
          <a:xfrm>
            <a:off x="704088" y="3291840"/>
            <a:ext cx="310896" cy="310896"/>
          </a:xfrm>
          <a:prstGeom prst="ellipse">
            <a:avLst/>
          </a:prstGeom>
          <a:solidFill>
            <a:srgbClr val="F2A65A"/>
          </a:solidFill>
          <a:ln w="12700">
            <a:solidFill>
              <a:srgbClr val="F2A65A"/>
            </a:solidFill>
            <a:prstDash val="solid"/>
          </a:ln>
        </p:spPr>
        <p:txBody>
          <a:bodyPr/>
          <a:lstStyle/>
          <a:p>
            <a:endParaRPr lang="en-SE"/>
          </a:p>
        </p:txBody>
      </p:sp>
      <p:sp>
        <p:nvSpPr>
          <p:cNvPr id="30" name="Text 28"/>
          <p:cNvSpPr/>
          <p:nvPr/>
        </p:nvSpPr>
        <p:spPr>
          <a:xfrm>
            <a:off x="704088" y="3291840"/>
            <a:ext cx="310896" cy="310896"/>
          </a:xfrm>
          <a:prstGeom prst="rect">
            <a:avLst/>
          </a:prstGeom>
          <a:noFill/>
          <a:ln/>
        </p:spPr>
        <p:txBody>
          <a:bodyPr wrap="square" lIns="0" tIns="0" rIns="0" bIns="0" rtlCol="0" anchor="ctr"/>
          <a:lstStyle/>
          <a:p>
            <a:pPr marL="0" indent="0" algn="ctr">
              <a:buNone/>
            </a:pPr>
            <a:endParaRPr lang="en-US" sz="1300" dirty="0"/>
          </a:p>
        </p:txBody>
      </p:sp>
      <p:sp>
        <p:nvSpPr>
          <p:cNvPr id="31" name="Text 29"/>
          <p:cNvSpPr/>
          <p:nvPr/>
        </p:nvSpPr>
        <p:spPr>
          <a:xfrm>
            <a:off x="1106424" y="3291840"/>
            <a:ext cx="1780032" cy="329184"/>
          </a:xfrm>
          <a:prstGeom prst="rect">
            <a:avLst/>
          </a:prstGeom>
          <a:noFill/>
          <a:ln/>
        </p:spPr>
        <p:txBody>
          <a:bodyPr wrap="square" lIns="0" tIns="0" rIns="0" bIns="0" rtlCol="0" anchor="ctr"/>
          <a:lstStyle/>
          <a:p>
            <a:pPr marL="0" indent="0">
              <a:buNone/>
            </a:pPr>
            <a:r>
              <a:rPr lang="en-US" sz="1400" b="1" dirty="0">
                <a:solidFill>
                  <a:srgbClr val="F2A65A"/>
                </a:solidFill>
                <a:latin typeface="Trebuchet MS" pitchFamily="34" charset="0"/>
                <a:ea typeface="Trebuchet MS" pitchFamily="34" charset="-122"/>
                <a:cs typeface="Trebuchet MS" pitchFamily="34" charset="-120"/>
              </a:rPr>
              <a:t>Amend vs replace</a:t>
            </a:r>
            <a:endParaRPr lang="en-US" sz="1400" dirty="0"/>
          </a:p>
        </p:txBody>
      </p:sp>
      <p:sp>
        <p:nvSpPr>
          <p:cNvPr id="32" name="Text 30"/>
          <p:cNvSpPr/>
          <p:nvPr/>
        </p:nvSpPr>
        <p:spPr>
          <a:xfrm>
            <a:off x="722376" y="3657600"/>
            <a:ext cx="2127504" cy="640080"/>
          </a:xfrm>
          <a:prstGeom prst="rect">
            <a:avLst/>
          </a:prstGeom>
          <a:noFill/>
          <a:ln/>
        </p:spPr>
        <p:txBody>
          <a:bodyPr wrap="square" lIns="0" tIns="0" rIns="0" bIns="0" rtlCol="0" anchor="t"/>
          <a:lstStyle/>
          <a:p>
            <a:pPr marL="0" indent="0">
              <a:buNone/>
            </a:pPr>
            <a:r>
              <a:rPr lang="en-US" sz="1100" dirty="0">
                <a:solidFill>
                  <a:srgbClr val="D5DAE0"/>
                </a:solidFill>
                <a:latin typeface="Calibri" pitchFamily="34" charset="0"/>
                <a:ea typeface="Calibri" pitchFamily="34" charset="-122"/>
                <a:cs typeface="Calibri" pitchFamily="34" charset="-120"/>
              </a:rPr>
              <a:t>Amending edits the order in place. Replacing withdraws it and submits a fresh one — a new identifier and a new place in the queue.</a:t>
            </a:r>
            <a:endParaRPr lang="en-US" sz="1100" dirty="0"/>
          </a:p>
        </p:txBody>
      </p:sp>
      <p:sp>
        <p:nvSpPr>
          <p:cNvPr id="33" name="card background">
            <a:extLst>
              <a:ext uri="{C183D7F6-B498-43B3-948B-1728B52AA6E4}">
                <adec:decorative xmlns:adec="http://schemas.microsoft.com/office/drawing/2017/decorative" val="1"/>
              </a:ext>
            </a:extLst>
          </p:cNvPr>
          <p:cNvSpPr/>
          <p:nvPr/>
        </p:nvSpPr>
        <p:spPr>
          <a:xfrm>
            <a:off x="3288792" y="3108960"/>
            <a:ext cx="2566416" cy="1298448"/>
          </a:xfrm>
          <a:prstGeom prst="roundRect">
            <a:avLst>
              <a:gd name="adj" fmla="val 4225"/>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34" name="Text 32">
            <a:extLst>
              <a:ext uri="{C183D7F6-B498-43B3-948B-1728B52AA6E4}">
                <adec:decorative xmlns:adec="http://schemas.microsoft.com/office/drawing/2017/decorative" val="1"/>
              </a:ext>
            </a:extLst>
          </p:cNvPr>
          <p:cNvSpPr/>
          <p:nvPr/>
        </p:nvSpPr>
        <p:spPr>
          <a:xfrm>
            <a:off x="3508248" y="3291840"/>
            <a:ext cx="2164080" cy="329184"/>
          </a:xfrm>
          <a:prstGeom prst="rect">
            <a:avLst/>
          </a:prstGeom>
          <a:noFill/>
          <a:ln/>
        </p:spPr>
        <p:txBody>
          <a:bodyPr wrap="square" lIns="0" tIns="0" rIns="0" bIns="0" rtlCol="0" anchor="ctr"/>
          <a:lstStyle/>
          <a:p>
            <a:pPr marL="0" indent="0">
              <a:buNone/>
            </a:pPr>
            <a:r>
              <a:rPr lang="en-US" sz="1400" b="1" dirty="0">
                <a:solidFill>
                  <a:srgbClr val="35A79C"/>
                </a:solidFill>
                <a:latin typeface="Trebuchet MS" pitchFamily="34" charset="0"/>
                <a:ea typeface="Trebuchet MS" pitchFamily="34" charset="-122"/>
                <a:cs typeface="Trebuchet MS" pitchFamily="34" charset="-120"/>
              </a:rPr>
              <a:t>Reading state</a:t>
            </a:r>
            <a:endParaRPr lang="en-US" sz="1400" dirty="0"/>
          </a:p>
        </p:txBody>
      </p:sp>
      <p:sp>
        <p:nvSpPr>
          <p:cNvPr id="35" name="Text 33"/>
          <p:cNvSpPr/>
          <p:nvPr/>
        </p:nvSpPr>
        <p:spPr>
          <a:xfrm>
            <a:off x="3508248" y="3657600"/>
            <a:ext cx="2127504" cy="640080"/>
          </a:xfrm>
          <a:prstGeom prst="rect">
            <a:avLst/>
          </a:prstGeom>
          <a:noFill/>
          <a:ln/>
        </p:spPr>
        <p:txBody>
          <a:bodyPr wrap="square" lIns="0" tIns="0" rIns="0" bIns="0" rtlCol="0" anchor="t"/>
          <a:lstStyle/>
          <a:p>
            <a:pPr marL="0" indent="0">
              <a:buNone/>
            </a:pPr>
            <a:r>
              <a:rPr lang="en-US" sz="1100" dirty="0">
                <a:solidFill>
                  <a:srgbClr val="D5DAE0"/>
                </a:solidFill>
                <a:latin typeface="Calibri" pitchFamily="34" charset="0"/>
                <a:ea typeface="Calibri" pitchFamily="34" charset="-122"/>
                <a:cs typeface="Calibri" pitchFamily="34" charset="-120"/>
              </a:rPr>
              <a:t>List your live orders, or read one from the gateway's own cache without troubling the engine.</a:t>
            </a:r>
            <a:endParaRPr lang="en-US" sz="1100" dirty="0"/>
          </a:p>
        </p:txBody>
      </p:sp>
      <p:sp>
        <p:nvSpPr>
          <p:cNvPr id="36" name="card background">
            <a:extLst>
              <a:ext uri="{C183D7F6-B498-43B3-948B-1728B52AA6E4}">
                <adec:decorative xmlns:adec="http://schemas.microsoft.com/office/drawing/2017/decorative" val="1"/>
              </a:ext>
            </a:extLst>
          </p:cNvPr>
          <p:cNvSpPr/>
          <p:nvPr/>
        </p:nvSpPr>
        <p:spPr>
          <a:xfrm>
            <a:off x="6074664" y="3108960"/>
            <a:ext cx="2566416" cy="1298448"/>
          </a:xfrm>
          <a:prstGeom prst="roundRect">
            <a:avLst>
              <a:gd name="adj" fmla="val 4225"/>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37" name="Text 35"/>
          <p:cNvSpPr/>
          <p:nvPr/>
        </p:nvSpPr>
        <p:spPr>
          <a:xfrm>
            <a:off x="6294120" y="3291840"/>
            <a:ext cx="2164080" cy="329184"/>
          </a:xfrm>
          <a:prstGeom prst="rect">
            <a:avLst/>
          </a:prstGeom>
          <a:noFill/>
          <a:ln/>
        </p:spPr>
        <p:txBody>
          <a:bodyPr wrap="square" lIns="0" tIns="0" rIns="0" bIns="0" rtlCol="0" anchor="ctr"/>
          <a:lstStyle/>
          <a:p>
            <a:pPr marL="0" indent="0">
              <a:buNone/>
            </a:pPr>
            <a:r>
              <a:rPr lang="en-US" sz="1400" b="1" dirty="0">
                <a:solidFill>
                  <a:srgbClr val="E8722C"/>
                </a:solidFill>
                <a:latin typeface="Trebuchet MS" pitchFamily="34" charset="0"/>
                <a:ea typeface="Trebuchet MS" pitchFamily="34" charset="-122"/>
                <a:cs typeface="Trebuchet MS" pitchFamily="34" charset="-120"/>
              </a:rPr>
              <a:t>Client identifiers</a:t>
            </a:r>
            <a:endParaRPr lang="en-US" sz="1400" dirty="0"/>
          </a:p>
        </p:txBody>
      </p:sp>
      <p:sp>
        <p:nvSpPr>
          <p:cNvPr id="38" name="Text 36">
            <a:extLst>
              <a:ext uri="{C183D7F6-B498-43B3-948B-1728B52AA6E4}">
                <adec:decorative xmlns:adec="http://schemas.microsoft.com/office/drawing/2017/decorative" val="1"/>
              </a:ext>
            </a:extLst>
          </p:cNvPr>
          <p:cNvSpPr/>
          <p:nvPr/>
        </p:nvSpPr>
        <p:spPr>
          <a:xfrm>
            <a:off x="6294120" y="3657600"/>
            <a:ext cx="2127504" cy="640080"/>
          </a:xfrm>
          <a:prstGeom prst="rect">
            <a:avLst/>
          </a:prstGeom>
          <a:noFill/>
          <a:ln/>
        </p:spPr>
        <p:txBody>
          <a:bodyPr wrap="square" lIns="0" tIns="0" rIns="0" bIns="0" rtlCol="0" anchor="t"/>
          <a:lstStyle/>
          <a:p>
            <a:pPr marL="0" indent="0">
              <a:buNone/>
            </a:pPr>
            <a:r>
              <a:rPr lang="en-US" sz="1100" dirty="0">
                <a:solidFill>
                  <a:srgbClr val="D5DAE0"/>
                </a:solidFill>
                <a:latin typeface="Calibri" pitchFamily="34" charset="0"/>
                <a:ea typeface="Calibri" pitchFamily="34" charset="-122"/>
                <a:cs typeface="Calibri" pitchFamily="34" charset="-120"/>
              </a:rPr>
              <a:t>Give each order your own reference. Reusing one that is still active is rejected as a duplicate.</a:t>
            </a:r>
            <a:endParaRPr lang="en-US" sz="1100" dirty="0"/>
          </a:p>
        </p:txBody>
      </p:sp>
      <p:sp>
        <p:nvSpPr>
          <p:cNvPr id="39" name="Text 37">
            <a:extLst>
              <a:ext uri="{C183D7F6-B498-43B3-948B-1728B52AA6E4}">
                <adec:decorative xmlns:adec="http://schemas.microsoft.com/office/drawing/2017/decorative" val="1"/>
              </a:ext>
            </a:extLst>
          </p:cNvPr>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What flows through</a:t>
            </a:r>
            <a:endParaRPr lang="en-US" sz="900" dirty="0"/>
          </a:p>
        </p:txBody>
      </p:sp>
      <p:sp>
        <p:nvSpPr>
          <p:cNvPr id="40" name="Text 38"/>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8138160" cy="548640"/>
          </a:xfrm>
          <a:prstGeom prst="rect">
            <a:avLst/>
          </a:prstGeom>
          <a:noFill/>
          <a:ln/>
        </p:spPr>
        <p:txBody>
          <a:bodyPr wrap="square" lIns="0" tIns="0" rIns="0" bIns="0" rtlCol="0" anchor="ctr"/>
          <a:lstStyle/>
          <a:p>
            <a:pPr marL="0" indent="0">
              <a:buNone/>
            </a:pPr>
            <a:r>
              <a:rPr lang="en-US" sz="2700" b="1" dirty="0">
                <a:solidFill>
                  <a:srgbClr val="F3F5F7"/>
                </a:solidFill>
                <a:latin typeface="Trebuchet MS" pitchFamily="34" charset="0"/>
                <a:ea typeface="Trebuchet MS" pitchFamily="34" charset="-122"/>
                <a:cs typeface="Trebuchet MS" pitchFamily="34" charset="-120"/>
              </a:rPr>
              <a:t>Reference and account data</a:t>
            </a:r>
            <a:endParaRPr lang="en-US" sz="2700" dirty="0"/>
          </a:p>
        </p:txBody>
      </p:sp>
      <p:sp>
        <p:nvSpPr>
          <p:cNvPr id="3" name="Text 1"/>
          <p:cNvSpPr/>
          <p:nvPr/>
        </p:nvSpPr>
        <p:spPr>
          <a:xfrm>
            <a:off x="502920" y="841248"/>
            <a:ext cx="8138160" cy="237744"/>
          </a:xfrm>
          <a:prstGeom prst="rect">
            <a:avLst/>
          </a:prstGeom>
          <a:noFill/>
          <a:ln/>
        </p:spPr>
        <p:txBody>
          <a:bodyPr wrap="square" lIns="0" tIns="0" rIns="0" bIns="0" rtlCol="0" anchor="ctr"/>
          <a:lstStyle/>
          <a:p>
            <a:pPr marL="0" indent="0">
              <a:buNone/>
            </a:pPr>
            <a:r>
              <a:rPr lang="en-US" sz="1100" b="1" kern="0" spc="200" dirty="0">
                <a:solidFill>
                  <a:srgbClr val="E8722C"/>
                </a:solidFill>
                <a:latin typeface="Calibri" pitchFamily="34" charset="0"/>
                <a:ea typeface="Calibri" pitchFamily="34" charset="-122"/>
                <a:cs typeface="Calibri" pitchFamily="34" charset="-120"/>
              </a:rPr>
              <a:t>CATEGORY 3</a:t>
            </a:r>
            <a:endParaRPr lang="en-US" sz="1100" dirty="0"/>
          </a:p>
        </p:txBody>
      </p:sp>
      <p:sp>
        <p:nvSpPr>
          <p:cNvPr id="4" name="card background">
            <a:extLst>
              <a:ext uri="{C183D7F6-B498-43B3-948B-1728B52AA6E4}">
                <adec:decorative xmlns:adec="http://schemas.microsoft.com/office/drawing/2017/decorative" val="1"/>
              </a:ext>
            </a:extLst>
          </p:cNvPr>
          <p:cNvSpPr/>
          <p:nvPr/>
        </p:nvSpPr>
        <p:spPr>
          <a:xfrm>
            <a:off x="502920" y="1280160"/>
            <a:ext cx="2566416" cy="1371600"/>
          </a:xfrm>
          <a:prstGeom prst="roundRect">
            <a:avLst>
              <a:gd name="adj" fmla="val 400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5" name="Text 3">
            <a:extLst>
              <a:ext uri="{C183D7F6-B498-43B3-948B-1728B52AA6E4}">
                <adec:decorative xmlns:adec="http://schemas.microsoft.com/office/drawing/2017/decorative" val="1"/>
              </a:ext>
            </a:extLst>
          </p:cNvPr>
          <p:cNvSpPr/>
          <p:nvPr/>
        </p:nvSpPr>
        <p:spPr>
          <a:xfrm>
            <a:off x="722376" y="1463040"/>
            <a:ext cx="2164080" cy="329184"/>
          </a:xfrm>
          <a:prstGeom prst="rect">
            <a:avLst/>
          </a:prstGeom>
          <a:noFill/>
          <a:ln/>
        </p:spPr>
        <p:txBody>
          <a:bodyPr wrap="square" lIns="0" tIns="0" rIns="0" bIns="0" rtlCol="0" anchor="ctr"/>
          <a:lstStyle/>
          <a:p>
            <a:pPr marL="0" indent="0">
              <a:buNone/>
            </a:pPr>
            <a:r>
              <a:rPr lang="en-US" sz="1400" b="1" dirty="0">
                <a:solidFill>
                  <a:srgbClr val="35A79C"/>
                </a:solidFill>
                <a:latin typeface="Trebuchet MS" pitchFamily="34" charset="0"/>
                <a:ea typeface="Trebuchet MS" pitchFamily="34" charset="-122"/>
                <a:cs typeface="Trebuchet MS" pitchFamily="34" charset="-120"/>
              </a:rPr>
              <a:t>Instruments</a:t>
            </a:r>
            <a:endParaRPr lang="en-US" sz="1400" dirty="0"/>
          </a:p>
        </p:txBody>
      </p:sp>
      <p:sp>
        <p:nvSpPr>
          <p:cNvPr id="6" name="Text 4"/>
          <p:cNvSpPr/>
          <p:nvPr/>
        </p:nvSpPr>
        <p:spPr>
          <a:xfrm>
            <a:off x="722376" y="1828800"/>
            <a:ext cx="2127504" cy="71323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The tradable universe and each instrument's metadata. Fetch it once at start-up.</a:t>
            </a:r>
            <a:endParaRPr lang="en-US" sz="1050" dirty="0"/>
          </a:p>
        </p:txBody>
      </p:sp>
      <p:sp>
        <p:nvSpPr>
          <p:cNvPr id="7" name="card background">
            <a:extLst>
              <a:ext uri="{C183D7F6-B498-43B3-948B-1728B52AA6E4}">
                <adec:decorative xmlns:adec="http://schemas.microsoft.com/office/drawing/2017/decorative" val="1"/>
              </a:ext>
            </a:extLst>
          </p:cNvPr>
          <p:cNvSpPr/>
          <p:nvPr/>
        </p:nvSpPr>
        <p:spPr>
          <a:xfrm>
            <a:off x="3288792" y="1280160"/>
            <a:ext cx="2566416" cy="1371600"/>
          </a:xfrm>
          <a:prstGeom prst="roundRect">
            <a:avLst>
              <a:gd name="adj" fmla="val 400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8" name="step marker">
            <a:extLst>
              <a:ext uri="{C183D7F6-B498-43B3-948B-1728B52AA6E4}">
                <adec:decorative xmlns:adec="http://schemas.microsoft.com/office/drawing/2017/decorative" val="1"/>
              </a:ext>
            </a:extLst>
          </p:cNvPr>
          <p:cNvSpPr/>
          <p:nvPr/>
        </p:nvSpPr>
        <p:spPr>
          <a:xfrm>
            <a:off x="3489960" y="1463040"/>
            <a:ext cx="310896" cy="310896"/>
          </a:xfrm>
          <a:prstGeom prst="ellipse">
            <a:avLst/>
          </a:prstGeom>
          <a:solidFill>
            <a:srgbClr val="F2A65A"/>
          </a:solidFill>
          <a:ln w="12700">
            <a:solidFill>
              <a:srgbClr val="F2A65A"/>
            </a:solidFill>
            <a:prstDash val="solid"/>
          </a:ln>
        </p:spPr>
        <p:txBody>
          <a:bodyPr/>
          <a:lstStyle/>
          <a:p>
            <a:endParaRPr lang="en-SE"/>
          </a:p>
        </p:txBody>
      </p:sp>
      <p:sp>
        <p:nvSpPr>
          <p:cNvPr id="9" name="Text 7">
            <a:extLst>
              <a:ext uri="{C183D7F6-B498-43B3-948B-1728B52AA6E4}">
                <adec:decorative xmlns:adec="http://schemas.microsoft.com/office/drawing/2017/decorative" val="1"/>
              </a:ext>
            </a:extLst>
          </p:cNvPr>
          <p:cNvSpPr/>
          <p:nvPr/>
        </p:nvSpPr>
        <p:spPr>
          <a:xfrm>
            <a:off x="3489960" y="1463040"/>
            <a:ext cx="310896" cy="310896"/>
          </a:xfrm>
          <a:prstGeom prst="rect">
            <a:avLst/>
          </a:prstGeom>
          <a:noFill/>
          <a:ln/>
        </p:spPr>
        <p:txBody>
          <a:bodyPr wrap="square" lIns="0" tIns="0" rIns="0" bIns="0" rtlCol="0" anchor="ctr"/>
          <a:lstStyle/>
          <a:p>
            <a:pPr marL="0" indent="0" algn="ctr">
              <a:buNone/>
            </a:pPr>
            <a:endParaRPr lang="en-US" sz="1300" dirty="0"/>
          </a:p>
        </p:txBody>
      </p:sp>
      <p:sp>
        <p:nvSpPr>
          <p:cNvPr id="10" name="Text 8">
            <a:extLst>
              <a:ext uri="{C183D7F6-B498-43B3-948B-1728B52AA6E4}">
                <adec:decorative xmlns:adec="http://schemas.microsoft.com/office/drawing/2017/decorative" val="1"/>
              </a:ext>
            </a:extLst>
          </p:cNvPr>
          <p:cNvSpPr/>
          <p:nvPr/>
        </p:nvSpPr>
        <p:spPr>
          <a:xfrm>
            <a:off x="3892296" y="1463040"/>
            <a:ext cx="1780032" cy="329184"/>
          </a:xfrm>
          <a:prstGeom prst="rect">
            <a:avLst/>
          </a:prstGeom>
          <a:noFill/>
          <a:ln/>
        </p:spPr>
        <p:txBody>
          <a:bodyPr wrap="square" lIns="0" tIns="0" rIns="0" bIns="0" rtlCol="0" anchor="ctr"/>
          <a:lstStyle/>
          <a:p>
            <a:pPr marL="0" indent="0">
              <a:buNone/>
            </a:pPr>
            <a:r>
              <a:rPr lang="en-US" sz="1400" b="1" dirty="0">
                <a:solidFill>
                  <a:srgbClr val="F2A65A"/>
                </a:solidFill>
                <a:latin typeface="Trebuchet MS" pitchFamily="34" charset="0"/>
                <a:ea typeface="Trebuchet MS" pitchFamily="34" charset="-122"/>
                <a:cs typeface="Trebuchet MS" pitchFamily="34" charset="-120"/>
              </a:rPr>
              <a:t>Session</a:t>
            </a:r>
            <a:endParaRPr lang="en-US" sz="1400" dirty="0"/>
          </a:p>
        </p:txBody>
      </p:sp>
      <p:sp>
        <p:nvSpPr>
          <p:cNvPr id="11" name="Text 9"/>
          <p:cNvSpPr/>
          <p:nvPr/>
        </p:nvSpPr>
        <p:spPr>
          <a:xfrm>
            <a:off x="3508248" y="1828800"/>
            <a:ext cx="2127504" cy="71323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Whether the market is pre-open, auctioning, trading continuously or closed — plus the schedule.</a:t>
            </a:r>
            <a:endParaRPr lang="en-US" sz="1050" dirty="0"/>
          </a:p>
        </p:txBody>
      </p:sp>
      <p:sp>
        <p:nvSpPr>
          <p:cNvPr id="12" name="card background">
            <a:extLst>
              <a:ext uri="{C183D7F6-B498-43B3-948B-1728B52AA6E4}">
                <adec:decorative xmlns:adec="http://schemas.microsoft.com/office/drawing/2017/decorative" val="1"/>
              </a:ext>
            </a:extLst>
          </p:cNvPr>
          <p:cNvSpPr/>
          <p:nvPr/>
        </p:nvSpPr>
        <p:spPr>
          <a:xfrm>
            <a:off x="6074664" y="1280160"/>
            <a:ext cx="2566416" cy="1371600"/>
          </a:xfrm>
          <a:prstGeom prst="roundRect">
            <a:avLst>
              <a:gd name="adj" fmla="val 400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3" name="Text 11"/>
          <p:cNvSpPr/>
          <p:nvPr/>
        </p:nvSpPr>
        <p:spPr>
          <a:xfrm>
            <a:off x="6294120" y="1463040"/>
            <a:ext cx="2164080" cy="329184"/>
          </a:xfrm>
          <a:prstGeom prst="rect">
            <a:avLst/>
          </a:prstGeom>
          <a:noFill/>
          <a:ln/>
        </p:spPr>
        <p:txBody>
          <a:bodyPr wrap="square" lIns="0" tIns="0" rIns="0" bIns="0" rtlCol="0" anchor="ctr"/>
          <a:lstStyle/>
          <a:p>
            <a:pPr marL="0" indent="0">
              <a:buNone/>
            </a:pPr>
            <a:r>
              <a:rPr lang="en-US" sz="1400" b="1" dirty="0">
                <a:solidFill>
                  <a:srgbClr val="E8722C"/>
                </a:solidFill>
                <a:latin typeface="Trebuchet MS" pitchFamily="34" charset="0"/>
                <a:ea typeface="Trebuchet MS" pitchFamily="34" charset="-122"/>
                <a:cs typeface="Trebuchet MS" pitchFamily="34" charset="-120"/>
              </a:rPr>
              <a:t>Positions</a:t>
            </a:r>
            <a:endParaRPr lang="en-US" sz="1400" dirty="0"/>
          </a:p>
        </p:txBody>
      </p:sp>
      <p:sp>
        <p:nvSpPr>
          <p:cNvPr id="14" name="Text 12">
            <a:extLst>
              <a:ext uri="{C183D7F6-B498-43B3-948B-1728B52AA6E4}">
                <adec:decorative xmlns:adec="http://schemas.microsoft.com/office/drawing/2017/decorative" val="1"/>
              </a:ext>
            </a:extLst>
          </p:cNvPr>
          <p:cNvSpPr/>
          <p:nvPr/>
        </p:nvSpPr>
        <p:spPr>
          <a:xfrm>
            <a:off x="6294120" y="1828800"/>
            <a:ext cx="2127504" cy="71323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Net quantity per instrument, computed from the fills the gateway has seen this session.</a:t>
            </a:r>
            <a:endParaRPr lang="en-US" sz="1050" dirty="0"/>
          </a:p>
        </p:txBody>
      </p:sp>
      <p:sp>
        <p:nvSpPr>
          <p:cNvPr id="15" name="card background">
            <a:extLst>
              <a:ext uri="{C183D7F6-B498-43B3-948B-1728B52AA6E4}">
                <adec:decorative xmlns:adec="http://schemas.microsoft.com/office/drawing/2017/decorative" val="1"/>
              </a:ext>
            </a:extLst>
          </p:cNvPr>
          <p:cNvSpPr/>
          <p:nvPr/>
        </p:nvSpPr>
        <p:spPr>
          <a:xfrm>
            <a:off x="502920" y="2852928"/>
            <a:ext cx="2566416" cy="1371600"/>
          </a:xfrm>
          <a:prstGeom prst="roundRect">
            <a:avLst>
              <a:gd name="adj" fmla="val 400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6" name="step marker">
            <a:extLst>
              <a:ext uri="{C183D7F6-B498-43B3-948B-1728B52AA6E4}">
                <adec:decorative xmlns:adec="http://schemas.microsoft.com/office/drawing/2017/decorative" val="1"/>
              </a:ext>
            </a:extLst>
          </p:cNvPr>
          <p:cNvSpPr/>
          <p:nvPr/>
        </p:nvSpPr>
        <p:spPr>
          <a:xfrm>
            <a:off x="704088" y="3035808"/>
            <a:ext cx="310896" cy="310896"/>
          </a:xfrm>
          <a:prstGeom prst="ellipse">
            <a:avLst/>
          </a:prstGeom>
          <a:solidFill>
            <a:srgbClr val="8B7BD8"/>
          </a:solidFill>
          <a:ln w="12700">
            <a:solidFill>
              <a:srgbClr val="8B7BD8"/>
            </a:solidFill>
            <a:prstDash val="solid"/>
          </a:ln>
        </p:spPr>
        <p:txBody>
          <a:bodyPr/>
          <a:lstStyle/>
          <a:p>
            <a:endParaRPr lang="en-SE"/>
          </a:p>
        </p:txBody>
      </p:sp>
      <p:sp>
        <p:nvSpPr>
          <p:cNvPr id="17" name="Text 15"/>
          <p:cNvSpPr/>
          <p:nvPr/>
        </p:nvSpPr>
        <p:spPr>
          <a:xfrm>
            <a:off x="704088" y="3035808"/>
            <a:ext cx="310896" cy="310896"/>
          </a:xfrm>
          <a:prstGeom prst="rect">
            <a:avLst/>
          </a:prstGeom>
          <a:noFill/>
          <a:ln/>
        </p:spPr>
        <p:txBody>
          <a:bodyPr wrap="square" lIns="0" tIns="0" rIns="0" bIns="0" rtlCol="0" anchor="ctr"/>
          <a:lstStyle/>
          <a:p>
            <a:pPr marL="0" indent="0" algn="ctr">
              <a:buNone/>
            </a:pPr>
            <a:endParaRPr lang="en-US" sz="1300" dirty="0"/>
          </a:p>
        </p:txBody>
      </p:sp>
      <p:sp>
        <p:nvSpPr>
          <p:cNvPr id="18" name="Text 16"/>
          <p:cNvSpPr/>
          <p:nvPr/>
        </p:nvSpPr>
        <p:spPr>
          <a:xfrm>
            <a:off x="1106424" y="3035808"/>
            <a:ext cx="1780032" cy="329184"/>
          </a:xfrm>
          <a:prstGeom prst="rect">
            <a:avLst/>
          </a:prstGeom>
          <a:noFill/>
          <a:ln/>
        </p:spPr>
        <p:txBody>
          <a:bodyPr wrap="square" lIns="0" tIns="0" rIns="0" bIns="0" rtlCol="0" anchor="ctr"/>
          <a:lstStyle/>
          <a:p>
            <a:pPr marL="0" indent="0">
              <a:buNone/>
            </a:pPr>
            <a:r>
              <a:rPr lang="en-US" sz="1400" b="1" dirty="0">
                <a:solidFill>
                  <a:srgbClr val="8B7BD8"/>
                </a:solidFill>
                <a:latin typeface="Trebuchet MS" pitchFamily="34" charset="0"/>
                <a:ea typeface="Trebuchet MS" pitchFamily="34" charset="-122"/>
                <a:cs typeface="Trebuchet MS" pitchFamily="34" charset="-120"/>
              </a:rPr>
              <a:t>Live orders</a:t>
            </a:r>
            <a:endParaRPr lang="en-US" sz="1400" dirty="0"/>
          </a:p>
        </p:txBody>
      </p:sp>
      <p:sp>
        <p:nvSpPr>
          <p:cNvPr id="19" name="Text 17">
            <a:extLst>
              <a:ext uri="{C183D7F6-B498-43B3-948B-1728B52AA6E4}">
                <adec:decorative xmlns:adec="http://schemas.microsoft.com/office/drawing/2017/decorative" val="1"/>
              </a:ext>
            </a:extLst>
          </p:cNvPr>
          <p:cNvSpPr/>
          <p:nvPr/>
        </p:nvSpPr>
        <p:spPr>
          <a:xfrm>
            <a:off x="722376" y="3401568"/>
            <a:ext cx="2127504" cy="71323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Everything of yours currently working in the market.</a:t>
            </a:r>
            <a:endParaRPr lang="en-US" sz="1050" dirty="0"/>
          </a:p>
        </p:txBody>
      </p:sp>
      <p:sp>
        <p:nvSpPr>
          <p:cNvPr id="20" name="card background">
            <a:extLst>
              <a:ext uri="{C183D7F6-B498-43B3-948B-1728B52AA6E4}">
                <adec:decorative xmlns:adec="http://schemas.microsoft.com/office/drawing/2017/decorative" val="1"/>
              </a:ext>
            </a:extLst>
          </p:cNvPr>
          <p:cNvSpPr/>
          <p:nvPr/>
        </p:nvSpPr>
        <p:spPr>
          <a:xfrm>
            <a:off x="3288792" y="2852928"/>
            <a:ext cx="2566416" cy="1371600"/>
          </a:xfrm>
          <a:prstGeom prst="roundRect">
            <a:avLst>
              <a:gd name="adj" fmla="val 400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21" name="Text 19"/>
          <p:cNvSpPr/>
          <p:nvPr/>
        </p:nvSpPr>
        <p:spPr>
          <a:xfrm>
            <a:off x="3508248" y="3035808"/>
            <a:ext cx="2164080" cy="329184"/>
          </a:xfrm>
          <a:prstGeom prst="rect">
            <a:avLst/>
          </a:prstGeom>
          <a:noFill/>
          <a:ln/>
        </p:spPr>
        <p:txBody>
          <a:bodyPr wrap="square" lIns="0" tIns="0" rIns="0" bIns="0" rtlCol="0" anchor="ctr"/>
          <a:lstStyle/>
          <a:p>
            <a:pPr marL="0" indent="0">
              <a:buNone/>
            </a:pPr>
            <a:r>
              <a:rPr lang="en-US" sz="1400" b="1" dirty="0">
                <a:solidFill>
                  <a:srgbClr val="35A79C"/>
                </a:solidFill>
                <a:latin typeface="Trebuchet MS" pitchFamily="34" charset="0"/>
                <a:ea typeface="Trebuchet MS" pitchFamily="34" charset="-122"/>
                <a:cs typeface="Trebuchet MS" pitchFamily="34" charset="-120"/>
              </a:rPr>
              <a:t>Quote state</a:t>
            </a:r>
            <a:endParaRPr lang="en-US" sz="1400" dirty="0"/>
          </a:p>
        </p:txBody>
      </p:sp>
      <p:sp>
        <p:nvSpPr>
          <p:cNvPr id="22" name="Text 20"/>
          <p:cNvSpPr/>
          <p:nvPr/>
        </p:nvSpPr>
        <p:spPr>
          <a:xfrm>
            <a:off x="3508248" y="3401568"/>
            <a:ext cx="2127504" cy="71323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Your active two-sided quotes and their individual legs.</a:t>
            </a:r>
            <a:endParaRPr lang="en-US" sz="1050" dirty="0"/>
          </a:p>
        </p:txBody>
      </p:sp>
      <p:sp>
        <p:nvSpPr>
          <p:cNvPr id="23" name="card background">
            <a:extLst>
              <a:ext uri="{C183D7F6-B498-43B3-948B-1728B52AA6E4}">
                <adec:decorative xmlns:adec="http://schemas.microsoft.com/office/drawing/2017/decorative" val="1"/>
              </a:ext>
            </a:extLst>
          </p:cNvPr>
          <p:cNvSpPr/>
          <p:nvPr/>
        </p:nvSpPr>
        <p:spPr>
          <a:xfrm>
            <a:off x="6074664" y="2852928"/>
            <a:ext cx="2566416" cy="1371600"/>
          </a:xfrm>
          <a:prstGeom prst="roundRect">
            <a:avLst>
              <a:gd name="adj" fmla="val 400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24" name="Text 22">
            <a:extLst>
              <a:ext uri="{C183D7F6-B498-43B3-948B-1728B52AA6E4}">
                <adec:decorative xmlns:adec="http://schemas.microsoft.com/office/drawing/2017/decorative" val="1"/>
              </a:ext>
            </a:extLst>
          </p:cNvPr>
          <p:cNvSpPr/>
          <p:nvPr/>
        </p:nvSpPr>
        <p:spPr>
          <a:xfrm>
            <a:off x="6294120" y="3035808"/>
            <a:ext cx="2164080" cy="329184"/>
          </a:xfrm>
          <a:prstGeom prst="rect">
            <a:avLst/>
          </a:prstGeom>
          <a:noFill/>
          <a:ln/>
        </p:spPr>
        <p:txBody>
          <a:bodyPr wrap="square" lIns="0" tIns="0" rIns="0" bIns="0" rtlCol="0" anchor="ctr"/>
          <a:lstStyle/>
          <a:p>
            <a:pPr marL="0" indent="0">
              <a:buNone/>
            </a:pPr>
            <a:r>
              <a:rPr lang="en-US" sz="1400" b="1" dirty="0">
                <a:solidFill>
                  <a:srgbClr val="E8722C"/>
                </a:solidFill>
                <a:latin typeface="Trebuchet MS" pitchFamily="34" charset="0"/>
                <a:ea typeface="Trebuchet MS" pitchFamily="34" charset="-122"/>
                <a:cs typeface="Trebuchet MS" pitchFamily="34" charset="-120"/>
              </a:rPr>
              <a:t>Status</a:t>
            </a:r>
            <a:endParaRPr lang="en-US" sz="1400" dirty="0"/>
          </a:p>
        </p:txBody>
      </p:sp>
      <p:sp>
        <p:nvSpPr>
          <p:cNvPr id="25" name="Text 23">
            <a:extLst>
              <a:ext uri="{C183D7F6-B498-43B3-948B-1728B52AA6E4}">
                <adec:decorative xmlns:adec="http://schemas.microsoft.com/office/drawing/2017/decorative" val="1"/>
              </a:ext>
            </a:extLst>
          </p:cNvPr>
          <p:cNvSpPr/>
          <p:nvPr/>
        </p:nvSpPr>
        <p:spPr>
          <a:xfrm>
            <a:off x="6294120" y="3401568"/>
            <a:ext cx="2127504" cy="71323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The gateway's own summary: your resolved role and what its caches currently hold.</a:t>
            </a:r>
            <a:endParaRPr lang="en-US" sz="1050" dirty="0"/>
          </a:p>
        </p:txBody>
      </p:sp>
      <p:sp>
        <p:nvSpPr>
          <p:cNvPr id="26" name="Text 24"/>
          <p:cNvSpPr/>
          <p:nvPr/>
        </p:nvSpPr>
        <p:spPr>
          <a:xfrm>
            <a:off x="502920" y="4261104"/>
            <a:ext cx="8138160" cy="365760"/>
          </a:xfrm>
          <a:prstGeom prst="rect">
            <a:avLst/>
          </a:prstGeom>
          <a:noFill/>
          <a:ln/>
        </p:spPr>
        <p:txBody>
          <a:bodyPr wrap="square" lIns="0" tIns="0" rIns="0" bIns="0" rtlCol="0" anchor="t"/>
          <a:lstStyle/>
          <a:p>
            <a:pPr marL="0" indent="0" algn="l">
              <a:buNone/>
            </a:pPr>
            <a:r>
              <a:rPr lang="en-US" sz="1150" i="1" dirty="0">
                <a:solidFill>
                  <a:srgbClr val="97A1AC"/>
                </a:solidFill>
                <a:latin typeface="Calibri" pitchFamily="34" charset="0"/>
                <a:ea typeface="Calibri" pitchFamily="34" charset="-122"/>
                <a:cs typeface="Calibri" pitchFamily="34" charset="-120"/>
              </a:rPr>
              <a:t>Positions and cached orders are session-scoped: they describe what this gateway has observed since it started.</a:t>
            </a:r>
            <a:endParaRPr lang="en-US" sz="1150" dirty="0"/>
          </a:p>
        </p:txBody>
      </p:sp>
      <p:sp>
        <p:nvSpPr>
          <p:cNvPr id="27" name="Text 25"/>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What flows through</a:t>
            </a:r>
            <a:endParaRPr lang="en-US" sz="900" dirty="0"/>
          </a:p>
        </p:txBody>
      </p:sp>
      <p:sp>
        <p:nvSpPr>
          <p:cNvPr id="28" name="Text 26"/>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8138160" cy="548640"/>
          </a:xfrm>
          <a:prstGeom prst="rect">
            <a:avLst/>
          </a:prstGeom>
          <a:noFill/>
          <a:ln/>
        </p:spPr>
        <p:txBody>
          <a:bodyPr wrap="square" lIns="0" tIns="0" rIns="0" bIns="0" rtlCol="0" anchor="ctr"/>
          <a:lstStyle/>
          <a:p>
            <a:pPr marL="0" indent="0">
              <a:buNone/>
            </a:pPr>
            <a:r>
              <a:rPr lang="en-US" sz="2700" b="1" dirty="0">
                <a:solidFill>
                  <a:srgbClr val="F3F5F7"/>
                </a:solidFill>
                <a:latin typeface="Trebuchet MS" pitchFamily="34" charset="0"/>
                <a:ea typeface="Trebuchet MS" pitchFamily="34" charset="-122"/>
                <a:cs typeface="Trebuchet MS" pitchFamily="34" charset="-120"/>
              </a:rPr>
              <a:t>Live market data</a:t>
            </a:r>
            <a:endParaRPr lang="en-US" sz="2700" dirty="0"/>
          </a:p>
        </p:txBody>
      </p:sp>
      <p:sp>
        <p:nvSpPr>
          <p:cNvPr id="3" name="Text 1"/>
          <p:cNvSpPr/>
          <p:nvPr/>
        </p:nvSpPr>
        <p:spPr>
          <a:xfrm>
            <a:off x="502920" y="841248"/>
            <a:ext cx="8138160" cy="237744"/>
          </a:xfrm>
          <a:prstGeom prst="rect">
            <a:avLst/>
          </a:prstGeom>
          <a:noFill/>
          <a:ln/>
        </p:spPr>
        <p:txBody>
          <a:bodyPr wrap="square" lIns="0" tIns="0" rIns="0" bIns="0" rtlCol="0" anchor="ctr"/>
          <a:lstStyle/>
          <a:p>
            <a:pPr marL="0" indent="0">
              <a:buNone/>
            </a:pPr>
            <a:r>
              <a:rPr lang="en-US" sz="1100" b="1" kern="0" spc="200" dirty="0">
                <a:solidFill>
                  <a:srgbClr val="E8722C"/>
                </a:solidFill>
                <a:latin typeface="Calibri" pitchFamily="34" charset="0"/>
                <a:ea typeface="Calibri" pitchFamily="34" charset="-122"/>
                <a:cs typeface="Calibri" pitchFamily="34" charset="-120"/>
              </a:rPr>
              <a:t>CATEGORY 4</a:t>
            </a:r>
            <a:endParaRPr lang="en-US" sz="1100" dirty="0"/>
          </a:p>
        </p:txBody>
      </p:sp>
      <p:sp>
        <p:nvSpPr>
          <p:cNvPr id="4" name="card background">
            <a:extLst>
              <a:ext uri="{C183D7F6-B498-43B3-948B-1728B52AA6E4}">
                <adec:decorative xmlns:adec="http://schemas.microsoft.com/office/drawing/2017/decorative" val="1"/>
              </a:ext>
            </a:extLst>
          </p:cNvPr>
          <p:cNvSpPr/>
          <p:nvPr/>
        </p:nvSpPr>
        <p:spPr>
          <a:xfrm>
            <a:off x="502920" y="1298448"/>
            <a:ext cx="1869948" cy="1371600"/>
          </a:xfrm>
          <a:prstGeom prst="roundRect">
            <a:avLst>
              <a:gd name="adj" fmla="val 400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5" name="step marker">
            <a:extLst>
              <a:ext uri="{C183D7F6-B498-43B3-948B-1728B52AA6E4}">
                <adec:decorative xmlns:adec="http://schemas.microsoft.com/office/drawing/2017/decorative" val="1"/>
              </a:ext>
            </a:extLst>
          </p:cNvPr>
          <p:cNvSpPr/>
          <p:nvPr/>
        </p:nvSpPr>
        <p:spPr>
          <a:xfrm>
            <a:off x="704088" y="1481328"/>
            <a:ext cx="310896" cy="310896"/>
          </a:xfrm>
          <a:prstGeom prst="ellipse">
            <a:avLst/>
          </a:prstGeom>
          <a:solidFill>
            <a:srgbClr val="E8722C"/>
          </a:solidFill>
          <a:ln w="12700">
            <a:solidFill>
              <a:srgbClr val="E8722C"/>
            </a:solidFill>
            <a:prstDash val="solid"/>
          </a:ln>
        </p:spPr>
        <p:txBody>
          <a:bodyPr/>
          <a:lstStyle/>
          <a:p>
            <a:endParaRPr lang="en-SE"/>
          </a:p>
        </p:txBody>
      </p:sp>
      <p:sp>
        <p:nvSpPr>
          <p:cNvPr id="6" name="Text 4"/>
          <p:cNvSpPr/>
          <p:nvPr/>
        </p:nvSpPr>
        <p:spPr>
          <a:xfrm>
            <a:off x="704088" y="1481328"/>
            <a:ext cx="310896" cy="310896"/>
          </a:xfrm>
          <a:prstGeom prst="rect">
            <a:avLst/>
          </a:prstGeom>
          <a:noFill/>
          <a:ln/>
        </p:spPr>
        <p:txBody>
          <a:bodyPr wrap="square" lIns="0" tIns="0" rIns="0" bIns="0" rtlCol="0" anchor="ctr"/>
          <a:lstStyle/>
          <a:p>
            <a:pPr marL="0" indent="0" algn="ctr">
              <a:buNone/>
            </a:pPr>
            <a:endParaRPr lang="en-US" sz="1300" dirty="0"/>
          </a:p>
        </p:txBody>
      </p:sp>
      <p:sp>
        <p:nvSpPr>
          <p:cNvPr id="7" name="Text 5"/>
          <p:cNvSpPr/>
          <p:nvPr/>
        </p:nvSpPr>
        <p:spPr>
          <a:xfrm>
            <a:off x="1106424" y="1481328"/>
            <a:ext cx="1083564" cy="329184"/>
          </a:xfrm>
          <a:prstGeom prst="rect">
            <a:avLst/>
          </a:prstGeom>
          <a:noFill/>
          <a:ln/>
        </p:spPr>
        <p:txBody>
          <a:bodyPr wrap="square" lIns="0" tIns="0" rIns="0" bIns="0" rtlCol="0" anchor="ctr"/>
          <a:lstStyle/>
          <a:p>
            <a:pPr marL="0" indent="0">
              <a:buNone/>
            </a:pPr>
            <a:r>
              <a:rPr lang="en-US" sz="1500" b="1" dirty="0">
                <a:solidFill>
                  <a:srgbClr val="E8722C"/>
                </a:solidFill>
                <a:latin typeface="Trebuchet MS" pitchFamily="34" charset="0"/>
                <a:ea typeface="Trebuchet MS" pitchFamily="34" charset="-122"/>
                <a:cs typeface="Trebuchet MS" pitchFamily="34" charset="-120"/>
              </a:rPr>
              <a:t>book</a:t>
            </a:r>
            <a:endParaRPr lang="en-US" sz="1500" dirty="0"/>
          </a:p>
        </p:txBody>
      </p:sp>
      <p:sp>
        <p:nvSpPr>
          <p:cNvPr id="8" name="Text 6"/>
          <p:cNvSpPr/>
          <p:nvPr/>
        </p:nvSpPr>
        <p:spPr>
          <a:xfrm>
            <a:off x="722376" y="1847088"/>
            <a:ext cx="1431036" cy="71323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The best prices on each side, updating as orders arrive and leave.</a:t>
            </a:r>
            <a:endParaRPr lang="en-US" sz="1050" dirty="0"/>
          </a:p>
        </p:txBody>
      </p:sp>
      <p:sp>
        <p:nvSpPr>
          <p:cNvPr id="9" name="card background">
            <a:extLst>
              <a:ext uri="{C183D7F6-B498-43B3-948B-1728B52AA6E4}">
                <adec:decorative xmlns:adec="http://schemas.microsoft.com/office/drawing/2017/decorative" val="1"/>
              </a:ext>
            </a:extLst>
          </p:cNvPr>
          <p:cNvSpPr/>
          <p:nvPr/>
        </p:nvSpPr>
        <p:spPr>
          <a:xfrm>
            <a:off x="2592324" y="1298448"/>
            <a:ext cx="1869948" cy="1371600"/>
          </a:xfrm>
          <a:prstGeom prst="roundRect">
            <a:avLst>
              <a:gd name="adj" fmla="val 400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0" name="step marker">
            <a:extLst>
              <a:ext uri="{C183D7F6-B498-43B3-948B-1728B52AA6E4}">
                <adec:decorative xmlns:adec="http://schemas.microsoft.com/office/drawing/2017/decorative" val="1"/>
              </a:ext>
            </a:extLst>
          </p:cNvPr>
          <p:cNvSpPr/>
          <p:nvPr/>
        </p:nvSpPr>
        <p:spPr>
          <a:xfrm>
            <a:off x="2793492" y="1481328"/>
            <a:ext cx="310896" cy="310896"/>
          </a:xfrm>
          <a:prstGeom prst="ellipse">
            <a:avLst/>
          </a:prstGeom>
          <a:solidFill>
            <a:srgbClr val="35A79C"/>
          </a:solidFill>
          <a:ln w="12700">
            <a:solidFill>
              <a:srgbClr val="35A79C"/>
            </a:solidFill>
            <a:prstDash val="solid"/>
          </a:ln>
        </p:spPr>
        <p:txBody>
          <a:bodyPr/>
          <a:lstStyle/>
          <a:p>
            <a:endParaRPr lang="en-SE"/>
          </a:p>
        </p:txBody>
      </p:sp>
      <p:sp>
        <p:nvSpPr>
          <p:cNvPr id="11" name="Text 9"/>
          <p:cNvSpPr/>
          <p:nvPr/>
        </p:nvSpPr>
        <p:spPr>
          <a:xfrm>
            <a:off x="2793492" y="1481328"/>
            <a:ext cx="310896" cy="310896"/>
          </a:xfrm>
          <a:prstGeom prst="rect">
            <a:avLst/>
          </a:prstGeom>
          <a:noFill/>
          <a:ln/>
        </p:spPr>
        <p:txBody>
          <a:bodyPr wrap="square" lIns="0" tIns="0" rIns="0" bIns="0" rtlCol="0" anchor="ctr"/>
          <a:lstStyle/>
          <a:p>
            <a:pPr marL="0" indent="0" algn="ctr">
              <a:buNone/>
            </a:pPr>
            <a:endParaRPr lang="en-US" sz="1300" dirty="0"/>
          </a:p>
        </p:txBody>
      </p:sp>
      <p:sp>
        <p:nvSpPr>
          <p:cNvPr id="12" name="Text 10"/>
          <p:cNvSpPr/>
          <p:nvPr/>
        </p:nvSpPr>
        <p:spPr>
          <a:xfrm>
            <a:off x="3195828" y="1481328"/>
            <a:ext cx="1083564" cy="329184"/>
          </a:xfrm>
          <a:prstGeom prst="rect">
            <a:avLst/>
          </a:prstGeom>
          <a:noFill/>
          <a:ln/>
        </p:spPr>
        <p:txBody>
          <a:bodyPr wrap="square" lIns="0" tIns="0" rIns="0" bIns="0" rtlCol="0" anchor="ctr"/>
          <a:lstStyle/>
          <a:p>
            <a:pPr marL="0" indent="0">
              <a:buNone/>
            </a:pPr>
            <a:r>
              <a:rPr lang="en-US" sz="1500" b="1" dirty="0">
                <a:solidFill>
                  <a:srgbClr val="35A79C"/>
                </a:solidFill>
                <a:latin typeface="Trebuchet MS" pitchFamily="34" charset="0"/>
                <a:ea typeface="Trebuchet MS" pitchFamily="34" charset="-122"/>
                <a:cs typeface="Trebuchet MS" pitchFamily="34" charset="-120"/>
              </a:rPr>
              <a:t>trades</a:t>
            </a:r>
            <a:endParaRPr lang="en-US" sz="1500" dirty="0"/>
          </a:p>
        </p:txBody>
      </p:sp>
      <p:sp>
        <p:nvSpPr>
          <p:cNvPr id="13" name="Text 11"/>
          <p:cNvSpPr/>
          <p:nvPr/>
        </p:nvSpPr>
        <p:spPr>
          <a:xfrm>
            <a:off x="2811780" y="1847088"/>
            <a:ext cx="1431036" cy="71323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Every execution that prints — the public tape.</a:t>
            </a:r>
            <a:endParaRPr lang="en-US" sz="1050" dirty="0"/>
          </a:p>
        </p:txBody>
      </p:sp>
      <p:sp>
        <p:nvSpPr>
          <p:cNvPr id="14" name="card background">
            <a:extLst>
              <a:ext uri="{C183D7F6-B498-43B3-948B-1728B52AA6E4}">
                <adec:decorative xmlns:adec="http://schemas.microsoft.com/office/drawing/2017/decorative" val="1"/>
              </a:ext>
            </a:extLst>
          </p:cNvPr>
          <p:cNvSpPr/>
          <p:nvPr/>
        </p:nvSpPr>
        <p:spPr>
          <a:xfrm>
            <a:off x="4681728" y="1298448"/>
            <a:ext cx="1869948" cy="1371600"/>
          </a:xfrm>
          <a:prstGeom prst="roundRect">
            <a:avLst>
              <a:gd name="adj" fmla="val 400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5" name="step marker">
            <a:extLst>
              <a:ext uri="{C183D7F6-B498-43B3-948B-1728B52AA6E4}">
                <adec:decorative xmlns:adec="http://schemas.microsoft.com/office/drawing/2017/decorative" val="1"/>
              </a:ext>
            </a:extLst>
          </p:cNvPr>
          <p:cNvSpPr/>
          <p:nvPr/>
        </p:nvSpPr>
        <p:spPr>
          <a:xfrm>
            <a:off x="4882896" y="1481328"/>
            <a:ext cx="310896" cy="310896"/>
          </a:xfrm>
          <a:prstGeom prst="ellipse">
            <a:avLst/>
          </a:prstGeom>
          <a:solidFill>
            <a:srgbClr val="8B7BD8"/>
          </a:solidFill>
          <a:ln w="12700">
            <a:solidFill>
              <a:srgbClr val="8B7BD8"/>
            </a:solidFill>
            <a:prstDash val="solid"/>
          </a:ln>
        </p:spPr>
        <p:txBody>
          <a:bodyPr/>
          <a:lstStyle/>
          <a:p>
            <a:endParaRPr lang="en-SE"/>
          </a:p>
        </p:txBody>
      </p:sp>
      <p:sp>
        <p:nvSpPr>
          <p:cNvPr id="16" name="Text 14"/>
          <p:cNvSpPr/>
          <p:nvPr/>
        </p:nvSpPr>
        <p:spPr>
          <a:xfrm>
            <a:off x="4882896" y="1481328"/>
            <a:ext cx="310896" cy="310896"/>
          </a:xfrm>
          <a:prstGeom prst="rect">
            <a:avLst/>
          </a:prstGeom>
          <a:noFill/>
          <a:ln/>
        </p:spPr>
        <p:txBody>
          <a:bodyPr wrap="square" lIns="0" tIns="0" rIns="0" bIns="0" rtlCol="0" anchor="ctr"/>
          <a:lstStyle/>
          <a:p>
            <a:pPr marL="0" indent="0" algn="ctr">
              <a:buNone/>
            </a:pPr>
            <a:endParaRPr lang="en-US" sz="1300" dirty="0"/>
          </a:p>
        </p:txBody>
      </p:sp>
      <p:sp>
        <p:nvSpPr>
          <p:cNvPr id="17" name="Text 15"/>
          <p:cNvSpPr/>
          <p:nvPr/>
        </p:nvSpPr>
        <p:spPr>
          <a:xfrm>
            <a:off x="5285232" y="1481328"/>
            <a:ext cx="1083564" cy="329184"/>
          </a:xfrm>
          <a:prstGeom prst="rect">
            <a:avLst/>
          </a:prstGeom>
          <a:noFill/>
          <a:ln/>
        </p:spPr>
        <p:txBody>
          <a:bodyPr wrap="square" lIns="0" tIns="0" rIns="0" bIns="0" rtlCol="0" anchor="ctr"/>
          <a:lstStyle/>
          <a:p>
            <a:pPr marL="0" indent="0">
              <a:buNone/>
            </a:pPr>
            <a:r>
              <a:rPr lang="en-US" sz="1500" b="1" dirty="0">
                <a:solidFill>
                  <a:srgbClr val="8B7BD8"/>
                </a:solidFill>
                <a:latin typeface="Trebuchet MS" pitchFamily="34" charset="0"/>
                <a:ea typeface="Trebuchet MS" pitchFamily="34" charset="-122"/>
                <a:cs typeface="Trebuchet MS" pitchFamily="34" charset="-120"/>
              </a:rPr>
              <a:t>depth</a:t>
            </a:r>
            <a:endParaRPr lang="en-US" sz="1500" dirty="0"/>
          </a:p>
        </p:txBody>
      </p:sp>
      <p:sp>
        <p:nvSpPr>
          <p:cNvPr id="18" name="Text 16"/>
          <p:cNvSpPr/>
          <p:nvPr/>
        </p:nvSpPr>
        <p:spPr>
          <a:xfrm>
            <a:off x="4901184" y="1847088"/>
            <a:ext cx="1431036" cy="71323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Volume available at each price level, for a fuller picture of the book.</a:t>
            </a:r>
            <a:endParaRPr lang="en-US" sz="1050" dirty="0"/>
          </a:p>
        </p:txBody>
      </p:sp>
      <p:sp>
        <p:nvSpPr>
          <p:cNvPr id="19" name="card background">
            <a:extLst>
              <a:ext uri="{C183D7F6-B498-43B3-948B-1728B52AA6E4}">
                <adec:decorative xmlns:adec="http://schemas.microsoft.com/office/drawing/2017/decorative" val="1"/>
              </a:ext>
            </a:extLst>
          </p:cNvPr>
          <p:cNvSpPr/>
          <p:nvPr/>
        </p:nvSpPr>
        <p:spPr>
          <a:xfrm>
            <a:off x="6771132" y="1298448"/>
            <a:ext cx="1869948" cy="1371600"/>
          </a:xfrm>
          <a:prstGeom prst="roundRect">
            <a:avLst>
              <a:gd name="adj" fmla="val 400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20" name="step marker">
            <a:extLst>
              <a:ext uri="{C183D7F6-B498-43B3-948B-1728B52AA6E4}">
                <adec:decorative xmlns:adec="http://schemas.microsoft.com/office/drawing/2017/decorative" val="1"/>
              </a:ext>
            </a:extLst>
          </p:cNvPr>
          <p:cNvSpPr/>
          <p:nvPr/>
        </p:nvSpPr>
        <p:spPr>
          <a:xfrm>
            <a:off x="6972300" y="1481328"/>
            <a:ext cx="310896" cy="310896"/>
          </a:xfrm>
          <a:prstGeom prst="ellipse">
            <a:avLst/>
          </a:prstGeom>
          <a:solidFill>
            <a:srgbClr val="F2A65A"/>
          </a:solidFill>
          <a:ln w="12700">
            <a:solidFill>
              <a:srgbClr val="F2A65A"/>
            </a:solidFill>
            <a:prstDash val="solid"/>
          </a:ln>
        </p:spPr>
        <p:txBody>
          <a:bodyPr/>
          <a:lstStyle/>
          <a:p>
            <a:endParaRPr lang="en-SE"/>
          </a:p>
        </p:txBody>
      </p:sp>
      <p:sp>
        <p:nvSpPr>
          <p:cNvPr id="21" name="Text 19"/>
          <p:cNvSpPr/>
          <p:nvPr/>
        </p:nvSpPr>
        <p:spPr>
          <a:xfrm>
            <a:off x="6972300" y="1481328"/>
            <a:ext cx="310896" cy="310896"/>
          </a:xfrm>
          <a:prstGeom prst="rect">
            <a:avLst/>
          </a:prstGeom>
          <a:noFill/>
          <a:ln/>
        </p:spPr>
        <p:txBody>
          <a:bodyPr wrap="square" lIns="0" tIns="0" rIns="0" bIns="0" rtlCol="0" anchor="ctr"/>
          <a:lstStyle/>
          <a:p>
            <a:pPr marL="0" indent="0" algn="ctr">
              <a:buNone/>
            </a:pPr>
            <a:endParaRPr lang="en-US" sz="1300" dirty="0"/>
          </a:p>
        </p:txBody>
      </p:sp>
      <p:sp>
        <p:nvSpPr>
          <p:cNvPr id="22" name="Text 20"/>
          <p:cNvSpPr/>
          <p:nvPr/>
        </p:nvSpPr>
        <p:spPr>
          <a:xfrm>
            <a:off x="7374636" y="1481328"/>
            <a:ext cx="1083564" cy="329184"/>
          </a:xfrm>
          <a:prstGeom prst="rect">
            <a:avLst/>
          </a:prstGeom>
          <a:noFill/>
          <a:ln/>
        </p:spPr>
        <p:txBody>
          <a:bodyPr wrap="square" lIns="0" tIns="0" rIns="0" bIns="0" rtlCol="0" anchor="ctr"/>
          <a:lstStyle/>
          <a:p>
            <a:pPr marL="0" indent="0">
              <a:buNone/>
            </a:pPr>
            <a:r>
              <a:rPr lang="en-US" sz="1500" b="1" dirty="0">
                <a:solidFill>
                  <a:srgbClr val="F2A65A"/>
                </a:solidFill>
                <a:latin typeface="Trebuchet MS" pitchFamily="34" charset="0"/>
                <a:ea typeface="Trebuchet MS" pitchFamily="34" charset="-122"/>
                <a:cs typeface="Trebuchet MS" pitchFamily="34" charset="-120"/>
              </a:rPr>
              <a:t>auction</a:t>
            </a:r>
            <a:endParaRPr lang="en-US" sz="1500" dirty="0"/>
          </a:p>
        </p:txBody>
      </p:sp>
      <p:sp>
        <p:nvSpPr>
          <p:cNvPr id="23" name="Text 21"/>
          <p:cNvSpPr/>
          <p:nvPr/>
        </p:nvSpPr>
        <p:spPr>
          <a:xfrm>
            <a:off x="6990588" y="1847088"/>
            <a:ext cx="1431036" cy="71323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The outcome when an auction uncrosses at the open or the close.</a:t>
            </a:r>
            <a:endParaRPr lang="en-US" sz="1050" dirty="0"/>
          </a:p>
        </p:txBody>
      </p:sp>
      <p:sp>
        <p:nvSpPr>
          <p:cNvPr id="24" name="card background">
            <a:extLst>
              <a:ext uri="{C183D7F6-B498-43B3-948B-1728B52AA6E4}">
                <adec:decorative xmlns:adec="http://schemas.microsoft.com/office/drawing/2017/decorative" val="1"/>
              </a:ext>
            </a:extLst>
          </p:cNvPr>
          <p:cNvSpPr/>
          <p:nvPr/>
        </p:nvSpPr>
        <p:spPr>
          <a:xfrm>
            <a:off x="502920" y="2926080"/>
            <a:ext cx="8138160" cy="1463040"/>
          </a:xfrm>
          <a:prstGeom prst="roundRect">
            <a:avLst>
              <a:gd name="adj" fmla="val 3750"/>
            </a:avLst>
          </a:prstGeom>
          <a:solidFill>
            <a:srgbClr val="2E353D"/>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25" name="Text 23"/>
          <p:cNvSpPr/>
          <p:nvPr/>
        </p:nvSpPr>
        <p:spPr>
          <a:xfrm>
            <a:off x="713232" y="3035808"/>
            <a:ext cx="4572000" cy="292608"/>
          </a:xfrm>
          <a:prstGeom prst="rect">
            <a:avLst/>
          </a:prstGeom>
          <a:noFill/>
          <a:ln/>
        </p:spPr>
        <p:txBody>
          <a:bodyPr wrap="square" lIns="0" tIns="0" rIns="0" bIns="0" rtlCol="0" anchor="ctr"/>
          <a:lstStyle/>
          <a:p>
            <a:pPr marL="0" indent="0">
              <a:buNone/>
            </a:pPr>
            <a:r>
              <a:rPr lang="en-US" sz="1400" b="1" dirty="0">
                <a:solidFill>
                  <a:srgbClr val="E8722C"/>
                </a:solidFill>
                <a:latin typeface="Trebuchet MS" pitchFamily="34" charset="0"/>
                <a:ea typeface="Trebuchet MS" pitchFamily="34" charset="-122"/>
                <a:cs typeface="Trebuchet MS" pitchFamily="34" charset="-120"/>
              </a:rPr>
              <a:t>Two things you never have to ask for</a:t>
            </a:r>
            <a:endParaRPr lang="en-US" sz="1400" dirty="0"/>
          </a:p>
        </p:txBody>
      </p:sp>
      <p:sp>
        <p:nvSpPr>
          <p:cNvPr id="26" name="Text 24"/>
          <p:cNvSpPr/>
          <p:nvPr/>
        </p:nvSpPr>
        <p:spPr>
          <a:xfrm>
            <a:off x="713232" y="3383280"/>
            <a:ext cx="7680960" cy="914400"/>
          </a:xfrm>
          <a:prstGeom prst="rect">
            <a:avLst/>
          </a:prstGeom>
          <a:noFill/>
          <a:ln/>
        </p:spPr>
        <p:txBody>
          <a:bodyPr wrap="square" lIns="0" tIns="0" rIns="0" bIns="0" rtlCol="0" anchor="ctr"/>
          <a:lstStyle/>
          <a:p>
            <a:pPr marL="342900" indent="-342900">
              <a:spcAft>
                <a:spcPts val="900"/>
              </a:spcAft>
              <a:buSzPct val="100000"/>
              <a:buChar char="▪"/>
            </a:pPr>
            <a:r>
              <a:rPr lang="en-US" sz="1150" dirty="0">
                <a:solidFill>
                  <a:srgbClr val="D5DAE0"/>
                </a:solidFill>
                <a:latin typeface="Calibri" pitchFamily="34" charset="0"/>
                <a:ea typeface="Calibri" pitchFamily="34" charset="-122"/>
                <a:cs typeface="Calibri" pitchFamily="34" charset="-120"/>
              </a:rPr>
              <a:t>Session changes — the market opening, auctioning or closing — are delivered to every authenticated stream.</a:t>
            </a:r>
            <a:endParaRPr lang="en-US" sz="1150" dirty="0"/>
          </a:p>
          <a:p>
            <a:pPr marL="342900" indent="-342900">
              <a:spcAft>
                <a:spcPts val="900"/>
              </a:spcAft>
              <a:buSzPct val="100000"/>
              <a:buChar char="▪"/>
            </a:pPr>
            <a:r>
              <a:rPr lang="en-US" sz="1150" dirty="0">
                <a:solidFill>
                  <a:srgbClr val="D5DAE0"/>
                </a:solidFill>
                <a:latin typeface="Calibri" pitchFamily="34" charset="0"/>
                <a:ea typeface="Calibri" pitchFamily="34" charset="-122"/>
                <a:cs typeface="Calibri" pitchFamily="34" charset="-120"/>
              </a:rPr>
              <a:t>Circuit-breaker events — an instrument halted or resumed — arrive the same way.</a:t>
            </a:r>
            <a:endParaRPr lang="en-US" sz="1150" dirty="0"/>
          </a:p>
          <a:p>
            <a:pPr marL="342900" indent="-342900">
              <a:buSzPct val="100000"/>
              <a:buChar char="▪"/>
            </a:pPr>
            <a:r>
              <a:rPr lang="en-US" sz="1150" dirty="0">
                <a:solidFill>
                  <a:srgbClr val="D5DAE0"/>
                </a:solidFill>
                <a:latin typeface="Calibri" pitchFamily="34" charset="0"/>
                <a:ea typeface="Calibri" pitchFamily="34" charset="-122"/>
                <a:cs typeface="Calibri" pitchFamily="34" charset="-120"/>
              </a:rPr>
              <a:t>Instrument filtering is opt-in: name the instruments you care about, or receive every one on the channels you subscribed to.</a:t>
            </a:r>
            <a:endParaRPr lang="en-US" sz="1150" dirty="0"/>
          </a:p>
        </p:txBody>
      </p:sp>
      <p:sp>
        <p:nvSpPr>
          <p:cNvPr id="27" name="Text 25"/>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What flows through</a:t>
            </a:r>
            <a:endParaRPr lang="en-US" sz="900" dirty="0"/>
          </a:p>
        </p:txBody>
      </p:sp>
      <p:sp>
        <p:nvSpPr>
          <p:cNvPr id="28" name="Text 26"/>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8138160" cy="548640"/>
          </a:xfrm>
          <a:prstGeom prst="rect">
            <a:avLst/>
          </a:prstGeom>
          <a:noFill/>
          <a:ln/>
        </p:spPr>
        <p:txBody>
          <a:bodyPr wrap="square" lIns="0" tIns="0" rIns="0" bIns="0" rtlCol="0" anchor="ctr"/>
          <a:lstStyle/>
          <a:p>
            <a:pPr marL="0" indent="0">
              <a:buNone/>
            </a:pPr>
            <a:r>
              <a:rPr lang="en-US" sz="2700" b="1" dirty="0">
                <a:solidFill>
                  <a:srgbClr val="F3F5F7"/>
                </a:solidFill>
                <a:latin typeface="Trebuchet MS" pitchFamily="34" charset="0"/>
                <a:ea typeface="Trebuchet MS" pitchFamily="34" charset="-122"/>
                <a:cs typeface="Trebuchet MS" pitchFamily="34" charset="-120"/>
              </a:rPr>
              <a:t>Recorded history</a:t>
            </a:r>
            <a:endParaRPr lang="en-US" sz="2700" dirty="0"/>
          </a:p>
        </p:txBody>
      </p:sp>
      <p:sp>
        <p:nvSpPr>
          <p:cNvPr id="3" name="Text 1"/>
          <p:cNvSpPr/>
          <p:nvPr/>
        </p:nvSpPr>
        <p:spPr>
          <a:xfrm>
            <a:off x="502920" y="841248"/>
            <a:ext cx="8138160" cy="237744"/>
          </a:xfrm>
          <a:prstGeom prst="rect">
            <a:avLst/>
          </a:prstGeom>
          <a:noFill/>
          <a:ln/>
        </p:spPr>
        <p:txBody>
          <a:bodyPr wrap="square" lIns="0" tIns="0" rIns="0" bIns="0" rtlCol="0" anchor="ctr"/>
          <a:lstStyle/>
          <a:p>
            <a:pPr marL="0" indent="0">
              <a:buNone/>
            </a:pPr>
            <a:r>
              <a:rPr lang="en-US" sz="1100" b="1" kern="0" spc="200" dirty="0">
                <a:solidFill>
                  <a:srgbClr val="E8722C"/>
                </a:solidFill>
                <a:latin typeface="Calibri" pitchFamily="34" charset="0"/>
                <a:ea typeface="Calibri" pitchFamily="34" charset="-122"/>
                <a:cs typeface="Calibri" pitchFamily="34" charset="-120"/>
              </a:rPr>
              <a:t>CATEGORY 5</a:t>
            </a:r>
            <a:endParaRPr lang="en-US" sz="1100" dirty="0"/>
          </a:p>
        </p:txBody>
      </p:sp>
      <p:sp>
        <p:nvSpPr>
          <p:cNvPr id="4" name="card background">
            <a:extLst>
              <a:ext uri="{C183D7F6-B498-43B3-948B-1728B52AA6E4}">
                <adec:decorative xmlns:adec="http://schemas.microsoft.com/office/drawing/2017/decorative" val="1"/>
              </a:ext>
            </a:extLst>
          </p:cNvPr>
          <p:cNvSpPr/>
          <p:nvPr/>
        </p:nvSpPr>
        <p:spPr>
          <a:xfrm>
            <a:off x="502920" y="1234440"/>
            <a:ext cx="3959352" cy="2423160"/>
          </a:xfrm>
          <a:prstGeom prst="roundRect">
            <a:avLst>
              <a:gd name="adj" fmla="val 2264"/>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5" name="card top edge">
            <a:extLst>
              <a:ext uri="{C183D7F6-B498-43B3-948B-1728B52AA6E4}">
                <adec:decorative xmlns:adec="http://schemas.microsoft.com/office/drawing/2017/decorative" val="1"/>
              </a:ext>
            </a:extLst>
          </p:cNvPr>
          <p:cNvSpPr/>
          <p:nvPr/>
        </p:nvSpPr>
        <p:spPr>
          <a:xfrm>
            <a:off x="502920" y="1234440"/>
            <a:ext cx="3959352" cy="73152"/>
          </a:xfrm>
          <a:prstGeom prst="rect">
            <a:avLst/>
          </a:prstGeom>
          <a:solidFill>
            <a:srgbClr val="E8722C"/>
          </a:solidFill>
          <a:ln w="12700">
            <a:solidFill>
              <a:srgbClr val="E8722C"/>
            </a:solidFill>
            <a:prstDash val="solid"/>
          </a:ln>
        </p:spPr>
        <p:txBody>
          <a:bodyPr/>
          <a:lstStyle/>
          <a:p>
            <a:endParaRPr lang="en-SE"/>
          </a:p>
        </p:txBody>
      </p:sp>
      <p:sp>
        <p:nvSpPr>
          <p:cNvPr id="6" name="Text 4"/>
          <p:cNvSpPr/>
          <p:nvPr/>
        </p:nvSpPr>
        <p:spPr>
          <a:xfrm>
            <a:off x="740664" y="1453896"/>
            <a:ext cx="3502152" cy="365760"/>
          </a:xfrm>
          <a:prstGeom prst="rect">
            <a:avLst/>
          </a:prstGeom>
          <a:noFill/>
          <a:ln/>
        </p:spPr>
        <p:txBody>
          <a:bodyPr wrap="square" lIns="0" tIns="0" rIns="0" bIns="0" rtlCol="0" anchor="ctr"/>
          <a:lstStyle/>
          <a:p>
            <a:pPr marL="0" indent="0">
              <a:buNone/>
            </a:pPr>
            <a:r>
              <a:rPr lang="en-US" sz="1700" b="1" dirty="0">
                <a:solidFill>
                  <a:srgbClr val="E8722C"/>
                </a:solidFill>
                <a:latin typeface="Trebuchet MS" pitchFamily="34" charset="0"/>
                <a:ea typeface="Trebuchet MS" pitchFamily="34" charset="-122"/>
                <a:cs typeface="Trebuchet MS" pitchFamily="34" charset="-120"/>
              </a:rPr>
              <a:t>Private history</a:t>
            </a:r>
            <a:endParaRPr lang="en-US" sz="1700" dirty="0"/>
          </a:p>
        </p:txBody>
      </p:sp>
      <p:sp>
        <p:nvSpPr>
          <p:cNvPr id="7" name="Text 5"/>
          <p:cNvSpPr/>
          <p:nvPr/>
        </p:nvSpPr>
        <p:spPr>
          <a:xfrm>
            <a:off x="740664" y="1819656"/>
            <a:ext cx="3502152" cy="274320"/>
          </a:xfrm>
          <a:prstGeom prst="rect">
            <a:avLst/>
          </a:prstGeom>
          <a:noFill/>
          <a:ln/>
        </p:spPr>
        <p:txBody>
          <a:bodyPr wrap="square" lIns="0" tIns="0" rIns="0" bIns="0" rtlCol="0" anchor="ctr"/>
          <a:lstStyle/>
          <a:p>
            <a:pPr marL="0" indent="0">
              <a:buNone/>
            </a:pPr>
            <a:r>
              <a:rPr lang="en-US" sz="1100" i="1" dirty="0">
                <a:solidFill>
                  <a:srgbClr val="97A1AC"/>
                </a:solidFill>
                <a:latin typeface="Calibri" pitchFamily="34" charset="0"/>
                <a:ea typeface="Calibri" pitchFamily="34" charset="-122"/>
                <a:cs typeface="Calibri" pitchFamily="34" charset="-120"/>
              </a:rPr>
              <a:t>Needs a trading key; always scoped to you</a:t>
            </a:r>
            <a:endParaRPr lang="en-US" sz="1100" dirty="0"/>
          </a:p>
        </p:txBody>
      </p:sp>
      <p:sp>
        <p:nvSpPr>
          <p:cNvPr id="8" name="Text 6"/>
          <p:cNvSpPr/>
          <p:nvPr/>
        </p:nvSpPr>
        <p:spPr>
          <a:xfrm>
            <a:off x="740664" y="2167128"/>
            <a:ext cx="3502152" cy="1307592"/>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Your order lifecycle events, filtered by instrument, type or date</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The complete story of one order, from submission to its end</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Your fills, for reconciliation and performance work</a:t>
            </a:r>
            <a:endParaRPr lang="en-US" sz="1150" dirty="0"/>
          </a:p>
        </p:txBody>
      </p:sp>
      <p:sp>
        <p:nvSpPr>
          <p:cNvPr id="9" name="card background">
            <a:extLst>
              <a:ext uri="{C183D7F6-B498-43B3-948B-1728B52AA6E4}">
                <adec:decorative xmlns:adec="http://schemas.microsoft.com/office/drawing/2017/decorative" val="1"/>
              </a:ext>
            </a:extLst>
          </p:cNvPr>
          <p:cNvSpPr/>
          <p:nvPr/>
        </p:nvSpPr>
        <p:spPr>
          <a:xfrm>
            <a:off x="4681728" y="1234440"/>
            <a:ext cx="3959352" cy="2423160"/>
          </a:xfrm>
          <a:prstGeom prst="roundRect">
            <a:avLst>
              <a:gd name="adj" fmla="val 2264"/>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0" name="card top edge">
            <a:extLst>
              <a:ext uri="{C183D7F6-B498-43B3-948B-1728B52AA6E4}">
                <adec:decorative xmlns:adec="http://schemas.microsoft.com/office/drawing/2017/decorative" val="1"/>
              </a:ext>
            </a:extLst>
          </p:cNvPr>
          <p:cNvSpPr/>
          <p:nvPr/>
        </p:nvSpPr>
        <p:spPr>
          <a:xfrm>
            <a:off x="4681728" y="1234440"/>
            <a:ext cx="3959352" cy="73152"/>
          </a:xfrm>
          <a:prstGeom prst="rect">
            <a:avLst/>
          </a:prstGeom>
          <a:solidFill>
            <a:srgbClr val="35A79C"/>
          </a:solidFill>
          <a:ln w="12700">
            <a:solidFill>
              <a:srgbClr val="35A79C"/>
            </a:solidFill>
            <a:prstDash val="solid"/>
          </a:ln>
        </p:spPr>
        <p:txBody>
          <a:bodyPr/>
          <a:lstStyle/>
          <a:p>
            <a:endParaRPr lang="en-SE"/>
          </a:p>
        </p:txBody>
      </p:sp>
      <p:sp>
        <p:nvSpPr>
          <p:cNvPr id="11" name="Text 9"/>
          <p:cNvSpPr/>
          <p:nvPr/>
        </p:nvSpPr>
        <p:spPr>
          <a:xfrm>
            <a:off x="4919472" y="1453896"/>
            <a:ext cx="3502152" cy="365760"/>
          </a:xfrm>
          <a:prstGeom prst="rect">
            <a:avLst/>
          </a:prstGeom>
          <a:noFill/>
          <a:ln/>
        </p:spPr>
        <p:txBody>
          <a:bodyPr wrap="square" lIns="0" tIns="0" rIns="0" bIns="0" rtlCol="0" anchor="ctr"/>
          <a:lstStyle/>
          <a:p>
            <a:pPr marL="0" indent="0">
              <a:buNone/>
            </a:pPr>
            <a:r>
              <a:rPr lang="en-US" sz="1700" b="1" dirty="0">
                <a:solidFill>
                  <a:srgbClr val="35A79C"/>
                </a:solidFill>
                <a:latin typeface="Trebuchet MS" pitchFamily="34" charset="0"/>
                <a:ea typeface="Trebuchet MS" pitchFamily="34" charset="-122"/>
                <a:cs typeface="Trebuchet MS" pitchFamily="34" charset="-120"/>
              </a:rPr>
              <a:t>Public history</a:t>
            </a:r>
            <a:endParaRPr lang="en-US" sz="1700" dirty="0"/>
          </a:p>
        </p:txBody>
      </p:sp>
      <p:sp>
        <p:nvSpPr>
          <p:cNvPr id="12" name="Text 10"/>
          <p:cNvSpPr/>
          <p:nvPr/>
        </p:nvSpPr>
        <p:spPr>
          <a:xfrm>
            <a:off x="4919472" y="1819656"/>
            <a:ext cx="3502152" cy="274320"/>
          </a:xfrm>
          <a:prstGeom prst="rect">
            <a:avLst/>
          </a:prstGeom>
          <a:noFill/>
          <a:ln/>
        </p:spPr>
        <p:txBody>
          <a:bodyPr wrap="square" lIns="0" tIns="0" rIns="0" bIns="0" rtlCol="0" anchor="ctr"/>
          <a:lstStyle/>
          <a:p>
            <a:pPr marL="0" indent="0">
              <a:buNone/>
            </a:pPr>
            <a:r>
              <a:rPr lang="en-US" sz="1100" i="1" dirty="0">
                <a:solidFill>
                  <a:srgbClr val="97A1AC"/>
                </a:solidFill>
                <a:latin typeface="Calibri" pitchFamily="34" charset="0"/>
                <a:ea typeface="Calibri" pitchFamily="34" charset="-122"/>
                <a:cs typeface="Calibri" pitchFamily="34" charset="-120"/>
              </a:rPr>
              <a:t>Any valid key, including read-only</a:t>
            </a:r>
            <a:endParaRPr lang="en-US" sz="1100" dirty="0"/>
          </a:p>
        </p:txBody>
      </p:sp>
      <p:sp>
        <p:nvSpPr>
          <p:cNvPr id="13" name="Text 11"/>
          <p:cNvSpPr/>
          <p:nvPr/>
        </p:nvSpPr>
        <p:spPr>
          <a:xfrm>
            <a:off x="4919472" y="2167128"/>
            <a:ext cx="3502152" cy="1307592"/>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The trade tape, as printed to the whole market</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Daily open, high, low, close and volume rows</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Intraday price snapshots recorded at a fixed interval</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Index levels, daily and intraday, plus structural events</a:t>
            </a:r>
            <a:endParaRPr lang="en-US" sz="1150" dirty="0"/>
          </a:p>
        </p:txBody>
      </p:sp>
      <p:sp>
        <p:nvSpPr>
          <p:cNvPr id="14" name="card background">
            <a:extLst>
              <a:ext uri="{C183D7F6-B498-43B3-948B-1728B52AA6E4}">
                <adec:decorative xmlns:adec="http://schemas.microsoft.com/office/drawing/2017/decorative" val="1"/>
              </a:ext>
            </a:extLst>
          </p:cNvPr>
          <p:cNvSpPr/>
          <p:nvPr/>
        </p:nvSpPr>
        <p:spPr>
          <a:xfrm>
            <a:off x="502920" y="3794760"/>
            <a:ext cx="8138160" cy="685800"/>
          </a:xfrm>
          <a:prstGeom prst="roundRect">
            <a:avLst>
              <a:gd name="adj" fmla="val 8000"/>
            </a:avLst>
          </a:prstGeom>
          <a:solidFill>
            <a:srgbClr val="2E353D"/>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5" name="Text 13"/>
          <p:cNvSpPr/>
          <p:nvPr/>
        </p:nvSpPr>
        <p:spPr>
          <a:xfrm>
            <a:off x="713232" y="3877056"/>
            <a:ext cx="7680960" cy="548640"/>
          </a:xfrm>
          <a:prstGeom prst="rect">
            <a:avLst/>
          </a:prstGeom>
          <a:noFill/>
          <a:ln/>
        </p:spPr>
        <p:txBody>
          <a:bodyPr wrap="square" lIns="0" tIns="0" rIns="0" bIns="0" rtlCol="0" anchor="ctr"/>
          <a:lstStyle/>
          <a:p>
            <a:pPr marL="0" indent="0">
              <a:buNone/>
            </a:pPr>
            <a:r>
              <a:rPr lang="en-US" sz="1150" dirty="0">
                <a:solidFill>
                  <a:srgbClr val="D5DAE0"/>
                </a:solidFill>
                <a:latin typeface="Calibri" pitchFamily="34" charset="0"/>
                <a:ea typeface="Calibri" pitchFamily="34" charset="-122"/>
                <a:cs typeface="Calibri" pitchFamily="34" charset="-120"/>
              </a:rPr>
              <a:t>History comes from the recording process. If it has never run, the history endpoints report that the database is not available yet — that is a setup message, not a fault in your client.</a:t>
            </a:r>
            <a:endParaRPr lang="en-US" sz="1150" dirty="0"/>
          </a:p>
        </p:txBody>
      </p:sp>
      <p:sp>
        <p:nvSpPr>
          <p:cNvPr id="16" name="Text 14"/>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What flows through</a:t>
            </a:r>
            <a:endParaRPr lang="en-US" sz="900" dirty="0"/>
          </a:p>
        </p:txBody>
      </p:sp>
      <p:sp>
        <p:nvSpPr>
          <p:cNvPr id="17" name="Text 15"/>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8138160" cy="548640"/>
          </a:xfrm>
          <a:prstGeom prst="rect">
            <a:avLst/>
          </a:prstGeom>
          <a:noFill/>
          <a:ln/>
        </p:spPr>
        <p:txBody>
          <a:bodyPr wrap="square" lIns="0" tIns="0" rIns="0" bIns="0" rtlCol="0" anchor="ctr"/>
          <a:lstStyle/>
          <a:p>
            <a:pPr marL="0" indent="0">
              <a:buNone/>
            </a:pPr>
            <a:r>
              <a:rPr lang="en-US" sz="2700" b="1" dirty="0">
                <a:solidFill>
                  <a:srgbClr val="F3F5F7"/>
                </a:solidFill>
                <a:latin typeface="Trebuchet MS" pitchFamily="34" charset="0"/>
                <a:ea typeface="Trebuchet MS" pitchFamily="34" charset="-122"/>
                <a:cs typeface="Trebuchet MS" pitchFamily="34" charset="-120"/>
              </a:rPr>
              <a:t>Administration</a:t>
            </a:r>
            <a:endParaRPr lang="en-US" sz="2700" dirty="0"/>
          </a:p>
        </p:txBody>
      </p:sp>
      <p:sp>
        <p:nvSpPr>
          <p:cNvPr id="3" name="Text 1"/>
          <p:cNvSpPr/>
          <p:nvPr/>
        </p:nvSpPr>
        <p:spPr>
          <a:xfrm>
            <a:off x="502920" y="841248"/>
            <a:ext cx="8138160" cy="237744"/>
          </a:xfrm>
          <a:prstGeom prst="rect">
            <a:avLst/>
          </a:prstGeom>
          <a:noFill/>
          <a:ln/>
        </p:spPr>
        <p:txBody>
          <a:bodyPr wrap="square" lIns="0" tIns="0" rIns="0" bIns="0" rtlCol="0" anchor="ctr"/>
          <a:lstStyle/>
          <a:p>
            <a:pPr marL="0" indent="0">
              <a:buNone/>
            </a:pPr>
            <a:r>
              <a:rPr lang="en-US" sz="1100" b="1" kern="0" spc="200" dirty="0">
                <a:solidFill>
                  <a:srgbClr val="E8722C"/>
                </a:solidFill>
                <a:latin typeface="Calibri" pitchFamily="34" charset="0"/>
                <a:ea typeface="Calibri" pitchFamily="34" charset="-122"/>
                <a:cs typeface="Calibri" pitchFamily="34" charset="-120"/>
              </a:rPr>
              <a:t>CATEGORY 6</a:t>
            </a:r>
            <a:endParaRPr lang="en-US" sz="1100" dirty="0"/>
          </a:p>
        </p:txBody>
      </p:sp>
      <p:sp>
        <p:nvSpPr>
          <p:cNvPr id="4" name="card background">
            <a:extLst>
              <a:ext uri="{C183D7F6-B498-43B3-948B-1728B52AA6E4}">
                <adec:decorative xmlns:adec="http://schemas.microsoft.com/office/drawing/2017/decorative" val="1"/>
              </a:ext>
            </a:extLst>
          </p:cNvPr>
          <p:cNvSpPr/>
          <p:nvPr/>
        </p:nvSpPr>
        <p:spPr>
          <a:xfrm>
            <a:off x="502920" y="1280160"/>
            <a:ext cx="2566416" cy="1371600"/>
          </a:xfrm>
          <a:prstGeom prst="roundRect">
            <a:avLst>
              <a:gd name="adj" fmla="val 400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5" name="step marker">
            <a:extLst>
              <a:ext uri="{C183D7F6-B498-43B3-948B-1728B52AA6E4}">
                <adec:decorative xmlns:adec="http://schemas.microsoft.com/office/drawing/2017/decorative" val="1"/>
              </a:ext>
            </a:extLst>
          </p:cNvPr>
          <p:cNvSpPr/>
          <p:nvPr/>
        </p:nvSpPr>
        <p:spPr>
          <a:xfrm>
            <a:off x="704088" y="1463040"/>
            <a:ext cx="310896" cy="310896"/>
          </a:xfrm>
          <a:prstGeom prst="ellipse">
            <a:avLst/>
          </a:prstGeom>
          <a:solidFill>
            <a:srgbClr val="8B7BD8"/>
          </a:solidFill>
          <a:ln w="12700">
            <a:solidFill>
              <a:srgbClr val="8B7BD8"/>
            </a:solidFill>
            <a:prstDash val="solid"/>
          </a:ln>
        </p:spPr>
        <p:txBody>
          <a:bodyPr/>
          <a:lstStyle/>
          <a:p>
            <a:endParaRPr lang="en-SE"/>
          </a:p>
        </p:txBody>
      </p:sp>
      <p:sp>
        <p:nvSpPr>
          <p:cNvPr id="6" name="Text 4"/>
          <p:cNvSpPr/>
          <p:nvPr/>
        </p:nvSpPr>
        <p:spPr>
          <a:xfrm>
            <a:off x="704088" y="1463040"/>
            <a:ext cx="310896" cy="310896"/>
          </a:xfrm>
          <a:prstGeom prst="rect">
            <a:avLst/>
          </a:prstGeom>
          <a:noFill/>
          <a:ln/>
        </p:spPr>
        <p:txBody>
          <a:bodyPr wrap="square" lIns="0" tIns="0" rIns="0" bIns="0" rtlCol="0" anchor="ctr"/>
          <a:lstStyle/>
          <a:p>
            <a:pPr marL="0" indent="0" algn="ctr">
              <a:buNone/>
            </a:pPr>
            <a:endParaRPr lang="en-US" sz="1300" dirty="0"/>
          </a:p>
        </p:txBody>
      </p:sp>
      <p:sp>
        <p:nvSpPr>
          <p:cNvPr id="7" name="Text 5"/>
          <p:cNvSpPr/>
          <p:nvPr/>
        </p:nvSpPr>
        <p:spPr>
          <a:xfrm>
            <a:off x="1106424" y="1463040"/>
            <a:ext cx="1780032" cy="329184"/>
          </a:xfrm>
          <a:prstGeom prst="rect">
            <a:avLst/>
          </a:prstGeom>
          <a:noFill/>
          <a:ln/>
        </p:spPr>
        <p:txBody>
          <a:bodyPr wrap="square" lIns="0" tIns="0" rIns="0" bIns="0" rtlCol="0" anchor="ctr"/>
          <a:lstStyle/>
          <a:p>
            <a:pPr marL="0" indent="0">
              <a:buNone/>
            </a:pPr>
            <a:r>
              <a:rPr lang="en-US" sz="1400" b="1" dirty="0">
                <a:solidFill>
                  <a:srgbClr val="8B7BD8"/>
                </a:solidFill>
                <a:latin typeface="Trebuchet MS" pitchFamily="34" charset="0"/>
                <a:ea typeface="Trebuchet MS" pitchFamily="34" charset="-122"/>
                <a:cs typeface="Trebuchet MS" pitchFamily="34" charset="-120"/>
              </a:rPr>
              <a:t>Move the session</a:t>
            </a:r>
            <a:endParaRPr lang="en-US" sz="1400" dirty="0"/>
          </a:p>
        </p:txBody>
      </p:sp>
      <p:sp>
        <p:nvSpPr>
          <p:cNvPr id="8" name="Text 6"/>
          <p:cNvSpPr/>
          <p:nvPr/>
        </p:nvSpPr>
        <p:spPr>
          <a:xfrm>
            <a:off x="722376" y="1828800"/>
            <a:ext cx="2127504" cy="71323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Request a transition to pre-open, auction, continuous trading or closed.</a:t>
            </a:r>
            <a:endParaRPr lang="en-US" sz="1050" dirty="0"/>
          </a:p>
        </p:txBody>
      </p:sp>
      <p:sp>
        <p:nvSpPr>
          <p:cNvPr id="9" name="card background">
            <a:extLst>
              <a:ext uri="{C183D7F6-B498-43B3-948B-1728B52AA6E4}">
                <adec:decorative xmlns:adec="http://schemas.microsoft.com/office/drawing/2017/decorative" val="1"/>
              </a:ext>
            </a:extLst>
          </p:cNvPr>
          <p:cNvSpPr/>
          <p:nvPr/>
        </p:nvSpPr>
        <p:spPr>
          <a:xfrm>
            <a:off x="3288792" y="1280160"/>
            <a:ext cx="2566416" cy="1371600"/>
          </a:xfrm>
          <a:prstGeom prst="roundRect">
            <a:avLst>
              <a:gd name="adj" fmla="val 400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0" name="Text 8">
            <a:extLst>
              <a:ext uri="{C183D7F6-B498-43B3-948B-1728B52AA6E4}">
                <adec:decorative xmlns:adec="http://schemas.microsoft.com/office/drawing/2017/decorative" val="1"/>
              </a:ext>
            </a:extLst>
          </p:cNvPr>
          <p:cNvSpPr/>
          <p:nvPr/>
        </p:nvSpPr>
        <p:spPr>
          <a:xfrm>
            <a:off x="3508248" y="1463040"/>
            <a:ext cx="2164080" cy="329184"/>
          </a:xfrm>
          <a:prstGeom prst="rect">
            <a:avLst/>
          </a:prstGeom>
          <a:noFill/>
          <a:ln/>
        </p:spPr>
        <p:txBody>
          <a:bodyPr wrap="square" lIns="0" tIns="0" rIns="0" bIns="0" rtlCol="0" anchor="ctr"/>
          <a:lstStyle/>
          <a:p>
            <a:pPr marL="0" indent="0">
              <a:buNone/>
            </a:pPr>
            <a:r>
              <a:rPr lang="en-US" sz="1400" b="1" dirty="0">
                <a:solidFill>
                  <a:srgbClr val="35A79C"/>
                </a:solidFill>
                <a:latin typeface="Trebuchet MS" pitchFamily="34" charset="0"/>
                <a:ea typeface="Trebuchet MS" pitchFamily="34" charset="-122"/>
                <a:cs typeface="Trebuchet MS" pitchFamily="34" charset="-120"/>
              </a:rPr>
              <a:t>Read the schedule</a:t>
            </a:r>
            <a:endParaRPr lang="en-US" sz="1400" dirty="0"/>
          </a:p>
        </p:txBody>
      </p:sp>
      <p:sp>
        <p:nvSpPr>
          <p:cNvPr id="11" name="Text 9"/>
          <p:cNvSpPr/>
          <p:nvPr/>
        </p:nvSpPr>
        <p:spPr>
          <a:xfrm>
            <a:off x="3508248" y="1828800"/>
            <a:ext cx="2127504" cy="71323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See whether scheduled sessions are enabled and what the timetable is.</a:t>
            </a:r>
            <a:endParaRPr lang="en-US" sz="1050" dirty="0"/>
          </a:p>
        </p:txBody>
      </p:sp>
      <p:sp>
        <p:nvSpPr>
          <p:cNvPr id="12" name="card background">
            <a:extLst>
              <a:ext uri="{C183D7F6-B498-43B3-948B-1728B52AA6E4}">
                <adec:decorative xmlns:adec="http://schemas.microsoft.com/office/drawing/2017/decorative" val="1"/>
              </a:ext>
            </a:extLst>
          </p:cNvPr>
          <p:cNvSpPr/>
          <p:nvPr/>
        </p:nvSpPr>
        <p:spPr>
          <a:xfrm>
            <a:off x="6074664" y="1280160"/>
            <a:ext cx="2566416" cy="1371600"/>
          </a:xfrm>
          <a:prstGeom prst="roundRect">
            <a:avLst>
              <a:gd name="adj" fmla="val 400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3" name="step marker">
            <a:extLst>
              <a:ext uri="{C183D7F6-B498-43B3-948B-1728B52AA6E4}">
                <adec:decorative xmlns:adec="http://schemas.microsoft.com/office/drawing/2017/decorative" val="1"/>
              </a:ext>
            </a:extLst>
          </p:cNvPr>
          <p:cNvSpPr/>
          <p:nvPr/>
        </p:nvSpPr>
        <p:spPr>
          <a:xfrm>
            <a:off x="6275832" y="1463040"/>
            <a:ext cx="310896" cy="310896"/>
          </a:xfrm>
          <a:prstGeom prst="ellipse">
            <a:avLst/>
          </a:prstGeom>
          <a:solidFill>
            <a:srgbClr val="F2A65A"/>
          </a:solidFill>
          <a:ln w="12700">
            <a:solidFill>
              <a:srgbClr val="F2A65A"/>
            </a:solidFill>
            <a:prstDash val="solid"/>
          </a:ln>
        </p:spPr>
        <p:txBody>
          <a:bodyPr/>
          <a:lstStyle/>
          <a:p>
            <a:endParaRPr lang="en-SE"/>
          </a:p>
        </p:txBody>
      </p:sp>
      <p:sp>
        <p:nvSpPr>
          <p:cNvPr id="14" name="Text 12">
            <a:extLst>
              <a:ext uri="{C183D7F6-B498-43B3-948B-1728B52AA6E4}">
                <adec:decorative xmlns:adec="http://schemas.microsoft.com/office/drawing/2017/decorative" val="1"/>
              </a:ext>
            </a:extLst>
          </p:cNvPr>
          <p:cNvSpPr/>
          <p:nvPr/>
        </p:nvSpPr>
        <p:spPr>
          <a:xfrm>
            <a:off x="6275832" y="1463040"/>
            <a:ext cx="310896" cy="310896"/>
          </a:xfrm>
          <a:prstGeom prst="rect">
            <a:avLst/>
          </a:prstGeom>
          <a:noFill/>
          <a:ln/>
        </p:spPr>
        <p:txBody>
          <a:bodyPr wrap="square" lIns="0" tIns="0" rIns="0" bIns="0" rtlCol="0" anchor="ctr"/>
          <a:lstStyle/>
          <a:p>
            <a:pPr marL="0" indent="0" algn="ctr">
              <a:buNone/>
            </a:pPr>
            <a:endParaRPr lang="en-US" sz="1300" dirty="0"/>
          </a:p>
        </p:txBody>
      </p:sp>
      <p:sp>
        <p:nvSpPr>
          <p:cNvPr id="15" name="Text 13">
            <a:extLst>
              <a:ext uri="{C183D7F6-B498-43B3-948B-1728B52AA6E4}">
                <adec:decorative xmlns:adec="http://schemas.microsoft.com/office/drawing/2017/decorative" val="1"/>
              </a:ext>
            </a:extLst>
          </p:cNvPr>
          <p:cNvSpPr/>
          <p:nvPr/>
        </p:nvSpPr>
        <p:spPr>
          <a:xfrm>
            <a:off x="6678168" y="1463040"/>
            <a:ext cx="1780032" cy="329184"/>
          </a:xfrm>
          <a:prstGeom prst="rect">
            <a:avLst/>
          </a:prstGeom>
          <a:noFill/>
          <a:ln/>
        </p:spPr>
        <p:txBody>
          <a:bodyPr wrap="square" lIns="0" tIns="0" rIns="0" bIns="0" rtlCol="0" anchor="ctr"/>
          <a:lstStyle/>
          <a:p>
            <a:pPr marL="0" indent="0">
              <a:buNone/>
            </a:pPr>
            <a:r>
              <a:rPr lang="en-US" sz="1400" b="1" dirty="0">
                <a:solidFill>
                  <a:srgbClr val="F2A65A"/>
                </a:solidFill>
                <a:latin typeface="Trebuchet MS" pitchFamily="34" charset="0"/>
                <a:ea typeface="Trebuchet MS" pitchFamily="34" charset="-122"/>
                <a:cs typeface="Trebuchet MS" pitchFamily="34" charset="-120"/>
              </a:rPr>
              <a:t>List gateways</a:t>
            </a:r>
            <a:endParaRPr lang="en-US" sz="1400" dirty="0"/>
          </a:p>
        </p:txBody>
      </p:sp>
      <p:sp>
        <p:nvSpPr>
          <p:cNvPr id="16" name="Text 14"/>
          <p:cNvSpPr/>
          <p:nvPr/>
        </p:nvSpPr>
        <p:spPr>
          <a:xfrm>
            <a:off x="6294120" y="1828800"/>
            <a:ext cx="2127504" cy="71323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Every configured participant, its role, description and whether it is connected.</a:t>
            </a:r>
            <a:endParaRPr lang="en-US" sz="1050" dirty="0"/>
          </a:p>
        </p:txBody>
      </p:sp>
      <p:sp>
        <p:nvSpPr>
          <p:cNvPr id="17" name="card background">
            <a:extLst>
              <a:ext uri="{C183D7F6-B498-43B3-948B-1728B52AA6E4}">
                <adec:decorative xmlns:adec="http://schemas.microsoft.com/office/drawing/2017/decorative" val="1"/>
              </a:ext>
            </a:extLst>
          </p:cNvPr>
          <p:cNvSpPr/>
          <p:nvPr/>
        </p:nvSpPr>
        <p:spPr>
          <a:xfrm>
            <a:off x="502920" y="2852928"/>
            <a:ext cx="2566416" cy="1371600"/>
          </a:xfrm>
          <a:prstGeom prst="roundRect">
            <a:avLst>
              <a:gd name="adj" fmla="val 400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8" name="Text 16"/>
          <p:cNvSpPr/>
          <p:nvPr/>
        </p:nvSpPr>
        <p:spPr>
          <a:xfrm>
            <a:off x="722376" y="3035808"/>
            <a:ext cx="2164080" cy="329184"/>
          </a:xfrm>
          <a:prstGeom prst="rect">
            <a:avLst/>
          </a:prstGeom>
          <a:noFill/>
          <a:ln/>
        </p:spPr>
        <p:txBody>
          <a:bodyPr wrap="square" lIns="0" tIns="0" rIns="0" bIns="0" rtlCol="0" anchor="ctr"/>
          <a:lstStyle/>
          <a:p>
            <a:pPr marL="0" indent="0">
              <a:buNone/>
            </a:pPr>
            <a:r>
              <a:rPr lang="en-US" sz="1400" b="1" dirty="0">
                <a:solidFill>
                  <a:srgbClr val="D9534F"/>
                </a:solidFill>
                <a:latin typeface="Trebuchet MS" pitchFamily="34" charset="0"/>
                <a:ea typeface="Trebuchet MS" pitchFamily="34" charset="-122"/>
                <a:cs typeface="Trebuchet MS" pitchFamily="34" charset="-120"/>
              </a:rPr>
              <a:t>Disconnect one</a:t>
            </a:r>
            <a:endParaRPr lang="en-US" sz="1400" dirty="0"/>
          </a:p>
        </p:txBody>
      </p:sp>
      <p:sp>
        <p:nvSpPr>
          <p:cNvPr id="19" name="Text 17">
            <a:extLst>
              <a:ext uri="{C183D7F6-B498-43B3-948B-1728B52AA6E4}">
                <adec:decorative xmlns:adec="http://schemas.microsoft.com/office/drawing/2017/decorative" val="1"/>
              </a:ext>
            </a:extLst>
          </p:cNvPr>
          <p:cNvSpPr/>
          <p:nvPr/>
        </p:nvSpPr>
        <p:spPr>
          <a:xfrm>
            <a:off x="722376" y="3401568"/>
            <a:ext cx="2127504" cy="71323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Drop a participant's connection when it misbehaves.</a:t>
            </a:r>
            <a:endParaRPr lang="en-US" sz="1050" dirty="0"/>
          </a:p>
        </p:txBody>
      </p:sp>
      <p:sp>
        <p:nvSpPr>
          <p:cNvPr id="20" name="card background">
            <a:extLst>
              <a:ext uri="{C183D7F6-B498-43B3-948B-1728B52AA6E4}">
                <adec:decorative xmlns:adec="http://schemas.microsoft.com/office/drawing/2017/decorative" val="1"/>
              </a:ext>
            </a:extLst>
          </p:cNvPr>
          <p:cNvSpPr/>
          <p:nvPr/>
        </p:nvSpPr>
        <p:spPr>
          <a:xfrm>
            <a:off x="3288792" y="2852928"/>
            <a:ext cx="2566416" cy="1371600"/>
          </a:xfrm>
          <a:prstGeom prst="roundRect">
            <a:avLst>
              <a:gd name="adj" fmla="val 400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21" name="Text 19"/>
          <p:cNvSpPr/>
          <p:nvPr/>
        </p:nvSpPr>
        <p:spPr>
          <a:xfrm>
            <a:off x="3508248" y="3035808"/>
            <a:ext cx="2164080" cy="329184"/>
          </a:xfrm>
          <a:prstGeom prst="rect">
            <a:avLst/>
          </a:prstGeom>
          <a:noFill/>
          <a:ln/>
        </p:spPr>
        <p:txBody>
          <a:bodyPr wrap="square" lIns="0" tIns="0" rIns="0" bIns="0" rtlCol="0" anchor="ctr"/>
          <a:lstStyle/>
          <a:p>
            <a:pPr marL="0" indent="0">
              <a:buNone/>
            </a:pPr>
            <a:r>
              <a:rPr lang="en-US" sz="1400" b="1" dirty="0">
                <a:solidFill>
                  <a:srgbClr val="D9534F"/>
                </a:solidFill>
                <a:latin typeface="Trebuchet MS" pitchFamily="34" charset="0"/>
                <a:ea typeface="Trebuchet MS" pitchFamily="34" charset="-122"/>
                <a:cs typeface="Trebuchet MS" pitchFamily="34" charset="-120"/>
              </a:rPr>
              <a:t>Halt and resume</a:t>
            </a:r>
            <a:endParaRPr lang="en-US" sz="1400" dirty="0"/>
          </a:p>
        </p:txBody>
      </p:sp>
      <p:sp>
        <p:nvSpPr>
          <p:cNvPr id="22" name="Text 20"/>
          <p:cNvSpPr/>
          <p:nvPr/>
        </p:nvSpPr>
        <p:spPr>
          <a:xfrm>
            <a:off x="3508248" y="3401568"/>
            <a:ext cx="2127504" cy="71323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Trigger a circuit breaker on an instrument, then bring it back.</a:t>
            </a:r>
            <a:endParaRPr lang="en-US" sz="1050" dirty="0"/>
          </a:p>
        </p:txBody>
      </p:sp>
      <p:sp>
        <p:nvSpPr>
          <p:cNvPr id="23" name="card background">
            <a:extLst>
              <a:ext uri="{C183D7F6-B498-43B3-948B-1728B52AA6E4}">
                <adec:decorative xmlns:adec="http://schemas.microsoft.com/office/drawing/2017/decorative" val="1"/>
              </a:ext>
            </a:extLst>
          </p:cNvPr>
          <p:cNvSpPr/>
          <p:nvPr/>
        </p:nvSpPr>
        <p:spPr>
          <a:xfrm>
            <a:off x="6074664" y="2852928"/>
            <a:ext cx="2566416" cy="1371600"/>
          </a:xfrm>
          <a:prstGeom prst="roundRect">
            <a:avLst>
              <a:gd name="adj" fmla="val 400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24" name="Text 22">
            <a:extLst>
              <a:ext uri="{C183D7F6-B498-43B3-948B-1728B52AA6E4}">
                <adec:decorative xmlns:adec="http://schemas.microsoft.com/office/drawing/2017/decorative" val="1"/>
              </a:ext>
            </a:extLst>
          </p:cNvPr>
          <p:cNvSpPr/>
          <p:nvPr/>
        </p:nvSpPr>
        <p:spPr>
          <a:xfrm>
            <a:off x="6294120" y="3035808"/>
            <a:ext cx="2164080" cy="329184"/>
          </a:xfrm>
          <a:prstGeom prst="rect">
            <a:avLst/>
          </a:prstGeom>
          <a:noFill/>
          <a:ln/>
        </p:spPr>
        <p:txBody>
          <a:bodyPr wrap="square" lIns="0" tIns="0" rIns="0" bIns="0" rtlCol="0" anchor="ctr"/>
          <a:lstStyle/>
          <a:p>
            <a:pPr marL="0" indent="0">
              <a:buNone/>
            </a:pPr>
            <a:r>
              <a:rPr lang="en-US" sz="1400" b="1" dirty="0">
                <a:solidFill>
                  <a:srgbClr val="E8722C"/>
                </a:solidFill>
                <a:latin typeface="Trebuchet MS" pitchFamily="34" charset="0"/>
                <a:ea typeface="Trebuchet MS" pitchFamily="34" charset="-122"/>
                <a:cs typeface="Trebuchet MS" pitchFamily="34" charset="-120"/>
              </a:rPr>
              <a:t>Symbol kill switch</a:t>
            </a:r>
            <a:endParaRPr lang="en-US" sz="1400" dirty="0"/>
          </a:p>
        </p:txBody>
      </p:sp>
      <p:sp>
        <p:nvSpPr>
          <p:cNvPr id="25" name="Text 23">
            <a:extLst>
              <a:ext uri="{C183D7F6-B498-43B3-948B-1728B52AA6E4}">
                <adec:decorative xmlns:adec="http://schemas.microsoft.com/office/drawing/2017/decorative" val="1"/>
              </a:ext>
            </a:extLst>
          </p:cNvPr>
          <p:cNvSpPr/>
          <p:nvPr/>
        </p:nvSpPr>
        <p:spPr>
          <a:xfrm>
            <a:off x="6294120" y="3401568"/>
            <a:ext cx="2127504" cy="71323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Cancel all exposure in one instrument across the exchange.</a:t>
            </a:r>
            <a:endParaRPr lang="en-US" sz="1050" dirty="0"/>
          </a:p>
        </p:txBody>
      </p:sp>
      <p:sp>
        <p:nvSpPr>
          <p:cNvPr id="26" name="Text 24"/>
          <p:cNvSpPr/>
          <p:nvPr/>
        </p:nvSpPr>
        <p:spPr>
          <a:xfrm>
            <a:off x="502920" y="4261104"/>
            <a:ext cx="8138160" cy="365760"/>
          </a:xfrm>
          <a:prstGeom prst="rect">
            <a:avLst/>
          </a:prstGeom>
          <a:noFill/>
          <a:ln/>
        </p:spPr>
        <p:txBody>
          <a:bodyPr wrap="square" lIns="0" tIns="0" rIns="0" bIns="0" rtlCol="0" anchor="t"/>
          <a:lstStyle/>
          <a:p>
            <a:pPr marL="0" indent="0" algn="l">
              <a:buNone/>
            </a:pPr>
            <a:r>
              <a:rPr lang="en-US" sz="1150" i="1" dirty="0">
                <a:solidFill>
                  <a:srgbClr val="97A1AC"/>
                </a:solidFill>
                <a:latin typeface="Calibri" pitchFamily="34" charset="0"/>
                <a:ea typeface="Calibri" pitchFamily="34" charset="-122"/>
                <a:cs typeface="Calibri" pitchFamily="34" charset="-120"/>
              </a:rPr>
              <a:t>Adding instruments and editing the index are deliberately not exposed here — those live with dedicated tools.</a:t>
            </a:r>
            <a:endParaRPr lang="en-US" sz="1150" dirty="0"/>
          </a:p>
        </p:txBody>
      </p:sp>
      <p:sp>
        <p:nvSpPr>
          <p:cNvPr id="27" name="Text 25"/>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What flows through</a:t>
            </a:r>
            <a:endParaRPr lang="en-US" sz="900" dirty="0"/>
          </a:p>
        </p:txBody>
      </p:sp>
      <p:sp>
        <p:nvSpPr>
          <p:cNvPr id="28" name="Text 26"/>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ide band">
            <a:extLst>
              <a:ext uri="{C183D7F6-B498-43B3-948B-1728B52AA6E4}">
                <adec:decorative xmlns:adec="http://schemas.microsoft.com/office/drawing/2017/decorative" val="1"/>
              </a:ext>
            </a:extLst>
          </p:cNvPr>
          <p:cNvSpPr/>
          <p:nvPr/>
        </p:nvSpPr>
        <p:spPr>
          <a:xfrm>
            <a:off x="0" y="0"/>
            <a:ext cx="384048" cy="5143500"/>
          </a:xfrm>
          <a:prstGeom prst="rect">
            <a:avLst/>
          </a:prstGeom>
          <a:solidFill>
            <a:srgbClr val="E8722C"/>
          </a:solidFill>
          <a:ln w="12700">
            <a:solidFill>
              <a:srgbClr val="E8722C"/>
            </a:solidFill>
            <a:prstDash val="solid"/>
          </a:ln>
        </p:spPr>
        <p:txBody>
          <a:bodyPr/>
          <a:lstStyle/>
          <a:p>
            <a:endParaRPr lang="en-SE"/>
          </a:p>
        </p:txBody>
      </p:sp>
      <p:sp>
        <p:nvSpPr>
          <p:cNvPr id="3" name="Text 1"/>
          <p:cNvSpPr/>
          <p:nvPr/>
        </p:nvSpPr>
        <p:spPr>
          <a:xfrm>
            <a:off x="960120" y="1371600"/>
            <a:ext cx="2743200" cy="822960"/>
          </a:xfrm>
          <a:prstGeom prst="rect">
            <a:avLst/>
          </a:prstGeom>
          <a:noFill/>
          <a:ln/>
        </p:spPr>
        <p:txBody>
          <a:bodyPr wrap="square" lIns="0" tIns="0" rIns="0" bIns="0" rtlCol="0" anchor="ctr"/>
          <a:lstStyle/>
          <a:p>
            <a:pPr marL="0" indent="0">
              <a:buNone/>
            </a:pPr>
            <a:r>
              <a:rPr lang="en-US" sz="6200" b="1" dirty="0">
                <a:solidFill>
                  <a:srgbClr val="2E353D"/>
                </a:solidFill>
                <a:latin typeface="Trebuchet MS" pitchFamily="34" charset="0"/>
                <a:ea typeface="Trebuchet MS" pitchFamily="34" charset="-122"/>
                <a:cs typeface="Trebuchet MS" pitchFamily="34" charset="-120"/>
              </a:rPr>
              <a:t>06</a:t>
            </a:r>
            <a:endParaRPr lang="en-US" sz="6200" dirty="0"/>
          </a:p>
        </p:txBody>
      </p:sp>
      <p:sp>
        <p:nvSpPr>
          <p:cNvPr id="4" name="Text 0"/>
          <p:cNvSpPr>
            <a:spLocks noGrp="1"/>
          </p:cNvSpPr>
          <p:nvPr>
            <p:ph type="title" idx="100" hasCustomPrompt="1"/>
          </p:nvPr>
        </p:nvSpPr>
        <p:spPr>
          <a:xfrm>
            <a:off x="1005840" y="2148840"/>
            <a:ext cx="7132320" cy="914400"/>
          </a:xfrm>
          <a:prstGeom prst="rect">
            <a:avLst/>
          </a:prstGeom>
          <a:noFill/>
          <a:ln/>
        </p:spPr>
        <p:txBody>
          <a:bodyPr wrap="square" lIns="0" tIns="0" rIns="0" bIns="0" rtlCol="0"/>
          <a:lstStyle/>
          <a:p>
            <a:pPr marL="0" indent="0" algn="l">
              <a:buNone/>
            </a:pPr>
            <a:r>
              <a:rPr lang="en-US" sz="3600" b="1" dirty="0">
                <a:solidFill>
                  <a:srgbClr val="F3F5F7"/>
                </a:solidFill>
                <a:latin typeface="Trebuchet MS" pitchFamily="34" charset="0"/>
                <a:ea typeface="Trebuchet MS" pitchFamily="34" charset="-122"/>
                <a:cs typeface="Trebuchet MS" pitchFamily="34" charset="-120"/>
              </a:rPr>
              <a:t>The shape of the data</a:t>
            </a:r>
            <a:endParaRPr lang="en-US" sz="3600" dirty="0"/>
          </a:p>
        </p:txBody>
      </p:sp>
      <p:sp>
        <p:nvSpPr>
          <p:cNvPr id="5" name="Text 3"/>
          <p:cNvSpPr/>
          <p:nvPr/>
        </p:nvSpPr>
        <p:spPr>
          <a:xfrm>
            <a:off x="1024128" y="3108960"/>
            <a:ext cx="6949440" cy="731520"/>
          </a:xfrm>
          <a:prstGeom prst="rect">
            <a:avLst/>
          </a:prstGeom>
          <a:noFill/>
          <a:ln/>
        </p:spPr>
        <p:txBody>
          <a:bodyPr wrap="square" lIns="0" tIns="0" rIns="0" bIns="0" rtlCol="0" anchor="ctr"/>
          <a:lstStyle/>
          <a:p>
            <a:pPr marL="0" indent="0">
              <a:buNone/>
            </a:pPr>
            <a:r>
              <a:rPr lang="en-US" sz="1400" dirty="0">
                <a:solidFill>
                  <a:srgbClr val="97A1AC"/>
                </a:solidFill>
                <a:latin typeface="Calibri" pitchFamily="34" charset="0"/>
                <a:ea typeface="Calibri" pitchFamily="34" charset="-122"/>
                <a:cs typeface="Calibri" pitchFamily="34" charset="-120"/>
              </a:rPr>
              <a:t>Requests, responses, events and pages — five envelopes to recognise</a:t>
            </a:r>
            <a:endParaRPr lang="en-US" sz="1400" dirty="0"/>
          </a:p>
        </p:txBody>
      </p:sp>
      <p:sp>
        <p:nvSpPr>
          <p:cNvPr id="6" name="Text 4"/>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The shape of the data</a:t>
            </a:r>
            <a:endParaRPr lang="en-US" sz="900" dirty="0"/>
          </a:p>
        </p:txBody>
      </p:sp>
      <p:sp>
        <p:nvSpPr>
          <p:cNvPr id="7" name="Text 5"/>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8138160" cy="548640"/>
          </a:xfrm>
          <a:prstGeom prst="rect">
            <a:avLst/>
          </a:prstGeom>
          <a:noFill/>
          <a:ln/>
        </p:spPr>
        <p:txBody>
          <a:bodyPr wrap="square" lIns="0" tIns="0" rIns="0" bIns="0" rtlCol="0" anchor="ctr"/>
          <a:lstStyle/>
          <a:p>
            <a:pPr marL="0" indent="0">
              <a:buNone/>
            </a:pPr>
            <a:r>
              <a:rPr lang="en-US" sz="2700" b="1" dirty="0">
                <a:solidFill>
                  <a:srgbClr val="F3F5F7"/>
                </a:solidFill>
                <a:latin typeface="Trebuchet MS" pitchFamily="34" charset="0"/>
                <a:ea typeface="Trebuchet MS" pitchFamily="34" charset="-122"/>
                <a:cs typeface="Trebuchet MS" pitchFamily="34" charset="-120"/>
              </a:rPr>
              <a:t>Five shapes to learn</a:t>
            </a:r>
            <a:endParaRPr lang="en-US" sz="2700" dirty="0"/>
          </a:p>
        </p:txBody>
      </p:sp>
      <p:sp>
        <p:nvSpPr>
          <p:cNvPr id="3" name="Text 1"/>
          <p:cNvSpPr/>
          <p:nvPr/>
        </p:nvSpPr>
        <p:spPr>
          <a:xfrm>
            <a:off x="502920" y="841248"/>
            <a:ext cx="8138160" cy="237744"/>
          </a:xfrm>
          <a:prstGeom prst="rect">
            <a:avLst/>
          </a:prstGeom>
          <a:noFill/>
          <a:ln/>
        </p:spPr>
        <p:txBody>
          <a:bodyPr wrap="square" lIns="0" tIns="0" rIns="0" bIns="0" rtlCol="0" anchor="ctr"/>
          <a:lstStyle/>
          <a:p>
            <a:pPr marL="0" indent="0">
              <a:buNone/>
            </a:pPr>
            <a:r>
              <a:rPr lang="en-US" sz="1100" b="1" kern="0" spc="200" dirty="0">
                <a:solidFill>
                  <a:srgbClr val="E8722C"/>
                </a:solidFill>
                <a:latin typeface="Calibri" pitchFamily="34" charset="0"/>
                <a:ea typeface="Calibri" pitchFamily="34" charset="-122"/>
                <a:cs typeface="Calibri" pitchFamily="34" charset="-120"/>
              </a:rPr>
              <a:t>OVERVIEW</a:t>
            </a:r>
            <a:endParaRPr lang="en-US" sz="1100" dirty="0"/>
          </a:p>
        </p:txBody>
      </p:sp>
      <p:sp>
        <p:nvSpPr>
          <p:cNvPr id="4" name="card background">
            <a:extLst>
              <a:ext uri="{C183D7F6-B498-43B3-948B-1728B52AA6E4}">
                <adec:decorative xmlns:adec="http://schemas.microsoft.com/office/drawing/2017/decorative" val="1"/>
              </a:ext>
            </a:extLst>
          </p:cNvPr>
          <p:cNvSpPr/>
          <p:nvPr/>
        </p:nvSpPr>
        <p:spPr>
          <a:xfrm>
            <a:off x="502920" y="1298448"/>
            <a:ext cx="2566416" cy="1417320"/>
          </a:xfrm>
          <a:prstGeom prst="roundRect">
            <a:avLst>
              <a:gd name="adj" fmla="val 3871"/>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5" name="step marker">
            <a:extLst>
              <a:ext uri="{C183D7F6-B498-43B3-948B-1728B52AA6E4}">
                <adec:decorative xmlns:adec="http://schemas.microsoft.com/office/drawing/2017/decorative" val="1"/>
              </a:ext>
            </a:extLst>
          </p:cNvPr>
          <p:cNvSpPr/>
          <p:nvPr/>
        </p:nvSpPr>
        <p:spPr>
          <a:xfrm>
            <a:off x="704088" y="1481328"/>
            <a:ext cx="310896" cy="310896"/>
          </a:xfrm>
          <a:prstGeom prst="ellipse">
            <a:avLst/>
          </a:prstGeom>
          <a:solidFill>
            <a:srgbClr val="E8722C"/>
          </a:solidFill>
          <a:ln w="12700">
            <a:solidFill>
              <a:srgbClr val="E8722C"/>
            </a:solidFill>
            <a:prstDash val="solid"/>
          </a:ln>
        </p:spPr>
        <p:txBody>
          <a:bodyPr/>
          <a:lstStyle/>
          <a:p>
            <a:endParaRPr lang="en-SE"/>
          </a:p>
        </p:txBody>
      </p:sp>
      <p:sp>
        <p:nvSpPr>
          <p:cNvPr id="6" name="Text 4"/>
          <p:cNvSpPr/>
          <p:nvPr/>
        </p:nvSpPr>
        <p:spPr>
          <a:xfrm>
            <a:off x="704088" y="1481328"/>
            <a:ext cx="310896" cy="310896"/>
          </a:xfrm>
          <a:prstGeom prst="rect">
            <a:avLst/>
          </a:prstGeom>
          <a:noFill/>
          <a:ln/>
        </p:spPr>
        <p:txBody>
          <a:bodyPr wrap="square" lIns="0" tIns="0" rIns="0" bIns="0" rtlCol="0" anchor="ctr"/>
          <a:lstStyle/>
          <a:p>
            <a:pPr marL="0" indent="0" algn="ctr">
              <a:buNone/>
            </a:pPr>
            <a:r>
              <a:rPr lang="en-US" sz="1300" b="1" dirty="0">
                <a:solidFill>
                  <a:srgbClr val="13161A"/>
                </a:solidFill>
                <a:latin typeface="Trebuchet MS" pitchFamily="34" charset="0"/>
                <a:ea typeface="Trebuchet MS" pitchFamily="34" charset="-122"/>
                <a:cs typeface="Trebuchet MS" pitchFamily="34" charset="-120"/>
              </a:rPr>
              <a:t>1</a:t>
            </a:r>
            <a:endParaRPr lang="en-US" sz="1300" dirty="0"/>
          </a:p>
        </p:txBody>
      </p:sp>
      <p:sp>
        <p:nvSpPr>
          <p:cNvPr id="7" name="Text 5"/>
          <p:cNvSpPr/>
          <p:nvPr/>
        </p:nvSpPr>
        <p:spPr>
          <a:xfrm>
            <a:off x="1106424" y="1481328"/>
            <a:ext cx="1780032" cy="329184"/>
          </a:xfrm>
          <a:prstGeom prst="rect">
            <a:avLst/>
          </a:prstGeom>
          <a:noFill/>
          <a:ln/>
        </p:spPr>
        <p:txBody>
          <a:bodyPr wrap="square" lIns="0" tIns="0" rIns="0" bIns="0" rtlCol="0" anchor="ctr"/>
          <a:lstStyle/>
          <a:p>
            <a:pPr marL="0" indent="0">
              <a:buNone/>
            </a:pPr>
            <a:r>
              <a:rPr lang="en-US" sz="1400" b="1" dirty="0">
                <a:solidFill>
                  <a:srgbClr val="E8722C"/>
                </a:solidFill>
                <a:latin typeface="Trebuchet MS" pitchFamily="34" charset="0"/>
                <a:ea typeface="Trebuchet MS" pitchFamily="34" charset="-122"/>
                <a:cs typeface="Trebuchet MS" pitchFamily="34" charset="-120"/>
              </a:rPr>
              <a:t>The request</a:t>
            </a:r>
            <a:endParaRPr lang="en-US" sz="1400" dirty="0"/>
          </a:p>
        </p:txBody>
      </p:sp>
      <p:sp>
        <p:nvSpPr>
          <p:cNvPr id="8" name="Text 6"/>
          <p:cNvSpPr/>
          <p:nvPr/>
        </p:nvSpPr>
        <p:spPr>
          <a:xfrm>
            <a:off x="722376" y="1847088"/>
            <a:ext cx="2127504" cy="75895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A flat JSON object of fields, sent with your key in a header.</a:t>
            </a:r>
            <a:endParaRPr lang="en-US" sz="1050" dirty="0"/>
          </a:p>
        </p:txBody>
      </p:sp>
      <p:sp>
        <p:nvSpPr>
          <p:cNvPr id="9" name="card background">
            <a:extLst>
              <a:ext uri="{C183D7F6-B498-43B3-948B-1728B52AA6E4}">
                <adec:decorative xmlns:adec="http://schemas.microsoft.com/office/drawing/2017/decorative" val="1"/>
              </a:ext>
            </a:extLst>
          </p:cNvPr>
          <p:cNvSpPr/>
          <p:nvPr/>
        </p:nvSpPr>
        <p:spPr>
          <a:xfrm>
            <a:off x="3288792" y="1298448"/>
            <a:ext cx="2566416" cy="1417320"/>
          </a:xfrm>
          <a:prstGeom prst="roundRect">
            <a:avLst>
              <a:gd name="adj" fmla="val 3871"/>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0" name="step marker">
            <a:extLst>
              <a:ext uri="{C183D7F6-B498-43B3-948B-1728B52AA6E4}">
                <adec:decorative xmlns:adec="http://schemas.microsoft.com/office/drawing/2017/decorative" val="1"/>
              </a:ext>
            </a:extLst>
          </p:cNvPr>
          <p:cNvSpPr/>
          <p:nvPr/>
        </p:nvSpPr>
        <p:spPr>
          <a:xfrm>
            <a:off x="3489960" y="1481328"/>
            <a:ext cx="310896" cy="310896"/>
          </a:xfrm>
          <a:prstGeom prst="ellipse">
            <a:avLst/>
          </a:prstGeom>
          <a:solidFill>
            <a:srgbClr val="F2A65A"/>
          </a:solidFill>
          <a:ln w="12700">
            <a:solidFill>
              <a:srgbClr val="F2A65A"/>
            </a:solidFill>
            <a:prstDash val="solid"/>
          </a:ln>
        </p:spPr>
        <p:txBody>
          <a:bodyPr/>
          <a:lstStyle/>
          <a:p>
            <a:endParaRPr lang="en-SE"/>
          </a:p>
        </p:txBody>
      </p:sp>
      <p:sp>
        <p:nvSpPr>
          <p:cNvPr id="11" name="Text 9"/>
          <p:cNvSpPr/>
          <p:nvPr/>
        </p:nvSpPr>
        <p:spPr>
          <a:xfrm>
            <a:off x="3489960" y="1481328"/>
            <a:ext cx="310896" cy="310896"/>
          </a:xfrm>
          <a:prstGeom prst="rect">
            <a:avLst/>
          </a:prstGeom>
          <a:noFill/>
          <a:ln/>
        </p:spPr>
        <p:txBody>
          <a:bodyPr wrap="square" lIns="0" tIns="0" rIns="0" bIns="0" rtlCol="0" anchor="ctr"/>
          <a:lstStyle/>
          <a:p>
            <a:pPr marL="0" indent="0" algn="ctr">
              <a:buNone/>
            </a:pPr>
            <a:r>
              <a:rPr lang="en-US" sz="1300" b="1" dirty="0">
                <a:solidFill>
                  <a:srgbClr val="13161A"/>
                </a:solidFill>
                <a:latin typeface="Trebuchet MS" pitchFamily="34" charset="0"/>
                <a:ea typeface="Trebuchet MS" pitchFamily="34" charset="-122"/>
                <a:cs typeface="Trebuchet MS" pitchFamily="34" charset="-120"/>
              </a:rPr>
              <a:t>2</a:t>
            </a:r>
            <a:endParaRPr lang="en-US" sz="1300" dirty="0"/>
          </a:p>
        </p:txBody>
      </p:sp>
      <p:sp>
        <p:nvSpPr>
          <p:cNvPr id="12" name="Text 10"/>
          <p:cNvSpPr/>
          <p:nvPr/>
        </p:nvSpPr>
        <p:spPr>
          <a:xfrm>
            <a:off x="3892296" y="1481328"/>
            <a:ext cx="1780032" cy="329184"/>
          </a:xfrm>
          <a:prstGeom prst="rect">
            <a:avLst/>
          </a:prstGeom>
          <a:noFill/>
          <a:ln/>
        </p:spPr>
        <p:txBody>
          <a:bodyPr wrap="square" lIns="0" tIns="0" rIns="0" bIns="0" rtlCol="0" anchor="ctr"/>
          <a:lstStyle/>
          <a:p>
            <a:pPr marL="0" indent="0">
              <a:buNone/>
            </a:pPr>
            <a:r>
              <a:rPr lang="en-US" sz="1400" b="1" dirty="0">
                <a:solidFill>
                  <a:srgbClr val="F2A65A"/>
                </a:solidFill>
                <a:latin typeface="Trebuchet MS" pitchFamily="34" charset="0"/>
                <a:ea typeface="Trebuchet MS" pitchFamily="34" charset="-122"/>
                <a:cs typeface="Trebuchet MS" pitchFamily="34" charset="-120"/>
              </a:rPr>
              <a:t>The accepted reply</a:t>
            </a:r>
            <a:endParaRPr lang="en-US" sz="1400" dirty="0"/>
          </a:p>
        </p:txBody>
      </p:sp>
      <p:sp>
        <p:nvSpPr>
          <p:cNvPr id="13" name="Text 11"/>
          <p:cNvSpPr/>
          <p:nvPr/>
        </p:nvSpPr>
        <p:spPr>
          <a:xfrm>
            <a:off x="3508248" y="1847088"/>
            <a:ext cx="2127504" cy="75895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A small confirmation with an identifier and a status.</a:t>
            </a:r>
            <a:endParaRPr lang="en-US" sz="1050" dirty="0"/>
          </a:p>
        </p:txBody>
      </p:sp>
      <p:sp>
        <p:nvSpPr>
          <p:cNvPr id="14" name="card background">
            <a:extLst>
              <a:ext uri="{C183D7F6-B498-43B3-948B-1728B52AA6E4}">
                <adec:decorative xmlns:adec="http://schemas.microsoft.com/office/drawing/2017/decorative" val="1"/>
              </a:ext>
            </a:extLst>
          </p:cNvPr>
          <p:cNvSpPr/>
          <p:nvPr/>
        </p:nvSpPr>
        <p:spPr>
          <a:xfrm>
            <a:off x="6074664" y="1298448"/>
            <a:ext cx="2566416" cy="1417320"/>
          </a:xfrm>
          <a:prstGeom prst="roundRect">
            <a:avLst>
              <a:gd name="adj" fmla="val 3871"/>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5" name="step marker">
            <a:extLst>
              <a:ext uri="{C183D7F6-B498-43B3-948B-1728B52AA6E4}">
                <adec:decorative xmlns:adec="http://schemas.microsoft.com/office/drawing/2017/decorative" val="1"/>
              </a:ext>
            </a:extLst>
          </p:cNvPr>
          <p:cNvSpPr/>
          <p:nvPr/>
        </p:nvSpPr>
        <p:spPr>
          <a:xfrm>
            <a:off x="6275832" y="1481328"/>
            <a:ext cx="310896" cy="310896"/>
          </a:xfrm>
          <a:prstGeom prst="ellipse">
            <a:avLst/>
          </a:prstGeom>
          <a:solidFill>
            <a:srgbClr val="35A79C"/>
          </a:solidFill>
          <a:ln w="12700">
            <a:solidFill>
              <a:srgbClr val="35A79C"/>
            </a:solidFill>
            <a:prstDash val="solid"/>
          </a:ln>
        </p:spPr>
        <p:txBody>
          <a:bodyPr/>
          <a:lstStyle/>
          <a:p>
            <a:endParaRPr lang="en-SE"/>
          </a:p>
        </p:txBody>
      </p:sp>
      <p:sp>
        <p:nvSpPr>
          <p:cNvPr id="16" name="Text 14"/>
          <p:cNvSpPr/>
          <p:nvPr/>
        </p:nvSpPr>
        <p:spPr>
          <a:xfrm>
            <a:off x="6275832" y="1481328"/>
            <a:ext cx="310896" cy="310896"/>
          </a:xfrm>
          <a:prstGeom prst="rect">
            <a:avLst/>
          </a:prstGeom>
          <a:noFill/>
          <a:ln/>
        </p:spPr>
        <p:txBody>
          <a:bodyPr wrap="square" lIns="0" tIns="0" rIns="0" bIns="0" rtlCol="0" anchor="ctr"/>
          <a:lstStyle/>
          <a:p>
            <a:pPr marL="0" indent="0" algn="ctr">
              <a:buNone/>
            </a:pPr>
            <a:r>
              <a:rPr lang="en-US" sz="1300" b="1" dirty="0">
                <a:solidFill>
                  <a:srgbClr val="13161A"/>
                </a:solidFill>
                <a:latin typeface="Trebuchet MS" pitchFamily="34" charset="0"/>
                <a:ea typeface="Trebuchet MS" pitchFamily="34" charset="-122"/>
                <a:cs typeface="Trebuchet MS" pitchFamily="34" charset="-120"/>
              </a:rPr>
              <a:t>3</a:t>
            </a:r>
            <a:endParaRPr lang="en-US" sz="1300" dirty="0"/>
          </a:p>
        </p:txBody>
      </p:sp>
      <p:sp>
        <p:nvSpPr>
          <p:cNvPr id="17" name="Text 15"/>
          <p:cNvSpPr/>
          <p:nvPr/>
        </p:nvSpPr>
        <p:spPr>
          <a:xfrm>
            <a:off x="6678168" y="1481328"/>
            <a:ext cx="1780032" cy="329184"/>
          </a:xfrm>
          <a:prstGeom prst="rect">
            <a:avLst/>
          </a:prstGeom>
          <a:noFill/>
          <a:ln/>
        </p:spPr>
        <p:txBody>
          <a:bodyPr wrap="square" lIns="0" tIns="0" rIns="0" bIns="0" rtlCol="0" anchor="ctr"/>
          <a:lstStyle/>
          <a:p>
            <a:pPr marL="0" indent="0">
              <a:buNone/>
            </a:pPr>
            <a:r>
              <a:rPr lang="en-US" sz="1400" b="1" dirty="0">
                <a:solidFill>
                  <a:srgbClr val="35A79C"/>
                </a:solidFill>
                <a:latin typeface="Trebuchet MS" pitchFamily="34" charset="0"/>
                <a:ea typeface="Trebuchet MS" pitchFamily="34" charset="-122"/>
                <a:cs typeface="Trebuchet MS" pitchFamily="34" charset="-120"/>
              </a:rPr>
              <a:t>The list envelope</a:t>
            </a:r>
            <a:endParaRPr lang="en-US" sz="1400" dirty="0"/>
          </a:p>
        </p:txBody>
      </p:sp>
      <p:sp>
        <p:nvSpPr>
          <p:cNvPr id="18" name="Text 16"/>
          <p:cNvSpPr/>
          <p:nvPr/>
        </p:nvSpPr>
        <p:spPr>
          <a:xfrm>
            <a:off x="6294120" y="1847088"/>
            <a:ext cx="2127504" cy="75895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Rows plus a count, a more flag and a cursor to continue.</a:t>
            </a:r>
            <a:endParaRPr lang="en-US" sz="1050" dirty="0"/>
          </a:p>
        </p:txBody>
      </p:sp>
      <p:sp>
        <p:nvSpPr>
          <p:cNvPr id="19" name="card background">
            <a:extLst>
              <a:ext uri="{C183D7F6-B498-43B3-948B-1728B52AA6E4}">
                <adec:decorative xmlns:adec="http://schemas.microsoft.com/office/drawing/2017/decorative" val="1"/>
              </a:ext>
            </a:extLst>
          </p:cNvPr>
          <p:cNvSpPr/>
          <p:nvPr/>
        </p:nvSpPr>
        <p:spPr>
          <a:xfrm>
            <a:off x="502920" y="2916936"/>
            <a:ext cx="2566416" cy="1417320"/>
          </a:xfrm>
          <a:prstGeom prst="roundRect">
            <a:avLst>
              <a:gd name="adj" fmla="val 3871"/>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20" name="step marker">
            <a:extLst>
              <a:ext uri="{C183D7F6-B498-43B3-948B-1728B52AA6E4}">
                <adec:decorative xmlns:adec="http://schemas.microsoft.com/office/drawing/2017/decorative" val="1"/>
              </a:ext>
            </a:extLst>
          </p:cNvPr>
          <p:cNvSpPr/>
          <p:nvPr/>
        </p:nvSpPr>
        <p:spPr>
          <a:xfrm>
            <a:off x="704088" y="3099816"/>
            <a:ext cx="310896" cy="310896"/>
          </a:xfrm>
          <a:prstGeom prst="ellipse">
            <a:avLst/>
          </a:prstGeom>
          <a:solidFill>
            <a:srgbClr val="8B7BD8"/>
          </a:solidFill>
          <a:ln w="12700">
            <a:solidFill>
              <a:srgbClr val="8B7BD8"/>
            </a:solidFill>
            <a:prstDash val="solid"/>
          </a:ln>
        </p:spPr>
        <p:txBody>
          <a:bodyPr/>
          <a:lstStyle/>
          <a:p>
            <a:endParaRPr lang="en-SE"/>
          </a:p>
        </p:txBody>
      </p:sp>
      <p:sp>
        <p:nvSpPr>
          <p:cNvPr id="21" name="Text 19"/>
          <p:cNvSpPr/>
          <p:nvPr/>
        </p:nvSpPr>
        <p:spPr>
          <a:xfrm>
            <a:off x="704088" y="3099816"/>
            <a:ext cx="310896" cy="310896"/>
          </a:xfrm>
          <a:prstGeom prst="rect">
            <a:avLst/>
          </a:prstGeom>
          <a:noFill/>
          <a:ln/>
        </p:spPr>
        <p:txBody>
          <a:bodyPr wrap="square" lIns="0" tIns="0" rIns="0" bIns="0" rtlCol="0" anchor="ctr"/>
          <a:lstStyle/>
          <a:p>
            <a:pPr marL="0" indent="0" algn="ctr">
              <a:buNone/>
            </a:pPr>
            <a:r>
              <a:rPr lang="en-US" sz="1300" b="1" dirty="0">
                <a:solidFill>
                  <a:srgbClr val="13161A"/>
                </a:solidFill>
                <a:latin typeface="Trebuchet MS" pitchFamily="34" charset="0"/>
                <a:ea typeface="Trebuchet MS" pitchFamily="34" charset="-122"/>
                <a:cs typeface="Trebuchet MS" pitchFamily="34" charset="-120"/>
              </a:rPr>
              <a:t>4</a:t>
            </a:r>
            <a:endParaRPr lang="en-US" sz="1300" dirty="0"/>
          </a:p>
        </p:txBody>
      </p:sp>
      <p:sp>
        <p:nvSpPr>
          <p:cNvPr id="22" name="Text 20"/>
          <p:cNvSpPr/>
          <p:nvPr/>
        </p:nvSpPr>
        <p:spPr>
          <a:xfrm>
            <a:off x="1106424" y="3099816"/>
            <a:ext cx="1780032" cy="329184"/>
          </a:xfrm>
          <a:prstGeom prst="rect">
            <a:avLst/>
          </a:prstGeom>
          <a:noFill/>
          <a:ln/>
        </p:spPr>
        <p:txBody>
          <a:bodyPr wrap="square" lIns="0" tIns="0" rIns="0" bIns="0" rtlCol="0" anchor="ctr"/>
          <a:lstStyle/>
          <a:p>
            <a:pPr marL="0" indent="0">
              <a:buNone/>
            </a:pPr>
            <a:r>
              <a:rPr lang="en-US" sz="1400" b="1" dirty="0">
                <a:solidFill>
                  <a:srgbClr val="8B7BD8"/>
                </a:solidFill>
                <a:latin typeface="Trebuchet MS" pitchFamily="34" charset="0"/>
                <a:ea typeface="Trebuchet MS" pitchFamily="34" charset="-122"/>
                <a:cs typeface="Trebuchet MS" pitchFamily="34" charset="-120"/>
              </a:rPr>
              <a:t>The event envelope</a:t>
            </a:r>
            <a:endParaRPr lang="en-US" sz="1400" dirty="0"/>
          </a:p>
        </p:txBody>
      </p:sp>
      <p:sp>
        <p:nvSpPr>
          <p:cNvPr id="23" name="Text 21"/>
          <p:cNvSpPr/>
          <p:nvPr/>
        </p:nvSpPr>
        <p:spPr>
          <a:xfrm>
            <a:off x="722376" y="3465576"/>
            <a:ext cx="2127504" cy="75895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A type, a timestamp, an identity and a data block.</a:t>
            </a:r>
            <a:endParaRPr lang="en-US" sz="1050" dirty="0"/>
          </a:p>
        </p:txBody>
      </p:sp>
      <p:sp>
        <p:nvSpPr>
          <p:cNvPr id="24" name="card background">
            <a:extLst>
              <a:ext uri="{C183D7F6-B498-43B3-948B-1728B52AA6E4}">
                <adec:decorative xmlns:adec="http://schemas.microsoft.com/office/drawing/2017/decorative" val="1"/>
              </a:ext>
            </a:extLst>
          </p:cNvPr>
          <p:cNvSpPr/>
          <p:nvPr/>
        </p:nvSpPr>
        <p:spPr>
          <a:xfrm>
            <a:off x="3288792" y="2916936"/>
            <a:ext cx="2566416" cy="1417320"/>
          </a:xfrm>
          <a:prstGeom prst="roundRect">
            <a:avLst>
              <a:gd name="adj" fmla="val 3871"/>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25" name="step marker">
            <a:extLst>
              <a:ext uri="{C183D7F6-B498-43B3-948B-1728B52AA6E4}">
                <adec:decorative xmlns:adec="http://schemas.microsoft.com/office/drawing/2017/decorative" val="1"/>
              </a:ext>
            </a:extLst>
          </p:cNvPr>
          <p:cNvSpPr/>
          <p:nvPr/>
        </p:nvSpPr>
        <p:spPr>
          <a:xfrm>
            <a:off x="3489960" y="3099816"/>
            <a:ext cx="310896" cy="310896"/>
          </a:xfrm>
          <a:prstGeom prst="ellipse">
            <a:avLst/>
          </a:prstGeom>
          <a:solidFill>
            <a:srgbClr val="D9534F"/>
          </a:solidFill>
          <a:ln w="12700">
            <a:solidFill>
              <a:srgbClr val="D9534F"/>
            </a:solidFill>
            <a:prstDash val="solid"/>
          </a:ln>
        </p:spPr>
        <p:txBody>
          <a:bodyPr/>
          <a:lstStyle/>
          <a:p>
            <a:endParaRPr lang="en-SE"/>
          </a:p>
        </p:txBody>
      </p:sp>
      <p:sp>
        <p:nvSpPr>
          <p:cNvPr id="26" name="Text 24"/>
          <p:cNvSpPr/>
          <p:nvPr/>
        </p:nvSpPr>
        <p:spPr>
          <a:xfrm>
            <a:off x="3489960" y="3099816"/>
            <a:ext cx="310896" cy="310896"/>
          </a:xfrm>
          <a:prstGeom prst="rect">
            <a:avLst/>
          </a:prstGeom>
          <a:noFill/>
          <a:ln/>
        </p:spPr>
        <p:txBody>
          <a:bodyPr wrap="square" lIns="0" tIns="0" rIns="0" bIns="0" rtlCol="0" anchor="ctr"/>
          <a:lstStyle/>
          <a:p>
            <a:pPr marL="0" indent="0" algn="ctr">
              <a:buNone/>
            </a:pPr>
            <a:r>
              <a:rPr lang="en-US" sz="1300" b="1" dirty="0">
                <a:solidFill>
                  <a:srgbClr val="13161A"/>
                </a:solidFill>
                <a:latin typeface="Trebuchet MS" pitchFamily="34" charset="0"/>
                <a:ea typeface="Trebuchet MS" pitchFamily="34" charset="-122"/>
                <a:cs typeface="Trebuchet MS" pitchFamily="34" charset="-120"/>
              </a:rPr>
              <a:t>5</a:t>
            </a:r>
            <a:endParaRPr lang="en-US" sz="1300" dirty="0"/>
          </a:p>
        </p:txBody>
      </p:sp>
      <p:sp>
        <p:nvSpPr>
          <p:cNvPr id="27" name="Text 25"/>
          <p:cNvSpPr/>
          <p:nvPr/>
        </p:nvSpPr>
        <p:spPr>
          <a:xfrm>
            <a:off x="3892296" y="3099816"/>
            <a:ext cx="1780032" cy="329184"/>
          </a:xfrm>
          <a:prstGeom prst="rect">
            <a:avLst/>
          </a:prstGeom>
          <a:noFill/>
          <a:ln/>
        </p:spPr>
        <p:txBody>
          <a:bodyPr wrap="square" lIns="0" tIns="0" rIns="0" bIns="0" rtlCol="0" anchor="ctr"/>
          <a:lstStyle/>
          <a:p>
            <a:pPr marL="0" indent="0">
              <a:buNone/>
            </a:pPr>
            <a:r>
              <a:rPr lang="en-US" sz="1400" b="1" dirty="0">
                <a:solidFill>
                  <a:srgbClr val="D9534F"/>
                </a:solidFill>
                <a:latin typeface="Trebuchet MS" pitchFamily="34" charset="0"/>
                <a:ea typeface="Trebuchet MS" pitchFamily="34" charset="-122"/>
                <a:cs typeface="Trebuchet MS" pitchFamily="34" charset="-120"/>
              </a:rPr>
              <a:t>The error envelope</a:t>
            </a:r>
            <a:endParaRPr lang="en-US" sz="1400" dirty="0"/>
          </a:p>
        </p:txBody>
      </p:sp>
      <p:sp>
        <p:nvSpPr>
          <p:cNvPr id="28" name="Text 26"/>
          <p:cNvSpPr/>
          <p:nvPr/>
        </p:nvSpPr>
        <p:spPr>
          <a:xfrm>
            <a:off x="3508248" y="3465576"/>
            <a:ext cx="2127504" cy="75895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An HTTP status paired with a stable machine-readable code.</a:t>
            </a:r>
            <a:endParaRPr lang="en-US" sz="1050" dirty="0"/>
          </a:p>
        </p:txBody>
      </p:sp>
      <p:sp>
        <p:nvSpPr>
          <p:cNvPr id="29" name="card background">
            <a:extLst>
              <a:ext uri="{C183D7F6-B498-43B3-948B-1728B52AA6E4}">
                <adec:decorative xmlns:adec="http://schemas.microsoft.com/office/drawing/2017/decorative" val="1"/>
              </a:ext>
            </a:extLst>
          </p:cNvPr>
          <p:cNvSpPr/>
          <p:nvPr/>
        </p:nvSpPr>
        <p:spPr>
          <a:xfrm>
            <a:off x="6074664" y="2916936"/>
            <a:ext cx="2566416" cy="1417320"/>
          </a:xfrm>
          <a:prstGeom prst="roundRect">
            <a:avLst>
              <a:gd name="adj" fmla="val 3871"/>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30" name="step marker">
            <a:extLst>
              <a:ext uri="{C183D7F6-B498-43B3-948B-1728B52AA6E4}">
                <adec:decorative xmlns:adec="http://schemas.microsoft.com/office/drawing/2017/decorative" val="1"/>
              </a:ext>
            </a:extLst>
          </p:cNvPr>
          <p:cNvSpPr/>
          <p:nvPr/>
        </p:nvSpPr>
        <p:spPr>
          <a:xfrm>
            <a:off x="6275832" y="3099816"/>
            <a:ext cx="310896" cy="310896"/>
          </a:xfrm>
          <a:prstGeom prst="ellipse">
            <a:avLst/>
          </a:prstGeom>
          <a:solidFill>
            <a:srgbClr val="E8722C"/>
          </a:solidFill>
          <a:ln w="12700">
            <a:solidFill>
              <a:srgbClr val="E8722C"/>
            </a:solidFill>
            <a:prstDash val="solid"/>
          </a:ln>
        </p:spPr>
        <p:txBody>
          <a:bodyPr/>
          <a:lstStyle/>
          <a:p>
            <a:endParaRPr lang="en-SE"/>
          </a:p>
        </p:txBody>
      </p:sp>
      <p:sp>
        <p:nvSpPr>
          <p:cNvPr id="31" name="Text 29"/>
          <p:cNvSpPr/>
          <p:nvPr/>
        </p:nvSpPr>
        <p:spPr>
          <a:xfrm>
            <a:off x="6275832" y="3099816"/>
            <a:ext cx="310896" cy="310896"/>
          </a:xfrm>
          <a:prstGeom prst="rect">
            <a:avLst/>
          </a:prstGeom>
          <a:noFill/>
          <a:ln/>
        </p:spPr>
        <p:txBody>
          <a:bodyPr wrap="square" lIns="0" tIns="0" rIns="0" bIns="0" rtlCol="0" anchor="ctr"/>
          <a:lstStyle/>
          <a:p>
            <a:pPr marL="0" indent="0" algn="ctr">
              <a:buNone/>
            </a:pPr>
            <a:endParaRPr lang="en-US" sz="1300" dirty="0"/>
          </a:p>
        </p:txBody>
      </p:sp>
      <p:sp>
        <p:nvSpPr>
          <p:cNvPr id="32" name="Text 30"/>
          <p:cNvSpPr/>
          <p:nvPr/>
        </p:nvSpPr>
        <p:spPr>
          <a:xfrm>
            <a:off x="6678168" y="3099816"/>
            <a:ext cx="1780032" cy="329184"/>
          </a:xfrm>
          <a:prstGeom prst="rect">
            <a:avLst/>
          </a:prstGeom>
          <a:noFill/>
          <a:ln/>
        </p:spPr>
        <p:txBody>
          <a:bodyPr wrap="square" lIns="0" tIns="0" rIns="0" bIns="0" rtlCol="0" anchor="ctr"/>
          <a:lstStyle/>
          <a:p>
            <a:pPr marL="0" indent="0">
              <a:buNone/>
            </a:pPr>
            <a:r>
              <a:rPr lang="en-US" sz="1400" b="1" dirty="0">
                <a:solidFill>
                  <a:srgbClr val="E8722C"/>
                </a:solidFill>
                <a:latin typeface="Trebuchet MS" pitchFamily="34" charset="0"/>
                <a:ea typeface="Trebuchet MS" pitchFamily="34" charset="-122"/>
                <a:cs typeface="Trebuchet MS" pitchFamily="34" charset="-120"/>
              </a:rPr>
              <a:t>One rule</a:t>
            </a:r>
            <a:endParaRPr lang="en-US" sz="1400" dirty="0"/>
          </a:p>
        </p:txBody>
      </p:sp>
      <p:sp>
        <p:nvSpPr>
          <p:cNvPr id="33" name="Text 31"/>
          <p:cNvSpPr/>
          <p:nvPr/>
        </p:nvSpPr>
        <p:spPr>
          <a:xfrm>
            <a:off x="6294120" y="3465576"/>
            <a:ext cx="2127504" cy="75895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Everything is JSON, in both directions, on both REST and the streams.</a:t>
            </a:r>
            <a:endParaRPr lang="en-US" sz="1050" dirty="0"/>
          </a:p>
        </p:txBody>
      </p:sp>
      <p:sp>
        <p:nvSpPr>
          <p:cNvPr id="34" name="Text 32"/>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The shape of the data</a:t>
            </a:r>
            <a:endParaRPr lang="en-US" sz="900" dirty="0"/>
          </a:p>
        </p:txBody>
      </p:sp>
      <p:sp>
        <p:nvSpPr>
          <p:cNvPr id="35" name="Text 33"/>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8138160" cy="548640"/>
          </a:xfrm>
          <a:prstGeom prst="rect">
            <a:avLst/>
          </a:prstGeom>
          <a:noFill/>
          <a:ln/>
        </p:spPr>
        <p:txBody>
          <a:bodyPr wrap="square" lIns="0" tIns="0" rIns="0" bIns="0" rtlCol="0" anchor="ctr"/>
          <a:lstStyle/>
          <a:p>
            <a:pPr marL="0" indent="0">
              <a:buNone/>
            </a:pPr>
            <a:r>
              <a:rPr lang="en-US" sz="2700" b="1" dirty="0">
                <a:solidFill>
                  <a:srgbClr val="F3F5F7"/>
                </a:solidFill>
                <a:latin typeface="Trebuchet MS" pitchFamily="34" charset="0"/>
                <a:ea typeface="Trebuchet MS" pitchFamily="34" charset="-122"/>
                <a:cs typeface="Trebuchet MS" pitchFamily="34" charset="-120"/>
              </a:rPr>
              <a:t>A request, field by field</a:t>
            </a:r>
            <a:endParaRPr lang="en-US" sz="2700" dirty="0"/>
          </a:p>
        </p:txBody>
      </p:sp>
      <p:sp>
        <p:nvSpPr>
          <p:cNvPr id="3" name="Text 1"/>
          <p:cNvSpPr/>
          <p:nvPr/>
        </p:nvSpPr>
        <p:spPr>
          <a:xfrm>
            <a:off x="502920" y="841248"/>
            <a:ext cx="8138160" cy="237744"/>
          </a:xfrm>
          <a:prstGeom prst="rect">
            <a:avLst/>
          </a:prstGeom>
          <a:noFill/>
          <a:ln/>
        </p:spPr>
        <p:txBody>
          <a:bodyPr wrap="square" lIns="0" tIns="0" rIns="0" bIns="0" rtlCol="0" anchor="ctr"/>
          <a:lstStyle/>
          <a:p>
            <a:pPr marL="0" indent="0">
              <a:buNone/>
            </a:pPr>
            <a:r>
              <a:rPr lang="en-US" sz="1100" b="1" kern="0" spc="200" dirty="0">
                <a:solidFill>
                  <a:srgbClr val="E8722C"/>
                </a:solidFill>
                <a:latin typeface="Calibri" pitchFamily="34" charset="0"/>
                <a:ea typeface="Calibri" pitchFamily="34" charset="-122"/>
                <a:cs typeface="Calibri" pitchFamily="34" charset="-120"/>
              </a:rPr>
              <a:t>SHAPE 1</a:t>
            </a:r>
            <a:endParaRPr lang="en-US" sz="1100" dirty="0"/>
          </a:p>
        </p:txBody>
      </p:sp>
      <p:sp>
        <p:nvSpPr>
          <p:cNvPr id="4" name="code panel">
            <a:extLst>
              <a:ext uri="{C183D7F6-B498-43B3-948B-1728B52AA6E4}">
                <adec:decorative xmlns:adec="http://schemas.microsoft.com/office/drawing/2017/decorative" val="1"/>
              </a:ext>
            </a:extLst>
          </p:cNvPr>
          <p:cNvSpPr/>
          <p:nvPr/>
        </p:nvSpPr>
        <p:spPr>
          <a:xfrm>
            <a:off x="502920" y="1170432"/>
            <a:ext cx="4114800" cy="3017520"/>
          </a:xfrm>
          <a:prstGeom prst="roundRect">
            <a:avLst>
              <a:gd name="adj" fmla="val 1515"/>
            </a:avLst>
          </a:prstGeom>
          <a:solidFill>
            <a:srgbClr val="121519"/>
          </a:solidFill>
          <a:ln w="12700">
            <a:solidFill>
              <a:srgbClr val="3A424B"/>
            </a:solidFill>
            <a:prstDash val="solid"/>
          </a:ln>
        </p:spPr>
        <p:txBody>
          <a:bodyPr/>
          <a:lstStyle/>
          <a:p>
            <a:endParaRPr lang="en-SE"/>
          </a:p>
        </p:txBody>
      </p:sp>
      <p:sp>
        <p:nvSpPr>
          <p:cNvPr id="5" name="code panel edge">
            <a:extLst>
              <a:ext uri="{C183D7F6-B498-43B3-948B-1728B52AA6E4}">
                <adec:decorative xmlns:adec="http://schemas.microsoft.com/office/drawing/2017/decorative" val="1"/>
              </a:ext>
            </a:extLst>
          </p:cNvPr>
          <p:cNvSpPr/>
          <p:nvPr/>
        </p:nvSpPr>
        <p:spPr>
          <a:xfrm>
            <a:off x="502920" y="1170432"/>
            <a:ext cx="54864" cy="3017520"/>
          </a:xfrm>
          <a:prstGeom prst="rect">
            <a:avLst/>
          </a:prstGeom>
          <a:solidFill>
            <a:srgbClr val="E8722C"/>
          </a:solidFill>
          <a:ln w="12700">
            <a:solidFill>
              <a:srgbClr val="E8722C"/>
            </a:solidFill>
            <a:prstDash val="solid"/>
          </a:ln>
        </p:spPr>
        <p:txBody>
          <a:bodyPr/>
          <a:lstStyle/>
          <a:p>
            <a:endParaRPr lang="en-SE"/>
          </a:p>
        </p:txBody>
      </p:sp>
      <p:sp>
        <p:nvSpPr>
          <p:cNvPr id="6" name="Text 4"/>
          <p:cNvSpPr/>
          <p:nvPr/>
        </p:nvSpPr>
        <p:spPr>
          <a:xfrm>
            <a:off x="704088" y="1298448"/>
            <a:ext cx="3749040" cy="2761488"/>
          </a:xfrm>
          <a:prstGeom prst="rect">
            <a:avLst/>
          </a:prstGeom>
          <a:noFill/>
          <a:ln/>
        </p:spPr>
        <p:txBody>
          <a:bodyPr wrap="square" lIns="0" tIns="0" rIns="0" bIns="0" rtlCol="0" anchor="t"/>
          <a:lstStyle/>
          <a:p>
            <a:pPr marL="0" indent="0">
              <a:buNone/>
            </a:pPr>
            <a:r>
              <a:rPr lang="en-US" sz="1100" b="1" dirty="0">
                <a:solidFill>
                  <a:srgbClr val="F2A65A"/>
                </a:solidFill>
                <a:latin typeface="Consolas" pitchFamily="34" charset="0"/>
                <a:ea typeface="Consolas" pitchFamily="34" charset="-122"/>
                <a:cs typeface="Consolas" pitchFamily="34" charset="-120"/>
              </a:rPr>
              <a:t>POST /api/v1/orders?wait=ack</a:t>
            </a:r>
            <a:endParaRPr lang="en-US" sz="1100" dirty="0"/>
          </a:p>
          <a:p>
            <a:pPr marL="0" indent="0">
              <a:buNone/>
            </a:pPr>
            <a:r>
              <a:rPr lang="en-US" sz="1100" dirty="0">
                <a:solidFill>
                  <a:srgbClr val="97A1AC"/>
                </a:solidFill>
                <a:latin typeface="Consolas" pitchFamily="34" charset="0"/>
                <a:ea typeface="Consolas" pitchFamily="34" charset="-122"/>
                <a:cs typeface="Consolas" pitchFamily="34" charset="-120"/>
              </a:rPr>
              <a:t>Authorization: Bearer key-trader-demo</a:t>
            </a:r>
            <a:endParaRPr lang="en-US" sz="1100" dirty="0"/>
          </a:p>
          <a:p>
            <a:pPr marL="0" indent="0">
              <a:buNone/>
            </a:pPr>
            <a:r>
              <a:rPr lang="en-US" sz="1100" dirty="0">
                <a:solidFill>
                  <a:srgbClr val="97A1AC"/>
                </a:solidFill>
                <a:latin typeface="Consolas" pitchFamily="34" charset="0"/>
                <a:ea typeface="Consolas" pitchFamily="34" charset="-122"/>
                <a:cs typeface="Consolas" pitchFamily="34" charset="-120"/>
              </a:rPr>
              <a:t>Content-Type: application/json</a:t>
            </a:r>
            <a:endParaRPr lang="en-US" sz="1100" dirty="0"/>
          </a:p>
          <a:p>
            <a:pPr marL="0" indent="0">
              <a:buNone/>
            </a:pPr>
            <a:endParaRPr lang="en-US" sz="1100" dirty="0"/>
          </a:p>
          <a:p>
            <a:pPr marL="0" indent="0">
              <a:buNone/>
            </a:pPr>
            <a:r>
              <a:rPr lang="en-US" sz="1100" dirty="0">
                <a:solidFill>
                  <a:srgbClr val="D5DAE0"/>
                </a:solidFill>
                <a:latin typeface="Consolas" pitchFamily="34" charset="0"/>
                <a:ea typeface="Consolas" pitchFamily="34" charset="-122"/>
                <a:cs typeface="Consolas" pitchFamily="34" charset="-120"/>
              </a:rPr>
              <a:t>{</a:t>
            </a:r>
            <a:endParaRPr lang="en-US" sz="1100" dirty="0"/>
          </a:p>
          <a:p>
            <a:pPr marL="0" indent="0">
              <a:buNone/>
            </a:pPr>
            <a:r>
              <a:rPr lang="en-US" sz="1100" dirty="0">
                <a:solidFill>
                  <a:srgbClr val="D5DAE0"/>
                </a:solidFill>
                <a:latin typeface="Consolas" pitchFamily="34" charset="0"/>
                <a:ea typeface="Consolas" pitchFamily="34" charset="-122"/>
                <a:cs typeface="Consolas" pitchFamily="34" charset="-120"/>
              </a:rPr>
              <a:t>  "symbol": "AAPL",</a:t>
            </a:r>
            <a:endParaRPr lang="en-US" sz="1100" dirty="0"/>
          </a:p>
          <a:p>
            <a:pPr marL="0" indent="0">
              <a:buNone/>
            </a:pPr>
            <a:r>
              <a:rPr lang="en-US" sz="1100" dirty="0">
                <a:solidFill>
                  <a:srgbClr val="D5DAE0"/>
                </a:solidFill>
                <a:latin typeface="Consolas" pitchFamily="34" charset="0"/>
                <a:ea typeface="Consolas" pitchFamily="34" charset="-122"/>
                <a:cs typeface="Consolas" pitchFamily="34" charset="-120"/>
              </a:rPr>
              <a:t>  "side": "BUY",</a:t>
            </a:r>
            <a:endParaRPr lang="en-US" sz="1100" dirty="0"/>
          </a:p>
          <a:p>
            <a:pPr marL="0" indent="0">
              <a:buNone/>
            </a:pPr>
            <a:r>
              <a:rPr lang="en-US" sz="1100" dirty="0">
                <a:solidFill>
                  <a:srgbClr val="D5DAE0"/>
                </a:solidFill>
                <a:latin typeface="Consolas" pitchFamily="34" charset="0"/>
                <a:ea typeface="Consolas" pitchFamily="34" charset="-122"/>
                <a:cs typeface="Consolas" pitchFamily="34" charset="-120"/>
              </a:rPr>
              <a:t>  "order_type": "LIMIT",</a:t>
            </a:r>
            <a:endParaRPr lang="en-US" sz="1100" dirty="0"/>
          </a:p>
          <a:p>
            <a:pPr marL="0" indent="0">
              <a:buNone/>
            </a:pPr>
            <a:r>
              <a:rPr lang="en-US" sz="1100" dirty="0">
                <a:solidFill>
                  <a:srgbClr val="D5DAE0"/>
                </a:solidFill>
                <a:latin typeface="Consolas" pitchFamily="34" charset="0"/>
                <a:ea typeface="Consolas" pitchFamily="34" charset="-122"/>
                <a:cs typeface="Consolas" pitchFamily="34" charset="-120"/>
              </a:rPr>
              <a:t>  "quantity": 100,</a:t>
            </a:r>
            <a:endParaRPr lang="en-US" sz="1100" dirty="0"/>
          </a:p>
          <a:p>
            <a:pPr marL="0" indent="0">
              <a:buNone/>
            </a:pPr>
            <a:r>
              <a:rPr lang="en-US" sz="1100" dirty="0">
                <a:solidFill>
                  <a:srgbClr val="D5DAE0"/>
                </a:solidFill>
                <a:latin typeface="Consolas" pitchFamily="34" charset="0"/>
                <a:ea typeface="Consolas" pitchFamily="34" charset="-122"/>
                <a:cs typeface="Consolas" pitchFamily="34" charset="-120"/>
              </a:rPr>
              <a:t>  "tif": "DAY",</a:t>
            </a:r>
            <a:endParaRPr lang="en-US" sz="1100" dirty="0"/>
          </a:p>
          <a:p>
            <a:pPr marL="0" indent="0">
              <a:buNone/>
            </a:pPr>
            <a:r>
              <a:rPr lang="en-US" sz="1100" dirty="0">
                <a:solidFill>
                  <a:srgbClr val="D5DAE0"/>
                </a:solidFill>
                <a:latin typeface="Consolas" pitchFamily="34" charset="0"/>
                <a:ea typeface="Consolas" pitchFamily="34" charset="-122"/>
                <a:cs typeface="Consolas" pitchFamily="34" charset="-120"/>
              </a:rPr>
              <a:t>  "price": 150.50,</a:t>
            </a:r>
            <a:endParaRPr lang="en-US" sz="1100" dirty="0"/>
          </a:p>
          <a:p>
            <a:pPr marL="0" indent="0">
              <a:buNone/>
            </a:pPr>
            <a:r>
              <a:rPr lang="en-US" sz="1100" dirty="0">
                <a:solidFill>
                  <a:srgbClr val="D5DAE0"/>
                </a:solidFill>
                <a:latin typeface="Consolas" pitchFamily="34" charset="0"/>
                <a:ea typeface="Consolas" pitchFamily="34" charset="-122"/>
                <a:cs typeface="Consolas" pitchFamily="34" charset="-120"/>
              </a:rPr>
              <a:t>  "smp_action": "NONE",</a:t>
            </a:r>
            <a:endParaRPr lang="en-US" sz="1100" dirty="0"/>
          </a:p>
          <a:p>
            <a:pPr marL="0" indent="0">
              <a:buNone/>
            </a:pPr>
            <a:r>
              <a:rPr lang="en-US" sz="1100" dirty="0">
                <a:solidFill>
                  <a:srgbClr val="D5DAE0"/>
                </a:solidFill>
                <a:latin typeface="Consolas" pitchFamily="34" charset="0"/>
                <a:ea typeface="Consolas" pitchFamily="34" charset="-122"/>
                <a:cs typeface="Consolas" pitchFamily="34" charset="-120"/>
              </a:rPr>
              <a:t>  "client_order_id": "ui-42"</a:t>
            </a:r>
            <a:endParaRPr lang="en-US" sz="1100" dirty="0"/>
          </a:p>
          <a:p>
            <a:pPr marL="0" indent="0">
              <a:buNone/>
            </a:pPr>
            <a:r>
              <a:rPr lang="en-US" sz="1100" dirty="0">
                <a:solidFill>
                  <a:srgbClr val="D5DAE0"/>
                </a:solidFill>
                <a:latin typeface="Consolas" pitchFamily="34" charset="0"/>
                <a:ea typeface="Consolas" pitchFamily="34" charset="-122"/>
                <a:cs typeface="Consolas" pitchFamily="34" charset="-120"/>
              </a:rPr>
              <a:t>}</a:t>
            </a:r>
            <a:endParaRPr lang="en-US" sz="1100" dirty="0"/>
          </a:p>
        </p:txBody>
      </p:sp>
      <p:sp>
        <p:nvSpPr>
          <p:cNvPr id="7" name="card background">
            <a:extLst>
              <a:ext uri="{C183D7F6-B498-43B3-948B-1728B52AA6E4}">
                <adec:decorative xmlns:adec="http://schemas.microsoft.com/office/drawing/2017/decorative" val="1"/>
              </a:ext>
            </a:extLst>
          </p:cNvPr>
          <p:cNvSpPr/>
          <p:nvPr/>
        </p:nvSpPr>
        <p:spPr>
          <a:xfrm>
            <a:off x="4800600" y="1170432"/>
            <a:ext cx="3840480" cy="3017520"/>
          </a:xfrm>
          <a:prstGeom prst="roundRect">
            <a:avLst>
              <a:gd name="adj" fmla="val 1818"/>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8" name="Text 6"/>
          <p:cNvSpPr/>
          <p:nvPr/>
        </p:nvSpPr>
        <p:spPr>
          <a:xfrm>
            <a:off x="5010912" y="1280160"/>
            <a:ext cx="3383280" cy="292608"/>
          </a:xfrm>
          <a:prstGeom prst="rect">
            <a:avLst/>
          </a:prstGeom>
          <a:noFill/>
          <a:ln/>
        </p:spPr>
        <p:txBody>
          <a:bodyPr wrap="square" lIns="0" tIns="0" rIns="0" bIns="0" rtlCol="0" anchor="ctr"/>
          <a:lstStyle/>
          <a:p>
            <a:pPr marL="0" indent="0">
              <a:buNone/>
            </a:pPr>
            <a:r>
              <a:rPr lang="en-US" sz="1400" b="1" dirty="0">
                <a:solidFill>
                  <a:srgbClr val="E8722C"/>
                </a:solidFill>
                <a:latin typeface="Trebuchet MS" pitchFamily="34" charset="0"/>
                <a:ea typeface="Trebuchet MS" pitchFamily="34" charset="-122"/>
                <a:cs typeface="Trebuchet MS" pitchFamily="34" charset="-120"/>
              </a:rPr>
              <a:t>How to read it</a:t>
            </a:r>
            <a:endParaRPr lang="en-US" sz="1400" dirty="0"/>
          </a:p>
        </p:txBody>
      </p:sp>
      <p:sp>
        <p:nvSpPr>
          <p:cNvPr id="9" name="Text 7"/>
          <p:cNvSpPr/>
          <p:nvPr/>
        </p:nvSpPr>
        <p:spPr>
          <a:xfrm>
            <a:off x="5010912" y="1664208"/>
            <a:ext cx="3383280" cy="2377440"/>
          </a:xfrm>
          <a:prstGeom prst="rect">
            <a:avLst/>
          </a:prstGeom>
          <a:noFill/>
          <a:ln/>
        </p:spPr>
        <p:txBody>
          <a:bodyPr wrap="square" lIns="0" tIns="0" rIns="0" bIns="0" rtlCol="0" anchor="t"/>
          <a:lstStyle/>
          <a:p>
            <a:pPr marL="342900" indent="-342900">
              <a:spcAft>
                <a:spcPts val="900"/>
              </a:spcAft>
              <a:buSzPct val="100000"/>
              <a:buChar char="▪"/>
            </a:pPr>
            <a:r>
              <a:rPr lang="en-US" sz="1100" dirty="0">
                <a:solidFill>
                  <a:srgbClr val="D5DAE0"/>
                </a:solidFill>
                <a:latin typeface="Calibri" pitchFamily="34" charset="0"/>
                <a:ea typeface="Calibri" pitchFamily="34" charset="-122"/>
                <a:cs typeface="Calibri" pitchFamily="34" charset="-120"/>
              </a:rPr>
              <a:t>Instrument, side, type and quantity are always required.</a:t>
            </a:r>
            <a:endParaRPr lang="en-US" sz="1100" dirty="0"/>
          </a:p>
          <a:p>
            <a:pPr marL="342900" indent="-342900">
              <a:spcAft>
                <a:spcPts val="900"/>
              </a:spcAft>
              <a:buSzPct val="100000"/>
              <a:buChar char="▪"/>
            </a:pPr>
            <a:r>
              <a:rPr lang="en-US" sz="1100" dirty="0">
                <a:solidFill>
                  <a:srgbClr val="D5DAE0"/>
                </a:solidFill>
                <a:latin typeface="Calibri" pitchFamily="34" charset="0"/>
                <a:ea typeface="Calibri" pitchFamily="34" charset="-122"/>
                <a:cs typeface="Calibri" pitchFamily="34" charset="-120"/>
              </a:rPr>
              <a:t>Price is required only for order types that need one — a market order must not carry one at all.</a:t>
            </a:r>
            <a:endParaRPr lang="en-US" sz="1100" dirty="0"/>
          </a:p>
          <a:p>
            <a:pPr marL="342900" indent="-342900">
              <a:spcAft>
                <a:spcPts val="900"/>
              </a:spcAft>
              <a:buSzPct val="100000"/>
              <a:buChar char="▪"/>
            </a:pPr>
            <a:r>
              <a:rPr lang="en-US" sz="1100" dirty="0">
                <a:solidFill>
                  <a:srgbClr val="D5DAE0"/>
                </a:solidFill>
                <a:latin typeface="Calibri" pitchFamily="34" charset="0"/>
                <a:ea typeface="Calibri" pitchFamily="34" charset="-122"/>
                <a:cs typeface="Calibri" pitchFamily="34" charset="-120"/>
              </a:rPr>
              <a:t>Time in force says how long the order should live; it defaults to the trading day.</a:t>
            </a:r>
            <a:endParaRPr lang="en-US" sz="1100" dirty="0"/>
          </a:p>
          <a:p>
            <a:pPr marL="342900" indent="-342900">
              <a:spcAft>
                <a:spcPts val="900"/>
              </a:spcAft>
              <a:buSzPct val="100000"/>
              <a:buChar char="▪"/>
            </a:pPr>
            <a:r>
              <a:rPr lang="en-US" sz="1100" dirty="0">
                <a:solidFill>
                  <a:srgbClr val="D5DAE0"/>
                </a:solidFill>
                <a:latin typeface="Calibri" pitchFamily="34" charset="0"/>
                <a:ea typeface="Calibri" pitchFamily="34" charset="-122"/>
                <a:cs typeface="Calibri" pitchFamily="34" charset="-120"/>
              </a:rPr>
              <a:t>Self-match prevention decides what happens if you would trade with yourself.</a:t>
            </a:r>
            <a:endParaRPr lang="en-US" sz="1100" dirty="0"/>
          </a:p>
          <a:p>
            <a:pPr marL="342900" indent="-342900">
              <a:buSzPct val="100000"/>
              <a:buChar char="▪"/>
            </a:pPr>
            <a:r>
              <a:rPr lang="en-US" sz="1100" dirty="0">
                <a:solidFill>
                  <a:srgbClr val="D5DAE0"/>
                </a:solidFill>
                <a:latin typeface="Calibri" pitchFamily="34" charset="0"/>
                <a:ea typeface="Calibri" pitchFamily="34" charset="-122"/>
                <a:cs typeface="Calibri" pitchFamily="34" charset="-120"/>
              </a:rPr>
              <a:t>Your own reference travels with the order and comes back on its events.</a:t>
            </a:r>
            <a:endParaRPr lang="en-US" sz="1100" dirty="0"/>
          </a:p>
        </p:txBody>
      </p:sp>
      <p:sp>
        <p:nvSpPr>
          <p:cNvPr id="10" name="Text 8"/>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The shape of the data</a:t>
            </a:r>
            <a:endParaRPr lang="en-US" sz="900" dirty="0"/>
          </a:p>
        </p:txBody>
      </p:sp>
      <p:sp>
        <p:nvSpPr>
          <p:cNvPr id="11" name="Text 9"/>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8138160" cy="548640"/>
          </a:xfrm>
          <a:prstGeom prst="rect">
            <a:avLst/>
          </a:prstGeom>
          <a:noFill/>
          <a:ln/>
        </p:spPr>
        <p:txBody>
          <a:bodyPr wrap="square" lIns="0" tIns="0" rIns="0" bIns="0" rtlCol="0" anchor="ctr"/>
          <a:lstStyle/>
          <a:p>
            <a:pPr marL="0" indent="0">
              <a:buNone/>
            </a:pPr>
            <a:r>
              <a:rPr lang="en-US" sz="2700" b="1" dirty="0">
                <a:solidFill>
                  <a:srgbClr val="F3F5F7"/>
                </a:solidFill>
                <a:latin typeface="Trebuchet MS" pitchFamily="34" charset="0"/>
                <a:ea typeface="Trebuchet MS" pitchFamily="34" charset="-122"/>
                <a:cs typeface="Trebuchet MS" pitchFamily="34" charset="-120"/>
              </a:rPr>
              <a:t>Conditional fields, explained</a:t>
            </a:r>
            <a:endParaRPr lang="en-US" sz="2700" dirty="0"/>
          </a:p>
        </p:txBody>
      </p:sp>
      <p:sp>
        <p:nvSpPr>
          <p:cNvPr id="3" name="Text 1"/>
          <p:cNvSpPr/>
          <p:nvPr/>
        </p:nvSpPr>
        <p:spPr>
          <a:xfrm>
            <a:off x="502920" y="841248"/>
            <a:ext cx="8138160" cy="237744"/>
          </a:xfrm>
          <a:prstGeom prst="rect">
            <a:avLst/>
          </a:prstGeom>
          <a:noFill/>
          <a:ln/>
        </p:spPr>
        <p:txBody>
          <a:bodyPr wrap="square" lIns="0" tIns="0" rIns="0" bIns="0" rtlCol="0" anchor="ctr"/>
          <a:lstStyle/>
          <a:p>
            <a:pPr marL="0" indent="0">
              <a:buNone/>
            </a:pPr>
            <a:r>
              <a:rPr lang="en-US" sz="1100" b="1" kern="0" spc="200" dirty="0">
                <a:solidFill>
                  <a:srgbClr val="E8722C"/>
                </a:solidFill>
                <a:latin typeface="Calibri" pitchFamily="34" charset="0"/>
                <a:ea typeface="Calibri" pitchFamily="34" charset="-122"/>
                <a:cs typeface="Calibri" pitchFamily="34" charset="-120"/>
              </a:rPr>
              <a:t>SHAPE 1 CONTINUED</a:t>
            </a:r>
            <a:endParaRPr lang="en-US" sz="1100" dirty="0"/>
          </a:p>
        </p:txBody>
      </p:sp>
      <p:graphicFrame>
        <p:nvGraphicFramePr>
          <p:cNvPr id="44" name="Table 0"/>
          <p:cNvGraphicFramePr>
            <a:graphicFrameLocks noGrp="1"/>
          </p:cNvGraphicFramePr>
          <p:nvPr>
            <p:extLst>
              <p:ext uri="{D42A27DB-BD31-4B8C-83A1-F6EECF244321}">
                <p14:modId xmlns:p14="http://schemas.microsoft.com/office/powerpoint/2010/main" val="246427792"/>
              </p:ext>
            </p:extLst>
          </p:nvPr>
        </p:nvGraphicFramePr>
        <p:xfrm>
          <a:off x="502920" y="1188720"/>
          <a:ext cx="8138160" cy="914400"/>
        </p:xfrm>
        <a:graphic>
          <a:graphicData uri="http://schemas.openxmlformats.org/drawingml/2006/table">
            <a:tbl>
              <a:tblPr/>
              <a:tblGrid>
                <a:gridCol w="201168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3474720">
                  <a:extLst>
                    <a:ext uri="{9D8B030D-6E8A-4147-A177-3AD203B41FA5}">
                      <a16:colId xmlns:a16="http://schemas.microsoft.com/office/drawing/2014/main" val="20002"/>
                    </a:ext>
                  </a:extLst>
                </a:gridCol>
              </a:tblGrid>
              <a:tr h="310896">
                <a:tc>
                  <a:txBody>
                    <a:bodyPr/>
                    <a:lstStyle/>
                    <a:p>
                      <a:pPr marL="0" indent="0">
                        <a:buNone/>
                      </a:pPr>
                      <a:r>
                        <a:rPr lang="en-US" sz="1100" b="1" dirty="0">
                          <a:solidFill>
                            <a:srgbClr val="121519"/>
                          </a:solidFill>
                          <a:latin typeface="Trebuchet MS" pitchFamily="34" charset="0"/>
                          <a:ea typeface="Trebuchet MS" pitchFamily="34" charset="-122"/>
                          <a:cs typeface="Trebuchet MS" pitchFamily="34" charset="-120"/>
                        </a:rPr>
                        <a:t>Field</a:t>
                      </a:r>
                      <a:endParaRPr lang="en-US" sz="1100" dirty="0">
                        <a:latin typeface="Trebuchet MS" charset="0"/>
                        <a:ea typeface="Trebuchet MS" charset="0"/>
                        <a:cs typeface="Trebuchet M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E8722C"/>
                    </a:solidFill>
                  </a:tcPr>
                </a:tc>
                <a:tc>
                  <a:txBody>
                    <a:bodyPr/>
                    <a:lstStyle/>
                    <a:p>
                      <a:pPr marL="0" indent="0">
                        <a:buNone/>
                      </a:pPr>
                      <a:r>
                        <a:rPr lang="en-US" sz="1100" b="1" dirty="0">
                          <a:solidFill>
                            <a:srgbClr val="121519"/>
                          </a:solidFill>
                          <a:latin typeface="Trebuchet MS" pitchFamily="34" charset="0"/>
                          <a:ea typeface="Trebuchet MS" pitchFamily="34" charset="-122"/>
                          <a:cs typeface="Trebuchet MS" pitchFamily="34" charset="-120"/>
                        </a:rPr>
                        <a:t>When you must include it</a:t>
                      </a:r>
                      <a:endParaRPr lang="en-US" sz="1100" dirty="0">
                        <a:latin typeface="Trebuchet MS" charset="0"/>
                        <a:ea typeface="Trebuchet MS" charset="0"/>
                        <a:cs typeface="Trebuchet M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E8722C"/>
                    </a:solidFill>
                  </a:tcPr>
                </a:tc>
                <a:tc>
                  <a:txBody>
                    <a:bodyPr/>
                    <a:lstStyle/>
                    <a:p>
                      <a:pPr marL="0" indent="0">
                        <a:buNone/>
                      </a:pPr>
                      <a:r>
                        <a:rPr lang="en-US" sz="1100" b="1" dirty="0">
                          <a:solidFill>
                            <a:srgbClr val="121519"/>
                          </a:solidFill>
                          <a:latin typeface="Trebuchet MS" pitchFamily="34" charset="0"/>
                          <a:ea typeface="Trebuchet MS" pitchFamily="34" charset="-122"/>
                          <a:cs typeface="Trebuchet MS" pitchFamily="34" charset="-120"/>
                        </a:rPr>
                        <a:t>Meaning in plain words</a:t>
                      </a:r>
                      <a:endParaRPr lang="en-US" sz="1100" dirty="0">
                        <a:latin typeface="Trebuchet MS" charset="0"/>
                        <a:ea typeface="Trebuchet MS" charset="0"/>
                        <a:cs typeface="Trebuchet M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E8722C"/>
                    </a:solidFill>
                  </a:tcPr>
                </a:tc>
                <a:extLst>
                  <a:ext uri="{0D108BD9-81ED-4DB2-BD59-A6C34878D82A}">
                    <a16:rowId xmlns:a16="http://schemas.microsoft.com/office/drawing/2014/main" val="10000"/>
                  </a:ext>
                </a:extLst>
              </a:tr>
              <a:tr h="310896">
                <a:tc>
                  <a:txBody>
                    <a:bodyPr/>
                    <a:lstStyle/>
                    <a:p>
                      <a:pPr marL="0" indent="0">
                        <a:buNone/>
                      </a:pPr>
                      <a:r>
                        <a:rPr lang="en-US" sz="1000" dirty="0">
                          <a:solidFill>
                            <a:srgbClr val="F2A65A"/>
                          </a:solidFill>
                          <a:latin typeface="Consolas" pitchFamily="34" charset="0"/>
                          <a:ea typeface="Consolas" pitchFamily="34" charset="-122"/>
                          <a:cs typeface="Consolas" pitchFamily="34" charset="-120"/>
                        </a:rPr>
                        <a:t>price</a:t>
                      </a:r>
                      <a:endParaRPr lang="en-US" sz="100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1000" dirty="0">
                          <a:solidFill>
                            <a:srgbClr val="D5DAE0"/>
                          </a:solidFill>
                          <a:latin typeface="Calibri" pitchFamily="34" charset="0"/>
                          <a:ea typeface="Calibri" pitchFamily="34" charset="-122"/>
                          <a:cs typeface="Calibri" pitchFamily="34" charset="-120"/>
                        </a:rPr>
                        <a:t>Limit-style orders</a:t>
                      </a:r>
                      <a:endParaRPr lang="en-US" sz="10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1000" dirty="0">
                          <a:solidFill>
                            <a:srgbClr val="D5DAE0"/>
                          </a:solidFill>
                          <a:latin typeface="Calibri" pitchFamily="34" charset="0"/>
                          <a:ea typeface="Calibri" pitchFamily="34" charset="-122"/>
                          <a:cs typeface="Calibri" pitchFamily="34" charset="-120"/>
                        </a:rPr>
                        <a:t>The worst price you are willing to accept</a:t>
                      </a:r>
                      <a:endParaRPr lang="en-US" sz="10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extLst>
                  <a:ext uri="{0D108BD9-81ED-4DB2-BD59-A6C34878D82A}">
                    <a16:rowId xmlns:a16="http://schemas.microsoft.com/office/drawing/2014/main" val="10001"/>
                  </a:ext>
                </a:extLst>
              </a:tr>
              <a:tr h="310896">
                <a:tc>
                  <a:txBody>
                    <a:bodyPr/>
                    <a:lstStyle/>
                    <a:p>
                      <a:pPr marL="0" indent="0">
                        <a:buNone/>
                      </a:pPr>
                      <a:r>
                        <a:rPr lang="en-US" sz="1000" dirty="0">
                          <a:solidFill>
                            <a:srgbClr val="F2A65A"/>
                          </a:solidFill>
                          <a:latin typeface="Consolas" pitchFamily="34" charset="0"/>
                          <a:ea typeface="Consolas" pitchFamily="34" charset="-122"/>
                          <a:cs typeface="Consolas" pitchFamily="34" charset="-120"/>
                        </a:rPr>
                        <a:t>stop_price</a:t>
                      </a:r>
                      <a:endParaRPr lang="en-US" sz="100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1000" dirty="0">
                          <a:solidFill>
                            <a:srgbClr val="D5DAE0"/>
                          </a:solidFill>
                          <a:latin typeface="Calibri" pitchFamily="34" charset="0"/>
                          <a:ea typeface="Calibri" pitchFamily="34" charset="-122"/>
                          <a:cs typeface="Calibri" pitchFamily="34" charset="-120"/>
                        </a:rPr>
                        <a:t>Stop and stop-limit orders</a:t>
                      </a:r>
                      <a:endParaRPr lang="en-US" sz="10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1000" dirty="0">
                          <a:solidFill>
                            <a:srgbClr val="D5DAE0"/>
                          </a:solidFill>
                          <a:latin typeface="Calibri" pitchFamily="34" charset="0"/>
                          <a:ea typeface="Calibri" pitchFamily="34" charset="-122"/>
                          <a:cs typeface="Calibri" pitchFamily="34" charset="-120"/>
                        </a:rPr>
                        <a:t>The trigger level that wakes the order up</a:t>
                      </a:r>
                      <a:endParaRPr lang="en-US" sz="10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extLst>
                  <a:ext uri="{0D108BD9-81ED-4DB2-BD59-A6C34878D82A}">
                    <a16:rowId xmlns:a16="http://schemas.microsoft.com/office/drawing/2014/main" val="10002"/>
                  </a:ext>
                </a:extLst>
              </a:tr>
              <a:tr h="310896">
                <a:tc>
                  <a:txBody>
                    <a:bodyPr/>
                    <a:lstStyle/>
                    <a:p>
                      <a:pPr marL="0" indent="0">
                        <a:buNone/>
                      </a:pPr>
                      <a:r>
                        <a:rPr lang="en-US" sz="1000" dirty="0">
                          <a:solidFill>
                            <a:srgbClr val="F2A65A"/>
                          </a:solidFill>
                          <a:latin typeface="Consolas" pitchFamily="34" charset="0"/>
                          <a:ea typeface="Consolas" pitchFamily="34" charset="-122"/>
                          <a:cs typeface="Consolas" pitchFamily="34" charset="-120"/>
                        </a:rPr>
                        <a:t>visible_qty</a:t>
                      </a:r>
                      <a:endParaRPr lang="en-US" sz="100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1000" dirty="0">
                          <a:solidFill>
                            <a:srgbClr val="D5DAE0"/>
                          </a:solidFill>
                          <a:latin typeface="Calibri" pitchFamily="34" charset="0"/>
                          <a:ea typeface="Calibri" pitchFamily="34" charset="-122"/>
                          <a:cs typeface="Calibri" pitchFamily="34" charset="-120"/>
                        </a:rPr>
                        <a:t>Iceberg orders</a:t>
                      </a:r>
                      <a:endParaRPr lang="en-US" sz="10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1000" dirty="0">
                          <a:solidFill>
                            <a:srgbClr val="D5DAE0"/>
                          </a:solidFill>
                          <a:latin typeface="Calibri" pitchFamily="34" charset="0"/>
                          <a:ea typeface="Calibri" pitchFamily="34" charset="-122"/>
                          <a:cs typeface="Calibri" pitchFamily="34" charset="-120"/>
                        </a:rPr>
                        <a:t>How much of the size the market may see</a:t>
                      </a:r>
                      <a:endParaRPr lang="en-US" sz="10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extLst>
                  <a:ext uri="{0D108BD9-81ED-4DB2-BD59-A6C34878D82A}">
                    <a16:rowId xmlns:a16="http://schemas.microsoft.com/office/drawing/2014/main" val="10003"/>
                  </a:ext>
                </a:extLst>
              </a:tr>
              <a:tr h="310896">
                <a:tc>
                  <a:txBody>
                    <a:bodyPr/>
                    <a:lstStyle/>
                    <a:p>
                      <a:pPr marL="0" indent="0">
                        <a:buNone/>
                      </a:pPr>
                      <a:r>
                        <a:rPr lang="en-US" sz="1000" dirty="0">
                          <a:solidFill>
                            <a:srgbClr val="F2A65A"/>
                          </a:solidFill>
                          <a:latin typeface="Consolas" pitchFamily="34" charset="0"/>
                          <a:ea typeface="Consolas" pitchFamily="34" charset="-122"/>
                          <a:cs typeface="Consolas" pitchFamily="34" charset="-120"/>
                        </a:rPr>
                        <a:t>trail_offset</a:t>
                      </a:r>
                      <a:endParaRPr lang="en-US" sz="100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1000" dirty="0">
                          <a:solidFill>
                            <a:srgbClr val="D5DAE0"/>
                          </a:solidFill>
                          <a:latin typeface="Calibri" pitchFamily="34" charset="0"/>
                          <a:ea typeface="Calibri" pitchFamily="34" charset="-122"/>
                          <a:cs typeface="Calibri" pitchFamily="34" charset="-120"/>
                        </a:rPr>
                        <a:t>Trailing stops</a:t>
                      </a:r>
                      <a:endParaRPr lang="en-US" sz="10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1000" dirty="0">
                          <a:solidFill>
                            <a:srgbClr val="D5DAE0"/>
                          </a:solidFill>
                          <a:latin typeface="Calibri" pitchFamily="34" charset="0"/>
                          <a:ea typeface="Calibri" pitchFamily="34" charset="-122"/>
                          <a:cs typeface="Calibri" pitchFamily="34" charset="-120"/>
                        </a:rPr>
                        <a:t>How far behind the market the trigger follows</a:t>
                      </a:r>
                      <a:endParaRPr lang="en-US" sz="10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extLst>
                  <a:ext uri="{0D108BD9-81ED-4DB2-BD59-A6C34878D82A}">
                    <a16:rowId xmlns:a16="http://schemas.microsoft.com/office/drawing/2014/main" val="10004"/>
                  </a:ext>
                </a:extLst>
              </a:tr>
              <a:tr h="310896">
                <a:tc>
                  <a:txBody>
                    <a:bodyPr/>
                    <a:lstStyle/>
                    <a:p>
                      <a:pPr marL="0" indent="0">
                        <a:buNone/>
                      </a:pPr>
                      <a:r>
                        <a:rPr lang="en-US" sz="1000" dirty="0">
                          <a:solidFill>
                            <a:srgbClr val="F2A65A"/>
                          </a:solidFill>
                          <a:latin typeface="Consolas" pitchFamily="34" charset="0"/>
                          <a:ea typeface="Consolas" pitchFamily="34" charset="-122"/>
                          <a:cs typeface="Consolas" pitchFamily="34" charset="-120"/>
                        </a:rPr>
                        <a:t>tif</a:t>
                      </a:r>
                      <a:endParaRPr lang="en-US" sz="100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1000" dirty="0">
                          <a:solidFill>
                            <a:srgbClr val="D5DAE0"/>
                          </a:solidFill>
                          <a:latin typeface="Calibri" pitchFamily="34" charset="0"/>
                          <a:ea typeface="Calibri" pitchFamily="34" charset="-122"/>
                          <a:cs typeface="Calibri" pitchFamily="34" charset="-120"/>
                        </a:rPr>
                        <a:t>Optional</a:t>
                      </a:r>
                      <a:endParaRPr lang="en-US" sz="10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1000" dirty="0">
                          <a:solidFill>
                            <a:srgbClr val="D5DAE0"/>
                          </a:solidFill>
                          <a:latin typeface="Calibri" pitchFamily="34" charset="0"/>
                          <a:ea typeface="Calibri" pitchFamily="34" charset="-122"/>
                          <a:cs typeface="Calibri" pitchFamily="34" charset="-120"/>
                        </a:rPr>
                        <a:t>How long the order lives if it does not trade</a:t>
                      </a:r>
                      <a:endParaRPr lang="en-US" sz="10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extLst>
                  <a:ext uri="{0D108BD9-81ED-4DB2-BD59-A6C34878D82A}">
                    <a16:rowId xmlns:a16="http://schemas.microsoft.com/office/drawing/2014/main" val="10005"/>
                  </a:ext>
                </a:extLst>
              </a:tr>
              <a:tr h="310896">
                <a:tc>
                  <a:txBody>
                    <a:bodyPr/>
                    <a:lstStyle/>
                    <a:p>
                      <a:pPr marL="0" indent="0">
                        <a:buNone/>
                      </a:pPr>
                      <a:r>
                        <a:rPr lang="en-US" sz="1000" dirty="0">
                          <a:solidFill>
                            <a:srgbClr val="F2A65A"/>
                          </a:solidFill>
                          <a:latin typeface="Consolas" pitchFamily="34" charset="0"/>
                          <a:ea typeface="Consolas" pitchFamily="34" charset="-122"/>
                          <a:cs typeface="Consolas" pitchFamily="34" charset="-120"/>
                        </a:rPr>
                        <a:t>smp_action</a:t>
                      </a:r>
                      <a:endParaRPr lang="en-US" sz="100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1000" dirty="0">
                          <a:solidFill>
                            <a:srgbClr val="D5DAE0"/>
                          </a:solidFill>
                          <a:latin typeface="Calibri" pitchFamily="34" charset="0"/>
                          <a:ea typeface="Calibri" pitchFamily="34" charset="-122"/>
                          <a:cs typeface="Calibri" pitchFamily="34" charset="-120"/>
                        </a:rPr>
                        <a:t>Optional</a:t>
                      </a:r>
                      <a:endParaRPr lang="en-US" sz="10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1000" dirty="0">
                          <a:solidFill>
                            <a:srgbClr val="D5DAE0"/>
                          </a:solidFill>
                          <a:latin typeface="Calibri" pitchFamily="34" charset="0"/>
                          <a:ea typeface="Calibri" pitchFamily="34" charset="-122"/>
                          <a:cs typeface="Calibri" pitchFamily="34" charset="-120"/>
                        </a:rPr>
                        <a:t>What to do if your two orders would match each other</a:t>
                      </a:r>
                      <a:endParaRPr lang="en-US" sz="10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extLst>
                  <a:ext uri="{0D108BD9-81ED-4DB2-BD59-A6C34878D82A}">
                    <a16:rowId xmlns:a16="http://schemas.microsoft.com/office/drawing/2014/main" val="10006"/>
                  </a:ext>
                </a:extLst>
              </a:tr>
              <a:tr h="310896">
                <a:tc>
                  <a:txBody>
                    <a:bodyPr/>
                    <a:lstStyle/>
                    <a:p>
                      <a:pPr marL="0" indent="0">
                        <a:buNone/>
                      </a:pPr>
                      <a:r>
                        <a:rPr lang="en-US" sz="1000" dirty="0">
                          <a:solidFill>
                            <a:srgbClr val="F2A65A"/>
                          </a:solidFill>
                          <a:latin typeface="Consolas" pitchFamily="34" charset="0"/>
                          <a:ea typeface="Consolas" pitchFamily="34" charset="-122"/>
                          <a:cs typeface="Consolas" pitchFamily="34" charset="-120"/>
                        </a:rPr>
                        <a:t>client_order_id</a:t>
                      </a:r>
                      <a:endParaRPr lang="en-US" sz="100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1000" dirty="0">
                          <a:solidFill>
                            <a:srgbClr val="D5DAE0"/>
                          </a:solidFill>
                          <a:latin typeface="Calibri" pitchFamily="34" charset="0"/>
                          <a:ea typeface="Calibri" pitchFamily="34" charset="-122"/>
                          <a:cs typeface="Calibri" pitchFamily="34" charset="-120"/>
                        </a:rPr>
                        <a:t>Optional but recommended</a:t>
                      </a:r>
                      <a:endParaRPr lang="en-US" sz="10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1000" dirty="0">
                          <a:solidFill>
                            <a:srgbClr val="D5DAE0"/>
                          </a:solidFill>
                          <a:latin typeface="Calibri" pitchFamily="34" charset="0"/>
                          <a:ea typeface="Calibri" pitchFamily="34" charset="-122"/>
                          <a:cs typeface="Calibri" pitchFamily="34" charset="-120"/>
                        </a:rPr>
                        <a:t>Your own reference, unique while the order is live</a:t>
                      </a:r>
                      <a:endParaRPr lang="en-US" sz="10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extLst>
                  <a:ext uri="{0D108BD9-81ED-4DB2-BD59-A6C34878D82A}">
                    <a16:rowId xmlns:a16="http://schemas.microsoft.com/office/drawing/2014/main" val="10007"/>
                  </a:ext>
                </a:extLst>
              </a:tr>
            </a:tbl>
          </a:graphicData>
        </a:graphic>
      </p:graphicFrame>
      <p:sp>
        <p:nvSpPr>
          <p:cNvPr id="5" name="Text 2"/>
          <p:cNvSpPr/>
          <p:nvPr/>
        </p:nvSpPr>
        <p:spPr>
          <a:xfrm>
            <a:off x="502920" y="4224528"/>
            <a:ext cx="8138160" cy="384048"/>
          </a:xfrm>
          <a:prstGeom prst="rect">
            <a:avLst/>
          </a:prstGeom>
          <a:noFill/>
          <a:ln/>
        </p:spPr>
        <p:txBody>
          <a:bodyPr wrap="square" lIns="0" tIns="0" rIns="0" bIns="0" rtlCol="0" anchor="t"/>
          <a:lstStyle/>
          <a:p>
            <a:pPr marL="0" indent="0" algn="l">
              <a:buNone/>
            </a:pPr>
            <a:r>
              <a:rPr lang="en-US" sz="1150" i="1" dirty="0">
                <a:solidFill>
                  <a:srgbClr val="F2A65A"/>
                </a:solidFill>
                <a:latin typeface="Calibri" pitchFamily="34" charset="0"/>
                <a:ea typeface="Calibri" pitchFamily="34" charset="-122"/>
                <a:cs typeface="Calibri" pitchFamily="34" charset="-120"/>
              </a:rPr>
              <a:t>The gateway checks these rules before the engine ever sees your order, so mistakes come back quickly and describe themselves.</a:t>
            </a:r>
            <a:endParaRPr lang="en-US" sz="1150" dirty="0"/>
          </a:p>
        </p:txBody>
      </p:sp>
      <p:sp>
        <p:nvSpPr>
          <p:cNvPr id="6" name="Text 3"/>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The shape of the data</a:t>
            </a:r>
            <a:endParaRPr lang="en-US" sz="900" dirty="0"/>
          </a:p>
        </p:txBody>
      </p:sp>
      <p:sp>
        <p:nvSpPr>
          <p:cNvPr id="7" name="Text 4"/>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43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8138160" cy="548640"/>
          </a:xfrm>
          <a:prstGeom prst="rect">
            <a:avLst/>
          </a:prstGeom>
          <a:noFill/>
          <a:ln/>
        </p:spPr>
        <p:txBody>
          <a:bodyPr wrap="square" lIns="0" tIns="0" rIns="0" bIns="0" rtlCol="0" anchor="ctr"/>
          <a:lstStyle/>
          <a:p>
            <a:pPr marL="0" indent="0">
              <a:buNone/>
            </a:pPr>
            <a:r>
              <a:rPr lang="en-US" sz="2700" b="1" dirty="0">
                <a:solidFill>
                  <a:srgbClr val="F3F5F7"/>
                </a:solidFill>
                <a:latin typeface="Trebuchet MS" pitchFamily="34" charset="0"/>
                <a:ea typeface="Trebuchet MS" pitchFamily="34" charset="-122"/>
                <a:cs typeface="Trebuchet MS" pitchFamily="34" charset="-120"/>
              </a:rPr>
              <a:t>What comes back from a write</a:t>
            </a:r>
            <a:endParaRPr lang="en-US" sz="2700" dirty="0"/>
          </a:p>
        </p:txBody>
      </p:sp>
      <p:sp>
        <p:nvSpPr>
          <p:cNvPr id="3" name="Text 1"/>
          <p:cNvSpPr/>
          <p:nvPr/>
        </p:nvSpPr>
        <p:spPr>
          <a:xfrm>
            <a:off x="502920" y="841248"/>
            <a:ext cx="8138160" cy="237744"/>
          </a:xfrm>
          <a:prstGeom prst="rect">
            <a:avLst/>
          </a:prstGeom>
          <a:noFill/>
          <a:ln/>
        </p:spPr>
        <p:txBody>
          <a:bodyPr wrap="square" lIns="0" tIns="0" rIns="0" bIns="0" rtlCol="0" anchor="ctr"/>
          <a:lstStyle/>
          <a:p>
            <a:pPr marL="0" indent="0">
              <a:buNone/>
            </a:pPr>
            <a:r>
              <a:rPr lang="en-US" sz="1100" b="1" kern="0" spc="200" dirty="0">
                <a:solidFill>
                  <a:srgbClr val="E8722C"/>
                </a:solidFill>
                <a:latin typeface="Calibri" pitchFamily="34" charset="0"/>
                <a:ea typeface="Calibri" pitchFamily="34" charset="-122"/>
                <a:cs typeface="Calibri" pitchFamily="34" charset="-120"/>
              </a:rPr>
              <a:t>SHAPE 2</a:t>
            </a:r>
            <a:endParaRPr lang="en-US" sz="1100" dirty="0"/>
          </a:p>
        </p:txBody>
      </p:sp>
      <p:sp>
        <p:nvSpPr>
          <p:cNvPr id="4" name="card background">
            <a:extLst>
              <a:ext uri="{C183D7F6-B498-43B3-948B-1728B52AA6E4}">
                <adec:decorative xmlns:adec="http://schemas.microsoft.com/office/drawing/2017/decorative" val="1"/>
              </a:ext>
            </a:extLst>
          </p:cNvPr>
          <p:cNvSpPr/>
          <p:nvPr/>
        </p:nvSpPr>
        <p:spPr>
          <a:xfrm>
            <a:off x="502920" y="1207008"/>
            <a:ext cx="3959352" cy="2148840"/>
          </a:xfrm>
          <a:prstGeom prst="roundRect">
            <a:avLst>
              <a:gd name="adj" fmla="val 2553"/>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5" name="card top edge">
            <a:extLst>
              <a:ext uri="{C183D7F6-B498-43B3-948B-1728B52AA6E4}">
                <adec:decorative xmlns:adec="http://schemas.microsoft.com/office/drawing/2017/decorative" val="1"/>
              </a:ext>
            </a:extLst>
          </p:cNvPr>
          <p:cNvSpPr/>
          <p:nvPr/>
        </p:nvSpPr>
        <p:spPr>
          <a:xfrm>
            <a:off x="502920" y="1207008"/>
            <a:ext cx="3959352" cy="73152"/>
          </a:xfrm>
          <a:prstGeom prst="rect">
            <a:avLst/>
          </a:prstGeom>
          <a:solidFill>
            <a:srgbClr val="F2A65A"/>
          </a:solidFill>
          <a:ln w="12700">
            <a:solidFill>
              <a:srgbClr val="F2A65A"/>
            </a:solidFill>
            <a:prstDash val="solid"/>
          </a:ln>
        </p:spPr>
        <p:txBody>
          <a:bodyPr/>
          <a:lstStyle/>
          <a:p>
            <a:endParaRPr lang="en-SE"/>
          </a:p>
        </p:txBody>
      </p:sp>
      <p:sp>
        <p:nvSpPr>
          <p:cNvPr id="6" name="Text 4"/>
          <p:cNvSpPr/>
          <p:nvPr/>
        </p:nvSpPr>
        <p:spPr>
          <a:xfrm>
            <a:off x="740664" y="1426464"/>
            <a:ext cx="3502152" cy="365760"/>
          </a:xfrm>
          <a:prstGeom prst="rect">
            <a:avLst/>
          </a:prstGeom>
          <a:noFill/>
          <a:ln/>
        </p:spPr>
        <p:txBody>
          <a:bodyPr wrap="square" lIns="0" tIns="0" rIns="0" bIns="0" rtlCol="0" anchor="ctr"/>
          <a:lstStyle/>
          <a:p>
            <a:pPr marL="0" indent="0">
              <a:buNone/>
            </a:pPr>
            <a:r>
              <a:rPr lang="en-US" sz="1700" b="1" dirty="0">
                <a:solidFill>
                  <a:srgbClr val="F2A65A"/>
                </a:solidFill>
                <a:latin typeface="Trebuchet MS" pitchFamily="34" charset="0"/>
                <a:ea typeface="Trebuchet MS" pitchFamily="34" charset="-122"/>
                <a:cs typeface="Trebuchet MS" pitchFamily="34" charset="-120"/>
              </a:rPr>
              <a:t>Without waiting</a:t>
            </a:r>
            <a:endParaRPr lang="en-US" sz="1700" dirty="0"/>
          </a:p>
        </p:txBody>
      </p:sp>
      <p:sp>
        <p:nvSpPr>
          <p:cNvPr id="7" name="Text 5"/>
          <p:cNvSpPr/>
          <p:nvPr/>
        </p:nvSpPr>
        <p:spPr>
          <a:xfrm>
            <a:off x="740664" y="1792224"/>
            <a:ext cx="3502152" cy="274320"/>
          </a:xfrm>
          <a:prstGeom prst="rect">
            <a:avLst/>
          </a:prstGeom>
          <a:noFill/>
          <a:ln/>
        </p:spPr>
        <p:txBody>
          <a:bodyPr wrap="square" lIns="0" tIns="0" rIns="0" bIns="0" rtlCol="0" anchor="ctr"/>
          <a:lstStyle/>
          <a:p>
            <a:pPr marL="0" indent="0">
              <a:buNone/>
            </a:pPr>
            <a:r>
              <a:rPr lang="en-US" sz="1100" i="1" dirty="0">
                <a:solidFill>
                  <a:srgbClr val="97A1AC"/>
                </a:solidFill>
                <a:latin typeface="Calibri" pitchFamily="34" charset="0"/>
                <a:ea typeface="Calibri" pitchFamily="34" charset="-122"/>
                <a:cs typeface="Calibri" pitchFamily="34" charset="-120"/>
              </a:rPr>
              <a:t>Accepted — the request is on its way</a:t>
            </a:r>
            <a:endParaRPr lang="en-US" sz="1100" dirty="0"/>
          </a:p>
        </p:txBody>
      </p:sp>
      <p:sp>
        <p:nvSpPr>
          <p:cNvPr id="8" name="Text 6"/>
          <p:cNvSpPr/>
          <p:nvPr/>
        </p:nvSpPr>
        <p:spPr>
          <a:xfrm>
            <a:off x="740664" y="2139696"/>
            <a:ext cx="3502152" cy="1033272"/>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You receive an order identifier and a pending status</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The engine's verdict arrives later on the events stream</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Your code stays responsive; nothing blocks</a:t>
            </a:r>
            <a:endParaRPr lang="en-US" sz="1150" dirty="0"/>
          </a:p>
        </p:txBody>
      </p:sp>
      <p:sp>
        <p:nvSpPr>
          <p:cNvPr id="9" name="card background">
            <a:extLst>
              <a:ext uri="{C183D7F6-B498-43B3-948B-1728B52AA6E4}">
                <adec:decorative xmlns:adec="http://schemas.microsoft.com/office/drawing/2017/decorative" val="1"/>
              </a:ext>
            </a:extLst>
          </p:cNvPr>
          <p:cNvSpPr/>
          <p:nvPr/>
        </p:nvSpPr>
        <p:spPr>
          <a:xfrm>
            <a:off x="4681728" y="1207008"/>
            <a:ext cx="3959352" cy="2148840"/>
          </a:xfrm>
          <a:prstGeom prst="roundRect">
            <a:avLst>
              <a:gd name="adj" fmla="val 2553"/>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0" name="card top edge">
            <a:extLst>
              <a:ext uri="{C183D7F6-B498-43B3-948B-1728B52AA6E4}">
                <adec:decorative xmlns:adec="http://schemas.microsoft.com/office/drawing/2017/decorative" val="1"/>
              </a:ext>
            </a:extLst>
          </p:cNvPr>
          <p:cNvSpPr/>
          <p:nvPr/>
        </p:nvSpPr>
        <p:spPr>
          <a:xfrm>
            <a:off x="4681728" y="1207008"/>
            <a:ext cx="3959352" cy="73152"/>
          </a:xfrm>
          <a:prstGeom prst="rect">
            <a:avLst/>
          </a:prstGeom>
          <a:solidFill>
            <a:srgbClr val="35A79C"/>
          </a:solidFill>
          <a:ln w="12700">
            <a:solidFill>
              <a:srgbClr val="35A79C"/>
            </a:solidFill>
            <a:prstDash val="solid"/>
          </a:ln>
        </p:spPr>
        <p:txBody>
          <a:bodyPr/>
          <a:lstStyle/>
          <a:p>
            <a:endParaRPr lang="en-SE"/>
          </a:p>
        </p:txBody>
      </p:sp>
      <p:sp>
        <p:nvSpPr>
          <p:cNvPr id="11" name="Text 9"/>
          <p:cNvSpPr/>
          <p:nvPr/>
        </p:nvSpPr>
        <p:spPr>
          <a:xfrm>
            <a:off x="4919472" y="1426464"/>
            <a:ext cx="3502152" cy="365760"/>
          </a:xfrm>
          <a:prstGeom prst="rect">
            <a:avLst/>
          </a:prstGeom>
          <a:noFill/>
          <a:ln/>
        </p:spPr>
        <p:txBody>
          <a:bodyPr wrap="square" lIns="0" tIns="0" rIns="0" bIns="0" rtlCol="0" anchor="ctr"/>
          <a:lstStyle/>
          <a:p>
            <a:pPr marL="0" indent="0">
              <a:buNone/>
            </a:pPr>
            <a:r>
              <a:rPr lang="en-US" sz="1700" b="1" dirty="0">
                <a:solidFill>
                  <a:srgbClr val="35A79C"/>
                </a:solidFill>
                <a:latin typeface="Trebuchet MS" pitchFamily="34" charset="0"/>
                <a:ea typeface="Trebuchet MS" pitchFamily="34" charset="-122"/>
                <a:cs typeface="Trebuchet MS" pitchFamily="34" charset="-120"/>
              </a:rPr>
              <a:t>Waiting for the acknowledgement</a:t>
            </a:r>
            <a:endParaRPr lang="en-US" sz="1700" dirty="0"/>
          </a:p>
        </p:txBody>
      </p:sp>
      <p:sp>
        <p:nvSpPr>
          <p:cNvPr id="12" name="Text 10"/>
          <p:cNvSpPr/>
          <p:nvPr/>
        </p:nvSpPr>
        <p:spPr>
          <a:xfrm>
            <a:off x="4919472" y="1792224"/>
            <a:ext cx="3502152" cy="274320"/>
          </a:xfrm>
          <a:prstGeom prst="rect">
            <a:avLst/>
          </a:prstGeom>
          <a:noFill/>
          <a:ln/>
        </p:spPr>
        <p:txBody>
          <a:bodyPr wrap="square" lIns="0" tIns="0" rIns="0" bIns="0" rtlCol="0" anchor="ctr"/>
          <a:lstStyle/>
          <a:p>
            <a:pPr marL="0" indent="0">
              <a:buNone/>
            </a:pPr>
            <a:r>
              <a:rPr lang="en-US" sz="1100" i="1" dirty="0">
                <a:solidFill>
                  <a:srgbClr val="97A1AC"/>
                </a:solidFill>
                <a:latin typeface="Calibri" pitchFamily="34" charset="0"/>
                <a:ea typeface="Calibri" pitchFamily="34" charset="-122"/>
                <a:cs typeface="Calibri" pitchFamily="34" charset="-120"/>
              </a:rPr>
              <a:t>The gateway holds the reply until the engine answers</a:t>
            </a:r>
            <a:endParaRPr lang="en-US" sz="1100" dirty="0"/>
          </a:p>
        </p:txBody>
      </p:sp>
      <p:sp>
        <p:nvSpPr>
          <p:cNvPr id="13" name="Text 11"/>
          <p:cNvSpPr/>
          <p:nvPr/>
        </p:nvSpPr>
        <p:spPr>
          <a:xfrm>
            <a:off x="4919472" y="2139696"/>
            <a:ext cx="3502152" cy="1033272"/>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You receive the same identifier plus the engine's decision</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Accepted or refused — and if refused, the reason</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Or a timeout error if the engine does not answer in time</a:t>
            </a:r>
            <a:endParaRPr lang="en-US" sz="1150" dirty="0"/>
          </a:p>
        </p:txBody>
      </p:sp>
      <p:sp>
        <p:nvSpPr>
          <p:cNvPr id="14" name="code panel">
            <a:extLst>
              <a:ext uri="{C183D7F6-B498-43B3-948B-1728B52AA6E4}">
                <adec:decorative xmlns:adec="http://schemas.microsoft.com/office/drawing/2017/decorative" val="1"/>
              </a:ext>
            </a:extLst>
          </p:cNvPr>
          <p:cNvSpPr/>
          <p:nvPr/>
        </p:nvSpPr>
        <p:spPr>
          <a:xfrm>
            <a:off x="502920" y="3520440"/>
            <a:ext cx="8138160" cy="960120"/>
          </a:xfrm>
          <a:prstGeom prst="roundRect">
            <a:avLst>
              <a:gd name="adj" fmla="val 4762"/>
            </a:avLst>
          </a:prstGeom>
          <a:solidFill>
            <a:srgbClr val="121519"/>
          </a:solidFill>
          <a:ln w="12700">
            <a:solidFill>
              <a:srgbClr val="3A424B"/>
            </a:solidFill>
            <a:prstDash val="solid"/>
          </a:ln>
        </p:spPr>
        <p:txBody>
          <a:bodyPr/>
          <a:lstStyle/>
          <a:p>
            <a:endParaRPr lang="en-SE"/>
          </a:p>
        </p:txBody>
      </p:sp>
      <p:sp>
        <p:nvSpPr>
          <p:cNvPr id="15" name="code panel edge">
            <a:extLst>
              <a:ext uri="{C183D7F6-B498-43B3-948B-1728B52AA6E4}">
                <adec:decorative xmlns:adec="http://schemas.microsoft.com/office/drawing/2017/decorative" val="1"/>
              </a:ext>
            </a:extLst>
          </p:cNvPr>
          <p:cNvSpPr/>
          <p:nvPr/>
        </p:nvSpPr>
        <p:spPr>
          <a:xfrm>
            <a:off x="502920" y="3520440"/>
            <a:ext cx="54864" cy="960120"/>
          </a:xfrm>
          <a:prstGeom prst="rect">
            <a:avLst/>
          </a:prstGeom>
          <a:solidFill>
            <a:srgbClr val="E8722C"/>
          </a:solidFill>
          <a:ln w="12700">
            <a:solidFill>
              <a:srgbClr val="E8722C"/>
            </a:solidFill>
            <a:prstDash val="solid"/>
          </a:ln>
        </p:spPr>
        <p:txBody>
          <a:bodyPr/>
          <a:lstStyle/>
          <a:p>
            <a:endParaRPr lang="en-SE"/>
          </a:p>
        </p:txBody>
      </p:sp>
      <p:sp>
        <p:nvSpPr>
          <p:cNvPr id="16" name="Text 14"/>
          <p:cNvSpPr/>
          <p:nvPr/>
        </p:nvSpPr>
        <p:spPr>
          <a:xfrm>
            <a:off x="704088" y="3648456"/>
            <a:ext cx="7772400" cy="704088"/>
          </a:xfrm>
          <a:prstGeom prst="rect">
            <a:avLst/>
          </a:prstGeom>
          <a:noFill/>
          <a:ln/>
        </p:spPr>
        <p:txBody>
          <a:bodyPr wrap="square" lIns="0" tIns="0" rIns="0" bIns="0" rtlCol="0" anchor="t"/>
          <a:lstStyle/>
          <a:p>
            <a:pPr marL="0" indent="0">
              <a:buNone/>
            </a:pPr>
            <a:r>
              <a:rPr lang="en-US" sz="1150" dirty="0">
                <a:solidFill>
                  <a:srgbClr val="F2A65A"/>
                </a:solidFill>
                <a:latin typeface="Consolas" pitchFamily="34" charset="0"/>
                <a:ea typeface="Consolas" pitchFamily="34" charset="-122"/>
                <a:cs typeface="Consolas" pitchFamily="34" charset="-120"/>
              </a:rPr>
              <a:t>order_id  : ORD-3a7f1e2c        order_id  : ORD-3a7f1e2c</a:t>
            </a:r>
            <a:endParaRPr lang="en-US" sz="1150" dirty="0"/>
          </a:p>
          <a:p>
            <a:pPr marL="0" indent="0">
              <a:buNone/>
            </a:pPr>
            <a:r>
              <a:rPr lang="en-US" sz="1150" dirty="0">
                <a:solidFill>
                  <a:srgbClr val="F2A65A"/>
                </a:solidFill>
                <a:latin typeface="Consolas" pitchFamily="34" charset="0"/>
                <a:ea typeface="Consolas" pitchFamily="34" charset="-122"/>
                <a:cs typeface="Consolas" pitchFamily="34" charset="-120"/>
              </a:rPr>
              <a:t>status    : PENDING             status    : ACKED</a:t>
            </a:r>
            <a:endParaRPr lang="en-US" sz="1150" dirty="0"/>
          </a:p>
          <a:p>
            <a:pPr marL="0" indent="0">
              <a:buNone/>
            </a:pPr>
            <a:r>
              <a:rPr lang="en-US" sz="1150" dirty="0">
                <a:solidFill>
                  <a:srgbClr val="35A79C"/>
                </a:solidFill>
                <a:latin typeface="Consolas" pitchFamily="34" charset="0"/>
                <a:ea typeface="Consolas" pitchFamily="34" charset="-122"/>
                <a:cs typeface="Consolas" pitchFamily="34" charset="-120"/>
              </a:rPr>
              <a:t>                                accepted  : true</a:t>
            </a:r>
            <a:endParaRPr lang="en-US" sz="1150" dirty="0"/>
          </a:p>
        </p:txBody>
      </p:sp>
      <p:sp>
        <p:nvSpPr>
          <p:cNvPr id="17" name="Text 15"/>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The shape of the data</a:t>
            </a:r>
            <a:endParaRPr lang="en-US" sz="900" dirty="0"/>
          </a:p>
        </p:txBody>
      </p:sp>
      <p:sp>
        <p:nvSpPr>
          <p:cNvPr id="18" name="Text 16"/>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44</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8138160" cy="548640"/>
          </a:xfrm>
          <a:prstGeom prst="rect">
            <a:avLst/>
          </a:prstGeom>
          <a:noFill/>
          <a:ln/>
        </p:spPr>
        <p:txBody>
          <a:bodyPr wrap="square" lIns="0" tIns="0" rIns="0" bIns="0" rtlCol="0" anchor="ctr"/>
          <a:lstStyle/>
          <a:p>
            <a:pPr marL="0" indent="0">
              <a:buNone/>
            </a:pPr>
            <a:r>
              <a:rPr lang="en-US" sz="2700" b="1" dirty="0">
                <a:solidFill>
                  <a:srgbClr val="F3F5F7"/>
                </a:solidFill>
                <a:latin typeface="Trebuchet MS" pitchFamily="34" charset="0"/>
                <a:ea typeface="Trebuchet MS" pitchFamily="34" charset="-122"/>
                <a:cs typeface="Trebuchet MS" pitchFamily="34" charset="-120"/>
              </a:rPr>
              <a:t>Lists arrive in pages</a:t>
            </a:r>
            <a:endParaRPr lang="en-US" sz="2700" dirty="0"/>
          </a:p>
        </p:txBody>
      </p:sp>
      <p:sp>
        <p:nvSpPr>
          <p:cNvPr id="3" name="Text 1"/>
          <p:cNvSpPr/>
          <p:nvPr/>
        </p:nvSpPr>
        <p:spPr>
          <a:xfrm>
            <a:off x="502920" y="841248"/>
            <a:ext cx="8138160" cy="237744"/>
          </a:xfrm>
          <a:prstGeom prst="rect">
            <a:avLst/>
          </a:prstGeom>
          <a:noFill/>
          <a:ln/>
        </p:spPr>
        <p:txBody>
          <a:bodyPr wrap="square" lIns="0" tIns="0" rIns="0" bIns="0" rtlCol="0" anchor="ctr"/>
          <a:lstStyle/>
          <a:p>
            <a:pPr marL="0" indent="0">
              <a:buNone/>
            </a:pPr>
            <a:r>
              <a:rPr lang="en-US" sz="1100" b="1" kern="0" spc="200" dirty="0">
                <a:solidFill>
                  <a:srgbClr val="E8722C"/>
                </a:solidFill>
                <a:latin typeface="Calibri" pitchFamily="34" charset="0"/>
                <a:ea typeface="Calibri" pitchFamily="34" charset="-122"/>
                <a:cs typeface="Calibri" pitchFamily="34" charset="-120"/>
              </a:rPr>
              <a:t>SHAPE 3</a:t>
            </a:r>
            <a:endParaRPr lang="en-US" sz="1100" dirty="0"/>
          </a:p>
        </p:txBody>
      </p:sp>
      <p:sp>
        <p:nvSpPr>
          <p:cNvPr id="4" name="code panel">
            <a:extLst>
              <a:ext uri="{C183D7F6-B498-43B3-948B-1728B52AA6E4}">
                <adec:decorative xmlns:adec="http://schemas.microsoft.com/office/drawing/2017/decorative" val="1"/>
              </a:ext>
            </a:extLst>
          </p:cNvPr>
          <p:cNvSpPr/>
          <p:nvPr/>
        </p:nvSpPr>
        <p:spPr>
          <a:xfrm>
            <a:off x="502920" y="1170432"/>
            <a:ext cx="4663440" cy="2286000"/>
          </a:xfrm>
          <a:prstGeom prst="roundRect">
            <a:avLst>
              <a:gd name="adj" fmla="val 2000"/>
            </a:avLst>
          </a:prstGeom>
          <a:solidFill>
            <a:srgbClr val="121519"/>
          </a:solidFill>
          <a:ln w="12700">
            <a:solidFill>
              <a:srgbClr val="3A424B"/>
            </a:solidFill>
            <a:prstDash val="solid"/>
          </a:ln>
        </p:spPr>
        <p:txBody>
          <a:bodyPr/>
          <a:lstStyle/>
          <a:p>
            <a:endParaRPr lang="en-SE"/>
          </a:p>
        </p:txBody>
      </p:sp>
      <p:sp>
        <p:nvSpPr>
          <p:cNvPr id="5" name="code panel edge">
            <a:extLst>
              <a:ext uri="{C183D7F6-B498-43B3-948B-1728B52AA6E4}">
                <adec:decorative xmlns:adec="http://schemas.microsoft.com/office/drawing/2017/decorative" val="1"/>
              </a:ext>
            </a:extLst>
          </p:cNvPr>
          <p:cNvSpPr/>
          <p:nvPr/>
        </p:nvSpPr>
        <p:spPr>
          <a:xfrm>
            <a:off x="502920" y="1170432"/>
            <a:ext cx="54864" cy="2286000"/>
          </a:xfrm>
          <a:prstGeom prst="rect">
            <a:avLst/>
          </a:prstGeom>
          <a:solidFill>
            <a:srgbClr val="E8722C"/>
          </a:solidFill>
          <a:ln w="12700">
            <a:solidFill>
              <a:srgbClr val="E8722C"/>
            </a:solidFill>
            <a:prstDash val="solid"/>
          </a:ln>
        </p:spPr>
        <p:txBody>
          <a:bodyPr/>
          <a:lstStyle/>
          <a:p>
            <a:endParaRPr lang="en-SE"/>
          </a:p>
        </p:txBody>
      </p:sp>
      <p:sp>
        <p:nvSpPr>
          <p:cNvPr id="6" name="Text 4"/>
          <p:cNvSpPr/>
          <p:nvPr/>
        </p:nvSpPr>
        <p:spPr>
          <a:xfrm>
            <a:off x="704088" y="1298448"/>
            <a:ext cx="4297680" cy="2029968"/>
          </a:xfrm>
          <a:prstGeom prst="rect">
            <a:avLst/>
          </a:prstGeom>
          <a:noFill/>
          <a:ln/>
        </p:spPr>
        <p:txBody>
          <a:bodyPr wrap="square" lIns="0" tIns="0" rIns="0" bIns="0" rtlCol="0" anchor="t"/>
          <a:lstStyle/>
          <a:p>
            <a:pPr marL="0" indent="0">
              <a:buNone/>
            </a:pPr>
            <a:r>
              <a:rPr lang="en-US" sz="1050" b="1" dirty="0">
                <a:solidFill>
                  <a:srgbClr val="F2A65A"/>
                </a:solidFill>
                <a:latin typeface="Consolas" pitchFamily="34" charset="0"/>
                <a:ea typeface="Consolas" pitchFamily="34" charset="-122"/>
                <a:cs typeface="Consolas" pitchFamily="34" charset="-120"/>
              </a:rPr>
              <a:t>GET /api/v1/history/trades?symbol=EDU100&amp;limit=2</a:t>
            </a:r>
            <a:endParaRPr lang="en-US" sz="1050" dirty="0"/>
          </a:p>
          <a:p>
            <a:pPr marL="0" indent="0">
              <a:buNone/>
            </a:pPr>
            <a:endParaRPr lang="en-US" sz="1050" dirty="0"/>
          </a:p>
          <a:p>
            <a:pPr marL="0" indent="0">
              <a:buNone/>
            </a:pPr>
            <a:r>
              <a:rPr lang="en-US" sz="1050" dirty="0">
                <a:solidFill>
                  <a:srgbClr val="D5DAE0"/>
                </a:solidFill>
                <a:latin typeface="Consolas" pitchFamily="34" charset="0"/>
                <a:ea typeface="Consolas" pitchFamily="34" charset="-122"/>
                <a:cs typeface="Consolas" pitchFamily="34" charset="-120"/>
              </a:rPr>
              <a:t>{</a:t>
            </a:r>
            <a:endParaRPr lang="en-US" sz="1050" dirty="0"/>
          </a:p>
          <a:p>
            <a:pPr marL="0" indent="0">
              <a:buNone/>
            </a:pPr>
            <a:r>
              <a:rPr lang="en-US" sz="1050" dirty="0">
                <a:solidFill>
                  <a:srgbClr val="D5DAE0"/>
                </a:solidFill>
                <a:latin typeface="Consolas" pitchFamily="34" charset="0"/>
                <a:ea typeface="Consolas" pitchFamily="34" charset="-122"/>
                <a:cs typeface="Consolas" pitchFamily="34" charset="-120"/>
              </a:rPr>
              <a:t>  "trades": [ { ... }, { ... } ],</a:t>
            </a:r>
            <a:endParaRPr lang="en-US" sz="1050" dirty="0"/>
          </a:p>
          <a:p>
            <a:pPr marL="0" indent="0">
              <a:buNone/>
            </a:pPr>
            <a:r>
              <a:rPr lang="en-US" sz="1050" dirty="0">
                <a:solidFill>
                  <a:srgbClr val="35A79C"/>
                </a:solidFill>
                <a:latin typeface="Consolas" pitchFamily="34" charset="0"/>
                <a:ea typeface="Consolas" pitchFamily="34" charset="-122"/>
                <a:cs typeface="Consolas" pitchFamily="34" charset="-120"/>
              </a:rPr>
              <a:t>  "count": 2,</a:t>
            </a:r>
            <a:endParaRPr lang="en-US" sz="1050" dirty="0"/>
          </a:p>
          <a:p>
            <a:pPr marL="0" indent="0">
              <a:buNone/>
            </a:pPr>
            <a:r>
              <a:rPr lang="en-US" sz="1050" dirty="0">
                <a:solidFill>
                  <a:srgbClr val="35A79C"/>
                </a:solidFill>
                <a:latin typeface="Consolas" pitchFamily="34" charset="0"/>
                <a:ea typeface="Consolas" pitchFamily="34" charset="-122"/>
                <a:cs typeface="Consolas" pitchFamily="34" charset="-120"/>
              </a:rPr>
              <a:t>  "has_more": true,</a:t>
            </a:r>
            <a:endParaRPr lang="en-US" sz="1050" dirty="0"/>
          </a:p>
          <a:p>
            <a:pPr marL="0" indent="0">
              <a:buNone/>
            </a:pPr>
            <a:r>
              <a:rPr lang="en-US" sz="1050" dirty="0">
                <a:solidFill>
                  <a:srgbClr val="35A79C"/>
                </a:solidFill>
                <a:latin typeface="Consolas" pitchFamily="34" charset="0"/>
                <a:ea typeface="Consolas" pitchFamily="34" charset="-122"/>
                <a:cs typeface="Consolas" pitchFamily="34" charset="-120"/>
              </a:rPr>
              <a:t>  "next_cursor": "eyJyb3dpZCI6MiwidHM..."</a:t>
            </a:r>
            <a:endParaRPr lang="en-US" sz="1050" dirty="0"/>
          </a:p>
          <a:p>
            <a:pPr marL="0" indent="0">
              <a:buNone/>
            </a:pPr>
            <a:r>
              <a:rPr lang="en-US" sz="1050" dirty="0">
                <a:solidFill>
                  <a:srgbClr val="D5DAE0"/>
                </a:solidFill>
                <a:latin typeface="Consolas" pitchFamily="34" charset="0"/>
                <a:ea typeface="Consolas" pitchFamily="34" charset="-122"/>
                <a:cs typeface="Consolas" pitchFamily="34" charset="-120"/>
              </a:rPr>
              <a:t>}</a:t>
            </a:r>
            <a:endParaRPr lang="en-US" sz="1050" dirty="0"/>
          </a:p>
        </p:txBody>
      </p:sp>
      <p:sp>
        <p:nvSpPr>
          <p:cNvPr id="7" name="card background">
            <a:extLst>
              <a:ext uri="{C183D7F6-B498-43B3-948B-1728B52AA6E4}">
                <adec:decorative xmlns:adec="http://schemas.microsoft.com/office/drawing/2017/decorative" val="1"/>
              </a:ext>
            </a:extLst>
          </p:cNvPr>
          <p:cNvSpPr/>
          <p:nvPr/>
        </p:nvSpPr>
        <p:spPr>
          <a:xfrm>
            <a:off x="5349240" y="1170432"/>
            <a:ext cx="3291840" cy="2286000"/>
          </a:xfrm>
          <a:prstGeom prst="roundRect">
            <a:avLst>
              <a:gd name="adj" fmla="val 240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8" name="Text 6"/>
          <p:cNvSpPr/>
          <p:nvPr/>
        </p:nvSpPr>
        <p:spPr>
          <a:xfrm>
            <a:off x="5559552" y="1280160"/>
            <a:ext cx="2880360" cy="292608"/>
          </a:xfrm>
          <a:prstGeom prst="rect">
            <a:avLst/>
          </a:prstGeom>
          <a:noFill/>
          <a:ln/>
        </p:spPr>
        <p:txBody>
          <a:bodyPr wrap="square" lIns="0" tIns="0" rIns="0" bIns="0" rtlCol="0" anchor="ctr"/>
          <a:lstStyle/>
          <a:p>
            <a:pPr marL="0" indent="0">
              <a:buNone/>
            </a:pPr>
            <a:r>
              <a:rPr lang="en-US" sz="1400" b="1" dirty="0">
                <a:solidFill>
                  <a:srgbClr val="E8722C"/>
                </a:solidFill>
                <a:latin typeface="Trebuchet MS" pitchFamily="34" charset="0"/>
                <a:ea typeface="Trebuchet MS" pitchFamily="34" charset="-122"/>
                <a:cs typeface="Trebuchet MS" pitchFamily="34" charset="-120"/>
              </a:rPr>
              <a:t>The three signals</a:t>
            </a:r>
            <a:endParaRPr lang="en-US" sz="1400" dirty="0"/>
          </a:p>
        </p:txBody>
      </p:sp>
      <p:sp>
        <p:nvSpPr>
          <p:cNvPr id="9" name="Text 7"/>
          <p:cNvSpPr/>
          <p:nvPr/>
        </p:nvSpPr>
        <p:spPr>
          <a:xfrm>
            <a:off x="5559552" y="1664208"/>
            <a:ext cx="2880360" cy="1645920"/>
          </a:xfrm>
          <a:prstGeom prst="rect">
            <a:avLst/>
          </a:prstGeom>
          <a:noFill/>
          <a:ln/>
        </p:spPr>
        <p:txBody>
          <a:bodyPr wrap="square" lIns="0" tIns="0" rIns="0" bIns="0" rtlCol="0" anchor="ctr"/>
          <a:lstStyle/>
          <a:p>
            <a:pPr marL="342900" indent="-342900">
              <a:spcAft>
                <a:spcPts val="900"/>
              </a:spcAft>
              <a:buSzPct val="100000"/>
              <a:buChar char="▪"/>
            </a:pPr>
            <a:r>
              <a:rPr lang="en-US" sz="1100" dirty="0">
                <a:solidFill>
                  <a:srgbClr val="D5DAE0"/>
                </a:solidFill>
                <a:latin typeface="Calibri" pitchFamily="34" charset="0"/>
                <a:ea typeface="Calibri" pitchFamily="34" charset="-122"/>
                <a:cs typeface="Calibri" pitchFamily="34" charset="-120"/>
              </a:rPr>
              <a:t>count — how many rows this page holds</a:t>
            </a:r>
            <a:endParaRPr lang="en-US" sz="1100" dirty="0"/>
          </a:p>
          <a:p>
            <a:pPr marL="342900" indent="-342900">
              <a:spcAft>
                <a:spcPts val="900"/>
              </a:spcAft>
              <a:buSzPct val="100000"/>
              <a:buChar char="▪"/>
            </a:pPr>
            <a:r>
              <a:rPr lang="en-US" sz="1100" dirty="0">
                <a:solidFill>
                  <a:srgbClr val="D5DAE0"/>
                </a:solidFill>
                <a:latin typeface="Calibri" pitchFamily="34" charset="0"/>
                <a:ea typeface="Calibri" pitchFamily="34" charset="-122"/>
                <a:cs typeface="Calibri" pitchFamily="34" charset="-120"/>
              </a:rPr>
              <a:t>has_more — true when the page came back full, so more may exist</a:t>
            </a:r>
            <a:endParaRPr lang="en-US" sz="1100" dirty="0"/>
          </a:p>
          <a:p>
            <a:pPr marL="342900" indent="-342900">
              <a:buSzPct val="100000"/>
              <a:buChar char="▪"/>
            </a:pPr>
            <a:r>
              <a:rPr lang="en-US" sz="1100" dirty="0">
                <a:solidFill>
                  <a:srgbClr val="D5DAE0"/>
                </a:solidFill>
                <a:latin typeface="Calibri" pitchFamily="34" charset="0"/>
                <a:ea typeface="Calibri" pitchFamily="34" charset="-122"/>
                <a:cs typeface="Calibri" pitchFamily="34" charset="-120"/>
              </a:rPr>
              <a:t>next_cursor — an opaque marker; hand it straight back to continue</a:t>
            </a:r>
            <a:endParaRPr lang="en-US" sz="1100" dirty="0"/>
          </a:p>
        </p:txBody>
      </p:sp>
      <p:sp>
        <p:nvSpPr>
          <p:cNvPr id="10" name="card background">
            <a:extLst>
              <a:ext uri="{C183D7F6-B498-43B3-948B-1728B52AA6E4}">
                <adec:decorative xmlns:adec="http://schemas.microsoft.com/office/drawing/2017/decorative" val="1"/>
              </a:ext>
            </a:extLst>
          </p:cNvPr>
          <p:cNvSpPr/>
          <p:nvPr/>
        </p:nvSpPr>
        <p:spPr>
          <a:xfrm>
            <a:off x="502920" y="3611880"/>
            <a:ext cx="1801368" cy="868680"/>
          </a:xfrm>
          <a:prstGeom prst="roundRect">
            <a:avLst>
              <a:gd name="adj" fmla="val 6316"/>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1" name="card top edge">
            <a:extLst>
              <a:ext uri="{C183D7F6-B498-43B3-948B-1728B52AA6E4}">
                <adec:decorative xmlns:adec="http://schemas.microsoft.com/office/drawing/2017/decorative" val="1"/>
              </a:ext>
            </a:extLst>
          </p:cNvPr>
          <p:cNvSpPr/>
          <p:nvPr/>
        </p:nvSpPr>
        <p:spPr>
          <a:xfrm>
            <a:off x="502920" y="3611880"/>
            <a:ext cx="1801368" cy="64008"/>
          </a:xfrm>
          <a:prstGeom prst="rect">
            <a:avLst/>
          </a:prstGeom>
          <a:solidFill>
            <a:srgbClr val="E8722C"/>
          </a:solidFill>
          <a:ln w="12700">
            <a:solidFill>
              <a:srgbClr val="E8722C"/>
            </a:solidFill>
            <a:prstDash val="solid"/>
          </a:ln>
        </p:spPr>
        <p:txBody>
          <a:bodyPr/>
          <a:lstStyle/>
          <a:p>
            <a:endParaRPr lang="en-SE"/>
          </a:p>
        </p:txBody>
      </p:sp>
      <p:sp>
        <p:nvSpPr>
          <p:cNvPr id="12" name="Text 10"/>
          <p:cNvSpPr/>
          <p:nvPr/>
        </p:nvSpPr>
        <p:spPr>
          <a:xfrm>
            <a:off x="649224" y="3794760"/>
            <a:ext cx="1508760" cy="310896"/>
          </a:xfrm>
          <a:prstGeom prst="rect">
            <a:avLst/>
          </a:prstGeom>
          <a:noFill/>
          <a:ln/>
        </p:spPr>
        <p:txBody>
          <a:bodyPr wrap="square" lIns="0" tIns="0" rIns="0" bIns="0" rtlCol="0" anchor="ctr"/>
          <a:lstStyle/>
          <a:p>
            <a:pPr marL="0" indent="0" algn="ctr">
              <a:buNone/>
            </a:pPr>
            <a:r>
              <a:rPr lang="en-US" sz="1300" b="1" dirty="0">
                <a:solidFill>
                  <a:srgbClr val="E8722C"/>
                </a:solidFill>
                <a:latin typeface="Trebuchet MS" pitchFamily="34" charset="0"/>
                <a:ea typeface="Trebuchet MS" pitchFamily="34" charset="-122"/>
                <a:cs typeface="Trebuchet MS" pitchFamily="34" charset="-120"/>
              </a:rPr>
              <a:t>Ask</a:t>
            </a:r>
            <a:endParaRPr lang="en-US" sz="1300" dirty="0"/>
          </a:p>
        </p:txBody>
      </p:sp>
      <p:sp>
        <p:nvSpPr>
          <p:cNvPr id="13" name="Text 11"/>
          <p:cNvSpPr/>
          <p:nvPr/>
        </p:nvSpPr>
        <p:spPr>
          <a:xfrm>
            <a:off x="630936" y="4123944"/>
            <a:ext cx="1545336" cy="246888"/>
          </a:xfrm>
          <a:prstGeom prst="rect">
            <a:avLst/>
          </a:prstGeom>
          <a:noFill/>
          <a:ln/>
        </p:spPr>
        <p:txBody>
          <a:bodyPr wrap="square" lIns="0" tIns="0" rIns="0" bIns="0" rtlCol="0" anchor="t"/>
          <a:lstStyle/>
          <a:p>
            <a:pPr marL="0" indent="0" algn="ctr">
              <a:buNone/>
            </a:pPr>
            <a:r>
              <a:rPr lang="en-US" sz="1050" dirty="0">
                <a:solidFill>
                  <a:srgbClr val="D5DAE0"/>
                </a:solidFill>
                <a:latin typeface="Calibri" pitchFamily="34" charset="0"/>
                <a:ea typeface="Calibri" pitchFamily="34" charset="-122"/>
                <a:cs typeface="Calibri" pitchFamily="34" charset="-120"/>
              </a:rPr>
              <a:t>Send a query with a page size</a:t>
            </a:r>
            <a:endParaRPr lang="en-US" sz="1050" dirty="0"/>
          </a:p>
        </p:txBody>
      </p:sp>
      <p:sp>
        <p:nvSpPr>
          <p:cNvPr id="14" name="Text 12"/>
          <p:cNvSpPr/>
          <p:nvPr/>
        </p:nvSpPr>
        <p:spPr>
          <a:xfrm>
            <a:off x="2304288" y="3826764"/>
            <a:ext cx="310896" cy="438912"/>
          </a:xfrm>
          <a:prstGeom prst="rect">
            <a:avLst/>
          </a:prstGeom>
          <a:noFill/>
          <a:ln/>
        </p:spPr>
        <p:txBody>
          <a:bodyPr wrap="square" lIns="0" tIns="0" rIns="0" bIns="0" rtlCol="0" anchor="ctr"/>
          <a:lstStyle/>
          <a:p>
            <a:pPr marL="0" indent="0" algn="ctr">
              <a:buNone/>
            </a:pPr>
            <a:r>
              <a:rPr lang="en-US" sz="2200" b="1" dirty="0">
                <a:solidFill>
                  <a:srgbClr val="E8722C"/>
                </a:solidFill>
                <a:latin typeface="Trebuchet MS" pitchFamily="34" charset="0"/>
                <a:ea typeface="Trebuchet MS" pitchFamily="34" charset="-122"/>
                <a:cs typeface="Trebuchet MS" pitchFamily="34" charset="-120"/>
              </a:rPr>
              <a:t>›</a:t>
            </a:r>
            <a:endParaRPr lang="en-US" sz="2200" dirty="0"/>
          </a:p>
        </p:txBody>
      </p:sp>
      <p:sp>
        <p:nvSpPr>
          <p:cNvPr id="15" name="card background">
            <a:extLst>
              <a:ext uri="{C183D7F6-B498-43B3-948B-1728B52AA6E4}">
                <adec:decorative xmlns:adec="http://schemas.microsoft.com/office/drawing/2017/decorative" val="1"/>
              </a:ext>
            </a:extLst>
          </p:cNvPr>
          <p:cNvSpPr/>
          <p:nvPr/>
        </p:nvSpPr>
        <p:spPr>
          <a:xfrm>
            <a:off x="2615184" y="3611880"/>
            <a:ext cx="1801368" cy="868680"/>
          </a:xfrm>
          <a:prstGeom prst="roundRect">
            <a:avLst>
              <a:gd name="adj" fmla="val 6316"/>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6" name="card top edge">
            <a:extLst>
              <a:ext uri="{C183D7F6-B498-43B3-948B-1728B52AA6E4}">
                <adec:decorative xmlns:adec="http://schemas.microsoft.com/office/drawing/2017/decorative" val="1"/>
              </a:ext>
            </a:extLst>
          </p:cNvPr>
          <p:cNvSpPr/>
          <p:nvPr/>
        </p:nvSpPr>
        <p:spPr>
          <a:xfrm>
            <a:off x="2615184" y="3611880"/>
            <a:ext cx="1801368" cy="64008"/>
          </a:xfrm>
          <a:prstGeom prst="rect">
            <a:avLst/>
          </a:prstGeom>
          <a:solidFill>
            <a:srgbClr val="35A79C"/>
          </a:solidFill>
          <a:ln w="12700">
            <a:solidFill>
              <a:srgbClr val="35A79C"/>
            </a:solidFill>
            <a:prstDash val="solid"/>
          </a:ln>
        </p:spPr>
        <p:txBody>
          <a:bodyPr/>
          <a:lstStyle/>
          <a:p>
            <a:endParaRPr lang="en-SE"/>
          </a:p>
        </p:txBody>
      </p:sp>
      <p:sp>
        <p:nvSpPr>
          <p:cNvPr id="17" name="Text 15"/>
          <p:cNvSpPr/>
          <p:nvPr/>
        </p:nvSpPr>
        <p:spPr>
          <a:xfrm>
            <a:off x="2761488" y="3794760"/>
            <a:ext cx="1508760" cy="310896"/>
          </a:xfrm>
          <a:prstGeom prst="rect">
            <a:avLst/>
          </a:prstGeom>
          <a:noFill/>
          <a:ln/>
        </p:spPr>
        <p:txBody>
          <a:bodyPr wrap="square" lIns="0" tIns="0" rIns="0" bIns="0" rtlCol="0" anchor="ctr"/>
          <a:lstStyle/>
          <a:p>
            <a:pPr marL="0" indent="0" algn="ctr">
              <a:buNone/>
            </a:pPr>
            <a:r>
              <a:rPr lang="en-US" sz="1300" b="1" dirty="0">
                <a:solidFill>
                  <a:srgbClr val="35A79C"/>
                </a:solidFill>
                <a:latin typeface="Trebuchet MS" pitchFamily="34" charset="0"/>
                <a:ea typeface="Trebuchet MS" pitchFamily="34" charset="-122"/>
                <a:cs typeface="Trebuchet MS" pitchFamily="34" charset="-120"/>
              </a:rPr>
              <a:t>Read</a:t>
            </a:r>
            <a:endParaRPr lang="en-US" sz="1300" dirty="0"/>
          </a:p>
        </p:txBody>
      </p:sp>
      <p:sp>
        <p:nvSpPr>
          <p:cNvPr id="18" name="Text 16"/>
          <p:cNvSpPr/>
          <p:nvPr/>
        </p:nvSpPr>
        <p:spPr>
          <a:xfrm>
            <a:off x="2743200" y="4123944"/>
            <a:ext cx="1545336" cy="246888"/>
          </a:xfrm>
          <a:prstGeom prst="rect">
            <a:avLst/>
          </a:prstGeom>
          <a:noFill/>
          <a:ln/>
        </p:spPr>
        <p:txBody>
          <a:bodyPr wrap="square" lIns="0" tIns="0" rIns="0" bIns="0" rtlCol="0" anchor="t"/>
          <a:lstStyle/>
          <a:p>
            <a:pPr marL="0" indent="0" algn="ctr">
              <a:buNone/>
            </a:pPr>
            <a:r>
              <a:rPr lang="en-US" sz="1050" dirty="0">
                <a:solidFill>
                  <a:srgbClr val="D5DAE0"/>
                </a:solidFill>
                <a:latin typeface="Calibri" pitchFamily="34" charset="0"/>
                <a:ea typeface="Calibri" pitchFamily="34" charset="-122"/>
                <a:cs typeface="Calibri" pitchFamily="34" charset="-120"/>
              </a:rPr>
              <a:t>Use the rows you received</a:t>
            </a:r>
            <a:endParaRPr lang="en-US" sz="1050" dirty="0"/>
          </a:p>
        </p:txBody>
      </p:sp>
      <p:sp>
        <p:nvSpPr>
          <p:cNvPr id="19" name="Text 17"/>
          <p:cNvSpPr/>
          <p:nvPr/>
        </p:nvSpPr>
        <p:spPr>
          <a:xfrm>
            <a:off x="4416552" y="3826764"/>
            <a:ext cx="310896" cy="438912"/>
          </a:xfrm>
          <a:prstGeom prst="rect">
            <a:avLst/>
          </a:prstGeom>
          <a:noFill/>
          <a:ln/>
        </p:spPr>
        <p:txBody>
          <a:bodyPr wrap="square" lIns="0" tIns="0" rIns="0" bIns="0" rtlCol="0" anchor="ctr"/>
          <a:lstStyle/>
          <a:p>
            <a:pPr marL="0" indent="0" algn="ctr">
              <a:buNone/>
            </a:pPr>
            <a:r>
              <a:rPr lang="en-US" sz="2200" b="1" dirty="0">
                <a:solidFill>
                  <a:srgbClr val="E8722C"/>
                </a:solidFill>
                <a:latin typeface="Trebuchet MS" pitchFamily="34" charset="0"/>
                <a:ea typeface="Trebuchet MS" pitchFamily="34" charset="-122"/>
                <a:cs typeface="Trebuchet MS" pitchFamily="34" charset="-120"/>
              </a:rPr>
              <a:t>›</a:t>
            </a:r>
            <a:endParaRPr lang="en-US" sz="2200" dirty="0"/>
          </a:p>
        </p:txBody>
      </p:sp>
      <p:sp>
        <p:nvSpPr>
          <p:cNvPr id="20" name="card background">
            <a:extLst>
              <a:ext uri="{C183D7F6-B498-43B3-948B-1728B52AA6E4}">
                <adec:decorative xmlns:adec="http://schemas.microsoft.com/office/drawing/2017/decorative" val="1"/>
              </a:ext>
            </a:extLst>
          </p:cNvPr>
          <p:cNvSpPr/>
          <p:nvPr/>
        </p:nvSpPr>
        <p:spPr>
          <a:xfrm>
            <a:off x="4727448" y="3611880"/>
            <a:ext cx="1801368" cy="868680"/>
          </a:xfrm>
          <a:prstGeom prst="roundRect">
            <a:avLst>
              <a:gd name="adj" fmla="val 6316"/>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21" name="card top edge">
            <a:extLst>
              <a:ext uri="{C183D7F6-B498-43B3-948B-1728B52AA6E4}">
                <adec:decorative xmlns:adec="http://schemas.microsoft.com/office/drawing/2017/decorative" val="1"/>
              </a:ext>
            </a:extLst>
          </p:cNvPr>
          <p:cNvSpPr/>
          <p:nvPr/>
        </p:nvSpPr>
        <p:spPr>
          <a:xfrm>
            <a:off x="4727448" y="3611880"/>
            <a:ext cx="1801368" cy="64008"/>
          </a:xfrm>
          <a:prstGeom prst="rect">
            <a:avLst/>
          </a:prstGeom>
          <a:solidFill>
            <a:srgbClr val="F2A65A"/>
          </a:solidFill>
          <a:ln w="12700">
            <a:solidFill>
              <a:srgbClr val="F2A65A"/>
            </a:solidFill>
            <a:prstDash val="solid"/>
          </a:ln>
        </p:spPr>
        <p:txBody>
          <a:bodyPr/>
          <a:lstStyle/>
          <a:p>
            <a:endParaRPr lang="en-SE"/>
          </a:p>
        </p:txBody>
      </p:sp>
      <p:sp>
        <p:nvSpPr>
          <p:cNvPr id="22" name="Text 20"/>
          <p:cNvSpPr/>
          <p:nvPr/>
        </p:nvSpPr>
        <p:spPr>
          <a:xfrm>
            <a:off x="4873752" y="3794760"/>
            <a:ext cx="1508760" cy="310896"/>
          </a:xfrm>
          <a:prstGeom prst="rect">
            <a:avLst/>
          </a:prstGeom>
          <a:noFill/>
          <a:ln/>
        </p:spPr>
        <p:txBody>
          <a:bodyPr wrap="square" lIns="0" tIns="0" rIns="0" bIns="0" rtlCol="0" anchor="ctr"/>
          <a:lstStyle/>
          <a:p>
            <a:pPr marL="0" indent="0" algn="ctr">
              <a:buNone/>
            </a:pPr>
            <a:r>
              <a:rPr lang="en-US" sz="1300" b="1" dirty="0">
                <a:solidFill>
                  <a:srgbClr val="F2A65A"/>
                </a:solidFill>
                <a:latin typeface="Trebuchet MS" pitchFamily="34" charset="0"/>
                <a:ea typeface="Trebuchet MS" pitchFamily="34" charset="-122"/>
                <a:cs typeface="Trebuchet MS" pitchFamily="34" charset="-120"/>
              </a:rPr>
              <a:t>Continue</a:t>
            </a:r>
            <a:endParaRPr lang="en-US" sz="1300" dirty="0"/>
          </a:p>
        </p:txBody>
      </p:sp>
      <p:sp>
        <p:nvSpPr>
          <p:cNvPr id="23" name="Text 21"/>
          <p:cNvSpPr/>
          <p:nvPr/>
        </p:nvSpPr>
        <p:spPr>
          <a:xfrm>
            <a:off x="4855464" y="4123944"/>
            <a:ext cx="1545336" cy="246888"/>
          </a:xfrm>
          <a:prstGeom prst="rect">
            <a:avLst/>
          </a:prstGeom>
          <a:noFill/>
          <a:ln/>
        </p:spPr>
        <p:txBody>
          <a:bodyPr wrap="square" lIns="0" tIns="0" rIns="0" bIns="0" rtlCol="0" anchor="t"/>
          <a:lstStyle/>
          <a:p>
            <a:pPr marL="0" indent="0" algn="ctr">
              <a:buNone/>
            </a:pPr>
            <a:r>
              <a:rPr lang="en-US" sz="1050" dirty="0">
                <a:solidFill>
                  <a:srgbClr val="D5DAE0"/>
                </a:solidFill>
                <a:latin typeface="Calibri" pitchFamily="34" charset="0"/>
                <a:ea typeface="Calibri" pitchFamily="34" charset="-122"/>
                <a:cs typeface="Calibri" pitchFamily="34" charset="-120"/>
              </a:rPr>
              <a:t>If more exist, resend with the cursor</a:t>
            </a:r>
            <a:endParaRPr lang="en-US" sz="1050" dirty="0"/>
          </a:p>
        </p:txBody>
      </p:sp>
      <p:sp>
        <p:nvSpPr>
          <p:cNvPr id="24" name="Text 22"/>
          <p:cNvSpPr/>
          <p:nvPr/>
        </p:nvSpPr>
        <p:spPr>
          <a:xfrm>
            <a:off x="6528816" y="3826764"/>
            <a:ext cx="310896" cy="438912"/>
          </a:xfrm>
          <a:prstGeom prst="rect">
            <a:avLst/>
          </a:prstGeom>
          <a:noFill/>
          <a:ln/>
        </p:spPr>
        <p:txBody>
          <a:bodyPr wrap="square" lIns="0" tIns="0" rIns="0" bIns="0" rtlCol="0" anchor="ctr"/>
          <a:lstStyle/>
          <a:p>
            <a:pPr marL="0" indent="0" algn="ctr">
              <a:buNone/>
            </a:pPr>
            <a:r>
              <a:rPr lang="en-US" sz="2200" b="1" dirty="0">
                <a:solidFill>
                  <a:srgbClr val="E8722C"/>
                </a:solidFill>
                <a:latin typeface="Trebuchet MS" pitchFamily="34" charset="0"/>
                <a:ea typeface="Trebuchet MS" pitchFamily="34" charset="-122"/>
                <a:cs typeface="Trebuchet MS" pitchFamily="34" charset="-120"/>
              </a:rPr>
              <a:t>›</a:t>
            </a:r>
            <a:endParaRPr lang="en-US" sz="2200" dirty="0"/>
          </a:p>
        </p:txBody>
      </p:sp>
      <p:sp>
        <p:nvSpPr>
          <p:cNvPr id="25" name="card background">
            <a:extLst>
              <a:ext uri="{C183D7F6-B498-43B3-948B-1728B52AA6E4}">
                <adec:decorative xmlns:adec="http://schemas.microsoft.com/office/drawing/2017/decorative" val="1"/>
              </a:ext>
            </a:extLst>
          </p:cNvPr>
          <p:cNvSpPr/>
          <p:nvPr/>
        </p:nvSpPr>
        <p:spPr>
          <a:xfrm>
            <a:off x="6839712" y="3611880"/>
            <a:ext cx="1801368" cy="868680"/>
          </a:xfrm>
          <a:prstGeom prst="roundRect">
            <a:avLst>
              <a:gd name="adj" fmla="val 6316"/>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26" name="card top edge">
            <a:extLst>
              <a:ext uri="{C183D7F6-B498-43B3-948B-1728B52AA6E4}">
                <adec:decorative xmlns:adec="http://schemas.microsoft.com/office/drawing/2017/decorative" val="1"/>
              </a:ext>
            </a:extLst>
          </p:cNvPr>
          <p:cNvSpPr/>
          <p:nvPr/>
        </p:nvSpPr>
        <p:spPr>
          <a:xfrm>
            <a:off x="6839712" y="3611880"/>
            <a:ext cx="1801368" cy="64008"/>
          </a:xfrm>
          <a:prstGeom prst="rect">
            <a:avLst/>
          </a:prstGeom>
          <a:solidFill>
            <a:srgbClr val="8B7BD8"/>
          </a:solidFill>
          <a:ln w="12700">
            <a:solidFill>
              <a:srgbClr val="8B7BD8"/>
            </a:solidFill>
            <a:prstDash val="solid"/>
          </a:ln>
        </p:spPr>
        <p:txBody>
          <a:bodyPr/>
          <a:lstStyle/>
          <a:p>
            <a:endParaRPr lang="en-SE"/>
          </a:p>
        </p:txBody>
      </p:sp>
      <p:sp>
        <p:nvSpPr>
          <p:cNvPr id="27" name="Text 25"/>
          <p:cNvSpPr/>
          <p:nvPr/>
        </p:nvSpPr>
        <p:spPr>
          <a:xfrm>
            <a:off x="6986016" y="3794760"/>
            <a:ext cx="1508760" cy="310896"/>
          </a:xfrm>
          <a:prstGeom prst="rect">
            <a:avLst/>
          </a:prstGeom>
          <a:noFill/>
          <a:ln/>
        </p:spPr>
        <p:txBody>
          <a:bodyPr wrap="square" lIns="0" tIns="0" rIns="0" bIns="0" rtlCol="0" anchor="ctr"/>
          <a:lstStyle/>
          <a:p>
            <a:pPr marL="0" indent="0" algn="ctr">
              <a:buNone/>
            </a:pPr>
            <a:r>
              <a:rPr lang="en-US" sz="1300" b="1" dirty="0">
                <a:solidFill>
                  <a:srgbClr val="8B7BD8"/>
                </a:solidFill>
                <a:latin typeface="Trebuchet MS" pitchFamily="34" charset="0"/>
                <a:ea typeface="Trebuchet MS" pitchFamily="34" charset="-122"/>
                <a:cs typeface="Trebuchet MS" pitchFamily="34" charset="-120"/>
              </a:rPr>
              <a:t>Stop</a:t>
            </a:r>
            <a:endParaRPr lang="en-US" sz="1300" dirty="0"/>
          </a:p>
        </p:txBody>
      </p:sp>
      <p:sp>
        <p:nvSpPr>
          <p:cNvPr id="28" name="Text 26"/>
          <p:cNvSpPr/>
          <p:nvPr/>
        </p:nvSpPr>
        <p:spPr>
          <a:xfrm>
            <a:off x="6967728" y="4123944"/>
            <a:ext cx="1545336" cy="246888"/>
          </a:xfrm>
          <a:prstGeom prst="rect">
            <a:avLst/>
          </a:prstGeom>
          <a:noFill/>
          <a:ln/>
        </p:spPr>
        <p:txBody>
          <a:bodyPr wrap="square" lIns="0" tIns="0" rIns="0" bIns="0" rtlCol="0" anchor="t"/>
          <a:lstStyle/>
          <a:p>
            <a:pPr marL="0" indent="0" algn="ctr">
              <a:buNone/>
            </a:pPr>
            <a:r>
              <a:rPr lang="en-US" sz="1050" dirty="0">
                <a:solidFill>
                  <a:srgbClr val="D5DAE0"/>
                </a:solidFill>
                <a:latin typeface="Calibri" pitchFamily="34" charset="0"/>
                <a:ea typeface="Calibri" pitchFamily="34" charset="-122"/>
                <a:cs typeface="Calibri" pitchFamily="34" charset="-120"/>
              </a:rPr>
              <a:t>When no more is reported, you have everything</a:t>
            </a:r>
            <a:endParaRPr lang="en-US" sz="1050" dirty="0"/>
          </a:p>
        </p:txBody>
      </p:sp>
      <p:sp>
        <p:nvSpPr>
          <p:cNvPr id="29" name="Text 27"/>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The shape of the data</a:t>
            </a:r>
            <a:endParaRPr lang="en-US" sz="900" dirty="0"/>
          </a:p>
        </p:txBody>
      </p:sp>
      <p:sp>
        <p:nvSpPr>
          <p:cNvPr id="30" name="Text 28"/>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45</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8138160" cy="548640"/>
          </a:xfrm>
          <a:prstGeom prst="rect">
            <a:avLst/>
          </a:prstGeom>
          <a:noFill/>
          <a:ln/>
        </p:spPr>
        <p:txBody>
          <a:bodyPr wrap="square" lIns="0" tIns="0" rIns="0" bIns="0" rtlCol="0" anchor="ctr"/>
          <a:lstStyle/>
          <a:p>
            <a:pPr marL="0" indent="0">
              <a:buNone/>
            </a:pPr>
            <a:r>
              <a:rPr lang="en-US" sz="2700" b="1" dirty="0">
                <a:solidFill>
                  <a:srgbClr val="F3F5F7"/>
                </a:solidFill>
                <a:latin typeface="Trebuchet MS" pitchFamily="34" charset="0"/>
                <a:ea typeface="Trebuchet MS" pitchFamily="34" charset="-122"/>
                <a:cs typeface="Trebuchet MS" pitchFamily="34" charset="-120"/>
              </a:rPr>
              <a:t>Why cursors, not page numbers</a:t>
            </a:r>
            <a:endParaRPr lang="en-US" sz="2700" dirty="0"/>
          </a:p>
        </p:txBody>
      </p:sp>
      <p:sp>
        <p:nvSpPr>
          <p:cNvPr id="3" name="Text 1"/>
          <p:cNvSpPr/>
          <p:nvPr/>
        </p:nvSpPr>
        <p:spPr>
          <a:xfrm>
            <a:off x="502920" y="841248"/>
            <a:ext cx="8138160" cy="237744"/>
          </a:xfrm>
          <a:prstGeom prst="rect">
            <a:avLst/>
          </a:prstGeom>
          <a:noFill/>
          <a:ln/>
        </p:spPr>
        <p:txBody>
          <a:bodyPr wrap="square" lIns="0" tIns="0" rIns="0" bIns="0" rtlCol="0" anchor="ctr"/>
          <a:lstStyle/>
          <a:p>
            <a:pPr marL="0" indent="0">
              <a:buNone/>
            </a:pPr>
            <a:r>
              <a:rPr lang="en-US" sz="1100" b="1" kern="0" spc="200" dirty="0">
                <a:solidFill>
                  <a:srgbClr val="E8722C"/>
                </a:solidFill>
                <a:latin typeface="Calibri" pitchFamily="34" charset="0"/>
                <a:ea typeface="Calibri" pitchFamily="34" charset="-122"/>
                <a:cs typeface="Calibri" pitchFamily="34" charset="-120"/>
              </a:rPr>
              <a:t>SHAPE 3 CONTINUED</a:t>
            </a:r>
            <a:endParaRPr lang="en-US" sz="1100" dirty="0"/>
          </a:p>
        </p:txBody>
      </p:sp>
      <p:sp>
        <p:nvSpPr>
          <p:cNvPr id="4" name="card background">
            <a:extLst>
              <a:ext uri="{C183D7F6-B498-43B3-948B-1728B52AA6E4}">
                <adec:decorative xmlns:adec="http://schemas.microsoft.com/office/drawing/2017/decorative" val="1"/>
              </a:ext>
            </a:extLst>
          </p:cNvPr>
          <p:cNvSpPr/>
          <p:nvPr/>
        </p:nvSpPr>
        <p:spPr>
          <a:xfrm>
            <a:off x="502920" y="1234440"/>
            <a:ext cx="3959352" cy="2286000"/>
          </a:xfrm>
          <a:prstGeom prst="roundRect">
            <a:avLst>
              <a:gd name="adj" fmla="val 240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5" name="card top edge">
            <a:extLst>
              <a:ext uri="{C183D7F6-B498-43B3-948B-1728B52AA6E4}">
                <adec:decorative xmlns:adec="http://schemas.microsoft.com/office/drawing/2017/decorative" val="1"/>
              </a:ext>
            </a:extLst>
          </p:cNvPr>
          <p:cNvSpPr/>
          <p:nvPr/>
        </p:nvSpPr>
        <p:spPr>
          <a:xfrm>
            <a:off x="502920" y="1234440"/>
            <a:ext cx="3959352" cy="73152"/>
          </a:xfrm>
          <a:prstGeom prst="rect">
            <a:avLst/>
          </a:prstGeom>
          <a:solidFill>
            <a:srgbClr val="D9534F"/>
          </a:solidFill>
          <a:ln w="12700">
            <a:solidFill>
              <a:srgbClr val="D9534F"/>
            </a:solidFill>
            <a:prstDash val="solid"/>
          </a:ln>
        </p:spPr>
        <p:txBody>
          <a:bodyPr/>
          <a:lstStyle/>
          <a:p>
            <a:endParaRPr lang="en-SE"/>
          </a:p>
        </p:txBody>
      </p:sp>
      <p:sp>
        <p:nvSpPr>
          <p:cNvPr id="6" name="Text 4"/>
          <p:cNvSpPr/>
          <p:nvPr/>
        </p:nvSpPr>
        <p:spPr>
          <a:xfrm>
            <a:off x="740664" y="1453896"/>
            <a:ext cx="3502152" cy="365760"/>
          </a:xfrm>
          <a:prstGeom prst="rect">
            <a:avLst/>
          </a:prstGeom>
          <a:noFill/>
          <a:ln/>
        </p:spPr>
        <p:txBody>
          <a:bodyPr wrap="square" lIns="0" tIns="0" rIns="0" bIns="0" rtlCol="0" anchor="ctr"/>
          <a:lstStyle/>
          <a:p>
            <a:pPr marL="0" indent="0">
              <a:buNone/>
            </a:pPr>
            <a:r>
              <a:rPr lang="en-US" sz="1700" b="1" dirty="0">
                <a:solidFill>
                  <a:srgbClr val="D9534F"/>
                </a:solidFill>
                <a:latin typeface="Trebuchet MS" pitchFamily="34" charset="0"/>
                <a:ea typeface="Trebuchet MS" pitchFamily="34" charset="-122"/>
                <a:cs typeface="Trebuchet MS" pitchFamily="34" charset="-120"/>
              </a:rPr>
              <a:t>The trap with page numbers</a:t>
            </a:r>
            <a:endParaRPr lang="en-US" sz="1700" dirty="0"/>
          </a:p>
        </p:txBody>
      </p:sp>
      <p:sp>
        <p:nvSpPr>
          <p:cNvPr id="7" name="Text 5"/>
          <p:cNvSpPr/>
          <p:nvPr/>
        </p:nvSpPr>
        <p:spPr>
          <a:xfrm>
            <a:off x="740664" y="1929384"/>
            <a:ext cx="3502152" cy="1408176"/>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New rows are written while you are reading</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Everything shifts down by one position</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Page two now repeats a row you already saw — or skips one</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Nobody notices until the totals disagree</a:t>
            </a:r>
            <a:endParaRPr lang="en-US" sz="1150" dirty="0"/>
          </a:p>
        </p:txBody>
      </p:sp>
      <p:sp>
        <p:nvSpPr>
          <p:cNvPr id="8" name="card background">
            <a:extLst>
              <a:ext uri="{C183D7F6-B498-43B3-948B-1728B52AA6E4}">
                <adec:decorative xmlns:adec="http://schemas.microsoft.com/office/drawing/2017/decorative" val="1"/>
              </a:ext>
            </a:extLst>
          </p:cNvPr>
          <p:cNvSpPr/>
          <p:nvPr/>
        </p:nvSpPr>
        <p:spPr>
          <a:xfrm>
            <a:off x="4681728" y="1234440"/>
            <a:ext cx="3959352" cy="2286000"/>
          </a:xfrm>
          <a:prstGeom prst="roundRect">
            <a:avLst>
              <a:gd name="adj" fmla="val 240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9" name="card top edge">
            <a:extLst>
              <a:ext uri="{C183D7F6-B498-43B3-948B-1728B52AA6E4}">
                <adec:decorative xmlns:adec="http://schemas.microsoft.com/office/drawing/2017/decorative" val="1"/>
              </a:ext>
            </a:extLst>
          </p:cNvPr>
          <p:cNvSpPr/>
          <p:nvPr/>
        </p:nvSpPr>
        <p:spPr>
          <a:xfrm>
            <a:off x="4681728" y="1234440"/>
            <a:ext cx="3959352" cy="73152"/>
          </a:xfrm>
          <a:prstGeom prst="rect">
            <a:avLst/>
          </a:prstGeom>
          <a:solidFill>
            <a:srgbClr val="35A79C"/>
          </a:solidFill>
          <a:ln w="12700">
            <a:solidFill>
              <a:srgbClr val="35A79C"/>
            </a:solidFill>
            <a:prstDash val="solid"/>
          </a:ln>
        </p:spPr>
        <p:txBody>
          <a:bodyPr/>
          <a:lstStyle/>
          <a:p>
            <a:endParaRPr lang="en-SE"/>
          </a:p>
        </p:txBody>
      </p:sp>
      <p:sp>
        <p:nvSpPr>
          <p:cNvPr id="10" name="Text 8"/>
          <p:cNvSpPr/>
          <p:nvPr/>
        </p:nvSpPr>
        <p:spPr>
          <a:xfrm>
            <a:off x="4919472" y="1453896"/>
            <a:ext cx="3502152" cy="365760"/>
          </a:xfrm>
          <a:prstGeom prst="rect">
            <a:avLst/>
          </a:prstGeom>
          <a:noFill/>
          <a:ln/>
        </p:spPr>
        <p:txBody>
          <a:bodyPr wrap="square" lIns="0" tIns="0" rIns="0" bIns="0" rtlCol="0" anchor="ctr"/>
          <a:lstStyle/>
          <a:p>
            <a:pPr marL="0" indent="0">
              <a:buNone/>
            </a:pPr>
            <a:r>
              <a:rPr lang="en-US" sz="1700" b="1" dirty="0">
                <a:solidFill>
                  <a:srgbClr val="35A79C"/>
                </a:solidFill>
                <a:latin typeface="Trebuchet MS" pitchFamily="34" charset="0"/>
                <a:ea typeface="Trebuchet MS" pitchFamily="34" charset="-122"/>
                <a:cs typeface="Trebuchet MS" pitchFamily="34" charset="-120"/>
              </a:rPr>
              <a:t>How cursors avoid it</a:t>
            </a:r>
            <a:endParaRPr lang="en-US" sz="1700" dirty="0"/>
          </a:p>
        </p:txBody>
      </p:sp>
      <p:sp>
        <p:nvSpPr>
          <p:cNvPr id="11" name="Text 9"/>
          <p:cNvSpPr/>
          <p:nvPr/>
        </p:nvSpPr>
        <p:spPr>
          <a:xfrm>
            <a:off x="4919472" y="1929384"/>
            <a:ext cx="3502152" cy="1408176"/>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The cursor remembers where you stopped, not how far you counted</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The next page continues from that exact point</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No duplicates and no gaps, even under live writing</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Treat the cursor as opaque — never take it apart</a:t>
            </a:r>
            <a:endParaRPr lang="en-US" sz="1150" dirty="0"/>
          </a:p>
        </p:txBody>
      </p:sp>
      <p:sp>
        <p:nvSpPr>
          <p:cNvPr id="12" name="card background">
            <a:extLst>
              <a:ext uri="{C183D7F6-B498-43B3-948B-1728B52AA6E4}">
                <adec:decorative xmlns:adec="http://schemas.microsoft.com/office/drawing/2017/decorative" val="1"/>
              </a:ext>
            </a:extLst>
          </p:cNvPr>
          <p:cNvSpPr/>
          <p:nvPr/>
        </p:nvSpPr>
        <p:spPr>
          <a:xfrm>
            <a:off x="502920" y="3703320"/>
            <a:ext cx="8138160" cy="777240"/>
          </a:xfrm>
          <a:prstGeom prst="roundRect">
            <a:avLst>
              <a:gd name="adj" fmla="val 7059"/>
            </a:avLst>
          </a:prstGeom>
          <a:solidFill>
            <a:srgbClr val="2E353D"/>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3" name="Text 11"/>
          <p:cNvSpPr/>
          <p:nvPr/>
        </p:nvSpPr>
        <p:spPr>
          <a:xfrm>
            <a:off x="713232" y="3785616"/>
            <a:ext cx="7680960" cy="621792"/>
          </a:xfrm>
          <a:prstGeom prst="rect">
            <a:avLst/>
          </a:prstGeom>
          <a:noFill/>
          <a:ln/>
        </p:spPr>
        <p:txBody>
          <a:bodyPr wrap="square" lIns="0" tIns="0" rIns="0" bIns="0" rtlCol="0" anchor="ctr"/>
          <a:lstStyle/>
          <a:p>
            <a:pPr marL="0" indent="0">
              <a:buNone/>
            </a:pPr>
            <a:r>
              <a:rPr lang="en-US" sz="1150" dirty="0">
                <a:solidFill>
                  <a:srgbClr val="D5DAE0"/>
                </a:solidFill>
                <a:latin typeface="Calibri" pitchFamily="34" charset="0"/>
                <a:ea typeface="Calibri" pitchFamily="34" charset="-122"/>
                <a:cs typeface="Calibri" pitchFamily="34" charset="-120"/>
              </a:rPr>
              <a:t>Three exceptions: a single order's full lifecycle, the list of index identifiers, and the index audit log are all returned complete, with no paging. Each is naturally small or naturally bounded by its own limit.</a:t>
            </a:r>
            <a:endParaRPr lang="en-US" sz="1150" dirty="0"/>
          </a:p>
        </p:txBody>
      </p:sp>
      <p:sp>
        <p:nvSpPr>
          <p:cNvPr id="14" name="Text 12"/>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The shape of the data</a:t>
            </a:r>
            <a:endParaRPr lang="en-US" sz="900" dirty="0"/>
          </a:p>
        </p:txBody>
      </p:sp>
      <p:sp>
        <p:nvSpPr>
          <p:cNvPr id="15" name="Text 13"/>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46</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8138160" cy="548640"/>
          </a:xfrm>
          <a:prstGeom prst="rect">
            <a:avLst/>
          </a:prstGeom>
          <a:noFill/>
          <a:ln/>
        </p:spPr>
        <p:txBody>
          <a:bodyPr wrap="square" lIns="0" tIns="0" rIns="0" bIns="0" rtlCol="0" anchor="ctr"/>
          <a:lstStyle/>
          <a:p>
            <a:pPr marL="0" indent="0">
              <a:buNone/>
            </a:pPr>
            <a:r>
              <a:rPr lang="en-US" sz="2700" b="1" dirty="0">
                <a:solidFill>
                  <a:srgbClr val="F3F5F7"/>
                </a:solidFill>
                <a:latin typeface="Trebuchet MS" pitchFamily="34" charset="0"/>
                <a:ea typeface="Trebuchet MS" pitchFamily="34" charset="-122"/>
                <a:cs typeface="Trebuchet MS" pitchFamily="34" charset="-120"/>
              </a:rPr>
              <a:t>Events look the same every time</a:t>
            </a:r>
            <a:endParaRPr lang="en-US" sz="2700" dirty="0"/>
          </a:p>
        </p:txBody>
      </p:sp>
      <p:sp>
        <p:nvSpPr>
          <p:cNvPr id="3" name="Text 1"/>
          <p:cNvSpPr/>
          <p:nvPr/>
        </p:nvSpPr>
        <p:spPr>
          <a:xfrm>
            <a:off x="502920" y="841248"/>
            <a:ext cx="8138160" cy="237744"/>
          </a:xfrm>
          <a:prstGeom prst="rect">
            <a:avLst/>
          </a:prstGeom>
          <a:noFill/>
          <a:ln/>
        </p:spPr>
        <p:txBody>
          <a:bodyPr wrap="square" lIns="0" tIns="0" rIns="0" bIns="0" rtlCol="0" anchor="ctr"/>
          <a:lstStyle/>
          <a:p>
            <a:pPr marL="0" indent="0">
              <a:buNone/>
            </a:pPr>
            <a:r>
              <a:rPr lang="en-US" sz="1100" b="1" kern="0" spc="200" dirty="0">
                <a:solidFill>
                  <a:srgbClr val="E8722C"/>
                </a:solidFill>
                <a:latin typeface="Calibri" pitchFamily="34" charset="0"/>
                <a:ea typeface="Calibri" pitchFamily="34" charset="-122"/>
                <a:cs typeface="Calibri" pitchFamily="34" charset="-120"/>
              </a:rPr>
              <a:t>SHAPE 4</a:t>
            </a:r>
            <a:endParaRPr lang="en-US" sz="1100" dirty="0"/>
          </a:p>
        </p:txBody>
      </p:sp>
      <p:sp>
        <p:nvSpPr>
          <p:cNvPr id="4" name="code panel">
            <a:extLst>
              <a:ext uri="{C183D7F6-B498-43B3-948B-1728B52AA6E4}">
                <adec:decorative xmlns:adec="http://schemas.microsoft.com/office/drawing/2017/decorative" val="1"/>
              </a:ext>
            </a:extLst>
          </p:cNvPr>
          <p:cNvSpPr/>
          <p:nvPr/>
        </p:nvSpPr>
        <p:spPr>
          <a:xfrm>
            <a:off x="502920" y="1170432"/>
            <a:ext cx="4663440" cy="2377440"/>
          </a:xfrm>
          <a:prstGeom prst="roundRect">
            <a:avLst>
              <a:gd name="adj" fmla="val 1923"/>
            </a:avLst>
          </a:prstGeom>
          <a:solidFill>
            <a:srgbClr val="121519"/>
          </a:solidFill>
          <a:ln w="12700">
            <a:solidFill>
              <a:srgbClr val="3A424B"/>
            </a:solidFill>
            <a:prstDash val="solid"/>
          </a:ln>
        </p:spPr>
        <p:txBody>
          <a:bodyPr/>
          <a:lstStyle/>
          <a:p>
            <a:endParaRPr lang="en-SE"/>
          </a:p>
        </p:txBody>
      </p:sp>
      <p:sp>
        <p:nvSpPr>
          <p:cNvPr id="5" name="code panel edge">
            <a:extLst>
              <a:ext uri="{C183D7F6-B498-43B3-948B-1728B52AA6E4}">
                <adec:decorative xmlns:adec="http://schemas.microsoft.com/office/drawing/2017/decorative" val="1"/>
              </a:ext>
            </a:extLst>
          </p:cNvPr>
          <p:cNvSpPr/>
          <p:nvPr/>
        </p:nvSpPr>
        <p:spPr>
          <a:xfrm>
            <a:off x="502920" y="1170432"/>
            <a:ext cx="54864" cy="2377440"/>
          </a:xfrm>
          <a:prstGeom prst="rect">
            <a:avLst/>
          </a:prstGeom>
          <a:solidFill>
            <a:srgbClr val="E8722C"/>
          </a:solidFill>
          <a:ln w="12700">
            <a:solidFill>
              <a:srgbClr val="E8722C"/>
            </a:solidFill>
            <a:prstDash val="solid"/>
          </a:ln>
        </p:spPr>
        <p:txBody>
          <a:bodyPr/>
          <a:lstStyle/>
          <a:p>
            <a:endParaRPr lang="en-SE"/>
          </a:p>
        </p:txBody>
      </p:sp>
      <p:sp>
        <p:nvSpPr>
          <p:cNvPr id="6" name="Text 4"/>
          <p:cNvSpPr/>
          <p:nvPr/>
        </p:nvSpPr>
        <p:spPr>
          <a:xfrm>
            <a:off x="704088" y="1298448"/>
            <a:ext cx="4297680" cy="2121408"/>
          </a:xfrm>
          <a:prstGeom prst="rect">
            <a:avLst/>
          </a:prstGeom>
          <a:noFill/>
          <a:ln/>
        </p:spPr>
        <p:txBody>
          <a:bodyPr wrap="square" lIns="0" tIns="0" rIns="0" bIns="0" rtlCol="0" anchor="t"/>
          <a:lstStyle/>
          <a:p>
            <a:pPr marL="0" indent="0">
              <a:buNone/>
            </a:pPr>
            <a:r>
              <a:rPr lang="en-US" sz="1050" dirty="0">
                <a:solidFill>
                  <a:srgbClr val="D5DAE0"/>
                </a:solidFill>
                <a:latin typeface="Consolas" pitchFamily="34" charset="0"/>
                <a:ea typeface="Consolas" pitchFamily="34" charset="-122"/>
                <a:cs typeface="Consolas" pitchFamily="34" charset="-120"/>
              </a:rPr>
              <a:t>{</a:t>
            </a:r>
            <a:endParaRPr lang="en-US" sz="1050" dirty="0"/>
          </a:p>
          <a:p>
            <a:pPr marL="0" indent="0">
              <a:buNone/>
            </a:pPr>
            <a:r>
              <a:rPr lang="en-US" sz="1050" b="1" dirty="0">
                <a:solidFill>
                  <a:srgbClr val="E8722C"/>
                </a:solidFill>
                <a:latin typeface="Consolas" pitchFamily="34" charset="0"/>
                <a:ea typeface="Consolas" pitchFamily="34" charset="-122"/>
                <a:cs typeface="Consolas" pitchFamily="34" charset="-120"/>
              </a:rPr>
              <a:t>  "type": "order.fill",</a:t>
            </a:r>
            <a:endParaRPr lang="en-US" sz="1050" dirty="0"/>
          </a:p>
          <a:p>
            <a:pPr marL="0" indent="0">
              <a:buNone/>
            </a:pPr>
            <a:r>
              <a:rPr lang="en-US" sz="1050" dirty="0">
                <a:solidFill>
                  <a:srgbClr val="35A79C"/>
                </a:solidFill>
                <a:latin typeface="Consolas" pitchFamily="34" charset="0"/>
                <a:ea typeface="Consolas" pitchFamily="34" charset="-122"/>
                <a:cs typeface="Consolas" pitchFamily="34" charset="-120"/>
              </a:rPr>
              <a:t>  "ts": "2026-06-24T10:15:03.221Z",</a:t>
            </a:r>
            <a:endParaRPr lang="en-US" sz="1050" dirty="0"/>
          </a:p>
          <a:p>
            <a:pPr marL="0" indent="0">
              <a:buNone/>
            </a:pPr>
            <a:r>
              <a:rPr lang="en-US" sz="1050" dirty="0">
                <a:solidFill>
                  <a:srgbClr val="35A79C"/>
                </a:solidFill>
                <a:latin typeface="Consolas" pitchFamily="34" charset="0"/>
                <a:ea typeface="Consolas" pitchFamily="34" charset="-122"/>
                <a:cs typeface="Consolas" pitchFamily="34" charset="-120"/>
              </a:rPr>
              <a:t>  "gateway_id": "TRADER01",</a:t>
            </a:r>
            <a:endParaRPr lang="en-US" sz="1050" dirty="0"/>
          </a:p>
          <a:p>
            <a:pPr marL="0" indent="0">
              <a:buNone/>
            </a:pPr>
            <a:r>
              <a:rPr lang="en-US" sz="1050" dirty="0">
                <a:solidFill>
                  <a:srgbClr val="D5DAE0"/>
                </a:solidFill>
                <a:latin typeface="Consolas" pitchFamily="34" charset="0"/>
                <a:ea typeface="Consolas" pitchFamily="34" charset="-122"/>
                <a:cs typeface="Consolas" pitchFamily="34" charset="-120"/>
              </a:rPr>
              <a:t>  "data": {</a:t>
            </a:r>
            <a:endParaRPr lang="en-US" sz="1050" dirty="0"/>
          </a:p>
          <a:p>
            <a:pPr marL="0" indent="0">
              <a:buNone/>
            </a:pPr>
            <a:r>
              <a:rPr lang="en-US" sz="1050" dirty="0">
                <a:solidFill>
                  <a:srgbClr val="D5DAE0"/>
                </a:solidFill>
                <a:latin typeface="Consolas" pitchFamily="34" charset="0"/>
                <a:ea typeface="Consolas" pitchFamily="34" charset="-122"/>
                <a:cs typeface="Consolas" pitchFamily="34" charset="-120"/>
              </a:rPr>
              <a:t>    "order_id": "ORD-...",</a:t>
            </a:r>
            <a:endParaRPr lang="en-US" sz="1050" dirty="0"/>
          </a:p>
          <a:p>
            <a:pPr marL="0" indent="0">
              <a:buNone/>
            </a:pPr>
            <a:r>
              <a:rPr lang="en-US" sz="1050" dirty="0">
                <a:solidFill>
                  <a:srgbClr val="D5DAE0"/>
                </a:solidFill>
                <a:latin typeface="Consolas" pitchFamily="34" charset="0"/>
                <a:ea typeface="Consolas" pitchFamily="34" charset="-122"/>
                <a:cs typeface="Consolas" pitchFamily="34" charset="-120"/>
              </a:rPr>
              <a:t>    "fill_qty": 50,</a:t>
            </a:r>
            <a:endParaRPr lang="en-US" sz="1050" dirty="0"/>
          </a:p>
          <a:p>
            <a:pPr marL="0" indent="0">
              <a:buNone/>
            </a:pPr>
            <a:r>
              <a:rPr lang="en-US" sz="1050" dirty="0">
                <a:solidFill>
                  <a:srgbClr val="D5DAE0"/>
                </a:solidFill>
                <a:latin typeface="Consolas" pitchFamily="34" charset="0"/>
                <a:ea typeface="Consolas" pitchFamily="34" charset="-122"/>
                <a:cs typeface="Consolas" pitchFamily="34" charset="-120"/>
              </a:rPr>
              <a:t>    "fill_price": 150.50,</a:t>
            </a:r>
            <a:endParaRPr lang="en-US" sz="1050" dirty="0"/>
          </a:p>
          <a:p>
            <a:pPr marL="0" indent="0">
              <a:buNone/>
            </a:pPr>
            <a:r>
              <a:rPr lang="en-US" sz="1050" dirty="0">
                <a:solidFill>
                  <a:srgbClr val="D5DAE0"/>
                </a:solidFill>
                <a:latin typeface="Consolas" pitchFamily="34" charset="0"/>
                <a:ea typeface="Consolas" pitchFamily="34" charset="-122"/>
                <a:cs typeface="Consolas" pitchFamily="34" charset="-120"/>
              </a:rPr>
              <a:t>    "remaining_qty": 50,</a:t>
            </a:r>
            <a:endParaRPr lang="en-US" sz="1050" dirty="0"/>
          </a:p>
          <a:p>
            <a:pPr marL="0" indent="0">
              <a:buNone/>
            </a:pPr>
            <a:r>
              <a:rPr lang="en-US" sz="1050" dirty="0">
                <a:solidFill>
                  <a:srgbClr val="D5DAE0"/>
                </a:solidFill>
                <a:latin typeface="Consolas" pitchFamily="34" charset="0"/>
                <a:ea typeface="Consolas" pitchFamily="34" charset="-122"/>
                <a:cs typeface="Consolas" pitchFamily="34" charset="-120"/>
              </a:rPr>
              <a:t>    "status": "PARTIAL"</a:t>
            </a:r>
            <a:endParaRPr lang="en-US" sz="1050" dirty="0"/>
          </a:p>
          <a:p>
            <a:pPr marL="0" indent="0">
              <a:buNone/>
            </a:pPr>
            <a:r>
              <a:rPr lang="en-US" sz="1050" dirty="0">
                <a:solidFill>
                  <a:srgbClr val="D5DAE0"/>
                </a:solidFill>
                <a:latin typeface="Consolas" pitchFamily="34" charset="0"/>
                <a:ea typeface="Consolas" pitchFamily="34" charset="-122"/>
                <a:cs typeface="Consolas" pitchFamily="34" charset="-120"/>
              </a:rPr>
              <a:t>  }</a:t>
            </a:r>
            <a:endParaRPr lang="en-US" sz="1050" dirty="0"/>
          </a:p>
          <a:p>
            <a:pPr marL="0" indent="0">
              <a:buNone/>
            </a:pPr>
            <a:r>
              <a:rPr lang="en-US" sz="1050" dirty="0">
                <a:solidFill>
                  <a:srgbClr val="D5DAE0"/>
                </a:solidFill>
                <a:latin typeface="Consolas" pitchFamily="34" charset="0"/>
                <a:ea typeface="Consolas" pitchFamily="34" charset="-122"/>
                <a:cs typeface="Consolas" pitchFamily="34" charset="-120"/>
              </a:rPr>
              <a:t>}</a:t>
            </a:r>
            <a:endParaRPr lang="en-US" sz="1050" dirty="0"/>
          </a:p>
        </p:txBody>
      </p:sp>
      <p:sp>
        <p:nvSpPr>
          <p:cNvPr id="7" name="card background">
            <a:extLst>
              <a:ext uri="{C183D7F6-B498-43B3-948B-1728B52AA6E4}">
                <adec:decorative xmlns:adec="http://schemas.microsoft.com/office/drawing/2017/decorative" val="1"/>
              </a:ext>
            </a:extLst>
          </p:cNvPr>
          <p:cNvSpPr/>
          <p:nvPr/>
        </p:nvSpPr>
        <p:spPr>
          <a:xfrm>
            <a:off x="5349240" y="1170432"/>
            <a:ext cx="3291840" cy="2377440"/>
          </a:xfrm>
          <a:prstGeom prst="roundRect">
            <a:avLst>
              <a:gd name="adj" fmla="val 2308"/>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8" name="Text 6"/>
          <p:cNvSpPr/>
          <p:nvPr/>
        </p:nvSpPr>
        <p:spPr>
          <a:xfrm>
            <a:off x="5559552" y="1280160"/>
            <a:ext cx="2880360" cy="292608"/>
          </a:xfrm>
          <a:prstGeom prst="rect">
            <a:avLst/>
          </a:prstGeom>
          <a:noFill/>
          <a:ln/>
        </p:spPr>
        <p:txBody>
          <a:bodyPr wrap="square" lIns="0" tIns="0" rIns="0" bIns="0" rtlCol="0" anchor="ctr"/>
          <a:lstStyle/>
          <a:p>
            <a:pPr marL="0" indent="0">
              <a:buNone/>
            </a:pPr>
            <a:r>
              <a:rPr lang="en-US" sz="1400" b="1" dirty="0">
                <a:solidFill>
                  <a:srgbClr val="E8722C"/>
                </a:solidFill>
                <a:latin typeface="Trebuchet MS" pitchFamily="34" charset="0"/>
                <a:ea typeface="Trebuchet MS" pitchFamily="34" charset="-122"/>
                <a:cs typeface="Trebuchet MS" pitchFamily="34" charset="-120"/>
              </a:rPr>
              <a:t>Four parts, always</a:t>
            </a:r>
            <a:endParaRPr lang="en-US" sz="1400" dirty="0"/>
          </a:p>
        </p:txBody>
      </p:sp>
      <p:sp>
        <p:nvSpPr>
          <p:cNvPr id="9" name="Text 7"/>
          <p:cNvSpPr/>
          <p:nvPr/>
        </p:nvSpPr>
        <p:spPr>
          <a:xfrm>
            <a:off x="5559552" y="1664208"/>
            <a:ext cx="2880360" cy="1737360"/>
          </a:xfrm>
          <a:prstGeom prst="rect">
            <a:avLst/>
          </a:prstGeom>
          <a:noFill/>
          <a:ln/>
        </p:spPr>
        <p:txBody>
          <a:bodyPr wrap="square" lIns="0" tIns="0" rIns="0" bIns="0" rtlCol="0" anchor="ctr"/>
          <a:lstStyle/>
          <a:p>
            <a:pPr marL="342900" indent="-342900">
              <a:spcAft>
                <a:spcPts val="900"/>
              </a:spcAft>
              <a:buSzPct val="100000"/>
              <a:buChar char="▪"/>
            </a:pPr>
            <a:r>
              <a:rPr lang="en-US" sz="1100" dirty="0">
                <a:solidFill>
                  <a:srgbClr val="D5DAE0"/>
                </a:solidFill>
                <a:latin typeface="Calibri" pitchFamily="34" charset="0"/>
                <a:ea typeface="Calibri" pitchFamily="34" charset="-122"/>
                <a:cs typeface="Calibri" pitchFamily="34" charset="-120"/>
              </a:rPr>
              <a:t>type — what happened, in a dotted name you can switch on</a:t>
            </a:r>
            <a:endParaRPr lang="en-US" sz="1100" dirty="0"/>
          </a:p>
          <a:p>
            <a:pPr marL="342900" indent="-342900">
              <a:spcAft>
                <a:spcPts val="900"/>
              </a:spcAft>
              <a:buSzPct val="100000"/>
              <a:buChar char="▪"/>
            </a:pPr>
            <a:r>
              <a:rPr lang="en-US" sz="1100" dirty="0">
                <a:solidFill>
                  <a:srgbClr val="D5DAE0"/>
                </a:solidFill>
                <a:latin typeface="Calibri" pitchFamily="34" charset="0"/>
                <a:ea typeface="Calibri" pitchFamily="34" charset="-122"/>
                <a:cs typeface="Calibri" pitchFamily="34" charset="-120"/>
              </a:rPr>
              <a:t>ts — when it happened</a:t>
            </a:r>
            <a:endParaRPr lang="en-US" sz="1100" dirty="0"/>
          </a:p>
          <a:p>
            <a:pPr marL="342900" indent="-342900">
              <a:spcAft>
                <a:spcPts val="900"/>
              </a:spcAft>
              <a:buSzPct val="100000"/>
              <a:buChar char="▪"/>
            </a:pPr>
            <a:r>
              <a:rPr lang="en-US" sz="1100" dirty="0">
                <a:solidFill>
                  <a:srgbClr val="D5DAE0"/>
                </a:solidFill>
                <a:latin typeface="Calibri" pitchFamily="34" charset="0"/>
                <a:ea typeface="Calibri" pitchFamily="34" charset="-122"/>
                <a:cs typeface="Calibri" pitchFamily="34" charset="-120"/>
              </a:rPr>
              <a:t>gateway_id — whose event it is</a:t>
            </a:r>
            <a:endParaRPr lang="en-US" sz="1100" dirty="0"/>
          </a:p>
          <a:p>
            <a:pPr marL="342900" indent="-342900">
              <a:buSzPct val="100000"/>
              <a:buChar char="▪"/>
            </a:pPr>
            <a:r>
              <a:rPr lang="en-US" sz="1100" dirty="0">
                <a:solidFill>
                  <a:srgbClr val="D5DAE0"/>
                </a:solidFill>
                <a:latin typeface="Calibri" pitchFamily="34" charset="0"/>
                <a:ea typeface="Calibri" pitchFamily="34" charset="-122"/>
                <a:cs typeface="Calibri" pitchFamily="34" charset="-120"/>
              </a:rPr>
              <a:t>data — the details, which vary by type</a:t>
            </a:r>
            <a:endParaRPr lang="en-US" sz="1100" dirty="0"/>
          </a:p>
        </p:txBody>
      </p:sp>
      <p:sp>
        <p:nvSpPr>
          <p:cNvPr id="10" name="Text 8"/>
          <p:cNvSpPr/>
          <p:nvPr/>
        </p:nvSpPr>
        <p:spPr>
          <a:xfrm>
            <a:off x="502920" y="3703320"/>
            <a:ext cx="8138160" cy="640080"/>
          </a:xfrm>
          <a:prstGeom prst="rect">
            <a:avLst/>
          </a:prstGeom>
          <a:noFill/>
          <a:ln/>
        </p:spPr>
        <p:txBody>
          <a:bodyPr wrap="square" lIns="0" tIns="0" rIns="0" bIns="0" rtlCol="0" anchor="t"/>
          <a:lstStyle/>
          <a:p>
            <a:pPr marL="0" indent="0" algn="l">
              <a:buNone/>
            </a:pPr>
            <a:r>
              <a:rPr lang="en-US" sz="1200" dirty="0">
                <a:solidFill>
                  <a:srgbClr val="D5DAE0"/>
                </a:solidFill>
                <a:latin typeface="Calibri" pitchFamily="34" charset="0"/>
                <a:ea typeface="Calibri" pitchFamily="34" charset="-122"/>
                <a:cs typeface="Calibri" pitchFamily="34" charset="-120"/>
              </a:rPr>
              <a:t>Write your client as a single loop: read the type, route it to a handler, use the data. A consistent envelope means adding support for a new event never means rewriting the plumbing.</a:t>
            </a:r>
            <a:endParaRPr lang="en-US" sz="1200" dirty="0"/>
          </a:p>
        </p:txBody>
      </p:sp>
      <p:sp>
        <p:nvSpPr>
          <p:cNvPr id="11" name="Text 9"/>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The shape of the data</a:t>
            </a:r>
            <a:endParaRPr lang="en-US" sz="900" dirty="0"/>
          </a:p>
        </p:txBody>
      </p:sp>
      <p:sp>
        <p:nvSpPr>
          <p:cNvPr id="12" name="Text 10"/>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47</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8138160" cy="548640"/>
          </a:xfrm>
          <a:prstGeom prst="rect">
            <a:avLst/>
          </a:prstGeom>
          <a:noFill/>
          <a:ln/>
        </p:spPr>
        <p:txBody>
          <a:bodyPr wrap="square" lIns="0" tIns="0" rIns="0" bIns="0" rtlCol="0" anchor="ctr"/>
          <a:lstStyle/>
          <a:p>
            <a:pPr marL="0" indent="0">
              <a:buNone/>
            </a:pPr>
            <a:r>
              <a:rPr lang="en-US" sz="2700" b="1" dirty="0">
                <a:solidFill>
                  <a:srgbClr val="F3F5F7"/>
                </a:solidFill>
                <a:latin typeface="Trebuchet MS" pitchFamily="34" charset="0"/>
                <a:ea typeface="Trebuchet MS" pitchFamily="34" charset="-122"/>
                <a:cs typeface="Trebuchet MS" pitchFamily="34" charset="-120"/>
              </a:rPr>
              <a:t>Subscribing to market data</a:t>
            </a:r>
            <a:endParaRPr lang="en-US" sz="2700" dirty="0"/>
          </a:p>
        </p:txBody>
      </p:sp>
      <p:sp>
        <p:nvSpPr>
          <p:cNvPr id="3" name="Text 1"/>
          <p:cNvSpPr/>
          <p:nvPr/>
        </p:nvSpPr>
        <p:spPr>
          <a:xfrm>
            <a:off x="502920" y="841248"/>
            <a:ext cx="8138160" cy="237744"/>
          </a:xfrm>
          <a:prstGeom prst="rect">
            <a:avLst/>
          </a:prstGeom>
          <a:noFill/>
          <a:ln/>
        </p:spPr>
        <p:txBody>
          <a:bodyPr wrap="square" lIns="0" tIns="0" rIns="0" bIns="0" rtlCol="0" anchor="ctr"/>
          <a:lstStyle/>
          <a:p>
            <a:pPr marL="0" indent="0">
              <a:buNone/>
            </a:pPr>
            <a:r>
              <a:rPr lang="en-US" sz="1100" b="1" kern="0" spc="200" dirty="0">
                <a:solidFill>
                  <a:srgbClr val="E8722C"/>
                </a:solidFill>
                <a:latin typeface="Calibri" pitchFamily="34" charset="0"/>
                <a:ea typeface="Calibri" pitchFamily="34" charset="-122"/>
                <a:cs typeface="Calibri" pitchFamily="34" charset="-120"/>
              </a:rPr>
              <a:t>STREAMS IN PRACTICE</a:t>
            </a:r>
            <a:endParaRPr lang="en-US" sz="1100" dirty="0"/>
          </a:p>
        </p:txBody>
      </p:sp>
      <p:sp>
        <p:nvSpPr>
          <p:cNvPr id="4" name="code panel">
            <a:extLst>
              <a:ext uri="{C183D7F6-B498-43B3-948B-1728B52AA6E4}">
                <adec:decorative xmlns:adec="http://schemas.microsoft.com/office/drawing/2017/decorative" val="1"/>
              </a:ext>
            </a:extLst>
          </p:cNvPr>
          <p:cNvSpPr/>
          <p:nvPr/>
        </p:nvSpPr>
        <p:spPr>
          <a:xfrm>
            <a:off x="502920" y="1170432"/>
            <a:ext cx="8138160" cy="1234440"/>
          </a:xfrm>
          <a:prstGeom prst="roundRect">
            <a:avLst>
              <a:gd name="adj" fmla="val 3704"/>
            </a:avLst>
          </a:prstGeom>
          <a:solidFill>
            <a:srgbClr val="121519"/>
          </a:solidFill>
          <a:ln w="12700">
            <a:solidFill>
              <a:srgbClr val="3A424B"/>
            </a:solidFill>
            <a:prstDash val="solid"/>
          </a:ln>
        </p:spPr>
        <p:txBody>
          <a:bodyPr/>
          <a:lstStyle/>
          <a:p>
            <a:endParaRPr lang="en-SE"/>
          </a:p>
        </p:txBody>
      </p:sp>
      <p:sp>
        <p:nvSpPr>
          <p:cNvPr id="5" name="code panel edge">
            <a:extLst>
              <a:ext uri="{C183D7F6-B498-43B3-948B-1728B52AA6E4}">
                <adec:decorative xmlns:adec="http://schemas.microsoft.com/office/drawing/2017/decorative" val="1"/>
              </a:ext>
            </a:extLst>
          </p:cNvPr>
          <p:cNvSpPr/>
          <p:nvPr/>
        </p:nvSpPr>
        <p:spPr>
          <a:xfrm>
            <a:off x="502920" y="1170432"/>
            <a:ext cx="54864" cy="1234440"/>
          </a:xfrm>
          <a:prstGeom prst="rect">
            <a:avLst/>
          </a:prstGeom>
          <a:solidFill>
            <a:srgbClr val="E8722C"/>
          </a:solidFill>
          <a:ln w="12700">
            <a:solidFill>
              <a:srgbClr val="E8722C"/>
            </a:solidFill>
            <a:prstDash val="solid"/>
          </a:ln>
        </p:spPr>
        <p:txBody>
          <a:bodyPr/>
          <a:lstStyle/>
          <a:p>
            <a:endParaRPr lang="en-SE"/>
          </a:p>
        </p:txBody>
      </p:sp>
      <p:sp>
        <p:nvSpPr>
          <p:cNvPr id="6" name="Text 4"/>
          <p:cNvSpPr/>
          <p:nvPr/>
        </p:nvSpPr>
        <p:spPr>
          <a:xfrm>
            <a:off x="704088" y="1298448"/>
            <a:ext cx="7772400" cy="978408"/>
          </a:xfrm>
          <a:prstGeom prst="rect">
            <a:avLst/>
          </a:prstGeom>
          <a:noFill/>
          <a:ln/>
        </p:spPr>
        <p:txBody>
          <a:bodyPr wrap="square" lIns="0" tIns="0" rIns="0" bIns="0" rtlCol="0" anchor="t"/>
          <a:lstStyle/>
          <a:p>
            <a:pPr marL="0" indent="0">
              <a:buNone/>
            </a:pPr>
            <a:r>
              <a:rPr lang="en-US" sz="1150" b="1" dirty="0">
                <a:solidFill>
                  <a:srgbClr val="F2A65A"/>
                </a:solidFill>
                <a:latin typeface="Consolas" pitchFamily="34" charset="0"/>
                <a:ea typeface="Consolas" pitchFamily="34" charset="-122"/>
                <a:cs typeface="Consolas" pitchFamily="34" charset="-120"/>
              </a:rPr>
              <a:t>{ "api_key": "key-dashboard-demo" }</a:t>
            </a:r>
            <a:endParaRPr lang="en-US" sz="1150" dirty="0"/>
          </a:p>
          <a:p>
            <a:pPr marL="0" indent="0">
              <a:buNone/>
            </a:pPr>
            <a:endParaRPr lang="en-US" sz="1150" dirty="0"/>
          </a:p>
          <a:p>
            <a:pPr marL="0" indent="0">
              <a:buNone/>
            </a:pPr>
            <a:r>
              <a:rPr lang="en-US" sz="1150" b="1" dirty="0">
                <a:solidFill>
                  <a:srgbClr val="35A79C"/>
                </a:solidFill>
                <a:latin typeface="Consolas" pitchFamily="34" charset="0"/>
                <a:ea typeface="Consolas" pitchFamily="34" charset="-122"/>
                <a:cs typeface="Consolas" pitchFamily="34" charset="-120"/>
              </a:rPr>
              <a:t>{ "action": "subscribe", "symbols": ["AAPL", "MSFT"],</a:t>
            </a:r>
            <a:endParaRPr lang="en-US" sz="1150" dirty="0"/>
          </a:p>
          <a:p>
            <a:pPr marL="0" indent="0">
              <a:buNone/>
            </a:pPr>
            <a:r>
              <a:rPr lang="en-US" sz="1150" b="1" dirty="0">
                <a:solidFill>
                  <a:srgbClr val="35A79C"/>
                </a:solidFill>
                <a:latin typeface="Consolas" pitchFamily="34" charset="0"/>
                <a:ea typeface="Consolas" pitchFamily="34" charset="-122"/>
                <a:cs typeface="Consolas" pitchFamily="34" charset="-120"/>
              </a:rPr>
              <a:t>  "channels": ["book", "trades", "depth", "auction"] }</a:t>
            </a:r>
            <a:endParaRPr lang="en-US" sz="1150" dirty="0"/>
          </a:p>
        </p:txBody>
      </p:sp>
      <p:sp>
        <p:nvSpPr>
          <p:cNvPr id="7" name="card background">
            <a:extLst>
              <a:ext uri="{C183D7F6-B498-43B3-948B-1728B52AA6E4}">
                <adec:decorative xmlns:adec="http://schemas.microsoft.com/office/drawing/2017/decorative" val="1"/>
              </a:ext>
            </a:extLst>
          </p:cNvPr>
          <p:cNvSpPr/>
          <p:nvPr/>
        </p:nvSpPr>
        <p:spPr>
          <a:xfrm>
            <a:off x="502920" y="2651760"/>
            <a:ext cx="2566416" cy="1234440"/>
          </a:xfrm>
          <a:prstGeom prst="roundRect">
            <a:avLst>
              <a:gd name="adj" fmla="val 4444"/>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8" name="Text 6">
            <a:extLst>
              <a:ext uri="{C183D7F6-B498-43B3-948B-1728B52AA6E4}">
                <adec:decorative xmlns:adec="http://schemas.microsoft.com/office/drawing/2017/decorative" val="1"/>
              </a:ext>
            </a:extLst>
          </p:cNvPr>
          <p:cNvSpPr/>
          <p:nvPr/>
        </p:nvSpPr>
        <p:spPr>
          <a:xfrm>
            <a:off x="722376" y="2834640"/>
            <a:ext cx="2164080" cy="329184"/>
          </a:xfrm>
          <a:prstGeom prst="rect">
            <a:avLst/>
          </a:prstGeom>
          <a:noFill/>
          <a:ln/>
        </p:spPr>
        <p:txBody>
          <a:bodyPr wrap="square" lIns="0" tIns="0" rIns="0" bIns="0" rtlCol="0" anchor="ctr"/>
          <a:lstStyle/>
          <a:p>
            <a:pPr marL="0" indent="0">
              <a:buNone/>
            </a:pPr>
            <a:r>
              <a:rPr lang="en-US" sz="1400" b="1" dirty="0">
                <a:solidFill>
                  <a:srgbClr val="E8722C"/>
                </a:solidFill>
                <a:latin typeface="Trebuchet MS" pitchFamily="34" charset="0"/>
                <a:ea typeface="Trebuchet MS" pitchFamily="34" charset="-122"/>
                <a:cs typeface="Trebuchet MS" pitchFamily="34" charset="-120"/>
              </a:rPr>
              <a:t>Authenticate first</a:t>
            </a:r>
            <a:endParaRPr lang="en-US" sz="1400" dirty="0"/>
          </a:p>
        </p:txBody>
      </p:sp>
      <p:sp>
        <p:nvSpPr>
          <p:cNvPr id="9" name="Text 7"/>
          <p:cNvSpPr/>
          <p:nvPr/>
        </p:nvSpPr>
        <p:spPr>
          <a:xfrm>
            <a:off x="722376" y="3200400"/>
            <a:ext cx="2127504" cy="57607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The key message must be the very first thing you send on the socket.</a:t>
            </a:r>
            <a:endParaRPr lang="en-US" sz="1050" dirty="0"/>
          </a:p>
        </p:txBody>
      </p:sp>
      <p:sp>
        <p:nvSpPr>
          <p:cNvPr id="10" name="card background">
            <a:extLst>
              <a:ext uri="{C183D7F6-B498-43B3-948B-1728B52AA6E4}">
                <adec:decorative xmlns:adec="http://schemas.microsoft.com/office/drawing/2017/decorative" val="1"/>
              </a:ext>
            </a:extLst>
          </p:cNvPr>
          <p:cNvSpPr/>
          <p:nvPr/>
        </p:nvSpPr>
        <p:spPr>
          <a:xfrm>
            <a:off x="3288792" y="2651760"/>
            <a:ext cx="2566416" cy="1234440"/>
          </a:xfrm>
          <a:prstGeom prst="roundRect">
            <a:avLst>
              <a:gd name="adj" fmla="val 4444"/>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1" name="Text 9"/>
          <p:cNvSpPr/>
          <p:nvPr/>
        </p:nvSpPr>
        <p:spPr>
          <a:xfrm>
            <a:off x="3508248" y="2834640"/>
            <a:ext cx="2164080" cy="329184"/>
          </a:xfrm>
          <a:prstGeom prst="rect">
            <a:avLst/>
          </a:prstGeom>
          <a:noFill/>
          <a:ln/>
        </p:spPr>
        <p:txBody>
          <a:bodyPr wrap="square" lIns="0" tIns="0" rIns="0" bIns="0" rtlCol="0" anchor="ctr"/>
          <a:lstStyle/>
          <a:p>
            <a:pPr marL="0" indent="0">
              <a:buNone/>
            </a:pPr>
            <a:r>
              <a:rPr lang="en-US" sz="1400" b="1" dirty="0">
                <a:solidFill>
                  <a:srgbClr val="35A79C"/>
                </a:solidFill>
                <a:latin typeface="Trebuchet MS" pitchFamily="34" charset="0"/>
                <a:ea typeface="Trebuchet MS" pitchFamily="34" charset="-122"/>
                <a:cs typeface="Trebuchet MS" pitchFamily="34" charset="-120"/>
              </a:rPr>
              <a:t>Then subscribe</a:t>
            </a:r>
            <a:endParaRPr lang="en-US" sz="1400" dirty="0"/>
          </a:p>
        </p:txBody>
      </p:sp>
      <p:sp>
        <p:nvSpPr>
          <p:cNvPr id="12" name="Text 10">
            <a:extLst>
              <a:ext uri="{C183D7F6-B498-43B3-948B-1728B52AA6E4}">
                <adec:decorative xmlns:adec="http://schemas.microsoft.com/office/drawing/2017/decorative" val="1"/>
              </a:ext>
            </a:extLst>
          </p:cNvPr>
          <p:cNvSpPr/>
          <p:nvPr/>
        </p:nvSpPr>
        <p:spPr>
          <a:xfrm>
            <a:off x="3508248" y="3200400"/>
            <a:ext cx="2127504" cy="57607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Name the channels you want. Ask only for what you will actually display.</a:t>
            </a:r>
            <a:endParaRPr lang="en-US" sz="1050" dirty="0"/>
          </a:p>
        </p:txBody>
      </p:sp>
      <p:sp>
        <p:nvSpPr>
          <p:cNvPr id="13" name="card background">
            <a:extLst>
              <a:ext uri="{C183D7F6-B498-43B3-948B-1728B52AA6E4}">
                <adec:decorative xmlns:adec="http://schemas.microsoft.com/office/drawing/2017/decorative" val="1"/>
              </a:ext>
            </a:extLst>
          </p:cNvPr>
          <p:cNvSpPr/>
          <p:nvPr/>
        </p:nvSpPr>
        <p:spPr>
          <a:xfrm>
            <a:off x="6074664" y="2651760"/>
            <a:ext cx="2566416" cy="1234440"/>
          </a:xfrm>
          <a:prstGeom prst="roundRect">
            <a:avLst>
              <a:gd name="adj" fmla="val 4444"/>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4" name="step marker">
            <a:extLst>
              <a:ext uri="{C183D7F6-B498-43B3-948B-1728B52AA6E4}">
                <adec:decorative xmlns:adec="http://schemas.microsoft.com/office/drawing/2017/decorative" val="1"/>
              </a:ext>
            </a:extLst>
          </p:cNvPr>
          <p:cNvSpPr/>
          <p:nvPr/>
        </p:nvSpPr>
        <p:spPr>
          <a:xfrm>
            <a:off x="6275832" y="2834640"/>
            <a:ext cx="310896" cy="310896"/>
          </a:xfrm>
          <a:prstGeom prst="ellipse">
            <a:avLst/>
          </a:prstGeom>
          <a:solidFill>
            <a:srgbClr val="F2A65A"/>
          </a:solidFill>
          <a:ln w="12700">
            <a:solidFill>
              <a:srgbClr val="F2A65A"/>
            </a:solidFill>
            <a:prstDash val="solid"/>
          </a:ln>
        </p:spPr>
        <p:txBody>
          <a:bodyPr/>
          <a:lstStyle/>
          <a:p>
            <a:endParaRPr lang="en-SE"/>
          </a:p>
        </p:txBody>
      </p:sp>
      <p:sp>
        <p:nvSpPr>
          <p:cNvPr id="15" name="Text 13"/>
          <p:cNvSpPr/>
          <p:nvPr/>
        </p:nvSpPr>
        <p:spPr>
          <a:xfrm>
            <a:off x="6275832" y="2834640"/>
            <a:ext cx="310896" cy="310896"/>
          </a:xfrm>
          <a:prstGeom prst="rect">
            <a:avLst/>
          </a:prstGeom>
          <a:noFill/>
          <a:ln/>
        </p:spPr>
        <p:txBody>
          <a:bodyPr wrap="square" lIns="0" tIns="0" rIns="0" bIns="0" rtlCol="0" anchor="ctr"/>
          <a:lstStyle/>
          <a:p>
            <a:pPr marL="0" indent="0" algn="ctr">
              <a:buNone/>
            </a:pPr>
            <a:endParaRPr lang="en-US" sz="1300" dirty="0"/>
          </a:p>
        </p:txBody>
      </p:sp>
      <p:sp>
        <p:nvSpPr>
          <p:cNvPr id="16" name="Text 14"/>
          <p:cNvSpPr/>
          <p:nvPr/>
        </p:nvSpPr>
        <p:spPr>
          <a:xfrm>
            <a:off x="6678168" y="2834640"/>
            <a:ext cx="1780032" cy="329184"/>
          </a:xfrm>
          <a:prstGeom prst="rect">
            <a:avLst/>
          </a:prstGeom>
          <a:noFill/>
          <a:ln/>
        </p:spPr>
        <p:txBody>
          <a:bodyPr wrap="square" lIns="0" tIns="0" rIns="0" bIns="0" rtlCol="0" anchor="ctr"/>
          <a:lstStyle/>
          <a:p>
            <a:pPr marL="0" indent="0">
              <a:buNone/>
            </a:pPr>
            <a:r>
              <a:rPr lang="en-US" sz="1400" b="1" dirty="0">
                <a:solidFill>
                  <a:srgbClr val="F2A65A"/>
                </a:solidFill>
                <a:latin typeface="Trebuchet MS" pitchFamily="34" charset="0"/>
                <a:ea typeface="Trebuchet MS" pitchFamily="34" charset="-122"/>
                <a:cs typeface="Trebuchet MS" pitchFamily="34" charset="-120"/>
              </a:rPr>
              <a:t>Filtering is optional</a:t>
            </a:r>
            <a:endParaRPr lang="en-US" sz="1400" dirty="0"/>
          </a:p>
        </p:txBody>
      </p:sp>
      <p:sp>
        <p:nvSpPr>
          <p:cNvPr id="17" name="Text 15">
            <a:extLst>
              <a:ext uri="{C183D7F6-B498-43B3-948B-1728B52AA6E4}">
                <adec:decorative xmlns:adec="http://schemas.microsoft.com/office/drawing/2017/decorative" val="1"/>
              </a:ext>
            </a:extLst>
          </p:cNvPr>
          <p:cNvSpPr/>
          <p:nvPr/>
        </p:nvSpPr>
        <p:spPr>
          <a:xfrm>
            <a:off x="6294120" y="3200400"/>
            <a:ext cx="2127504" cy="57607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Leave the instrument list out and you receive every instrument on those channels.</a:t>
            </a:r>
            <a:endParaRPr lang="en-US" sz="1050" dirty="0"/>
          </a:p>
        </p:txBody>
      </p:sp>
      <p:sp>
        <p:nvSpPr>
          <p:cNvPr id="18" name="Text 16">
            <a:extLst>
              <a:ext uri="{C183D7F6-B498-43B3-948B-1728B52AA6E4}">
                <adec:decorative xmlns:adec="http://schemas.microsoft.com/office/drawing/2017/decorative" val="1"/>
              </a:ext>
            </a:extLst>
          </p:cNvPr>
          <p:cNvSpPr/>
          <p:nvPr/>
        </p:nvSpPr>
        <p:spPr>
          <a:xfrm>
            <a:off x="502920" y="4041648"/>
            <a:ext cx="8138160" cy="457200"/>
          </a:xfrm>
          <a:prstGeom prst="rect">
            <a:avLst/>
          </a:prstGeom>
          <a:noFill/>
          <a:ln/>
        </p:spPr>
        <p:txBody>
          <a:bodyPr wrap="square" lIns="0" tIns="0" rIns="0" bIns="0" rtlCol="0" anchor="t"/>
          <a:lstStyle/>
          <a:p>
            <a:pPr marL="0" indent="0" algn="l">
              <a:buNone/>
            </a:pPr>
            <a:r>
              <a:rPr lang="en-US" sz="1150" i="1" dirty="0">
                <a:solidFill>
                  <a:srgbClr val="97A1AC"/>
                </a:solidFill>
                <a:latin typeface="Calibri" pitchFamily="34" charset="0"/>
                <a:ea typeface="Calibri" pitchFamily="34" charset="-122"/>
                <a:cs typeface="Calibri" pitchFamily="34" charset="-120"/>
              </a:rPr>
              <a:t>Session and circuit-breaker events arrive regardless of what you subscribed to — you cannot miss the market closing.</a:t>
            </a:r>
            <a:endParaRPr lang="en-US" sz="1150" dirty="0"/>
          </a:p>
        </p:txBody>
      </p:sp>
      <p:sp>
        <p:nvSpPr>
          <p:cNvPr id="19" name="Text 17"/>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The shape of the data</a:t>
            </a:r>
            <a:endParaRPr lang="en-US" sz="900" dirty="0"/>
          </a:p>
        </p:txBody>
      </p:sp>
      <p:sp>
        <p:nvSpPr>
          <p:cNvPr id="20" name="Text 18"/>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48</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side band">
            <a:extLst>
              <a:ext uri="{C183D7F6-B498-43B3-948B-1728B52AA6E4}">
                <adec:decorative xmlns:adec="http://schemas.microsoft.com/office/drawing/2017/decorative" val="1"/>
              </a:ext>
            </a:extLst>
          </p:cNvPr>
          <p:cNvSpPr/>
          <p:nvPr/>
        </p:nvSpPr>
        <p:spPr>
          <a:xfrm>
            <a:off x="0" y="0"/>
            <a:ext cx="384048" cy="5143500"/>
          </a:xfrm>
          <a:prstGeom prst="rect">
            <a:avLst/>
          </a:prstGeom>
          <a:solidFill>
            <a:srgbClr val="E8722C"/>
          </a:solidFill>
          <a:ln w="12700">
            <a:solidFill>
              <a:srgbClr val="E8722C"/>
            </a:solidFill>
            <a:prstDash val="solid"/>
          </a:ln>
        </p:spPr>
        <p:txBody>
          <a:bodyPr/>
          <a:lstStyle/>
          <a:p>
            <a:endParaRPr lang="en-SE"/>
          </a:p>
        </p:txBody>
      </p:sp>
      <p:sp>
        <p:nvSpPr>
          <p:cNvPr id="3" name="Text 1"/>
          <p:cNvSpPr/>
          <p:nvPr/>
        </p:nvSpPr>
        <p:spPr>
          <a:xfrm>
            <a:off x="960120" y="1371600"/>
            <a:ext cx="2743200" cy="822960"/>
          </a:xfrm>
          <a:prstGeom prst="rect">
            <a:avLst/>
          </a:prstGeom>
          <a:noFill/>
          <a:ln/>
        </p:spPr>
        <p:txBody>
          <a:bodyPr wrap="square" lIns="0" tIns="0" rIns="0" bIns="0" rtlCol="0" anchor="ctr"/>
          <a:lstStyle/>
          <a:p>
            <a:pPr marL="0" indent="0">
              <a:buNone/>
            </a:pPr>
            <a:r>
              <a:rPr lang="en-US" sz="6200" b="1" dirty="0">
                <a:solidFill>
                  <a:srgbClr val="2E353D"/>
                </a:solidFill>
                <a:latin typeface="Trebuchet MS" pitchFamily="34" charset="0"/>
                <a:ea typeface="Trebuchet MS" pitchFamily="34" charset="-122"/>
                <a:cs typeface="Trebuchet MS" pitchFamily="34" charset="-120"/>
              </a:rPr>
              <a:t>07</a:t>
            </a:r>
            <a:endParaRPr lang="en-US" sz="6200" dirty="0"/>
          </a:p>
        </p:txBody>
      </p:sp>
      <p:sp>
        <p:nvSpPr>
          <p:cNvPr id="4" name="Text 0"/>
          <p:cNvSpPr>
            <a:spLocks noGrp="1"/>
          </p:cNvSpPr>
          <p:nvPr>
            <p:ph type="title" idx="100" hasCustomPrompt="1"/>
          </p:nvPr>
        </p:nvSpPr>
        <p:spPr>
          <a:xfrm>
            <a:off x="1005840" y="2148840"/>
            <a:ext cx="7132320" cy="914400"/>
          </a:xfrm>
          <a:prstGeom prst="rect">
            <a:avLst/>
          </a:prstGeom>
          <a:noFill/>
          <a:ln/>
        </p:spPr>
        <p:txBody>
          <a:bodyPr wrap="square" lIns="0" tIns="0" rIns="0" bIns="0" rtlCol="0"/>
          <a:lstStyle/>
          <a:p>
            <a:pPr marL="0" indent="0" algn="l">
              <a:buNone/>
            </a:pPr>
            <a:r>
              <a:rPr lang="en-US" sz="3600" b="1" dirty="0">
                <a:solidFill>
                  <a:srgbClr val="F3F5F7"/>
                </a:solidFill>
                <a:latin typeface="Trebuchet MS" pitchFamily="34" charset="0"/>
                <a:ea typeface="Trebuchet MS" pitchFamily="34" charset="-122"/>
                <a:cs typeface="Trebuchet MS" pitchFamily="34" charset="-120"/>
              </a:rPr>
              <a:t>When things go wrong</a:t>
            </a:r>
            <a:endParaRPr lang="en-US" sz="3600" dirty="0"/>
          </a:p>
        </p:txBody>
      </p:sp>
      <p:sp>
        <p:nvSpPr>
          <p:cNvPr id="5" name="Text 3"/>
          <p:cNvSpPr/>
          <p:nvPr/>
        </p:nvSpPr>
        <p:spPr>
          <a:xfrm>
            <a:off x="1024128" y="3108960"/>
            <a:ext cx="6949440" cy="731520"/>
          </a:xfrm>
          <a:prstGeom prst="rect">
            <a:avLst/>
          </a:prstGeom>
          <a:noFill/>
          <a:ln/>
        </p:spPr>
        <p:txBody>
          <a:bodyPr wrap="square" lIns="0" tIns="0" rIns="0" bIns="0" rtlCol="0" anchor="ctr"/>
          <a:lstStyle/>
          <a:p>
            <a:pPr marL="0" indent="0">
              <a:buNone/>
            </a:pPr>
            <a:r>
              <a:rPr lang="en-US" sz="1400" dirty="0">
                <a:solidFill>
                  <a:srgbClr val="97A1AC"/>
                </a:solidFill>
                <a:latin typeface="Calibri" pitchFamily="34" charset="0"/>
                <a:ea typeface="Calibri" pitchFamily="34" charset="-122"/>
                <a:cs typeface="Calibri" pitchFamily="34" charset="-120"/>
              </a:rPr>
              <a:t>One error shape, a small vocabulary of codes, and the right reaction to each</a:t>
            </a:r>
            <a:endParaRPr lang="en-US" sz="1400" dirty="0"/>
          </a:p>
        </p:txBody>
      </p:sp>
      <p:sp>
        <p:nvSpPr>
          <p:cNvPr id="6" name="Text 4"/>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When things go wrong</a:t>
            </a:r>
            <a:endParaRPr lang="en-US" sz="900" dirty="0"/>
          </a:p>
        </p:txBody>
      </p:sp>
      <p:sp>
        <p:nvSpPr>
          <p:cNvPr id="7" name="Text 5"/>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49</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8138160" cy="548640"/>
          </a:xfrm>
          <a:prstGeom prst="rect">
            <a:avLst/>
          </a:prstGeom>
          <a:noFill/>
          <a:ln/>
        </p:spPr>
        <p:txBody>
          <a:bodyPr wrap="square" lIns="0" tIns="0" rIns="0" bIns="0" rtlCol="0" anchor="ctr"/>
          <a:lstStyle/>
          <a:p>
            <a:pPr marL="0" indent="0">
              <a:buNone/>
            </a:pPr>
            <a:r>
              <a:rPr lang="en-US" sz="2700" b="1" dirty="0">
                <a:solidFill>
                  <a:srgbClr val="F3F5F7"/>
                </a:solidFill>
                <a:latin typeface="Trebuchet MS" pitchFamily="34" charset="0"/>
                <a:ea typeface="Trebuchet MS" pitchFamily="34" charset="-122"/>
                <a:cs typeface="Trebuchet MS" pitchFamily="34" charset="-120"/>
              </a:rPr>
              <a:t>Errors are data, not surprises</a:t>
            </a:r>
            <a:endParaRPr lang="en-US" sz="2700" dirty="0"/>
          </a:p>
        </p:txBody>
      </p:sp>
      <p:sp>
        <p:nvSpPr>
          <p:cNvPr id="3" name="Text 1"/>
          <p:cNvSpPr/>
          <p:nvPr/>
        </p:nvSpPr>
        <p:spPr>
          <a:xfrm>
            <a:off x="502920" y="841248"/>
            <a:ext cx="8138160" cy="237744"/>
          </a:xfrm>
          <a:prstGeom prst="rect">
            <a:avLst/>
          </a:prstGeom>
          <a:noFill/>
          <a:ln/>
        </p:spPr>
        <p:txBody>
          <a:bodyPr wrap="square" lIns="0" tIns="0" rIns="0" bIns="0" rtlCol="0" anchor="ctr"/>
          <a:lstStyle/>
          <a:p>
            <a:pPr marL="0" indent="0">
              <a:buNone/>
            </a:pPr>
            <a:r>
              <a:rPr lang="en-US" sz="1100" b="1" kern="0" spc="200" dirty="0">
                <a:solidFill>
                  <a:srgbClr val="E8722C"/>
                </a:solidFill>
                <a:latin typeface="Calibri" pitchFamily="34" charset="0"/>
                <a:ea typeface="Calibri" pitchFamily="34" charset="-122"/>
                <a:cs typeface="Calibri" pitchFamily="34" charset="-120"/>
              </a:rPr>
              <a:t>PHILOSOPHY</a:t>
            </a:r>
            <a:endParaRPr lang="en-US" sz="1100" dirty="0"/>
          </a:p>
        </p:txBody>
      </p:sp>
      <p:sp>
        <p:nvSpPr>
          <p:cNvPr id="4" name="card background">
            <a:extLst>
              <a:ext uri="{C183D7F6-B498-43B3-948B-1728B52AA6E4}">
                <adec:decorative xmlns:adec="http://schemas.microsoft.com/office/drawing/2017/decorative" val="1"/>
              </a:ext>
            </a:extLst>
          </p:cNvPr>
          <p:cNvSpPr/>
          <p:nvPr/>
        </p:nvSpPr>
        <p:spPr>
          <a:xfrm>
            <a:off x="502920" y="1207008"/>
            <a:ext cx="3959352" cy="2450592"/>
          </a:xfrm>
          <a:prstGeom prst="roundRect">
            <a:avLst>
              <a:gd name="adj" fmla="val 2239"/>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5" name="card top edge">
            <a:extLst>
              <a:ext uri="{C183D7F6-B498-43B3-948B-1728B52AA6E4}">
                <adec:decorative xmlns:adec="http://schemas.microsoft.com/office/drawing/2017/decorative" val="1"/>
              </a:ext>
            </a:extLst>
          </p:cNvPr>
          <p:cNvSpPr/>
          <p:nvPr/>
        </p:nvSpPr>
        <p:spPr>
          <a:xfrm>
            <a:off x="502920" y="1207008"/>
            <a:ext cx="3959352" cy="73152"/>
          </a:xfrm>
          <a:prstGeom prst="rect">
            <a:avLst/>
          </a:prstGeom>
          <a:solidFill>
            <a:srgbClr val="E8722C"/>
          </a:solidFill>
          <a:ln w="12700">
            <a:solidFill>
              <a:srgbClr val="E8722C"/>
            </a:solidFill>
            <a:prstDash val="solid"/>
          </a:ln>
        </p:spPr>
        <p:txBody>
          <a:bodyPr/>
          <a:lstStyle/>
          <a:p>
            <a:endParaRPr lang="en-SE"/>
          </a:p>
        </p:txBody>
      </p:sp>
      <p:sp>
        <p:nvSpPr>
          <p:cNvPr id="6" name="Text 4"/>
          <p:cNvSpPr/>
          <p:nvPr/>
        </p:nvSpPr>
        <p:spPr>
          <a:xfrm>
            <a:off x="740664" y="1426464"/>
            <a:ext cx="3502152" cy="365760"/>
          </a:xfrm>
          <a:prstGeom prst="rect">
            <a:avLst/>
          </a:prstGeom>
          <a:noFill/>
          <a:ln/>
        </p:spPr>
        <p:txBody>
          <a:bodyPr wrap="square" lIns="0" tIns="0" rIns="0" bIns="0" rtlCol="0" anchor="ctr"/>
          <a:lstStyle/>
          <a:p>
            <a:pPr marL="0" indent="0">
              <a:buNone/>
            </a:pPr>
            <a:r>
              <a:rPr lang="en-US" sz="1700" b="1" dirty="0">
                <a:solidFill>
                  <a:srgbClr val="E8722C"/>
                </a:solidFill>
                <a:latin typeface="Trebuchet MS" pitchFamily="34" charset="0"/>
                <a:ea typeface="Trebuchet MS" pitchFamily="34" charset="-122"/>
                <a:cs typeface="Trebuchet MS" pitchFamily="34" charset="-120"/>
              </a:rPr>
              <a:t>Two signals in every failure</a:t>
            </a:r>
            <a:endParaRPr lang="en-US" sz="1700" dirty="0"/>
          </a:p>
        </p:txBody>
      </p:sp>
      <p:sp>
        <p:nvSpPr>
          <p:cNvPr id="7" name="Text 5"/>
          <p:cNvSpPr/>
          <p:nvPr/>
        </p:nvSpPr>
        <p:spPr>
          <a:xfrm>
            <a:off x="740664" y="1901952"/>
            <a:ext cx="3502152" cy="1572768"/>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An HTTP status code — the broad category, understood by every tool</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A stable error code in the body — the specific cause, meant for your code</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Branch on the code, and show the human-readable detail to the user</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Never parse the message text; it may be reworded, the code will not</a:t>
            </a:r>
            <a:endParaRPr lang="en-US" sz="1150" dirty="0"/>
          </a:p>
        </p:txBody>
      </p:sp>
      <p:sp>
        <p:nvSpPr>
          <p:cNvPr id="8" name="card background">
            <a:extLst>
              <a:ext uri="{C183D7F6-B498-43B3-948B-1728B52AA6E4}">
                <adec:decorative xmlns:adec="http://schemas.microsoft.com/office/drawing/2017/decorative" val="1"/>
              </a:ext>
            </a:extLst>
          </p:cNvPr>
          <p:cNvSpPr/>
          <p:nvPr/>
        </p:nvSpPr>
        <p:spPr>
          <a:xfrm>
            <a:off x="4681728" y="1207008"/>
            <a:ext cx="3959352" cy="2450592"/>
          </a:xfrm>
          <a:prstGeom prst="roundRect">
            <a:avLst>
              <a:gd name="adj" fmla="val 2239"/>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9" name="card top edge">
            <a:extLst>
              <a:ext uri="{C183D7F6-B498-43B3-948B-1728B52AA6E4}">
                <adec:decorative xmlns:adec="http://schemas.microsoft.com/office/drawing/2017/decorative" val="1"/>
              </a:ext>
            </a:extLst>
          </p:cNvPr>
          <p:cNvSpPr/>
          <p:nvPr/>
        </p:nvSpPr>
        <p:spPr>
          <a:xfrm>
            <a:off x="4681728" y="1207008"/>
            <a:ext cx="3959352" cy="73152"/>
          </a:xfrm>
          <a:prstGeom prst="rect">
            <a:avLst/>
          </a:prstGeom>
          <a:solidFill>
            <a:srgbClr val="35A79C"/>
          </a:solidFill>
          <a:ln w="12700">
            <a:solidFill>
              <a:srgbClr val="35A79C"/>
            </a:solidFill>
            <a:prstDash val="solid"/>
          </a:ln>
        </p:spPr>
        <p:txBody>
          <a:bodyPr/>
          <a:lstStyle/>
          <a:p>
            <a:endParaRPr lang="en-SE"/>
          </a:p>
        </p:txBody>
      </p:sp>
      <p:sp>
        <p:nvSpPr>
          <p:cNvPr id="10" name="Text 8"/>
          <p:cNvSpPr/>
          <p:nvPr/>
        </p:nvSpPr>
        <p:spPr>
          <a:xfrm>
            <a:off x="4919472" y="1426464"/>
            <a:ext cx="3502152" cy="365760"/>
          </a:xfrm>
          <a:prstGeom prst="rect">
            <a:avLst/>
          </a:prstGeom>
          <a:noFill/>
          <a:ln/>
        </p:spPr>
        <p:txBody>
          <a:bodyPr wrap="square" lIns="0" tIns="0" rIns="0" bIns="0" rtlCol="0" anchor="ctr"/>
          <a:lstStyle/>
          <a:p>
            <a:pPr marL="0" indent="0">
              <a:buNone/>
            </a:pPr>
            <a:r>
              <a:rPr lang="en-US" sz="1700" b="1" dirty="0">
                <a:solidFill>
                  <a:srgbClr val="35A79C"/>
                </a:solidFill>
                <a:latin typeface="Trebuchet MS" pitchFamily="34" charset="0"/>
                <a:ea typeface="Trebuchet MS" pitchFamily="34" charset="-122"/>
                <a:cs typeface="Trebuchet MS" pitchFamily="34" charset="-120"/>
              </a:rPr>
              <a:t>Three broad families</a:t>
            </a:r>
            <a:endParaRPr lang="en-US" sz="1700" dirty="0"/>
          </a:p>
        </p:txBody>
      </p:sp>
      <p:sp>
        <p:nvSpPr>
          <p:cNvPr id="11" name="Text 9"/>
          <p:cNvSpPr/>
          <p:nvPr/>
        </p:nvSpPr>
        <p:spPr>
          <a:xfrm>
            <a:off x="4919472" y="1901952"/>
            <a:ext cx="3502152" cy="1572768"/>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It is you — the request was refused: authentication, permission, validation</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It is timing — you were too fast, or the same reference twice</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It is us — a component behind the gateway was slow, silent or unhappy</a:t>
            </a:r>
            <a:endParaRPr lang="en-US" sz="1150" dirty="0"/>
          </a:p>
        </p:txBody>
      </p:sp>
      <p:sp>
        <p:nvSpPr>
          <p:cNvPr id="12" name="code panel">
            <a:extLst>
              <a:ext uri="{C183D7F6-B498-43B3-948B-1728B52AA6E4}">
                <adec:decorative xmlns:adec="http://schemas.microsoft.com/office/drawing/2017/decorative" val="1"/>
              </a:ext>
            </a:extLst>
          </p:cNvPr>
          <p:cNvSpPr/>
          <p:nvPr/>
        </p:nvSpPr>
        <p:spPr>
          <a:xfrm>
            <a:off x="502920" y="3703320"/>
            <a:ext cx="8138160" cy="777240"/>
          </a:xfrm>
          <a:prstGeom prst="roundRect">
            <a:avLst>
              <a:gd name="adj" fmla="val 5882"/>
            </a:avLst>
          </a:prstGeom>
          <a:solidFill>
            <a:srgbClr val="121519"/>
          </a:solidFill>
          <a:ln w="12700">
            <a:solidFill>
              <a:srgbClr val="3A424B"/>
            </a:solidFill>
            <a:prstDash val="solid"/>
          </a:ln>
        </p:spPr>
        <p:txBody>
          <a:bodyPr/>
          <a:lstStyle/>
          <a:p>
            <a:endParaRPr lang="en-SE"/>
          </a:p>
        </p:txBody>
      </p:sp>
      <p:sp>
        <p:nvSpPr>
          <p:cNvPr id="13" name="code panel edge">
            <a:extLst>
              <a:ext uri="{C183D7F6-B498-43B3-948B-1728B52AA6E4}">
                <adec:decorative xmlns:adec="http://schemas.microsoft.com/office/drawing/2017/decorative" val="1"/>
              </a:ext>
            </a:extLst>
          </p:cNvPr>
          <p:cNvSpPr/>
          <p:nvPr/>
        </p:nvSpPr>
        <p:spPr>
          <a:xfrm>
            <a:off x="502920" y="3703320"/>
            <a:ext cx="54864" cy="777240"/>
          </a:xfrm>
          <a:prstGeom prst="rect">
            <a:avLst/>
          </a:prstGeom>
          <a:solidFill>
            <a:srgbClr val="D9534F"/>
          </a:solidFill>
          <a:ln w="12700">
            <a:solidFill>
              <a:srgbClr val="D9534F"/>
            </a:solidFill>
            <a:prstDash val="solid"/>
          </a:ln>
        </p:spPr>
        <p:txBody>
          <a:bodyPr/>
          <a:lstStyle/>
          <a:p>
            <a:endParaRPr lang="en-SE"/>
          </a:p>
        </p:txBody>
      </p:sp>
      <p:sp>
        <p:nvSpPr>
          <p:cNvPr id="14" name="Text 12"/>
          <p:cNvSpPr/>
          <p:nvPr/>
        </p:nvSpPr>
        <p:spPr>
          <a:xfrm>
            <a:off x="704088" y="3831336"/>
            <a:ext cx="7772400" cy="521208"/>
          </a:xfrm>
          <a:prstGeom prst="rect">
            <a:avLst/>
          </a:prstGeom>
          <a:noFill/>
          <a:ln/>
        </p:spPr>
        <p:txBody>
          <a:bodyPr wrap="square" lIns="0" tIns="0" rIns="0" bIns="0" rtlCol="0" anchor="t"/>
          <a:lstStyle/>
          <a:p>
            <a:pPr marL="0" indent="0">
              <a:buNone/>
            </a:pPr>
            <a:r>
              <a:rPr lang="en-US" sz="1200" b="1" dirty="0">
                <a:solidFill>
                  <a:srgbClr val="D9534F"/>
                </a:solidFill>
                <a:latin typeface="Consolas" pitchFamily="34" charset="0"/>
                <a:ea typeface="Consolas" pitchFamily="34" charset="-122"/>
                <a:cs typeface="Consolas" pitchFamily="34" charset="-120"/>
              </a:rPr>
              <a:t>HTTP 429   { "error": { "code": "RATE_LIMIT", "detail": "..." } }</a:t>
            </a:r>
            <a:endParaRPr lang="en-US" sz="1200" dirty="0"/>
          </a:p>
        </p:txBody>
      </p:sp>
      <p:sp>
        <p:nvSpPr>
          <p:cNvPr id="15" name="Text 13"/>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When things go wrong</a:t>
            </a:r>
            <a:endParaRPr lang="en-US" sz="900" dirty="0"/>
          </a:p>
        </p:txBody>
      </p:sp>
      <p:sp>
        <p:nvSpPr>
          <p:cNvPr id="16" name="Text 14"/>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50</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8138160" cy="548640"/>
          </a:xfrm>
          <a:prstGeom prst="rect">
            <a:avLst/>
          </a:prstGeom>
          <a:noFill/>
          <a:ln/>
        </p:spPr>
        <p:txBody>
          <a:bodyPr wrap="square" lIns="0" tIns="0" rIns="0" bIns="0" rtlCol="0" anchor="ctr"/>
          <a:lstStyle/>
          <a:p>
            <a:pPr marL="0" indent="0">
              <a:buNone/>
            </a:pPr>
            <a:r>
              <a:rPr lang="en-US" sz="2700" b="1" dirty="0">
                <a:solidFill>
                  <a:srgbClr val="F3F5F7"/>
                </a:solidFill>
                <a:latin typeface="Trebuchet MS" pitchFamily="34" charset="0"/>
                <a:ea typeface="Trebuchet MS" pitchFamily="34" charset="-122"/>
                <a:cs typeface="Trebuchet MS" pitchFamily="34" charset="-120"/>
              </a:rPr>
              <a:t>The status code at a glance</a:t>
            </a:r>
            <a:endParaRPr lang="en-US" sz="2700" dirty="0"/>
          </a:p>
        </p:txBody>
      </p:sp>
      <p:sp>
        <p:nvSpPr>
          <p:cNvPr id="3" name="Text 1"/>
          <p:cNvSpPr/>
          <p:nvPr/>
        </p:nvSpPr>
        <p:spPr>
          <a:xfrm>
            <a:off x="502920" y="841248"/>
            <a:ext cx="8138160" cy="237744"/>
          </a:xfrm>
          <a:prstGeom prst="rect">
            <a:avLst/>
          </a:prstGeom>
          <a:noFill/>
          <a:ln/>
        </p:spPr>
        <p:txBody>
          <a:bodyPr wrap="square" lIns="0" tIns="0" rIns="0" bIns="0" rtlCol="0" anchor="ctr"/>
          <a:lstStyle/>
          <a:p>
            <a:pPr marL="0" indent="0">
              <a:buNone/>
            </a:pPr>
            <a:r>
              <a:rPr lang="en-US" sz="1100" b="1" kern="0" spc="200" dirty="0">
                <a:solidFill>
                  <a:srgbClr val="E8722C"/>
                </a:solidFill>
                <a:latin typeface="Calibri" pitchFamily="34" charset="0"/>
                <a:ea typeface="Calibri" pitchFamily="34" charset="-122"/>
                <a:cs typeface="Calibri" pitchFamily="34" charset="-120"/>
              </a:rPr>
              <a:t>CATEGORIES</a:t>
            </a:r>
            <a:endParaRPr lang="en-US" sz="1100" dirty="0"/>
          </a:p>
        </p:txBody>
      </p:sp>
      <p:sp>
        <p:nvSpPr>
          <p:cNvPr id="4" name="card background">
            <a:extLst>
              <a:ext uri="{C183D7F6-B498-43B3-948B-1728B52AA6E4}">
                <adec:decorative xmlns:adec="http://schemas.microsoft.com/office/drawing/2017/decorative" val="1"/>
              </a:ext>
            </a:extLst>
          </p:cNvPr>
          <p:cNvSpPr/>
          <p:nvPr/>
        </p:nvSpPr>
        <p:spPr>
          <a:xfrm>
            <a:off x="502920" y="1280160"/>
            <a:ext cx="2566416" cy="1371600"/>
          </a:xfrm>
          <a:prstGeom prst="roundRect">
            <a:avLst>
              <a:gd name="adj" fmla="val 400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5" name="Text 3">
            <a:extLst>
              <a:ext uri="{C183D7F6-B498-43B3-948B-1728B52AA6E4}">
                <adec:decorative xmlns:adec="http://schemas.microsoft.com/office/drawing/2017/decorative" val="1"/>
              </a:ext>
            </a:extLst>
          </p:cNvPr>
          <p:cNvSpPr/>
          <p:nvPr/>
        </p:nvSpPr>
        <p:spPr>
          <a:xfrm>
            <a:off x="722376" y="1463040"/>
            <a:ext cx="2164080" cy="329184"/>
          </a:xfrm>
          <a:prstGeom prst="rect">
            <a:avLst/>
          </a:prstGeom>
          <a:noFill/>
          <a:ln/>
        </p:spPr>
        <p:txBody>
          <a:bodyPr wrap="square" lIns="0" tIns="0" rIns="0" bIns="0" rtlCol="0" anchor="ctr"/>
          <a:lstStyle/>
          <a:p>
            <a:pPr marL="0" indent="0">
              <a:buNone/>
            </a:pPr>
            <a:r>
              <a:rPr lang="en-US" sz="1400" b="1" dirty="0">
                <a:solidFill>
                  <a:srgbClr val="D9534F"/>
                </a:solidFill>
                <a:latin typeface="Trebuchet MS" pitchFamily="34" charset="0"/>
                <a:ea typeface="Trebuchet MS" pitchFamily="34" charset="-122"/>
                <a:cs typeface="Trebuchet MS" pitchFamily="34" charset="-120"/>
              </a:rPr>
              <a:t>401</a:t>
            </a:r>
            <a:endParaRPr lang="en-US" sz="1400" dirty="0"/>
          </a:p>
        </p:txBody>
      </p:sp>
      <p:sp>
        <p:nvSpPr>
          <p:cNvPr id="6" name="Text 4"/>
          <p:cNvSpPr/>
          <p:nvPr/>
        </p:nvSpPr>
        <p:spPr>
          <a:xfrm>
            <a:off x="722376" y="1828800"/>
            <a:ext cx="2127504" cy="71323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Unauthorised — no key, a malformed header, or a key nobody recognises.</a:t>
            </a:r>
            <a:endParaRPr lang="en-US" sz="1050" dirty="0"/>
          </a:p>
        </p:txBody>
      </p:sp>
      <p:sp>
        <p:nvSpPr>
          <p:cNvPr id="7" name="card background">
            <a:extLst>
              <a:ext uri="{C183D7F6-B498-43B3-948B-1728B52AA6E4}">
                <adec:decorative xmlns:adec="http://schemas.microsoft.com/office/drawing/2017/decorative" val="1"/>
              </a:ext>
            </a:extLst>
          </p:cNvPr>
          <p:cNvSpPr/>
          <p:nvPr/>
        </p:nvSpPr>
        <p:spPr>
          <a:xfrm>
            <a:off x="3288792" y="1280160"/>
            <a:ext cx="2566416" cy="1371600"/>
          </a:xfrm>
          <a:prstGeom prst="roundRect">
            <a:avLst>
              <a:gd name="adj" fmla="val 400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8" name="Text 6"/>
          <p:cNvSpPr/>
          <p:nvPr/>
        </p:nvSpPr>
        <p:spPr>
          <a:xfrm>
            <a:off x="3508248" y="1463040"/>
            <a:ext cx="2164080" cy="329184"/>
          </a:xfrm>
          <a:prstGeom prst="rect">
            <a:avLst/>
          </a:prstGeom>
          <a:noFill/>
          <a:ln/>
        </p:spPr>
        <p:txBody>
          <a:bodyPr wrap="square" lIns="0" tIns="0" rIns="0" bIns="0" rtlCol="0" anchor="ctr"/>
          <a:lstStyle/>
          <a:p>
            <a:pPr marL="0" indent="0">
              <a:buNone/>
            </a:pPr>
            <a:r>
              <a:rPr lang="en-US" sz="1400" b="1" dirty="0">
                <a:solidFill>
                  <a:srgbClr val="D9534F"/>
                </a:solidFill>
                <a:latin typeface="Trebuchet MS" pitchFamily="34" charset="0"/>
                <a:ea typeface="Trebuchet MS" pitchFamily="34" charset="-122"/>
                <a:cs typeface="Trebuchet MS" pitchFamily="34" charset="-120"/>
              </a:rPr>
              <a:t>403</a:t>
            </a:r>
            <a:endParaRPr lang="en-US" sz="1400" dirty="0"/>
          </a:p>
        </p:txBody>
      </p:sp>
      <p:sp>
        <p:nvSpPr>
          <p:cNvPr id="9" name="Text 7">
            <a:extLst>
              <a:ext uri="{C183D7F6-B498-43B3-948B-1728B52AA6E4}">
                <adec:decorative xmlns:adec="http://schemas.microsoft.com/office/drawing/2017/decorative" val="1"/>
              </a:ext>
            </a:extLst>
          </p:cNvPr>
          <p:cNvSpPr/>
          <p:nvPr/>
        </p:nvSpPr>
        <p:spPr>
          <a:xfrm>
            <a:off x="3508248" y="1828800"/>
            <a:ext cx="2127504" cy="71323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Forbidden — the key is real, but this identity may not do this.</a:t>
            </a:r>
            <a:endParaRPr lang="en-US" sz="1050" dirty="0"/>
          </a:p>
        </p:txBody>
      </p:sp>
      <p:sp>
        <p:nvSpPr>
          <p:cNvPr id="10" name="card background">
            <a:extLst>
              <a:ext uri="{C183D7F6-B498-43B3-948B-1728B52AA6E4}">
                <adec:decorative xmlns:adec="http://schemas.microsoft.com/office/drawing/2017/decorative" val="1"/>
              </a:ext>
            </a:extLst>
          </p:cNvPr>
          <p:cNvSpPr/>
          <p:nvPr/>
        </p:nvSpPr>
        <p:spPr>
          <a:xfrm>
            <a:off x="6074664" y="1280160"/>
            <a:ext cx="2566416" cy="1371600"/>
          </a:xfrm>
          <a:prstGeom prst="roundRect">
            <a:avLst>
              <a:gd name="adj" fmla="val 400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1" name="step marker">
            <a:extLst>
              <a:ext uri="{C183D7F6-B498-43B3-948B-1728B52AA6E4}">
                <adec:decorative xmlns:adec="http://schemas.microsoft.com/office/drawing/2017/decorative" val="1"/>
              </a:ext>
            </a:extLst>
          </p:cNvPr>
          <p:cNvSpPr/>
          <p:nvPr/>
        </p:nvSpPr>
        <p:spPr>
          <a:xfrm>
            <a:off x="6275832" y="1463040"/>
            <a:ext cx="310896" cy="310896"/>
          </a:xfrm>
          <a:prstGeom prst="ellipse">
            <a:avLst/>
          </a:prstGeom>
          <a:solidFill>
            <a:srgbClr val="F2A65A"/>
          </a:solidFill>
          <a:ln w="12700">
            <a:solidFill>
              <a:srgbClr val="F2A65A"/>
            </a:solidFill>
            <a:prstDash val="solid"/>
          </a:ln>
        </p:spPr>
        <p:txBody>
          <a:bodyPr/>
          <a:lstStyle/>
          <a:p>
            <a:endParaRPr lang="en-SE"/>
          </a:p>
        </p:txBody>
      </p:sp>
      <p:sp>
        <p:nvSpPr>
          <p:cNvPr id="12" name="Text 10"/>
          <p:cNvSpPr/>
          <p:nvPr/>
        </p:nvSpPr>
        <p:spPr>
          <a:xfrm>
            <a:off x="6275832" y="1463040"/>
            <a:ext cx="310896" cy="310896"/>
          </a:xfrm>
          <a:prstGeom prst="rect">
            <a:avLst/>
          </a:prstGeom>
          <a:noFill/>
          <a:ln/>
        </p:spPr>
        <p:txBody>
          <a:bodyPr wrap="square" lIns="0" tIns="0" rIns="0" bIns="0" rtlCol="0" anchor="ctr"/>
          <a:lstStyle/>
          <a:p>
            <a:pPr marL="0" indent="0" algn="ctr">
              <a:buNone/>
            </a:pPr>
            <a:endParaRPr lang="en-US" sz="1300" dirty="0"/>
          </a:p>
        </p:txBody>
      </p:sp>
      <p:sp>
        <p:nvSpPr>
          <p:cNvPr id="13" name="Text 11"/>
          <p:cNvSpPr/>
          <p:nvPr/>
        </p:nvSpPr>
        <p:spPr>
          <a:xfrm>
            <a:off x="6678168" y="1463040"/>
            <a:ext cx="1780032" cy="329184"/>
          </a:xfrm>
          <a:prstGeom prst="rect">
            <a:avLst/>
          </a:prstGeom>
          <a:noFill/>
          <a:ln/>
        </p:spPr>
        <p:txBody>
          <a:bodyPr wrap="square" lIns="0" tIns="0" rIns="0" bIns="0" rtlCol="0" anchor="ctr"/>
          <a:lstStyle/>
          <a:p>
            <a:pPr marL="0" indent="0">
              <a:buNone/>
            </a:pPr>
            <a:r>
              <a:rPr lang="en-US" sz="1400" b="1" dirty="0">
                <a:solidFill>
                  <a:srgbClr val="F2A65A"/>
                </a:solidFill>
                <a:latin typeface="Trebuchet MS" pitchFamily="34" charset="0"/>
                <a:ea typeface="Trebuchet MS" pitchFamily="34" charset="-122"/>
                <a:cs typeface="Trebuchet MS" pitchFamily="34" charset="-120"/>
              </a:rPr>
              <a:t>409</a:t>
            </a:r>
            <a:endParaRPr lang="en-US" sz="1400" dirty="0"/>
          </a:p>
        </p:txBody>
      </p:sp>
      <p:sp>
        <p:nvSpPr>
          <p:cNvPr id="14" name="Text 12">
            <a:extLst>
              <a:ext uri="{C183D7F6-B498-43B3-948B-1728B52AA6E4}">
                <adec:decorative xmlns:adec="http://schemas.microsoft.com/office/drawing/2017/decorative" val="1"/>
              </a:ext>
            </a:extLst>
          </p:cNvPr>
          <p:cNvSpPr/>
          <p:nvPr/>
        </p:nvSpPr>
        <p:spPr>
          <a:xfrm>
            <a:off x="6294120" y="1828800"/>
            <a:ext cx="2127504" cy="71323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Conflict — you reused a client reference that is still active.</a:t>
            </a:r>
            <a:endParaRPr lang="en-US" sz="1050" dirty="0"/>
          </a:p>
        </p:txBody>
      </p:sp>
      <p:sp>
        <p:nvSpPr>
          <p:cNvPr id="15" name="card background">
            <a:extLst>
              <a:ext uri="{C183D7F6-B498-43B3-948B-1728B52AA6E4}">
                <adec:decorative xmlns:adec="http://schemas.microsoft.com/office/drawing/2017/decorative" val="1"/>
              </a:ext>
            </a:extLst>
          </p:cNvPr>
          <p:cNvSpPr/>
          <p:nvPr/>
        </p:nvSpPr>
        <p:spPr>
          <a:xfrm>
            <a:off x="502920" y="2852928"/>
            <a:ext cx="2566416" cy="1371600"/>
          </a:xfrm>
          <a:prstGeom prst="roundRect">
            <a:avLst>
              <a:gd name="adj" fmla="val 400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6" name="step marker">
            <a:extLst>
              <a:ext uri="{C183D7F6-B498-43B3-948B-1728B52AA6E4}">
                <adec:decorative xmlns:adec="http://schemas.microsoft.com/office/drawing/2017/decorative" val="1"/>
              </a:ext>
            </a:extLst>
          </p:cNvPr>
          <p:cNvSpPr/>
          <p:nvPr/>
        </p:nvSpPr>
        <p:spPr>
          <a:xfrm>
            <a:off x="704088" y="3035808"/>
            <a:ext cx="310896" cy="310896"/>
          </a:xfrm>
          <a:prstGeom prst="ellipse">
            <a:avLst/>
          </a:prstGeom>
          <a:solidFill>
            <a:srgbClr val="F2A65A"/>
          </a:solidFill>
          <a:ln w="12700">
            <a:solidFill>
              <a:srgbClr val="F2A65A"/>
            </a:solidFill>
            <a:prstDash val="solid"/>
          </a:ln>
        </p:spPr>
        <p:txBody>
          <a:bodyPr/>
          <a:lstStyle/>
          <a:p>
            <a:endParaRPr lang="en-SE"/>
          </a:p>
        </p:txBody>
      </p:sp>
      <p:sp>
        <p:nvSpPr>
          <p:cNvPr id="17" name="Text 15"/>
          <p:cNvSpPr/>
          <p:nvPr/>
        </p:nvSpPr>
        <p:spPr>
          <a:xfrm>
            <a:off x="704088" y="3035808"/>
            <a:ext cx="310896" cy="310896"/>
          </a:xfrm>
          <a:prstGeom prst="rect">
            <a:avLst/>
          </a:prstGeom>
          <a:noFill/>
          <a:ln/>
        </p:spPr>
        <p:txBody>
          <a:bodyPr wrap="square" lIns="0" tIns="0" rIns="0" bIns="0" rtlCol="0" anchor="ctr"/>
          <a:lstStyle/>
          <a:p>
            <a:pPr marL="0" indent="0" algn="ctr">
              <a:buNone/>
            </a:pPr>
            <a:endParaRPr lang="en-US" sz="1300" dirty="0"/>
          </a:p>
        </p:txBody>
      </p:sp>
      <p:sp>
        <p:nvSpPr>
          <p:cNvPr id="18" name="Text 16"/>
          <p:cNvSpPr/>
          <p:nvPr/>
        </p:nvSpPr>
        <p:spPr>
          <a:xfrm>
            <a:off x="1106424" y="3035808"/>
            <a:ext cx="1780032" cy="329184"/>
          </a:xfrm>
          <a:prstGeom prst="rect">
            <a:avLst/>
          </a:prstGeom>
          <a:noFill/>
          <a:ln/>
        </p:spPr>
        <p:txBody>
          <a:bodyPr wrap="square" lIns="0" tIns="0" rIns="0" bIns="0" rtlCol="0" anchor="ctr"/>
          <a:lstStyle/>
          <a:p>
            <a:pPr marL="0" indent="0">
              <a:buNone/>
            </a:pPr>
            <a:r>
              <a:rPr lang="en-US" sz="1400" b="1" dirty="0">
                <a:solidFill>
                  <a:srgbClr val="F2A65A"/>
                </a:solidFill>
                <a:latin typeface="Trebuchet MS" pitchFamily="34" charset="0"/>
                <a:ea typeface="Trebuchet MS" pitchFamily="34" charset="-122"/>
                <a:cs typeface="Trebuchet MS" pitchFamily="34" charset="-120"/>
              </a:rPr>
              <a:t>422 / 400</a:t>
            </a:r>
            <a:endParaRPr lang="en-US" sz="1400" dirty="0"/>
          </a:p>
        </p:txBody>
      </p:sp>
      <p:sp>
        <p:nvSpPr>
          <p:cNvPr id="19" name="Text 17">
            <a:extLst>
              <a:ext uri="{C183D7F6-B498-43B3-948B-1728B52AA6E4}">
                <adec:decorative xmlns:adec="http://schemas.microsoft.com/office/drawing/2017/decorative" val="1"/>
              </a:ext>
            </a:extLst>
          </p:cNvPr>
          <p:cNvSpPr/>
          <p:nvPr/>
        </p:nvSpPr>
        <p:spPr>
          <a:xfrm>
            <a:off x="722376" y="3401568"/>
            <a:ext cx="2127504" cy="71323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Invalid — the body or the query parameters do not satisfy the rules.</a:t>
            </a:r>
            <a:endParaRPr lang="en-US" sz="1050" dirty="0"/>
          </a:p>
        </p:txBody>
      </p:sp>
      <p:sp>
        <p:nvSpPr>
          <p:cNvPr id="20" name="card background">
            <a:extLst>
              <a:ext uri="{C183D7F6-B498-43B3-948B-1728B52AA6E4}">
                <adec:decorative xmlns:adec="http://schemas.microsoft.com/office/drawing/2017/decorative" val="1"/>
              </a:ext>
            </a:extLst>
          </p:cNvPr>
          <p:cNvSpPr/>
          <p:nvPr/>
        </p:nvSpPr>
        <p:spPr>
          <a:xfrm>
            <a:off x="3288792" y="2852928"/>
            <a:ext cx="2566416" cy="1371600"/>
          </a:xfrm>
          <a:prstGeom prst="roundRect">
            <a:avLst>
              <a:gd name="adj" fmla="val 400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21" name="step marker">
            <a:extLst>
              <a:ext uri="{C183D7F6-B498-43B3-948B-1728B52AA6E4}">
                <adec:decorative xmlns:adec="http://schemas.microsoft.com/office/drawing/2017/decorative" val="1"/>
              </a:ext>
            </a:extLst>
          </p:cNvPr>
          <p:cNvSpPr/>
          <p:nvPr/>
        </p:nvSpPr>
        <p:spPr>
          <a:xfrm>
            <a:off x="3489960" y="3035808"/>
            <a:ext cx="310896" cy="310896"/>
          </a:xfrm>
          <a:prstGeom prst="ellipse">
            <a:avLst/>
          </a:prstGeom>
          <a:solidFill>
            <a:srgbClr val="8B7BD8"/>
          </a:solidFill>
          <a:ln w="12700">
            <a:solidFill>
              <a:srgbClr val="8B7BD8"/>
            </a:solidFill>
            <a:prstDash val="solid"/>
          </a:ln>
        </p:spPr>
        <p:txBody>
          <a:bodyPr/>
          <a:lstStyle/>
          <a:p>
            <a:endParaRPr lang="en-SE"/>
          </a:p>
        </p:txBody>
      </p:sp>
      <p:sp>
        <p:nvSpPr>
          <p:cNvPr id="22" name="Text 20"/>
          <p:cNvSpPr/>
          <p:nvPr/>
        </p:nvSpPr>
        <p:spPr>
          <a:xfrm>
            <a:off x="3489960" y="3035808"/>
            <a:ext cx="310896" cy="310896"/>
          </a:xfrm>
          <a:prstGeom prst="rect">
            <a:avLst/>
          </a:prstGeom>
          <a:noFill/>
          <a:ln/>
        </p:spPr>
        <p:txBody>
          <a:bodyPr wrap="square" lIns="0" tIns="0" rIns="0" bIns="0" rtlCol="0" anchor="ctr"/>
          <a:lstStyle/>
          <a:p>
            <a:pPr marL="0" indent="0" algn="ctr">
              <a:buNone/>
            </a:pPr>
            <a:endParaRPr lang="en-US" sz="1300" dirty="0"/>
          </a:p>
        </p:txBody>
      </p:sp>
      <p:sp>
        <p:nvSpPr>
          <p:cNvPr id="23" name="Text 21"/>
          <p:cNvSpPr/>
          <p:nvPr/>
        </p:nvSpPr>
        <p:spPr>
          <a:xfrm>
            <a:off x="3892296" y="3035808"/>
            <a:ext cx="1780032" cy="329184"/>
          </a:xfrm>
          <a:prstGeom prst="rect">
            <a:avLst/>
          </a:prstGeom>
          <a:noFill/>
          <a:ln/>
        </p:spPr>
        <p:txBody>
          <a:bodyPr wrap="square" lIns="0" tIns="0" rIns="0" bIns="0" rtlCol="0" anchor="ctr"/>
          <a:lstStyle/>
          <a:p>
            <a:pPr marL="0" indent="0">
              <a:buNone/>
            </a:pPr>
            <a:r>
              <a:rPr lang="en-US" sz="1400" b="1" dirty="0">
                <a:solidFill>
                  <a:srgbClr val="8B7BD8"/>
                </a:solidFill>
                <a:latin typeface="Trebuchet MS" pitchFamily="34" charset="0"/>
                <a:ea typeface="Trebuchet MS" pitchFamily="34" charset="-122"/>
                <a:cs typeface="Trebuchet MS" pitchFamily="34" charset="-120"/>
              </a:rPr>
              <a:t>429</a:t>
            </a:r>
            <a:endParaRPr lang="en-US" sz="1400" dirty="0"/>
          </a:p>
        </p:txBody>
      </p:sp>
      <p:sp>
        <p:nvSpPr>
          <p:cNvPr id="24" name="Text 22">
            <a:extLst>
              <a:ext uri="{C183D7F6-B498-43B3-948B-1728B52AA6E4}">
                <adec:decorative xmlns:adec="http://schemas.microsoft.com/office/drawing/2017/decorative" val="1"/>
              </a:ext>
            </a:extLst>
          </p:cNvPr>
          <p:cNvSpPr/>
          <p:nvPr/>
        </p:nvSpPr>
        <p:spPr>
          <a:xfrm>
            <a:off x="3508248" y="3401568"/>
            <a:ext cx="2127504" cy="71323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Too many requests — your write rate limit for this key was exceeded.</a:t>
            </a:r>
            <a:endParaRPr lang="en-US" sz="1050" dirty="0"/>
          </a:p>
        </p:txBody>
      </p:sp>
      <p:sp>
        <p:nvSpPr>
          <p:cNvPr id="25" name="card background">
            <a:extLst>
              <a:ext uri="{C183D7F6-B498-43B3-948B-1728B52AA6E4}">
                <adec:decorative xmlns:adec="http://schemas.microsoft.com/office/drawing/2017/decorative" val="1"/>
              </a:ext>
            </a:extLst>
          </p:cNvPr>
          <p:cNvSpPr/>
          <p:nvPr/>
        </p:nvSpPr>
        <p:spPr>
          <a:xfrm>
            <a:off x="6074664" y="2852928"/>
            <a:ext cx="2566416" cy="1371600"/>
          </a:xfrm>
          <a:prstGeom prst="roundRect">
            <a:avLst>
              <a:gd name="adj" fmla="val 400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26" name="Text 24"/>
          <p:cNvSpPr/>
          <p:nvPr/>
        </p:nvSpPr>
        <p:spPr>
          <a:xfrm>
            <a:off x="6294120" y="3035808"/>
            <a:ext cx="2164080" cy="329184"/>
          </a:xfrm>
          <a:prstGeom prst="rect">
            <a:avLst/>
          </a:prstGeom>
          <a:noFill/>
          <a:ln/>
        </p:spPr>
        <p:txBody>
          <a:bodyPr wrap="square" lIns="0" tIns="0" rIns="0" bIns="0" rtlCol="0" anchor="ctr"/>
          <a:lstStyle/>
          <a:p>
            <a:pPr marL="0" indent="0">
              <a:buNone/>
            </a:pPr>
            <a:r>
              <a:rPr lang="en-US" sz="1400" b="1" dirty="0">
                <a:solidFill>
                  <a:srgbClr val="35A79C"/>
                </a:solidFill>
                <a:latin typeface="Trebuchet MS" pitchFamily="34" charset="0"/>
                <a:ea typeface="Trebuchet MS" pitchFamily="34" charset="-122"/>
                <a:cs typeface="Trebuchet MS" pitchFamily="34" charset="-120"/>
              </a:rPr>
              <a:t>502 / 503</a:t>
            </a:r>
            <a:endParaRPr lang="en-US" sz="1400" dirty="0"/>
          </a:p>
        </p:txBody>
      </p:sp>
      <p:sp>
        <p:nvSpPr>
          <p:cNvPr id="27" name="Text 25"/>
          <p:cNvSpPr/>
          <p:nvPr/>
        </p:nvSpPr>
        <p:spPr>
          <a:xfrm>
            <a:off x="6294120" y="3401568"/>
            <a:ext cx="2127504" cy="71323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Upstream trouble — a component behind the gateway failed or stayed silent.</a:t>
            </a:r>
            <a:endParaRPr lang="en-US" sz="1050" dirty="0"/>
          </a:p>
        </p:txBody>
      </p:sp>
      <p:sp>
        <p:nvSpPr>
          <p:cNvPr id="28" name="Text 26"/>
          <p:cNvSpPr/>
          <p:nvPr/>
        </p:nvSpPr>
        <p:spPr>
          <a:xfrm>
            <a:off x="502920" y="4261104"/>
            <a:ext cx="8138160" cy="365760"/>
          </a:xfrm>
          <a:prstGeom prst="rect">
            <a:avLst/>
          </a:prstGeom>
          <a:noFill/>
          <a:ln/>
        </p:spPr>
        <p:txBody>
          <a:bodyPr wrap="square" lIns="0" tIns="0" rIns="0" bIns="0" rtlCol="0" anchor="t"/>
          <a:lstStyle/>
          <a:p>
            <a:pPr marL="0" indent="0" algn="l">
              <a:buNone/>
            </a:pPr>
            <a:r>
              <a:rPr lang="en-US" sz="1150" i="1" dirty="0">
                <a:solidFill>
                  <a:srgbClr val="97A1AC"/>
                </a:solidFill>
                <a:latin typeface="Calibri" pitchFamily="34" charset="0"/>
                <a:ea typeface="Calibri" pitchFamily="34" charset="-122"/>
                <a:cs typeface="Calibri" pitchFamily="34" charset="-120"/>
              </a:rPr>
              <a:t>A useful split: 4xx means change your request; 5xx means retry sensibly or wait for the system to recover.</a:t>
            </a:r>
            <a:endParaRPr lang="en-US" sz="1150" dirty="0"/>
          </a:p>
        </p:txBody>
      </p:sp>
      <p:sp>
        <p:nvSpPr>
          <p:cNvPr id="29" name="Text 27">
            <a:extLst>
              <a:ext uri="{C183D7F6-B498-43B3-948B-1728B52AA6E4}">
                <adec:decorative xmlns:adec="http://schemas.microsoft.com/office/drawing/2017/decorative" val="1"/>
              </a:ext>
            </a:extLst>
          </p:cNvPr>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When things go wrong</a:t>
            </a:r>
            <a:endParaRPr lang="en-US" sz="900" dirty="0"/>
          </a:p>
        </p:txBody>
      </p:sp>
      <p:sp>
        <p:nvSpPr>
          <p:cNvPr id="30" name="Text 28">
            <a:extLst>
              <a:ext uri="{C183D7F6-B498-43B3-948B-1728B52AA6E4}">
                <adec:decorative xmlns:adec="http://schemas.microsoft.com/office/drawing/2017/decorative" val="1"/>
              </a:ext>
            </a:extLst>
          </p:cNvPr>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51</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8138160" cy="548640"/>
          </a:xfrm>
          <a:prstGeom prst="rect">
            <a:avLst/>
          </a:prstGeom>
          <a:noFill/>
          <a:ln/>
        </p:spPr>
        <p:txBody>
          <a:bodyPr wrap="square" lIns="0" tIns="0" rIns="0" bIns="0" rtlCol="0" anchor="ctr"/>
          <a:lstStyle/>
          <a:p>
            <a:pPr marL="0" indent="0">
              <a:buNone/>
            </a:pPr>
            <a:r>
              <a:rPr lang="en-US" sz="2700" b="1" dirty="0">
                <a:solidFill>
                  <a:srgbClr val="F3F5F7"/>
                </a:solidFill>
                <a:latin typeface="Trebuchet MS" pitchFamily="34" charset="0"/>
                <a:ea typeface="Trebuchet MS" pitchFamily="34" charset="-122"/>
                <a:cs typeface="Trebuchet MS" pitchFamily="34" charset="-120"/>
              </a:rPr>
              <a:t>The error codes you will actually meet</a:t>
            </a:r>
            <a:endParaRPr lang="en-US" sz="2700" dirty="0"/>
          </a:p>
        </p:txBody>
      </p:sp>
      <p:sp>
        <p:nvSpPr>
          <p:cNvPr id="3" name="Text 1"/>
          <p:cNvSpPr/>
          <p:nvPr/>
        </p:nvSpPr>
        <p:spPr>
          <a:xfrm>
            <a:off x="502920" y="841248"/>
            <a:ext cx="8138160" cy="237744"/>
          </a:xfrm>
          <a:prstGeom prst="rect">
            <a:avLst/>
          </a:prstGeom>
          <a:noFill/>
          <a:ln/>
        </p:spPr>
        <p:txBody>
          <a:bodyPr wrap="square" lIns="0" tIns="0" rIns="0" bIns="0" rtlCol="0" anchor="ctr"/>
          <a:lstStyle/>
          <a:p>
            <a:pPr marL="0" indent="0">
              <a:buNone/>
            </a:pPr>
            <a:r>
              <a:rPr lang="en-US" sz="1100" b="1" kern="0" spc="200" dirty="0">
                <a:solidFill>
                  <a:srgbClr val="E8722C"/>
                </a:solidFill>
                <a:latin typeface="Calibri" pitchFamily="34" charset="0"/>
                <a:ea typeface="Calibri" pitchFamily="34" charset="-122"/>
                <a:cs typeface="Calibri" pitchFamily="34" charset="-120"/>
              </a:rPr>
              <a:t>CATALOGUE</a:t>
            </a:r>
            <a:endParaRPr lang="en-US" sz="1100" dirty="0"/>
          </a:p>
        </p:txBody>
      </p:sp>
      <p:graphicFrame>
        <p:nvGraphicFramePr>
          <p:cNvPr id="53" name="Table 0"/>
          <p:cNvGraphicFramePr>
            <a:graphicFrameLocks noGrp="1"/>
          </p:cNvGraphicFramePr>
          <p:nvPr>
            <p:extLst>
              <p:ext uri="{D42A27DB-BD31-4B8C-83A1-F6EECF244321}">
                <p14:modId xmlns:p14="http://schemas.microsoft.com/office/powerpoint/2010/main" val="3688245782"/>
              </p:ext>
            </p:extLst>
          </p:nvPr>
        </p:nvGraphicFramePr>
        <p:xfrm>
          <a:off x="502920" y="1188720"/>
          <a:ext cx="8138160" cy="914400"/>
        </p:xfrm>
        <a:graphic>
          <a:graphicData uri="http://schemas.openxmlformats.org/drawingml/2006/table">
            <a:tbl>
              <a:tblPr/>
              <a:tblGrid>
                <a:gridCol w="210312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4754880">
                  <a:extLst>
                    <a:ext uri="{9D8B030D-6E8A-4147-A177-3AD203B41FA5}">
                      <a16:colId xmlns:a16="http://schemas.microsoft.com/office/drawing/2014/main" val="20002"/>
                    </a:ext>
                  </a:extLst>
                </a:gridCol>
              </a:tblGrid>
              <a:tr h="237744">
                <a:tc>
                  <a:txBody>
                    <a:bodyPr/>
                    <a:lstStyle/>
                    <a:p>
                      <a:pPr marL="0" indent="0">
                        <a:buNone/>
                      </a:pPr>
                      <a:r>
                        <a:rPr lang="en-US" sz="1100" b="1" dirty="0">
                          <a:solidFill>
                            <a:srgbClr val="121519"/>
                          </a:solidFill>
                          <a:latin typeface="Trebuchet MS" pitchFamily="34" charset="0"/>
                          <a:ea typeface="Trebuchet MS" pitchFamily="34" charset="-122"/>
                          <a:cs typeface="Trebuchet MS" pitchFamily="34" charset="-120"/>
                        </a:rPr>
                        <a:t>Code</a:t>
                      </a:r>
                      <a:endParaRPr lang="en-US" sz="1100" dirty="0">
                        <a:latin typeface="Trebuchet MS" charset="0"/>
                        <a:ea typeface="Trebuchet MS" charset="0"/>
                        <a:cs typeface="Trebuchet M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E8722C"/>
                    </a:solidFill>
                  </a:tcPr>
                </a:tc>
                <a:tc>
                  <a:txBody>
                    <a:bodyPr/>
                    <a:lstStyle/>
                    <a:p>
                      <a:pPr marL="0" indent="0">
                        <a:buNone/>
                      </a:pPr>
                      <a:r>
                        <a:rPr lang="en-US" sz="1100" b="1" dirty="0">
                          <a:solidFill>
                            <a:srgbClr val="121519"/>
                          </a:solidFill>
                          <a:latin typeface="Trebuchet MS" pitchFamily="34" charset="0"/>
                          <a:ea typeface="Trebuchet MS" pitchFamily="34" charset="-122"/>
                          <a:cs typeface="Trebuchet MS" pitchFamily="34" charset="-120"/>
                        </a:rPr>
                        <a:t>Status</a:t>
                      </a:r>
                      <a:endParaRPr lang="en-US" sz="1100" dirty="0">
                        <a:latin typeface="Trebuchet MS" charset="0"/>
                        <a:ea typeface="Trebuchet MS" charset="0"/>
                        <a:cs typeface="Trebuchet M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E8722C"/>
                    </a:solidFill>
                  </a:tcPr>
                </a:tc>
                <a:tc>
                  <a:txBody>
                    <a:bodyPr/>
                    <a:lstStyle/>
                    <a:p>
                      <a:pPr marL="0" indent="0">
                        <a:buNone/>
                      </a:pPr>
                      <a:r>
                        <a:rPr lang="en-US" sz="1100" b="1" dirty="0">
                          <a:solidFill>
                            <a:srgbClr val="121519"/>
                          </a:solidFill>
                          <a:latin typeface="Trebuchet MS" pitchFamily="34" charset="0"/>
                          <a:ea typeface="Trebuchet MS" pitchFamily="34" charset="-122"/>
                          <a:cs typeface="Trebuchet MS" pitchFamily="34" charset="-120"/>
                        </a:rPr>
                        <a:t>What it really means</a:t>
                      </a:r>
                      <a:endParaRPr lang="en-US" sz="1100" dirty="0">
                        <a:latin typeface="Trebuchet MS" charset="0"/>
                        <a:ea typeface="Trebuchet MS" charset="0"/>
                        <a:cs typeface="Trebuchet M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E8722C"/>
                    </a:solidFill>
                  </a:tcPr>
                </a:tc>
                <a:extLst>
                  <a:ext uri="{0D108BD9-81ED-4DB2-BD59-A6C34878D82A}">
                    <a16:rowId xmlns:a16="http://schemas.microsoft.com/office/drawing/2014/main" val="10000"/>
                  </a:ext>
                </a:extLst>
              </a:tr>
              <a:tr h="237744">
                <a:tc>
                  <a:txBody>
                    <a:bodyPr/>
                    <a:lstStyle/>
                    <a:p>
                      <a:pPr marL="0" indent="0">
                        <a:buNone/>
                      </a:pPr>
                      <a:r>
                        <a:rPr lang="en-US" sz="950" dirty="0">
                          <a:solidFill>
                            <a:srgbClr val="F2A65A"/>
                          </a:solidFill>
                          <a:latin typeface="Consolas" pitchFamily="34" charset="0"/>
                          <a:ea typeface="Consolas" pitchFamily="34" charset="-122"/>
                          <a:cs typeface="Consolas" pitchFamily="34" charset="-120"/>
                        </a:rPr>
                        <a:t>AUTH</a:t>
                      </a:r>
                      <a:endParaRPr lang="en-US" sz="95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401</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The key is missing, malformed or unknown</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extLst>
                  <a:ext uri="{0D108BD9-81ED-4DB2-BD59-A6C34878D82A}">
                    <a16:rowId xmlns:a16="http://schemas.microsoft.com/office/drawing/2014/main" val="10001"/>
                  </a:ext>
                </a:extLst>
              </a:tr>
              <a:tr h="237744">
                <a:tc>
                  <a:txBody>
                    <a:bodyPr/>
                    <a:lstStyle/>
                    <a:p>
                      <a:pPr marL="0" indent="0">
                        <a:buNone/>
                      </a:pPr>
                      <a:r>
                        <a:rPr lang="en-US" sz="950" dirty="0">
                          <a:solidFill>
                            <a:srgbClr val="F2A65A"/>
                          </a:solidFill>
                          <a:latin typeface="Consolas" pitchFamily="34" charset="0"/>
                          <a:ea typeface="Consolas" pitchFamily="34" charset="-122"/>
                          <a:cs typeface="Consolas" pitchFamily="34" charset="-120"/>
                        </a:rPr>
                        <a:t>ENGINE_AUTH</a:t>
                      </a:r>
                      <a:endParaRPr lang="en-US" sz="95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403</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The exchange does not allow this identity</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extLst>
                  <a:ext uri="{0D108BD9-81ED-4DB2-BD59-A6C34878D82A}">
                    <a16:rowId xmlns:a16="http://schemas.microsoft.com/office/drawing/2014/main" val="10002"/>
                  </a:ext>
                </a:extLst>
              </a:tr>
              <a:tr h="237744">
                <a:tc>
                  <a:txBody>
                    <a:bodyPr/>
                    <a:lstStyle/>
                    <a:p>
                      <a:pPr marL="0" indent="0">
                        <a:buNone/>
                      </a:pPr>
                      <a:r>
                        <a:rPr lang="en-US" sz="950" dirty="0">
                          <a:solidFill>
                            <a:srgbClr val="F2A65A"/>
                          </a:solidFill>
                          <a:latin typeface="Consolas" pitchFamily="34" charset="0"/>
                          <a:ea typeface="Consolas" pitchFamily="34" charset="-122"/>
                          <a:cs typeface="Consolas" pitchFamily="34" charset="-120"/>
                        </a:rPr>
                        <a:t>READ_ONLY</a:t>
                      </a:r>
                      <a:endParaRPr lang="en-US" sz="95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403</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A viewer key tried to trade</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extLst>
                  <a:ext uri="{0D108BD9-81ED-4DB2-BD59-A6C34878D82A}">
                    <a16:rowId xmlns:a16="http://schemas.microsoft.com/office/drawing/2014/main" val="10003"/>
                  </a:ext>
                </a:extLst>
              </a:tr>
              <a:tr h="237744">
                <a:tc>
                  <a:txBody>
                    <a:bodyPr/>
                    <a:lstStyle/>
                    <a:p>
                      <a:pPr marL="0" indent="0">
                        <a:buNone/>
                      </a:pPr>
                      <a:r>
                        <a:rPr lang="en-US" sz="950" dirty="0">
                          <a:solidFill>
                            <a:srgbClr val="F2A65A"/>
                          </a:solidFill>
                          <a:latin typeface="Consolas" pitchFamily="34" charset="0"/>
                          <a:ea typeface="Consolas" pitchFamily="34" charset="-122"/>
                          <a:cs typeface="Consolas" pitchFamily="34" charset="-120"/>
                        </a:rPr>
                        <a:t>ROLE_DENIED</a:t>
                      </a:r>
                      <a:endParaRPr lang="en-US" sz="95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403</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The identity lacks the administrative role</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extLst>
                  <a:ext uri="{0D108BD9-81ED-4DB2-BD59-A6C34878D82A}">
                    <a16:rowId xmlns:a16="http://schemas.microsoft.com/office/drawing/2014/main" val="10004"/>
                  </a:ext>
                </a:extLst>
              </a:tr>
              <a:tr h="237744">
                <a:tc>
                  <a:txBody>
                    <a:bodyPr/>
                    <a:lstStyle/>
                    <a:p>
                      <a:pPr marL="0" indent="0">
                        <a:buNone/>
                      </a:pPr>
                      <a:r>
                        <a:rPr lang="en-US" sz="950" dirty="0">
                          <a:solidFill>
                            <a:srgbClr val="F2A65A"/>
                          </a:solidFill>
                          <a:latin typeface="Consolas" pitchFamily="34" charset="0"/>
                          <a:ea typeface="Consolas" pitchFamily="34" charset="-122"/>
                          <a:cs typeface="Consolas" pitchFamily="34" charset="-120"/>
                        </a:rPr>
                        <a:t>RATE_LIMIT</a:t>
                      </a:r>
                      <a:endParaRPr lang="en-US" sz="95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429</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Too many writes with this key, too quickly</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extLst>
                  <a:ext uri="{0D108BD9-81ED-4DB2-BD59-A6C34878D82A}">
                    <a16:rowId xmlns:a16="http://schemas.microsoft.com/office/drawing/2014/main" val="10005"/>
                  </a:ext>
                </a:extLst>
              </a:tr>
              <a:tr h="237744">
                <a:tc>
                  <a:txBody>
                    <a:bodyPr/>
                    <a:lstStyle/>
                    <a:p>
                      <a:pPr marL="0" indent="0">
                        <a:buNone/>
                      </a:pPr>
                      <a:r>
                        <a:rPr lang="en-US" sz="950" dirty="0">
                          <a:solidFill>
                            <a:srgbClr val="F2A65A"/>
                          </a:solidFill>
                          <a:latin typeface="Consolas" pitchFamily="34" charset="0"/>
                          <a:ea typeface="Consolas" pitchFamily="34" charset="-122"/>
                          <a:cs typeface="Consolas" pitchFamily="34" charset="-120"/>
                        </a:rPr>
                        <a:t>DUPLICATE</a:t>
                      </a:r>
                      <a:endParaRPr lang="en-US" sz="95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409</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That client reference is already live</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extLst>
                  <a:ext uri="{0D108BD9-81ED-4DB2-BD59-A6C34878D82A}">
                    <a16:rowId xmlns:a16="http://schemas.microsoft.com/office/drawing/2014/main" val="10006"/>
                  </a:ext>
                </a:extLst>
              </a:tr>
              <a:tr h="237744">
                <a:tc>
                  <a:txBody>
                    <a:bodyPr/>
                    <a:lstStyle/>
                    <a:p>
                      <a:pPr marL="0" indent="0">
                        <a:buNone/>
                      </a:pPr>
                      <a:r>
                        <a:rPr lang="en-US" sz="950" dirty="0">
                          <a:solidFill>
                            <a:srgbClr val="F2A65A"/>
                          </a:solidFill>
                          <a:latin typeface="Consolas" pitchFamily="34" charset="0"/>
                          <a:ea typeface="Consolas" pitchFamily="34" charset="-122"/>
                          <a:cs typeface="Consolas" pitchFamily="34" charset="-120"/>
                        </a:rPr>
                        <a:t>VALIDATION</a:t>
                      </a:r>
                      <a:endParaRPr lang="en-US" sz="95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422 / 400</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The request body or parameters are wrong</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extLst>
                  <a:ext uri="{0D108BD9-81ED-4DB2-BD59-A6C34878D82A}">
                    <a16:rowId xmlns:a16="http://schemas.microsoft.com/office/drawing/2014/main" val="10007"/>
                  </a:ext>
                </a:extLst>
              </a:tr>
              <a:tr h="237744">
                <a:tc>
                  <a:txBody>
                    <a:bodyPr/>
                    <a:lstStyle/>
                    <a:p>
                      <a:pPr marL="0" indent="0">
                        <a:buNone/>
                      </a:pPr>
                      <a:r>
                        <a:rPr lang="en-US" sz="950" dirty="0">
                          <a:solidFill>
                            <a:srgbClr val="F2A65A"/>
                          </a:solidFill>
                          <a:latin typeface="Consolas" pitchFamily="34" charset="0"/>
                          <a:ea typeface="Consolas" pitchFamily="34" charset="-122"/>
                          <a:cs typeface="Consolas" pitchFamily="34" charset="-120"/>
                        </a:rPr>
                        <a:t>STATS_DB</a:t>
                      </a:r>
                      <a:endParaRPr lang="en-US" sz="95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503</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History has not been recorded yet</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extLst>
                  <a:ext uri="{0D108BD9-81ED-4DB2-BD59-A6C34878D82A}">
                    <a16:rowId xmlns:a16="http://schemas.microsoft.com/office/drawing/2014/main" val="10008"/>
                  </a:ext>
                </a:extLst>
              </a:tr>
              <a:tr h="237744">
                <a:tc>
                  <a:txBody>
                    <a:bodyPr/>
                    <a:lstStyle/>
                    <a:p>
                      <a:pPr marL="0" indent="0">
                        <a:buNone/>
                      </a:pPr>
                      <a:r>
                        <a:rPr lang="en-US" sz="950" dirty="0">
                          <a:solidFill>
                            <a:srgbClr val="F2A65A"/>
                          </a:solidFill>
                          <a:latin typeface="Consolas" pitchFamily="34" charset="0"/>
                          <a:ea typeface="Consolas" pitchFamily="34" charset="-122"/>
                          <a:cs typeface="Consolas" pitchFamily="34" charset="-120"/>
                        </a:rPr>
                        <a:t>ENGINE_TIMEOUT</a:t>
                      </a:r>
                      <a:endParaRPr lang="en-US" sz="95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503</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The engine did not answer in time</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extLst>
                  <a:ext uri="{0D108BD9-81ED-4DB2-BD59-A6C34878D82A}">
                    <a16:rowId xmlns:a16="http://schemas.microsoft.com/office/drawing/2014/main" val="10009"/>
                  </a:ext>
                </a:extLst>
              </a:tr>
              <a:tr h="237744">
                <a:tc>
                  <a:txBody>
                    <a:bodyPr/>
                    <a:lstStyle/>
                    <a:p>
                      <a:pPr marL="0" indent="0">
                        <a:buNone/>
                      </a:pPr>
                      <a:r>
                        <a:rPr lang="en-US" sz="950" dirty="0">
                          <a:solidFill>
                            <a:srgbClr val="F2A65A"/>
                          </a:solidFill>
                          <a:latin typeface="Consolas" pitchFamily="34" charset="0"/>
                          <a:ea typeface="Consolas" pitchFamily="34" charset="-122"/>
                          <a:cs typeface="Consolas" pitchFamily="34" charset="-120"/>
                        </a:rPr>
                        <a:t>INDEX_TIMEOUT</a:t>
                      </a:r>
                      <a:endParaRPr lang="en-US" sz="95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503</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The index process did not answer in time</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extLst>
                  <a:ext uri="{0D108BD9-81ED-4DB2-BD59-A6C34878D82A}">
                    <a16:rowId xmlns:a16="http://schemas.microsoft.com/office/drawing/2014/main" val="10010"/>
                  </a:ext>
                </a:extLst>
              </a:tr>
              <a:tr h="237744">
                <a:tc>
                  <a:txBody>
                    <a:bodyPr/>
                    <a:lstStyle/>
                    <a:p>
                      <a:pPr marL="0" indent="0">
                        <a:buNone/>
                      </a:pPr>
                      <a:r>
                        <a:rPr lang="en-US" sz="950" dirty="0">
                          <a:solidFill>
                            <a:srgbClr val="F2A65A"/>
                          </a:solidFill>
                          <a:latin typeface="Consolas" pitchFamily="34" charset="0"/>
                          <a:ea typeface="Consolas" pitchFamily="34" charset="-122"/>
                          <a:cs typeface="Consolas" pitchFamily="34" charset="-120"/>
                        </a:rPr>
                        <a:t>INDEX_ERROR</a:t>
                      </a:r>
                      <a:endParaRPr lang="en-US" sz="95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502</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The index process rejected the request</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extLst>
                  <a:ext uri="{0D108BD9-81ED-4DB2-BD59-A6C34878D82A}">
                    <a16:rowId xmlns:a16="http://schemas.microsoft.com/office/drawing/2014/main" val="10011"/>
                  </a:ext>
                </a:extLst>
              </a:tr>
            </a:tbl>
          </a:graphicData>
        </a:graphic>
      </p:graphicFrame>
      <p:sp>
        <p:nvSpPr>
          <p:cNvPr id="5" name="Text 2"/>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When things go wrong</a:t>
            </a:r>
            <a:endParaRPr lang="en-US" sz="900" dirty="0"/>
          </a:p>
        </p:txBody>
      </p:sp>
      <p:sp>
        <p:nvSpPr>
          <p:cNvPr id="6" name="Text 3"/>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52</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8138160" cy="548640"/>
          </a:xfrm>
          <a:prstGeom prst="rect">
            <a:avLst/>
          </a:prstGeom>
          <a:noFill/>
          <a:ln/>
        </p:spPr>
        <p:txBody>
          <a:bodyPr wrap="square" lIns="0" tIns="0" rIns="0" bIns="0" rtlCol="0" anchor="ctr"/>
          <a:lstStyle/>
          <a:p>
            <a:pPr marL="0" indent="0">
              <a:buNone/>
            </a:pPr>
            <a:r>
              <a:rPr lang="en-US" sz="2700" b="1" dirty="0">
                <a:solidFill>
                  <a:srgbClr val="F3F5F7"/>
                </a:solidFill>
                <a:latin typeface="Trebuchet MS" pitchFamily="34" charset="0"/>
                <a:ea typeface="Trebuchet MS" pitchFamily="34" charset="-122"/>
                <a:cs typeface="Trebuchet MS" pitchFamily="34" charset="-120"/>
              </a:rPr>
              <a:t>How to react to each family</a:t>
            </a:r>
            <a:endParaRPr lang="en-US" sz="2700" dirty="0"/>
          </a:p>
        </p:txBody>
      </p:sp>
      <p:sp>
        <p:nvSpPr>
          <p:cNvPr id="3" name="Text 1"/>
          <p:cNvSpPr/>
          <p:nvPr/>
        </p:nvSpPr>
        <p:spPr>
          <a:xfrm>
            <a:off x="502920" y="841248"/>
            <a:ext cx="8138160" cy="237744"/>
          </a:xfrm>
          <a:prstGeom prst="rect">
            <a:avLst/>
          </a:prstGeom>
          <a:noFill/>
          <a:ln/>
        </p:spPr>
        <p:txBody>
          <a:bodyPr wrap="square" lIns="0" tIns="0" rIns="0" bIns="0" rtlCol="0" anchor="ctr"/>
          <a:lstStyle/>
          <a:p>
            <a:pPr marL="0" indent="0">
              <a:buNone/>
            </a:pPr>
            <a:r>
              <a:rPr lang="en-US" sz="1100" b="1" kern="0" spc="200" dirty="0">
                <a:solidFill>
                  <a:srgbClr val="E8722C"/>
                </a:solidFill>
                <a:latin typeface="Calibri" pitchFamily="34" charset="0"/>
                <a:ea typeface="Calibri" pitchFamily="34" charset="-122"/>
                <a:cs typeface="Calibri" pitchFamily="34" charset="-120"/>
              </a:rPr>
              <a:t>PLAYBOOK</a:t>
            </a:r>
            <a:endParaRPr lang="en-US" sz="1100" dirty="0"/>
          </a:p>
        </p:txBody>
      </p:sp>
      <p:sp>
        <p:nvSpPr>
          <p:cNvPr id="4" name="card background">
            <a:extLst>
              <a:ext uri="{C183D7F6-B498-43B3-948B-1728B52AA6E4}">
                <adec:decorative xmlns:adec="http://schemas.microsoft.com/office/drawing/2017/decorative" val="1"/>
              </a:ext>
            </a:extLst>
          </p:cNvPr>
          <p:cNvSpPr/>
          <p:nvPr/>
        </p:nvSpPr>
        <p:spPr>
          <a:xfrm>
            <a:off x="502920" y="1280160"/>
            <a:ext cx="2566416" cy="1371600"/>
          </a:xfrm>
          <a:prstGeom prst="roundRect">
            <a:avLst>
              <a:gd name="adj" fmla="val 400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5" name="Text 3">
            <a:extLst>
              <a:ext uri="{C183D7F6-B498-43B3-948B-1728B52AA6E4}">
                <adec:decorative xmlns:adec="http://schemas.microsoft.com/office/drawing/2017/decorative" val="1"/>
              </a:ext>
            </a:extLst>
          </p:cNvPr>
          <p:cNvSpPr/>
          <p:nvPr/>
        </p:nvSpPr>
        <p:spPr>
          <a:xfrm>
            <a:off x="722376" y="1463040"/>
            <a:ext cx="2164080" cy="329184"/>
          </a:xfrm>
          <a:prstGeom prst="rect">
            <a:avLst/>
          </a:prstGeom>
          <a:noFill/>
          <a:ln/>
        </p:spPr>
        <p:txBody>
          <a:bodyPr wrap="square" lIns="0" tIns="0" rIns="0" bIns="0" rtlCol="0" anchor="ctr"/>
          <a:lstStyle/>
          <a:p>
            <a:pPr marL="0" indent="0">
              <a:buNone/>
            </a:pPr>
            <a:r>
              <a:rPr lang="en-US" sz="1400" b="1" dirty="0">
                <a:solidFill>
                  <a:srgbClr val="D9534F"/>
                </a:solidFill>
                <a:latin typeface="Trebuchet MS" pitchFamily="34" charset="0"/>
                <a:ea typeface="Trebuchet MS" pitchFamily="34" charset="-122"/>
                <a:cs typeface="Trebuchet MS" pitchFamily="34" charset="-120"/>
              </a:rPr>
              <a:t>Fix and retry never</a:t>
            </a:r>
            <a:endParaRPr lang="en-US" sz="1400" dirty="0"/>
          </a:p>
        </p:txBody>
      </p:sp>
      <p:sp>
        <p:nvSpPr>
          <p:cNvPr id="6" name="Text 4"/>
          <p:cNvSpPr/>
          <p:nvPr/>
        </p:nvSpPr>
        <p:spPr>
          <a:xfrm>
            <a:off x="722376" y="1828800"/>
            <a:ext cx="2127504" cy="71323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Authentication, permission and validation failures will fail identically forever. Correct the key, the identity or the payload.</a:t>
            </a:r>
            <a:endParaRPr lang="en-US" sz="1050" dirty="0"/>
          </a:p>
        </p:txBody>
      </p:sp>
      <p:sp>
        <p:nvSpPr>
          <p:cNvPr id="7" name="card background">
            <a:extLst>
              <a:ext uri="{C183D7F6-B498-43B3-948B-1728B52AA6E4}">
                <adec:decorative xmlns:adec="http://schemas.microsoft.com/office/drawing/2017/decorative" val="1"/>
              </a:ext>
            </a:extLst>
          </p:cNvPr>
          <p:cNvSpPr/>
          <p:nvPr/>
        </p:nvSpPr>
        <p:spPr>
          <a:xfrm>
            <a:off x="3288792" y="1280160"/>
            <a:ext cx="2566416" cy="1371600"/>
          </a:xfrm>
          <a:prstGeom prst="roundRect">
            <a:avLst>
              <a:gd name="adj" fmla="val 400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8" name="step marker">
            <a:extLst>
              <a:ext uri="{C183D7F6-B498-43B3-948B-1728B52AA6E4}">
                <adec:decorative xmlns:adec="http://schemas.microsoft.com/office/drawing/2017/decorative" val="1"/>
              </a:ext>
            </a:extLst>
          </p:cNvPr>
          <p:cNvSpPr/>
          <p:nvPr/>
        </p:nvSpPr>
        <p:spPr>
          <a:xfrm>
            <a:off x="3489960" y="1463040"/>
            <a:ext cx="310896" cy="310896"/>
          </a:xfrm>
          <a:prstGeom prst="ellipse">
            <a:avLst/>
          </a:prstGeom>
          <a:solidFill>
            <a:srgbClr val="8B7BD8"/>
          </a:solidFill>
          <a:ln w="12700">
            <a:solidFill>
              <a:srgbClr val="8B7BD8"/>
            </a:solidFill>
            <a:prstDash val="solid"/>
          </a:ln>
        </p:spPr>
        <p:txBody>
          <a:bodyPr/>
          <a:lstStyle/>
          <a:p>
            <a:endParaRPr lang="en-SE"/>
          </a:p>
        </p:txBody>
      </p:sp>
      <p:sp>
        <p:nvSpPr>
          <p:cNvPr id="9" name="Text 7">
            <a:extLst>
              <a:ext uri="{C183D7F6-B498-43B3-948B-1728B52AA6E4}">
                <adec:decorative xmlns:adec="http://schemas.microsoft.com/office/drawing/2017/decorative" val="1"/>
              </a:ext>
            </a:extLst>
          </p:cNvPr>
          <p:cNvSpPr/>
          <p:nvPr/>
        </p:nvSpPr>
        <p:spPr>
          <a:xfrm>
            <a:off x="3489960" y="1463040"/>
            <a:ext cx="310896" cy="310896"/>
          </a:xfrm>
          <a:prstGeom prst="rect">
            <a:avLst/>
          </a:prstGeom>
          <a:noFill/>
          <a:ln/>
        </p:spPr>
        <p:txBody>
          <a:bodyPr wrap="square" lIns="0" tIns="0" rIns="0" bIns="0" rtlCol="0" anchor="ctr"/>
          <a:lstStyle/>
          <a:p>
            <a:pPr marL="0" indent="0" algn="ctr">
              <a:buNone/>
            </a:pPr>
            <a:endParaRPr lang="en-US" sz="1300" dirty="0"/>
          </a:p>
        </p:txBody>
      </p:sp>
      <p:sp>
        <p:nvSpPr>
          <p:cNvPr id="10" name="Text 8">
            <a:extLst>
              <a:ext uri="{C183D7F6-B498-43B3-948B-1728B52AA6E4}">
                <adec:decorative xmlns:adec="http://schemas.microsoft.com/office/drawing/2017/decorative" val="1"/>
              </a:ext>
            </a:extLst>
          </p:cNvPr>
          <p:cNvSpPr/>
          <p:nvPr/>
        </p:nvSpPr>
        <p:spPr>
          <a:xfrm>
            <a:off x="3892296" y="1463040"/>
            <a:ext cx="1780032" cy="329184"/>
          </a:xfrm>
          <a:prstGeom prst="rect">
            <a:avLst/>
          </a:prstGeom>
          <a:noFill/>
          <a:ln/>
        </p:spPr>
        <p:txBody>
          <a:bodyPr wrap="square" lIns="0" tIns="0" rIns="0" bIns="0" rtlCol="0" anchor="ctr"/>
          <a:lstStyle/>
          <a:p>
            <a:pPr marL="0" indent="0">
              <a:buNone/>
            </a:pPr>
            <a:r>
              <a:rPr lang="en-US" sz="1400" b="1" dirty="0">
                <a:solidFill>
                  <a:srgbClr val="8B7BD8"/>
                </a:solidFill>
                <a:latin typeface="Trebuchet MS" pitchFamily="34" charset="0"/>
                <a:ea typeface="Trebuchet MS" pitchFamily="34" charset="-122"/>
                <a:cs typeface="Trebuchet MS" pitchFamily="34" charset="-120"/>
              </a:rPr>
              <a:t>Slow down</a:t>
            </a:r>
            <a:endParaRPr lang="en-US" sz="1400" dirty="0"/>
          </a:p>
        </p:txBody>
      </p:sp>
      <p:sp>
        <p:nvSpPr>
          <p:cNvPr id="11" name="Text 9"/>
          <p:cNvSpPr/>
          <p:nvPr/>
        </p:nvSpPr>
        <p:spPr>
          <a:xfrm>
            <a:off x="3508248" y="1828800"/>
            <a:ext cx="2127504" cy="71323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On a rate-limit refusal, pause and retry with increasing delays. Bunch your writes less aggressively.</a:t>
            </a:r>
            <a:endParaRPr lang="en-US" sz="1050" dirty="0"/>
          </a:p>
        </p:txBody>
      </p:sp>
      <p:sp>
        <p:nvSpPr>
          <p:cNvPr id="12" name="card background">
            <a:extLst>
              <a:ext uri="{C183D7F6-B498-43B3-948B-1728B52AA6E4}">
                <adec:decorative xmlns:adec="http://schemas.microsoft.com/office/drawing/2017/decorative" val="1"/>
              </a:ext>
            </a:extLst>
          </p:cNvPr>
          <p:cNvSpPr/>
          <p:nvPr/>
        </p:nvSpPr>
        <p:spPr>
          <a:xfrm>
            <a:off x="6074664" y="1280160"/>
            <a:ext cx="2566416" cy="1371600"/>
          </a:xfrm>
          <a:prstGeom prst="roundRect">
            <a:avLst>
              <a:gd name="adj" fmla="val 400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3" name="step marker">
            <a:extLst>
              <a:ext uri="{C183D7F6-B498-43B3-948B-1728B52AA6E4}">
                <adec:decorative xmlns:adec="http://schemas.microsoft.com/office/drawing/2017/decorative" val="1"/>
              </a:ext>
            </a:extLst>
          </p:cNvPr>
          <p:cNvSpPr/>
          <p:nvPr/>
        </p:nvSpPr>
        <p:spPr>
          <a:xfrm>
            <a:off x="6275832" y="1463040"/>
            <a:ext cx="310896" cy="310896"/>
          </a:xfrm>
          <a:prstGeom prst="ellipse">
            <a:avLst/>
          </a:prstGeom>
          <a:solidFill>
            <a:srgbClr val="F2A65A"/>
          </a:solidFill>
          <a:ln w="12700">
            <a:solidFill>
              <a:srgbClr val="F2A65A"/>
            </a:solidFill>
            <a:prstDash val="solid"/>
          </a:ln>
        </p:spPr>
        <p:txBody>
          <a:bodyPr/>
          <a:lstStyle/>
          <a:p>
            <a:endParaRPr lang="en-SE"/>
          </a:p>
        </p:txBody>
      </p:sp>
      <p:sp>
        <p:nvSpPr>
          <p:cNvPr id="14" name="Text 12">
            <a:extLst>
              <a:ext uri="{C183D7F6-B498-43B3-948B-1728B52AA6E4}">
                <adec:decorative xmlns:adec="http://schemas.microsoft.com/office/drawing/2017/decorative" val="1"/>
              </a:ext>
            </a:extLst>
          </p:cNvPr>
          <p:cNvSpPr/>
          <p:nvPr/>
        </p:nvSpPr>
        <p:spPr>
          <a:xfrm>
            <a:off x="6275832" y="1463040"/>
            <a:ext cx="310896" cy="310896"/>
          </a:xfrm>
          <a:prstGeom prst="rect">
            <a:avLst/>
          </a:prstGeom>
          <a:noFill/>
          <a:ln/>
        </p:spPr>
        <p:txBody>
          <a:bodyPr wrap="square" lIns="0" tIns="0" rIns="0" bIns="0" rtlCol="0" anchor="ctr"/>
          <a:lstStyle/>
          <a:p>
            <a:pPr marL="0" indent="0" algn="ctr">
              <a:buNone/>
            </a:pPr>
            <a:endParaRPr lang="en-US" sz="1300" dirty="0"/>
          </a:p>
        </p:txBody>
      </p:sp>
      <p:sp>
        <p:nvSpPr>
          <p:cNvPr id="15" name="Text 13">
            <a:extLst>
              <a:ext uri="{C183D7F6-B498-43B3-948B-1728B52AA6E4}">
                <adec:decorative xmlns:adec="http://schemas.microsoft.com/office/drawing/2017/decorative" val="1"/>
              </a:ext>
            </a:extLst>
          </p:cNvPr>
          <p:cNvSpPr/>
          <p:nvPr/>
        </p:nvSpPr>
        <p:spPr>
          <a:xfrm>
            <a:off x="6678168" y="1463040"/>
            <a:ext cx="1780032" cy="329184"/>
          </a:xfrm>
          <a:prstGeom prst="rect">
            <a:avLst/>
          </a:prstGeom>
          <a:noFill/>
          <a:ln/>
        </p:spPr>
        <p:txBody>
          <a:bodyPr wrap="square" lIns="0" tIns="0" rIns="0" bIns="0" rtlCol="0" anchor="ctr"/>
          <a:lstStyle/>
          <a:p>
            <a:pPr marL="0" indent="0">
              <a:buNone/>
            </a:pPr>
            <a:r>
              <a:rPr lang="en-US" sz="1400" b="1" dirty="0">
                <a:solidFill>
                  <a:srgbClr val="F2A65A"/>
                </a:solidFill>
                <a:latin typeface="Trebuchet MS" pitchFamily="34" charset="0"/>
                <a:ea typeface="Trebuchet MS" pitchFamily="34" charset="-122"/>
                <a:cs typeface="Trebuchet MS" pitchFamily="34" charset="-120"/>
              </a:rPr>
              <a:t>Use a fresh reference</a:t>
            </a:r>
            <a:endParaRPr lang="en-US" sz="1400" dirty="0"/>
          </a:p>
        </p:txBody>
      </p:sp>
      <p:sp>
        <p:nvSpPr>
          <p:cNvPr id="16" name="Text 14"/>
          <p:cNvSpPr/>
          <p:nvPr/>
        </p:nvSpPr>
        <p:spPr>
          <a:xfrm>
            <a:off x="6294120" y="1828800"/>
            <a:ext cx="2127504" cy="71323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On a duplicate, generate a new client reference rather than resending the old one.</a:t>
            </a:r>
            <a:endParaRPr lang="en-US" sz="1050" dirty="0"/>
          </a:p>
        </p:txBody>
      </p:sp>
      <p:sp>
        <p:nvSpPr>
          <p:cNvPr id="17" name="card background">
            <a:extLst>
              <a:ext uri="{C183D7F6-B498-43B3-948B-1728B52AA6E4}">
                <adec:decorative xmlns:adec="http://schemas.microsoft.com/office/drawing/2017/decorative" val="1"/>
              </a:ext>
            </a:extLst>
          </p:cNvPr>
          <p:cNvSpPr/>
          <p:nvPr/>
        </p:nvSpPr>
        <p:spPr>
          <a:xfrm>
            <a:off x="502920" y="2852928"/>
            <a:ext cx="2566416" cy="1371600"/>
          </a:xfrm>
          <a:prstGeom prst="roundRect">
            <a:avLst>
              <a:gd name="adj" fmla="val 400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8" name="Text 16"/>
          <p:cNvSpPr/>
          <p:nvPr/>
        </p:nvSpPr>
        <p:spPr>
          <a:xfrm>
            <a:off x="722376" y="3035808"/>
            <a:ext cx="2164080" cy="329184"/>
          </a:xfrm>
          <a:prstGeom prst="rect">
            <a:avLst/>
          </a:prstGeom>
          <a:noFill/>
          <a:ln/>
        </p:spPr>
        <p:txBody>
          <a:bodyPr wrap="square" lIns="0" tIns="0" rIns="0" bIns="0" rtlCol="0" anchor="ctr"/>
          <a:lstStyle/>
          <a:p>
            <a:pPr marL="0" indent="0">
              <a:buNone/>
            </a:pPr>
            <a:r>
              <a:rPr lang="en-US" sz="1400" b="1" dirty="0">
                <a:solidFill>
                  <a:srgbClr val="35A79C"/>
                </a:solidFill>
                <a:latin typeface="Trebuchet MS" pitchFamily="34" charset="0"/>
                <a:ea typeface="Trebuchet MS" pitchFamily="34" charset="-122"/>
                <a:cs typeface="Trebuchet MS" pitchFamily="34" charset="-120"/>
              </a:rPr>
              <a:t>Retry carefully</a:t>
            </a:r>
            <a:endParaRPr lang="en-US" sz="1400" dirty="0"/>
          </a:p>
        </p:txBody>
      </p:sp>
      <p:sp>
        <p:nvSpPr>
          <p:cNvPr id="19" name="Text 17">
            <a:extLst>
              <a:ext uri="{C183D7F6-B498-43B3-948B-1728B52AA6E4}">
                <adec:decorative xmlns:adec="http://schemas.microsoft.com/office/drawing/2017/decorative" val="1"/>
              </a:ext>
            </a:extLst>
          </p:cNvPr>
          <p:cNvSpPr/>
          <p:nvPr/>
        </p:nvSpPr>
        <p:spPr>
          <a:xfrm>
            <a:off x="722376" y="3401568"/>
            <a:ext cx="2127504" cy="71323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A timeout does not mean the order was rejected. Check your live orders before resubmitting.</a:t>
            </a:r>
            <a:endParaRPr lang="en-US" sz="1050" dirty="0"/>
          </a:p>
        </p:txBody>
      </p:sp>
      <p:sp>
        <p:nvSpPr>
          <p:cNvPr id="20" name="card background">
            <a:extLst>
              <a:ext uri="{C183D7F6-B498-43B3-948B-1728B52AA6E4}">
                <adec:decorative xmlns:adec="http://schemas.microsoft.com/office/drawing/2017/decorative" val="1"/>
              </a:ext>
            </a:extLst>
          </p:cNvPr>
          <p:cNvSpPr/>
          <p:nvPr/>
        </p:nvSpPr>
        <p:spPr>
          <a:xfrm>
            <a:off x="3288792" y="2852928"/>
            <a:ext cx="2566416" cy="1371600"/>
          </a:xfrm>
          <a:prstGeom prst="roundRect">
            <a:avLst>
              <a:gd name="adj" fmla="val 400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21" name="Text 19"/>
          <p:cNvSpPr/>
          <p:nvPr/>
        </p:nvSpPr>
        <p:spPr>
          <a:xfrm>
            <a:off x="3508248" y="3035808"/>
            <a:ext cx="2164080" cy="329184"/>
          </a:xfrm>
          <a:prstGeom prst="rect">
            <a:avLst/>
          </a:prstGeom>
          <a:noFill/>
          <a:ln/>
        </p:spPr>
        <p:txBody>
          <a:bodyPr wrap="square" lIns="0" tIns="0" rIns="0" bIns="0" rtlCol="0" anchor="ctr"/>
          <a:lstStyle/>
          <a:p>
            <a:pPr marL="0" indent="0">
              <a:buNone/>
            </a:pPr>
            <a:r>
              <a:rPr lang="en-US" sz="1400" b="1" dirty="0">
                <a:solidFill>
                  <a:srgbClr val="E8722C"/>
                </a:solidFill>
                <a:latin typeface="Trebuchet MS" pitchFamily="34" charset="0"/>
                <a:ea typeface="Trebuchet MS" pitchFamily="34" charset="-122"/>
                <a:cs typeface="Trebuchet MS" pitchFamily="34" charset="-120"/>
              </a:rPr>
              <a:t>Wait for setup</a:t>
            </a:r>
            <a:endParaRPr lang="en-US" sz="1400" dirty="0"/>
          </a:p>
        </p:txBody>
      </p:sp>
      <p:sp>
        <p:nvSpPr>
          <p:cNvPr id="22" name="Text 20"/>
          <p:cNvSpPr/>
          <p:nvPr/>
        </p:nvSpPr>
        <p:spPr>
          <a:xfrm>
            <a:off x="3508248" y="3401568"/>
            <a:ext cx="2127504" cy="71323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An unavailable history database means the recorder has not run. Nothing in your client can fix that.</a:t>
            </a:r>
            <a:endParaRPr lang="en-US" sz="1050" dirty="0"/>
          </a:p>
        </p:txBody>
      </p:sp>
      <p:sp>
        <p:nvSpPr>
          <p:cNvPr id="23" name="card background">
            <a:extLst>
              <a:ext uri="{C183D7F6-B498-43B3-948B-1728B52AA6E4}">
                <adec:decorative xmlns:adec="http://schemas.microsoft.com/office/drawing/2017/decorative" val="1"/>
              </a:ext>
            </a:extLst>
          </p:cNvPr>
          <p:cNvSpPr/>
          <p:nvPr/>
        </p:nvSpPr>
        <p:spPr>
          <a:xfrm>
            <a:off x="6074664" y="2852928"/>
            <a:ext cx="2566416" cy="1371600"/>
          </a:xfrm>
          <a:prstGeom prst="roundRect">
            <a:avLst>
              <a:gd name="adj" fmla="val 400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24" name="Text 22">
            <a:extLst>
              <a:ext uri="{C183D7F6-B498-43B3-948B-1728B52AA6E4}">
                <adec:decorative xmlns:adec="http://schemas.microsoft.com/office/drawing/2017/decorative" val="1"/>
              </a:ext>
            </a:extLst>
          </p:cNvPr>
          <p:cNvSpPr/>
          <p:nvPr/>
        </p:nvSpPr>
        <p:spPr>
          <a:xfrm>
            <a:off x="6294120" y="3035808"/>
            <a:ext cx="2164080" cy="329184"/>
          </a:xfrm>
          <a:prstGeom prst="rect">
            <a:avLst/>
          </a:prstGeom>
          <a:noFill/>
          <a:ln/>
        </p:spPr>
        <p:txBody>
          <a:bodyPr wrap="square" lIns="0" tIns="0" rIns="0" bIns="0" rtlCol="0" anchor="ctr"/>
          <a:lstStyle/>
          <a:p>
            <a:pPr marL="0" indent="0">
              <a:buNone/>
            </a:pPr>
            <a:r>
              <a:rPr lang="en-US" sz="1400" b="1" dirty="0">
                <a:solidFill>
                  <a:srgbClr val="35A79C"/>
                </a:solidFill>
                <a:latin typeface="Trebuchet MS" pitchFamily="34" charset="0"/>
                <a:ea typeface="Trebuchet MS" pitchFamily="34" charset="-122"/>
                <a:cs typeface="Trebuchet MS" pitchFamily="34" charset="-120"/>
              </a:rPr>
              <a:t>Surface it</a:t>
            </a:r>
            <a:endParaRPr lang="en-US" sz="1400" dirty="0"/>
          </a:p>
        </p:txBody>
      </p:sp>
      <p:sp>
        <p:nvSpPr>
          <p:cNvPr id="25" name="Text 23">
            <a:extLst>
              <a:ext uri="{C183D7F6-B498-43B3-948B-1728B52AA6E4}">
                <adec:decorative xmlns:adec="http://schemas.microsoft.com/office/drawing/2017/decorative" val="1"/>
              </a:ext>
            </a:extLst>
          </p:cNvPr>
          <p:cNvSpPr/>
          <p:nvPr/>
        </p:nvSpPr>
        <p:spPr>
          <a:xfrm>
            <a:off x="6294120" y="3401568"/>
            <a:ext cx="2127504" cy="71323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Show the human-readable detail in your interface, and log the code alongside it for later.</a:t>
            </a:r>
            <a:endParaRPr lang="en-US" sz="1050" dirty="0"/>
          </a:p>
        </p:txBody>
      </p:sp>
      <p:sp>
        <p:nvSpPr>
          <p:cNvPr id="26" name="Text 24"/>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When things go wrong</a:t>
            </a:r>
            <a:endParaRPr lang="en-US" sz="900" dirty="0"/>
          </a:p>
        </p:txBody>
      </p:sp>
      <p:sp>
        <p:nvSpPr>
          <p:cNvPr id="27" name="Text 25"/>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53</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8138160" cy="548640"/>
          </a:xfrm>
          <a:prstGeom prst="rect">
            <a:avLst/>
          </a:prstGeom>
          <a:noFill/>
          <a:ln/>
        </p:spPr>
        <p:txBody>
          <a:bodyPr wrap="square" lIns="0" tIns="0" rIns="0" bIns="0" rtlCol="0" anchor="ctr"/>
          <a:lstStyle/>
          <a:p>
            <a:pPr marL="0" indent="0">
              <a:buNone/>
            </a:pPr>
            <a:r>
              <a:rPr lang="en-US" sz="2700" b="1" dirty="0">
                <a:solidFill>
                  <a:srgbClr val="F3F5F7"/>
                </a:solidFill>
                <a:latin typeface="Trebuchet MS" pitchFamily="34" charset="0"/>
                <a:ea typeface="Trebuchet MS" pitchFamily="34" charset="-122"/>
                <a:cs typeface="Trebuchet MS" pitchFamily="34" charset="-120"/>
              </a:rPr>
              <a:t>The most common first-day problems</a:t>
            </a:r>
            <a:endParaRPr lang="en-US" sz="2700" dirty="0"/>
          </a:p>
        </p:txBody>
      </p:sp>
      <p:sp>
        <p:nvSpPr>
          <p:cNvPr id="3" name="Text 1"/>
          <p:cNvSpPr/>
          <p:nvPr/>
        </p:nvSpPr>
        <p:spPr>
          <a:xfrm>
            <a:off x="502920" y="841248"/>
            <a:ext cx="8138160" cy="237744"/>
          </a:xfrm>
          <a:prstGeom prst="rect">
            <a:avLst/>
          </a:prstGeom>
          <a:noFill/>
          <a:ln/>
        </p:spPr>
        <p:txBody>
          <a:bodyPr wrap="square" lIns="0" tIns="0" rIns="0" bIns="0" rtlCol="0" anchor="ctr"/>
          <a:lstStyle/>
          <a:p>
            <a:pPr marL="0" indent="0">
              <a:buNone/>
            </a:pPr>
            <a:r>
              <a:rPr lang="en-US" sz="1100" b="1" kern="0" spc="200" dirty="0">
                <a:solidFill>
                  <a:srgbClr val="E8722C"/>
                </a:solidFill>
                <a:latin typeface="Calibri" pitchFamily="34" charset="0"/>
                <a:ea typeface="Calibri" pitchFamily="34" charset="-122"/>
                <a:cs typeface="Calibri" pitchFamily="34" charset="-120"/>
              </a:rPr>
              <a:t>TROUBLESHOOTING</a:t>
            </a:r>
            <a:endParaRPr lang="en-US" sz="1100" dirty="0"/>
          </a:p>
        </p:txBody>
      </p:sp>
      <p:graphicFrame>
        <p:nvGraphicFramePr>
          <p:cNvPr id="55" name="Table 0"/>
          <p:cNvGraphicFramePr>
            <a:graphicFrameLocks noGrp="1"/>
          </p:cNvGraphicFramePr>
          <p:nvPr>
            <p:extLst>
              <p:ext uri="{D42A27DB-BD31-4B8C-83A1-F6EECF244321}">
                <p14:modId xmlns:p14="http://schemas.microsoft.com/office/powerpoint/2010/main" val="977451195"/>
              </p:ext>
            </p:extLst>
          </p:nvPr>
        </p:nvGraphicFramePr>
        <p:xfrm>
          <a:off x="502920" y="1170432"/>
          <a:ext cx="8138160" cy="914400"/>
        </p:xfrm>
        <a:graphic>
          <a:graphicData uri="http://schemas.openxmlformats.org/drawingml/2006/table">
            <a:tbl>
              <a:tblPr/>
              <a:tblGrid>
                <a:gridCol w="237744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tblGrid>
              <a:tr h="301752">
                <a:tc>
                  <a:txBody>
                    <a:bodyPr/>
                    <a:lstStyle/>
                    <a:p>
                      <a:pPr marL="0" indent="0">
                        <a:buNone/>
                      </a:pPr>
                      <a:r>
                        <a:rPr lang="en-US" sz="1100" b="1" dirty="0">
                          <a:solidFill>
                            <a:srgbClr val="121519"/>
                          </a:solidFill>
                          <a:latin typeface="Trebuchet MS" pitchFamily="34" charset="0"/>
                          <a:ea typeface="Trebuchet MS" pitchFamily="34" charset="-122"/>
                          <a:cs typeface="Trebuchet MS" pitchFamily="34" charset="-120"/>
                        </a:rPr>
                        <a:t>Symptom</a:t>
                      </a:r>
                      <a:endParaRPr lang="en-US" sz="1100" dirty="0">
                        <a:latin typeface="Trebuchet MS" charset="0"/>
                        <a:ea typeface="Trebuchet MS" charset="0"/>
                        <a:cs typeface="Trebuchet M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E8722C"/>
                    </a:solidFill>
                  </a:tcPr>
                </a:tc>
                <a:tc>
                  <a:txBody>
                    <a:bodyPr/>
                    <a:lstStyle/>
                    <a:p>
                      <a:pPr marL="0" indent="0">
                        <a:buNone/>
                      </a:pPr>
                      <a:r>
                        <a:rPr lang="en-US" sz="1100" b="1" dirty="0">
                          <a:solidFill>
                            <a:srgbClr val="121519"/>
                          </a:solidFill>
                          <a:latin typeface="Trebuchet MS" pitchFamily="34" charset="0"/>
                          <a:ea typeface="Trebuchet MS" pitchFamily="34" charset="-122"/>
                          <a:cs typeface="Trebuchet MS" pitchFamily="34" charset="-120"/>
                        </a:rPr>
                        <a:t>Likely cause</a:t>
                      </a:r>
                      <a:endParaRPr lang="en-US" sz="1100" dirty="0">
                        <a:latin typeface="Trebuchet MS" charset="0"/>
                        <a:ea typeface="Trebuchet MS" charset="0"/>
                        <a:cs typeface="Trebuchet M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E8722C"/>
                    </a:solidFill>
                  </a:tcPr>
                </a:tc>
                <a:tc>
                  <a:txBody>
                    <a:bodyPr/>
                    <a:lstStyle/>
                    <a:p>
                      <a:pPr marL="0" indent="0">
                        <a:buNone/>
                      </a:pPr>
                      <a:r>
                        <a:rPr lang="en-US" sz="1100" b="1" dirty="0">
                          <a:solidFill>
                            <a:srgbClr val="121519"/>
                          </a:solidFill>
                          <a:latin typeface="Trebuchet MS" pitchFamily="34" charset="0"/>
                          <a:ea typeface="Trebuchet MS" pitchFamily="34" charset="-122"/>
                          <a:cs typeface="Trebuchet MS" pitchFamily="34" charset="-120"/>
                        </a:rPr>
                        <a:t>What to do</a:t>
                      </a:r>
                      <a:endParaRPr lang="en-US" sz="1100" dirty="0">
                        <a:latin typeface="Trebuchet MS" charset="0"/>
                        <a:ea typeface="Trebuchet MS" charset="0"/>
                        <a:cs typeface="Trebuchet M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E8722C"/>
                    </a:solidFill>
                  </a:tcPr>
                </a:tc>
                <a:extLst>
                  <a:ext uri="{0D108BD9-81ED-4DB2-BD59-A6C34878D82A}">
                    <a16:rowId xmlns:a16="http://schemas.microsoft.com/office/drawing/2014/main" val="10000"/>
                  </a:ext>
                </a:extLst>
              </a:tr>
              <a:tr h="301752">
                <a:tc>
                  <a:txBody>
                    <a:bodyPr/>
                    <a:lstStyle/>
                    <a:p>
                      <a:pPr marL="0" indent="0">
                        <a:buNone/>
                      </a:pPr>
                      <a:r>
                        <a:rPr lang="en-US" sz="950" dirty="0">
                          <a:solidFill>
                            <a:srgbClr val="F2A65A"/>
                          </a:solidFill>
                          <a:latin typeface="Calibri" pitchFamily="34" charset="0"/>
                          <a:ea typeface="Calibri" pitchFamily="34" charset="-122"/>
                          <a:cs typeface="Calibri" pitchFamily="34" charset="-120"/>
                        </a:rPr>
                        <a:t>Connection refused</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Gateway not started, or wrong port</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Confirm the process is running and check the configured port</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extLst>
                  <a:ext uri="{0D108BD9-81ED-4DB2-BD59-A6C34878D82A}">
                    <a16:rowId xmlns:a16="http://schemas.microsoft.com/office/drawing/2014/main" val="10001"/>
                  </a:ext>
                </a:extLst>
              </a:tr>
              <a:tr h="301752">
                <a:tc>
                  <a:txBody>
                    <a:bodyPr/>
                    <a:lstStyle/>
                    <a:p>
                      <a:pPr marL="0" indent="0">
                        <a:buNone/>
                      </a:pPr>
                      <a:r>
                        <a:rPr lang="en-US" sz="950" dirty="0">
                          <a:solidFill>
                            <a:srgbClr val="F2A65A"/>
                          </a:solidFill>
                          <a:latin typeface="Calibri" pitchFamily="34" charset="0"/>
                          <a:ea typeface="Calibri" pitchFamily="34" charset="-122"/>
                          <a:cs typeface="Calibri" pitchFamily="34" charset="-120"/>
                        </a:rPr>
                        <a:t>Health reports not ok</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Disabled in configuration, or its listener stopped</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Check the enabled flag and the gateway's own logs</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extLst>
                  <a:ext uri="{0D108BD9-81ED-4DB2-BD59-A6C34878D82A}">
                    <a16:rowId xmlns:a16="http://schemas.microsoft.com/office/drawing/2014/main" val="10002"/>
                  </a:ext>
                </a:extLst>
              </a:tr>
              <a:tr h="301752">
                <a:tc>
                  <a:txBody>
                    <a:bodyPr/>
                    <a:lstStyle/>
                    <a:p>
                      <a:pPr marL="0" indent="0">
                        <a:buNone/>
                      </a:pPr>
                      <a:r>
                        <a:rPr lang="en-US" sz="950" dirty="0">
                          <a:solidFill>
                            <a:srgbClr val="F2A65A"/>
                          </a:solidFill>
                          <a:latin typeface="Calibri" pitchFamily="34" charset="0"/>
                          <a:ea typeface="Calibri" pitchFamily="34" charset="-122"/>
                          <a:cs typeface="Calibri" pitchFamily="34" charset="-120"/>
                        </a:rPr>
                        <a:t>Unauthorised on every call</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Missing or wrong bearer header</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Send the key exactly as configured</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extLst>
                  <a:ext uri="{0D108BD9-81ED-4DB2-BD59-A6C34878D82A}">
                    <a16:rowId xmlns:a16="http://schemas.microsoft.com/office/drawing/2014/main" val="10003"/>
                  </a:ext>
                </a:extLst>
              </a:tr>
              <a:tr h="301752">
                <a:tc>
                  <a:txBody>
                    <a:bodyPr/>
                    <a:lstStyle/>
                    <a:p>
                      <a:pPr marL="0" indent="0">
                        <a:buNone/>
                      </a:pPr>
                      <a:r>
                        <a:rPr lang="en-US" sz="950" dirty="0">
                          <a:solidFill>
                            <a:srgbClr val="F2A65A"/>
                          </a:solidFill>
                          <a:latin typeface="Calibri" pitchFamily="34" charset="0"/>
                          <a:ea typeface="Calibri" pitchFamily="34" charset="-122"/>
                          <a:cs typeface="Calibri" pitchFamily="34" charset="-120"/>
                        </a:rPr>
                        <a:t>Forbidden on order entry</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Using a read-only key</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Switch to a key with a trading identity</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extLst>
                  <a:ext uri="{0D108BD9-81ED-4DB2-BD59-A6C34878D82A}">
                    <a16:rowId xmlns:a16="http://schemas.microsoft.com/office/drawing/2014/main" val="10004"/>
                  </a:ext>
                </a:extLst>
              </a:tr>
              <a:tr h="301752">
                <a:tc>
                  <a:txBody>
                    <a:bodyPr/>
                    <a:lstStyle/>
                    <a:p>
                      <a:pPr marL="0" indent="0">
                        <a:buNone/>
                      </a:pPr>
                      <a:r>
                        <a:rPr lang="en-US" sz="950" dirty="0">
                          <a:solidFill>
                            <a:srgbClr val="F2A65A"/>
                          </a:solidFill>
                          <a:latin typeface="Calibri" pitchFamily="34" charset="0"/>
                          <a:ea typeface="Calibri" pitchFamily="34" charset="-122"/>
                          <a:cs typeface="Calibri" pitchFamily="34" charset="-120"/>
                        </a:rPr>
                        <a:t>Not found on every path</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Wrong base path or wrong instance</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Check the instance name matches the configuration block</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extLst>
                  <a:ext uri="{0D108BD9-81ED-4DB2-BD59-A6C34878D82A}">
                    <a16:rowId xmlns:a16="http://schemas.microsoft.com/office/drawing/2014/main" val="10005"/>
                  </a:ext>
                </a:extLst>
              </a:tr>
              <a:tr h="301752">
                <a:tc>
                  <a:txBody>
                    <a:bodyPr/>
                    <a:lstStyle/>
                    <a:p>
                      <a:pPr marL="0" indent="0">
                        <a:buNone/>
                      </a:pPr>
                      <a:r>
                        <a:rPr lang="en-US" sz="950" dirty="0">
                          <a:solidFill>
                            <a:srgbClr val="F2A65A"/>
                          </a:solidFill>
                          <a:latin typeface="Calibri" pitchFamily="34" charset="0"/>
                          <a:ea typeface="Calibri" pitchFamily="34" charset="-122"/>
                          <a:cs typeface="Calibri" pitchFamily="34" charset="-120"/>
                        </a:rPr>
                        <a:t>Documentation page will not load</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Interactive docs switched off</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Enable them in configuration and restart</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extLst>
                  <a:ext uri="{0D108BD9-81ED-4DB2-BD59-A6C34878D82A}">
                    <a16:rowId xmlns:a16="http://schemas.microsoft.com/office/drawing/2014/main" val="10006"/>
                  </a:ext>
                </a:extLst>
              </a:tr>
              <a:tr h="301752">
                <a:tc>
                  <a:txBody>
                    <a:bodyPr/>
                    <a:lstStyle/>
                    <a:p>
                      <a:pPr marL="0" indent="0">
                        <a:buNone/>
                      </a:pPr>
                      <a:r>
                        <a:rPr lang="en-US" sz="950" dirty="0">
                          <a:solidFill>
                            <a:srgbClr val="F2A65A"/>
                          </a:solidFill>
                          <a:latin typeface="Calibri" pitchFamily="34" charset="0"/>
                          <a:ea typeface="Calibri" pitchFamily="34" charset="-122"/>
                          <a:cs typeface="Calibri" pitchFamily="34" charset="-120"/>
                        </a:rPr>
                        <a:t>History comes back empty</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Recorder not running, or wrong database path</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Start the recorder and verify the path</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extLst>
                  <a:ext uri="{0D108BD9-81ED-4DB2-BD59-A6C34878D82A}">
                    <a16:rowId xmlns:a16="http://schemas.microsoft.com/office/drawing/2014/main" val="10007"/>
                  </a:ext>
                </a:extLst>
              </a:tr>
              <a:tr h="301752">
                <a:tc>
                  <a:txBody>
                    <a:bodyPr/>
                    <a:lstStyle/>
                    <a:p>
                      <a:pPr marL="0" indent="0">
                        <a:buNone/>
                      </a:pPr>
                      <a:r>
                        <a:rPr lang="en-US" sz="950" dirty="0">
                          <a:solidFill>
                            <a:srgbClr val="F2A65A"/>
                          </a:solidFill>
                          <a:latin typeface="Calibri" pitchFamily="34" charset="0"/>
                          <a:ea typeface="Calibri" pitchFamily="34" charset="-122"/>
                          <a:cs typeface="Calibri" pitchFamily="34" charset="-120"/>
                        </a:rPr>
                        <a:t>Stream disconnects at once</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Engine not running, or a limit was hit</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Start the engine and read the disconnect reason in the logs</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extLst>
                  <a:ext uri="{0D108BD9-81ED-4DB2-BD59-A6C34878D82A}">
                    <a16:rowId xmlns:a16="http://schemas.microsoft.com/office/drawing/2014/main" val="10008"/>
                  </a:ext>
                </a:extLst>
              </a:tr>
            </a:tbl>
          </a:graphicData>
        </a:graphic>
      </p:graphicFrame>
      <p:sp>
        <p:nvSpPr>
          <p:cNvPr id="5" name="Text 2"/>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When things go wrong</a:t>
            </a:r>
            <a:endParaRPr lang="en-US" sz="900" dirty="0"/>
          </a:p>
        </p:txBody>
      </p:sp>
      <p:sp>
        <p:nvSpPr>
          <p:cNvPr id="6" name="Text 3"/>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54</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8138160" cy="548640"/>
          </a:xfrm>
          <a:prstGeom prst="rect">
            <a:avLst/>
          </a:prstGeom>
          <a:noFill/>
          <a:ln/>
        </p:spPr>
        <p:txBody>
          <a:bodyPr wrap="square" lIns="0" tIns="0" rIns="0" bIns="0" rtlCol="0" anchor="ctr"/>
          <a:lstStyle/>
          <a:p>
            <a:pPr marL="0" indent="0">
              <a:buNone/>
            </a:pPr>
            <a:r>
              <a:rPr lang="en-US" sz="2700" b="1" dirty="0">
                <a:solidFill>
                  <a:srgbClr val="F3F5F7"/>
                </a:solidFill>
                <a:latin typeface="Trebuchet MS" pitchFamily="34" charset="0"/>
                <a:ea typeface="Trebuchet MS" pitchFamily="34" charset="-122"/>
                <a:cs typeface="Trebuchet MS" pitchFamily="34" charset="-120"/>
              </a:rPr>
              <a:t>Checking connectivity from the shell</a:t>
            </a:r>
            <a:endParaRPr lang="en-US" sz="2700" dirty="0"/>
          </a:p>
        </p:txBody>
      </p:sp>
      <p:sp>
        <p:nvSpPr>
          <p:cNvPr id="3" name="Text 1"/>
          <p:cNvSpPr/>
          <p:nvPr/>
        </p:nvSpPr>
        <p:spPr>
          <a:xfrm>
            <a:off x="502920" y="841248"/>
            <a:ext cx="8138160" cy="237744"/>
          </a:xfrm>
          <a:prstGeom prst="rect">
            <a:avLst/>
          </a:prstGeom>
          <a:noFill/>
          <a:ln/>
        </p:spPr>
        <p:txBody>
          <a:bodyPr wrap="square" lIns="0" tIns="0" rIns="0" bIns="0" rtlCol="0" anchor="ctr"/>
          <a:lstStyle/>
          <a:p>
            <a:pPr marL="0" indent="0">
              <a:buNone/>
            </a:pPr>
            <a:r>
              <a:rPr lang="en-US" sz="1100" b="1" kern="0" spc="200" dirty="0">
                <a:solidFill>
                  <a:srgbClr val="E8722C"/>
                </a:solidFill>
                <a:latin typeface="Calibri" pitchFamily="34" charset="0"/>
                <a:ea typeface="Calibri" pitchFamily="34" charset="-122"/>
                <a:cs typeface="Calibri" pitchFamily="34" charset="-120"/>
              </a:rPr>
              <a:t>DIAGNOSTICS</a:t>
            </a:r>
            <a:endParaRPr lang="en-US" sz="1100" dirty="0"/>
          </a:p>
        </p:txBody>
      </p:sp>
      <p:sp>
        <p:nvSpPr>
          <p:cNvPr id="4" name="code panel">
            <a:extLst>
              <a:ext uri="{C183D7F6-B498-43B3-948B-1728B52AA6E4}">
                <adec:decorative xmlns:adec="http://schemas.microsoft.com/office/drawing/2017/decorative" val="1"/>
              </a:ext>
            </a:extLst>
          </p:cNvPr>
          <p:cNvSpPr/>
          <p:nvPr/>
        </p:nvSpPr>
        <p:spPr>
          <a:xfrm>
            <a:off x="502920" y="1188720"/>
            <a:ext cx="3977640" cy="1371600"/>
          </a:xfrm>
          <a:prstGeom prst="roundRect">
            <a:avLst>
              <a:gd name="adj" fmla="val 3333"/>
            </a:avLst>
          </a:prstGeom>
          <a:solidFill>
            <a:srgbClr val="121519"/>
          </a:solidFill>
          <a:ln w="12700">
            <a:solidFill>
              <a:srgbClr val="3A424B"/>
            </a:solidFill>
            <a:prstDash val="solid"/>
          </a:ln>
        </p:spPr>
        <p:txBody>
          <a:bodyPr/>
          <a:lstStyle/>
          <a:p>
            <a:endParaRPr lang="en-SE"/>
          </a:p>
        </p:txBody>
      </p:sp>
      <p:sp>
        <p:nvSpPr>
          <p:cNvPr id="5" name="code panel edge">
            <a:extLst>
              <a:ext uri="{C183D7F6-B498-43B3-948B-1728B52AA6E4}">
                <adec:decorative xmlns:adec="http://schemas.microsoft.com/office/drawing/2017/decorative" val="1"/>
              </a:ext>
            </a:extLst>
          </p:cNvPr>
          <p:cNvSpPr/>
          <p:nvPr/>
        </p:nvSpPr>
        <p:spPr>
          <a:xfrm>
            <a:off x="502920" y="1188720"/>
            <a:ext cx="54864" cy="1371600"/>
          </a:xfrm>
          <a:prstGeom prst="rect">
            <a:avLst/>
          </a:prstGeom>
          <a:solidFill>
            <a:srgbClr val="E8722C"/>
          </a:solidFill>
          <a:ln w="12700">
            <a:solidFill>
              <a:srgbClr val="E8722C"/>
            </a:solidFill>
            <a:prstDash val="solid"/>
          </a:ln>
        </p:spPr>
        <p:txBody>
          <a:bodyPr/>
          <a:lstStyle/>
          <a:p>
            <a:endParaRPr lang="en-SE"/>
          </a:p>
        </p:txBody>
      </p:sp>
      <p:sp>
        <p:nvSpPr>
          <p:cNvPr id="6" name="Text 4"/>
          <p:cNvSpPr/>
          <p:nvPr/>
        </p:nvSpPr>
        <p:spPr>
          <a:xfrm>
            <a:off x="704088" y="1316736"/>
            <a:ext cx="3611880" cy="1115568"/>
          </a:xfrm>
          <a:prstGeom prst="rect">
            <a:avLst/>
          </a:prstGeom>
          <a:noFill/>
          <a:ln/>
        </p:spPr>
        <p:txBody>
          <a:bodyPr wrap="square" lIns="0" tIns="0" rIns="0" bIns="0" rtlCol="0" anchor="t"/>
          <a:lstStyle/>
          <a:p>
            <a:pPr marL="0" indent="0">
              <a:buNone/>
            </a:pPr>
            <a:r>
              <a:rPr lang="en-US" sz="1050" dirty="0">
                <a:solidFill>
                  <a:srgbClr val="97A1AC"/>
                </a:solidFill>
                <a:latin typeface="Consolas" pitchFamily="34" charset="0"/>
                <a:ea typeface="Consolas" pitchFamily="34" charset="-122"/>
                <a:cs typeface="Consolas" pitchFamily="34" charset="-120"/>
              </a:rPr>
              <a:t># is anything listening?</a:t>
            </a:r>
            <a:endParaRPr lang="en-US" sz="1050" dirty="0"/>
          </a:p>
          <a:p>
            <a:pPr marL="0" indent="0">
              <a:buNone/>
            </a:pPr>
            <a:r>
              <a:rPr lang="en-US" sz="1050" dirty="0">
                <a:solidFill>
                  <a:srgbClr val="D5DAE0"/>
                </a:solidFill>
                <a:latin typeface="Consolas" pitchFamily="34" charset="0"/>
                <a:ea typeface="Consolas" pitchFamily="34" charset="-122"/>
                <a:cs typeface="Consolas" pitchFamily="34" charset="-120"/>
              </a:rPr>
              <a:t>ss -tlnp 'sport = :8080'</a:t>
            </a:r>
            <a:endParaRPr lang="en-US" sz="1050" dirty="0"/>
          </a:p>
          <a:p>
            <a:pPr marL="0" indent="0">
              <a:buNone/>
            </a:pPr>
            <a:r>
              <a:rPr lang="en-US" sz="1050" dirty="0">
                <a:solidFill>
                  <a:srgbClr val="D5DAE0"/>
                </a:solidFill>
                <a:latin typeface="Consolas" pitchFamily="34" charset="0"/>
                <a:ea typeface="Consolas" pitchFamily="34" charset="-122"/>
                <a:cs typeface="Consolas" pitchFamily="34" charset="-120"/>
              </a:rPr>
              <a:t>sudo lsof -iTCP:8080 -sTCP:LISTEN</a:t>
            </a:r>
            <a:endParaRPr lang="en-US" sz="1050" dirty="0"/>
          </a:p>
          <a:p>
            <a:pPr marL="0" indent="0">
              <a:buNone/>
            </a:pPr>
            <a:r>
              <a:rPr lang="en-US" sz="1050" dirty="0">
                <a:solidFill>
                  <a:srgbClr val="D5DAE0"/>
                </a:solidFill>
                <a:latin typeface="Consolas" pitchFamily="34" charset="0"/>
                <a:ea typeface="Consolas" pitchFamily="34" charset="-122"/>
                <a:cs typeface="Consolas" pitchFamily="34" charset="-120"/>
              </a:rPr>
              <a:t>netstat -an | grep 8080</a:t>
            </a:r>
            <a:endParaRPr lang="en-US" sz="1050" dirty="0"/>
          </a:p>
        </p:txBody>
      </p:sp>
      <p:sp>
        <p:nvSpPr>
          <p:cNvPr id="7" name="code panel">
            <a:extLst>
              <a:ext uri="{C183D7F6-B498-43B3-948B-1728B52AA6E4}">
                <adec:decorative xmlns:adec="http://schemas.microsoft.com/office/drawing/2017/decorative" val="1"/>
              </a:ext>
            </a:extLst>
          </p:cNvPr>
          <p:cNvSpPr/>
          <p:nvPr/>
        </p:nvSpPr>
        <p:spPr>
          <a:xfrm>
            <a:off x="4663440" y="1188720"/>
            <a:ext cx="3977640" cy="1371600"/>
          </a:xfrm>
          <a:prstGeom prst="roundRect">
            <a:avLst>
              <a:gd name="adj" fmla="val 3333"/>
            </a:avLst>
          </a:prstGeom>
          <a:solidFill>
            <a:srgbClr val="121519"/>
          </a:solidFill>
          <a:ln w="12700">
            <a:solidFill>
              <a:srgbClr val="3A424B"/>
            </a:solidFill>
            <a:prstDash val="solid"/>
          </a:ln>
        </p:spPr>
        <p:txBody>
          <a:bodyPr/>
          <a:lstStyle/>
          <a:p>
            <a:endParaRPr lang="en-SE"/>
          </a:p>
        </p:txBody>
      </p:sp>
      <p:sp>
        <p:nvSpPr>
          <p:cNvPr id="8" name="code panel edge">
            <a:extLst>
              <a:ext uri="{C183D7F6-B498-43B3-948B-1728B52AA6E4}">
                <adec:decorative xmlns:adec="http://schemas.microsoft.com/office/drawing/2017/decorative" val="1"/>
              </a:ext>
            </a:extLst>
          </p:cNvPr>
          <p:cNvSpPr/>
          <p:nvPr/>
        </p:nvSpPr>
        <p:spPr>
          <a:xfrm>
            <a:off x="4663440" y="1188720"/>
            <a:ext cx="54864" cy="1371600"/>
          </a:xfrm>
          <a:prstGeom prst="rect">
            <a:avLst/>
          </a:prstGeom>
          <a:solidFill>
            <a:srgbClr val="35A79C"/>
          </a:solidFill>
          <a:ln w="12700">
            <a:solidFill>
              <a:srgbClr val="35A79C"/>
            </a:solidFill>
            <a:prstDash val="solid"/>
          </a:ln>
        </p:spPr>
        <p:txBody>
          <a:bodyPr/>
          <a:lstStyle/>
          <a:p>
            <a:endParaRPr lang="en-SE"/>
          </a:p>
        </p:txBody>
      </p:sp>
      <p:sp>
        <p:nvSpPr>
          <p:cNvPr id="9" name="Text 7"/>
          <p:cNvSpPr/>
          <p:nvPr/>
        </p:nvSpPr>
        <p:spPr>
          <a:xfrm>
            <a:off x="4864608" y="1316736"/>
            <a:ext cx="3611880" cy="1115568"/>
          </a:xfrm>
          <a:prstGeom prst="rect">
            <a:avLst/>
          </a:prstGeom>
          <a:noFill/>
          <a:ln/>
        </p:spPr>
        <p:txBody>
          <a:bodyPr wrap="square" lIns="0" tIns="0" rIns="0" bIns="0" rtlCol="0" anchor="t"/>
          <a:lstStyle/>
          <a:p>
            <a:pPr marL="0" indent="0">
              <a:buNone/>
            </a:pPr>
            <a:r>
              <a:rPr lang="en-US" sz="1050" dirty="0">
                <a:solidFill>
                  <a:srgbClr val="97A1AC"/>
                </a:solidFill>
                <a:latin typeface="Consolas" pitchFamily="34" charset="0"/>
                <a:ea typeface="Consolas" pitchFamily="34" charset="-122"/>
                <a:cs typeface="Consolas" pitchFamily="34" charset="-120"/>
              </a:rPr>
              <a:t># does it answer?</a:t>
            </a:r>
            <a:endParaRPr lang="en-US" sz="1050" dirty="0"/>
          </a:p>
          <a:p>
            <a:pPr marL="0" indent="0">
              <a:buNone/>
            </a:pPr>
            <a:r>
              <a:rPr lang="en-US" sz="1050" dirty="0">
                <a:solidFill>
                  <a:srgbClr val="D5DAE0"/>
                </a:solidFill>
                <a:latin typeface="Consolas" pitchFamily="34" charset="0"/>
                <a:ea typeface="Consolas" pitchFamily="34" charset="-122"/>
                <a:cs typeface="Consolas" pitchFamily="34" charset="-120"/>
              </a:rPr>
              <a:t>curl -s .../api/v1/healthz</a:t>
            </a:r>
            <a:endParaRPr lang="en-US" sz="1050" dirty="0"/>
          </a:p>
          <a:p>
            <a:pPr marL="0" indent="0">
              <a:buNone/>
            </a:pPr>
            <a:r>
              <a:rPr lang="en-US" sz="1050" dirty="0">
                <a:solidFill>
                  <a:srgbClr val="D5DAE0"/>
                </a:solidFill>
                <a:latin typeface="Consolas" pitchFamily="34" charset="0"/>
                <a:ea typeface="Consolas" pitchFamily="34" charset="-122"/>
                <a:cs typeface="Consolas" pitchFamily="34" charset="-120"/>
              </a:rPr>
              <a:t>curl -s -H "Authorization: Bearer KEY" \</a:t>
            </a:r>
            <a:endParaRPr lang="en-US" sz="1050" dirty="0"/>
          </a:p>
          <a:p>
            <a:pPr marL="0" indent="0">
              <a:buNone/>
            </a:pPr>
            <a:r>
              <a:rPr lang="en-US" sz="1050" dirty="0">
                <a:solidFill>
                  <a:srgbClr val="D5DAE0"/>
                </a:solidFill>
                <a:latin typeface="Consolas" pitchFamily="34" charset="0"/>
                <a:ea typeface="Consolas" pitchFamily="34" charset="-122"/>
                <a:cs typeface="Consolas" pitchFamily="34" charset="-120"/>
              </a:rPr>
              <a:t>     .../api/v1/status</a:t>
            </a:r>
            <a:endParaRPr lang="en-US" sz="1050" dirty="0"/>
          </a:p>
        </p:txBody>
      </p:sp>
      <p:sp>
        <p:nvSpPr>
          <p:cNvPr id="10" name="code panel">
            <a:extLst>
              <a:ext uri="{C183D7F6-B498-43B3-948B-1728B52AA6E4}">
                <adec:decorative xmlns:adec="http://schemas.microsoft.com/office/drawing/2017/decorative" val="1"/>
              </a:ext>
            </a:extLst>
          </p:cNvPr>
          <p:cNvSpPr/>
          <p:nvPr/>
        </p:nvSpPr>
        <p:spPr>
          <a:xfrm>
            <a:off x="502920" y="2697480"/>
            <a:ext cx="8138160" cy="960120"/>
          </a:xfrm>
          <a:prstGeom prst="roundRect">
            <a:avLst>
              <a:gd name="adj" fmla="val 4762"/>
            </a:avLst>
          </a:prstGeom>
          <a:solidFill>
            <a:srgbClr val="121519"/>
          </a:solidFill>
          <a:ln w="12700">
            <a:solidFill>
              <a:srgbClr val="3A424B"/>
            </a:solidFill>
            <a:prstDash val="solid"/>
          </a:ln>
        </p:spPr>
        <p:txBody>
          <a:bodyPr/>
          <a:lstStyle/>
          <a:p>
            <a:endParaRPr lang="en-SE"/>
          </a:p>
        </p:txBody>
      </p:sp>
      <p:sp>
        <p:nvSpPr>
          <p:cNvPr id="11" name="code panel edge">
            <a:extLst>
              <a:ext uri="{C183D7F6-B498-43B3-948B-1728B52AA6E4}">
                <adec:decorative xmlns:adec="http://schemas.microsoft.com/office/drawing/2017/decorative" val="1"/>
              </a:ext>
            </a:extLst>
          </p:cNvPr>
          <p:cNvSpPr/>
          <p:nvPr/>
        </p:nvSpPr>
        <p:spPr>
          <a:xfrm>
            <a:off x="502920" y="2697480"/>
            <a:ext cx="54864" cy="960120"/>
          </a:xfrm>
          <a:prstGeom prst="rect">
            <a:avLst/>
          </a:prstGeom>
          <a:solidFill>
            <a:srgbClr val="8B7BD8"/>
          </a:solidFill>
          <a:ln w="12700">
            <a:solidFill>
              <a:srgbClr val="8B7BD8"/>
            </a:solidFill>
            <a:prstDash val="solid"/>
          </a:ln>
        </p:spPr>
        <p:txBody>
          <a:bodyPr/>
          <a:lstStyle/>
          <a:p>
            <a:endParaRPr lang="en-SE"/>
          </a:p>
        </p:txBody>
      </p:sp>
      <p:sp>
        <p:nvSpPr>
          <p:cNvPr id="12" name="Text 10"/>
          <p:cNvSpPr/>
          <p:nvPr/>
        </p:nvSpPr>
        <p:spPr>
          <a:xfrm>
            <a:off x="704088" y="2825496"/>
            <a:ext cx="7772400" cy="704088"/>
          </a:xfrm>
          <a:prstGeom prst="rect">
            <a:avLst/>
          </a:prstGeom>
          <a:noFill/>
          <a:ln/>
        </p:spPr>
        <p:txBody>
          <a:bodyPr wrap="square" lIns="0" tIns="0" rIns="0" bIns="0" rtlCol="0" anchor="t"/>
          <a:lstStyle/>
          <a:p>
            <a:pPr marL="0" indent="0">
              <a:buNone/>
            </a:pPr>
            <a:r>
              <a:rPr lang="en-US" sz="1100" dirty="0">
                <a:solidFill>
                  <a:srgbClr val="97A1AC"/>
                </a:solidFill>
                <a:latin typeface="Consolas" pitchFamily="34" charset="0"/>
                <a:ea typeface="Consolas" pitchFamily="34" charset="-122"/>
                <a:cs typeface="Consolas" pitchFamily="34" charset="-120"/>
              </a:rPr>
              <a:t># does the stream upgrade?</a:t>
            </a:r>
            <a:endParaRPr lang="en-US" sz="1100" dirty="0"/>
          </a:p>
          <a:p>
            <a:pPr marL="0" indent="0">
              <a:buNone/>
            </a:pPr>
            <a:r>
              <a:rPr lang="en-US" sz="1100" dirty="0">
                <a:solidFill>
                  <a:srgbClr val="D5DAE0"/>
                </a:solidFill>
                <a:latin typeface="Consolas" pitchFamily="34" charset="0"/>
                <a:ea typeface="Consolas" pitchFamily="34" charset="-122"/>
                <a:cs typeface="Consolas" pitchFamily="34" charset="-120"/>
              </a:rPr>
              <a:t>websocat ws://127.0.0.1:8080/api/v1/market-data</a:t>
            </a:r>
            <a:endParaRPr lang="en-US" sz="1100" dirty="0"/>
          </a:p>
        </p:txBody>
      </p:sp>
      <p:sp>
        <p:nvSpPr>
          <p:cNvPr id="13" name="Text 11"/>
          <p:cNvSpPr/>
          <p:nvPr/>
        </p:nvSpPr>
        <p:spPr>
          <a:xfrm>
            <a:off x="502920" y="3840480"/>
            <a:ext cx="8138160" cy="640080"/>
          </a:xfrm>
          <a:prstGeom prst="rect">
            <a:avLst/>
          </a:prstGeom>
          <a:noFill/>
          <a:ln/>
        </p:spPr>
        <p:txBody>
          <a:bodyPr wrap="square" lIns="0" tIns="0" rIns="0" bIns="0" rtlCol="0" anchor="t"/>
          <a:lstStyle/>
          <a:p>
            <a:pPr marL="0" indent="0" algn="l">
              <a:buNone/>
            </a:pPr>
            <a:r>
              <a:rPr lang="en-US" sz="1200" i="1" dirty="0">
                <a:solidFill>
                  <a:srgbClr val="F2A65A"/>
                </a:solidFill>
                <a:latin typeface="Calibri" pitchFamily="34" charset="0"/>
                <a:ea typeface="Calibri" pitchFamily="34" charset="-122"/>
                <a:cs typeface="Calibri" pitchFamily="34" charset="-120"/>
              </a:rPr>
              <a:t>Work outward: port, then health, then an authenticated call, then the stream. The first step that fails tells you which layer to investigate — and saves you guessing.</a:t>
            </a:r>
            <a:endParaRPr lang="en-US" sz="1200" dirty="0"/>
          </a:p>
        </p:txBody>
      </p:sp>
      <p:sp>
        <p:nvSpPr>
          <p:cNvPr id="14" name="Text 12"/>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When things go wrong</a:t>
            </a:r>
            <a:endParaRPr lang="en-US" sz="900" dirty="0"/>
          </a:p>
        </p:txBody>
      </p:sp>
      <p:sp>
        <p:nvSpPr>
          <p:cNvPr id="15" name="Text 13"/>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55</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side band">
            <a:extLst>
              <a:ext uri="{C183D7F6-B498-43B3-948B-1728B52AA6E4}">
                <adec:decorative xmlns:adec="http://schemas.microsoft.com/office/drawing/2017/decorative" val="1"/>
              </a:ext>
            </a:extLst>
          </p:cNvPr>
          <p:cNvSpPr/>
          <p:nvPr/>
        </p:nvSpPr>
        <p:spPr>
          <a:xfrm>
            <a:off x="0" y="0"/>
            <a:ext cx="384048" cy="5143500"/>
          </a:xfrm>
          <a:prstGeom prst="rect">
            <a:avLst/>
          </a:prstGeom>
          <a:solidFill>
            <a:srgbClr val="E8722C"/>
          </a:solidFill>
          <a:ln w="12700">
            <a:solidFill>
              <a:srgbClr val="E8722C"/>
            </a:solidFill>
            <a:prstDash val="solid"/>
          </a:ln>
        </p:spPr>
        <p:txBody>
          <a:bodyPr/>
          <a:lstStyle/>
          <a:p>
            <a:endParaRPr lang="en-SE"/>
          </a:p>
        </p:txBody>
      </p:sp>
      <p:sp>
        <p:nvSpPr>
          <p:cNvPr id="3" name="Text 1"/>
          <p:cNvSpPr/>
          <p:nvPr/>
        </p:nvSpPr>
        <p:spPr>
          <a:xfrm>
            <a:off x="960120" y="1371600"/>
            <a:ext cx="2743200" cy="822960"/>
          </a:xfrm>
          <a:prstGeom prst="rect">
            <a:avLst/>
          </a:prstGeom>
          <a:noFill/>
          <a:ln/>
        </p:spPr>
        <p:txBody>
          <a:bodyPr wrap="square" lIns="0" tIns="0" rIns="0" bIns="0" rtlCol="0" anchor="ctr"/>
          <a:lstStyle/>
          <a:p>
            <a:pPr marL="0" indent="0">
              <a:buNone/>
            </a:pPr>
            <a:r>
              <a:rPr lang="en-US" sz="6200" b="1" dirty="0">
                <a:solidFill>
                  <a:srgbClr val="2E353D"/>
                </a:solidFill>
                <a:latin typeface="Trebuchet MS" pitchFamily="34" charset="0"/>
                <a:ea typeface="Trebuchet MS" pitchFamily="34" charset="-122"/>
                <a:cs typeface="Trebuchet MS" pitchFamily="34" charset="-120"/>
              </a:rPr>
              <a:t>08</a:t>
            </a:r>
            <a:endParaRPr lang="en-US" sz="6200" dirty="0"/>
          </a:p>
        </p:txBody>
      </p:sp>
      <p:sp>
        <p:nvSpPr>
          <p:cNvPr id="4" name="Text 0"/>
          <p:cNvSpPr>
            <a:spLocks noGrp="1"/>
          </p:cNvSpPr>
          <p:nvPr>
            <p:ph type="title" idx="100" hasCustomPrompt="1"/>
          </p:nvPr>
        </p:nvSpPr>
        <p:spPr>
          <a:xfrm>
            <a:off x="1005840" y="2148840"/>
            <a:ext cx="7132320" cy="914400"/>
          </a:xfrm>
          <a:prstGeom prst="rect">
            <a:avLst/>
          </a:prstGeom>
          <a:noFill/>
          <a:ln/>
        </p:spPr>
        <p:txBody>
          <a:bodyPr wrap="square" lIns="0" tIns="0" rIns="0" bIns="0" rtlCol="0"/>
          <a:lstStyle/>
          <a:p>
            <a:pPr marL="0" indent="0" algn="l">
              <a:buNone/>
            </a:pPr>
            <a:r>
              <a:rPr lang="en-US" sz="3600" b="1" dirty="0">
                <a:solidFill>
                  <a:srgbClr val="F3F5F7"/>
                </a:solidFill>
                <a:latin typeface="Trebuchet MS" pitchFamily="34" charset="0"/>
                <a:ea typeface="Trebuchet MS" pitchFamily="34" charset="-122"/>
                <a:cs typeface="Trebuchet MS" pitchFamily="34" charset="-120"/>
              </a:rPr>
              <a:t>Client recipes</a:t>
            </a:r>
            <a:endParaRPr lang="en-US" sz="3600" dirty="0"/>
          </a:p>
        </p:txBody>
      </p:sp>
      <p:sp>
        <p:nvSpPr>
          <p:cNvPr id="5" name="Text 3"/>
          <p:cNvSpPr/>
          <p:nvPr/>
        </p:nvSpPr>
        <p:spPr>
          <a:xfrm>
            <a:off x="1024128" y="3108960"/>
            <a:ext cx="6949440" cy="731520"/>
          </a:xfrm>
          <a:prstGeom prst="rect">
            <a:avLst/>
          </a:prstGeom>
          <a:noFill/>
          <a:ln/>
        </p:spPr>
        <p:txBody>
          <a:bodyPr wrap="square" lIns="0" tIns="0" rIns="0" bIns="0" rtlCol="0" anchor="ctr"/>
          <a:lstStyle/>
          <a:p>
            <a:pPr marL="0" indent="0">
              <a:buNone/>
            </a:pPr>
            <a:r>
              <a:rPr lang="en-US" sz="1400" dirty="0">
                <a:solidFill>
                  <a:srgbClr val="97A1AC"/>
                </a:solidFill>
                <a:latin typeface="Calibri" pitchFamily="34" charset="0"/>
                <a:ea typeface="Calibri" pitchFamily="34" charset="-122"/>
                <a:cs typeface="Calibri" pitchFamily="34" charset="-120"/>
              </a:rPr>
              <a:t>Three complete clients, described end to end</a:t>
            </a:r>
            <a:endParaRPr lang="en-US" sz="1400" dirty="0"/>
          </a:p>
        </p:txBody>
      </p:sp>
      <p:sp>
        <p:nvSpPr>
          <p:cNvPr id="6" name="Text 4"/>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Client recipes</a:t>
            </a:r>
            <a:endParaRPr lang="en-US" sz="900" dirty="0"/>
          </a:p>
        </p:txBody>
      </p:sp>
      <p:sp>
        <p:nvSpPr>
          <p:cNvPr id="7" name="Text 5"/>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56</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8138160" cy="548640"/>
          </a:xfrm>
          <a:prstGeom prst="rect">
            <a:avLst/>
          </a:prstGeom>
          <a:noFill/>
          <a:ln/>
        </p:spPr>
        <p:txBody>
          <a:bodyPr wrap="square" lIns="0" tIns="0" rIns="0" bIns="0" rtlCol="0" anchor="ctr"/>
          <a:lstStyle/>
          <a:p>
            <a:pPr marL="0" indent="0">
              <a:buNone/>
            </a:pPr>
            <a:r>
              <a:rPr lang="en-US" sz="2700" b="1" dirty="0">
                <a:solidFill>
                  <a:srgbClr val="F3F5F7"/>
                </a:solidFill>
                <a:latin typeface="Trebuchet MS" pitchFamily="34" charset="0"/>
                <a:ea typeface="Trebuchet MS" pitchFamily="34" charset="-122"/>
                <a:cs typeface="Trebuchet MS" pitchFamily="34" charset="-120"/>
              </a:rPr>
              <a:t>Recipe 1 — a trading bot</a:t>
            </a:r>
            <a:endParaRPr lang="en-US" sz="2700" dirty="0"/>
          </a:p>
        </p:txBody>
      </p:sp>
      <p:sp>
        <p:nvSpPr>
          <p:cNvPr id="3" name="Text 1"/>
          <p:cNvSpPr/>
          <p:nvPr/>
        </p:nvSpPr>
        <p:spPr>
          <a:xfrm>
            <a:off x="502920" y="841248"/>
            <a:ext cx="8138160" cy="237744"/>
          </a:xfrm>
          <a:prstGeom prst="rect">
            <a:avLst/>
          </a:prstGeom>
          <a:noFill/>
          <a:ln/>
        </p:spPr>
        <p:txBody>
          <a:bodyPr wrap="square" lIns="0" tIns="0" rIns="0" bIns="0" rtlCol="0" anchor="ctr"/>
          <a:lstStyle/>
          <a:p>
            <a:pPr marL="0" indent="0">
              <a:buNone/>
            </a:pPr>
            <a:r>
              <a:rPr lang="en-US" sz="1100" b="1" kern="0" spc="200" dirty="0">
                <a:solidFill>
                  <a:srgbClr val="E8722C"/>
                </a:solidFill>
                <a:latin typeface="Calibri" pitchFamily="34" charset="0"/>
                <a:ea typeface="Calibri" pitchFamily="34" charset="-122"/>
                <a:cs typeface="Calibri" pitchFamily="34" charset="-120"/>
              </a:rPr>
              <a:t>COOKBOOK</a:t>
            </a:r>
            <a:endParaRPr lang="en-US" sz="1100" dirty="0"/>
          </a:p>
        </p:txBody>
      </p:sp>
      <p:sp>
        <p:nvSpPr>
          <p:cNvPr id="4" name="card background">
            <a:extLst>
              <a:ext uri="{C183D7F6-B498-43B3-948B-1728B52AA6E4}">
                <adec:decorative xmlns:adec="http://schemas.microsoft.com/office/drawing/2017/decorative" val="1"/>
              </a:ext>
            </a:extLst>
          </p:cNvPr>
          <p:cNvSpPr/>
          <p:nvPr/>
        </p:nvSpPr>
        <p:spPr>
          <a:xfrm>
            <a:off x="502920" y="1417320"/>
            <a:ext cx="1378915" cy="1417320"/>
          </a:xfrm>
          <a:prstGeom prst="roundRect">
            <a:avLst>
              <a:gd name="adj" fmla="val 3979"/>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5" name="card top edge">
            <a:extLst>
              <a:ext uri="{C183D7F6-B498-43B3-948B-1728B52AA6E4}">
                <adec:decorative xmlns:adec="http://schemas.microsoft.com/office/drawing/2017/decorative" val="1"/>
              </a:ext>
            </a:extLst>
          </p:cNvPr>
          <p:cNvSpPr/>
          <p:nvPr/>
        </p:nvSpPr>
        <p:spPr>
          <a:xfrm>
            <a:off x="502920" y="1417320"/>
            <a:ext cx="1378915" cy="64008"/>
          </a:xfrm>
          <a:prstGeom prst="rect">
            <a:avLst/>
          </a:prstGeom>
          <a:solidFill>
            <a:srgbClr val="E8722C"/>
          </a:solidFill>
          <a:ln w="12700">
            <a:solidFill>
              <a:srgbClr val="E8722C"/>
            </a:solidFill>
            <a:prstDash val="solid"/>
          </a:ln>
        </p:spPr>
        <p:txBody>
          <a:bodyPr/>
          <a:lstStyle/>
          <a:p>
            <a:endParaRPr lang="en-SE"/>
          </a:p>
        </p:txBody>
      </p:sp>
      <p:sp>
        <p:nvSpPr>
          <p:cNvPr id="6" name="Text 4"/>
          <p:cNvSpPr/>
          <p:nvPr/>
        </p:nvSpPr>
        <p:spPr>
          <a:xfrm>
            <a:off x="649224" y="1600200"/>
            <a:ext cx="1086307" cy="310896"/>
          </a:xfrm>
          <a:prstGeom prst="rect">
            <a:avLst/>
          </a:prstGeom>
          <a:noFill/>
          <a:ln/>
        </p:spPr>
        <p:txBody>
          <a:bodyPr wrap="square" lIns="0" tIns="0" rIns="0" bIns="0" rtlCol="0" anchor="ctr"/>
          <a:lstStyle/>
          <a:p>
            <a:pPr marL="0" indent="0" algn="ctr">
              <a:buNone/>
            </a:pPr>
            <a:r>
              <a:rPr lang="en-US" sz="1300" b="1" dirty="0">
                <a:solidFill>
                  <a:srgbClr val="E8722C"/>
                </a:solidFill>
                <a:latin typeface="Trebuchet MS" pitchFamily="34" charset="0"/>
                <a:ea typeface="Trebuchet MS" pitchFamily="34" charset="-122"/>
                <a:cs typeface="Trebuchet MS" pitchFamily="34" charset="-120"/>
              </a:rPr>
              <a:t>1 · Listen</a:t>
            </a:r>
            <a:endParaRPr lang="en-US" sz="1300" dirty="0"/>
          </a:p>
        </p:txBody>
      </p:sp>
      <p:sp>
        <p:nvSpPr>
          <p:cNvPr id="7" name="Text 5"/>
          <p:cNvSpPr/>
          <p:nvPr/>
        </p:nvSpPr>
        <p:spPr>
          <a:xfrm>
            <a:off x="630936" y="1929384"/>
            <a:ext cx="1122883" cy="795528"/>
          </a:xfrm>
          <a:prstGeom prst="rect">
            <a:avLst/>
          </a:prstGeom>
          <a:noFill/>
          <a:ln/>
        </p:spPr>
        <p:txBody>
          <a:bodyPr wrap="square" lIns="0" tIns="0" rIns="0" bIns="0" rtlCol="0" anchor="t"/>
          <a:lstStyle/>
          <a:p>
            <a:pPr marL="0" indent="0" algn="ctr">
              <a:buNone/>
            </a:pPr>
            <a:r>
              <a:rPr lang="en-US" sz="1050" dirty="0">
                <a:solidFill>
                  <a:srgbClr val="D5DAE0"/>
                </a:solidFill>
                <a:latin typeface="Calibri" pitchFamily="34" charset="0"/>
                <a:ea typeface="Calibri" pitchFamily="34" charset="-122"/>
                <a:cs typeface="Calibri" pitchFamily="34" charset="-120"/>
              </a:rPr>
              <a:t>Open the private events stream and authenticate</a:t>
            </a:r>
            <a:endParaRPr lang="en-US" sz="1050" dirty="0"/>
          </a:p>
        </p:txBody>
      </p:sp>
      <p:sp>
        <p:nvSpPr>
          <p:cNvPr id="8" name="Text 6"/>
          <p:cNvSpPr/>
          <p:nvPr/>
        </p:nvSpPr>
        <p:spPr>
          <a:xfrm>
            <a:off x="1881835" y="1906524"/>
            <a:ext cx="310896" cy="438912"/>
          </a:xfrm>
          <a:prstGeom prst="rect">
            <a:avLst/>
          </a:prstGeom>
          <a:noFill/>
          <a:ln/>
        </p:spPr>
        <p:txBody>
          <a:bodyPr wrap="square" lIns="0" tIns="0" rIns="0" bIns="0" rtlCol="0" anchor="ctr"/>
          <a:lstStyle/>
          <a:p>
            <a:pPr marL="0" indent="0" algn="ctr">
              <a:buNone/>
            </a:pPr>
            <a:r>
              <a:rPr lang="en-US" sz="2200" b="1" dirty="0">
                <a:solidFill>
                  <a:srgbClr val="E8722C"/>
                </a:solidFill>
                <a:latin typeface="Trebuchet MS" pitchFamily="34" charset="0"/>
                <a:ea typeface="Trebuchet MS" pitchFamily="34" charset="-122"/>
                <a:cs typeface="Trebuchet MS" pitchFamily="34" charset="-120"/>
              </a:rPr>
              <a:t>›</a:t>
            </a:r>
            <a:endParaRPr lang="en-US" sz="2200" dirty="0"/>
          </a:p>
        </p:txBody>
      </p:sp>
      <p:sp>
        <p:nvSpPr>
          <p:cNvPr id="9" name="card background">
            <a:extLst>
              <a:ext uri="{C183D7F6-B498-43B3-948B-1728B52AA6E4}">
                <adec:decorative xmlns:adec="http://schemas.microsoft.com/office/drawing/2017/decorative" val="1"/>
              </a:ext>
            </a:extLst>
          </p:cNvPr>
          <p:cNvSpPr/>
          <p:nvPr/>
        </p:nvSpPr>
        <p:spPr>
          <a:xfrm>
            <a:off x="2192731" y="1417320"/>
            <a:ext cx="1378915" cy="1417320"/>
          </a:xfrm>
          <a:prstGeom prst="roundRect">
            <a:avLst>
              <a:gd name="adj" fmla="val 3979"/>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0" name="card top edge">
            <a:extLst>
              <a:ext uri="{C183D7F6-B498-43B3-948B-1728B52AA6E4}">
                <adec:decorative xmlns:adec="http://schemas.microsoft.com/office/drawing/2017/decorative" val="1"/>
              </a:ext>
            </a:extLst>
          </p:cNvPr>
          <p:cNvSpPr/>
          <p:nvPr/>
        </p:nvSpPr>
        <p:spPr>
          <a:xfrm>
            <a:off x="2192731" y="1417320"/>
            <a:ext cx="1378915" cy="64008"/>
          </a:xfrm>
          <a:prstGeom prst="rect">
            <a:avLst/>
          </a:prstGeom>
          <a:solidFill>
            <a:srgbClr val="F2A65A"/>
          </a:solidFill>
          <a:ln w="12700">
            <a:solidFill>
              <a:srgbClr val="F2A65A"/>
            </a:solidFill>
            <a:prstDash val="solid"/>
          </a:ln>
        </p:spPr>
        <p:txBody>
          <a:bodyPr/>
          <a:lstStyle/>
          <a:p>
            <a:endParaRPr lang="en-SE"/>
          </a:p>
        </p:txBody>
      </p:sp>
      <p:sp>
        <p:nvSpPr>
          <p:cNvPr id="11" name="Text 9"/>
          <p:cNvSpPr/>
          <p:nvPr/>
        </p:nvSpPr>
        <p:spPr>
          <a:xfrm>
            <a:off x="2339035" y="1600200"/>
            <a:ext cx="1086307" cy="310896"/>
          </a:xfrm>
          <a:prstGeom prst="rect">
            <a:avLst/>
          </a:prstGeom>
          <a:noFill/>
          <a:ln/>
        </p:spPr>
        <p:txBody>
          <a:bodyPr wrap="square" lIns="0" tIns="0" rIns="0" bIns="0" rtlCol="0" anchor="ctr"/>
          <a:lstStyle/>
          <a:p>
            <a:pPr marL="0" indent="0" algn="ctr">
              <a:buNone/>
            </a:pPr>
            <a:r>
              <a:rPr lang="en-US" sz="1300" b="1" dirty="0">
                <a:solidFill>
                  <a:srgbClr val="F2A65A"/>
                </a:solidFill>
                <a:latin typeface="Trebuchet MS" pitchFamily="34" charset="0"/>
                <a:ea typeface="Trebuchet MS" pitchFamily="34" charset="-122"/>
                <a:cs typeface="Trebuchet MS" pitchFamily="34" charset="-120"/>
              </a:rPr>
              <a:t>2 · Learn</a:t>
            </a:r>
            <a:endParaRPr lang="en-US" sz="1300" dirty="0"/>
          </a:p>
        </p:txBody>
      </p:sp>
      <p:sp>
        <p:nvSpPr>
          <p:cNvPr id="12" name="Text 10"/>
          <p:cNvSpPr/>
          <p:nvPr/>
        </p:nvSpPr>
        <p:spPr>
          <a:xfrm>
            <a:off x="2320747" y="1929384"/>
            <a:ext cx="1122883" cy="795528"/>
          </a:xfrm>
          <a:prstGeom prst="rect">
            <a:avLst/>
          </a:prstGeom>
          <a:noFill/>
          <a:ln/>
        </p:spPr>
        <p:txBody>
          <a:bodyPr wrap="square" lIns="0" tIns="0" rIns="0" bIns="0" rtlCol="0" anchor="t"/>
          <a:lstStyle/>
          <a:p>
            <a:pPr marL="0" indent="0" algn="ctr">
              <a:buNone/>
            </a:pPr>
            <a:r>
              <a:rPr lang="en-US" sz="1050" dirty="0">
                <a:solidFill>
                  <a:srgbClr val="D5DAE0"/>
                </a:solidFill>
                <a:latin typeface="Calibri" pitchFamily="34" charset="0"/>
                <a:ea typeface="Calibri" pitchFamily="34" charset="-122"/>
                <a:cs typeface="Calibri" pitchFamily="34" charset="-120"/>
              </a:rPr>
              <a:t>Fetch instruments and session state</a:t>
            </a:r>
            <a:endParaRPr lang="en-US" sz="1050" dirty="0"/>
          </a:p>
        </p:txBody>
      </p:sp>
      <p:sp>
        <p:nvSpPr>
          <p:cNvPr id="13" name="Text 11"/>
          <p:cNvSpPr/>
          <p:nvPr/>
        </p:nvSpPr>
        <p:spPr>
          <a:xfrm>
            <a:off x="3571646" y="1906524"/>
            <a:ext cx="310896" cy="438912"/>
          </a:xfrm>
          <a:prstGeom prst="rect">
            <a:avLst/>
          </a:prstGeom>
          <a:noFill/>
          <a:ln/>
        </p:spPr>
        <p:txBody>
          <a:bodyPr wrap="square" lIns="0" tIns="0" rIns="0" bIns="0" rtlCol="0" anchor="ctr"/>
          <a:lstStyle/>
          <a:p>
            <a:pPr marL="0" indent="0" algn="ctr">
              <a:buNone/>
            </a:pPr>
            <a:r>
              <a:rPr lang="en-US" sz="2200" b="1" dirty="0">
                <a:solidFill>
                  <a:srgbClr val="E8722C"/>
                </a:solidFill>
                <a:latin typeface="Trebuchet MS" pitchFamily="34" charset="0"/>
                <a:ea typeface="Trebuchet MS" pitchFamily="34" charset="-122"/>
                <a:cs typeface="Trebuchet MS" pitchFamily="34" charset="-120"/>
              </a:rPr>
              <a:t>›</a:t>
            </a:r>
            <a:endParaRPr lang="en-US" sz="2200" dirty="0"/>
          </a:p>
        </p:txBody>
      </p:sp>
      <p:sp>
        <p:nvSpPr>
          <p:cNvPr id="14" name="card background">
            <a:extLst>
              <a:ext uri="{C183D7F6-B498-43B3-948B-1728B52AA6E4}">
                <adec:decorative xmlns:adec="http://schemas.microsoft.com/office/drawing/2017/decorative" val="1"/>
              </a:ext>
            </a:extLst>
          </p:cNvPr>
          <p:cNvSpPr/>
          <p:nvPr/>
        </p:nvSpPr>
        <p:spPr>
          <a:xfrm>
            <a:off x="3882542" y="1417320"/>
            <a:ext cx="1378915" cy="1417320"/>
          </a:xfrm>
          <a:prstGeom prst="roundRect">
            <a:avLst>
              <a:gd name="adj" fmla="val 3979"/>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5" name="card top edge">
            <a:extLst>
              <a:ext uri="{C183D7F6-B498-43B3-948B-1728B52AA6E4}">
                <adec:decorative xmlns:adec="http://schemas.microsoft.com/office/drawing/2017/decorative" val="1"/>
              </a:ext>
            </a:extLst>
          </p:cNvPr>
          <p:cNvSpPr/>
          <p:nvPr/>
        </p:nvSpPr>
        <p:spPr>
          <a:xfrm>
            <a:off x="3882542" y="1417320"/>
            <a:ext cx="1378915" cy="64008"/>
          </a:xfrm>
          <a:prstGeom prst="rect">
            <a:avLst/>
          </a:prstGeom>
          <a:solidFill>
            <a:srgbClr val="35A79C"/>
          </a:solidFill>
          <a:ln w="12700">
            <a:solidFill>
              <a:srgbClr val="35A79C"/>
            </a:solidFill>
            <a:prstDash val="solid"/>
          </a:ln>
        </p:spPr>
        <p:txBody>
          <a:bodyPr/>
          <a:lstStyle/>
          <a:p>
            <a:endParaRPr lang="en-SE"/>
          </a:p>
        </p:txBody>
      </p:sp>
      <p:sp>
        <p:nvSpPr>
          <p:cNvPr id="16" name="Text 14"/>
          <p:cNvSpPr/>
          <p:nvPr/>
        </p:nvSpPr>
        <p:spPr>
          <a:xfrm>
            <a:off x="4028846" y="1600200"/>
            <a:ext cx="1086307" cy="310896"/>
          </a:xfrm>
          <a:prstGeom prst="rect">
            <a:avLst/>
          </a:prstGeom>
          <a:noFill/>
          <a:ln/>
        </p:spPr>
        <p:txBody>
          <a:bodyPr wrap="square" lIns="0" tIns="0" rIns="0" bIns="0" rtlCol="0" anchor="ctr"/>
          <a:lstStyle/>
          <a:p>
            <a:pPr marL="0" indent="0" algn="ctr">
              <a:buNone/>
            </a:pPr>
            <a:r>
              <a:rPr lang="en-US" sz="1300" b="1" dirty="0">
                <a:solidFill>
                  <a:srgbClr val="35A79C"/>
                </a:solidFill>
                <a:latin typeface="Trebuchet MS" pitchFamily="34" charset="0"/>
                <a:ea typeface="Trebuchet MS" pitchFamily="34" charset="-122"/>
                <a:cs typeface="Trebuchet MS" pitchFamily="34" charset="-120"/>
              </a:rPr>
              <a:t>3 · Decide</a:t>
            </a:r>
            <a:endParaRPr lang="en-US" sz="1300" dirty="0"/>
          </a:p>
        </p:txBody>
      </p:sp>
      <p:sp>
        <p:nvSpPr>
          <p:cNvPr id="17" name="Text 15"/>
          <p:cNvSpPr/>
          <p:nvPr/>
        </p:nvSpPr>
        <p:spPr>
          <a:xfrm>
            <a:off x="4010558" y="1929384"/>
            <a:ext cx="1122883" cy="795528"/>
          </a:xfrm>
          <a:prstGeom prst="rect">
            <a:avLst/>
          </a:prstGeom>
          <a:noFill/>
          <a:ln/>
        </p:spPr>
        <p:txBody>
          <a:bodyPr wrap="square" lIns="0" tIns="0" rIns="0" bIns="0" rtlCol="0" anchor="t"/>
          <a:lstStyle/>
          <a:p>
            <a:pPr marL="0" indent="0" algn="ctr">
              <a:buNone/>
            </a:pPr>
            <a:r>
              <a:rPr lang="en-US" sz="1050" dirty="0">
                <a:solidFill>
                  <a:srgbClr val="D5DAE0"/>
                </a:solidFill>
                <a:latin typeface="Calibri" pitchFamily="34" charset="0"/>
                <a:ea typeface="Calibri" pitchFamily="34" charset="-122"/>
                <a:cs typeface="Calibri" pitchFamily="34" charset="-120"/>
              </a:rPr>
              <a:t>Apply your own logic to incoming prices</a:t>
            </a:r>
            <a:endParaRPr lang="en-US" sz="1050" dirty="0"/>
          </a:p>
        </p:txBody>
      </p:sp>
      <p:sp>
        <p:nvSpPr>
          <p:cNvPr id="18" name="Text 16"/>
          <p:cNvSpPr/>
          <p:nvPr/>
        </p:nvSpPr>
        <p:spPr>
          <a:xfrm>
            <a:off x="5261458" y="1906524"/>
            <a:ext cx="310896" cy="438912"/>
          </a:xfrm>
          <a:prstGeom prst="rect">
            <a:avLst/>
          </a:prstGeom>
          <a:noFill/>
          <a:ln/>
        </p:spPr>
        <p:txBody>
          <a:bodyPr wrap="square" lIns="0" tIns="0" rIns="0" bIns="0" rtlCol="0" anchor="ctr"/>
          <a:lstStyle/>
          <a:p>
            <a:pPr marL="0" indent="0" algn="ctr">
              <a:buNone/>
            </a:pPr>
            <a:r>
              <a:rPr lang="en-US" sz="2200" b="1" dirty="0">
                <a:solidFill>
                  <a:srgbClr val="E8722C"/>
                </a:solidFill>
                <a:latin typeface="Trebuchet MS" pitchFamily="34" charset="0"/>
                <a:ea typeface="Trebuchet MS" pitchFamily="34" charset="-122"/>
                <a:cs typeface="Trebuchet MS" pitchFamily="34" charset="-120"/>
              </a:rPr>
              <a:t>›</a:t>
            </a:r>
            <a:endParaRPr lang="en-US" sz="2200" dirty="0"/>
          </a:p>
        </p:txBody>
      </p:sp>
      <p:sp>
        <p:nvSpPr>
          <p:cNvPr id="19" name="card background">
            <a:extLst>
              <a:ext uri="{C183D7F6-B498-43B3-948B-1728B52AA6E4}">
                <adec:decorative xmlns:adec="http://schemas.microsoft.com/office/drawing/2017/decorative" val="1"/>
              </a:ext>
            </a:extLst>
          </p:cNvPr>
          <p:cNvSpPr/>
          <p:nvPr/>
        </p:nvSpPr>
        <p:spPr>
          <a:xfrm>
            <a:off x="5572354" y="1417320"/>
            <a:ext cx="1378915" cy="1417320"/>
          </a:xfrm>
          <a:prstGeom prst="roundRect">
            <a:avLst>
              <a:gd name="adj" fmla="val 3979"/>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20" name="card top edge">
            <a:extLst>
              <a:ext uri="{C183D7F6-B498-43B3-948B-1728B52AA6E4}">
                <adec:decorative xmlns:adec="http://schemas.microsoft.com/office/drawing/2017/decorative" val="1"/>
              </a:ext>
            </a:extLst>
          </p:cNvPr>
          <p:cNvSpPr/>
          <p:nvPr/>
        </p:nvSpPr>
        <p:spPr>
          <a:xfrm>
            <a:off x="5572354" y="1417320"/>
            <a:ext cx="1378915" cy="64008"/>
          </a:xfrm>
          <a:prstGeom prst="rect">
            <a:avLst/>
          </a:prstGeom>
          <a:solidFill>
            <a:srgbClr val="8B7BD8"/>
          </a:solidFill>
          <a:ln w="12700">
            <a:solidFill>
              <a:srgbClr val="8B7BD8"/>
            </a:solidFill>
            <a:prstDash val="solid"/>
          </a:ln>
        </p:spPr>
        <p:txBody>
          <a:bodyPr/>
          <a:lstStyle/>
          <a:p>
            <a:endParaRPr lang="en-SE"/>
          </a:p>
        </p:txBody>
      </p:sp>
      <p:sp>
        <p:nvSpPr>
          <p:cNvPr id="21" name="Text 19"/>
          <p:cNvSpPr/>
          <p:nvPr/>
        </p:nvSpPr>
        <p:spPr>
          <a:xfrm>
            <a:off x="5718658" y="1600200"/>
            <a:ext cx="1086307" cy="310896"/>
          </a:xfrm>
          <a:prstGeom prst="rect">
            <a:avLst/>
          </a:prstGeom>
          <a:noFill/>
          <a:ln/>
        </p:spPr>
        <p:txBody>
          <a:bodyPr wrap="square" lIns="0" tIns="0" rIns="0" bIns="0" rtlCol="0" anchor="ctr"/>
          <a:lstStyle/>
          <a:p>
            <a:pPr marL="0" indent="0" algn="ctr">
              <a:buNone/>
            </a:pPr>
            <a:r>
              <a:rPr lang="en-US" sz="1300" b="1" dirty="0">
                <a:solidFill>
                  <a:srgbClr val="8B7BD8"/>
                </a:solidFill>
                <a:latin typeface="Trebuchet MS" pitchFamily="34" charset="0"/>
                <a:ea typeface="Trebuchet MS" pitchFamily="34" charset="-122"/>
                <a:cs typeface="Trebuchet MS" pitchFamily="34" charset="-120"/>
              </a:rPr>
              <a:t>4 · Send</a:t>
            </a:r>
            <a:endParaRPr lang="en-US" sz="1300" dirty="0"/>
          </a:p>
        </p:txBody>
      </p:sp>
      <p:sp>
        <p:nvSpPr>
          <p:cNvPr id="22" name="Text 20"/>
          <p:cNvSpPr/>
          <p:nvPr/>
        </p:nvSpPr>
        <p:spPr>
          <a:xfrm>
            <a:off x="5700370" y="1929384"/>
            <a:ext cx="1122883" cy="795528"/>
          </a:xfrm>
          <a:prstGeom prst="rect">
            <a:avLst/>
          </a:prstGeom>
          <a:noFill/>
          <a:ln/>
        </p:spPr>
        <p:txBody>
          <a:bodyPr wrap="square" lIns="0" tIns="0" rIns="0" bIns="0" rtlCol="0" anchor="t"/>
          <a:lstStyle/>
          <a:p>
            <a:pPr marL="0" indent="0" algn="ctr">
              <a:buNone/>
            </a:pPr>
            <a:r>
              <a:rPr lang="en-US" sz="1050" dirty="0">
                <a:solidFill>
                  <a:srgbClr val="D5DAE0"/>
                </a:solidFill>
                <a:latin typeface="Calibri" pitchFamily="34" charset="0"/>
                <a:ea typeface="Calibri" pitchFamily="34" charset="-122"/>
                <a:cs typeface="Calibri" pitchFamily="34" charset="-120"/>
              </a:rPr>
              <a:t>Submit orders with your own reference</a:t>
            </a:r>
            <a:endParaRPr lang="en-US" sz="1050" dirty="0"/>
          </a:p>
        </p:txBody>
      </p:sp>
      <p:sp>
        <p:nvSpPr>
          <p:cNvPr id="23" name="Text 21"/>
          <p:cNvSpPr/>
          <p:nvPr/>
        </p:nvSpPr>
        <p:spPr>
          <a:xfrm>
            <a:off x="6951269" y="1906524"/>
            <a:ext cx="310896" cy="438912"/>
          </a:xfrm>
          <a:prstGeom prst="rect">
            <a:avLst/>
          </a:prstGeom>
          <a:noFill/>
          <a:ln/>
        </p:spPr>
        <p:txBody>
          <a:bodyPr wrap="square" lIns="0" tIns="0" rIns="0" bIns="0" rtlCol="0" anchor="ctr"/>
          <a:lstStyle/>
          <a:p>
            <a:pPr marL="0" indent="0" algn="ctr">
              <a:buNone/>
            </a:pPr>
            <a:r>
              <a:rPr lang="en-US" sz="2200" b="1" dirty="0">
                <a:solidFill>
                  <a:srgbClr val="E8722C"/>
                </a:solidFill>
                <a:latin typeface="Trebuchet MS" pitchFamily="34" charset="0"/>
                <a:ea typeface="Trebuchet MS" pitchFamily="34" charset="-122"/>
                <a:cs typeface="Trebuchet MS" pitchFamily="34" charset="-120"/>
              </a:rPr>
              <a:t>›</a:t>
            </a:r>
            <a:endParaRPr lang="en-US" sz="2200" dirty="0"/>
          </a:p>
        </p:txBody>
      </p:sp>
      <p:sp>
        <p:nvSpPr>
          <p:cNvPr id="24" name="card background">
            <a:extLst>
              <a:ext uri="{C183D7F6-B498-43B3-948B-1728B52AA6E4}">
                <adec:decorative xmlns:adec="http://schemas.microsoft.com/office/drawing/2017/decorative" val="1"/>
              </a:ext>
            </a:extLst>
          </p:cNvPr>
          <p:cNvSpPr/>
          <p:nvPr/>
        </p:nvSpPr>
        <p:spPr>
          <a:xfrm>
            <a:off x="7262165" y="1417320"/>
            <a:ext cx="1378915" cy="1417320"/>
          </a:xfrm>
          <a:prstGeom prst="roundRect">
            <a:avLst>
              <a:gd name="adj" fmla="val 3979"/>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25" name="card top edge">
            <a:extLst>
              <a:ext uri="{C183D7F6-B498-43B3-948B-1728B52AA6E4}">
                <adec:decorative xmlns:adec="http://schemas.microsoft.com/office/drawing/2017/decorative" val="1"/>
              </a:ext>
            </a:extLst>
          </p:cNvPr>
          <p:cNvSpPr/>
          <p:nvPr/>
        </p:nvSpPr>
        <p:spPr>
          <a:xfrm>
            <a:off x="7262165" y="1417320"/>
            <a:ext cx="1378915" cy="64008"/>
          </a:xfrm>
          <a:prstGeom prst="rect">
            <a:avLst/>
          </a:prstGeom>
          <a:solidFill>
            <a:srgbClr val="E8722C"/>
          </a:solidFill>
          <a:ln w="12700">
            <a:solidFill>
              <a:srgbClr val="E8722C"/>
            </a:solidFill>
            <a:prstDash val="solid"/>
          </a:ln>
        </p:spPr>
        <p:txBody>
          <a:bodyPr/>
          <a:lstStyle/>
          <a:p>
            <a:endParaRPr lang="en-SE"/>
          </a:p>
        </p:txBody>
      </p:sp>
      <p:sp>
        <p:nvSpPr>
          <p:cNvPr id="26" name="Text 24"/>
          <p:cNvSpPr/>
          <p:nvPr/>
        </p:nvSpPr>
        <p:spPr>
          <a:xfrm>
            <a:off x="7408469" y="1600200"/>
            <a:ext cx="1086307" cy="310896"/>
          </a:xfrm>
          <a:prstGeom prst="rect">
            <a:avLst/>
          </a:prstGeom>
          <a:noFill/>
          <a:ln/>
        </p:spPr>
        <p:txBody>
          <a:bodyPr wrap="square" lIns="0" tIns="0" rIns="0" bIns="0" rtlCol="0" anchor="ctr"/>
          <a:lstStyle/>
          <a:p>
            <a:pPr marL="0" indent="0" algn="ctr">
              <a:buNone/>
            </a:pPr>
            <a:r>
              <a:rPr lang="en-US" sz="1300" b="1" dirty="0">
                <a:solidFill>
                  <a:srgbClr val="E8722C"/>
                </a:solidFill>
                <a:latin typeface="Trebuchet MS" pitchFamily="34" charset="0"/>
                <a:ea typeface="Trebuchet MS" pitchFamily="34" charset="-122"/>
                <a:cs typeface="Trebuchet MS" pitchFamily="34" charset="-120"/>
              </a:rPr>
              <a:t>5 · React</a:t>
            </a:r>
            <a:endParaRPr lang="en-US" sz="1300" dirty="0"/>
          </a:p>
        </p:txBody>
      </p:sp>
      <p:sp>
        <p:nvSpPr>
          <p:cNvPr id="27" name="Text 25"/>
          <p:cNvSpPr/>
          <p:nvPr/>
        </p:nvSpPr>
        <p:spPr>
          <a:xfrm>
            <a:off x="7390181" y="1929384"/>
            <a:ext cx="1122883" cy="795528"/>
          </a:xfrm>
          <a:prstGeom prst="rect">
            <a:avLst/>
          </a:prstGeom>
          <a:noFill/>
          <a:ln/>
        </p:spPr>
        <p:txBody>
          <a:bodyPr wrap="square" lIns="0" tIns="0" rIns="0" bIns="0" rtlCol="0" anchor="t"/>
          <a:lstStyle/>
          <a:p>
            <a:pPr marL="0" indent="0" algn="ctr">
              <a:buNone/>
            </a:pPr>
            <a:r>
              <a:rPr lang="en-US" sz="1050" dirty="0">
                <a:solidFill>
                  <a:srgbClr val="D5DAE0"/>
                </a:solidFill>
                <a:latin typeface="Calibri" pitchFamily="34" charset="0"/>
                <a:ea typeface="Calibri" pitchFamily="34" charset="-122"/>
                <a:cs typeface="Calibri" pitchFamily="34" charset="-120"/>
              </a:rPr>
              <a:t>Handle acknowledgements, fills and cancels</a:t>
            </a:r>
            <a:endParaRPr lang="en-US" sz="1050" dirty="0"/>
          </a:p>
        </p:txBody>
      </p:sp>
      <p:sp>
        <p:nvSpPr>
          <p:cNvPr id="28" name="card background">
            <a:extLst>
              <a:ext uri="{C183D7F6-B498-43B3-948B-1728B52AA6E4}">
                <adec:decorative xmlns:adec="http://schemas.microsoft.com/office/drawing/2017/decorative" val="1"/>
              </a:ext>
            </a:extLst>
          </p:cNvPr>
          <p:cNvSpPr/>
          <p:nvPr/>
        </p:nvSpPr>
        <p:spPr>
          <a:xfrm>
            <a:off x="502920" y="3108960"/>
            <a:ext cx="2566416" cy="1298448"/>
          </a:xfrm>
          <a:prstGeom prst="roundRect">
            <a:avLst>
              <a:gd name="adj" fmla="val 4225"/>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29" name="Text 27">
            <a:extLst>
              <a:ext uri="{C183D7F6-B498-43B3-948B-1728B52AA6E4}">
                <adec:decorative xmlns:adec="http://schemas.microsoft.com/office/drawing/2017/decorative" val="1"/>
              </a:ext>
            </a:extLst>
          </p:cNvPr>
          <p:cNvSpPr/>
          <p:nvPr/>
        </p:nvSpPr>
        <p:spPr>
          <a:xfrm>
            <a:off x="722376" y="3291840"/>
            <a:ext cx="2164080" cy="329184"/>
          </a:xfrm>
          <a:prstGeom prst="rect">
            <a:avLst/>
          </a:prstGeom>
          <a:noFill/>
          <a:ln/>
        </p:spPr>
        <p:txBody>
          <a:bodyPr wrap="square" lIns="0" tIns="0" rIns="0" bIns="0" rtlCol="0" anchor="ctr"/>
          <a:lstStyle/>
          <a:p>
            <a:pPr marL="0" indent="0">
              <a:buNone/>
            </a:pPr>
            <a:r>
              <a:rPr lang="en-US" sz="1400" b="1" dirty="0">
                <a:solidFill>
                  <a:srgbClr val="35A79C"/>
                </a:solidFill>
                <a:latin typeface="Trebuchet MS" pitchFamily="34" charset="0"/>
                <a:ea typeface="Trebuchet MS" pitchFamily="34" charset="-122"/>
                <a:cs typeface="Trebuchet MS" pitchFamily="34" charset="-120"/>
              </a:rPr>
              <a:t>Do</a:t>
            </a:r>
            <a:endParaRPr lang="en-US" sz="1400" dirty="0"/>
          </a:p>
        </p:txBody>
      </p:sp>
      <p:sp>
        <p:nvSpPr>
          <p:cNvPr id="30" name="Text 28"/>
          <p:cNvSpPr/>
          <p:nvPr/>
        </p:nvSpPr>
        <p:spPr>
          <a:xfrm>
            <a:off x="722376" y="3657600"/>
            <a:ext cx="2127504" cy="640080"/>
          </a:xfrm>
          <a:prstGeom prst="rect">
            <a:avLst/>
          </a:prstGeom>
          <a:noFill/>
          <a:ln/>
        </p:spPr>
        <p:txBody>
          <a:bodyPr wrap="square" lIns="0" tIns="0" rIns="0" bIns="0" rtlCol="0" anchor="t"/>
          <a:lstStyle/>
          <a:p>
            <a:pPr marL="0" indent="0">
              <a:buNone/>
            </a:pPr>
            <a:r>
              <a:rPr lang="en-US" sz="1100" dirty="0">
                <a:solidFill>
                  <a:srgbClr val="D5DAE0"/>
                </a:solidFill>
                <a:latin typeface="Calibri" pitchFamily="34" charset="0"/>
                <a:ea typeface="Calibri" pitchFamily="34" charset="-122"/>
                <a:cs typeface="Calibri" pitchFamily="34" charset="-120"/>
              </a:rPr>
              <a:t>Connect the stream before your first order. Use a fresh reference each time. Cancel everything on shutdown.</a:t>
            </a:r>
            <a:endParaRPr lang="en-US" sz="1100" dirty="0"/>
          </a:p>
        </p:txBody>
      </p:sp>
      <p:sp>
        <p:nvSpPr>
          <p:cNvPr id="31" name="card background">
            <a:extLst>
              <a:ext uri="{C183D7F6-B498-43B3-948B-1728B52AA6E4}">
                <adec:decorative xmlns:adec="http://schemas.microsoft.com/office/drawing/2017/decorative" val="1"/>
              </a:ext>
            </a:extLst>
          </p:cNvPr>
          <p:cNvSpPr/>
          <p:nvPr/>
        </p:nvSpPr>
        <p:spPr>
          <a:xfrm>
            <a:off x="3288792" y="3108960"/>
            <a:ext cx="2566416" cy="1298448"/>
          </a:xfrm>
          <a:prstGeom prst="roundRect">
            <a:avLst>
              <a:gd name="adj" fmla="val 4225"/>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32" name="Text 30"/>
          <p:cNvSpPr/>
          <p:nvPr/>
        </p:nvSpPr>
        <p:spPr>
          <a:xfrm>
            <a:off x="3508248" y="3291840"/>
            <a:ext cx="2164080" cy="329184"/>
          </a:xfrm>
          <a:prstGeom prst="rect">
            <a:avLst/>
          </a:prstGeom>
          <a:noFill/>
          <a:ln/>
        </p:spPr>
        <p:txBody>
          <a:bodyPr wrap="square" lIns="0" tIns="0" rIns="0" bIns="0" rtlCol="0" anchor="ctr"/>
          <a:lstStyle/>
          <a:p>
            <a:pPr marL="0" indent="0">
              <a:buNone/>
            </a:pPr>
            <a:r>
              <a:rPr lang="en-US" sz="1400" b="1" dirty="0">
                <a:solidFill>
                  <a:srgbClr val="D9534F"/>
                </a:solidFill>
                <a:latin typeface="Trebuchet MS" pitchFamily="34" charset="0"/>
                <a:ea typeface="Trebuchet MS" pitchFamily="34" charset="-122"/>
                <a:cs typeface="Trebuchet MS" pitchFamily="34" charset="-120"/>
              </a:rPr>
              <a:t>Don't</a:t>
            </a:r>
            <a:endParaRPr lang="en-US" sz="1400" dirty="0"/>
          </a:p>
        </p:txBody>
      </p:sp>
      <p:sp>
        <p:nvSpPr>
          <p:cNvPr id="33" name="Text 31">
            <a:extLst>
              <a:ext uri="{C183D7F6-B498-43B3-948B-1728B52AA6E4}">
                <adec:decorative xmlns:adec="http://schemas.microsoft.com/office/drawing/2017/decorative" val="1"/>
              </a:ext>
            </a:extLst>
          </p:cNvPr>
          <p:cNvSpPr/>
          <p:nvPr/>
        </p:nvSpPr>
        <p:spPr>
          <a:xfrm>
            <a:off x="3508248" y="3657600"/>
            <a:ext cx="2127504" cy="640080"/>
          </a:xfrm>
          <a:prstGeom prst="rect">
            <a:avLst/>
          </a:prstGeom>
          <a:noFill/>
          <a:ln/>
        </p:spPr>
        <p:txBody>
          <a:bodyPr wrap="square" lIns="0" tIns="0" rIns="0" bIns="0" rtlCol="0" anchor="t"/>
          <a:lstStyle/>
          <a:p>
            <a:pPr marL="0" indent="0">
              <a:buNone/>
            </a:pPr>
            <a:r>
              <a:rPr lang="en-US" sz="1100" dirty="0">
                <a:solidFill>
                  <a:srgbClr val="D5DAE0"/>
                </a:solidFill>
                <a:latin typeface="Calibri" pitchFamily="34" charset="0"/>
                <a:ea typeface="Calibri" pitchFamily="34" charset="-122"/>
                <a:cs typeface="Calibri" pitchFamily="34" charset="-120"/>
              </a:rPr>
              <a:t>Poll your order list in a tight loop, or treat a timeout as proof the order never reached the market.</a:t>
            </a:r>
            <a:endParaRPr lang="en-US" sz="1100" dirty="0"/>
          </a:p>
        </p:txBody>
      </p:sp>
      <p:sp>
        <p:nvSpPr>
          <p:cNvPr id="34" name="card background">
            <a:extLst>
              <a:ext uri="{C183D7F6-B498-43B3-948B-1728B52AA6E4}">
                <adec:decorative xmlns:adec="http://schemas.microsoft.com/office/drawing/2017/decorative" val="1"/>
              </a:ext>
            </a:extLst>
          </p:cNvPr>
          <p:cNvSpPr/>
          <p:nvPr/>
        </p:nvSpPr>
        <p:spPr>
          <a:xfrm>
            <a:off x="6074664" y="3108960"/>
            <a:ext cx="2566416" cy="1298448"/>
          </a:xfrm>
          <a:prstGeom prst="roundRect">
            <a:avLst>
              <a:gd name="adj" fmla="val 4225"/>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35" name="step marker">
            <a:extLst>
              <a:ext uri="{C183D7F6-B498-43B3-948B-1728B52AA6E4}">
                <adec:decorative xmlns:adec="http://schemas.microsoft.com/office/drawing/2017/decorative" val="1"/>
              </a:ext>
            </a:extLst>
          </p:cNvPr>
          <p:cNvSpPr/>
          <p:nvPr/>
        </p:nvSpPr>
        <p:spPr>
          <a:xfrm>
            <a:off x="6275832" y="3291840"/>
            <a:ext cx="310896" cy="310896"/>
          </a:xfrm>
          <a:prstGeom prst="ellipse">
            <a:avLst/>
          </a:prstGeom>
          <a:solidFill>
            <a:srgbClr val="F2A65A"/>
          </a:solidFill>
          <a:ln w="12700">
            <a:solidFill>
              <a:srgbClr val="F2A65A"/>
            </a:solidFill>
            <a:prstDash val="solid"/>
          </a:ln>
        </p:spPr>
        <p:txBody>
          <a:bodyPr/>
          <a:lstStyle/>
          <a:p>
            <a:endParaRPr lang="en-SE"/>
          </a:p>
        </p:txBody>
      </p:sp>
      <p:sp>
        <p:nvSpPr>
          <p:cNvPr id="36" name="Text 34"/>
          <p:cNvSpPr/>
          <p:nvPr/>
        </p:nvSpPr>
        <p:spPr>
          <a:xfrm>
            <a:off x="6275832" y="3291840"/>
            <a:ext cx="310896" cy="310896"/>
          </a:xfrm>
          <a:prstGeom prst="rect">
            <a:avLst/>
          </a:prstGeom>
          <a:noFill/>
          <a:ln/>
        </p:spPr>
        <p:txBody>
          <a:bodyPr wrap="square" lIns="0" tIns="0" rIns="0" bIns="0" rtlCol="0" anchor="ctr"/>
          <a:lstStyle/>
          <a:p>
            <a:pPr marL="0" indent="0" algn="ctr">
              <a:buNone/>
            </a:pPr>
            <a:endParaRPr lang="en-US" sz="1300" dirty="0"/>
          </a:p>
        </p:txBody>
      </p:sp>
      <p:sp>
        <p:nvSpPr>
          <p:cNvPr id="37" name="Text 35"/>
          <p:cNvSpPr/>
          <p:nvPr/>
        </p:nvSpPr>
        <p:spPr>
          <a:xfrm>
            <a:off x="6678168" y="3291840"/>
            <a:ext cx="1780032" cy="329184"/>
          </a:xfrm>
          <a:prstGeom prst="rect">
            <a:avLst/>
          </a:prstGeom>
          <a:noFill/>
          <a:ln/>
        </p:spPr>
        <p:txBody>
          <a:bodyPr wrap="square" lIns="0" tIns="0" rIns="0" bIns="0" rtlCol="0" anchor="ctr"/>
          <a:lstStyle/>
          <a:p>
            <a:pPr marL="0" indent="0">
              <a:buNone/>
            </a:pPr>
            <a:r>
              <a:rPr lang="en-US" sz="1400" b="1" dirty="0">
                <a:solidFill>
                  <a:srgbClr val="F2A65A"/>
                </a:solidFill>
                <a:latin typeface="Trebuchet MS" pitchFamily="34" charset="0"/>
                <a:ea typeface="Trebuchet MS" pitchFamily="34" charset="-122"/>
                <a:cs typeface="Trebuchet MS" pitchFamily="34" charset="-120"/>
              </a:rPr>
              <a:t>Remember</a:t>
            </a:r>
            <a:endParaRPr lang="en-US" sz="1400" dirty="0"/>
          </a:p>
        </p:txBody>
      </p:sp>
      <p:sp>
        <p:nvSpPr>
          <p:cNvPr id="38" name="Text 36">
            <a:extLst>
              <a:ext uri="{C183D7F6-B498-43B3-948B-1728B52AA6E4}">
                <adec:decorative xmlns:adec="http://schemas.microsoft.com/office/drawing/2017/decorative" val="1"/>
              </a:ext>
            </a:extLst>
          </p:cNvPr>
          <p:cNvSpPr/>
          <p:nvPr/>
        </p:nvSpPr>
        <p:spPr>
          <a:xfrm>
            <a:off x="6294120" y="3657600"/>
            <a:ext cx="2127504" cy="640080"/>
          </a:xfrm>
          <a:prstGeom prst="rect">
            <a:avLst/>
          </a:prstGeom>
          <a:noFill/>
          <a:ln/>
        </p:spPr>
        <p:txBody>
          <a:bodyPr wrap="square" lIns="0" tIns="0" rIns="0" bIns="0" rtlCol="0" anchor="t"/>
          <a:lstStyle/>
          <a:p>
            <a:pPr marL="0" indent="0">
              <a:buNone/>
            </a:pPr>
            <a:r>
              <a:rPr lang="en-US" sz="1100" dirty="0">
                <a:solidFill>
                  <a:srgbClr val="D5DAE0"/>
                </a:solidFill>
                <a:latin typeface="Calibri" pitchFamily="34" charset="0"/>
                <a:ea typeface="Calibri" pitchFamily="34" charset="-122"/>
                <a:cs typeface="Calibri" pitchFamily="34" charset="-120"/>
              </a:rPr>
              <a:t>Writes are rate limited per key, so pace bursts rather than firing everything at once.</a:t>
            </a:r>
            <a:endParaRPr lang="en-US" sz="1100" dirty="0"/>
          </a:p>
        </p:txBody>
      </p:sp>
      <p:sp>
        <p:nvSpPr>
          <p:cNvPr id="39" name="Text 37">
            <a:extLst>
              <a:ext uri="{C183D7F6-B498-43B3-948B-1728B52AA6E4}">
                <adec:decorative xmlns:adec="http://schemas.microsoft.com/office/drawing/2017/decorative" val="1"/>
              </a:ext>
            </a:extLst>
          </p:cNvPr>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Client recipes</a:t>
            </a:r>
            <a:endParaRPr lang="en-US" sz="900" dirty="0"/>
          </a:p>
        </p:txBody>
      </p:sp>
      <p:sp>
        <p:nvSpPr>
          <p:cNvPr id="40" name="Text 38"/>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57</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8138160" cy="548640"/>
          </a:xfrm>
          <a:prstGeom prst="rect">
            <a:avLst/>
          </a:prstGeom>
          <a:noFill/>
          <a:ln/>
        </p:spPr>
        <p:txBody>
          <a:bodyPr wrap="square" lIns="0" tIns="0" rIns="0" bIns="0" rtlCol="0" anchor="ctr"/>
          <a:lstStyle/>
          <a:p>
            <a:pPr marL="0" indent="0">
              <a:buNone/>
            </a:pPr>
            <a:r>
              <a:rPr lang="en-US" sz="2700" b="1" dirty="0">
                <a:solidFill>
                  <a:srgbClr val="F3F5F7"/>
                </a:solidFill>
                <a:latin typeface="Trebuchet MS" pitchFamily="34" charset="0"/>
                <a:ea typeface="Trebuchet MS" pitchFamily="34" charset="-122"/>
                <a:cs typeface="Trebuchet MS" pitchFamily="34" charset="-120"/>
              </a:rPr>
              <a:t>Recipe 2 — a live dashboard</a:t>
            </a:r>
            <a:endParaRPr lang="en-US" sz="2700" dirty="0"/>
          </a:p>
        </p:txBody>
      </p:sp>
      <p:sp>
        <p:nvSpPr>
          <p:cNvPr id="3" name="Text 1"/>
          <p:cNvSpPr/>
          <p:nvPr/>
        </p:nvSpPr>
        <p:spPr>
          <a:xfrm>
            <a:off x="502920" y="841248"/>
            <a:ext cx="8138160" cy="237744"/>
          </a:xfrm>
          <a:prstGeom prst="rect">
            <a:avLst/>
          </a:prstGeom>
          <a:noFill/>
          <a:ln/>
        </p:spPr>
        <p:txBody>
          <a:bodyPr wrap="square" lIns="0" tIns="0" rIns="0" bIns="0" rtlCol="0" anchor="ctr"/>
          <a:lstStyle/>
          <a:p>
            <a:pPr marL="0" indent="0">
              <a:buNone/>
            </a:pPr>
            <a:r>
              <a:rPr lang="en-US" sz="1100" b="1" kern="0" spc="200" dirty="0">
                <a:solidFill>
                  <a:srgbClr val="E8722C"/>
                </a:solidFill>
                <a:latin typeface="Calibri" pitchFamily="34" charset="0"/>
                <a:ea typeface="Calibri" pitchFamily="34" charset="-122"/>
                <a:cs typeface="Calibri" pitchFamily="34" charset="-120"/>
              </a:rPr>
              <a:t>COOKBOOK</a:t>
            </a:r>
            <a:endParaRPr lang="en-US" sz="1100" dirty="0"/>
          </a:p>
        </p:txBody>
      </p:sp>
      <p:sp>
        <p:nvSpPr>
          <p:cNvPr id="4" name="card background">
            <a:extLst>
              <a:ext uri="{C183D7F6-B498-43B3-948B-1728B52AA6E4}">
                <adec:decorative xmlns:adec="http://schemas.microsoft.com/office/drawing/2017/decorative" val="1"/>
              </a:ext>
            </a:extLst>
          </p:cNvPr>
          <p:cNvSpPr/>
          <p:nvPr/>
        </p:nvSpPr>
        <p:spPr>
          <a:xfrm>
            <a:off x="502920" y="1417320"/>
            <a:ext cx="1801368" cy="1417320"/>
          </a:xfrm>
          <a:prstGeom prst="roundRect">
            <a:avLst>
              <a:gd name="adj" fmla="val 3871"/>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5" name="card top edge">
            <a:extLst>
              <a:ext uri="{C183D7F6-B498-43B3-948B-1728B52AA6E4}">
                <adec:decorative xmlns:adec="http://schemas.microsoft.com/office/drawing/2017/decorative" val="1"/>
              </a:ext>
            </a:extLst>
          </p:cNvPr>
          <p:cNvSpPr/>
          <p:nvPr/>
        </p:nvSpPr>
        <p:spPr>
          <a:xfrm>
            <a:off x="502920" y="1417320"/>
            <a:ext cx="1801368" cy="64008"/>
          </a:xfrm>
          <a:prstGeom prst="rect">
            <a:avLst/>
          </a:prstGeom>
          <a:solidFill>
            <a:srgbClr val="E8722C"/>
          </a:solidFill>
          <a:ln w="12700">
            <a:solidFill>
              <a:srgbClr val="E8722C"/>
            </a:solidFill>
            <a:prstDash val="solid"/>
          </a:ln>
        </p:spPr>
        <p:txBody>
          <a:bodyPr/>
          <a:lstStyle/>
          <a:p>
            <a:endParaRPr lang="en-SE"/>
          </a:p>
        </p:txBody>
      </p:sp>
      <p:sp>
        <p:nvSpPr>
          <p:cNvPr id="6" name="Text 4"/>
          <p:cNvSpPr/>
          <p:nvPr/>
        </p:nvSpPr>
        <p:spPr>
          <a:xfrm>
            <a:off x="649224" y="1600200"/>
            <a:ext cx="1508760" cy="310896"/>
          </a:xfrm>
          <a:prstGeom prst="rect">
            <a:avLst/>
          </a:prstGeom>
          <a:noFill/>
          <a:ln/>
        </p:spPr>
        <p:txBody>
          <a:bodyPr wrap="square" lIns="0" tIns="0" rIns="0" bIns="0" rtlCol="0" anchor="ctr"/>
          <a:lstStyle/>
          <a:p>
            <a:pPr marL="0" indent="0" algn="ctr">
              <a:buNone/>
            </a:pPr>
            <a:r>
              <a:rPr lang="en-US" sz="1300" b="1" dirty="0">
                <a:solidFill>
                  <a:srgbClr val="E8722C"/>
                </a:solidFill>
                <a:latin typeface="Trebuchet MS" pitchFamily="34" charset="0"/>
                <a:ea typeface="Trebuchet MS" pitchFamily="34" charset="-122"/>
                <a:cs typeface="Trebuchet MS" pitchFamily="34" charset="-120"/>
              </a:rPr>
              <a:t>1 · Read-only key</a:t>
            </a:r>
            <a:endParaRPr lang="en-US" sz="1300" dirty="0"/>
          </a:p>
        </p:txBody>
      </p:sp>
      <p:sp>
        <p:nvSpPr>
          <p:cNvPr id="7" name="Text 5"/>
          <p:cNvSpPr/>
          <p:nvPr/>
        </p:nvSpPr>
        <p:spPr>
          <a:xfrm>
            <a:off x="630936" y="1929384"/>
            <a:ext cx="1545336" cy="795528"/>
          </a:xfrm>
          <a:prstGeom prst="rect">
            <a:avLst/>
          </a:prstGeom>
          <a:noFill/>
          <a:ln/>
        </p:spPr>
        <p:txBody>
          <a:bodyPr wrap="square" lIns="0" tIns="0" rIns="0" bIns="0" rtlCol="0" anchor="t"/>
          <a:lstStyle/>
          <a:p>
            <a:pPr marL="0" indent="0" algn="ctr">
              <a:buNone/>
            </a:pPr>
            <a:r>
              <a:rPr lang="en-US" sz="1050" dirty="0">
                <a:solidFill>
                  <a:srgbClr val="D5DAE0"/>
                </a:solidFill>
                <a:latin typeface="Calibri" pitchFamily="34" charset="0"/>
                <a:ea typeface="Calibri" pitchFamily="34" charset="-122"/>
                <a:cs typeface="Calibri" pitchFamily="34" charset="-120"/>
              </a:rPr>
              <a:t>No trading rights, nothing to lose if the screen is public</a:t>
            </a:r>
            <a:endParaRPr lang="en-US" sz="1050" dirty="0"/>
          </a:p>
        </p:txBody>
      </p:sp>
      <p:sp>
        <p:nvSpPr>
          <p:cNvPr id="8" name="Text 6"/>
          <p:cNvSpPr/>
          <p:nvPr/>
        </p:nvSpPr>
        <p:spPr>
          <a:xfrm>
            <a:off x="2304288" y="1906524"/>
            <a:ext cx="310896" cy="438912"/>
          </a:xfrm>
          <a:prstGeom prst="rect">
            <a:avLst/>
          </a:prstGeom>
          <a:noFill/>
          <a:ln/>
        </p:spPr>
        <p:txBody>
          <a:bodyPr wrap="square" lIns="0" tIns="0" rIns="0" bIns="0" rtlCol="0" anchor="ctr"/>
          <a:lstStyle/>
          <a:p>
            <a:pPr marL="0" indent="0" algn="ctr">
              <a:buNone/>
            </a:pPr>
            <a:r>
              <a:rPr lang="en-US" sz="2200" b="1" dirty="0">
                <a:solidFill>
                  <a:srgbClr val="E8722C"/>
                </a:solidFill>
                <a:latin typeface="Trebuchet MS" pitchFamily="34" charset="0"/>
                <a:ea typeface="Trebuchet MS" pitchFamily="34" charset="-122"/>
                <a:cs typeface="Trebuchet MS" pitchFamily="34" charset="-120"/>
              </a:rPr>
              <a:t>›</a:t>
            </a:r>
            <a:endParaRPr lang="en-US" sz="2200" dirty="0"/>
          </a:p>
        </p:txBody>
      </p:sp>
      <p:sp>
        <p:nvSpPr>
          <p:cNvPr id="9" name="card background">
            <a:extLst>
              <a:ext uri="{C183D7F6-B498-43B3-948B-1728B52AA6E4}">
                <adec:decorative xmlns:adec="http://schemas.microsoft.com/office/drawing/2017/decorative" val="1"/>
              </a:ext>
            </a:extLst>
          </p:cNvPr>
          <p:cNvSpPr/>
          <p:nvPr/>
        </p:nvSpPr>
        <p:spPr>
          <a:xfrm>
            <a:off x="2615184" y="1417320"/>
            <a:ext cx="1801368" cy="1417320"/>
          </a:xfrm>
          <a:prstGeom prst="roundRect">
            <a:avLst>
              <a:gd name="adj" fmla="val 3871"/>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0" name="card top edge">
            <a:extLst>
              <a:ext uri="{C183D7F6-B498-43B3-948B-1728B52AA6E4}">
                <adec:decorative xmlns:adec="http://schemas.microsoft.com/office/drawing/2017/decorative" val="1"/>
              </a:ext>
            </a:extLst>
          </p:cNvPr>
          <p:cNvSpPr/>
          <p:nvPr/>
        </p:nvSpPr>
        <p:spPr>
          <a:xfrm>
            <a:off x="2615184" y="1417320"/>
            <a:ext cx="1801368" cy="64008"/>
          </a:xfrm>
          <a:prstGeom prst="rect">
            <a:avLst/>
          </a:prstGeom>
          <a:solidFill>
            <a:srgbClr val="35A79C"/>
          </a:solidFill>
          <a:ln w="12700">
            <a:solidFill>
              <a:srgbClr val="35A79C"/>
            </a:solidFill>
            <a:prstDash val="solid"/>
          </a:ln>
        </p:spPr>
        <p:txBody>
          <a:bodyPr/>
          <a:lstStyle/>
          <a:p>
            <a:endParaRPr lang="en-SE"/>
          </a:p>
        </p:txBody>
      </p:sp>
      <p:sp>
        <p:nvSpPr>
          <p:cNvPr id="11" name="Text 9"/>
          <p:cNvSpPr/>
          <p:nvPr/>
        </p:nvSpPr>
        <p:spPr>
          <a:xfrm>
            <a:off x="2761488" y="1600200"/>
            <a:ext cx="1508760" cy="310896"/>
          </a:xfrm>
          <a:prstGeom prst="rect">
            <a:avLst/>
          </a:prstGeom>
          <a:noFill/>
          <a:ln/>
        </p:spPr>
        <p:txBody>
          <a:bodyPr wrap="square" lIns="0" tIns="0" rIns="0" bIns="0" rtlCol="0" anchor="ctr"/>
          <a:lstStyle/>
          <a:p>
            <a:pPr marL="0" indent="0" algn="ctr">
              <a:buNone/>
            </a:pPr>
            <a:r>
              <a:rPr lang="en-US" sz="1300" b="1" dirty="0">
                <a:solidFill>
                  <a:srgbClr val="35A79C"/>
                </a:solidFill>
                <a:latin typeface="Trebuchet MS" pitchFamily="34" charset="0"/>
                <a:ea typeface="Trebuchet MS" pitchFamily="34" charset="-122"/>
                <a:cs typeface="Trebuchet MS" pitchFamily="34" charset="-120"/>
              </a:rPr>
              <a:t>2 · Market stream</a:t>
            </a:r>
            <a:endParaRPr lang="en-US" sz="1300" dirty="0"/>
          </a:p>
        </p:txBody>
      </p:sp>
      <p:sp>
        <p:nvSpPr>
          <p:cNvPr id="12" name="Text 10"/>
          <p:cNvSpPr/>
          <p:nvPr/>
        </p:nvSpPr>
        <p:spPr>
          <a:xfrm>
            <a:off x="2743200" y="1929384"/>
            <a:ext cx="1545336" cy="795528"/>
          </a:xfrm>
          <a:prstGeom prst="rect">
            <a:avLst/>
          </a:prstGeom>
          <a:noFill/>
          <a:ln/>
        </p:spPr>
        <p:txBody>
          <a:bodyPr wrap="square" lIns="0" tIns="0" rIns="0" bIns="0" rtlCol="0" anchor="t"/>
          <a:lstStyle/>
          <a:p>
            <a:pPr marL="0" indent="0" algn="ctr">
              <a:buNone/>
            </a:pPr>
            <a:r>
              <a:rPr lang="en-US" sz="1050" dirty="0">
                <a:solidFill>
                  <a:srgbClr val="D5DAE0"/>
                </a:solidFill>
                <a:latin typeface="Calibri" pitchFamily="34" charset="0"/>
                <a:ea typeface="Calibri" pitchFamily="34" charset="-122"/>
                <a:cs typeface="Calibri" pitchFamily="34" charset="-120"/>
              </a:rPr>
              <a:t>Connect, authenticate, subscribe to the channels you draw</a:t>
            </a:r>
            <a:endParaRPr lang="en-US" sz="1050" dirty="0"/>
          </a:p>
        </p:txBody>
      </p:sp>
      <p:sp>
        <p:nvSpPr>
          <p:cNvPr id="13" name="Text 11"/>
          <p:cNvSpPr/>
          <p:nvPr/>
        </p:nvSpPr>
        <p:spPr>
          <a:xfrm>
            <a:off x="4416552" y="1906524"/>
            <a:ext cx="310896" cy="438912"/>
          </a:xfrm>
          <a:prstGeom prst="rect">
            <a:avLst/>
          </a:prstGeom>
          <a:noFill/>
          <a:ln/>
        </p:spPr>
        <p:txBody>
          <a:bodyPr wrap="square" lIns="0" tIns="0" rIns="0" bIns="0" rtlCol="0" anchor="ctr"/>
          <a:lstStyle/>
          <a:p>
            <a:pPr marL="0" indent="0" algn="ctr">
              <a:buNone/>
            </a:pPr>
            <a:r>
              <a:rPr lang="en-US" sz="2200" b="1" dirty="0">
                <a:solidFill>
                  <a:srgbClr val="E8722C"/>
                </a:solidFill>
                <a:latin typeface="Trebuchet MS" pitchFamily="34" charset="0"/>
                <a:ea typeface="Trebuchet MS" pitchFamily="34" charset="-122"/>
                <a:cs typeface="Trebuchet MS" pitchFamily="34" charset="-120"/>
              </a:rPr>
              <a:t>›</a:t>
            </a:r>
            <a:endParaRPr lang="en-US" sz="2200" dirty="0"/>
          </a:p>
        </p:txBody>
      </p:sp>
      <p:sp>
        <p:nvSpPr>
          <p:cNvPr id="14" name="card background">
            <a:extLst>
              <a:ext uri="{C183D7F6-B498-43B3-948B-1728B52AA6E4}">
                <adec:decorative xmlns:adec="http://schemas.microsoft.com/office/drawing/2017/decorative" val="1"/>
              </a:ext>
            </a:extLst>
          </p:cNvPr>
          <p:cNvSpPr/>
          <p:nvPr/>
        </p:nvSpPr>
        <p:spPr>
          <a:xfrm>
            <a:off x="4727448" y="1417320"/>
            <a:ext cx="1801368" cy="1417320"/>
          </a:xfrm>
          <a:prstGeom prst="roundRect">
            <a:avLst>
              <a:gd name="adj" fmla="val 3871"/>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5" name="card top edge">
            <a:extLst>
              <a:ext uri="{C183D7F6-B498-43B3-948B-1728B52AA6E4}">
                <adec:decorative xmlns:adec="http://schemas.microsoft.com/office/drawing/2017/decorative" val="1"/>
              </a:ext>
            </a:extLst>
          </p:cNvPr>
          <p:cNvSpPr/>
          <p:nvPr/>
        </p:nvSpPr>
        <p:spPr>
          <a:xfrm>
            <a:off x="4727448" y="1417320"/>
            <a:ext cx="1801368" cy="64008"/>
          </a:xfrm>
          <a:prstGeom prst="rect">
            <a:avLst/>
          </a:prstGeom>
          <a:solidFill>
            <a:srgbClr val="F2A65A"/>
          </a:solidFill>
          <a:ln w="12700">
            <a:solidFill>
              <a:srgbClr val="F2A65A"/>
            </a:solidFill>
            <a:prstDash val="solid"/>
          </a:ln>
        </p:spPr>
        <p:txBody>
          <a:bodyPr/>
          <a:lstStyle/>
          <a:p>
            <a:endParaRPr lang="en-SE"/>
          </a:p>
        </p:txBody>
      </p:sp>
      <p:sp>
        <p:nvSpPr>
          <p:cNvPr id="16" name="Text 14"/>
          <p:cNvSpPr/>
          <p:nvPr/>
        </p:nvSpPr>
        <p:spPr>
          <a:xfrm>
            <a:off x="4873752" y="1600200"/>
            <a:ext cx="1508760" cy="310896"/>
          </a:xfrm>
          <a:prstGeom prst="rect">
            <a:avLst/>
          </a:prstGeom>
          <a:noFill/>
          <a:ln/>
        </p:spPr>
        <p:txBody>
          <a:bodyPr wrap="square" lIns="0" tIns="0" rIns="0" bIns="0" rtlCol="0" anchor="ctr"/>
          <a:lstStyle/>
          <a:p>
            <a:pPr marL="0" indent="0" algn="ctr">
              <a:buNone/>
            </a:pPr>
            <a:r>
              <a:rPr lang="en-US" sz="1300" b="1" dirty="0">
                <a:solidFill>
                  <a:srgbClr val="F2A65A"/>
                </a:solidFill>
                <a:latin typeface="Trebuchet MS" pitchFamily="34" charset="0"/>
                <a:ea typeface="Trebuchet MS" pitchFamily="34" charset="-122"/>
                <a:cs typeface="Trebuchet MS" pitchFamily="34" charset="-120"/>
              </a:rPr>
              <a:t>3 · Choose</a:t>
            </a:r>
            <a:endParaRPr lang="en-US" sz="1300" dirty="0"/>
          </a:p>
        </p:txBody>
      </p:sp>
      <p:sp>
        <p:nvSpPr>
          <p:cNvPr id="17" name="Text 15"/>
          <p:cNvSpPr/>
          <p:nvPr/>
        </p:nvSpPr>
        <p:spPr>
          <a:xfrm>
            <a:off x="4855464" y="1929384"/>
            <a:ext cx="1545336" cy="795528"/>
          </a:xfrm>
          <a:prstGeom prst="rect">
            <a:avLst/>
          </a:prstGeom>
          <a:noFill/>
          <a:ln/>
        </p:spPr>
        <p:txBody>
          <a:bodyPr wrap="square" lIns="0" tIns="0" rIns="0" bIns="0" rtlCol="0" anchor="t"/>
          <a:lstStyle/>
          <a:p>
            <a:pPr marL="0" indent="0" algn="ctr">
              <a:buNone/>
            </a:pPr>
            <a:r>
              <a:rPr lang="en-US" sz="1050" dirty="0">
                <a:solidFill>
                  <a:srgbClr val="D5DAE0"/>
                </a:solidFill>
                <a:latin typeface="Calibri" pitchFamily="34" charset="0"/>
                <a:ea typeface="Calibri" pitchFamily="34" charset="-122"/>
                <a:cs typeface="Calibri" pitchFamily="34" charset="-120"/>
              </a:rPr>
              <a:t>Name your instruments, or take the whole market</a:t>
            </a:r>
            <a:endParaRPr lang="en-US" sz="1050" dirty="0"/>
          </a:p>
        </p:txBody>
      </p:sp>
      <p:sp>
        <p:nvSpPr>
          <p:cNvPr id="18" name="Text 16"/>
          <p:cNvSpPr/>
          <p:nvPr/>
        </p:nvSpPr>
        <p:spPr>
          <a:xfrm>
            <a:off x="6528816" y="1906524"/>
            <a:ext cx="310896" cy="438912"/>
          </a:xfrm>
          <a:prstGeom prst="rect">
            <a:avLst/>
          </a:prstGeom>
          <a:noFill/>
          <a:ln/>
        </p:spPr>
        <p:txBody>
          <a:bodyPr wrap="square" lIns="0" tIns="0" rIns="0" bIns="0" rtlCol="0" anchor="ctr"/>
          <a:lstStyle/>
          <a:p>
            <a:pPr marL="0" indent="0" algn="ctr">
              <a:buNone/>
            </a:pPr>
            <a:r>
              <a:rPr lang="en-US" sz="2200" b="1" dirty="0">
                <a:solidFill>
                  <a:srgbClr val="E8722C"/>
                </a:solidFill>
                <a:latin typeface="Trebuchet MS" pitchFamily="34" charset="0"/>
                <a:ea typeface="Trebuchet MS" pitchFamily="34" charset="-122"/>
                <a:cs typeface="Trebuchet MS" pitchFamily="34" charset="-120"/>
              </a:rPr>
              <a:t>›</a:t>
            </a:r>
            <a:endParaRPr lang="en-US" sz="2200" dirty="0"/>
          </a:p>
        </p:txBody>
      </p:sp>
      <p:sp>
        <p:nvSpPr>
          <p:cNvPr id="19" name="card background">
            <a:extLst>
              <a:ext uri="{C183D7F6-B498-43B3-948B-1728B52AA6E4}">
                <adec:decorative xmlns:adec="http://schemas.microsoft.com/office/drawing/2017/decorative" val="1"/>
              </a:ext>
            </a:extLst>
          </p:cNvPr>
          <p:cNvSpPr/>
          <p:nvPr/>
        </p:nvSpPr>
        <p:spPr>
          <a:xfrm>
            <a:off x="6839712" y="1417320"/>
            <a:ext cx="1801368" cy="1417320"/>
          </a:xfrm>
          <a:prstGeom prst="roundRect">
            <a:avLst>
              <a:gd name="adj" fmla="val 3871"/>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20" name="card top edge">
            <a:extLst>
              <a:ext uri="{C183D7F6-B498-43B3-948B-1728B52AA6E4}">
                <adec:decorative xmlns:adec="http://schemas.microsoft.com/office/drawing/2017/decorative" val="1"/>
              </a:ext>
            </a:extLst>
          </p:cNvPr>
          <p:cNvSpPr/>
          <p:nvPr/>
        </p:nvSpPr>
        <p:spPr>
          <a:xfrm>
            <a:off x="6839712" y="1417320"/>
            <a:ext cx="1801368" cy="64008"/>
          </a:xfrm>
          <a:prstGeom prst="rect">
            <a:avLst/>
          </a:prstGeom>
          <a:solidFill>
            <a:srgbClr val="8B7BD8"/>
          </a:solidFill>
          <a:ln w="12700">
            <a:solidFill>
              <a:srgbClr val="8B7BD8"/>
            </a:solidFill>
            <a:prstDash val="solid"/>
          </a:ln>
        </p:spPr>
        <p:txBody>
          <a:bodyPr/>
          <a:lstStyle/>
          <a:p>
            <a:endParaRPr lang="en-SE"/>
          </a:p>
        </p:txBody>
      </p:sp>
      <p:sp>
        <p:nvSpPr>
          <p:cNvPr id="21" name="Text 19"/>
          <p:cNvSpPr/>
          <p:nvPr/>
        </p:nvSpPr>
        <p:spPr>
          <a:xfrm>
            <a:off x="6986016" y="1600200"/>
            <a:ext cx="1508760" cy="310896"/>
          </a:xfrm>
          <a:prstGeom prst="rect">
            <a:avLst/>
          </a:prstGeom>
          <a:noFill/>
          <a:ln/>
        </p:spPr>
        <p:txBody>
          <a:bodyPr wrap="square" lIns="0" tIns="0" rIns="0" bIns="0" rtlCol="0" anchor="ctr"/>
          <a:lstStyle/>
          <a:p>
            <a:pPr marL="0" indent="0" algn="ctr">
              <a:buNone/>
            </a:pPr>
            <a:r>
              <a:rPr lang="en-US" sz="1300" b="1" dirty="0">
                <a:solidFill>
                  <a:srgbClr val="8B7BD8"/>
                </a:solidFill>
                <a:latin typeface="Trebuchet MS" pitchFamily="34" charset="0"/>
                <a:ea typeface="Trebuchet MS" pitchFamily="34" charset="-122"/>
                <a:cs typeface="Trebuchet MS" pitchFamily="34" charset="-120"/>
              </a:rPr>
              <a:t>4 · Render</a:t>
            </a:r>
            <a:endParaRPr lang="en-US" sz="1300" dirty="0"/>
          </a:p>
        </p:txBody>
      </p:sp>
      <p:sp>
        <p:nvSpPr>
          <p:cNvPr id="22" name="Text 20"/>
          <p:cNvSpPr/>
          <p:nvPr/>
        </p:nvSpPr>
        <p:spPr>
          <a:xfrm>
            <a:off x="6967728" y="1929384"/>
            <a:ext cx="1545336" cy="795528"/>
          </a:xfrm>
          <a:prstGeom prst="rect">
            <a:avLst/>
          </a:prstGeom>
          <a:noFill/>
          <a:ln/>
        </p:spPr>
        <p:txBody>
          <a:bodyPr wrap="square" lIns="0" tIns="0" rIns="0" bIns="0" rtlCol="0" anchor="t"/>
          <a:lstStyle/>
          <a:p>
            <a:pPr marL="0" indent="0" algn="ctr">
              <a:buNone/>
            </a:pPr>
            <a:r>
              <a:rPr lang="en-US" sz="1050" dirty="0">
                <a:solidFill>
                  <a:srgbClr val="D5DAE0"/>
                </a:solidFill>
                <a:latin typeface="Calibri" pitchFamily="34" charset="0"/>
                <a:ea typeface="Calibri" pitchFamily="34" charset="-122"/>
                <a:cs typeface="Calibri" pitchFamily="34" charset="-120"/>
              </a:rPr>
              <a:t>Update widgets as events arrive; never poll</a:t>
            </a:r>
            <a:endParaRPr lang="en-US" sz="1050" dirty="0"/>
          </a:p>
        </p:txBody>
      </p:sp>
      <p:sp>
        <p:nvSpPr>
          <p:cNvPr id="23" name="card background">
            <a:extLst>
              <a:ext uri="{C183D7F6-B498-43B3-948B-1728B52AA6E4}">
                <adec:decorative xmlns:adec="http://schemas.microsoft.com/office/drawing/2017/decorative" val="1"/>
              </a:ext>
            </a:extLst>
          </p:cNvPr>
          <p:cNvSpPr/>
          <p:nvPr/>
        </p:nvSpPr>
        <p:spPr>
          <a:xfrm>
            <a:off x="502920" y="3108960"/>
            <a:ext cx="2566416" cy="1298448"/>
          </a:xfrm>
          <a:prstGeom prst="roundRect">
            <a:avLst>
              <a:gd name="adj" fmla="val 4225"/>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24" name="Text 22">
            <a:extLst>
              <a:ext uri="{C183D7F6-B498-43B3-948B-1728B52AA6E4}">
                <adec:decorative xmlns:adec="http://schemas.microsoft.com/office/drawing/2017/decorative" val="1"/>
              </a:ext>
            </a:extLst>
          </p:cNvPr>
          <p:cNvSpPr/>
          <p:nvPr/>
        </p:nvSpPr>
        <p:spPr>
          <a:xfrm>
            <a:off x="722376" y="3291840"/>
            <a:ext cx="2164080" cy="329184"/>
          </a:xfrm>
          <a:prstGeom prst="rect">
            <a:avLst/>
          </a:prstGeom>
          <a:noFill/>
          <a:ln/>
        </p:spPr>
        <p:txBody>
          <a:bodyPr wrap="square" lIns="0" tIns="0" rIns="0" bIns="0" rtlCol="0" anchor="ctr"/>
          <a:lstStyle/>
          <a:p>
            <a:pPr marL="0" indent="0">
              <a:buNone/>
            </a:pPr>
            <a:r>
              <a:rPr lang="en-US" sz="1400" b="1" dirty="0">
                <a:solidFill>
                  <a:srgbClr val="E8722C"/>
                </a:solidFill>
                <a:latin typeface="Trebuchet MS" pitchFamily="34" charset="0"/>
                <a:ea typeface="Trebuchet MS" pitchFamily="34" charset="-122"/>
                <a:cs typeface="Trebuchet MS" pitchFamily="34" charset="-120"/>
              </a:rPr>
              <a:t>Prices and trades</a:t>
            </a:r>
            <a:endParaRPr lang="en-US" sz="1400" dirty="0"/>
          </a:p>
        </p:txBody>
      </p:sp>
      <p:sp>
        <p:nvSpPr>
          <p:cNvPr id="25" name="Text 23"/>
          <p:cNvSpPr/>
          <p:nvPr/>
        </p:nvSpPr>
        <p:spPr>
          <a:xfrm>
            <a:off x="722376" y="3657600"/>
            <a:ext cx="2127504" cy="640080"/>
          </a:xfrm>
          <a:prstGeom prst="rect">
            <a:avLst/>
          </a:prstGeom>
          <a:noFill/>
          <a:ln/>
        </p:spPr>
        <p:txBody>
          <a:bodyPr wrap="square" lIns="0" tIns="0" rIns="0" bIns="0" rtlCol="0" anchor="t"/>
          <a:lstStyle/>
          <a:p>
            <a:pPr marL="0" indent="0">
              <a:buNone/>
            </a:pPr>
            <a:r>
              <a:rPr lang="en-US" sz="1100" dirty="0">
                <a:solidFill>
                  <a:srgbClr val="D5DAE0"/>
                </a:solidFill>
                <a:latin typeface="Calibri" pitchFamily="34" charset="0"/>
                <a:ea typeface="Calibri" pitchFamily="34" charset="-122"/>
                <a:cs typeface="Calibri" pitchFamily="34" charset="-120"/>
              </a:rPr>
              <a:t>The book channel drives the top of book; the trade channel drives the tape.</a:t>
            </a:r>
            <a:endParaRPr lang="en-US" sz="1100" dirty="0"/>
          </a:p>
        </p:txBody>
      </p:sp>
      <p:sp>
        <p:nvSpPr>
          <p:cNvPr id="26" name="card background">
            <a:extLst>
              <a:ext uri="{C183D7F6-B498-43B3-948B-1728B52AA6E4}">
                <adec:decorative xmlns:adec="http://schemas.microsoft.com/office/drawing/2017/decorative" val="1"/>
              </a:ext>
            </a:extLst>
          </p:cNvPr>
          <p:cNvSpPr/>
          <p:nvPr/>
        </p:nvSpPr>
        <p:spPr>
          <a:xfrm>
            <a:off x="3288792" y="3108960"/>
            <a:ext cx="2566416" cy="1298448"/>
          </a:xfrm>
          <a:prstGeom prst="roundRect">
            <a:avLst>
              <a:gd name="adj" fmla="val 4225"/>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27" name="Text 25"/>
          <p:cNvSpPr/>
          <p:nvPr/>
        </p:nvSpPr>
        <p:spPr>
          <a:xfrm>
            <a:off x="3508248" y="3291840"/>
            <a:ext cx="2164080" cy="329184"/>
          </a:xfrm>
          <a:prstGeom prst="rect">
            <a:avLst/>
          </a:prstGeom>
          <a:noFill/>
          <a:ln/>
        </p:spPr>
        <p:txBody>
          <a:bodyPr wrap="square" lIns="0" tIns="0" rIns="0" bIns="0" rtlCol="0" anchor="ctr"/>
          <a:lstStyle/>
          <a:p>
            <a:pPr marL="0" indent="0">
              <a:buNone/>
            </a:pPr>
            <a:r>
              <a:rPr lang="en-US" sz="1400" b="1" dirty="0">
                <a:solidFill>
                  <a:srgbClr val="35A79C"/>
                </a:solidFill>
                <a:latin typeface="Trebuchet MS" pitchFamily="34" charset="0"/>
                <a:ea typeface="Trebuchet MS" pitchFamily="34" charset="-122"/>
                <a:cs typeface="Trebuchet MS" pitchFamily="34" charset="-120"/>
              </a:rPr>
              <a:t>Market state</a:t>
            </a:r>
            <a:endParaRPr lang="en-US" sz="1400" dirty="0"/>
          </a:p>
        </p:txBody>
      </p:sp>
      <p:sp>
        <p:nvSpPr>
          <p:cNvPr id="28" name="Text 26">
            <a:extLst>
              <a:ext uri="{C183D7F6-B498-43B3-948B-1728B52AA6E4}">
                <adec:decorative xmlns:adec="http://schemas.microsoft.com/office/drawing/2017/decorative" val="1"/>
              </a:ext>
            </a:extLst>
          </p:cNvPr>
          <p:cNvSpPr/>
          <p:nvPr/>
        </p:nvSpPr>
        <p:spPr>
          <a:xfrm>
            <a:off x="3508248" y="3657600"/>
            <a:ext cx="2127504" cy="640080"/>
          </a:xfrm>
          <a:prstGeom prst="rect">
            <a:avLst/>
          </a:prstGeom>
          <a:noFill/>
          <a:ln/>
        </p:spPr>
        <p:txBody>
          <a:bodyPr wrap="square" lIns="0" tIns="0" rIns="0" bIns="0" rtlCol="0" anchor="t"/>
          <a:lstStyle/>
          <a:p>
            <a:pPr marL="0" indent="0">
              <a:buNone/>
            </a:pPr>
            <a:r>
              <a:rPr lang="en-US" sz="1100" dirty="0">
                <a:solidFill>
                  <a:srgbClr val="D5DAE0"/>
                </a:solidFill>
                <a:latin typeface="Calibri" pitchFamily="34" charset="0"/>
                <a:ea typeface="Calibri" pitchFamily="34" charset="-122"/>
                <a:cs typeface="Calibri" pitchFamily="34" charset="-120"/>
              </a:rPr>
              <a:t>Session and halt events arrive automatically — use them to grey out a halted instrument.</a:t>
            </a:r>
            <a:endParaRPr lang="en-US" sz="1100" dirty="0"/>
          </a:p>
        </p:txBody>
      </p:sp>
      <p:sp>
        <p:nvSpPr>
          <p:cNvPr id="29" name="card background">
            <a:extLst>
              <a:ext uri="{C183D7F6-B498-43B3-948B-1728B52AA6E4}">
                <adec:decorative xmlns:adec="http://schemas.microsoft.com/office/drawing/2017/decorative" val="1"/>
              </a:ext>
            </a:extLst>
          </p:cNvPr>
          <p:cNvSpPr/>
          <p:nvPr/>
        </p:nvSpPr>
        <p:spPr>
          <a:xfrm>
            <a:off x="6074664" y="3108960"/>
            <a:ext cx="2566416" cy="1298448"/>
          </a:xfrm>
          <a:prstGeom prst="roundRect">
            <a:avLst>
              <a:gd name="adj" fmla="val 4225"/>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30" name="step marker">
            <a:extLst>
              <a:ext uri="{C183D7F6-B498-43B3-948B-1728B52AA6E4}">
                <adec:decorative xmlns:adec="http://schemas.microsoft.com/office/drawing/2017/decorative" val="1"/>
              </a:ext>
            </a:extLst>
          </p:cNvPr>
          <p:cNvSpPr/>
          <p:nvPr/>
        </p:nvSpPr>
        <p:spPr>
          <a:xfrm>
            <a:off x="6275832" y="3291840"/>
            <a:ext cx="310896" cy="310896"/>
          </a:xfrm>
          <a:prstGeom prst="ellipse">
            <a:avLst/>
          </a:prstGeom>
          <a:solidFill>
            <a:srgbClr val="F2A65A"/>
          </a:solidFill>
          <a:ln w="12700">
            <a:solidFill>
              <a:srgbClr val="F2A65A"/>
            </a:solidFill>
            <a:prstDash val="solid"/>
          </a:ln>
        </p:spPr>
        <p:txBody>
          <a:bodyPr/>
          <a:lstStyle/>
          <a:p>
            <a:endParaRPr lang="en-SE"/>
          </a:p>
        </p:txBody>
      </p:sp>
      <p:sp>
        <p:nvSpPr>
          <p:cNvPr id="31" name="Text 29"/>
          <p:cNvSpPr/>
          <p:nvPr/>
        </p:nvSpPr>
        <p:spPr>
          <a:xfrm>
            <a:off x="6275832" y="3291840"/>
            <a:ext cx="310896" cy="310896"/>
          </a:xfrm>
          <a:prstGeom prst="rect">
            <a:avLst/>
          </a:prstGeom>
          <a:noFill/>
          <a:ln/>
        </p:spPr>
        <p:txBody>
          <a:bodyPr wrap="square" lIns="0" tIns="0" rIns="0" bIns="0" rtlCol="0" anchor="ctr"/>
          <a:lstStyle/>
          <a:p>
            <a:pPr marL="0" indent="0" algn="ctr">
              <a:buNone/>
            </a:pPr>
            <a:endParaRPr lang="en-US" sz="1300" dirty="0"/>
          </a:p>
        </p:txBody>
      </p:sp>
      <p:sp>
        <p:nvSpPr>
          <p:cNvPr id="32" name="Text 30"/>
          <p:cNvSpPr/>
          <p:nvPr/>
        </p:nvSpPr>
        <p:spPr>
          <a:xfrm>
            <a:off x="6678168" y="3291840"/>
            <a:ext cx="1780032" cy="329184"/>
          </a:xfrm>
          <a:prstGeom prst="rect">
            <a:avLst/>
          </a:prstGeom>
          <a:noFill/>
          <a:ln/>
        </p:spPr>
        <p:txBody>
          <a:bodyPr wrap="square" lIns="0" tIns="0" rIns="0" bIns="0" rtlCol="0" anchor="ctr"/>
          <a:lstStyle/>
          <a:p>
            <a:pPr marL="0" indent="0">
              <a:buNone/>
            </a:pPr>
            <a:r>
              <a:rPr lang="en-US" sz="1400" b="1" dirty="0">
                <a:solidFill>
                  <a:srgbClr val="F2A65A"/>
                </a:solidFill>
                <a:latin typeface="Trebuchet MS" pitchFamily="34" charset="0"/>
                <a:ea typeface="Trebuchet MS" pitchFamily="34" charset="-122"/>
                <a:cs typeface="Trebuchet MS" pitchFamily="34" charset="-120"/>
              </a:rPr>
              <a:t>Charts</a:t>
            </a:r>
            <a:endParaRPr lang="en-US" sz="1400" dirty="0"/>
          </a:p>
        </p:txBody>
      </p:sp>
      <p:sp>
        <p:nvSpPr>
          <p:cNvPr id="33" name="Text 31">
            <a:extLst>
              <a:ext uri="{C183D7F6-B498-43B3-948B-1728B52AA6E4}">
                <adec:decorative xmlns:adec="http://schemas.microsoft.com/office/drawing/2017/decorative" val="1"/>
              </a:ext>
            </a:extLst>
          </p:cNvPr>
          <p:cNvSpPr/>
          <p:nvPr/>
        </p:nvSpPr>
        <p:spPr>
          <a:xfrm>
            <a:off x="6294120" y="3657600"/>
            <a:ext cx="2127504" cy="640080"/>
          </a:xfrm>
          <a:prstGeom prst="rect">
            <a:avLst/>
          </a:prstGeom>
          <a:noFill/>
          <a:ln/>
        </p:spPr>
        <p:txBody>
          <a:bodyPr wrap="square" lIns="0" tIns="0" rIns="0" bIns="0" rtlCol="0" anchor="t"/>
          <a:lstStyle/>
          <a:p>
            <a:pPr marL="0" indent="0">
              <a:buNone/>
            </a:pPr>
            <a:r>
              <a:rPr lang="en-US" sz="1100" dirty="0">
                <a:solidFill>
                  <a:srgbClr val="D5DAE0"/>
                </a:solidFill>
                <a:latin typeface="Calibri" pitchFamily="34" charset="0"/>
                <a:ea typeface="Calibri" pitchFamily="34" charset="-122"/>
                <a:cs typeface="Calibri" pitchFamily="34" charset="-120"/>
              </a:rPr>
              <a:t>Draw the history from recorded daily bars and snapshots, then extend it live from the stream.</a:t>
            </a:r>
            <a:endParaRPr lang="en-US" sz="1100" dirty="0"/>
          </a:p>
        </p:txBody>
      </p:sp>
      <p:sp>
        <p:nvSpPr>
          <p:cNvPr id="34" name="Text 32">
            <a:extLst>
              <a:ext uri="{C183D7F6-B498-43B3-948B-1728B52AA6E4}">
                <adec:decorative xmlns:adec="http://schemas.microsoft.com/office/drawing/2017/decorative" val="1"/>
              </a:ext>
            </a:extLst>
          </p:cNvPr>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Client recipes</a:t>
            </a:r>
            <a:endParaRPr lang="en-US" sz="900" dirty="0"/>
          </a:p>
        </p:txBody>
      </p:sp>
      <p:sp>
        <p:nvSpPr>
          <p:cNvPr id="35" name="Text 33"/>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58</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8138160" cy="548640"/>
          </a:xfrm>
          <a:prstGeom prst="rect">
            <a:avLst/>
          </a:prstGeom>
          <a:noFill/>
          <a:ln/>
        </p:spPr>
        <p:txBody>
          <a:bodyPr wrap="square" lIns="0" tIns="0" rIns="0" bIns="0" rtlCol="0" anchor="ctr"/>
          <a:lstStyle/>
          <a:p>
            <a:pPr marL="0" indent="0">
              <a:buNone/>
            </a:pPr>
            <a:r>
              <a:rPr lang="en-US" sz="2700" b="1" dirty="0">
                <a:solidFill>
                  <a:srgbClr val="F3F5F7"/>
                </a:solidFill>
                <a:latin typeface="Trebuchet MS" pitchFamily="34" charset="0"/>
                <a:ea typeface="Trebuchet MS" pitchFamily="34" charset="-122"/>
                <a:cs typeface="Trebuchet MS" pitchFamily="34" charset="-120"/>
              </a:rPr>
              <a:t>Recipe 3 — a research script</a:t>
            </a:r>
            <a:endParaRPr lang="en-US" sz="2700" dirty="0"/>
          </a:p>
        </p:txBody>
      </p:sp>
      <p:sp>
        <p:nvSpPr>
          <p:cNvPr id="3" name="Text 1"/>
          <p:cNvSpPr/>
          <p:nvPr/>
        </p:nvSpPr>
        <p:spPr>
          <a:xfrm>
            <a:off x="502920" y="841248"/>
            <a:ext cx="8138160" cy="237744"/>
          </a:xfrm>
          <a:prstGeom prst="rect">
            <a:avLst/>
          </a:prstGeom>
          <a:noFill/>
          <a:ln/>
        </p:spPr>
        <p:txBody>
          <a:bodyPr wrap="square" lIns="0" tIns="0" rIns="0" bIns="0" rtlCol="0" anchor="ctr"/>
          <a:lstStyle/>
          <a:p>
            <a:pPr marL="0" indent="0">
              <a:buNone/>
            </a:pPr>
            <a:r>
              <a:rPr lang="en-US" sz="1100" b="1" kern="0" spc="200" dirty="0">
                <a:solidFill>
                  <a:srgbClr val="E8722C"/>
                </a:solidFill>
                <a:latin typeface="Calibri" pitchFamily="34" charset="0"/>
                <a:ea typeface="Calibri" pitchFamily="34" charset="-122"/>
                <a:cs typeface="Calibri" pitchFamily="34" charset="-120"/>
              </a:rPr>
              <a:t>COOKBOOK</a:t>
            </a:r>
            <a:endParaRPr lang="en-US" sz="1100" dirty="0"/>
          </a:p>
        </p:txBody>
      </p:sp>
      <p:sp>
        <p:nvSpPr>
          <p:cNvPr id="4" name="code panel">
            <a:extLst>
              <a:ext uri="{C183D7F6-B498-43B3-948B-1728B52AA6E4}">
                <adec:decorative xmlns:adec="http://schemas.microsoft.com/office/drawing/2017/decorative" val="1"/>
              </a:ext>
            </a:extLst>
          </p:cNvPr>
          <p:cNvSpPr/>
          <p:nvPr/>
        </p:nvSpPr>
        <p:spPr>
          <a:xfrm>
            <a:off x="502920" y="1188720"/>
            <a:ext cx="4754880" cy="1371600"/>
          </a:xfrm>
          <a:prstGeom prst="roundRect">
            <a:avLst>
              <a:gd name="adj" fmla="val 3333"/>
            </a:avLst>
          </a:prstGeom>
          <a:solidFill>
            <a:srgbClr val="121519"/>
          </a:solidFill>
          <a:ln w="12700">
            <a:solidFill>
              <a:srgbClr val="3A424B"/>
            </a:solidFill>
            <a:prstDash val="solid"/>
          </a:ln>
        </p:spPr>
        <p:txBody>
          <a:bodyPr/>
          <a:lstStyle/>
          <a:p>
            <a:endParaRPr lang="en-SE"/>
          </a:p>
        </p:txBody>
      </p:sp>
      <p:sp>
        <p:nvSpPr>
          <p:cNvPr id="5" name="code panel edge">
            <a:extLst>
              <a:ext uri="{C183D7F6-B498-43B3-948B-1728B52AA6E4}">
                <adec:decorative xmlns:adec="http://schemas.microsoft.com/office/drawing/2017/decorative" val="1"/>
              </a:ext>
            </a:extLst>
          </p:cNvPr>
          <p:cNvSpPr/>
          <p:nvPr/>
        </p:nvSpPr>
        <p:spPr>
          <a:xfrm>
            <a:off x="502920" y="1188720"/>
            <a:ext cx="54864" cy="1371600"/>
          </a:xfrm>
          <a:prstGeom prst="rect">
            <a:avLst/>
          </a:prstGeom>
          <a:solidFill>
            <a:srgbClr val="E8722C"/>
          </a:solidFill>
          <a:ln w="12700">
            <a:solidFill>
              <a:srgbClr val="E8722C"/>
            </a:solidFill>
            <a:prstDash val="solid"/>
          </a:ln>
        </p:spPr>
        <p:txBody>
          <a:bodyPr/>
          <a:lstStyle/>
          <a:p>
            <a:endParaRPr lang="en-SE"/>
          </a:p>
        </p:txBody>
      </p:sp>
      <p:sp>
        <p:nvSpPr>
          <p:cNvPr id="6" name="Text 4"/>
          <p:cNvSpPr/>
          <p:nvPr/>
        </p:nvSpPr>
        <p:spPr>
          <a:xfrm>
            <a:off x="704088" y="1316736"/>
            <a:ext cx="4389120" cy="1115568"/>
          </a:xfrm>
          <a:prstGeom prst="rect">
            <a:avLst/>
          </a:prstGeom>
          <a:noFill/>
          <a:ln/>
        </p:spPr>
        <p:txBody>
          <a:bodyPr wrap="square" lIns="0" tIns="0" rIns="0" bIns="0" rtlCol="0" anchor="t"/>
          <a:lstStyle/>
          <a:p>
            <a:pPr marL="0" indent="0">
              <a:buNone/>
            </a:pPr>
            <a:r>
              <a:rPr lang="en-US" sz="1050" b="1" dirty="0">
                <a:solidFill>
                  <a:srgbClr val="F2A65A"/>
                </a:solidFill>
                <a:latin typeface="Consolas" pitchFamily="34" charset="0"/>
                <a:ea typeface="Consolas" pitchFamily="34" charset="-122"/>
                <a:cs typeface="Consolas" pitchFamily="34" charset="-120"/>
              </a:rPr>
              <a:t>GET /api/v1/history/daily</a:t>
            </a:r>
            <a:endParaRPr lang="en-US" sz="1050" dirty="0"/>
          </a:p>
          <a:p>
            <a:pPr marL="0" indent="0">
              <a:buNone/>
            </a:pPr>
            <a:r>
              <a:rPr lang="en-US" sz="1050" b="1" dirty="0">
                <a:solidFill>
                  <a:srgbClr val="F2A65A"/>
                </a:solidFill>
                <a:latin typeface="Consolas" pitchFamily="34" charset="0"/>
                <a:ea typeface="Consolas" pitchFamily="34" charset="-122"/>
                <a:cs typeface="Consolas" pitchFamily="34" charset="-120"/>
              </a:rPr>
              <a:t>    ?symbol=AAPL&amp;from=2026-06-01&amp;to=2026-06-30</a:t>
            </a:r>
            <a:endParaRPr lang="en-US" sz="1050" dirty="0"/>
          </a:p>
          <a:p>
            <a:pPr marL="0" indent="0">
              <a:buNone/>
            </a:pPr>
            <a:r>
              <a:rPr lang="en-US" sz="1050" dirty="0">
                <a:solidFill>
                  <a:srgbClr val="97A1AC"/>
                </a:solidFill>
                <a:latin typeface="Consolas" pitchFamily="34" charset="0"/>
                <a:ea typeface="Consolas" pitchFamily="34" charset="-122"/>
                <a:cs typeface="Consolas" pitchFamily="34" charset="-120"/>
              </a:rPr>
              <a:t>Authorization: Bearer key-readonly-demo</a:t>
            </a:r>
            <a:endParaRPr lang="en-US" sz="1050" dirty="0"/>
          </a:p>
        </p:txBody>
      </p:sp>
      <p:sp>
        <p:nvSpPr>
          <p:cNvPr id="7" name="card background">
            <a:extLst>
              <a:ext uri="{C183D7F6-B498-43B3-948B-1728B52AA6E4}">
                <adec:decorative xmlns:adec="http://schemas.microsoft.com/office/drawing/2017/decorative" val="1"/>
              </a:ext>
            </a:extLst>
          </p:cNvPr>
          <p:cNvSpPr/>
          <p:nvPr/>
        </p:nvSpPr>
        <p:spPr>
          <a:xfrm>
            <a:off x="5486400" y="1188720"/>
            <a:ext cx="3154680" cy="1371600"/>
          </a:xfrm>
          <a:prstGeom prst="roundRect">
            <a:avLst>
              <a:gd name="adj" fmla="val 4000"/>
            </a:avLst>
          </a:prstGeom>
          <a:solidFill>
            <a:srgbClr val="2E353D"/>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8" name="Text 6"/>
          <p:cNvSpPr/>
          <p:nvPr/>
        </p:nvSpPr>
        <p:spPr>
          <a:xfrm>
            <a:off x="5669280" y="1280160"/>
            <a:ext cx="2788920" cy="274320"/>
          </a:xfrm>
          <a:prstGeom prst="rect">
            <a:avLst/>
          </a:prstGeom>
          <a:noFill/>
          <a:ln/>
        </p:spPr>
        <p:txBody>
          <a:bodyPr wrap="square" lIns="0" tIns="0" rIns="0" bIns="0" rtlCol="0" anchor="ctr"/>
          <a:lstStyle/>
          <a:p>
            <a:pPr marL="0" indent="0">
              <a:buNone/>
            </a:pPr>
            <a:r>
              <a:rPr lang="en-US" sz="1300" b="1" dirty="0">
                <a:solidFill>
                  <a:srgbClr val="E8722C"/>
                </a:solidFill>
                <a:latin typeface="Trebuchet MS" pitchFamily="34" charset="0"/>
                <a:ea typeface="Trebuchet MS" pitchFamily="34" charset="-122"/>
                <a:cs typeface="Trebuchet MS" pitchFamily="34" charset="-120"/>
              </a:rPr>
              <a:t>One call, a whole month</a:t>
            </a:r>
            <a:endParaRPr lang="en-US" sz="1300" dirty="0"/>
          </a:p>
        </p:txBody>
      </p:sp>
      <p:sp>
        <p:nvSpPr>
          <p:cNvPr id="9" name="Text 7"/>
          <p:cNvSpPr/>
          <p:nvPr/>
        </p:nvSpPr>
        <p:spPr>
          <a:xfrm>
            <a:off x="5669280" y="1572768"/>
            <a:ext cx="2788920" cy="914400"/>
          </a:xfrm>
          <a:prstGeom prst="rect">
            <a:avLst/>
          </a:prstGeom>
          <a:noFill/>
          <a:ln/>
        </p:spPr>
        <p:txBody>
          <a:bodyPr wrap="square" lIns="0" tIns="0" rIns="0" bIns="0" rtlCol="0" anchor="ctr"/>
          <a:lstStyle/>
          <a:p>
            <a:pPr marL="0" indent="0">
              <a:buNone/>
            </a:pPr>
            <a:r>
              <a:rPr lang="en-US" sz="1050" dirty="0">
                <a:solidFill>
                  <a:srgbClr val="D5DAE0"/>
                </a:solidFill>
                <a:latin typeface="Calibri" pitchFamily="34" charset="0"/>
                <a:ea typeface="Calibri" pitchFamily="34" charset="-122"/>
                <a:cs typeface="Calibri" pitchFamily="34" charset="-120"/>
              </a:rPr>
              <a:t>Ask for a date range and you receive every day in it, oldest first. Without a range you get only the most recent day — a month would then cost a request per day.</a:t>
            </a:r>
            <a:endParaRPr lang="en-US" sz="1050" dirty="0"/>
          </a:p>
        </p:txBody>
      </p:sp>
      <p:sp>
        <p:nvSpPr>
          <p:cNvPr id="10" name="card background">
            <a:extLst>
              <a:ext uri="{C183D7F6-B498-43B3-948B-1728B52AA6E4}">
                <adec:decorative xmlns:adec="http://schemas.microsoft.com/office/drawing/2017/decorative" val="1"/>
              </a:ext>
            </a:extLst>
          </p:cNvPr>
          <p:cNvSpPr/>
          <p:nvPr/>
        </p:nvSpPr>
        <p:spPr>
          <a:xfrm>
            <a:off x="502920" y="2651760"/>
            <a:ext cx="2566416" cy="914400"/>
          </a:xfrm>
          <a:prstGeom prst="roundRect">
            <a:avLst>
              <a:gd name="adj" fmla="val 600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1" name="Text 9">
            <a:extLst>
              <a:ext uri="{C183D7F6-B498-43B3-948B-1728B52AA6E4}">
                <adec:decorative xmlns:adec="http://schemas.microsoft.com/office/drawing/2017/decorative" val="1"/>
              </a:ext>
            </a:extLst>
          </p:cNvPr>
          <p:cNvSpPr/>
          <p:nvPr/>
        </p:nvSpPr>
        <p:spPr>
          <a:xfrm>
            <a:off x="722376" y="2834640"/>
            <a:ext cx="2164080" cy="329184"/>
          </a:xfrm>
          <a:prstGeom prst="rect">
            <a:avLst/>
          </a:prstGeom>
          <a:noFill/>
          <a:ln/>
        </p:spPr>
        <p:txBody>
          <a:bodyPr wrap="square" lIns="0" tIns="0" rIns="0" bIns="0" rtlCol="0" anchor="ctr"/>
          <a:lstStyle/>
          <a:p>
            <a:pPr marL="0" indent="0">
              <a:buNone/>
            </a:pPr>
            <a:r>
              <a:rPr lang="en-US" sz="1400" b="1" dirty="0">
                <a:solidFill>
                  <a:srgbClr val="35A79C"/>
                </a:solidFill>
                <a:latin typeface="Trebuchet MS" pitchFamily="34" charset="0"/>
                <a:ea typeface="Trebuchet MS" pitchFamily="34" charset="-122"/>
                <a:cs typeface="Trebuchet MS" pitchFamily="34" charset="-120"/>
              </a:rPr>
              <a:t>Daily bars</a:t>
            </a:r>
            <a:endParaRPr lang="en-US" sz="1400" dirty="0"/>
          </a:p>
        </p:txBody>
      </p:sp>
      <p:sp>
        <p:nvSpPr>
          <p:cNvPr id="12" name="Text 10"/>
          <p:cNvSpPr/>
          <p:nvPr/>
        </p:nvSpPr>
        <p:spPr>
          <a:xfrm>
            <a:off x="722376" y="3200400"/>
            <a:ext cx="2127504" cy="256032"/>
          </a:xfrm>
          <a:prstGeom prst="rect">
            <a:avLst/>
          </a:prstGeom>
          <a:noFill/>
          <a:ln/>
        </p:spPr>
        <p:txBody>
          <a:bodyPr wrap="square" lIns="0" tIns="0" rIns="0" bIns="0" rtlCol="0" anchor="t"/>
          <a:lstStyle/>
          <a:p>
            <a:pPr marL="0" indent="0">
              <a:buNone/>
            </a:pPr>
            <a:r>
              <a:rPr lang="en-US" sz="1000" dirty="0">
                <a:solidFill>
                  <a:srgbClr val="D5DAE0"/>
                </a:solidFill>
                <a:latin typeface="Calibri" pitchFamily="34" charset="0"/>
                <a:ea typeface="Calibri" pitchFamily="34" charset="-122"/>
                <a:cs typeface="Calibri" pitchFamily="34" charset="-120"/>
              </a:rPr>
              <a:t>Open, high, low, close and volume, per day.</a:t>
            </a:r>
            <a:endParaRPr lang="en-US" sz="1000" dirty="0"/>
          </a:p>
        </p:txBody>
      </p:sp>
      <p:sp>
        <p:nvSpPr>
          <p:cNvPr id="13" name="card background">
            <a:extLst>
              <a:ext uri="{C183D7F6-B498-43B3-948B-1728B52AA6E4}">
                <adec:decorative xmlns:adec="http://schemas.microsoft.com/office/drawing/2017/decorative" val="1"/>
              </a:ext>
            </a:extLst>
          </p:cNvPr>
          <p:cNvSpPr/>
          <p:nvPr/>
        </p:nvSpPr>
        <p:spPr>
          <a:xfrm>
            <a:off x="3288792" y="2651760"/>
            <a:ext cx="2566416" cy="914400"/>
          </a:xfrm>
          <a:prstGeom prst="roundRect">
            <a:avLst>
              <a:gd name="adj" fmla="val 600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4" name="step marker">
            <a:extLst>
              <a:ext uri="{C183D7F6-B498-43B3-948B-1728B52AA6E4}">
                <adec:decorative xmlns:adec="http://schemas.microsoft.com/office/drawing/2017/decorative" val="1"/>
              </a:ext>
            </a:extLst>
          </p:cNvPr>
          <p:cNvSpPr/>
          <p:nvPr/>
        </p:nvSpPr>
        <p:spPr>
          <a:xfrm>
            <a:off x="3489960" y="2834640"/>
            <a:ext cx="310896" cy="310896"/>
          </a:xfrm>
          <a:prstGeom prst="ellipse">
            <a:avLst/>
          </a:prstGeom>
          <a:solidFill>
            <a:srgbClr val="8B7BD8"/>
          </a:solidFill>
          <a:ln w="12700">
            <a:solidFill>
              <a:srgbClr val="8B7BD8"/>
            </a:solidFill>
            <a:prstDash val="solid"/>
          </a:ln>
        </p:spPr>
        <p:txBody>
          <a:bodyPr/>
          <a:lstStyle/>
          <a:p>
            <a:endParaRPr lang="en-SE"/>
          </a:p>
        </p:txBody>
      </p:sp>
      <p:sp>
        <p:nvSpPr>
          <p:cNvPr id="15" name="Text 13">
            <a:extLst>
              <a:ext uri="{C183D7F6-B498-43B3-948B-1728B52AA6E4}">
                <adec:decorative xmlns:adec="http://schemas.microsoft.com/office/drawing/2017/decorative" val="1"/>
              </a:ext>
            </a:extLst>
          </p:cNvPr>
          <p:cNvSpPr/>
          <p:nvPr/>
        </p:nvSpPr>
        <p:spPr>
          <a:xfrm>
            <a:off x="3489960" y="2834640"/>
            <a:ext cx="310896" cy="310896"/>
          </a:xfrm>
          <a:prstGeom prst="rect">
            <a:avLst/>
          </a:prstGeom>
          <a:noFill/>
          <a:ln/>
        </p:spPr>
        <p:txBody>
          <a:bodyPr wrap="square" lIns="0" tIns="0" rIns="0" bIns="0" rtlCol="0" anchor="ctr"/>
          <a:lstStyle/>
          <a:p>
            <a:pPr marL="0" indent="0" algn="ctr">
              <a:buNone/>
            </a:pPr>
            <a:endParaRPr lang="en-US" sz="1300" dirty="0"/>
          </a:p>
        </p:txBody>
      </p:sp>
      <p:sp>
        <p:nvSpPr>
          <p:cNvPr id="16" name="Text 14">
            <a:extLst>
              <a:ext uri="{C183D7F6-B498-43B3-948B-1728B52AA6E4}">
                <adec:decorative xmlns:adec="http://schemas.microsoft.com/office/drawing/2017/decorative" val="1"/>
              </a:ext>
            </a:extLst>
          </p:cNvPr>
          <p:cNvSpPr/>
          <p:nvPr/>
        </p:nvSpPr>
        <p:spPr>
          <a:xfrm>
            <a:off x="3892296" y="2834640"/>
            <a:ext cx="1780032" cy="329184"/>
          </a:xfrm>
          <a:prstGeom prst="rect">
            <a:avLst/>
          </a:prstGeom>
          <a:noFill/>
          <a:ln/>
        </p:spPr>
        <p:txBody>
          <a:bodyPr wrap="square" lIns="0" tIns="0" rIns="0" bIns="0" rtlCol="0" anchor="ctr"/>
          <a:lstStyle/>
          <a:p>
            <a:pPr marL="0" indent="0">
              <a:buNone/>
            </a:pPr>
            <a:r>
              <a:rPr lang="en-US" sz="1400" b="1" dirty="0">
                <a:solidFill>
                  <a:srgbClr val="8B7BD8"/>
                </a:solidFill>
                <a:latin typeface="Trebuchet MS" pitchFamily="34" charset="0"/>
                <a:ea typeface="Trebuchet MS" pitchFamily="34" charset="-122"/>
                <a:cs typeface="Trebuchet MS" pitchFamily="34" charset="-120"/>
              </a:rPr>
              <a:t>Intraday snapshots</a:t>
            </a:r>
            <a:endParaRPr lang="en-US" sz="1400" dirty="0"/>
          </a:p>
        </p:txBody>
      </p:sp>
      <p:sp>
        <p:nvSpPr>
          <p:cNvPr id="17" name="Text 15"/>
          <p:cNvSpPr/>
          <p:nvPr/>
        </p:nvSpPr>
        <p:spPr>
          <a:xfrm>
            <a:off x="3508248" y="3200400"/>
            <a:ext cx="2127504" cy="256032"/>
          </a:xfrm>
          <a:prstGeom prst="rect">
            <a:avLst/>
          </a:prstGeom>
          <a:noFill/>
          <a:ln/>
        </p:spPr>
        <p:txBody>
          <a:bodyPr wrap="square" lIns="0" tIns="0" rIns="0" bIns="0" rtlCol="0" anchor="t"/>
          <a:lstStyle/>
          <a:p>
            <a:pPr marL="0" indent="0">
              <a:buNone/>
            </a:pPr>
            <a:r>
              <a:rPr lang="en-US" sz="1000" dirty="0">
                <a:solidFill>
                  <a:srgbClr val="D5DAE0"/>
                </a:solidFill>
                <a:latin typeface="Calibri" pitchFamily="34" charset="0"/>
                <a:ea typeface="Calibri" pitchFamily="34" charset="-122"/>
                <a:cs typeface="Calibri" pitchFamily="34" charset="-120"/>
              </a:rPr>
              <a:t>Mid, bid and ask at a fixed interval.</a:t>
            </a:r>
            <a:endParaRPr lang="en-US" sz="1000" dirty="0"/>
          </a:p>
        </p:txBody>
      </p:sp>
      <p:sp>
        <p:nvSpPr>
          <p:cNvPr id="18" name="card background">
            <a:extLst>
              <a:ext uri="{C183D7F6-B498-43B3-948B-1728B52AA6E4}">
                <adec:decorative xmlns:adec="http://schemas.microsoft.com/office/drawing/2017/decorative" val="1"/>
              </a:ext>
            </a:extLst>
          </p:cNvPr>
          <p:cNvSpPr/>
          <p:nvPr/>
        </p:nvSpPr>
        <p:spPr>
          <a:xfrm>
            <a:off x="6074664" y="2651760"/>
            <a:ext cx="2566416" cy="914400"/>
          </a:xfrm>
          <a:prstGeom prst="roundRect">
            <a:avLst>
              <a:gd name="adj" fmla="val 600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9" name="step marker">
            <a:extLst>
              <a:ext uri="{C183D7F6-B498-43B3-948B-1728B52AA6E4}">
                <adec:decorative xmlns:adec="http://schemas.microsoft.com/office/drawing/2017/decorative" val="1"/>
              </a:ext>
            </a:extLst>
          </p:cNvPr>
          <p:cNvSpPr/>
          <p:nvPr/>
        </p:nvSpPr>
        <p:spPr>
          <a:xfrm>
            <a:off x="6275832" y="2834640"/>
            <a:ext cx="310896" cy="310896"/>
          </a:xfrm>
          <a:prstGeom prst="ellipse">
            <a:avLst/>
          </a:prstGeom>
          <a:solidFill>
            <a:srgbClr val="F2A65A"/>
          </a:solidFill>
          <a:ln w="12700">
            <a:solidFill>
              <a:srgbClr val="F2A65A"/>
            </a:solidFill>
            <a:prstDash val="solid"/>
          </a:ln>
        </p:spPr>
        <p:txBody>
          <a:bodyPr/>
          <a:lstStyle/>
          <a:p>
            <a:endParaRPr lang="en-SE"/>
          </a:p>
        </p:txBody>
      </p:sp>
      <p:sp>
        <p:nvSpPr>
          <p:cNvPr id="20" name="Text 18">
            <a:extLst>
              <a:ext uri="{C183D7F6-B498-43B3-948B-1728B52AA6E4}">
                <adec:decorative xmlns:adec="http://schemas.microsoft.com/office/drawing/2017/decorative" val="1"/>
              </a:ext>
            </a:extLst>
          </p:cNvPr>
          <p:cNvSpPr/>
          <p:nvPr/>
        </p:nvSpPr>
        <p:spPr>
          <a:xfrm>
            <a:off x="6275832" y="2834640"/>
            <a:ext cx="310896" cy="310896"/>
          </a:xfrm>
          <a:prstGeom prst="rect">
            <a:avLst/>
          </a:prstGeom>
          <a:noFill/>
          <a:ln/>
        </p:spPr>
        <p:txBody>
          <a:bodyPr wrap="square" lIns="0" tIns="0" rIns="0" bIns="0" rtlCol="0" anchor="ctr"/>
          <a:lstStyle/>
          <a:p>
            <a:pPr marL="0" indent="0" algn="ctr">
              <a:buNone/>
            </a:pPr>
            <a:endParaRPr lang="en-US" sz="1300" dirty="0"/>
          </a:p>
        </p:txBody>
      </p:sp>
      <p:sp>
        <p:nvSpPr>
          <p:cNvPr id="21" name="Text 19">
            <a:extLst>
              <a:ext uri="{C183D7F6-B498-43B3-948B-1728B52AA6E4}">
                <adec:decorative xmlns:adec="http://schemas.microsoft.com/office/drawing/2017/decorative" val="1"/>
              </a:ext>
            </a:extLst>
          </p:cNvPr>
          <p:cNvSpPr/>
          <p:nvPr/>
        </p:nvSpPr>
        <p:spPr>
          <a:xfrm>
            <a:off x="6678168" y="2834640"/>
            <a:ext cx="1780032" cy="329184"/>
          </a:xfrm>
          <a:prstGeom prst="rect">
            <a:avLst/>
          </a:prstGeom>
          <a:noFill/>
          <a:ln/>
        </p:spPr>
        <p:txBody>
          <a:bodyPr wrap="square" lIns="0" tIns="0" rIns="0" bIns="0" rtlCol="0" anchor="ctr"/>
          <a:lstStyle/>
          <a:p>
            <a:pPr marL="0" indent="0">
              <a:buNone/>
            </a:pPr>
            <a:r>
              <a:rPr lang="en-US" sz="1400" b="1" dirty="0">
                <a:solidFill>
                  <a:srgbClr val="F2A65A"/>
                </a:solidFill>
                <a:latin typeface="Trebuchet MS" pitchFamily="34" charset="0"/>
                <a:ea typeface="Trebuchet MS" pitchFamily="34" charset="-122"/>
                <a:cs typeface="Trebuchet MS" pitchFamily="34" charset="-120"/>
              </a:rPr>
              <a:t>The public tape</a:t>
            </a:r>
            <a:endParaRPr lang="en-US" sz="1400" dirty="0"/>
          </a:p>
        </p:txBody>
      </p:sp>
      <p:sp>
        <p:nvSpPr>
          <p:cNvPr id="22" name="Text 20"/>
          <p:cNvSpPr/>
          <p:nvPr/>
        </p:nvSpPr>
        <p:spPr>
          <a:xfrm>
            <a:off x="6294120" y="3200400"/>
            <a:ext cx="2127504" cy="256032"/>
          </a:xfrm>
          <a:prstGeom prst="rect">
            <a:avLst/>
          </a:prstGeom>
          <a:noFill/>
          <a:ln/>
        </p:spPr>
        <p:txBody>
          <a:bodyPr wrap="square" lIns="0" tIns="0" rIns="0" bIns="0" rtlCol="0" anchor="t"/>
          <a:lstStyle/>
          <a:p>
            <a:pPr marL="0" indent="0">
              <a:buNone/>
            </a:pPr>
            <a:r>
              <a:rPr lang="en-US" sz="1000" dirty="0">
                <a:solidFill>
                  <a:srgbClr val="D5DAE0"/>
                </a:solidFill>
                <a:latin typeface="Calibri" pitchFamily="34" charset="0"/>
                <a:ea typeface="Calibri" pitchFamily="34" charset="-122"/>
                <a:cs typeface="Calibri" pitchFamily="34" charset="-120"/>
              </a:rPr>
              <a:t>Every printed trade, filterable and paged.</a:t>
            </a:r>
            <a:endParaRPr lang="en-US" sz="1000" dirty="0"/>
          </a:p>
        </p:txBody>
      </p:sp>
      <p:sp>
        <p:nvSpPr>
          <p:cNvPr id="23" name="card background">
            <a:extLst>
              <a:ext uri="{C183D7F6-B498-43B3-948B-1728B52AA6E4}">
                <adec:decorative xmlns:adec="http://schemas.microsoft.com/office/drawing/2017/decorative" val="1"/>
              </a:ext>
            </a:extLst>
          </p:cNvPr>
          <p:cNvSpPr/>
          <p:nvPr/>
        </p:nvSpPr>
        <p:spPr>
          <a:xfrm>
            <a:off x="502920" y="3694176"/>
            <a:ext cx="2566416" cy="914400"/>
          </a:xfrm>
          <a:prstGeom prst="roundRect">
            <a:avLst>
              <a:gd name="adj" fmla="val 600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24" name="Text 22"/>
          <p:cNvSpPr/>
          <p:nvPr/>
        </p:nvSpPr>
        <p:spPr>
          <a:xfrm>
            <a:off x="722376" y="3877056"/>
            <a:ext cx="2164080" cy="329184"/>
          </a:xfrm>
          <a:prstGeom prst="rect">
            <a:avLst/>
          </a:prstGeom>
          <a:noFill/>
          <a:ln/>
        </p:spPr>
        <p:txBody>
          <a:bodyPr wrap="square" lIns="0" tIns="0" rIns="0" bIns="0" rtlCol="0" anchor="ctr"/>
          <a:lstStyle/>
          <a:p>
            <a:pPr marL="0" indent="0">
              <a:buNone/>
            </a:pPr>
            <a:r>
              <a:rPr lang="en-US" sz="1400" b="1" dirty="0">
                <a:solidFill>
                  <a:srgbClr val="E8722C"/>
                </a:solidFill>
                <a:latin typeface="Trebuchet MS" pitchFamily="34" charset="0"/>
                <a:ea typeface="Trebuchet MS" pitchFamily="34" charset="-122"/>
                <a:cs typeface="Trebuchet MS" pitchFamily="34" charset="-120"/>
              </a:rPr>
              <a:t>Index levels</a:t>
            </a:r>
            <a:endParaRPr lang="en-US" sz="1400" dirty="0"/>
          </a:p>
        </p:txBody>
      </p:sp>
      <p:sp>
        <p:nvSpPr>
          <p:cNvPr id="25" name="Text 23">
            <a:extLst>
              <a:ext uri="{C183D7F6-B498-43B3-948B-1728B52AA6E4}">
                <adec:decorative xmlns:adec="http://schemas.microsoft.com/office/drawing/2017/decorative" val="1"/>
              </a:ext>
            </a:extLst>
          </p:cNvPr>
          <p:cNvSpPr/>
          <p:nvPr/>
        </p:nvSpPr>
        <p:spPr>
          <a:xfrm>
            <a:off x="722376" y="4242816"/>
            <a:ext cx="2127504" cy="256032"/>
          </a:xfrm>
          <a:prstGeom prst="rect">
            <a:avLst/>
          </a:prstGeom>
          <a:noFill/>
          <a:ln/>
        </p:spPr>
        <p:txBody>
          <a:bodyPr wrap="square" lIns="0" tIns="0" rIns="0" bIns="0" rtlCol="0" anchor="t"/>
          <a:lstStyle/>
          <a:p>
            <a:pPr marL="0" indent="0">
              <a:buNone/>
            </a:pPr>
            <a:r>
              <a:rPr lang="en-US" sz="1000" dirty="0">
                <a:solidFill>
                  <a:srgbClr val="D5DAE0"/>
                </a:solidFill>
                <a:latin typeface="Calibri" pitchFamily="34" charset="0"/>
                <a:ea typeface="Calibri" pitchFamily="34" charset="-122"/>
                <a:cs typeface="Calibri" pitchFamily="34" charset="-120"/>
              </a:rPr>
              <a:t>Index history plus the structural log.</a:t>
            </a:r>
            <a:endParaRPr lang="en-US" sz="1000" dirty="0"/>
          </a:p>
        </p:txBody>
      </p:sp>
      <p:sp>
        <p:nvSpPr>
          <p:cNvPr id="26" name="card background">
            <a:extLst>
              <a:ext uri="{C183D7F6-B498-43B3-948B-1728B52AA6E4}">
                <adec:decorative xmlns:adec="http://schemas.microsoft.com/office/drawing/2017/decorative" val="1"/>
              </a:ext>
            </a:extLst>
          </p:cNvPr>
          <p:cNvSpPr/>
          <p:nvPr/>
        </p:nvSpPr>
        <p:spPr>
          <a:xfrm>
            <a:off x="3288792" y="3694176"/>
            <a:ext cx="2566416" cy="914400"/>
          </a:xfrm>
          <a:prstGeom prst="roundRect">
            <a:avLst>
              <a:gd name="adj" fmla="val 600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27" name="Text 25"/>
          <p:cNvSpPr/>
          <p:nvPr/>
        </p:nvSpPr>
        <p:spPr>
          <a:xfrm>
            <a:off x="3508248" y="3877056"/>
            <a:ext cx="2164080" cy="329184"/>
          </a:xfrm>
          <a:prstGeom prst="rect">
            <a:avLst/>
          </a:prstGeom>
          <a:noFill/>
          <a:ln/>
        </p:spPr>
        <p:txBody>
          <a:bodyPr wrap="square" lIns="0" tIns="0" rIns="0" bIns="0" rtlCol="0" anchor="ctr"/>
          <a:lstStyle/>
          <a:p>
            <a:pPr marL="0" indent="0">
              <a:buNone/>
            </a:pPr>
            <a:r>
              <a:rPr lang="en-US" sz="1400" b="1" dirty="0">
                <a:solidFill>
                  <a:srgbClr val="35A79C"/>
                </a:solidFill>
                <a:latin typeface="Trebuchet MS" pitchFamily="34" charset="0"/>
                <a:ea typeface="Trebuchet MS" pitchFamily="34" charset="-122"/>
                <a:cs typeface="Trebuchet MS" pitchFamily="34" charset="-120"/>
              </a:rPr>
              <a:t>Loop the cursor</a:t>
            </a:r>
            <a:endParaRPr lang="en-US" sz="1400" dirty="0"/>
          </a:p>
        </p:txBody>
      </p:sp>
      <p:sp>
        <p:nvSpPr>
          <p:cNvPr id="28" name="Text 26"/>
          <p:cNvSpPr/>
          <p:nvPr/>
        </p:nvSpPr>
        <p:spPr>
          <a:xfrm>
            <a:off x="3508248" y="4242816"/>
            <a:ext cx="2127504" cy="256032"/>
          </a:xfrm>
          <a:prstGeom prst="rect">
            <a:avLst/>
          </a:prstGeom>
          <a:noFill/>
          <a:ln/>
        </p:spPr>
        <p:txBody>
          <a:bodyPr wrap="square" lIns="0" tIns="0" rIns="0" bIns="0" rtlCol="0" anchor="t"/>
          <a:lstStyle/>
          <a:p>
            <a:pPr marL="0" indent="0">
              <a:buNone/>
            </a:pPr>
            <a:r>
              <a:rPr lang="en-US" sz="1000" dirty="0">
                <a:solidFill>
                  <a:srgbClr val="D5DAE0"/>
                </a:solidFill>
                <a:latin typeface="Calibri" pitchFamily="34" charset="0"/>
                <a:ea typeface="Calibri" pitchFamily="34" charset="-122"/>
                <a:cs typeface="Calibri" pitchFamily="34" charset="-120"/>
              </a:rPr>
              <a:t>Keep asking while more is reported.</a:t>
            </a:r>
            <a:endParaRPr lang="en-US" sz="1000" dirty="0"/>
          </a:p>
        </p:txBody>
      </p:sp>
      <p:sp>
        <p:nvSpPr>
          <p:cNvPr id="29" name="card background">
            <a:extLst>
              <a:ext uri="{C183D7F6-B498-43B3-948B-1728B52AA6E4}">
                <adec:decorative xmlns:adec="http://schemas.microsoft.com/office/drawing/2017/decorative" val="1"/>
              </a:ext>
            </a:extLst>
          </p:cNvPr>
          <p:cNvSpPr/>
          <p:nvPr/>
        </p:nvSpPr>
        <p:spPr>
          <a:xfrm>
            <a:off x="6074664" y="3694176"/>
            <a:ext cx="2566416" cy="914400"/>
          </a:xfrm>
          <a:prstGeom prst="roundRect">
            <a:avLst>
              <a:gd name="adj" fmla="val 600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30" name="Text 28">
            <a:extLst>
              <a:ext uri="{C183D7F6-B498-43B3-948B-1728B52AA6E4}">
                <adec:decorative xmlns:adec="http://schemas.microsoft.com/office/drawing/2017/decorative" val="1"/>
              </a:ext>
            </a:extLst>
          </p:cNvPr>
          <p:cNvSpPr/>
          <p:nvPr/>
        </p:nvSpPr>
        <p:spPr>
          <a:xfrm>
            <a:off x="6294120" y="3877056"/>
            <a:ext cx="2164080" cy="329184"/>
          </a:xfrm>
          <a:prstGeom prst="rect">
            <a:avLst/>
          </a:prstGeom>
          <a:noFill/>
          <a:ln/>
        </p:spPr>
        <p:txBody>
          <a:bodyPr wrap="square" lIns="0" tIns="0" rIns="0" bIns="0" rtlCol="0" anchor="ctr"/>
          <a:lstStyle/>
          <a:p>
            <a:pPr marL="0" indent="0">
              <a:buNone/>
            </a:pPr>
            <a:r>
              <a:rPr lang="en-US" sz="1400" b="1" dirty="0">
                <a:solidFill>
                  <a:srgbClr val="D9534F"/>
                </a:solidFill>
                <a:latin typeface="Trebuchet MS" pitchFamily="34" charset="0"/>
                <a:ea typeface="Trebuchet MS" pitchFamily="34" charset="-122"/>
                <a:cs typeface="Trebuchet MS" pitchFamily="34" charset="-120"/>
              </a:rPr>
              <a:t>Mind the freshness</a:t>
            </a:r>
            <a:endParaRPr lang="en-US" sz="1400" dirty="0"/>
          </a:p>
        </p:txBody>
      </p:sp>
      <p:sp>
        <p:nvSpPr>
          <p:cNvPr id="31" name="Text 29">
            <a:extLst>
              <a:ext uri="{C183D7F6-B498-43B3-948B-1728B52AA6E4}">
                <adec:decorative xmlns:adec="http://schemas.microsoft.com/office/drawing/2017/decorative" val="1"/>
              </a:ext>
            </a:extLst>
          </p:cNvPr>
          <p:cNvSpPr/>
          <p:nvPr/>
        </p:nvSpPr>
        <p:spPr>
          <a:xfrm>
            <a:off x="6294120" y="4242816"/>
            <a:ext cx="2127504" cy="256032"/>
          </a:xfrm>
          <a:prstGeom prst="rect">
            <a:avLst/>
          </a:prstGeom>
          <a:noFill/>
          <a:ln/>
        </p:spPr>
        <p:txBody>
          <a:bodyPr wrap="square" lIns="0" tIns="0" rIns="0" bIns="0" rtlCol="0" anchor="t"/>
          <a:lstStyle/>
          <a:p>
            <a:pPr marL="0" indent="0">
              <a:buNone/>
            </a:pPr>
            <a:r>
              <a:rPr lang="en-US" sz="1000" dirty="0">
                <a:solidFill>
                  <a:srgbClr val="D5DAE0"/>
                </a:solidFill>
                <a:latin typeface="Calibri" pitchFamily="34" charset="0"/>
                <a:ea typeface="Calibri" pitchFamily="34" charset="-122"/>
                <a:cs typeface="Calibri" pitchFamily="34" charset="-120"/>
              </a:rPr>
              <a:t>Today's close moves until the session ends.</a:t>
            </a:r>
            <a:endParaRPr lang="en-US" sz="1000" dirty="0"/>
          </a:p>
        </p:txBody>
      </p:sp>
      <p:sp>
        <p:nvSpPr>
          <p:cNvPr id="32" name="Text 30"/>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Client recipes</a:t>
            </a:r>
            <a:endParaRPr lang="en-US" sz="900" dirty="0"/>
          </a:p>
        </p:txBody>
      </p:sp>
      <p:sp>
        <p:nvSpPr>
          <p:cNvPr id="33" name="Text 31"/>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59</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8138160" cy="548640"/>
          </a:xfrm>
          <a:prstGeom prst="rect">
            <a:avLst/>
          </a:prstGeom>
          <a:noFill/>
          <a:ln/>
        </p:spPr>
        <p:txBody>
          <a:bodyPr wrap="square" lIns="0" tIns="0" rIns="0" bIns="0" rtlCol="0" anchor="ctr"/>
          <a:lstStyle/>
          <a:p>
            <a:pPr marL="0" indent="0">
              <a:buNone/>
            </a:pPr>
            <a:r>
              <a:rPr lang="en-US" sz="2700" b="1" dirty="0">
                <a:solidFill>
                  <a:srgbClr val="F3F5F7"/>
                </a:solidFill>
                <a:latin typeface="Trebuchet MS" pitchFamily="34" charset="0"/>
                <a:ea typeface="Trebuchet MS" pitchFamily="34" charset="-122"/>
                <a:cs typeface="Trebuchet MS" pitchFamily="34" charset="-120"/>
              </a:rPr>
              <a:t>A minimal order from the command line</a:t>
            </a:r>
            <a:endParaRPr lang="en-US" sz="2700" dirty="0"/>
          </a:p>
        </p:txBody>
      </p:sp>
      <p:sp>
        <p:nvSpPr>
          <p:cNvPr id="3" name="Text 1"/>
          <p:cNvSpPr/>
          <p:nvPr/>
        </p:nvSpPr>
        <p:spPr>
          <a:xfrm>
            <a:off x="502920" y="841248"/>
            <a:ext cx="8138160" cy="237744"/>
          </a:xfrm>
          <a:prstGeom prst="rect">
            <a:avLst/>
          </a:prstGeom>
          <a:noFill/>
          <a:ln/>
        </p:spPr>
        <p:txBody>
          <a:bodyPr wrap="square" lIns="0" tIns="0" rIns="0" bIns="0" rtlCol="0" anchor="ctr"/>
          <a:lstStyle/>
          <a:p>
            <a:pPr marL="0" indent="0">
              <a:buNone/>
            </a:pPr>
            <a:r>
              <a:rPr lang="en-US" sz="1100" b="1" kern="0" spc="200" dirty="0">
                <a:solidFill>
                  <a:srgbClr val="E8722C"/>
                </a:solidFill>
                <a:latin typeface="Calibri" pitchFamily="34" charset="0"/>
                <a:ea typeface="Calibri" pitchFamily="34" charset="-122"/>
                <a:cs typeface="Calibri" pitchFamily="34" charset="-120"/>
              </a:rPr>
              <a:t>WORKED EXAMPLE</a:t>
            </a:r>
            <a:endParaRPr lang="en-US" sz="1100" dirty="0"/>
          </a:p>
        </p:txBody>
      </p:sp>
      <p:sp>
        <p:nvSpPr>
          <p:cNvPr id="4" name="code panel">
            <a:extLst>
              <a:ext uri="{C183D7F6-B498-43B3-948B-1728B52AA6E4}">
                <adec:decorative xmlns:adec="http://schemas.microsoft.com/office/drawing/2017/decorative" val="1"/>
              </a:ext>
            </a:extLst>
          </p:cNvPr>
          <p:cNvSpPr/>
          <p:nvPr/>
        </p:nvSpPr>
        <p:spPr>
          <a:xfrm>
            <a:off x="502920" y="1188720"/>
            <a:ext cx="8138160" cy="1417320"/>
          </a:xfrm>
          <a:prstGeom prst="roundRect">
            <a:avLst>
              <a:gd name="adj" fmla="val 3226"/>
            </a:avLst>
          </a:prstGeom>
          <a:solidFill>
            <a:srgbClr val="121519"/>
          </a:solidFill>
          <a:ln w="12700">
            <a:solidFill>
              <a:srgbClr val="3A424B"/>
            </a:solidFill>
            <a:prstDash val="solid"/>
          </a:ln>
        </p:spPr>
        <p:txBody>
          <a:bodyPr/>
          <a:lstStyle/>
          <a:p>
            <a:endParaRPr lang="en-SE"/>
          </a:p>
        </p:txBody>
      </p:sp>
      <p:sp>
        <p:nvSpPr>
          <p:cNvPr id="5" name="code panel edge">
            <a:extLst>
              <a:ext uri="{C183D7F6-B498-43B3-948B-1728B52AA6E4}">
                <adec:decorative xmlns:adec="http://schemas.microsoft.com/office/drawing/2017/decorative" val="1"/>
              </a:ext>
            </a:extLst>
          </p:cNvPr>
          <p:cNvSpPr/>
          <p:nvPr/>
        </p:nvSpPr>
        <p:spPr>
          <a:xfrm>
            <a:off x="502920" y="1188720"/>
            <a:ext cx="54864" cy="1417320"/>
          </a:xfrm>
          <a:prstGeom prst="rect">
            <a:avLst/>
          </a:prstGeom>
          <a:solidFill>
            <a:srgbClr val="E8722C"/>
          </a:solidFill>
          <a:ln w="12700">
            <a:solidFill>
              <a:srgbClr val="E8722C"/>
            </a:solidFill>
            <a:prstDash val="solid"/>
          </a:ln>
        </p:spPr>
        <p:txBody>
          <a:bodyPr/>
          <a:lstStyle/>
          <a:p>
            <a:endParaRPr lang="en-SE"/>
          </a:p>
        </p:txBody>
      </p:sp>
      <p:sp>
        <p:nvSpPr>
          <p:cNvPr id="6" name="Text 4"/>
          <p:cNvSpPr/>
          <p:nvPr/>
        </p:nvSpPr>
        <p:spPr>
          <a:xfrm>
            <a:off x="704088" y="1316736"/>
            <a:ext cx="7772400" cy="1161288"/>
          </a:xfrm>
          <a:prstGeom prst="rect">
            <a:avLst/>
          </a:prstGeom>
          <a:noFill/>
          <a:ln/>
        </p:spPr>
        <p:txBody>
          <a:bodyPr wrap="square" lIns="0" tIns="0" rIns="0" bIns="0" rtlCol="0" anchor="t"/>
          <a:lstStyle/>
          <a:p>
            <a:pPr marL="0" indent="0">
              <a:buNone/>
            </a:pPr>
            <a:r>
              <a:rPr lang="en-US" sz="1100" dirty="0">
                <a:solidFill>
                  <a:srgbClr val="97A1AC"/>
                </a:solidFill>
                <a:latin typeface="Consolas" pitchFamily="34" charset="0"/>
                <a:ea typeface="Consolas" pitchFamily="34" charset="-122"/>
                <a:cs typeface="Consolas" pitchFamily="34" charset="-120"/>
              </a:rPr>
              <a:t>cd docs/examples/REST/python</a:t>
            </a:r>
            <a:endParaRPr lang="en-US" sz="1100" dirty="0"/>
          </a:p>
          <a:p>
            <a:pPr marL="0" indent="0">
              <a:buNone/>
            </a:pPr>
            <a:r>
              <a:rPr lang="en-US" sz="1100" b="1" dirty="0">
                <a:solidFill>
                  <a:srgbClr val="F2A65A"/>
                </a:solidFill>
                <a:latin typeface="Consolas" pitchFamily="34" charset="0"/>
                <a:ea typeface="Consolas" pitchFamily="34" charset="-122"/>
                <a:cs typeface="Consolas" pitchFamily="34" charset="-120"/>
              </a:rPr>
              <a:t>python3 submit_market_order.py --side BUY  --symbol AAPL --qty 100</a:t>
            </a:r>
            <a:endParaRPr lang="en-US" sz="1100" dirty="0"/>
          </a:p>
          <a:p>
            <a:pPr marL="0" indent="0">
              <a:buNone/>
            </a:pPr>
            <a:r>
              <a:rPr lang="en-US" sz="1100" b="1" dirty="0">
                <a:solidFill>
                  <a:srgbClr val="F2A65A"/>
                </a:solidFill>
                <a:latin typeface="Consolas" pitchFamily="34" charset="0"/>
                <a:ea typeface="Consolas" pitchFamily="34" charset="-122"/>
                <a:cs typeface="Consolas" pitchFamily="34" charset="-120"/>
              </a:rPr>
              <a:t>python3 submit_market_order.py --side SELL --symbol MSFT --qty 50 --wait-ack</a:t>
            </a:r>
            <a:endParaRPr lang="en-US" sz="1100" dirty="0"/>
          </a:p>
        </p:txBody>
      </p:sp>
      <p:sp>
        <p:nvSpPr>
          <p:cNvPr id="7" name="card background">
            <a:extLst>
              <a:ext uri="{C183D7F6-B498-43B3-948B-1728B52AA6E4}">
                <adec:decorative xmlns:adec="http://schemas.microsoft.com/office/drawing/2017/decorative" val="1"/>
              </a:ext>
            </a:extLst>
          </p:cNvPr>
          <p:cNvSpPr/>
          <p:nvPr/>
        </p:nvSpPr>
        <p:spPr>
          <a:xfrm>
            <a:off x="502920" y="2743200"/>
            <a:ext cx="3959352" cy="1463040"/>
          </a:xfrm>
          <a:prstGeom prst="roundRect">
            <a:avLst>
              <a:gd name="adj" fmla="val 375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8" name="card top edge">
            <a:extLst>
              <a:ext uri="{C183D7F6-B498-43B3-948B-1728B52AA6E4}">
                <adec:decorative xmlns:adec="http://schemas.microsoft.com/office/drawing/2017/decorative" val="1"/>
              </a:ext>
            </a:extLst>
          </p:cNvPr>
          <p:cNvSpPr/>
          <p:nvPr/>
        </p:nvSpPr>
        <p:spPr>
          <a:xfrm>
            <a:off x="502920" y="2743200"/>
            <a:ext cx="3959352" cy="73152"/>
          </a:xfrm>
          <a:prstGeom prst="rect">
            <a:avLst/>
          </a:prstGeom>
          <a:solidFill>
            <a:srgbClr val="F2A65A"/>
          </a:solidFill>
          <a:ln w="12700">
            <a:solidFill>
              <a:srgbClr val="F2A65A"/>
            </a:solidFill>
            <a:prstDash val="solid"/>
          </a:ln>
        </p:spPr>
        <p:txBody>
          <a:bodyPr/>
          <a:lstStyle/>
          <a:p>
            <a:endParaRPr lang="en-SE"/>
          </a:p>
        </p:txBody>
      </p:sp>
      <p:sp>
        <p:nvSpPr>
          <p:cNvPr id="9" name="Text 7"/>
          <p:cNvSpPr/>
          <p:nvPr/>
        </p:nvSpPr>
        <p:spPr>
          <a:xfrm>
            <a:off x="740664" y="2962656"/>
            <a:ext cx="3502152" cy="365760"/>
          </a:xfrm>
          <a:prstGeom prst="rect">
            <a:avLst/>
          </a:prstGeom>
          <a:noFill/>
          <a:ln/>
        </p:spPr>
        <p:txBody>
          <a:bodyPr wrap="square" lIns="0" tIns="0" rIns="0" bIns="0" rtlCol="0" anchor="ctr"/>
          <a:lstStyle/>
          <a:p>
            <a:pPr marL="0" indent="0">
              <a:buNone/>
            </a:pPr>
            <a:r>
              <a:rPr lang="en-US" sz="1700" b="1" dirty="0">
                <a:solidFill>
                  <a:srgbClr val="F2A65A"/>
                </a:solidFill>
                <a:latin typeface="Trebuchet MS" pitchFamily="34" charset="0"/>
                <a:ea typeface="Trebuchet MS" pitchFamily="34" charset="-122"/>
                <a:cs typeface="Trebuchet MS" pitchFamily="34" charset="-120"/>
              </a:rPr>
              <a:t>Without waiting</a:t>
            </a:r>
            <a:endParaRPr lang="en-US" sz="1700" dirty="0"/>
          </a:p>
        </p:txBody>
      </p:sp>
      <p:sp>
        <p:nvSpPr>
          <p:cNvPr id="10" name="Text 8"/>
          <p:cNvSpPr/>
          <p:nvPr/>
        </p:nvSpPr>
        <p:spPr>
          <a:xfrm>
            <a:off x="740664" y="3438144"/>
            <a:ext cx="3502152" cy="585216"/>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An identifier comes back immediately</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The status reads pending</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The outcome follows on the events stream</a:t>
            </a:r>
            <a:endParaRPr lang="en-US" sz="1150" dirty="0"/>
          </a:p>
        </p:txBody>
      </p:sp>
      <p:sp>
        <p:nvSpPr>
          <p:cNvPr id="11" name="card background">
            <a:extLst>
              <a:ext uri="{C183D7F6-B498-43B3-948B-1728B52AA6E4}">
                <adec:decorative xmlns:adec="http://schemas.microsoft.com/office/drawing/2017/decorative" val="1"/>
              </a:ext>
            </a:extLst>
          </p:cNvPr>
          <p:cNvSpPr/>
          <p:nvPr/>
        </p:nvSpPr>
        <p:spPr>
          <a:xfrm>
            <a:off x="4681728" y="2743200"/>
            <a:ext cx="3959352" cy="1463040"/>
          </a:xfrm>
          <a:prstGeom prst="roundRect">
            <a:avLst>
              <a:gd name="adj" fmla="val 375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2" name="card top edge">
            <a:extLst>
              <a:ext uri="{C183D7F6-B498-43B3-948B-1728B52AA6E4}">
                <adec:decorative xmlns:adec="http://schemas.microsoft.com/office/drawing/2017/decorative" val="1"/>
              </a:ext>
            </a:extLst>
          </p:cNvPr>
          <p:cNvSpPr/>
          <p:nvPr/>
        </p:nvSpPr>
        <p:spPr>
          <a:xfrm>
            <a:off x="4681728" y="2743200"/>
            <a:ext cx="3959352" cy="73152"/>
          </a:xfrm>
          <a:prstGeom prst="rect">
            <a:avLst/>
          </a:prstGeom>
          <a:solidFill>
            <a:srgbClr val="35A79C"/>
          </a:solidFill>
          <a:ln w="12700">
            <a:solidFill>
              <a:srgbClr val="35A79C"/>
            </a:solidFill>
            <a:prstDash val="solid"/>
          </a:ln>
        </p:spPr>
        <p:txBody>
          <a:bodyPr/>
          <a:lstStyle/>
          <a:p>
            <a:endParaRPr lang="en-SE"/>
          </a:p>
        </p:txBody>
      </p:sp>
      <p:sp>
        <p:nvSpPr>
          <p:cNvPr id="13" name="Text 11"/>
          <p:cNvSpPr/>
          <p:nvPr/>
        </p:nvSpPr>
        <p:spPr>
          <a:xfrm>
            <a:off x="4919472" y="2962656"/>
            <a:ext cx="3502152" cy="365760"/>
          </a:xfrm>
          <a:prstGeom prst="rect">
            <a:avLst/>
          </a:prstGeom>
          <a:noFill/>
          <a:ln/>
        </p:spPr>
        <p:txBody>
          <a:bodyPr wrap="square" lIns="0" tIns="0" rIns="0" bIns="0" rtlCol="0" anchor="ctr"/>
          <a:lstStyle/>
          <a:p>
            <a:pPr marL="0" indent="0">
              <a:buNone/>
            </a:pPr>
            <a:r>
              <a:rPr lang="en-US" sz="1700" b="1" dirty="0">
                <a:solidFill>
                  <a:srgbClr val="35A79C"/>
                </a:solidFill>
                <a:latin typeface="Trebuchet MS" pitchFamily="34" charset="0"/>
                <a:ea typeface="Trebuchet MS" pitchFamily="34" charset="-122"/>
                <a:cs typeface="Trebuchet MS" pitchFamily="34" charset="-120"/>
              </a:rPr>
              <a:t>With waiting</a:t>
            </a:r>
            <a:endParaRPr lang="en-US" sz="1700" dirty="0"/>
          </a:p>
        </p:txBody>
      </p:sp>
      <p:sp>
        <p:nvSpPr>
          <p:cNvPr id="14" name="Text 12"/>
          <p:cNvSpPr/>
          <p:nvPr/>
        </p:nvSpPr>
        <p:spPr>
          <a:xfrm>
            <a:off x="4919472" y="3438144"/>
            <a:ext cx="3502152" cy="585216"/>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The same identifier, plus the engine's verdict</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Accepted, with a reason when it is not</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The complete acknowledgement is printed</a:t>
            </a:r>
            <a:endParaRPr lang="en-US" sz="1150" dirty="0"/>
          </a:p>
        </p:txBody>
      </p:sp>
      <p:sp>
        <p:nvSpPr>
          <p:cNvPr id="15" name="Text 13"/>
          <p:cNvSpPr/>
          <p:nvPr/>
        </p:nvSpPr>
        <p:spPr>
          <a:xfrm>
            <a:off x="502920" y="4261104"/>
            <a:ext cx="8138160" cy="365760"/>
          </a:xfrm>
          <a:prstGeom prst="rect">
            <a:avLst/>
          </a:prstGeom>
          <a:noFill/>
          <a:ln/>
        </p:spPr>
        <p:txBody>
          <a:bodyPr wrap="square" lIns="0" tIns="0" rIns="0" bIns="0" rtlCol="0" anchor="t"/>
          <a:lstStyle/>
          <a:p>
            <a:pPr marL="0" indent="0" algn="l">
              <a:buNone/>
            </a:pPr>
            <a:r>
              <a:rPr lang="en-US" sz="1150" i="1" dirty="0">
                <a:solidFill>
                  <a:srgbClr val="97A1AC"/>
                </a:solidFill>
                <a:latin typeface="Calibri" pitchFamily="34" charset="0"/>
                <a:ea typeface="Calibri" pitchFamily="34" charset="-122"/>
                <a:cs typeface="Calibri" pitchFamily="34" charset="-120"/>
              </a:rPr>
              <a:t>A market order must not carry a price — including one is refused as invalid before it leaves the gateway.</a:t>
            </a:r>
            <a:endParaRPr lang="en-US" sz="1150" dirty="0"/>
          </a:p>
        </p:txBody>
      </p:sp>
      <p:sp>
        <p:nvSpPr>
          <p:cNvPr id="16" name="Text 14"/>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Client recipes</a:t>
            </a:r>
            <a:endParaRPr lang="en-US" sz="900" dirty="0"/>
          </a:p>
        </p:txBody>
      </p:sp>
      <p:sp>
        <p:nvSpPr>
          <p:cNvPr id="17" name="Text 15"/>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60</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8138160" cy="548640"/>
          </a:xfrm>
          <a:prstGeom prst="rect">
            <a:avLst/>
          </a:prstGeom>
          <a:noFill/>
          <a:ln/>
        </p:spPr>
        <p:txBody>
          <a:bodyPr wrap="square" lIns="0" tIns="0" rIns="0" bIns="0" rtlCol="0" anchor="ctr"/>
          <a:lstStyle/>
          <a:p>
            <a:pPr marL="0" indent="0">
              <a:buNone/>
            </a:pPr>
            <a:r>
              <a:rPr lang="en-US" sz="2700" b="1" dirty="0">
                <a:solidFill>
                  <a:srgbClr val="F3F5F7"/>
                </a:solidFill>
                <a:latin typeface="Trebuchet MS" pitchFamily="34" charset="0"/>
                <a:ea typeface="Trebuchet MS" pitchFamily="34" charset="-122"/>
                <a:cs typeface="Trebuchet MS" pitchFamily="34" charset="-120"/>
              </a:rPr>
              <a:t>Habits of a well-behaved client</a:t>
            </a:r>
            <a:endParaRPr lang="en-US" sz="2700" dirty="0"/>
          </a:p>
        </p:txBody>
      </p:sp>
      <p:sp>
        <p:nvSpPr>
          <p:cNvPr id="3" name="Text 1"/>
          <p:cNvSpPr/>
          <p:nvPr/>
        </p:nvSpPr>
        <p:spPr>
          <a:xfrm>
            <a:off x="502920" y="841248"/>
            <a:ext cx="8138160" cy="237744"/>
          </a:xfrm>
          <a:prstGeom prst="rect">
            <a:avLst/>
          </a:prstGeom>
          <a:noFill/>
          <a:ln/>
        </p:spPr>
        <p:txBody>
          <a:bodyPr wrap="square" lIns="0" tIns="0" rIns="0" bIns="0" rtlCol="0" anchor="ctr"/>
          <a:lstStyle/>
          <a:p>
            <a:pPr marL="0" indent="0">
              <a:buNone/>
            </a:pPr>
            <a:r>
              <a:rPr lang="en-US" sz="1100" b="1" kern="0" spc="200" dirty="0">
                <a:solidFill>
                  <a:srgbClr val="E8722C"/>
                </a:solidFill>
                <a:latin typeface="Calibri" pitchFamily="34" charset="0"/>
                <a:ea typeface="Calibri" pitchFamily="34" charset="-122"/>
                <a:cs typeface="Calibri" pitchFamily="34" charset="-120"/>
              </a:rPr>
              <a:t>GOOD PRACTICE</a:t>
            </a:r>
            <a:endParaRPr lang="en-US" sz="1100" dirty="0"/>
          </a:p>
        </p:txBody>
      </p:sp>
      <p:sp>
        <p:nvSpPr>
          <p:cNvPr id="4" name="card background">
            <a:extLst>
              <a:ext uri="{C183D7F6-B498-43B3-948B-1728B52AA6E4}">
                <adec:decorative xmlns:adec="http://schemas.microsoft.com/office/drawing/2017/decorative" val="1"/>
              </a:ext>
            </a:extLst>
          </p:cNvPr>
          <p:cNvSpPr/>
          <p:nvPr/>
        </p:nvSpPr>
        <p:spPr>
          <a:xfrm>
            <a:off x="502920" y="1298448"/>
            <a:ext cx="2566416" cy="1417320"/>
          </a:xfrm>
          <a:prstGeom prst="roundRect">
            <a:avLst>
              <a:gd name="adj" fmla="val 3871"/>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5" name="step marker">
            <a:extLst>
              <a:ext uri="{C183D7F6-B498-43B3-948B-1728B52AA6E4}">
                <adec:decorative xmlns:adec="http://schemas.microsoft.com/office/drawing/2017/decorative" val="1"/>
              </a:ext>
            </a:extLst>
          </p:cNvPr>
          <p:cNvSpPr/>
          <p:nvPr/>
        </p:nvSpPr>
        <p:spPr>
          <a:xfrm>
            <a:off x="704088" y="1481328"/>
            <a:ext cx="310896" cy="310896"/>
          </a:xfrm>
          <a:prstGeom prst="ellipse">
            <a:avLst/>
          </a:prstGeom>
          <a:solidFill>
            <a:srgbClr val="E8722C"/>
          </a:solidFill>
          <a:ln w="12700">
            <a:solidFill>
              <a:srgbClr val="E8722C"/>
            </a:solidFill>
            <a:prstDash val="solid"/>
          </a:ln>
        </p:spPr>
        <p:txBody>
          <a:bodyPr/>
          <a:lstStyle/>
          <a:p>
            <a:endParaRPr lang="en-SE"/>
          </a:p>
        </p:txBody>
      </p:sp>
      <p:sp>
        <p:nvSpPr>
          <p:cNvPr id="6" name="Text 4"/>
          <p:cNvSpPr/>
          <p:nvPr/>
        </p:nvSpPr>
        <p:spPr>
          <a:xfrm>
            <a:off x="704088" y="1481328"/>
            <a:ext cx="310896" cy="310896"/>
          </a:xfrm>
          <a:prstGeom prst="rect">
            <a:avLst/>
          </a:prstGeom>
          <a:noFill/>
          <a:ln/>
        </p:spPr>
        <p:txBody>
          <a:bodyPr wrap="square" lIns="0" tIns="0" rIns="0" bIns="0" rtlCol="0" anchor="ctr"/>
          <a:lstStyle/>
          <a:p>
            <a:pPr marL="0" indent="0" algn="ctr">
              <a:buNone/>
            </a:pPr>
            <a:r>
              <a:rPr lang="en-US" sz="1300" b="1" dirty="0">
                <a:solidFill>
                  <a:srgbClr val="13161A"/>
                </a:solidFill>
                <a:latin typeface="Trebuchet MS" pitchFamily="34" charset="0"/>
                <a:ea typeface="Trebuchet MS" pitchFamily="34" charset="-122"/>
                <a:cs typeface="Trebuchet MS" pitchFamily="34" charset="-120"/>
              </a:rPr>
              <a:t>1</a:t>
            </a:r>
            <a:endParaRPr lang="en-US" sz="1300" dirty="0"/>
          </a:p>
        </p:txBody>
      </p:sp>
      <p:sp>
        <p:nvSpPr>
          <p:cNvPr id="7" name="Text 5"/>
          <p:cNvSpPr/>
          <p:nvPr/>
        </p:nvSpPr>
        <p:spPr>
          <a:xfrm>
            <a:off x="1106424" y="1481328"/>
            <a:ext cx="1780032" cy="329184"/>
          </a:xfrm>
          <a:prstGeom prst="rect">
            <a:avLst/>
          </a:prstGeom>
          <a:noFill/>
          <a:ln/>
        </p:spPr>
        <p:txBody>
          <a:bodyPr wrap="square" lIns="0" tIns="0" rIns="0" bIns="0" rtlCol="0" anchor="ctr"/>
          <a:lstStyle/>
          <a:p>
            <a:pPr marL="0" indent="0">
              <a:buNone/>
            </a:pPr>
            <a:r>
              <a:rPr lang="en-US" sz="1400" b="1" dirty="0">
                <a:solidFill>
                  <a:srgbClr val="E8722C"/>
                </a:solidFill>
                <a:latin typeface="Trebuchet MS" pitchFamily="34" charset="0"/>
                <a:ea typeface="Trebuchet MS" pitchFamily="34" charset="-122"/>
                <a:cs typeface="Trebuchet MS" pitchFamily="34" charset="-120"/>
              </a:rPr>
              <a:t>Snapshot, then stream</a:t>
            </a:r>
            <a:endParaRPr lang="en-US" sz="1400" dirty="0"/>
          </a:p>
        </p:txBody>
      </p:sp>
      <p:sp>
        <p:nvSpPr>
          <p:cNvPr id="8" name="Text 6"/>
          <p:cNvSpPr/>
          <p:nvPr/>
        </p:nvSpPr>
        <p:spPr>
          <a:xfrm>
            <a:off x="722376" y="1847088"/>
            <a:ext cx="2127504" cy="75895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Establish the picture over REST, keep it current from events.</a:t>
            </a:r>
            <a:endParaRPr lang="en-US" sz="1050" dirty="0"/>
          </a:p>
        </p:txBody>
      </p:sp>
      <p:sp>
        <p:nvSpPr>
          <p:cNvPr id="9" name="card background">
            <a:extLst>
              <a:ext uri="{C183D7F6-B498-43B3-948B-1728B52AA6E4}">
                <adec:decorative xmlns:adec="http://schemas.microsoft.com/office/drawing/2017/decorative" val="1"/>
              </a:ext>
            </a:extLst>
          </p:cNvPr>
          <p:cNvSpPr/>
          <p:nvPr/>
        </p:nvSpPr>
        <p:spPr>
          <a:xfrm>
            <a:off x="3288792" y="1298448"/>
            <a:ext cx="2566416" cy="1417320"/>
          </a:xfrm>
          <a:prstGeom prst="roundRect">
            <a:avLst>
              <a:gd name="adj" fmla="val 3871"/>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0" name="step marker">
            <a:extLst>
              <a:ext uri="{C183D7F6-B498-43B3-948B-1728B52AA6E4}">
                <adec:decorative xmlns:adec="http://schemas.microsoft.com/office/drawing/2017/decorative" val="1"/>
              </a:ext>
            </a:extLst>
          </p:cNvPr>
          <p:cNvSpPr/>
          <p:nvPr/>
        </p:nvSpPr>
        <p:spPr>
          <a:xfrm>
            <a:off x="3489960" y="1481328"/>
            <a:ext cx="310896" cy="310896"/>
          </a:xfrm>
          <a:prstGeom prst="ellipse">
            <a:avLst/>
          </a:prstGeom>
          <a:solidFill>
            <a:srgbClr val="35A79C"/>
          </a:solidFill>
          <a:ln w="12700">
            <a:solidFill>
              <a:srgbClr val="35A79C"/>
            </a:solidFill>
            <a:prstDash val="solid"/>
          </a:ln>
        </p:spPr>
        <p:txBody>
          <a:bodyPr/>
          <a:lstStyle/>
          <a:p>
            <a:endParaRPr lang="en-SE"/>
          </a:p>
        </p:txBody>
      </p:sp>
      <p:sp>
        <p:nvSpPr>
          <p:cNvPr id="11" name="Text 9"/>
          <p:cNvSpPr/>
          <p:nvPr/>
        </p:nvSpPr>
        <p:spPr>
          <a:xfrm>
            <a:off x="3489960" y="1481328"/>
            <a:ext cx="310896" cy="310896"/>
          </a:xfrm>
          <a:prstGeom prst="rect">
            <a:avLst/>
          </a:prstGeom>
          <a:noFill/>
          <a:ln/>
        </p:spPr>
        <p:txBody>
          <a:bodyPr wrap="square" lIns="0" tIns="0" rIns="0" bIns="0" rtlCol="0" anchor="ctr"/>
          <a:lstStyle/>
          <a:p>
            <a:pPr marL="0" indent="0" algn="ctr">
              <a:buNone/>
            </a:pPr>
            <a:r>
              <a:rPr lang="en-US" sz="1300" b="1" dirty="0">
                <a:solidFill>
                  <a:srgbClr val="13161A"/>
                </a:solidFill>
                <a:latin typeface="Trebuchet MS" pitchFamily="34" charset="0"/>
                <a:ea typeface="Trebuchet MS" pitchFamily="34" charset="-122"/>
                <a:cs typeface="Trebuchet MS" pitchFamily="34" charset="-120"/>
              </a:rPr>
              <a:t>2</a:t>
            </a:r>
            <a:endParaRPr lang="en-US" sz="1300" dirty="0"/>
          </a:p>
        </p:txBody>
      </p:sp>
      <p:sp>
        <p:nvSpPr>
          <p:cNvPr id="12" name="Text 10"/>
          <p:cNvSpPr/>
          <p:nvPr/>
        </p:nvSpPr>
        <p:spPr>
          <a:xfrm>
            <a:off x="3892296" y="1481328"/>
            <a:ext cx="1780032" cy="329184"/>
          </a:xfrm>
          <a:prstGeom prst="rect">
            <a:avLst/>
          </a:prstGeom>
          <a:noFill/>
          <a:ln/>
        </p:spPr>
        <p:txBody>
          <a:bodyPr wrap="square" lIns="0" tIns="0" rIns="0" bIns="0" rtlCol="0" anchor="ctr"/>
          <a:lstStyle/>
          <a:p>
            <a:pPr marL="0" indent="0">
              <a:buNone/>
            </a:pPr>
            <a:r>
              <a:rPr lang="en-US" sz="1400" b="1" dirty="0">
                <a:solidFill>
                  <a:srgbClr val="35A79C"/>
                </a:solidFill>
                <a:latin typeface="Trebuchet MS" pitchFamily="34" charset="0"/>
                <a:ea typeface="Trebuchet MS" pitchFamily="34" charset="-122"/>
                <a:cs typeface="Trebuchet MS" pitchFamily="34" charset="-120"/>
              </a:rPr>
              <a:t>Reconnect deliberately</a:t>
            </a:r>
            <a:endParaRPr lang="en-US" sz="1400" dirty="0"/>
          </a:p>
        </p:txBody>
      </p:sp>
      <p:sp>
        <p:nvSpPr>
          <p:cNvPr id="13" name="Text 11"/>
          <p:cNvSpPr/>
          <p:nvPr/>
        </p:nvSpPr>
        <p:spPr>
          <a:xfrm>
            <a:off x="3508248" y="1847088"/>
            <a:ext cx="2127504" cy="75895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After any drop, re-authenticate, re-subscribe and re-snapshot.</a:t>
            </a:r>
            <a:endParaRPr lang="en-US" sz="1050" dirty="0"/>
          </a:p>
        </p:txBody>
      </p:sp>
      <p:sp>
        <p:nvSpPr>
          <p:cNvPr id="14" name="card background">
            <a:extLst>
              <a:ext uri="{C183D7F6-B498-43B3-948B-1728B52AA6E4}">
                <adec:decorative xmlns:adec="http://schemas.microsoft.com/office/drawing/2017/decorative" val="1"/>
              </a:ext>
            </a:extLst>
          </p:cNvPr>
          <p:cNvSpPr/>
          <p:nvPr/>
        </p:nvSpPr>
        <p:spPr>
          <a:xfrm>
            <a:off x="6074664" y="1298448"/>
            <a:ext cx="2566416" cy="1417320"/>
          </a:xfrm>
          <a:prstGeom prst="roundRect">
            <a:avLst>
              <a:gd name="adj" fmla="val 3871"/>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5" name="step marker">
            <a:extLst>
              <a:ext uri="{C183D7F6-B498-43B3-948B-1728B52AA6E4}">
                <adec:decorative xmlns:adec="http://schemas.microsoft.com/office/drawing/2017/decorative" val="1"/>
              </a:ext>
            </a:extLst>
          </p:cNvPr>
          <p:cNvSpPr/>
          <p:nvPr/>
        </p:nvSpPr>
        <p:spPr>
          <a:xfrm>
            <a:off x="6275832" y="1481328"/>
            <a:ext cx="310896" cy="310896"/>
          </a:xfrm>
          <a:prstGeom prst="ellipse">
            <a:avLst/>
          </a:prstGeom>
          <a:solidFill>
            <a:srgbClr val="F2A65A"/>
          </a:solidFill>
          <a:ln w="12700">
            <a:solidFill>
              <a:srgbClr val="F2A65A"/>
            </a:solidFill>
            <a:prstDash val="solid"/>
          </a:ln>
        </p:spPr>
        <p:txBody>
          <a:bodyPr/>
          <a:lstStyle/>
          <a:p>
            <a:endParaRPr lang="en-SE"/>
          </a:p>
        </p:txBody>
      </p:sp>
      <p:sp>
        <p:nvSpPr>
          <p:cNvPr id="16" name="Text 14"/>
          <p:cNvSpPr/>
          <p:nvPr/>
        </p:nvSpPr>
        <p:spPr>
          <a:xfrm>
            <a:off x="6275832" y="1481328"/>
            <a:ext cx="310896" cy="310896"/>
          </a:xfrm>
          <a:prstGeom prst="rect">
            <a:avLst/>
          </a:prstGeom>
          <a:noFill/>
          <a:ln/>
        </p:spPr>
        <p:txBody>
          <a:bodyPr wrap="square" lIns="0" tIns="0" rIns="0" bIns="0" rtlCol="0" anchor="ctr"/>
          <a:lstStyle/>
          <a:p>
            <a:pPr marL="0" indent="0" algn="ctr">
              <a:buNone/>
            </a:pPr>
            <a:r>
              <a:rPr lang="en-US" sz="1300" b="1" dirty="0">
                <a:solidFill>
                  <a:srgbClr val="13161A"/>
                </a:solidFill>
                <a:latin typeface="Trebuchet MS" pitchFamily="34" charset="0"/>
                <a:ea typeface="Trebuchet MS" pitchFamily="34" charset="-122"/>
                <a:cs typeface="Trebuchet MS" pitchFamily="34" charset="-120"/>
              </a:rPr>
              <a:t>3</a:t>
            </a:r>
            <a:endParaRPr lang="en-US" sz="1300" dirty="0"/>
          </a:p>
        </p:txBody>
      </p:sp>
      <p:sp>
        <p:nvSpPr>
          <p:cNvPr id="17" name="Text 15"/>
          <p:cNvSpPr/>
          <p:nvPr/>
        </p:nvSpPr>
        <p:spPr>
          <a:xfrm>
            <a:off x="6678168" y="1481328"/>
            <a:ext cx="1780032" cy="329184"/>
          </a:xfrm>
          <a:prstGeom prst="rect">
            <a:avLst/>
          </a:prstGeom>
          <a:noFill/>
          <a:ln/>
        </p:spPr>
        <p:txBody>
          <a:bodyPr wrap="square" lIns="0" tIns="0" rIns="0" bIns="0" rtlCol="0" anchor="ctr"/>
          <a:lstStyle/>
          <a:p>
            <a:pPr marL="0" indent="0">
              <a:buNone/>
            </a:pPr>
            <a:r>
              <a:rPr lang="en-US" sz="1400" b="1" dirty="0">
                <a:solidFill>
                  <a:srgbClr val="F2A65A"/>
                </a:solidFill>
                <a:latin typeface="Trebuchet MS" pitchFamily="34" charset="0"/>
                <a:ea typeface="Trebuchet MS" pitchFamily="34" charset="-122"/>
                <a:cs typeface="Trebuchet MS" pitchFamily="34" charset="-120"/>
              </a:rPr>
              <a:t>Reference every order</a:t>
            </a:r>
            <a:endParaRPr lang="en-US" sz="1400" dirty="0"/>
          </a:p>
        </p:txBody>
      </p:sp>
      <p:sp>
        <p:nvSpPr>
          <p:cNvPr id="18" name="Text 16"/>
          <p:cNvSpPr/>
          <p:nvPr/>
        </p:nvSpPr>
        <p:spPr>
          <a:xfrm>
            <a:off x="6294120" y="1847088"/>
            <a:ext cx="2127504" cy="75895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Your own identifier makes reconciliation and duplicate detection possible.</a:t>
            </a:r>
            <a:endParaRPr lang="en-US" sz="1050" dirty="0"/>
          </a:p>
        </p:txBody>
      </p:sp>
      <p:sp>
        <p:nvSpPr>
          <p:cNvPr id="19" name="card background">
            <a:extLst>
              <a:ext uri="{C183D7F6-B498-43B3-948B-1728B52AA6E4}">
                <adec:decorative xmlns:adec="http://schemas.microsoft.com/office/drawing/2017/decorative" val="1"/>
              </a:ext>
            </a:extLst>
          </p:cNvPr>
          <p:cNvSpPr/>
          <p:nvPr/>
        </p:nvSpPr>
        <p:spPr>
          <a:xfrm>
            <a:off x="502920" y="2916936"/>
            <a:ext cx="2566416" cy="1417320"/>
          </a:xfrm>
          <a:prstGeom prst="roundRect">
            <a:avLst>
              <a:gd name="adj" fmla="val 3871"/>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20" name="step marker">
            <a:extLst>
              <a:ext uri="{C183D7F6-B498-43B3-948B-1728B52AA6E4}">
                <adec:decorative xmlns:adec="http://schemas.microsoft.com/office/drawing/2017/decorative" val="1"/>
              </a:ext>
            </a:extLst>
          </p:cNvPr>
          <p:cNvSpPr/>
          <p:nvPr/>
        </p:nvSpPr>
        <p:spPr>
          <a:xfrm>
            <a:off x="704088" y="3099816"/>
            <a:ext cx="310896" cy="310896"/>
          </a:xfrm>
          <a:prstGeom prst="ellipse">
            <a:avLst/>
          </a:prstGeom>
          <a:solidFill>
            <a:srgbClr val="8B7BD8"/>
          </a:solidFill>
          <a:ln w="12700">
            <a:solidFill>
              <a:srgbClr val="8B7BD8"/>
            </a:solidFill>
            <a:prstDash val="solid"/>
          </a:ln>
        </p:spPr>
        <p:txBody>
          <a:bodyPr/>
          <a:lstStyle/>
          <a:p>
            <a:endParaRPr lang="en-SE"/>
          </a:p>
        </p:txBody>
      </p:sp>
      <p:sp>
        <p:nvSpPr>
          <p:cNvPr id="21" name="Text 19"/>
          <p:cNvSpPr/>
          <p:nvPr/>
        </p:nvSpPr>
        <p:spPr>
          <a:xfrm>
            <a:off x="704088" y="3099816"/>
            <a:ext cx="310896" cy="310896"/>
          </a:xfrm>
          <a:prstGeom prst="rect">
            <a:avLst/>
          </a:prstGeom>
          <a:noFill/>
          <a:ln/>
        </p:spPr>
        <p:txBody>
          <a:bodyPr wrap="square" lIns="0" tIns="0" rIns="0" bIns="0" rtlCol="0" anchor="ctr"/>
          <a:lstStyle/>
          <a:p>
            <a:pPr marL="0" indent="0" algn="ctr">
              <a:buNone/>
            </a:pPr>
            <a:r>
              <a:rPr lang="en-US" sz="1300" b="1" dirty="0">
                <a:solidFill>
                  <a:srgbClr val="13161A"/>
                </a:solidFill>
                <a:latin typeface="Trebuchet MS" pitchFamily="34" charset="0"/>
                <a:ea typeface="Trebuchet MS" pitchFamily="34" charset="-122"/>
                <a:cs typeface="Trebuchet MS" pitchFamily="34" charset="-120"/>
              </a:rPr>
              <a:t>4</a:t>
            </a:r>
            <a:endParaRPr lang="en-US" sz="1300" dirty="0"/>
          </a:p>
        </p:txBody>
      </p:sp>
      <p:sp>
        <p:nvSpPr>
          <p:cNvPr id="22" name="Text 20"/>
          <p:cNvSpPr/>
          <p:nvPr/>
        </p:nvSpPr>
        <p:spPr>
          <a:xfrm>
            <a:off x="1106424" y="3099816"/>
            <a:ext cx="1780032" cy="329184"/>
          </a:xfrm>
          <a:prstGeom prst="rect">
            <a:avLst/>
          </a:prstGeom>
          <a:noFill/>
          <a:ln/>
        </p:spPr>
        <p:txBody>
          <a:bodyPr wrap="square" lIns="0" tIns="0" rIns="0" bIns="0" rtlCol="0" anchor="ctr"/>
          <a:lstStyle/>
          <a:p>
            <a:pPr marL="0" indent="0">
              <a:buNone/>
            </a:pPr>
            <a:r>
              <a:rPr lang="en-US" sz="1400" b="1" dirty="0">
                <a:solidFill>
                  <a:srgbClr val="8B7BD8"/>
                </a:solidFill>
                <a:latin typeface="Trebuchet MS" pitchFamily="34" charset="0"/>
                <a:ea typeface="Trebuchet MS" pitchFamily="34" charset="-122"/>
                <a:cs typeface="Trebuchet MS" pitchFamily="34" charset="-120"/>
              </a:rPr>
              <a:t>Respect the limits</a:t>
            </a:r>
            <a:endParaRPr lang="en-US" sz="1400" dirty="0"/>
          </a:p>
        </p:txBody>
      </p:sp>
      <p:sp>
        <p:nvSpPr>
          <p:cNvPr id="23" name="Text 21"/>
          <p:cNvSpPr/>
          <p:nvPr/>
        </p:nvSpPr>
        <p:spPr>
          <a:xfrm>
            <a:off x="722376" y="3465576"/>
            <a:ext cx="2127504" cy="75895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Pace writes; treat a rate refusal as a signal, not a failure.</a:t>
            </a:r>
            <a:endParaRPr lang="en-US" sz="1050" dirty="0"/>
          </a:p>
        </p:txBody>
      </p:sp>
      <p:sp>
        <p:nvSpPr>
          <p:cNvPr id="24" name="card background">
            <a:extLst>
              <a:ext uri="{C183D7F6-B498-43B3-948B-1728B52AA6E4}">
                <adec:decorative xmlns:adec="http://schemas.microsoft.com/office/drawing/2017/decorative" val="1"/>
              </a:ext>
            </a:extLst>
          </p:cNvPr>
          <p:cNvSpPr/>
          <p:nvPr/>
        </p:nvSpPr>
        <p:spPr>
          <a:xfrm>
            <a:off x="3288792" y="2916936"/>
            <a:ext cx="2566416" cy="1417320"/>
          </a:xfrm>
          <a:prstGeom prst="roundRect">
            <a:avLst>
              <a:gd name="adj" fmla="val 3871"/>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25" name="step marker">
            <a:extLst>
              <a:ext uri="{C183D7F6-B498-43B3-948B-1728B52AA6E4}">
                <adec:decorative xmlns:adec="http://schemas.microsoft.com/office/drawing/2017/decorative" val="1"/>
              </a:ext>
            </a:extLst>
          </p:cNvPr>
          <p:cNvSpPr/>
          <p:nvPr/>
        </p:nvSpPr>
        <p:spPr>
          <a:xfrm>
            <a:off x="3489960" y="3099816"/>
            <a:ext cx="310896" cy="310896"/>
          </a:xfrm>
          <a:prstGeom prst="ellipse">
            <a:avLst/>
          </a:prstGeom>
          <a:solidFill>
            <a:srgbClr val="D9534F"/>
          </a:solidFill>
          <a:ln w="12700">
            <a:solidFill>
              <a:srgbClr val="D9534F"/>
            </a:solidFill>
            <a:prstDash val="solid"/>
          </a:ln>
        </p:spPr>
        <p:txBody>
          <a:bodyPr/>
          <a:lstStyle/>
          <a:p>
            <a:endParaRPr lang="en-SE"/>
          </a:p>
        </p:txBody>
      </p:sp>
      <p:sp>
        <p:nvSpPr>
          <p:cNvPr id="26" name="Text 24"/>
          <p:cNvSpPr/>
          <p:nvPr/>
        </p:nvSpPr>
        <p:spPr>
          <a:xfrm>
            <a:off x="3489960" y="3099816"/>
            <a:ext cx="310896" cy="310896"/>
          </a:xfrm>
          <a:prstGeom prst="rect">
            <a:avLst/>
          </a:prstGeom>
          <a:noFill/>
          <a:ln/>
        </p:spPr>
        <p:txBody>
          <a:bodyPr wrap="square" lIns="0" tIns="0" rIns="0" bIns="0" rtlCol="0" anchor="ctr"/>
          <a:lstStyle/>
          <a:p>
            <a:pPr marL="0" indent="0" algn="ctr">
              <a:buNone/>
            </a:pPr>
            <a:r>
              <a:rPr lang="en-US" sz="1300" b="1" dirty="0">
                <a:solidFill>
                  <a:srgbClr val="13161A"/>
                </a:solidFill>
                <a:latin typeface="Trebuchet MS" pitchFamily="34" charset="0"/>
                <a:ea typeface="Trebuchet MS" pitchFamily="34" charset="-122"/>
                <a:cs typeface="Trebuchet MS" pitchFamily="34" charset="-120"/>
              </a:rPr>
              <a:t>5</a:t>
            </a:r>
            <a:endParaRPr lang="en-US" sz="1300" dirty="0"/>
          </a:p>
        </p:txBody>
      </p:sp>
      <p:sp>
        <p:nvSpPr>
          <p:cNvPr id="27" name="Text 25"/>
          <p:cNvSpPr/>
          <p:nvPr/>
        </p:nvSpPr>
        <p:spPr>
          <a:xfrm>
            <a:off x="3892296" y="3099816"/>
            <a:ext cx="1780032" cy="329184"/>
          </a:xfrm>
          <a:prstGeom prst="rect">
            <a:avLst/>
          </a:prstGeom>
          <a:noFill/>
          <a:ln/>
        </p:spPr>
        <p:txBody>
          <a:bodyPr wrap="square" lIns="0" tIns="0" rIns="0" bIns="0" rtlCol="0" anchor="ctr"/>
          <a:lstStyle/>
          <a:p>
            <a:pPr marL="0" indent="0">
              <a:buNone/>
            </a:pPr>
            <a:r>
              <a:rPr lang="en-US" sz="1400" b="1" dirty="0">
                <a:solidFill>
                  <a:srgbClr val="D9534F"/>
                </a:solidFill>
                <a:latin typeface="Trebuchet MS" pitchFamily="34" charset="0"/>
                <a:ea typeface="Trebuchet MS" pitchFamily="34" charset="-122"/>
                <a:cs typeface="Trebuchet MS" pitchFamily="34" charset="-120"/>
              </a:rPr>
              <a:t>Handle every code</a:t>
            </a:r>
            <a:endParaRPr lang="en-US" sz="1400" dirty="0"/>
          </a:p>
        </p:txBody>
      </p:sp>
      <p:sp>
        <p:nvSpPr>
          <p:cNvPr id="28" name="Text 26"/>
          <p:cNvSpPr/>
          <p:nvPr/>
        </p:nvSpPr>
        <p:spPr>
          <a:xfrm>
            <a:off x="3508248" y="3465576"/>
            <a:ext cx="2127504" cy="75895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A default branch that logs the unknown code beats a silent crash.</a:t>
            </a:r>
            <a:endParaRPr lang="en-US" sz="1050" dirty="0"/>
          </a:p>
        </p:txBody>
      </p:sp>
      <p:sp>
        <p:nvSpPr>
          <p:cNvPr id="29" name="card background">
            <a:extLst>
              <a:ext uri="{C183D7F6-B498-43B3-948B-1728B52AA6E4}">
                <adec:decorative xmlns:adec="http://schemas.microsoft.com/office/drawing/2017/decorative" val="1"/>
              </a:ext>
            </a:extLst>
          </p:cNvPr>
          <p:cNvSpPr/>
          <p:nvPr/>
        </p:nvSpPr>
        <p:spPr>
          <a:xfrm>
            <a:off x="6074664" y="2916936"/>
            <a:ext cx="2566416" cy="1417320"/>
          </a:xfrm>
          <a:prstGeom prst="roundRect">
            <a:avLst>
              <a:gd name="adj" fmla="val 3871"/>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30" name="step marker">
            <a:extLst>
              <a:ext uri="{C183D7F6-B498-43B3-948B-1728B52AA6E4}">
                <adec:decorative xmlns:adec="http://schemas.microsoft.com/office/drawing/2017/decorative" val="1"/>
              </a:ext>
            </a:extLst>
          </p:cNvPr>
          <p:cNvSpPr/>
          <p:nvPr/>
        </p:nvSpPr>
        <p:spPr>
          <a:xfrm>
            <a:off x="6275832" y="3099816"/>
            <a:ext cx="310896" cy="310896"/>
          </a:xfrm>
          <a:prstGeom prst="ellipse">
            <a:avLst/>
          </a:prstGeom>
          <a:solidFill>
            <a:srgbClr val="E8722C"/>
          </a:solidFill>
          <a:ln w="12700">
            <a:solidFill>
              <a:srgbClr val="E8722C"/>
            </a:solidFill>
            <a:prstDash val="solid"/>
          </a:ln>
        </p:spPr>
        <p:txBody>
          <a:bodyPr/>
          <a:lstStyle/>
          <a:p>
            <a:endParaRPr lang="en-SE"/>
          </a:p>
        </p:txBody>
      </p:sp>
      <p:sp>
        <p:nvSpPr>
          <p:cNvPr id="31" name="Text 29"/>
          <p:cNvSpPr/>
          <p:nvPr/>
        </p:nvSpPr>
        <p:spPr>
          <a:xfrm>
            <a:off x="6275832" y="3099816"/>
            <a:ext cx="310896" cy="310896"/>
          </a:xfrm>
          <a:prstGeom prst="rect">
            <a:avLst/>
          </a:prstGeom>
          <a:noFill/>
          <a:ln/>
        </p:spPr>
        <p:txBody>
          <a:bodyPr wrap="square" lIns="0" tIns="0" rIns="0" bIns="0" rtlCol="0" anchor="ctr"/>
          <a:lstStyle/>
          <a:p>
            <a:pPr marL="0" indent="0" algn="ctr">
              <a:buNone/>
            </a:pPr>
            <a:r>
              <a:rPr lang="en-US" sz="1300" b="1" dirty="0">
                <a:solidFill>
                  <a:srgbClr val="13161A"/>
                </a:solidFill>
                <a:latin typeface="Trebuchet MS" pitchFamily="34" charset="0"/>
                <a:ea typeface="Trebuchet MS" pitchFamily="34" charset="-122"/>
                <a:cs typeface="Trebuchet MS" pitchFamily="34" charset="-120"/>
              </a:rPr>
              <a:t>6</a:t>
            </a:r>
            <a:endParaRPr lang="en-US" sz="1300" dirty="0"/>
          </a:p>
        </p:txBody>
      </p:sp>
      <p:sp>
        <p:nvSpPr>
          <p:cNvPr id="32" name="Text 30"/>
          <p:cNvSpPr/>
          <p:nvPr/>
        </p:nvSpPr>
        <p:spPr>
          <a:xfrm>
            <a:off x="6678168" y="3099816"/>
            <a:ext cx="1780032" cy="329184"/>
          </a:xfrm>
          <a:prstGeom prst="rect">
            <a:avLst/>
          </a:prstGeom>
          <a:noFill/>
          <a:ln/>
        </p:spPr>
        <p:txBody>
          <a:bodyPr wrap="square" lIns="0" tIns="0" rIns="0" bIns="0" rtlCol="0" anchor="ctr"/>
          <a:lstStyle/>
          <a:p>
            <a:pPr marL="0" indent="0">
              <a:buNone/>
            </a:pPr>
            <a:r>
              <a:rPr lang="en-US" sz="1400" b="1" dirty="0">
                <a:solidFill>
                  <a:srgbClr val="E8722C"/>
                </a:solidFill>
                <a:latin typeface="Trebuchet MS" pitchFamily="34" charset="0"/>
                <a:ea typeface="Trebuchet MS" pitchFamily="34" charset="-122"/>
                <a:cs typeface="Trebuchet MS" pitchFamily="34" charset="-120"/>
              </a:rPr>
              <a:t>Shut down cleanly</a:t>
            </a:r>
            <a:endParaRPr lang="en-US" sz="1400" dirty="0"/>
          </a:p>
        </p:txBody>
      </p:sp>
      <p:sp>
        <p:nvSpPr>
          <p:cNvPr id="33" name="Text 31"/>
          <p:cNvSpPr/>
          <p:nvPr/>
        </p:nvSpPr>
        <p:spPr>
          <a:xfrm>
            <a:off x="6294120" y="3465576"/>
            <a:ext cx="2127504" cy="75895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Cancel your exposure before your process exits.</a:t>
            </a:r>
            <a:endParaRPr lang="en-US" sz="1050" dirty="0"/>
          </a:p>
        </p:txBody>
      </p:sp>
      <p:sp>
        <p:nvSpPr>
          <p:cNvPr id="34" name="Text 32"/>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Client recipes</a:t>
            </a:r>
            <a:endParaRPr lang="en-US" sz="900" dirty="0"/>
          </a:p>
        </p:txBody>
      </p:sp>
      <p:sp>
        <p:nvSpPr>
          <p:cNvPr id="35" name="Text 33"/>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61</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8138160" cy="548640"/>
          </a:xfrm>
          <a:prstGeom prst="rect">
            <a:avLst/>
          </a:prstGeom>
          <a:noFill/>
          <a:ln/>
        </p:spPr>
        <p:txBody>
          <a:bodyPr wrap="square" lIns="0" tIns="0" rIns="0" bIns="0" rtlCol="0" anchor="ctr"/>
          <a:lstStyle/>
          <a:p>
            <a:pPr marL="0" indent="0">
              <a:buNone/>
            </a:pPr>
            <a:r>
              <a:rPr lang="en-US" sz="2700" b="1" dirty="0">
                <a:solidFill>
                  <a:srgbClr val="F3F5F7"/>
                </a:solidFill>
                <a:latin typeface="Trebuchet MS" pitchFamily="34" charset="0"/>
                <a:ea typeface="Trebuchet MS" pitchFamily="34" charset="-122"/>
                <a:cs typeface="Trebuchet MS" pitchFamily="34" charset="-120"/>
              </a:rPr>
              <a:t>Before you call it done</a:t>
            </a:r>
            <a:endParaRPr lang="en-US" sz="2700" dirty="0"/>
          </a:p>
        </p:txBody>
      </p:sp>
      <p:sp>
        <p:nvSpPr>
          <p:cNvPr id="3" name="Text 1"/>
          <p:cNvSpPr/>
          <p:nvPr/>
        </p:nvSpPr>
        <p:spPr>
          <a:xfrm>
            <a:off x="502920" y="841248"/>
            <a:ext cx="8138160" cy="237744"/>
          </a:xfrm>
          <a:prstGeom prst="rect">
            <a:avLst/>
          </a:prstGeom>
          <a:noFill/>
          <a:ln/>
        </p:spPr>
        <p:txBody>
          <a:bodyPr wrap="square" lIns="0" tIns="0" rIns="0" bIns="0" rtlCol="0" anchor="ctr"/>
          <a:lstStyle/>
          <a:p>
            <a:pPr marL="0" indent="0">
              <a:buNone/>
            </a:pPr>
            <a:r>
              <a:rPr lang="en-US" sz="1100" b="1" kern="0" spc="200" dirty="0">
                <a:solidFill>
                  <a:srgbClr val="E8722C"/>
                </a:solidFill>
                <a:latin typeface="Calibri" pitchFamily="34" charset="0"/>
                <a:ea typeface="Calibri" pitchFamily="34" charset="-122"/>
                <a:cs typeface="Calibri" pitchFamily="34" charset="-120"/>
              </a:rPr>
              <a:t>OPERATIONAL CHECKLIST</a:t>
            </a:r>
            <a:endParaRPr lang="en-US" sz="1100" dirty="0"/>
          </a:p>
        </p:txBody>
      </p:sp>
      <p:sp>
        <p:nvSpPr>
          <p:cNvPr id="4" name="card background">
            <a:extLst>
              <a:ext uri="{C183D7F6-B498-43B3-948B-1728B52AA6E4}">
                <adec:decorative xmlns:adec="http://schemas.microsoft.com/office/drawing/2017/decorative" val="1"/>
              </a:ext>
            </a:extLst>
          </p:cNvPr>
          <p:cNvSpPr/>
          <p:nvPr/>
        </p:nvSpPr>
        <p:spPr>
          <a:xfrm>
            <a:off x="502920" y="1207008"/>
            <a:ext cx="3959352" cy="676656"/>
          </a:xfrm>
          <a:prstGeom prst="roundRect">
            <a:avLst>
              <a:gd name="adj" fmla="val 8108"/>
            </a:avLst>
          </a:prstGeom>
          <a:solidFill>
            <a:srgbClr val="2E353D"/>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5" name="step marker">
            <a:extLst>
              <a:ext uri="{C183D7F6-B498-43B3-948B-1728B52AA6E4}">
                <adec:decorative xmlns:adec="http://schemas.microsoft.com/office/drawing/2017/decorative" val="1"/>
              </a:ext>
            </a:extLst>
          </p:cNvPr>
          <p:cNvSpPr/>
          <p:nvPr/>
        </p:nvSpPr>
        <p:spPr>
          <a:xfrm>
            <a:off x="667512" y="1380744"/>
            <a:ext cx="329184" cy="329184"/>
          </a:xfrm>
          <a:prstGeom prst="ellipse">
            <a:avLst/>
          </a:prstGeom>
          <a:solidFill>
            <a:srgbClr val="E8722C"/>
          </a:solidFill>
          <a:ln w="12700">
            <a:solidFill>
              <a:srgbClr val="E8722C"/>
            </a:solidFill>
            <a:prstDash val="solid"/>
          </a:ln>
        </p:spPr>
        <p:txBody>
          <a:bodyPr/>
          <a:lstStyle/>
          <a:p>
            <a:endParaRPr lang="en-SE"/>
          </a:p>
        </p:txBody>
      </p:sp>
      <p:sp>
        <p:nvSpPr>
          <p:cNvPr id="6" name="Text 4"/>
          <p:cNvSpPr/>
          <p:nvPr/>
        </p:nvSpPr>
        <p:spPr>
          <a:xfrm>
            <a:off x="667512" y="1380744"/>
            <a:ext cx="329184" cy="329184"/>
          </a:xfrm>
          <a:prstGeom prst="rect">
            <a:avLst/>
          </a:prstGeom>
          <a:noFill/>
          <a:ln/>
        </p:spPr>
        <p:txBody>
          <a:bodyPr wrap="square" lIns="0" tIns="0" rIns="0" bIns="0" rtlCol="0" anchor="ctr"/>
          <a:lstStyle/>
          <a:p>
            <a:pPr marL="0" indent="0" algn="ctr">
              <a:buNone/>
            </a:pPr>
            <a:r>
              <a:rPr lang="en-US" sz="1300" b="1" dirty="0">
                <a:solidFill>
                  <a:srgbClr val="13161A"/>
                </a:solidFill>
                <a:latin typeface="Trebuchet MS" pitchFamily="34" charset="0"/>
                <a:ea typeface="Trebuchet MS" pitchFamily="34" charset="-122"/>
                <a:cs typeface="Trebuchet MS" pitchFamily="34" charset="-120"/>
              </a:rPr>
              <a:t>1</a:t>
            </a:r>
            <a:endParaRPr lang="en-US" sz="1300" dirty="0"/>
          </a:p>
        </p:txBody>
      </p:sp>
      <p:sp>
        <p:nvSpPr>
          <p:cNvPr id="7" name="Text 5"/>
          <p:cNvSpPr/>
          <p:nvPr/>
        </p:nvSpPr>
        <p:spPr>
          <a:xfrm>
            <a:off x="1106424" y="1261872"/>
            <a:ext cx="3191256" cy="566928"/>
          </a:xfrm>
          <a:prstGeom prst="rect">
            <a:avLst/>
          </a:prstGeom>
          <a:noFill/>
          <a:ln/>
        </p:spPr>
        <p:txBody>
          <a:bodyPr wrap="square" lIns="0" tIns="0" rIns="0" bIns="0" rtlCol="0" anchor="ctr"/>
          <a:lstStyle/>
          <a:p>
            <a:pPr marL="0" indent="0">
              <a:buNone/>
            </a:pPr>
            <a:r>
              <a:rPr lang="en-US" sz="1150" dirty="0">
                <a:solidFill>
                  <a:srgbClr val="D5DAE0"/>
                </a:solidFill>
                <a:latin typeface="Calibri" pitchFamily="34" charset="0"/>
                <a:ea typeface="Calibri" pitchFamily="34" charset="-122"/>
                <a:cs typeface="Calibri" pitchFamily="34" charset="-120"/>
              </a:rPr>
              <a:t>Every key maps to an identity the exchange actually allows</a:t>
            </a:r>
            <a:endParaRPr lang="en-US" sz="1150" dirty="0"/>
          </a:p>
        </p:txBody>
      </p:sp>
      <p:sp>
        <p:nvSpPr>
          <p:cNvPr id="8" name="card background">
            <a:extLst>
              <a:ext uri="{C183D7F6-B498-43B3-948B-1728B52AA6E4}">
                <adec:decorative xmlns:adec="http://schemas.microsoft.com/office/drawing/2017/decorative" val="1"/>
              </a:ext>
            </a:extLst>
          </p:cNvPr>
          <p:cNvSpPr/>
          <p:nvPr/>
        </p:nvSpPr>
        <p:spPr>
          <a:xfrm>
            <a:off x="4681728" y="1207008"/>
            <a:ext cx="3959352" cy="676656"/>
          </a:xfrm>
          <a:prstGeom prst="roundRect">
            <a:avLst>
              <a:gd name="adj" fmla="val 8108"/>
            </a:avLst>
          </a:prstGeom>
          <a:solidFill>
            <a:srgbClr val="2E353D"/>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9" name="step marker">
            <a:extLst>
              <a:ext uri="{C183D7F6-B498-43B3-948B-1728B52AA6E4}">
                <adec:decorative xmlns:adec="http://schemas.microsoft.com/office/drawing/2017/decorative" val="1"/>
              </a:ext>
            </a:extLst>
          </p:cNvPr>
          <p:cNvSpPr/>
          <p:nvPr/>
        </p:nvSpPr>
        <p:spPr>
          <a:xfrm>
            <a:off x="4846320" y="1380744"/>
            <a:ext cx="329184" cy="329184"/>
          </a:xfrm>
          <a:prstGeom prst="ellipse">
            <a:avLst/>
          </a:prstGeom>
          <a:solidFill>
            <a:srgbClr val="35A79C"/>
          </a:solidFill>
          <a:ln w="12700">
            <a:solidFill>
              <a:srgbClr val="35A79C"/>
            </a:solidFill>
            <a:prstDash val="solid"/>
          </a:ln>
        </p:spPr>
        <p:txBody>
          <a:bodyPr/>
          <a:lstStyle/>
          <a:p>
            <a:endParaRPr lang="en-SE"/>
          </a:p>
        </p:txBody>
      </p:sp>
      <p:sp>
        <p:nvSpPr>
          <p:cNvPr id="10" name="Text 8"/>
          <p:cNvSpPr/>
          <p:nvPr/>
        </p:nvSpPr>
        <p:spPr>
          <a:xfrm>
            <a:off x="4846320" y="1380744"/>
            <a:ext cx="329184" cy="329184"/>
          </a:xfrm>
          <a:prstGeom prst="rect">
            <a:avLst/>
          </a:prstGeom>
          <a:noFill/>
          <a:ln/>
        </p:spPr>
        <p:txBody>
          <a:bodyPr wrap="square" lIns="0" tIns="0" rIns="0" bIns="0" rtlCol="0" anchor="ctr"/>
          <a:lstStyle/>
          <a:p>
            <a:pPr marL="0" indent="0" algn="ctr">
              <a:buNone/>
            </a:pPr>
            <a:r>
              <a:rPr lang="en-US" sz="1300" b="1" dirty="0">
                <a:solidFill>
                  <a:srgbClr val="13161A"/>
                </a:solidFill>
                <a:latin typeface="Trebuchet MS" pitchFamily="34" charset="0"/>
                <a:ea typeface="Trebuchet MS" pitchFamily="34" charset="-122"/>
                <a:cs typeface="Trebuchet MS" pitchFamily="34" charset="-120"/>
              </a:rPr>
              <a:t>2</a:t>
            </a:r>
            <a:endParaRPr lang="en-US" sz="1300" dirty="0"/>
          </a:p>
        </p:txBody>
      </p:sp>
      <p:sp>
        <p:nvSpPr>
          <p:cNvPr id="11" name="Text 9"/>
          <p:cNvSpPr/>
          <p:nvPr/>
        </p:nvSpPr>
        <p:spPr>
          <a:xfrm>
            <a:off x="5285232" y="1261872"/>
            <a:ext cx="3191256" cy="566928"/>
          </a:xfrm>
          <a:prstGeom prst="rect">
            <a:avLst/>
          </a:prstGeom>
          <a:noFill/>
          <a:ln/>
        </p:spPr>
        <p:txBody>
          <a:bodyPr wrap="square" lIns="0" tIns="0" rIns="0" bIns="0" rtlCol="0" anchor="ctr"/>
          <a:lstStyle/>
          <a:p>
            <a:pPr marL="0" indent="0">
              <a:buNone/>
            </a:pPr>
            <a:r>
              <a:rPr lang="en-US" sz="1150" dirty="0">
                <a:solidFill>
                  <a:srgbClr val="D5DAE0"/>
                </a:solidFill>
                <a:latin typeface="Calibri" pitchFamily="34" charset="0"/>
                <a:ea typeface="Calibri" pitchFamily="34" charset="-122"/>
                <a:cs typeface="Calibri" pitchFamily="34" charset="-120"/>
              </a:rPr>
              <a:t>Each trading identity is used by exactly one gateway process</a:t>
            </a:r>
            <a:endParaRPr lang="en-US" sz="1150" dirty="0"/>
          </a:p>
        </p:txBody>
      </p:sp>
      <p:sp>
        <p:nvSpPr>
          <p:cNvPr id="12" name="card background">
            <a:extLst>
              <a:ext uri="{C183D7F6-B498-43B3-948B-1728B52AA6E4}">
                <adec:decorative xmlns:adec="http://schemas.microsoft.com/office/drawing/2017/decorative" val="1"/>
              </a:ext>
            </a:extLst>
          </p:cNvPr>
          <p:cNvSpPr/>
          <p:nvPr/>
        </p:nvSpPr>
        <p:spPr>
          <a:xfrm>
            <a:off x="502920" y="2029968"/>
            <a:ext cx="3959352" cy="676656"/>
          </a:xfrm>
          <a:prstGeom prst="roundRect">
            <a:avLst>
              <a:gd name="adj" fmla="val 8108"/>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3" name="step marker">
            <a:extLst>
              <a:ext uri="{C183D7F6-B498-43B3-948B-1728B52AA6E4}">
                <adec:decorative xmlns:adec="http://schemas.microsoft.com/office/drawing/2017/decorative" val="1"/>
              </a:ext>
            </a:extLst>
          </p:cNvPr>
          <p:cNvSpPr/>
          <p:nvPr/>
        </p:nvSpPr>
        <p:spPr>
          <a:xfrm>
            <a:off x="667512" y="2203704"/>
            <a:ext cx="329184" cy="329184"/>
          </a:xfrm>
          <a:prstGeom prst="ellipse">
            <a:avLst/>
          </a:prstGeom>
          <a:solidFill>
            <a:srgbClr val="F2A65A"/>
          </a:solidFill>
          <a:ln w="12700">
            <a:solidFill>
              <a:srgbClr val="F2A65A"/>
            </a:solidFill>
            <a:prstDash val="solid"/>
          </a:ln>
        </p:spPr>
        <p:txBody>
          <a:bodyPr/>
          <a:lstStyle/>
          <a:p>
            <a:endParaRPr lang="en-SE"/>
          </a:p>
        </p:txBody>
      </p:sp>
      <p:sp>
        <p:nvSpPr>
          <p:cNvPr id="14" name="Text 12"/>
          <p:cNvSpPr/>
          <p:nvPr/>
        </p:nvSpPr>
        <p:spPr>
          <a:xfrm>
            <a:off x="667512" y="2203704"/>
            <a:ext cx="329184" cy="329184"/>
          </a:xfrm>
          <a:prstGeom prst="rect">
            <a:avLst/>
          </a:prstGeom>
          <a:noFill/>
          <a:ln/>
        </p:spPr>
        <p:txBody>
          <a:bodyPr wrap="square" lIns="0" tIns="0" rIns="0" bIns="0" rtlCol="0" anchor="ctr"/>
          <a:lstStyle/>
          <a:p>
            <a:pPr marL="0" indent="0" algn="ctr">
              <a:buNone/>
            </a:pPr>
            <a:r>
              <a:rPr lang="en-US" sz="1300" b="1" dirty="0">
                <a:solidFill>
                  <a:srgbClr val="13161A"/>
                </a:solidFill>
                <a:latin typeface="Trebuchet MS" pitchFamily="34" charset="0"/>
                <a:ea typeface="Trebuchet MS" pitchFamily="34" charset="-122"/>
                <a:cs typeface="Trebuchet MS" pitchFamily="34" charset="-120"/>
              </a:rPr>
              <a:t>3</a:t>
            </a:r>
            <a:endParaRPr lang="en-US" sz="1300" dirty="0"/>
          </a:p>
        </p:txBody>
      </p:sp>
      <p:sp>
        <p:nvSpPr>
          <p:cNvPr id="15" name="Text 13"/>
          <p:cNvSpPr/>
          <p:nvPr/>
        </p:nvSpPr>
        <p:spPr>
          <a:xfrm>
            <a:off x="1106424" y="2084832"/>
            <a:ext cx="3191256" cy="566928"/>
          </a:xfrm>
          <a:prstGeom prst="rect">
            <a:avLst/>
          </a:prstGeom>
          <a:noFill/>
          <a:ln/>
        </p:spPr>
        <p:txBody>
          <a:bodyPr wrap="square" lIns="0" tIns="0" rIns="0" bIns="0" rtlCol="0" anchor="ctr"/>
          <a:lstStyle/>
          <a:p>
            <a:pPr marL="0" indent="0">
              <a:buNone/>
            </a:pPr>
            <a:r>
              <a:rPr lang="en-US" sz="1150" dirty="0">
                <a:solidFill>
                  <a:srgbClr val="D5DAE0"/>
                </a:solidFill>
                <a:latin typeface="Calibri" pitchFamily="34" charset="0"/>
                <a:ea typeface="Calibri" pitchFamily="34" charset="-122"/>
                <a:cs typeface="Calibri" pitchFamily="34" charset="-120"/>
              </a:rPr>
              <a:t>Engine, then recorder, then gateway — started in that order</a:t>
            </a:r>
            <a:endParaRPr lang="en-US" sz="1150" dirty="0"/>
          </a:p>
        </p:txBody>
      </p:sp>
      <p:sp>
        <p:nvSpPr>
          <p:cNvPr id="16" name="card background">
            <a:extLst>
              <a:ext uri="{C183D7F6-B498-43B3-948B-1728B52AA6E4}">
                <adec:decorative xmlns:adec="http://schemas.microsoft.com/office/drawing/2017/decorative" val="1"/>
              </a:ext>
            </a:extLst>
          </p:cNvPr>
          <p:cNvSpPr/>
          <p:nvPr/>
        </p:nvSpPr>
        <p:spPr>
          <a:xfrm>
            <a:off x="4681728" y="2029968"/>
            <a:ext cx="3959352" cy="676656"/>
          </a:xfrm>
          <a:prstGeom prst="roundRect">
            <a:avLst>
              <a:gd name="adj" fmla="val 8108"/>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7" name="step marker">
            <a:extLst>
              <a:ext uri="{C183D7F6-B498-43B3-948B-1728B52AA6E4}">
                <adec:decorative xmlns:adec="http://schemas.microsoft.com/office/drawing/2017/decorative" val="1"/>
              </a:ext>
            </a:extLst>
          </p:cNvPr>
          <p:cNvSpPr/>
          <p:nvPr/>
        </p:nvSpPr>
        <p:spPr>
          <a:xfrm>
            <a:off x="4846320" y="2203704"/>
            <a:ext cx="329184" cy="329184"/>
          </a:xfrm>
          <a:prstGeom prst="ellipse">
            <a:avLst/>
          </a:prstGeom>
          <a:solidFill>
            <a:srgbClr val="E8722C"/>
          </a:solidFill>
          <a:ln w="12700">
            <a:solidFill>
              <a:srgbClr val="E8722C"/>
            </a:solidFill>
            <a:prstDash val="solid"/>
          </a:ln>
        </p:spPr>
        <p:txBody>
          <a:bodyPr/>
          <a:lstStyle/>
          <a:p>
            <a:endParaRPr lang="en-SE"/>
          </a:p>
        </p:txBody>
      </p:sp>
      <p:sp>
        <p:nvSpPr>
          <p:cNvPr id="18" name="Text 16"/>
          <p:cNvSpPr/>
          <p:nvPr/>
        </p:nvSpPr>
        <p:spPr>
          <a:xfrm>
            <a:off x="4846320" y="2203704"/>
            <a:ext cx="329184" cy="329184"/>
          </a:xfrm>
          <a:prstGeom prst="rect">
            <a:avLst/>
          </a:prstGeom>
          <a:noFill/>
          <a:ln/>
        </p:spPr>
        <p:txBody>
          <a:bodyPr wrap="square" lIns="0" tIns="0" rIns="0" bIns="0" rtlCol="0" anchor="ctr"/>
          <a:lstStyle/>
          <a:p>
            <a:pPr marL="0" indent="0" algn="ctr">
              <a:buNone/>
            </a:pPr>
            <a:r>
              <a:rPr lang="en-US" sz="1300" b="1" dirty="0">
                <a:solidFill>
                  <a:srgbClr val="13161A"/>
                </a:solidFill>
                <a:latin typeface="Trebuchet MS" pitchFamily="34" charset="0"/>
                <a:ea typeface="Trebuchet MS" pitchFamily="34" charset="-122"/>
                <a:cs typeface="Trebuchet MS" pitchFamily="34" charset="-120"/>
              </a:rPr>
              <a:t>4</a:t>
            </a:r>
            <a:endParaRPr lang="en-US" sz="1300" dirty="0"/>
          </a:p>
        </p:txBody>
      </p:sp>
      <p:sp>
        <p:nvSpPr>
          <p:cNvPr id="19" name="Text 17"/>
          <p:cNvSpPr/>
          <p:nvPr/>
        </p:nvSpPr>
        <p:spPr>
          <a:xfrm>
            <a:off x="5285232" y="2084832"/>
            <a:ext cx="3191256" cy="566928"/>
          </a:xfrm>
          <a:prstGeom prst="rect">
            <a:avLst/>
          </a:prstGeom>
          <a:noFill/>
          <a:ln/>
        </p:spPr>
        <p:txBody>
          <a:bodyPr wrap="square" lIns="0" tIns="0" rIns="0" bIns="0" rtlCol="0" anchor="ctr"/>
          <a:lstStyle/>
          <a:p>
            <a:pPr marL="0" indent="0">
              <a:buNone/>
            </a:pPr>
            <a:r>
              <a:rPr lang="en-US" sz="1150" dirty="0">
                <a:solidFill>
                  <a:srgbClr val="D5DAE0"/>
                </a:solidFill>
                <a:latin typeface="Calibri" pitchFamily="34" charset="0"/>
                <a:ea typeface="Calibri" pitchFamily="34" charset="-122"/>
                <a:cs typeface="Calibri" pitchFamily="34" charset="-120"/>
              </a:rPr>
              <a:t>The interactive documentation opens, if it is enabled</a:t>
            </a:r>
            <a:endParaRPr lang="en-US" sz="1150" dirty="0"/>
          </a:p>
        </p:txBody>
      </p:sp>
      <p:sp>
        <p:nvSpPr>
          <p:cNvPr id="20" name="card background">
            <a:extLst>
              <a:ext uri="{C183D7F6-B498-43B3-948B-1728B52AA6E4}">
                <adec:decorative xmlns:adec="http://schemas.microsoft.com/office/drawing/2017/decorative" val="1"/>
              </a:ext>
            </a:extLst>
          </p:cNvPr>
          <p:cNvSpPr/>
          <p:nvPr/>
        </p:nvSpPr>
        <p:spPr>
          <a:xfrm>
            <a:off x="502920" y="2852928"/>
            <a:ext cx="3959352" cy="676656"/>
          </a:xfrm>
          <a:prstGeom prst="roundRect">
            <a:avLst>
              <a:gd name="adj" fmla="val 8108"/>
            </a:avLst>
          </a:prstGeom>
          <a:solidFill>
            <a:srgbClr val="2E353D"/>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21" name="step marker">
            <a:extLst>
              <a:ext uri="{C183D7F6-B498-43B3-948B-1728B52AA6E4}">
                <adec:decorative xmlns:adec="http://schemas.microsoft.com/office/drawing/2017/decorative" val="1"/>
              </a:ext>
            </a:extLst>
          </p:cNvPr>
          <p:cNvSpPr/>
          <p:nvPr/>
        </p:nvSpPr>
        <p:spPr>
          <a:xfrm>
            <a:off x="667512" y="3026664"/>
            <a:ext cx="329184" cy="329184"/>
          </a:xfrm>
          <a:prstGeom prst="ellipse">
            <a:avLst/>
          </a:prstGeom>
          <a:solidFill>
            <a:srgbClr val="35A79C"/>
          </a:solidFill>
          <a:ln w="12700">
            <a:solidFill>
              <a:srgbClr val="35A79C"/>
            </a:solidFill>
            <a:prstDash val="solid"/>
          </a:ln>
        </p:spPr>
        <p:txBody>
          <a:bodyPr/>
          <a:lstStyle/>
          <a:p>
            <a:endParaRPr lang="en-SE"/>
          </a:p>
        </p:txBody>
      </p:sp>
      <p:sp>
        <p:nvSpPr>
          <p:cNvPr id="22" name="Text 20"/>
          <p:cNvSpPr/>
          <p:nvPr/>
        </p:nvSpPr>
        <p:spPr>
          <a:xfrm>
            <a:off x="667512" y="3026664"/>
            <a:ext cx="329184" cy="329184"/>
          </a:xfrm>
          <a:prstGeom prst="rect">
            <a:avLst/>
          </a:prstGeom>
          <a:noFill/>
          <a:ln/>
        </p:spPr>
        <p:txBody>
          <a:bodyPr wrap="square" lIns="0" tIns="0" rIns="0" bIns="0" rtlCol="0" anchor="ctr"/>
          <a:lstStyle/>
          <a:p>
            <a:pPr marL="0" indent="0" algn="ctr">
              <a:buNone/>
            </a:pPr>
            <a:r>
              <a:rPr lang="en-US" sz="1300" b="1" dirty="0">
                <a:solidFill>
                  <a:srgbClr val="13161A"/>
                </a:solidFill>
                <a:latin typeface="Trebuchet MS" pitchFamily="34" charset="0"/>
                <a:ea typeface="Trebuchet MS" pitchFamily="34" charset="-122"/>
                <a:cs typeface="Trebuchet MS" pitchFamily="34" charset="-120"/>
              </a:rPr>
              <a:t>5</a:t>
            </a:r>
            <a:endParaRPr lang="en-US" sz="1300" dirty="0"/>
          </a:p>
        </p:txBody>
      </p:sp>
      <p:sp>
        <p:nvSpPr>
          <p:cNvPr id="23" name="Text 21"/>
          <p:cNvSpPr/>
          <p:nvPr/>
        </p:nvSpPr>
        <p:spPr>
          <a:xfrm>
            <a:off x="1106424" y="2907792"/>
            <a:ext cx="3191256" cy="566928"/>
          </a:xfrm>
          <a:prstGeom prst="rect">
            <a:avLst/>
          </a:prstGeom>
          <a:noFill/>
          <a:ln/>
        </p:spPr>
        <p:txBody>
          <a:bodyPr wrap="square" lIns="0" tIns="0" rIns="0" bIns="0" rtlCol="0" anchor="ctr"/>
          <a:lstStyle/>
          <a:p>
            <a:pPr marL="0" indent="0">
              <a:buNone/>
            </a:pPr>
            <a:r>
              <a:rPr lang="en-US" sz="1150" dirty="0">
                <a:solidFill>
                  <a:srgbClr val="D5DAE0"/>
                </a:solidFill>
                <a:latin typeface="Calibri" pitchFamily="34" charset="0"/>
                <a:ea typeface="Calibri" pitchFamily="34" charset="-122"/>
                <a:cs typeface="Calibri" pitchFamily="34" charset="-120"/>
              </a:rPr>
              <a:t>The health endpoint answers without a key</a:t>
            </a:r>
            <a:endParaRPr lang="en-US" sz="1150" dirty="0"/>
          </a:p>
        </p:txBody>
      </p:sp>
      <p:sp>
        <p:nvSpPr>
          <p:cNvPr id="24" name="card background">
            <a:extLst>
              <a:ext uri="{C183D7F6-B498-43B3-948B-1728B52AA6E4}">
                <adec:decorative xmlns:adec="http://schemas.microsoft.com/office/drawing/2017/decorative" val="1"/>
              </a:ext>
            </a:extLst>
          </p:cNvPr>
          <p:cNvSpPr/>
          <p:nvPr/>
        </p:nvSpPr>
        <p:spPr>
          <a:xfrm>
            <a:off x="4681728" y="2852928"/>
            <a:ext cx="3959352" cy="676656"/>
          </a:xfrm>
          <a:prstGeom prst="roundRect">
            <a:avLst>
              <a:gd name="adj" fmla="val 8108"/>
            </a:avLst>
          </a:prstGeom>
          <a:solidFill>
            <a:srgbClr val="2E353D"/>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25" name="step marker">
            <a:extLst>
              <a:ext uri="{C183D7F6-B498-43B3-948B-1728B52AA6E4}">
                <adec:decorative xmlns:adec="http://schemas.microsoft.com/office/drawing/2017/decorative" val="1"/>
              </a:ext>
            </a:extLst>
          </p:cNvPr>
          <p:cNvSpPr/>
          <p:nvPr/>
        </p:nvSpPr>
        <p:spPr>
          <a:xfrm>
            <a:off x="4846320" y="3026664"/>
            <a:ext cx="329184" cy="329184"/>
          </a:xfrm>
          <a:prstGeom prst="ellipse">
            <a:avLst/>
          </a:prstGeom>
          <a:solidFill>
            <a:srgbClr val="F2A65A"/>
          </a:solidFill>
          <a:ln w="12700">
            <a:solidFill>
              <a:srgbClr val="F2A65A"/>
            </a:solidFill>
            <a:prstDash val="solid"/>
          </a:ln>
        </p:spPr>
        <p:txBody>
          <a:bodyPr/>
          <a:lstStyle/>
          <a:p>
            <a:endParaRPr lang="en-SE"/>
          </a:p>
        </p:txBody>
      </p:sp>
      <p:sp>
        <p:nvSpPr>
          <p:cNvPr id="26" name="Text 24"/>
          <p:cNvSpPr/>
          <p:nvPr/>
        </p:nvSpPr>
        <p:spPr>
          <a:xfrm>
            <a:off x="4846320" y="3026664"/>
            <a:ext cx="329184" cy="329184"/>
          </a:xfrm>
          <a:prstGeom prst="rect">
            <a:avLst/>
          </a:prstGeom>
          <a:noFill/>
          <a:ln/>
        </p:spPr>
        <p:txBody>
          <a:bodyPr wrap="square" lIns="0" tIns="0" rIns="0" bIns="0" rtlCol="0" anchor="ctr"/>
          <a:lstStyle/>
          <a:p>
            <a:pPr marL="0" indent="0" algn="ctr">
              <a:buNone/>
            </a:pPr>
            <a:r>
              <a:rPr lang="en-US" sz="1300" b="1" dirty="0">
                <a:solidFill>
                  <a:srgbClr val="13161A"/>
                </a:solidFill>
                <a:latin typeface="Trebuchet MS" pitchFamily="34" charset="0"/>
                <a:ea typeface="Trebuchet MS" pitchFamily="34" charset="-122"/>
                <a:cs typeface="Trebuchet MS" pitchFamily="34" charset="-120"/>
              </a:rPr>
              <a:t>6</a:t>
            </a:r>
            <a:endParaRPr lang="en-US" sz="1300" dirty="0"/>
          </a:p>
        </p:txBody>
      </p:sp>
      <p:sp>
        <p:nvSpPr>
          <p:cNvPr id="27" name="Text 25"/>
          <p:cNvSpPr/>
          <p:nvPr/>
        </p:nvSpPr>
        <p:spPr>
          <a:xfrm>
            <a:off x="5285232" y="2907792"/>
            <a:ext cx="3191256" cy="566928"/>
          </a:xfrm>
          <a:prstGeom prst="rect">
            <a:avLst/>
          </a:prstGeom>
          <a:noFill/>
          <a:ln/>
        </p:spPr>
        <p:txBody>
          <a:bodyPr wrap="square" lIns="0" tIns="0" rIns="0" bIns="0" rtlCol="0" anchor="ctr"/>
          <a:lstStyle/>
          <a:p>
            <a:pPr marL="0" indent="0">
              <a:buNone/>
            </a:pPr>
            <a:r>
              <a:rPr lang="en-US" sz="1150" dirty="0">
                <a:solidFill>
                  <a:srgbClr val="D5DAE0"/>
                </a:solidFill>
                <a:latin typeface="Calibri" pitchFamily="34" charset="0"/>
                <a:ea typeface="Calibri" pitchFamily="34" charset="-122"/>
                <a:cs typeface="Calibri" pitchFamily="34" charset="-120"/>
              </a:rPr>
              <a:t>An authenticated status call succeeds with your key</a:t>
            </a:r>
            <a:endParaRPr lang="en-US" sz="1150" dirty="0"/>
          </a:p>
        </p:txBody>
      </p:sp>
      <p:sp>
        <p:nvSpPr>
          <p:cNvPr id="28" name="card background">
            <a:extLst>
              <a:ext uri="{C183D7F6-B498-43B3-948B-1728B52AA6E4}">
                <adec:decorative xmlns:adec="http://schemas.microsoft.com/office/drawing/2017/decorative" val="1"/>
              </a:ext>
            </a:extLst>
          </p:cNvPr>
          <p:cNvSpPr/>
          <p:nvPr/>
        </p:nvSpPr>
        <p:spPr>
          <a:xfrm>
            <a:off x="502920" y="3675888"/>
            <a:ext cx="3959352" cy="676656"/>
          </a:xfrm>
          <a:prstGeom prst="roundRect">
            <a:avLst>
              <a:gd name="adj" fmla="val 8108"/>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29" name="step marker">
            <a:extLst>
              <a:ext uri="{C183D7F6-B498-43B3-948B-1728B52AA6E4}">
                <adec:decorative xmlns:adec="http://schemas.microsoft.com/office/drawing/2017/decorative" val="1"/>
              </a:ext>
            </a:extLst>
          </p:cNvPr>
          <p:cNvSpPr/>
          <p:nvPr/>
        </p:nvSpPr>
        <p:spPr>
          <a:xfrm>
            <a:off x="667512" y="3849624"/>
            <a:ext cx="329184" cy="329184"/>
          </a:xfrm>
          <a:prstGeom prst="ellipse">
            <a:avLst/>
          </a:prstGeom>
          <a:solidFill>
            <a:srgbClr val="E8722C"/>
          </a:solidFill>
          <a:ln w="12700">
            <a:solidFill>
              <a:srgbClr val="E8722C"/>
            </a:solidFill>
            <a:prstDash val="solid"/>
          </a:ln>
        </p:spPr>
        <p:txBody>
          <a:bodyPr/>
          <a:lstStyle/>
          <a:p>
            <a:endParaRPr lang="en-SE"/>
          </a:p>
        </p:txBody>
      </p:sp>
      <p:sp>
        <p:nvSpPr>
          <p:cNvPr id="30" name="Text 28"/>
          <p:cNvSpPr/>
          <p:nvPr/>
        </p:nvSpPr>
        <p:spPr>
          <a:xfrm>
            <a:off x="667512" y="3849624"/>
            <a:ext cx="329184" cy="329184"/>
          </a:xfrm>
          <a:prstGeom prst="rect">
            <a:avLst/>
          </a:prstGeom>
          <a:noFill/>
          <a:ln/>
        </p:spPr>
        <p:txBody>
          <a:bodyPr wrap="square" lIns="0" tIns="0" rIns="0" bIns="0" rtlCol="0" anchor="ctr"/>
          <a:lstStyle/>
          <a:p>
            <a:pPr marL="0" indent="0" algn="ctr">
              <a:buNone/>
            </a:pPr>
            <a:r>
              <a:rPr lang="en-US" sz="1300" b="1" dirty="0">
                <a:solidFill>
                  <a:srgbClr val="13161A"/>
                </a:solidFill>
                <a:latin typeface="Trebuchet MS" pitchFamily="34" charset="0"/>
                <a:ea typeface="Trebuchet MS" pitchFamily="34" charset="-122"/>
                <a:cs typeface="Trebuchet MS" pitchFamily="34" charset="-120"/>
              </a:rPr>
              <a:t>7</a:t>
            </a:r>
            <a:endParaRPr lang="en-US" sz="1300" dirty="0"/>
          </a:p>
        </p:txBody>
      </p:sp>
      <p:sp>
        <p:nvSpPr>
          <p:cNvPr id="31" name="Text 29"/>
          <p:cNvSpPr/>
          <p:nvPr/>
        </p:nvSpPr>
        <p:spPr>
          <a:xfrm>
            <a:off x="1106424" y="3730752"/>
            <a:ext cx="3191256" cy="566928"/>
          </a:xfrm>
          <a:prstGeom prst="rect">
            <a:avLst/>
          </a:prstGeom>
          <a:noFill/>
          <a:ln/>
        </p:spPr>
        <p:txBody>
          <a:bodyPr wrap="square" lIns="0" tIns="0" rIns="0" bIns="0" rtlCol="0" anchor="ctr"/>
          <a:lstStyle/>
          <a:p>
            <a:pPr marL="0" indent="0">
              <a:buNone/>
            </a:pPr>
            <a:r>
              <a:rPr lang="en-US" sz="1150" dirty="0">
                <a:solidFill>
                  <a:srgbClr val="D5DAE0"/>
                </a:solidFill>
                <a:latin typeface="Calibri" pitchFamily="34" charset="0"/>
                <a:ea typeface="Calibri" pitchFamily="34" charset="-122"/>
                <a:cs typeface="Calibri" pitchFamily="34" charset="-120"/>
              </a:rPr>
              <a:t>The events stream is connected before the first order is sent</a:t>
            </a:r>
            <a:endParaRPr lang="en-US" sz="1150" dirty="0"/>
          </a:p>
        </p:txBody>
      </p:sp>
      <p:sp>
        <p:nvSpPr>
          <p:cNvPr id="32" name="card background">
            <a:extLst>
              <a:ext uri="{C183D7F6-B498-43B3-948B-1728B52AA6E4}">
                <adec:decorative xmlns:adec="http://schemas.microsoft.com/office/drawing/2017/decorative" val="1"/>
              </a:ext>
            </a:extLst>
          </p:cNvPr>
          <p:cNvSpPr/>
          <p:nvPr/>
        </p:nvSpPr>
        <p:spPr>
          <a:xfrm>
            <a:off x="4681728" y="3675888"/>
            <a:ext cx="3959352" cy="676656"/>
          </a:xfrm>
          <a:prstGeom prst="roundRect">
            <a:avLst>
              <a:gd name="adj" fmla="val 8108"/>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33" name="step marker">
            <a:extLst>
              <a:ext uri="{C183D7F6-B498-43B3-948B-1728B52AA6E4}">
                <adec:decorative xmlns:adec="http://schemas.microsoft.com/office/drawing/2017/decorative" val="1"/>
              </a:ext>
            </a:extLst>
          </p:cNvPr>
          <p:cNvSpPr/>
          <p:nvPr/>
        </p:nvSpPr>
        <p:spPr>
          <a:xfrm>
            <a:off x="4846320" y="3849624"/>
            <a:ext cx="329184" cy="329184"/>
          </a:xfrm>
          <a:prstGeom prst="ellipse">
            <a:avLst/>
          </a:prstGeom>
          <a:solidFill>
            <a:srgbClr val="35A79C"/>
          </a:solidFill>
          <a:ln w="12700">
            <a:solidFill>
              <a:srgbClr val="35A79C"/>
            </a:solidFill>
            <a:prstDash val="solid"/>
          </a:ln>
        </p:spPr>
        <p:txBody>
          <a:bodyPr/>
          <a:lstStyle/>
          <a:p>
            <a:endParaRPr lang="en-SE"/>
          </a:p>
        </p:txBody>
      </p:sp>
      <p:sp>
        <p:nvSpPr>
          <p:cNvPr id="34" name="Text 32"/>
          <p:cNvSpPr/>
          <p:nvPr/>
        </p:nvSpPr>
        <p:spPr>
          <a:xfrm>
            <a:off x="4846320" y="3849624"/>
            <a:ext cx="329184" cy="329184"/>
          </a:xfrm>
          <a:prstGeom prst="rect">
            <a:avLst/>
          </a:prstGeom>
          <a:noFill/>
          <a:ln/>
        </p:spPr>
        <p:txBody>
          <a:bodyPr wrap="square" lIns="0" tIns="0" rIns="0" bIns="0" rtlCol="0" anchor="ctr"/>
          <a:lstStyle/>
          <a:p>
            <a:pPr marL="0" indent="0" algn="ctr">
              <a:buNone/>
            </a:pPr>
            <a:r>
              <a:rPr lang="en-US" sz="1300" b="1" dirty="0">
                <a:solidFill>
                  <a:srgbClr val="13161A"/>
                </a:solidFill>
                <a:latin typeface="Trebuchet MS" pitchFamily="34" charset="0"/>
                <a:ea typeface="Trebuchet MS" pitchFamily="34" charset="-122"/>
                <a:cs typeface="Trebuchet MS" pitchFamily="34" charset="-120"/>
              </a:rPr>
              <a:t>8</a:t>
            </a:r>
            <a:endParaRPr lang="en-US" sz="1300" dirty="0"/>
          </a:p>
        </p:txBody>
      </p:sp>
      <p:sp>
        <p:nvSpPr>
          <p:cNvPr id="35" name="Text 33"/>
          <p:cNvSpPr/>
          <p:nvPr/>
        </p:nvSpPr>
        <p:spPr>
          <a:xfrm>
            <a:off x="5285232" y="3730752"/>
            <a:ext cx="3191256" cy="566928"/>
          </a:xfrm>
          <a:prstGeom prst="rect">
            <a:avLst/>
          </a:prstGeom>
          <a:noFill/>
          <a:ln/>
        </p:spPr>
        <p:txBody>
          <a:bodyPr wrap="square" lIns="0" tIns="0" rIns="0" bIns="0" rtlCol="0" anchor="ctr"/>
          <a:lstStyle/>
          <a:p>
            <a:pPr marL="0" indent="0">
              <a:buNone/>
            </a:pPr>
            <a:r>
              <a:rPr lang="en-US" sz="1150" dirty="0">
                <a:solidFill>
                  <a:srgbClr val="D5DAE0"/>
                </a:solidFill>
                <a:latin typeface="Calibri" pitchFamily="34" charset="0"/>
                <a:ea typeface="Calibri" pitchFamily="34" charset="-122"/>
                <a:cs typeface="Calibri" pitchFamily="34" charset="-120"/>
              </a:rPr>
              <a:t>History is only used while the recorder is running</a:t>
            </a:r>
            <a:endParaRPr lang="en-US" sz="1150" dirty="0"/>
          </a:p>
        </p:txBody>
      </p:sp>
      <p:sp>
        <p:nvSpPr>
          <p:cNvPr id="36" name="Text 34"/>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Client recipes</a:t>
            </a:r>
            <a:endParaRPr lang="en-US" sz="900" dirty="0"/>
          </a:p>
        </p:txBody>
      </p:sp>
      <p:sp>
        <p:nvSpPr>
          <p:cNvPr id="37" name="Text 35"/>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62</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side band">
            <a:extLst>
              <a:ext uri="{C183D7F6-B498-43B3-948B-1728B52AA6E4}">
                <adec:decorative xmlns:adec="http://schemas.microsoft.com/office/drawing/2017/decorative" val="1"/>
              </a:ext>
            </a:extLst>
          </p:cNvPr>
          <p:cNvSpPr/>
          <p:nvPr/>
        </p:nvSpPr>
        <p:spPr>
          <a:xfrm>
            <a:off x="0" y="0"/>
            <a:ext cx="384048" cy="5143500"/>
          </a:xfrm>
          <a:prstGeom prst="rect">
            <a:avLst/>
          </a:prstGeom>
          <a:solidFill>
            <a:srgbClr val="E8722C"/>
          </a:solidFill>
          <a:ln w="12700">
            <a:solidFill>
              <a:srgbClr val="E8722C"/>
            </a:solidFill>
            <a:prstDash val="solid"/>
          </a:ln>
        </p:spPr>
        <p:txBody>
          <a:bodyPr/>
          <a:lstStyle/>
          <a:p>
            <a:endParaRPr lang="en-SE"/>
          </a:p>
        </p:txBody>
      </p:sp>
      <p:sp>
        <p:nvSpPr>
          <p:cNvPr id="3" name="Text 1"/>
          <p:cNvSpPr/>
          <p:nvPr/>
        </p:nvSpPr>
        <p:spPr>
          <a:xfrm>
            <a:off x="960120" y="1371600"/>
            <a:ext cx="2743200" cy="822960"/>
          </a:xfrm>
          <a:prstGeom prst="rect">
            <a:avLst/>
          </a:prstGeom>
          <a:noFill/>
          <a:ln/>
        </p:spPr>
        <p:txBody>
          <a:bodyPr wrap="square" lIns="0" tIns="0" rIns="0" bIns="0" rtlCol="0" anchor="ctr"/>
          <a:lstStyle/>
          <a:p>
            <a:pPr marL="0" indent="0">
              <a:buNone/>
            </a:pPr>
            <a:r>
              <a:rPr lang="en-US" sz="6200" b="1" dirty="0">
                <a:solidFill>
                  <a:srgbClr val="2E353D"/>
                </a:solidFill>
                <a:latin typeface="Trebuchet MS" pitchFamily="34" charset="0"/>
                <a:ea typeface="Trebuchet MS" pitchFamily="34" charset="-122"/>
                <a:cs typeface="Trebuchet MS" pitchFamily="34" charset="-120"/>
              </a:rPr>
              <a:t>09</a:t>
            </a:r>
            <a:endParaRPr lang="en-US" sz="6200" dirty="0"/>
          </a:p>
        </p:txBody>
      </p:sp>
      <p:sp>
        <p:nvSpPr>
          <p:cNvPr id="4" name="Text 0"/>
          <p:cNvSpPr>
            <a:spLocks noGrp="1"/>
          </p:cNvSpPr>
          <p:nvPr>
            <p:ph type="title" idx="100" hasCustomPrompt="1"/>
          </p:nvPr>
        </p:nvSpPr>
        <p:spPr>
          <a:xfrm>
            <a:off x="1005840" y="2148840"/>
            <a:ext cx="7132320" cy="914400"/>
          </a:xfrm>
          <a:prstGeom prst="rect">
            <a:avLst/>
          </a:prstGeom>
          <a:noFill/>
          <a:ln/>
        </p:spPr>
        <p:txBody>
          <a:bodyPr wrap="square" lIns="0" tIns="0" rIns="0" bIns="0" rtlCol="0"/>
          <a:lstStyle/>
          <a:p>
            <a:pPr marL="0" indent="0" algn="l">
              <a:buNone/>
            </a:pPr>
            <a:r>
              <a:rPr lang="en-US" sz="3600" b="1" dirty="0">
                <a:solidFill>
                  <a:srgbClr val="F3F5F7"/>
                </a:solidFill>
                <a:latin typeface="Trebuchet MS" pitchFamily="34" charset="0"/>
                <a:ea typeface="Trebuchet MS" pitchFamily="34" charset="-122"/>
                <a:cs typeface="Trebuchet MS" pitchFamily="34" charset="-120"/>
              </a:rPr>
              <a:t>Finding out more</a:t>
            </a:r>
            <a:endParaRPr lang="en-US" sz="3600" dirty="0"/>
          </a:p>
        </p:txBody>
      </p:sp>
      <p:sp>
        <p:nvSpPr>
          <p:cNvPr id="5" name="Text 3"/>
          <p:cNvSpPr/>
          <p:nvPr/>
        </p:nvSpPr>
        <p:spPr>
          <a:xfrm>
            <a:off x="1024128" y="3108960"/>
            <a:ext cx="6949440" cy="731520"/>
          </a:xfrm>
          <a:prstGeom prst="rect">
            <a:avLst/>
          </a:prstGeom>
          <a:noFill/>
          <a:ln/>
        </p:spPr>
        <p:txBody>
          <a:bodyPr wrap="square" lIns="0" tIns="0" rIns="0" bIns="0" rtlCol="0" anchor="ctr"/>
          <a:lstStyle/>
          <a:p>
            <a:pPr marL="0" indent="0">
              <a:buNone/>
            </a:pPr>
            <a:r>
              <a:rPr lang="en-US" sz="1400" dirty="0">
                <a:solidFill>
                  <a:srgbClr val="97A1AC"/>
                </a:solidFill>
                <a:latin typeface="Calibri" pitchFamily="34" charset="0"/>
                <a:ea typeface="Calibri" pitchFamily="34" charset="-122"/>
                <a:cs typeface="Calibri" pitchFamily="34" charset="-120"/>
              </a:rPr>
              <a:t>Where the detail lives when this deck runs out</a:t>
            </a:r>
            <a:endParaRPr lang="en-US" sz="1400" dirty="0"/>
          </a:p>
        </p:txBody>
      </p:sp>
      <p:sp>
        <p:nvSpPr>
          <p:cNvPr id="6" name="Text 4"/>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Finding out more</a:t>
            </a:r>
            <a:endParaRPr lang="en-US" sz="900" dirty="0"/>
          </a:p>
        </p:txBody>
      </p:sp>
      <p:sp>
        <p:nvSpPr>
          <p:cNvPr id="7" name="Text 5"/>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63</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8138160" cy="548640"/>
          </a:xfrm>
          <a:prstGeom prst="rect">
            <a:avLst/>
          </a:prstGeom>
          <a:noFill/>
          <a:ln/>
        </p:spPr>
        <p:txBody>
          <a:bodyPr wrap="square" lIns="0" tIns="0" rIns="0" bIns="0" rtlCol="0" anchor="ctr"/>
          <a:lstStyle/>
          <a:p>
            <a:pPr marL="0" indent="0">
              <a:buNone/>
            </a:pPr>
            <a:r>
              <a:rPr lang="en-US" sz="2700" b="1" dirty="0">
                <a:solidFill>
                  <a:srgbClr val="F3F5F7"/>
                </a:solidFill>
                <a:latin typeface="Trebuchet MS" pitchFamily="34" charset="0"/>
                <a:ea typeface="Trebuchet MS" pitchFamily="34" charset="-122"/>
                <a:cs typeface="Trebuchet MS" pitchFamily="34" charset="-120"/>
              </a:rPr>
              <a:t>Four places to look</a:t>
            </a:r>
            <a:endParaRPr lang="en-US" sz="2700" dirty="0"/>
          </a:p>
        </p:txBody>
      </p:sp>
      <p:sp>
        <p:nvSpPr>
          <p:cNvPr id="3" name="Text 1"/>
          <p:cNvSpPr/>
          <p:nvPr/>
        </p:nvSpPr>
        <p:spPr>
          <a:xfrm>
            <a:off x="502920" y="841248"/>
            <a:ext cx="8138160" cy="237744"/>
          </a:xfrm>
          <a:prstGeom prst="rect">
            <a:avLst/>
          </a:prstGeom>
          <a:noFill/>
          <a:ln/>
        </p:spPr>
        <p:txBody>
          <a:bodyPr wrap="square" lIns="0" tIns="0" rIns="0" bIns="0" rtlCol="0" anchor="ctr"/>
          <a:lstStyle/>
          <a:p>
            <a:pPr marL="0" indent="0">
              <a:buNone/>
            </a:pPr>
            <a:r>
              <a:rPr lang="en-US" sz="1100" b="1" kern="0" spc="200" dirty="0">
                <a:solidFill>
                  <a:srgbClr val="E8722C"/>
                </a:solidFill>
                <a:latin typeface="Calibri" pitchFamily="34" charset="0"/>
                <a:ea typeface="Calibri" pitchFamily="34" charset="-122"/>
                <a:cs typeface="Calibri" pitchFamily="34" charset="-120"/>
              </a:rPr>
              <a:t>DOCUMENTATION</a:t>
            </a:r>
            <a:endParaRPr lang="en-US" sz="1100" dirty="0"/>
          </a:p>
        </p:txBody>
      </p:sp>
      <p:sp>
        <p:nvSpPr>
          <p:cNvPr id="4" name="card background">
            <a:extLst>
              <a:ext uri="{C183D7F6-B498-43B3-948B-1728B52AA6E4}">
                <adec:decorative xmlns:adec="http://schemas.microsoft.com/office/drawing/2017/decorative" val="1"/>
              </a:ext>
            </a:extLst>
          </p:cNvPr>
          <p:cNvSpPr/>
          <p:nvPr/>
        </p:nvSpPr>
        <p:spPr>
          <a:xfrm>
            <a:off x="502920" y="1261872"/>
            <a:ext cx="3959352" cy="1371600"/>
          </a:xfrm>
          <a:prstGeom prst="roundRect">
            <a:avLst>
              <a:gd name="adj" fmla="val 400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5" name="Text 3">
            <a:extLst>
              <a:ext uri="{C183D7F6-B498-43B3-948B-1728B52AA6E4}">
                <adec:decorative xmlns:adec="http://schemas.microsoft.com/office/drawing/2017/decorative" val="1"/>
              </a:ext>
            </a:extLst>
          </p:cNvPr>
          <p:cNvSpPr/>
          <p:nvPr/>
        </p:nvSpPr>
        <p:spPr>
          <a:xfrm>
            <a:off x="722376" y="1444752"/>
            <a:ext cx="3557016" cy="329184"/>
          </a:xfrm>
          <a:prstGeom prst="rect">
            <a:avLst/>
          </a:prstGeom>
          <a:noFill/>
          <a:ln/>
        </p:spPr>
        <p:txBody>
          <a:bodyPr wrap="square" lIns="0" tIns="0" rIns="0" bIns="0" rtlCol="0" anchor="ctr"/>
          <a:lstStyle/>
          <a:p>
            <a:pPr marL="0" indent="0">
              <a:buNone/>
            </a:pPr>
            <a:r>
              <a:rPr lang="en-US" sz="1400" b="1" dirty="0">
                <a:solidFill>
                  <a:srgbClr val="E8722C"/>
                </a:solidFill>
                <a:latin typeface="Trebuchet MS" pitchFamily="34" charset="0"/>
                <a:ea typeface="Trebuchet MS" pitchFamily="34" charset="-122"/>
                <a:cs typeface="Trebuchet MS" pitchFamily="34" charset="-120"/>
              </a:rPr>
              <a:t>The interactive docs</a:t>
            </a:r>
            <a:endParaRPr lang="en-US" sz="1400" dirty="0"/>
          </a:p>
        </p:txBody>
      </p:sp>
      <p:sp>
        <p:nvSpPr>
          <p:cNvPr id="6" name="Text 4"/>
          <p:cNvSpPr/>
          <p:nvPr/>
        </p:nvSpPr>
        <p:spPr>
          <a:xfrm>
            <a:off x="722376" y="1810512"/>
            <a:ext cx="3520440" cy="713232"/>
          </a:xfrm>
          <a:prstGeom prst="rect">
            <a:avLst/>
          </a:prstGeom>
          <a:noFill/>
          <a:ln/>
        </p:spPr>
        <p:txBody>
          <a:bodyPr wrap="square" lIns="0" tIns="0" rIns="0" bIns="0" rtlCol="0" anchor="t"/>
          <a:lstStyle/>
          <a:p>
            <a:pPr marL="0" indent="0">
              <a:buNone/>
            </a:pPr>
            <a:r>
              <a:rPr lang="en-US" sz="1100" dirty="0">
                <a:solidFill>
                  <a:srgbClr val="D5DAE0"/>
                </a:solidFill>
                <a:latin typeface="Calibri" pitchFamily="34" charset="0"/>
                <a:ea typeface="Calibri" pitchFamily="34" charset="-122"/>
                <a:cs typeface="Calibri" pitchFamily="34" charset="-120"/>
              </a:rPr>
              <a:t>The exact contract for the running build: every endpoint, every field, every permitted value — and a button to try it.</a:t>
            </a:r>
            <a:endParaRPr lang="en-US" sz="1100" dirty="0"/>
          </a:p>
        </p:txBody>
      </p:sp>
      <p:sp>
        <p:nvSpPr>
          <p:cNvPr id="7" name="card background">
            <a:extLst>
              <a:ext uri="{C183D7F6-B498-43B3-948B-1728B52AA6E4}">
                <adec:decorative xmlns:adec="http://schemas.microsoft.com/office/drawing/2017/decorative" val="1"/>
              </a:ext>
            </a:extLst>
          </p:cNvPr>
          <p:cNvSpPr/>
          <p:nvPr/>
        </p:nvSpPr>
        <p:spPr>
          <a:xfrm>
            <a:off x="4681728" y="1261872"/>
            <a:ext cx="3959352" cy="1371600"/>
          </a:xfrm>
          <a:prstGeom prst="roundRect">
            <a:avLst>
              <a:gd name="adj" fmla="val 400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8" name="Text 6"/>
          <p:cNvSpPr/>
          <p:nvPr/>
        </p:nvSpPr>
        <p:spPr>
          <a:xfrm>
            <a:off x="4901184" y="1444752"/>
            <a:ext cx="3557016" cy="329184"/>
          </a:xfrm>
          <a:prstGeom prst="rect">
            <a:avLst/>
          </a:prstGeom>
          <a:noFill/>
          <a:ln/>
        </p:spPr>
        <p:txBody>
          <a:bodyPr wrap="square" lIns="0" tIns="0" rIns="0" bIns="0" rtlCol="0" anchor="ctr"/>
          <a:lstStyle/>
          <a:p>
            <a:pPr marL="0" indent="0">
              <a:buNone/>
            </a:pPr>
            <a:r>
              <a:rPr lang="en-US" sz="1400" b="1" dirty="0">
                <a:solidFill>
                  <a:srgbClr val="35A79C"/>
                </a:solidFill>
                <a:latin typeface="Trebuchet MS" pitchFamily="34" charset="0"/>
                <a:ea typeface="Trebuchet MS" pitchFamily="34" charset="-122"/>
                <a:cs typeface="Trebuchet MS" pitchFamily="34" charset="-120"/>
              </a:rPr>
              <a:t>The written guide</a:t>
            </a:r>
            <a:endParaRPr lang="en-US" sz="1400" dirty="0"/>
          </a:p>
        </p:txBody>
      </p:sp>
      <p:sp>
        <p:nvSpPr>
          <p:cNvPr id="9" name="Text 7">
            <a:extLst>
              <a:ext uri="{C183D7F6-B498-43B3-948B-1728B52AA6E4}">
                <adec:decorative xmlns:adec="http://schemas.microsoft.com/office/drawing/2017/decorative" val="1"/>
              </a:ext>
            </a:extLst>
          </p:cNvPr>
          <p:cNvSpPr/>
          <p:nvPr/>
        </p:nvSpPr>
        <p:spPr>
          <a:xfrm>
            <a:off x="4901184" y="1810512"/>
            <a:ext cx="3520440" cy="713232"/>
          </a:xfrm>
          <a:prstGeom prst="rect">
            <a:avLst/>
          </a:prstGeom>
          <a:noFill/>
          <a:ln/>
        </p:spPr>
        <p:txBody>
          <a:bodyPr wrap="square" lIns="0" tIns="0" rIns="0" bIns="0" rtlCol="0" anchor="t"/>
          <a:lstStyle/>
          <a:p>
            <a:pPr marL="0" indent="0">
              <a:buNone/>
            </a:pPr>
            <a:r>
              <a:rPr lang="en-US" sz="1100" dirty="0">
                <a:solidFill>
                  <a:srgbClr val="D5DAE0"/>
                </a:solidFill>
                <a:latin typeface="Calibri" pitchFamily="34" charset="0"/>
                <a:ea typeface="Calibri" pitchFamily="34" charset="-122"/>
                <a:cs typeface="Calibri" pitchFamily="34" charset="-120"/>
              </a:rPr>
              <a:t>Configuration, start-up, authentication, endpoint reference, troubleshooting and design notes.</a:t>
            </a:r>
            <a:endParaRPr lang="en-US" sz="1100" dirty="0"/>
          </a:p>
        </p:txBody>
      </p:sp>
      <p:sp>
        <p:nvSpPr>
          <p:cNvPr id="10" name="card background">
            <a:extLst>
              <a:ext uri="{C183D7F6-B498-43B3-948B-1728B52AA6E4}">
                <adec:decorative xmlns:adec="http://schemas.microsoft.com/office/drawing/2017/decorative" val="1"/>
              </a:ext>
            </a:extLst>
          </p:cNvPr>
          <p:cNvSpPr/>
          <p:nvPr/>
        </p:nvSpPr>
        <p:spPr>
          <a:xfrm>
            <a:off x="502920" y="2834640"/>
            <a:ext cx="3959352" cy="1371600"/>
          </a:xfrm>
          <a:prstGeom prst="roundRect">
            <a:avLst>
              <a:gd name="adj" fmla="val 400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1" name="step marker">
            <a:extLst>
              <a:ext uri="{C183D7F6-B498-43B3-948B-1728B52AA6E4}">
                <adec:decorative xmlns:adec="http://schemas.microsoft.com/office/drawing/2017/decorative" val="1"/>
              </a:ext>
            </a:extLst>
          </p:cNvPr>
          <p:cNvSpPr/>
          <p:nvPr/>
        </p:nvSpPr>
        <p:spPr>
          <a:xfrm>
            <a:off x="704088" y="3017520"/>
            <a:ext cx="310896" cy="310896"/>
          </a:xfrm>
          <a:prstGeom prst="ellipse">
            <a:avLst/>
          </a:prstGeom>
          <a:solidFill>
            <a:srgbClr val="F2A65A"/>
          </a:solidFill>
          <a:ln w="12700">
            <a:solidFill>
              <a:srgbClr val="F2A65A"/>
            </a:solidFill>
            <a:prstDash val="solid"/>
          </a:ln>
        </p:spPr>
        <p:txBody>
          <a:bodyPr/>
          <a:lstStyle/>
          <a:p>
            <a:endParaRPr lang="en-SE"/>
          </a:p>
        </p:txBody>
      </p:sp>
      <p:sp>
        <p:nvSpPr>
          <p:cNvPr id="12" name="Text 10"/>
          <p:cNvSpPr/>
          <p:nvPr/>
        </p:nvSpPr>
        <p:spPr>
          <a:xfrm>
            <a:off x="704088" y="3017520"/>
            <a:ext cx="310896" cy="310896"/>
          </a:xfrm>
          <a:prstGeom prst="rect">
            <a:avLst/>
          </a:prstGeom>
          <a:noFill/>
          <a:ln/>
        </p:spPr>
        <p:txBody>
          <a:bodyPr wrap="square" lIns="0" tIns="0" rIns="0" bIns="0" rtlCol="0" anchor="ctr"/>
          <a:lstStyle/>
          <a:p>
            <a:pPr marL="0" indent="0" algn="ctr">
              <a:buNone/>
            </a:pPr>
            <a:endParaRPr lang="en-US" sz="1300" dirty="0"/>
          </a:p>
        </p:txBody>
      </p:sp>
      <p:sp>
        <p:nvSpPr>
          <p:cNvPr id="13" name="Text 11"/>
          <p:cNvSpPr/>
          <p:nvPr/>
        </p:nvSpPr>
        <p:spPr>
          <a:xfrm>
            <a:off x="1106424" y="3017520"/>
            <a:ext cx="3172968" cy="329184"/>
          </a:xfrm>
          <a:prstGeom prst="rect">
            <a:avLst/>
          </a:prstGeom>
          <a:noFill/>
          <a:ln/>
        </p:spPr>
        <p:txBody>
          <a:bodyPr wrap="square" lIns="0" tIns="0" rIns="0" bIns="0" rtlCol="0" anchor="ctr"/>
          <a:lstStyle/>
          <a:p>
            <a:pPr marL="0" indent="0">
              <a:buNone/>
            </a:pPr>
            <a:r>
              <a:rPr lang="en-US" sz="1400" b="1" dirty="0">
                <a:solidFill>
                  <a:srgbClr val="F2A65A"/>
                </a:solidFill>
                <a:latin typeface="Trebuchet MS" pitchFamily="34" charset="0"/>
                <a:ea typeface="Trebuchet MS" pitchFamily="34" charset="-122"/>
                <a:cs typeface="Trebuchet MS" pitchFamily="34" charset="-120"/>
              </a:rPr>
              <a:t>The example folders</a:t>
            </a:r>
            <a:endParaRPr lang="en-US" sz="1400" dirty="0"/>
          </a:p>
        </p:txBody>
      </p:sp>
      <p:sp>
        <p:nvSpPr>
          <p:cNvPr id="14" name="Text 12">
            <a:extLst>
              <a:ext uri="{C183D7F6-B498-43B3-948B-1728B52AA6E4}">
                <adec:decorative xmlns:adec="http://schemas.microsoft.com/office/drawing/2017/decorative" val="1"/>
              </a:ext>
            </a:extLst>
          </p:cNvPr>
          <p:cNvSpPr/>
          <p:nvPr/>
        </p:nvSpPr>
        <p:spPr>
          <a:xfrm>
            <a:off x="722376" y="3383280"/>
            <a:ext cx="3520440" cy="713232"/>
          </a:xfrm>
          <a:prstGeom prst="rect">
            <a:avLst/>
          </a:prstGeom>
          <a:noFill/>
          <a:ln/>
        </p:spPr>
        <p:txBody>
          <a:bodyPr wrap="square" lIns="0" tIns="0" rIns="0" bIns="0" rtlCol="0" anchor="t"/>
          <a:lstStyle/>
          <a:p>
            <a:pPr marL="0" indent="0">
              <a:buNone/>
            </a:pPr>
            <a:r>
              <a:rPr lang="en-US" sz="1100" dirty="0">
                <a:solidFill>
                  <a:srgbClr val="D5DAE0"/>
                </a:solidFill>
                <a:latin typeface="Calibri" pitchFamily="34" charset="0"/>
                <a:ea typeface="Calibri" pitchFamily="34" charset="-122"/>
                <a:cs typeface="Calibri" pitchFamily="34" charset="-120"/>
              </a:rPr>
              <a:t>Runnable Python and C clients you can copy as the starting point for your own.</a:t>
            </a:r>
            <a:endParaRPr lang="en-US" sz="1100" dirty="0"/>
          </a:p>
        </p:txBody>
      </p:sp>
      <p:sp>
        <p:nvSpPr>
          <p:cNvPr id="15" name="card background">
            <a:extLst>
              <a:ext uri="{C183D7F6-B498-43B3-948B-1728B52AA6E4}">
                <adec:decorative xmlns:adec="http://schemas.microsoft.com/office/drawing/2017/decorative" val="1"/>
              </a:ext>
            </a:extLst>
          </p:cNvPr>
          <p:cNvSpPr/>
          <p:nvPr/>
        </p:nvSpPr>
        <p:spPr>
          <a:xfrm>
            <a:off x="4681728" y="2834640"/>
            <a:ext cx="3959352" cy="1371600"/>
          </a:xfrm>
          <a:prstGeom prst="roundRect">
            <a:avLst>
              <a:gd name="adj" fmla="val 400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6" name="step marker">
            <a:extLst>
              <a:ext uri="{C183D7F6-B498-43B3-948B-1728B52AA6E4}">
                <adec:decorative xmlns:adec="http://schemas.microsoft.com/office/drawing/2017/decorative" val="1"/>
              </a:ext>
            </a:extLst>
          </p:cNvPr>
          <p:cNvSpPr/>
          <p:nvPr/>
        </p:nvSpPr>
        <p:spPr>
          <a:xfrm>
            <a:off x="4882896" y="3017520"/>
            <a:ext cx="310896" cy="310896"/>
          </a:xfrm>
          <a:prstGeom prst="ellipse">
            <a:avLst/>
          </a:prstGeom>
          <a:solidFill>
            <a:srgbClr val="8B7BD8"/>
          </a:solidFill>
          <a:ln w="12700">
            <a:solidFill>
              <a:srgbClr val="8B7BD8"/>
            </a:solidFill>
            <a:prstDash val="solid"/>
          </a:ln>
        </p:spPr>
        <p:txBody>
          <a:bodyPr/>
          <a:lstStyle/>
          <a:p>
            <a:endParaRPr lang="en-SE"/>
          </a:p>
        </p:txBody>
      </p:sp>
      <p:sp>
        <p:nvSpPr>
          <p:cNvPr id="17" name="Text 15"/>
          <p:cNvSpPr/>
          <p:nvPr/>
        </p:nvSpPr>
        <p:spPr>
          <a:xfrm>
            <a:off x="4882896" y="3017520"/>
            <a:ext cx="310896" cy="310896"/>
          </a:xfrm>
          <a:prstGeom prst="rect">
            <a:avLst/>
          </a:prstGeom>
          <a:noFill/>
          <a:ln/>
        </p:spPr>
        <p:txBody>
          <a:bodyPr wrap="square" lIns="0" tIns="0" rIns="0" bIns="0" rtlCol="0" anchor="ctr"/>
          <a:lstStyle/>
          <a:p>
            <a:pPr marL="0" indent="0" algn="ctr">
              <a:buNone/>
            </a:pPr>
            <a:endParaRPr lang="en-US" sz="1300" dirty="0"/>
          </a:p>
        </p:txBody>
      </p:sp>
      <p:sp>
        <p:nvSpPr>
          <p:cNvPr id="18" name="Text 16"/>
          <p:cNvSpPr/>
          <p:nvPr/>
        </p:nvSpPr>
        <p:spPr>
          <a:xfrm>
            <a:off x="5285232" y="3017520"/>
            <a:ext cx="3172968" cy="329184"/>
          </a:xfrm>
          <a:prstGeom prst="rect">
            <a:avLst/>
          </a:prstGeom>
          <a:noFill/>
          <a:ln/>
        </p:spPr>
        <p:txBody>
          <a:bodyPr wrap="square" lIns="0" tIns="0" rIns="0" bIns="0" rtlCol="0" anchor="ctr"/>
          <a:lstStyle/>
          <a:p>
            <a:pPr marL="0" indent="0">
              <a:buNone/>
            </a:pPr>
            <a:r>
              <a:rPr lang="en-US" sz="1400" b="1" dirty="0">
                <a:solidFill>
                  <a:srgbClr val="8B7BD8"/>
                </a:solidFill>
                <a:latin typeface="Trebuchet MS" pitchFamily="34" charset="0"/>
                <a:ea typeface="Trebuchet MS" pitchFamily="34" charset="-122"/>
                <a:cs typeface="Trebuchet MS" pitchFamily="34" charset="-120"/>
              </a:rPr>
              <a:t>The protocol appendices</a:t>
            </a:r>
            <a:endParaRPr lang="en-US" sz="1400" dirty="0"/>
          </a:p>
        </p:txBody>
      </p:sp>
      <p:sp>
        <p:nvSpPr>
          <p:cNvPr id="19" name="Text 17">
            <a:extLst>
              <a:ext uri="{C183D7F6-B498-43B3-948B-1728B52AA6E4}">
                <adec:decorative xmlns:adec="http://schemas.microsoft.com/office/drawing/2017/decorative" val="1"/>
              </a:ext>
            </a:extLst>
          </p:cNvPr>
          <p:cNvSpPr/>
          <p:nvPr/>
        </p:nvSpPr>
        <p:spPr>
          <a:xfrm>
            <a:off x="4901184" y="3383280"/>
            <a:ext cx="3520440" cy="713232"/>
          </a:xfrm>
          <a:prstGeom prst="rect">
            <a:avLst/>
          </a:prstGeom>
          <a:noFill/>
          <a:ln/>
        </p:spPr>
        <p:txBody>
          <a:bodyPr wrap="square" lIns="0" tIns="0" rIns="0" bIns="0" rtlCol="0" anchor="t"/>
          <a:lstStyle/>
          <a:p>
            <a:pPr marL="0" indent="0">
              <a:buNone/>
            </a:pPr>
            <a:r>
              <a:rPr lang="en-US" sz="1100" dirty="0">
                <a:solidFill>
                  <a:srgbClr val="D5DAE0"/>
                </a:solidFill>
                <a:latin typeface="Calibri" pitchFamily="34" charset="0"/>
                <a:ea typeface="Calibri" pitchFamily="34" charset="-122"/>
                <a:cs typeface="Calibri" pitchFamily="34" charset="-120"/>
              </a:rPr>
              <a:t>Formal wire references for the sibling protocols, when you outgrow HTTP.</a:t>
            </a:r>
            <a:endParaRPr lang="en-US" sz="1100" dirty="0"/>
          </a:p>
        </p:txBody>
      </p:sp>
      <p:sp>
        <p:nvSpPr>
          <p:cNvPr id="20" name="Text 18">
            <a:extLst>
              <a:ext uri="{C183D7F6-B498-43B3-948B-1728B52AA6E4}">
                <adec:decorative xmlns:adec="http://schemas.microsoft.com/office/drawing/2017/decorative" val="1"/>
              </a:ext>
            </a:extLst>
          </p:cNvPr>
          <p:cNvSpPr/>
          <p:nvPr/>
        </p:nvSpPr>
        <p:spPr>
          <a:xfrm>
            <a:off x="502920" y="4370832"/>
            <a:ext cx="8138160" cy="320040"/>
          </a:xfrm>
          <a:prstGeom prst="rect">
            <a:avLst/>
          </a:prstGeom>
          <a:noFill/>
          <a:ln/>
        </p:spPr>
        <p:txBody>
          <a:bodyPr wrap="square" lIns="0" tIns="0" rIns="0" bIns="0" rtlCol="0" anchor="t"/>
          <a:lstStyle/>
          <a:p>
            <a:pPr marL="0" indent="0" algn="l">
              <a:buNone/>
            </a:pPr>
            <a:r>
              <a:rPr lang="en-US" sz="1150" i="1" dirty="0">
                <a:solidFill>
                  <a:srgbClr val="97A1AC"/>
                </a:solidFill>
                <a:latin typeface="Calibri" pitchFamily="34" charset="0"/>
                <a:ea typeface="Calibri" pitchFamily="34" charset="-122"/>
                <a:cs typeface="Calibri" pitchFamily="34" charset="-120"/>
              </a:rPr>
              <a:t>When a document and the running system disagree, believe the running system — then report the difference.</a:t>
            </a:r>
            <a:endParaRPr lang="en-US" sz="1150" dirty="0"/>
          </a:p>
        </p:txBody>
      </p:sp>
      <p:sp>
        <p:nvSpPr>
          <p:cNvPr id="21" name="Text 19"/>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Finding out more</a:t>
            </a:r>
            <a:endParaRPr lang="en-US" sz="900" dirty="0"/>
          </a:p>
        </p:txBody>
      </p:sp>
      <p:sp>
        <p:nvSpPr>
          <p:cNvPr id="22" name="Text 20"/>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64</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8138160" cy="548640"/>
          </a:xfrm>
          <a:prstGeom prst="rect">
            <a:avLst/>
          </a:prstGeom>
          <a:noFill/>
          <a:ln/>
        </p:spPr>
        <p:txBody>
          <a:bodyPr wrap="square" lIns="0" tIns="0" rIns="0" bIns="0" rtlCol="0" anchor="ctr"/>
          <a:lstStyle/>
          <a:p>
            <a:pPr marL="0" indent="0">
              <a:buNone/>
            </a:pPr>
            <a:r>
              <a:rPr lang="en-US" sz="2700" b="1" dirty="0">
                <a:solidFill>
                  <a:srgbClr val="F3F5F7"/>
                </a:solidFill>
                <a:latin typeface="Trebuchet MS" pitchFamily="34" charset="0"/>
                <a:ea typeface="Trebuchet MS" pitchFamily="34" charset="-122"/>
                <a:cs typeface="Trebuchet MS" pitchFamily="34" charset="-120"/>
              </a:rPr>
              <a:t>What to take away</a:t>
            </a:r>
            <a:endParaRPr lang="en-US" sz="2700" dirty="0"/>
          </a:p>
        </p:txBody>
      </p:sp>
      <p:sp>
        <p:nvSpPr>
          <p:cNvPr id="3" name="Text 1"/>
          <p:cNvSpPr/>
          <p:nvPr/>
        </p:nvSpPr>
        <p:spPr>
          <a:xfrm>
            <a:off x="502920" y="841248"/>
            <a:ext cx="8138160" cy="237744"/>
          </a:xfrm>
          <a:prstGeom prst="rect">
            <a:avLst/>
          </a:prstGeom>
          <a:noFill/>
          <a:ln/>
        </p:spPr>
        <p:txBody>
          <a:bodyPr wrap="square" lIns="0" tIns="0" rIns="0" bIns="0" rtlCol="0" anchor="ctr"/>
          <a:lstStyle/>
          <a:p>
            <a:pPr marL="0" indent="0">
              <a:buNone/>
            </a:pPr>
            <a:r>
              <a:rPr lang="en-US" sz="1100" b="1" kern="0" spc="200" dirty="0">
                <a:solidFill>
                  <a:srgbClr val="E8722C"/>
                </a:solidFill>
                <a:latin typeface="Calibri" pitchFamily="34" charset="0"/>
                <a:ea typeface="Calibri" pitchFamily="34" charset="-122"/>
                <a:cs typeface="Calibri" pitchFamily="34" charset="-120"/>
              </a:rPr>
              <a:t>SUMMARY</a:t>
            </a:r>
            <a:endParaRPr lang="en-US" sz="1100" dirty="0"/>
          </a:p>
        </p:txBody>
      </p:sp>
      <p:sp>
        <p:nvSpPr>
          <p:cNvPr id="4" name="card background">
            <a:extLst>
              <a:ext uri="{C183D7F6-B498-43B3-948B-1728B52AA6E4}">
                <adec:decorative xmlns:adec="http://schemas.microsoft.com/office/drawing/2017/decorative" val="1"/>
              </a:ext>
            </a:extLst>
          </p:cNvPr>
          <p:cNvSpPr/>
          <p:nvPr/>
        </p:nvSpPr>
        <p:spPr>
          <a:xfrm>
            <a:off x="502920" y="1298448"/>
            <a:ext cx="2566416" cy="1417320"/>
          </a:xfrm>
          <a:prstGeom prst="roundRect">
            <a:avLst>
              <a:gd name="adj" fmla="val 3871"/>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5" name="step marker">
            <a:extLst>
              <a:ext uri="{C183D7F6-B498-43B3-948B-1728B52AA6E4}">
                <adec:decorative xmlns:adec="http://schemas.microsoft.com/office/drawing/2017/decorative" val="1"/>
              </a:ext>
            </a:extLst>
          </p:cNvPr>
          <p:cNvSpPr/>
          <p:nvPr/>
        </p:nvSpPr>
        <p:spPr>
          <a:xfrm>
            <a:off x="704088" y="1481328"/>
            <a:ext cx="310896" cy="310896"/>
          </a:xfrm>
          <a:prstGeom prst="ellipse">
            <a:avLst/>
          </a:prstGeom>
          <a:solidFill>
            <a:srgbClr val="E8722C"/>
          </a:solidFill>
          <a:ln w="12700">
            <a:solidFill>
              <a:srgbClr val="E8722C"/>
            </a:solidFill>
            <a:prstDash val="solid"/>
          </a:ln>
        </p:spPr>
        <p:txBody>
          <a:bodyPr/>
          <a:lstStyle/>
          <a:p>
            <a:endParaRPr lang="en-SE"/>
          </a:p>
        </p:txBody>
      </p:sp>
      <p:sp>
        <p:nvSpPr>
          <p:cNvPr id="6" name="Text 4"/>
          <p:cNvSpPr/>
          <p:nvPr/>
        </p:nvSpPr>
        <p:spPr>
          <a:xfrm>
            <a:off x="704088" y="1481328"/>
            <a:ext cx="310896" cy="310896"/>
          </a:xfrm>
          <a:prstGeom prst="rect">
            <a:avLst/>
          </a:prstGeom>
          <a:noFill/>
          <a:ln/>
        </p:spPr>
        <p:txBody>
          <a:bodyPr wrap="square" lIns="0" tIns="0" rIns="0" bIns="0" rtlCol="0" anchor="ctr"/>
          <a:lstStyle/>
          <a:p>
            <a:pPr marL="0" indent="0" algn="ctr">
              <a:buNone/>
            </a:pPr>
            <a:r>
              <a:rPr lang="en-US" sz="1300" b="1" dirty="0">
                <a:solidFill>
                  <a:srgbClr val="13161A"/>
                </a:solidFill>
                <a:latin typeface="Trebuchet MS" pitchFamily="34" charset="0"/>
                <a:ea typeface="Trebuchet MS" pitchFamily="34" charset="-122"/>
                <a:cs typeface="Trebuchet MS" pitchFamily="34" charset="-120"/>
              </a:rPr>
              <a:t>1</a:t>
            </a:r>
            <a:endParaRPr lang="en-US" sz="1300" dirty="0"/>
          </a:p>
        </p:txBody>
      </p:sp>
      <p:sp>
        <p:nvSpPr>
          <p:cNvPr id="7" name="Text 5"/>
          <p:cNvSpPr/>
          <p:nvPr/>
        </p:nvSpPr>
        <p:spPr>
          <a:xfrm>
            <a:off x="1106424" y="1481328"/>
            <a:ext cx="1780032" cy="329184"/>
          </a:xfrm>
          <a:prstGeom prst="rect">
            <a:avLst/>
          </a:prstGeom>
          <a:noFill/>
          <a:ln/>
        </p:spPr>
        <p:txBody>
          <a:bodyPr wrap="square" lIns="0" tIns="0" rIns="0" bIns="0" rtlCol="0" anchor="ctr"/>
          <a:lstStyle/>
          <a:p>
            <a:pPr marL="0" indent="0">
              <a:buNone/>
            </a:pPr>
            <a:r>
              <a:rPr lang="en-US" sz="1400" b="1" dirty="0">
                <a:solidFill>
                  <a:srgbClr val="E8722C"/>
                </a:solidFill>
                <a:latin typeface="Trebuchet MS" pitchFamily="34" charset="0"/>
                <a:ea typeface="Trebuchet MS" pitchFamily="34" charset="-122"/>
                <a:cs typeface="Trebuchet MS" pitchFamily="34" charset="-120"/>
              </a:rPr>
              <a:t>One door</a:t>
            </a:r>
            <a:endParaRPr lang="en-US" sz="1400" dirty="0"/>
          </a:p>
        </p:txBody>
      </p:sp>
      <p:sp>
        <p:nvSpPr>
          <p:cNvPr id="8" name="Text 6"/>
          <p:cNvSpPr/>
          <p:nvPr/>
        </p:nvSpPr>
        <p:spPr>
          <a:xfrm>
            <a:off x="722376" y="1847088"/>
            <a:ext cx="2127504" cy="75895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The gateway turns the exchange into an ordinary web service you already know how to call.</a:t>
            </a:r>
            <a:endParaRPr lang="en-US" sz="1050" dirty="0"/>
          </a:p>
        </p:txBody>
      </p:sp>
      <p:sp>
        <p:nvSpPr>
          <p:cNvPr id="9" name="card background">
            <a:extLst>
              <a:ext uri="{C183D7F6-B498-43B3-948B-1728B52AA6E4}">
                <adec:decorative xmlns:adec="http://schemas.microsoft.com/office/drawing/2017/decorative" val="1"/>
              </a:ext>
            </a:extLst>
          </p:cNvPr>
          <p:cNvSpPr/>
          <p:nvPr/>
        </p:nvSpPr>
        <p:spPr>
          <a:xfrm>
            <a:off x="3288792" y="1298448"/>
            <a:ext cx="2566416" cy="1417320"/>
          </a:xfrm>
          <a:prstGeom prst="roundRect">
            <a:avLst>
              <a:gd name="adj" fmla="val 3871"/>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0" name="step marker">
            <a:extLst>
              <a:ext uri="{C183D7F6-B498-43B3-948B-1728B52AA6E4}">
                <adec:decorative xmlns:adec="http://schemas.microsoft.com/office/drawing/2017/decorative" val="1"/>
              </a:ext>
            </a:extLst>
          </p:cNvPr>
          <p:cNvSpPr/>
          <p:nvPr/>
        </p:nvSpPr>
        <p:spPr>
          <a:xfrm>
            <a:off x="3489960" y="1481328"/>
            <a:ext cx="310896" cy="310896"/>
          </a:xfrm>
          <a:prstGeom prst="ellipse">
            <a:avLst/>
          </a:prstGeom>
          <a:solidFill>
            <a:srgbClr val="35A79C"/>
          </a:solidFill>
          <a:ln w="12700">
            <a:solidFill>
              <a:srgbClr val="35A79C"/>
            </a:solidFill>
            <a:prstDash val="solid"/>
          </a:ln>
        </p:spPr>
        <p:txBody>
          <a:bodyPr/>
          <a:lstStyle/>
          <a:p>
            <a:endParaRPr lang="en-SE"/>
          </a:p>
        </p:txBody>
      </p:sp>
      <p:sp>
        <p:nvSpPr>
          <p:cNvPr id="11" name="Text 9"/>
          <p:cNvSpPr/>
          <p:nvPr/>
        </p:nvSpPr>
        <p:spPr>
          <a:xfrm>
            <a:off x="3489960" y="1481328"/>
            <a:ext cx="310896" cy="310896"/>
          </a:xfrm>
          <a:prstGeom prst="rect">
            <a:avLst/>
          </a:prstGeom>
          <a:noFill/>
          <a:ln/>
        </p:spPr>
        <p:txBody>
          <a:bodyPr wrap="square" lIns="0" tIns="0" rIns="0" bIns="0" rtlCol="0" anchor="ctr"/>
          <a:lstStyle/>
          <a:p>
            <a:pPr marL="0" indent="0" algn="ctr">
              <a:buNone/>
            </a:pPr>
            <a:r>
              <a:rPr lang="en-US" sz="1300" b="1" dirty="0">
                <a:solidFill>
                  <a:srgbClr val="13161A"/>
                </a:solidFill>
                <a:latin typeface="Trebuchet MS" pitchFamily="34" charset="0"/>
                <a:ea typeface="Trebuchet MS" pitchFamily="34" charset="-122"/>
                <a:cs typeface="Trebuchet MS" pitchFamily="34" charset="-120"/>
              </a:rPr>
              <a:t>2</a:t>
            </a:r>
            <a:endParaRPr lang="en-US" sz="1300" dirty="0"/>
          </a:p>
        </p:txBody>
      </p:sp>
      <p:sp>
        <p:nvSpPr>
          <p:cNvPr id="12" name="Text 10"/>
          <p:cNvSpPr/>
          <p:nvPr/>
        </p:nvSpPr>
        <p:spPr>
          <a:xfrm>
            <a:off x="3892296" y="1481328"/>
            <a:ext cx="1780032" cy="329184"/>
          </a:xfrm>
          <a:prstGeom prst="rect">
            <a:avLst/>
          </a:prstGeom>
          <a:noFill/>
          <a:ln/>
        </p:spPr>
        <p:txBody>
          <a:bodyPr wrap="square" lIns="0" tIns="0" rIns="0" bIns="0" rtlCol="0" anchor="ctr"/>
          <a:lstStyle/>
          <a:p>
            <a:pPr marL="0" indent="0">
              <a:buNone/>
            </a:pPr>
            <a:r>
              <a:rPr lang="en-US" sz="1400" b="1" dirty="0">
                <a:solidFill>
                  <a:srgbClr val="35A79C"/>
                </a:solidFill>
                <a:latin typeface="Trebuchet MS" pitchFamily="34" charset="0"/>
                <a:ea typeface="Trebuchet MS" pitchFamily="34" charset="-122"/>
                <a:cs typeface="Trebuchet MS" pitchFamily="34" charset="-120"/>
              </a:rPr>
              <a:t>Two styles</a:t>
            </a:r>
            <a:endParaRPr lang="en-US" sz="1400" dirty="0"/>
          </a:p>
        </p:txBody>
      </p:sp>
      <p:sp>
        <p:nvSpPr>
          <p:cNvPr id="13" name="Text 11"/>
          <p:cNvSpPr/>
          <p:nvPr/>
        </p:nvSpPr>
        <p:spPr>
          <a:xfrm>
            <a:off x="3508248" y="1847088"/>
            <a:ext cx="2127504" cy="75895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Ask over REST; listen over WebSocket. Never poll for something that can be pushed.</a:t>
            </a:r>
            <a:endParaRPr lang="en-US" sz="1050" dirty="0"/>
          </a:p>
        </p:txBody>
      </p:sp>
      <p:sp>
        <p:nvSpPr>
          <p:cNvPr id="14" name="card background">
            <a:extLst>
              <a:ext uri="{C183D7F6-B498-43B3-948B-1728B52AA6E4}">
                <adec:decorative xmlns:adec="http://schemas.microsoft.com/office/drawing/2017/decorative" val="1"/>
              </a:ext>
            </a:extLst>
          </p:cNvPr>
          <p:cNvSpPr/>
          <p:nvPr/>
        </p:nvSpPr>
        <p:spPr>
          <a:xfrm>
            <a:off x="6074664" y="1298448"/>
            <a:ext cx="2566416" cy="1417320"/>
          </a:xfrm>
          <a:prstGeom prst="roundRect">
            <a:avLst>
              <a:gd name="adj" fmla="val 3871"/>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5" name="step marker">
            <a:extLst>
              <a:ext uri="{C183D7F6-B498-43B3-948B-1728B52AA6E4}">
                <adec:decorative xmlns:adec="http://schemas.microsoft.com/office/drawing/2017/decorative" val="1"/>
              </a:ext>
            </a:extLst>
          </p:cNvPr>
          <p:cNvSpPr/>
          <p:nvPr/>
        </p:nvSpPr>
        <p:spPr>
          <a:xfrm>
            <a:off x="6275832" y="1481328"/>
            <a:ext cx="310896" cy="310896"/>
          </a:xfrm>
          <a:prstGeom prst="ellipse">
            <a:avLst/>
          </a:prstGeom>
          <a:solidFill>
            <a:srgbClr val="F2A65A"/>
          </a:solidFill>
          <a:ln w="12700">
            <a:solidFill>
              <a:srgbClr val="F2A65A"/>
            </a:solidFill>
            <a:prstDash val="solid"/>
          </a:ln>
        </p:spPr>
        <p:txBody>
          <a:bodyPr/>
          <a:lstStyle/>
          <a:p>
            <a:endParaRPr lang="en-SE"/>
          </a:p>
        </p:txBody>
      </p:sp>
      <p:sp>
        <p:nvSpPr>
          <p:cNvPr id="16" name="Text 14"/>
          <p:cNvSpPr/>
          <p:nvPr/>
        </p:nvSpPr>
        <p:spPr>
          <a:xfrm>
            <a:off x="6275832" y="1481328"/>
            <a:ext cx="310896" cy="310896"/>
          </a:xfrm>
          <a:prstGeom prst="rect">
            <a:avLst/>
          </a:prstGeom>
          <a:noFill/>
          <a:ln/>
        </p:spPr>
        <p:txBody>
          <a:bodyPr wrap="square" lIns="0" tIns="0" rIns="0" bIns="0" rtlCol="0" anchor="ctr"/>
          <a:lstStyle/>
          <a:p>
            <a:pPr marL="0" indent="0" algn="ctr">
              <a:buNone/>
            </a:pPr>
            <a:r>
              <a:rPr lang="en-US" sz="1300" b="1" dirty="0">
                <a:solidFill>
                  <a:srgbClr val="13161A"/>
                </a:solidFill>
                <a:latin typeface="Trebuchet MS" pitchFamily="34" charset="0"/>
                <a:ea typeface="Trebuchet MS" pitchFamily="34" charset="-122"/>
                <a:cs typeface="Trebuchet MS" pitchFamily="34" charset="-120"/>
              </a:rPr>
              <a:t>3</a:t>
            </a:r>
            <a:endParaRPr lang="en-US" sz="1300" dirty="0"/>
          </a:p>
        </p:txBody>
      </p:sp>
      <p:sp>
        <p:nvSpPr>
          <p:cNvPr id="17" name="Text 15"/>
          <p:cNvSpPr/>
          <p:nvPr/>
        </p:nvSpPr>
        <p:spPr>
          <a:xfrm>
            <a:off x="6678168" y="1481328"/>
            <a:ext cx="1780032" cy="329184"/>
          </a:xfrm>
          <a:prstGeom prst="rect">
            <a:avLst/>
          </a:prstGeom>
          <a:noFill/>
          <a:ln/>
        </p:spPr>
        <p:txBody>
          <a:bodyPr wrap="square" lIns="0" tIns="0" rIns="0" bIns="0" rtlCol="0" anchor="ctr"/>
          <a:lstStyle/>
          <a:p>
            <a:pPr marL="0" indent="0">
              <a:buNone/>
            </a:pPr>
            <a:r>
              <a:rPr lang="en-US" sz="1400" b="1" dirty="0">
                <a:solidFill>
                  <a:srgbClr val="F2A65A"/>
                </a:solidFill>
                <a:latin typeface="Trebuchet MS" pitchFamily="34" charset="0"/>
                <a:ea typeface="Trebuchet MS" pitchFamily="34" charset="-122"/>
                <a:cs typeface="Trebuchet MS" pitchFamily="34" charset="-120"/>
              </a:rPr>
              <a:t>One key</a:t>
            </a:r>
            <a:endParaRPr lang="en-US" sz="1400" dirty="0"/>
          </a:p>
        </p:txBody>
      </p:sp>
      <p:sp>
        <p:nvSpPr>
          <p:cNvPr id="18" name="Text 16"/>
          <p:cNvSpPr/>
          <p:nvPr/>
        </p:nvSpPr>
        <p:spPr>
          <a:xfrm>
            <a:off x="6294120" y="1847088"/>
            <a:ext cx="2127504" cy="75895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A bearer token in a header, or a first message on a stream — and it decides what you may do.</a:t>
            </a:r>
            <a:endParaRPr lang="en-US" sz="1050" dirty="0"/>
          </a:p>
        </p:txBody>
      </p:sp>
      <p:sp>
        <p:nvSpPr>
          <p:cNvPr id="19" name="card background">
            <a:extLst>
              <a:ext uri="{C183D7F6-B498-43B3-948B-1728B52AA6E4}">
                <adec:decorative xmlns:adec="http://schemas.microsoft.com/office/drawing/2017/decorative" val="1"/>
              </a:ext>
            </a:extLst>
          </p:cNvPr>
          <p:cNvSpPr/>
          <p:nvPr/>
        </p:nvSpPr>
        <p:spPr>
          <a:xfrm>
            <a:off x="502920" y="2916936"/>
            <a:ext cx="2566416" cy="1417320"/>
          </a:xfrm>
          <a:prstGeom prst="roundRect">
            <a:avLst>
              <a:gd name="adj" fmla="val 3871"/>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20" name="step marker">
            <a:extLst>
              <a:ext uri="{C183D7F6-B498-43B3-948B-1728B52AA6E4}">
                <adec:decorative xmlns:adec="http://schemas.microsoft.com/office/drawing/2017/decorative" val="1"/>
              </a:ext>
            </a:extLst>
          </p:cNvPr>
          <p:cNvSpPr/>
          <p:nvPr/>
        </p:nvSpPr>
        <p:spPr>
          <a:xfrm>
            <a:off x="704088" y="3099816"/>
            <a:ext cx="310896" cy="310896"/>
          </a:xfrm>
          <a:prstGeom prst="ellipse">
            <a:avLst/>
          </a:prstGeom>
          <a:solidFill>
            <a:srgbClr val="8B7BD8"/>
          </a:solidFill>
          <a:ln w="12700">
            <a:solidFill>
              <a:srgbClr val="8B7BD8"/>
            </a:solidFill>
            <a:prstDash val="solid"/>
          </a:ln>
        </p:spPr>
        <p:txBody>
          <a:bodyPr/>
          <a:lstStyle/>
          <a:p>
            <a:endParaRPr lang="en-SE"/>
          </a:p>
        </p:txBody>
      </p:sp>
      <p:sp>
        <p:nvSpPr>
          <p:cNvPr id="21" name="Text 19"/>
          <p:cNvSpPr/>
          <p:nvPr/>
        </p:nvSpPr>
        <p:spPr>
          <a:xfrm>
            <a:off x="704088" y="3099816"/>
            <a:ext cx="310896" cy="310896"/>
          </a:xfrm>
          <a:prstGeom prst="rect">
            <a:avLst/>
          </a:prstGeom>
          <a:noFill/>
          <a:ln/>
        </p:spPr>
        <p:txBody>
          <a:bodyPr wrap="square" lIns="0" tIns="0" rIns="0" bIns="0" rtlCol="0" anchor="ctr"/>
          <a:lstStyle/>
          <a:p>
            <a:pPr marL="0" indent="0" algn="ctr">
              <a:buNone/>
            </a:pPr>
            <a:r>
              <a:rPr lang="en-US" sz="1300" b="1" dirty="0">
                <a:solidFill>
                  <a:srgbClr val="13161A"/>
                </a:solidFill>
                <a:latin typeface="Trebuchet MS" pitchFamily="34" charset="0"/>
                <a:ea typeface="Trebuchet MS" pitchFamily="34" charset="-122"/>
                <a:cs typeface="Trebuchet MS" pitchFamily="34" charset="-120"/>
              </a:rPr>
              <a:t>4</a:t>
            </a:r>
            <a:endParaRPr lang="en-US" sz="1300" dirty="0"/>
          </a:p>
        </p:txBody>
      </p:sp>
      <p:sp>
        <p:nvSpPr>
          <p:cNvPr id="22" name="Text 20"/>
          <p:cNvSpPr/>
          <p:nvPr/>
        </p:nvSpPr>
        <p:spPr>
          <a:xfrm>
            <a:off x="1106424" y="3099816"/>
            <a:ext cx="1780032" cy="329184"/>
          </a:xfrm>
          <a:prstGeom prst="rect">
            <a:avLst/>
          </a:prstGeom>
          <a:noFill/>
          <a:ln/>
        </p:spPr>
        <p:txBody>
          <a:bodyPr wrap="square" lIns="0" tIns="0" rIns="0" bIns="0" rtlCol="0" anchor="ctr"/>
          <a:lstStyle/>
          <a:p>
            <a:pPr marL="0" indent="0">
              <a:buNone/>
            </a:pPr>
            <a:r>
              <a:rPr lang="en-US" sz="1400" b="1" dirty="0">
                <a:solidFill>
                  <a:srgbClr val="8B7BD8"/>
                </a:solidFill>
                <a:latin typeface="Trebuchet MS" pitchFamily="34" charset="0"/>
                <a:ea typeface="Trebuchet MS" pitchFamily="34" charset="-122"/>
                <a:cs typeface="Trebuchet MS" pitchFamily="34" charset="-120"/>
              </a:rPr>
              <a:t>Six categories</a:t>
            </a:r>
            <a:endParaRPr lang="en-US" sz="1400" dirty="0"/>
          </a:p>
        </p:txBody>
      </p:sp>
      <p:sp>
        <p:nvSpPr>
          <p:cNvPr id="23" name="Text 21"/>
          <p:cNvSpPr/>
          <p:nvPr/>
        </p:nvSpPr>
        <p:spPr>
          <a:xfrm>
            <a:off x="722376" y="3465576"/>
            <a:ext cx="2127504" cy="75895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Order entry, order management, reference data, market data, history and administration.</a:t>
            </a:r>
            <a:endParaRPr lang="en-US" sz="1050" dirty="0"/>
          </a:p>
        </p:txBody>
      </p:sp>
      <p:sp>
        <p:nvSpPr>
          <p:cNvPr id="24" name="card background">
            <a:extLst>
              <a:ext uri="{C183D7F6-B498-43B3-948B-1728B52AA6E4}">
                <adec:decorative xmlns:adec="http://schemas.microsoft.com/office/drawing/2017/decorative" val="1"/>
              </a:ext>
            </a:extLst>
          </p:cNvPr>
          <p:cNvSpPr/>
          <p:nvPr/>
        </p:nvSpPr>
        <p:spPr>
          <a:xfrm>
            <a:off x="3288792" y="2916936"/>
            <a:ext cx="2566416" cy="1417320"/>
          </a:xfrm>
          <a:prstGeom prst="roundRect">
            <a:avLst>
              <a:gd name="adj" fmla="val 3871"/>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25" name="step marker">
            <a:extLst>
              <a:ext uri="{C183D7F6-B498-43B3-948B-1728B52AA6E4}">
                <adec:decorative xmlns:adec="http://schemas.microsoft.com/office/drawing/2017/decorative" val="1"/>
              </a:ext>
            </a:extLst>
          </p:cNvPr>
          <p:cNvSpPr/>
          <p:nvPr/>
        </p:nvSpPr>
        <p:spPr>
          <a:xfrm>
            <a:off x="3489960" y="3099816"/>
            <a:ext cx="310896" cy="310896"/>
          </a:xfrm>
          <a:prstGeom prst="ellipse">
            <a:avLst/>
          </a:prstGeom>
          <a:solidFill>
            <a:srgbClr val="E8722C"/>
          </a:solidFill>
          <a:ln w="12700">
            <a:solidFill>
              <a:srgbClr val="E8722C"/>
            </a:solidFill>
            <a:prstDash val="solid"/>
          </a:ln>
        </p:spPr>
        <p:txBody>
          <a:bodyPr/>
          <a:lstStyle/>
          <a:p>
            <a:endParaRPr lang="en-SE"/>
          </a:p>
        </p:txBody>
      </p:sp>
      <p:sp>
        <p:nvSpPr>
          <p:cNvPr id="26" name="Text 24"/>
          <p:cNvSpPr/>
          <p:nvPr/>
        </p:nvSpPr>
        <p:spPr>
          <a:xfrm>
            <a:off x="3489960" y="3099816"/>
            <a:ext cx="310896" cy="310896"/>
          </a:xfrm>
          <a:prstGeom prst="rect">
            <a:avLst/>
          </a:prstGeom>
          <a:noFill/>
          <a:ln/>
        </p:spPr>
        <p:txBody>
          <a:bodyPr wrap="square" lIns="0" tIns="0" rIns="0" bIns="0" rtlCol="0" anchor="ctr"/>
          <a:lstStyle/>
          <a:p>
            <a:pPr marL="0" indent="0" algn="ctr">
              <a:buNone/>
            </a:pPr>
            <a:r>
              <a:rPr lang="en-US" sz="1300" b="1" dirty="0">
                <a:solidFill>
                  <a:srgbClr val="13161A"/>
                </a:solidFill>
                <a:latin typeface="Trebuchet MS" pitchFamily="34" charset="0"/>
                <a:ea typeface="Trebuchet MS" pitchFamily="34" charset="-122"/>
                <a:cs typeface="Trebuchet MS" pitchFamily="34" charset="-120"/>
              </a:rPr>
              <a:t>5</a:t>
            </a:r>
            <a:endParaRPr lang="en-US" sz="1300" dirty="0"/>
          </a:p>
        </p:txBody>
      </p:sp>
      <p:sp>
        <p:nvSpPr>
          <p:cNvPr id="27" name="Text 25"/>
          <p:cNvSpPr/>
          <p:nvPr/>
        </p:nvSpPr>
        <p:spPr>
          <a:xfrm>
            <a:off x="3892296" y="3099816"/>
            <a:ext cx="1780032" cy="329184"/>
          </a:xfrm>
          <a:prstGeom prst="rect">
            <a:avLst/>
          </a:prstGeom>
          <a:noFill/>
          <a:ln/>
        </p:spPr>
        <p:txBody>
          <a:bodyPr wrap="square" lIns="0" tIns="0" rIns="0" bIns="0" rtlCol="0" anchor="ctr"/>
          <a:lstStyle/>
          <a:p>
            <a:pPr marL="0" indent="0">
              <a:buNone/>
            </a:pPr>
            <a:r>
              <a:rPr lang="en-US" sz="1400" b="1" dirty="0">
                <a:solidFill>
                  <a:srgbClr val="E8722C"/>
                </a:solidFill>
                <a:latin typeface="Trebuchet MS" pitchFamily="34" charset="0"/>
                <a:ea typeface="Trebuchet MS" pitchFamily="34" charset="-122"/>
                <a:cs typeface="Trebuchet MS" pitchFamily="34" charset="-120"/>
              </a:rPr>
              <a:t>Five shapes</a:t>
            </a:r>
            <a:endParaRPr lang="en-US" sz="1400" dirty="0"/>
          </a:p>
        </p:txBody>
      </p:sp>
      <p:sp>
        <p:nvSpPr>
          <p:cNvPr id="28" name="Text 26"/>
          <p:cNvSpPr/>
          <p:nvPr/>
        </p:nvSpPr>
        <p:spPr>
          <a:xfrm>
            <a:off x="3508248" y="3465576"/>
            <a:ext cx="2127504" cy="75895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Request, acceptance, page, event and error. Learn them once, reuse them everywhere.</a:t>
            </a:r>
            <a:endParaRPr lang="en-US" sz="1050" dirty="0"/>
          </a:p>
        </p:txBody>
      </p:sp>
      <p:sp>
        <p:nvSpPr>
          <p:cNvPr id="29" name="card background">
            <a:extLst>
              <a:ext uri="{C183D7F6-B498-43B3-948B-1728B52AA6E4}">
                <adec:decorative xmlns:adec="http://schemas.microsoft.com/office/drawing/2017/decorative" val="1"/>
              </a:ext>
            </a:extLst>
          </p:cNvPr>
          <p:cNvSpPr/>
          <p:nvPr/>
        </p:nvSpPr>
        <p:spPr>
          <a:xfrm>
            <a:off x="6074664" y="2916936"/>
            <a:ext cx="2566416" cy="1417320"/>
          </a:xfrm>
          <a:prstGeom prst="roundRect">
            <a:avLst>
              <a:gd name="adj" fmla="val 3871"/>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30" name="step marker">
            <a:extLst>
              <a:ext uri="{C183D7F6-B498-43B3-948B-1728B52AA6E4}">
                <adec:decorative xmlns:adec="http://schemas.microsoft.com/office/drawing/2017/decorative" val="1"/>
              </a:ext>
            </a:extLst>
          </p:cNvPr>
          <p:cNvSpPr/>
          <p:nvPr/>
        </p:nvSpPr>
        <p:spPr>
          <a:xfrm>
            <a:off x="6275832" y="3099816"/>
            <a:ext cx="310896" cy="310896"/>
          </a:xfrm>
          <a:prstGeom prst="ellipse">
            <a:avLst/>
          </a:prstGeom>
          <a:solidFill>
            <a:srgbClr val="D9534F"/>
          </a:solidFill>
          <a:ln w="12700">
            <a:solidFill>
              <a:srgbClr val="D9534F"/>
            </a:solidFill>
            <a:prstDash val="solid"/>
          </a:ln>
        </p:spPr>
        <p:txBody>
          <a:bodyPr/>
          <a:lstStyle/>
          <a:p>
            <a:endParaRPr lang="en-SE"/>
          </a:p>
        </p:txBody>
      </p:sp>
      <p:sp>
        <p:nvSpPr>
          <p:cNvPr id="31" name="Text 29"/>
          <p:cNvSpPr/>
          <p:nvPr/>
        </p:nvSpPr>
        <p:spPr>
          <a:xfrm>
            <a:off x="6275832" y="3099816"/>
            <a:ext cx="310896" cy="310896"/>
          </a:xfrm>
          <a:prstGeom prst="rect">
            <a:avLst/>
          </a:prstGeom>
          <a:noFill/>
          <a:ln/>
        </p:spPr>
        <p:txBody>
          <a:bodyPr wrap="square" lIns="0" tIns="0" rIns="0" bIns="0" rtlCol="0" anchor="ctr"/>
          <a:lstStyle/>
          <a:p>
            <a:pPr marL="0" indent="0" algn="ctr">
              <a:buNone/>
            </a:pPr>
            <a:r>
              <a:rPr lang="en-US" sz="1300" b="1" dirty="0">
                <a:solidFill>
                  <a:srgbClr val="13161A"/>
                </a:solidFill>
                <a:latin typeface="Trebuchet MS" pitchFamily="34" charset="0"/>
                <a:ea typeface="Trebuchet MS" pitchFamily="34" charset="-122"/>
                <a:cs typeface="Trebuchet MS" pitchFamily="34" charset="-120"/>
              </a:rPr>
              <a:t>6</a:t>
            </a:r>
            <a:endParaRPr lang="en-US" sz="1300" dirty="0"/>
          </a:p>
        </p:txBody>
      </p:sp>
      <p:sp>
        <p:nvSpPr>
          <p:cNvPr id="32" name="Text 30"/>
          <p:cNvSpPr/>
          <p:nvPr/>
        </p:nvSpPr>
        <p:spPr>
          <a:xfrm>
            <a:off x="6678168" y="3099816"/>
            <a:ext cx="1780032" cy="329184"/>
          </a:xfrm>
          <a:prstGeom prst="rect">
            <a:avLst/>
          </a:prstGeom>
          <a:noFill/>
          <a:ln/>
        </p:spPr>
        <p:txBody>
          <a:bodyPr wrap="square" lIns="0" tIns="0" rIns="0" bIns="0" rtlCol="0" anchor="ctr"/>
          <a:lstStyle/>
          <a:p>
            <a:pPr marL="0" indent="0">
              <a:buNone/>
            </a:pPr>
            <a:r>
              <a:rPr lang="en-US" sz="1400" b="1" dirty="0">
                <a:solidFill>
                  <a:srgbClr val="D9534F"/>
                </a:solidFill>
                <a:latin typeface="Trebuchet MS" pitchFamily="34" charset="0"/>
                <a:ea typeface="Trebuchet MS" pitchFamily="34" charset="-122"/>
                <a:cs typeface="Trebuchet MS" pitchFamily="34" charset="-120"/>
              </a:rPr>
              <a:t>Errors that teach</a:t>
            </a:r>
            <a:endParaRPr lang="en-US" sz="1400" dirty="0"/>
          </a:p>
        </p:txBody>
      </p:sp>
      <p:sp>
        <p:nvSpPr>
          <p:cNvPr id="33" name="Text 31"/>
          <p:cNvSpPr/>
          <p:nvPr/>
        </p:nvSpPr>
        <p:spPr>
          <a:xfrm>
            <a:off x="6294120" y="3465576"/>
            <a:ext cx="2127504" cy="75895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A stable code with every failure tells your client exactly how to respond.</a:t>
            </a:r>
            <a:endParaRPr lang="en-US" sz="1050" dirty="0"/>
          </a:p>
        </p:txBody>
      </p:sp>
      <p:sp>
        <p:nvSpPr>
          <p:cNvPr id="34" name="Text 32"/>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Finding out more</a:t>
            </a:r>
            <a:endParaRPr lang="en-US" sz="900" dirty="0"/>
          </a:p>
        </p:txBody>
      </p:sp>
      <p:sp>
        <p:nvSpPr>
          <p:cNvPr id="35" name="Text 33"/>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65</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side band">
            <a:extLst>
              <a:ext uri="{C183D7F6-B498-43B3-948B-1728B52AA6E4}">
                <adec:decorative xmlns:adec="http://schemas.microsoft.com/office/drawing/2017/decorative" val="1"/>
              </a:ext>
            </a:extLst>
          </p:cNvPr>
          <p:cNvSpPr/>
          <p:nvPr/>
        </p:nvSpPr>
        <p:spPr>
          <a:xfrm>
            <a:off x="0" y="0"/>
            <a:ext cx="384048" cy="5143500"/>
          </a:xfrm>
          <a:prstGeom prst="rect">
            <a:avLst/>
          </a:prstGeom>
          <a:solidFill>
            <a:srgbClr val="E8722C"/>
          </a:solidFill>
          <a:ln w="12700">
            <a:solidFill>
              <a:srgbClr val="E8722C"/>
            </a:solidFill>
            <a:prstDash val="solid"/>
          </a:ln>
        </p:spPr>
        <p:txBody>
          <a:bodyPr/>
          <a:lstStyle/>
          <a:p>
            <a:endParaRPr lang="en-SE"/>
          </a:p>
        </p:txBody>
      </p:sp>
      <p:sp>
        <p:nvSpPr>
          <p:cNvPr id="3" name="Text 1"/>
          <p:cNvSpPr/>
          <p:nvPr/>
        </p:nvSpPr>
        <p:spPr>
          <a:xfrm>
            <a:off x="960120" y="1371600"/>
            <a:ext cx="2743200" cy="822960"/>
          </a:xfrm>
          <a:prstGeom prst="rect">
            <a:avLst/>
          </a:prstGeom>
          <a:noFill/>
          <a:ln/>
        </p:spPr>
        <p:txBody>
          <a:bodyPr wrap="square" lIns="0" tIns="0" rIns="0" bIns="0" rtlCol="0" anchor="ctr"/>
          <a:lstStyle/>
          <a:p>
            <a:pPr marL="0" indent="0">
              <a:buNone/>
            </a:pPr>
            <a:r>
              <a:rPr lang="en-US" sz="6200" b="1" dirty="0">
                <a:solidFill>
                  <a:srgbClr val="2E353D"/>
                </a:solidFill>
                <a:latin typeface="Trebuchet MS" pitchFamily="34" charset="0"/>
                <a:ea typeface="Trebuchet MS" pitchFamily="34" charset="-122"/>
                <a:cs typeface="Trebuchet MS" pitchFamily="34" charset="-120"/>
              </a:rPr>
              <a:t>10</a:t>
            </a:r>
            <a:endParaRPr lang="en-US" sz="6200" dirty="0"/>
          </a:p>
        </p:txBody>
      </p:sp>
      <p:sp>
        <p:nvSpPr>
          <p:cNvPr id="4" name="Text 0"/>
          <p:cNvSpPr>
            <a:spLocks noGrp="1"/>
          </p:cNvSpPr>
          <p:nvPr>
            <p:ph type="title" idx="100" hasCustomPrompt="1"/>
          </p:nvPr>
        </p:nvSpPr>
        <p:spPr>
          <a:xfrm>
            <a:off x="1005840" y="2148840"/>
            <a:ext cx="7132320" cy="914400"/>
          </a:xfrm>
          <a:prstGeom prst="rect">
            <a:avLst/>
          </a:prstGeom>
          <a:noFill/>
          <a:ln/>
        </p:spPr>
        <p:txBody>
          <a:bodyPr wrap="square" lIns="0" tIns="0" rIns="0" bIns="0" rtlCol="0"/>
          <a:lstStyle/>
          <a:p>
            <a:pPr marL="0" indent="0" algn="l">
              <a:buNone/>
            </a:pPr>
            <a:r>
              <a:rPr lang="en-US" sz="3600" b="1" dirty="0">
                <a:solidFill>
                  <a:srgbClr val="F3F5F7"/>
                </a:solidFill>
                <a:latin typeface="Trebuchet MS" pitchFamily="34" charset="0"/>
                <a:ea typeface="Trebuchet MS" pitchFamily="34" charset="-122"/>
                <a:cs typeface="Trebuchet MS" pitchFamily="34" charset="-120"/>
              </a:rPr>
              <a:t>Technical appendix</a:t>
            </a:r>
            <a:endParaRPr lang="en-US" sz="3600" dirty="0"/>
          </a:p>
        </p:txBody>
      </p:sp>
      <p:sp>
        <p:nvSpPr>
          <p:cNvPr id="5" name="Text 3"/>
          <p:cNvSpPr/>
          <p:nvPr/>
        </p:nvSpPr>
        <p:spPr>
          <a:xfrm>
            <a:off x="1024128" y="3108960"/>
            <a:ext cx="6949440" cy="731520"/>
          </a:xfrm>
          <a:prstGeom prst="rect">
            <a:avLst/>
          </a:prstGeom>
          <a:noFill/>
          <a:ln/>
        </p:spPr>
        <p:txBody>
          <a:bodyPr wrap="square" lIns="0" tIns="0" rIns="0" bIns="0" rtlCol="0" anchor="ctr"/>
          <a:lstStyle/>
          <a:p>
            <a:pPr marL="0" indent="0">
              <a:buNone/>
            </a:pPr>
            <a:r>
              <a:rPr lang="en-US" sz="1400" dirty="0">
                <a:solidFill>
                  <a:srgbClr val="97A1AC"/>
                </a:solidFill>
                <a:latin typeface="Calibri" pitchFamily="34" charset="0"/>
                <a:ea typeface="Calibri" pitchFamily="34" charset="-122"/>
                <a:cs typeface="Calibri" pitchFamily="34" charset="-120"/>
              </a:rPr>
              <a:t>Complete listings for reference — endpoints, channels, fields and codes</a:t>
            </a:r>
            <a:endParaRPr lang="en-US" sz="1400" dirty="0"/>
          </a:p>
        </p:txBody>
      </p:sp>
      <p:sp>
        <p:nvSpPr>
          <p:cNvPr id="6" name="Text 4"/>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Technical appendix</a:t>
            </a:r>
            <a:endParaRPr lang="en-US" sz="900" dirty="0"/>
          </a:p>
        </p:txBody>
      </p:sp>
      <p:sp>
        <p:nvSpPr>
          <p:cNvPr id="7" name="Text 5"/>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66</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8138160" cy="548640"/>
          </a:xfrm>
          <a:prstGeom prst="rect">
            <a:avLst/>
          </a:prstGeom>
          <a:noFill/>
          <a:ln/>
        </p:spPr>
        <p:txBody>
          <a:bodyPr wrap="square" lIns="0" tIns="0" rIns="0" bIns="0" rtlCol="0" anchor="ctr"/>
          <a:lstStyle/>
          <a:p>
            <a:pPr marL="0" indent="0">
              <a:buNone/>
            </a:pPr>
            <a:r>
              <a:rPr lang="en-US" sz="2700" b="1" dirty="0">
                <a:solidFill>
                  <a:srgbClr val="F3F5F7"/>
                </a:solidFill>
                <a:latin typeface="Trebuchet MS" pitchFamily="34" charset="0"/>
                <a:ea typeface="Trebuchet MS" pitchFamily="34" charset="-122"/>
                <a:cs typeface="Trebuchet MS" pitchFamily="34" charset="-120"/>
              </a:rPr>
              <a:t>Where API keys actually come from</a:t>
            </a:r>
            <a:endParaRPr lang="en-US" sz="2700" dirty="0"/>
          </a:p>
        </p:txBody>
      </p:sp>
      <p:sp>
        <p:nvSpPr>
          <p:cNvPr id="3" name="Text 1"/>
          <p:cNvSpPr/>
          <p:nvPr/>
        </p:nvSpPr>
        <p:spPr>
          <a:xfrm>
            <a:off x="502920" y="841248"/>
            <a:ext cx="8138160" cy="237744"/>
          </a:xfrm>
          <a:prstGeom prst="rect">
            <a:avLst/>
          </a:prstGeom>
          <a:noFill/>
          <a:ln/>
        </p:spPr>
        <p:txBody>
          <a:bodyPr wrap="square" lIns="0" tIns="0" rIns="0" bIns="0" rtlCol="0" anchor="ctr"/>
          <a:lstStyle/>
          <a:p>
            <a:pPr marL="0" indent="0">
              <a:buNone/>
            </a:pPr>
            <a:r>
              <a:rPr lang="en-US" sz="1100" b="1" kern="0" spc="200" dirty="0">
                <a:solidFill>
                  <a:srgbClr val="E8722C"/>
                </a:solidFill>
                <a:latin typeface="Calibri" pitchFamily="34" charset="0"/>
                <a:ea typeface="Calibri" pitchFamily="34" charset="-122"/>
                <a:cs typeface="Calibri" pitchFamily="34" charset="-120"/>
              </a:rPr>
              <a:t>APPENDIX · 1 OF 16</a:t>
            </a:r>
            <a:endParaRPr lang="en-US" sz="1100" dirty="0"/>
          </a:p>
        </p:txBody>
      </p:sp>
      <p:sp>
        <p:nvSpPr>
          <p:cNvPr id="4" name="Text 2"/>
          <p:cNvSpPr/>
          <p:nvPr/>
        </p:nvSpPr>
        <p:spPr>
          <a:xfrm>
            <a:off x="502920" y="1097280"/>
            <a:ext cx="8138160" cy="329184"/>
          </a:xfrm>
          <a:prstGeom prst="rect">
            <a:avLst/>
          </a:prstGeom>
          <a:noFill/>
          <a:ln/>
        </p:spPr>
        <p:txBody>
          <a:bodyPr wrap="square" lIns="0" tIns="0" rIns="0" bIns="0" rtlCol="0" anchor="t"/>
          <a:lstStyle/>
          <a:p>
            <a:pPr marL="0" indent="0" algn="l">
              <a:buNone/>
            </a:pPr>
            <a:r>
              <a:rPr lang="en-US" sz="1200" dirty="0">
                <a:solidFill>
                  <a:srgbClr val="D5DAE0"/>
                </a:solidFill>
                <a:latin typeface="Calibri" pitchFamily="34" charset="0"/>
                <a:ea typeface="Calibri" pitchFamily="34" charset="-122"/>
                <a:cs typeface="Calibri" pitchFamily="34" charset="-120"/>
              </a:rPr>
              <a:t>There is no sign-up page and no self-service portal. A key exists because whoever runs the exchange wrote it into the gateway's configuration — so getting one means asking that person, or editing the file yourself in your own lab.</a:t>
            </a:r>
            <a:endParaRPr lang="en-US" sz="1200" dirty="0"/>
          </a:p>
        </p:txBody>
      </p:sp>
      <p:sp>
        <p:nvSpPr>
          <p:cNvPr id="5" name="code panel">
            <a:extLst>
              <a:ext uri="{C183D7F6-B498-43B3-948B-1728B52AA6E4}">
                <adec:decorative xmlns:adec="http://schemas.microsoft.com/office/drawing/2017/decorative" val="1"/>
              </a:ext>
            </a:extLst>
          </p:cNvPr>
          <p:cNvSpPr/>
          <p:nvPr/>
        </p:nvSpPr>
        <p:spPr>
          <a:xfrm>
            <a:off x="502920" y="1572768"/>
            <a:ext cx="4572000" cy="2148840"/>
          </a:xfrm>
          <a:prstGeom prst="roundRect">
            <a:avLst>
              <a:gd name="adj" fmla="val 2128"/>
            </a:avLst>
          </a:prstGeom>
          <a:solidFill>
            <a:srgbClr val="121519"/>
          </a:solidFill>
          <a:ln w="12700">
            <a:solidFill>
              <a:srgbClr val="3A424B"/>
            </a:solidFill>
            <a:prstDash val="solid"/>
          </a:ln>
        </p:spPr>
        <p:txBody>
          <a:bodyPr/>
          <a:lstStyle/>
          <a:p>
            <a:endParaRPr lang="en-SE"/>
          </a:p>
        </p:txBody>
      </p:sp>
      <p:sp>
        <p:nvSpPr>
          <p:cNvPr id="6" name="code panel edge">
            <a:extLst>
              <a:ext uri="{C183D7F6-B498-43B3-948B-1728B52AA6E4}">
                <adec:decorative xmlns:adec="http://schemas.microsoft.com/office/drawing/2017/decorative" val="1"/>
              </a:ext>
            </a:extLst>
          </p:cNvPr>
          <p:cNvSpPr/>
          <p:nvPr/>
        </p:nvSpPr>
        <p:spPr>
          <a:xfrm>
            <a:off x="502920" y="1572768"/>
            <a:ext cx="54864" cy="2148840"/>
          </a:xfrm>
          <a:prstGeom prst="rect">
            <a:avLst/>
          </a:prstGeom>
          <a:solidFill>
            <a:srgbClr val="E8722C"/>
          </a:solidFill>
          <a:ln w="12700">
            <a:solidFill>
              <a:srgbClr val="E8722C"/>
            </a:solidFill>
            <a:prstDash val="solid"/>
          </a:ln>
        </p:spPr>
        <p:txBody>
          <a:bodyPr/>
          <a:lstStyle/>
          <a:p>
            <a:endParaRPr lang="en-SE"/>
          </a:p>
        </p:txBody>
      </p:sp>
      <p:sp>
        <p:nvSpPr>
          <p:cNvPr id="7" name="Text 5"/>
          <p:cNvSpPr/>
          <p:nvPr/>
        </p:nvSpPr>
        <p:spPr>
          <a:xfrm>
            <a:off x="704088" y="1700784"/>
            <a:ext cx="4206240" cy="1892808"/>
          </a:xfrm>
          <a:prstGeom prst="rect">
            <a:avLst/>
          </a:prstGeom>
          <a:noFill/>
          <a:ln/>
        </p:spPr>
        <p:txBody>
          <a:bodyPr wrap="square" lIns="0" tIns="0" rIns="0" bIns="0" rtlCol="0" anchor="t"/>
          <a:lstStyle/>
          <a:p>
            <a:pPr marL="0" indent="0">
              <a:buNone/>
            </a:pPr>
            <a:r>
              <a:rPr lang="en-US" sz="1050" b="1" dirty="0">
                <a:solidFill>
                  <a:srgbClr val="F2A65A"/>
                </a:solidFill>
                <a:latin typeface="Consolas" pitchFamily="34" charset="0"/>
                <a:ea typeface="Consolas" pitchFamily="34" charset="-122"/>
                <a:cs typeface="Consolas" pitchFamily="34" charset="-120"/>
              </a:rPr>
              <a:t>api_gateways:</a:t>
            </a:r>
            <a:endParaRPr lang="en-US" sz="1050" dirty="0"/>
          </a:p>
          <a:p>
            <a:pPr marL="0" indent="0">
              <a:buNone/>
            </a:pPr>
            <a:r>
              <a:rPr lang="en-US" sz="1050" dirty="0">
                <a:solidFill>
                  <a:srgbClr val="D5DAE0"/>
                </a:solidFill>
                <a:latin typeface="Consolas" pitchFamily="34" charset="0"/>
                <a:ea typeface="Consolas" pitchFamily="34" charset="-122"/>
                <a:cs typeface="Consolas" pitchFamily="34" charset="-120"/>
              </a:rPr>
              <a:t>  desk:</a:t>
            </a:r>
            <a:endParaRPr lang="en-US" sz="1050" dirty="0"/>
          </a:p>
          <a:p>
            <a:pPr marL="0" indent="0">
              <a:buNone/>
            </a:pPr>
            <a:r>
              <a:rPr lang="en-US" sz="1050" dirty="0">
                <a:solidFill>
                  <a:srgbClr val="F2A65A"/>
                </a:solidFill>
                <a:latin typeface="Consolas" pitchFamily="34" charset="0"/>
                <a:ea typeface="Consolas" pitchFamily="34" charset="-122"/>
                <a:cs typeface="Consolas" pitchFamily="34" charset="-120"/>
              </a:rPr>
              <a:t>    credentials:</a:t>
            </a:r>
            <a:endParaRPr lang="en-US" sz="1050" dirty="0"/>
          </a:p>
          <a:p>
            <a:pPr marL="0" indent="0">
              <a:buNone/>
            </a:pPr>
            <a:r>
              <a:rPr lang="en-US" sz="1050" dirty="0">
                <a:solidFill>
                  <a:srgbClr val="D5DAE0"/>
                </a:solidFill>
                <a:latin typeface="Consolas" pitchFamily="34" charset="0"/>
                <a:ea typeface="Consolas" pitchFamily="34" charset="-122"/>
                <a:cs typeface="Consolas" pitchFamily="34" charset="-120"/>
              </a:rPr>
              <a:t>      - api_key: key-trader-demo</a:t>
            </a:r>
            <a:endParaRPr lang="en-US" sz="1050" dirty="0"/>
          </a:p>
          <a:p>
            <a:pPr marL="0" indent="0">
              <a:buNone/>
            </a:pPr>
            <a:r>
              <a:rPr lang="en-US" sz="1050" dirty="0">
                <a:solidFill>
                  <a:srgbClr val="D5DAE0"/>
                </a:solidFill>
                <a:latin typeface="Consolas" pitchFamily="34" charset="0"/>
                <a:ea typeface="Consolas" pitchFamily="34" charset="-122"/>
                <a:cs typeface="Consolas" pitchFamily="34" charset="-120"/>
              </a:rPr>
              <a:t>        gateway_id: TRADER01</a:t>
            </a:r>
            <a:endParaRPr lang="en-US" sz="1050" dirty="0"/>
          </a:p>
          <a:p>
            <a:pPr marL="0" indent="0">
              <a:buNone/>
            </a:pPr>
            <a:r>
              <a:rPr lang="en-US" sz="1050" dirty="0">
                <a:solidFill>
                  <a:srgbClr val="D5DAE0"/>
                </a:solidFill>
                <a:latin typeface="Consolas" pitchFamily="34" charset="0"/>
                <a:ea typeface="Consolas" pitchFamily="34" charset="-122"/>
                <a:cs typeface="Consolas" pitchFamily="34" charset="-120"/>
              </a:rPr>
              <a:t>        description: Demo trading client</a:t>
            </a:r>
            <a:endParaRPr lang="en-US" sz="1050" dirty="0"/>
          </a:p>
          <a:p>
            <a:pPr marL="0" indent="0">
              <a:buNone/>
            </a:pPr>
            <a:r>
              <a:rPr lang="en-US" sz="1050" dirty="0">
                <a:solidFill>
                  <a:srgbClr val="D5DAE0"/>
                </a:solidFill>
                <a:latin typeface="Consolas" pitchFamily="34" charset="0"/>
                <a:ea typeface="Consolas" pitchFamily="34" charset="-122"/>
                <a:cs typeface="Consolas" pitchFamily="34" charset="-120"/>
              </a:rPr>
              <a:t>      - api_key: key-dashboard-demo</a:t>
            </a:r>
            <a:endParaRPr lang="en-US" sz="1050" dirty="0"/>
          </a:p>
          <a:p>
            <a:pPr marL="0" indent="0">
              <a:buNone/>
            </a:pPr>
            <a:r>
              <a:rPr lang="en-US" sz="1050" dirty="0">
                <a:solidFill>
                  <a:srgbClr val="D5DAE0"/>
                </a:solidFill>
                <a:latin typeface="Consolas" pitchFamily="34" charset="0"/>
                <a:ea typeface="Consolas" pitchFamily="34" charset="-122"/>
                <a:cs typeface="Consolas" pitchFamily="34" charset="-120"/>
              </a:rPr>
              <a:t>        gateway_id: null</a:t>
            </a:r>
            <a:endParaRPr lang="en-US" sz="1050" dirty="0"/>
          </a:p>
          <a:p>
            <a:pPr marL="0" indent="0">
              <a:buNone/>
            </a:pPr>
            <a:r>
              <a:rPr lang="en-US" sz="1050" dirty="0">
                <a:solidFill>
                  <a:srgbClr val="D5DAE0"/>
                </a:solidFill>
                <a:latin typeface="Consolas" pitchFamily="34" charset="0"/>
                <a:ea typeface="Consolas" pitchFamily="34" charset="-122"/>
                <a:cs typeface="Consolas" pitchFamily="34" charset="-120"/>
              </a:rPr>
              <a:t>        description: Read-only dashboard</a:t>
            </a:r>
            <a:endParaRPr lang="en-US" sz="1050" dirty="0"/>
          </a:p>
        </p:txBody>
      </p:sp>
      <p:sp>
        <p:nvSpPr>
          <p:cNvPr id="8" name="card background">
            <a:extLst>
              <a:ext uri="{C183D7F6-B498-43B3-948B-1728B52AA6E4}">
                <adec:decorative xmlns:adec="http://schemas.microsoft.com/office/drawing/2017/decorative" val="1"/>
              </a:ext>
            </a:extLst>
          </p:cNvPr>
          <p:cNvSpPr/>
          <p:nvPr/>
        </p:nvSpPr>
        <p:spPr>
          <a:xfrm>
            <a:off x="5349240" y="1572768"/>
            <a:ext cx="3291840" cy="2148840"/>
          </a:xfrm>
          <a:prstGeom prst="roundRect">
            <a:avLst>
              <a:gd name="adj" fmla="val 2553"/>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9" name="Text 7"/>
          <p:cNvSpPr/>
          <p:nvPr/>
        </p:nvSpPr>
        <p:spPr>
          <a:xfrm>
            <a:off x="5559552" y="1682496"/>
            <a:ext cx="2880360" cy="292608"/>
          </a:xfrm>
          <a:prstGeom prst="rect">
            <a:avLst/>
          </a:prstGeom>
          <a:noFill/>
          <a:ln/>
        </p:spPr>
        <p:txBody>
          <a:bodyPr wrap="square" lIns="0" tIns="0" rIns="0" bIns="0" rtlCol="0" anchor="ctr"/>
          <a:lstStyle/>
          <a:p>
            <a:pPr marL="0" indent="0">
              <a:buNone/>
            </a:pPr>
            <a:r>
              <a:rPr lang="en-US" sz="1400" b="1" dirty="0">
                <a:solidFill>
                  <a:srgbClr val="E8722C"/>
                </a:solidFill>
                <a:latin typeface="Trebuchet MS" pitchFamily="34" charset="0"/>
                <a:ea typeface="Trebuchet MS" pitchFamily="34" charset="-122"/>
                <a:cs typeface="Trebuchet MS" pitchFamily="34" charset="-120"/>
              </a:rPr>
              <a:t>Anatomy of one credential</a:t>
            </a:r>
            <a:endParaRPr lang="en-US" sz="1400" dirty="0"/>
          </a:p>
        </p:txBody>
      </p:sp>
      <p:sp>
        <p:nvSpPr>
          <p:cNvPr id="10" name="Text 8"/>
          <p:cNvSpPr/>
          <p:nvPr/>
        </p:nvSpPr>
        <p:spPr>
          <a:xfrm>
            <a:off x="5559552" y="2029968"/>
            <a:ext cx="2880360" cy="1572768"/>
          </a:xfrm>
          <a:prstGeom prst="rect">
            <a:avLst/>
          </a:prstGeom>
          <a:noFill/>
          <a:ln/>
        </p:spPr>
        <p:txBody>
          <a:bodyPr wrap="square" lIns="0" tIns="0" rIns="0" bIns="0" rtlCol="0" anchor="t"/>
          <a:lstStyle/>
          <a:p>
            <a:pPr marL="342900" indent="-342900">
              <a:spcAft>
                <a:spcPts val="800"/>
              </a:spcAft>
              <a:buSzPct val="100000"/>
              <a:buChar char="▪"/>
            </a:pPr>
            <a:r>
              <a:rPr lang="en-US" sz="1050" dirty="0">
                <a:solidFill>
                  <a:srgbClr val="D5DAE0"/>
                </a:solidFill>
                <a:latin typeface="Calibri" pitchFamily="34" charset="0"/>
                <a:ea typeface="Calibri" pitchFamily="34" charset="-122"/>
                <a:cs typeface="Calibri" pitchFamily="34" charset="-120"/>
              </a:rPr>
              <a:t>api_key — the literal string your client sends. Any text you choose; the demo ones are simply named to be readable.</a:t>
            </a:r>
            <a:endParaRPr lang="en-US" sz="1050" dirty="0"/>
          </a:p>
          <a:p>
            <a:pPr marL="342900" indent="-342900">
              <a:spcAft>
                <a:spcPts val="800"/>
              </a:spcAft>
              <a:buSzPct val="100000"/>
              <a:buChar char="▪"/>
            </a:pPr>
            <a:r>
              <a:rPr lang="en-US" sz="1050" dirty="0">
                <a:solidFill>
                  <a:srgbClr val="D5DAE0"/>
                </a:solidFill>
                <a:latin typeface="Calibri" pitchFamily="34" charset="0"/>
                <a:ea typeface="Calibri" pitchFamily="34" charset="-122"/>
                <a:cs typeface="Calibri" pitchFamily="34" charset="-120"/>
              </a:rPr>
              <a:t>gateway_id — the exchange identity the key acts as, or empty for a viewer.</a:t>
            </a:r>
            <a:endParaRPr lang="en-US" sz="1050" dirty="0"/>
          </a:p>
          <a:p>
            <a:pPr marL="342900" indent="-342900">
              <a:buSzPct val="100000"/>
              <a:buChar char="▪"/>
            </a:pPr>
            <a:r>
              <a:rPr lang="en-US" sz="1050" dirty="0">
                <a:solidFill>
                  <a:srgbClr val="D5DAE0"/>
                </a:solidFill>
                <a:latin typeface="Calibri" pitchFamily="34" charset="0"/>
                <a:ea typeface="Calibri" pitchFamily="34" charset="-122"/>
                <a:cs typeface="Calibri" pitchFamily="34" charset="-120"/>
              </a:rPr>
              <a:t>description — a human label, for your own benefit only.</a:t>
            </a:r>
            <a:endParaRPr lang="en-US" sz="1050" dirty="0"/>
          </a:p>
        </p:txBody>
      </p:sp>
      <p:sp>
        <p:nvSpPr>
          <p:cNvPr id="11" name="card background">
            <a:extLst>
              <a:ext uri="{C183D7F6-B498-43B3-948B-1728B52AA6E4}">
                <adec:decorative xmlns:adec="http://schemas.microsoft.com/office/drawing/2017/decorative" val="1"/>
              </a:ext>
            </a:extLst>
          </p:cNvPr>
          <p:cNvSpPr/>
          <p:nvPr/>
        </p:nvSpPr>
        <p:spPr>
          <a:xfrm>
            <a:off x="502920" y="3840480"/>
            <a:ext cx="8138160" cy="658368"/>
          </a:xfrm>
          <a:prstGeom prst="roundRect">
            <a:avLst>
              <a:gd name="adj" fmla="val 8333"/>
            </a:avLst>
          </a:prstGeom>
          <a:solidFill>
            <a:srgbClr val="2E353D"/>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2" name="Text 10"/>
          <p:cNvSpPr/>
          <p:nvPr/>
        </p:nvSpPr>
        <p:spPr>
          <a:xfrm>
            <a:off x="713232" y="3877056"/>
            <a:ext cx="7680960" cy="585216"/>
          </a:xfrm>
          <a:prstGeom prst="rect">
            <a:avLst/>
          </a:prstGeom>
          <a:noFill/>
          <a:ln/>
        </p:spPr>
        <p:txBody>
          <a:bodyPr wrap="square" lIns="0" tIns="0" rIns="0" bIns="0" rtlCol="0" anchor="ctr"/>
          <a:lstStyle/>
          <a:p>
            <a:pPr marL="0" indent="0">
              <a:buNone/>
            </a:pPr>
            <a:r>
              <a:rPr lang="en-US" sz="1150" dirty="0">
                <a:solidFill>
                  <a:srgbClr val="D5DAE0"/>
                </a:solidFill>
                <a:latin typeface="Calibri" pitchFamily="34" charset="0"/>
                <a:ea typeface="Calibri" pitchFamily="34" charset="-122"/>
                <a:cs typeface="Calibri" pitchFamily="34" charset="-120"/>
              </a:rPr>
              <a:t>The key is created, not generated: adding those three lines and restarting the gateway is the entire issuing process. Nothing is stored in a database and nothing is registered anywhere else.</a:t>
            </a:r>
            <a:endParaRPr lang="en-US" sz="1150" dirty="0"/>
          </a:p>
        </p:txBody>
      </p:sp>
      <p:sp>
        <p:nvSpPr>
          <p:cNvPr id="13" name="Text 11"/>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Technical appendix</a:t>
            </a:r>
            <a:endParaRPr lang="en-US" sz="900" dirty="0"/>
          </a:p>
        </p:txBody>
      </p:sp>
      <p:sp>
        <p:nvSpPr>
          <p:cNvPr id="14" name="Text 12"/>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67</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8138160" cy="548640"/>
          </a:xfrm>
          <a:prstGeom prst="rect">
            <a:avLst/>
          </a:prstGeom>
          <a:noFill/>
          <a:ln/>
        </p:spPr>
        <p:txBody>
          <a:bodyPr wrap="square" lIns="0" tIns="0" rIns="0" bIns="0" rtlCol="0" anchor="ctr"/>
          <a:lstStyle/>
          <a:p>
            <a:pPr marL="0" indent="0">
              <a:buNone/>
            </a:pPr>
            <a:r>
              <a:rPr lang="en-US" sz="2700" b="1" dirty="0">
                <a:solidFill>
                  <a:srgbClr val="F3F5F7"/>
                </a:solidFill>
                <a:latin typeface="Trebuchet MS" pitchFamily="34" charset="0"/>
                <a:ea typeface="Trebuchet MS" pitchFamily="34" charset="-122"/>
                <a:cs typeface="Trebuchet MS" pitchFamily="34" charset="-120"/>
              </a:rPr>
              <a:t>Why there are no passwords</a:t>
            </a:r>
            <a:endParaRPr lang="en-US" sz="2700" dirty="0"/>
          </a:p>
        </p:txBody>
      </p:sp>
      <p:sp>
        <p:nvSpPr>
          <p:cNvPr id="3" name="Text 1"/>
          <p:cNvSpPr/>
          <p:nvPr/>
        </p:nvSpPr>
        <p:spPr>
          <a:xfrm>
            <a:off x="502920" y="841248"/>
            <a:ext cx="8138160" cy="237744"/>
          </a:xfrm>
          <a:prstGeom prst="rect">
            <a:avLst/>
          </a:prstGeom>
          <a:noFill/>
          <a:ln/>
        </p:spPr>
        <p:txBody>
          <a:bodyPr wrap="square" lIns="0" tIns="0" rIns="0" bIns="0" rtlCol="0" anchor="ctr"/>
          <a:lstStyle/>
          <a:p>
            <a:pPr marL="0" indent="0">
              <a:buNone/>
            </a:pPr>
            <a:r>
              <a:rPr lang="en-US" sz="1100" b="1" kern="0" spc="200" dirty="0">
                <a:solidFill>
                  <a:srgbClr val="E8722C"/>
                </a:solidFill>
                <a:latin typeface="Calibri" pitchFamily="34" charset="0"/>
                <a:ea typeface="Calibri" pitchFamily="34" charset="-122"/>
                <a:cs typeface="Calibri" pitchFamily="34" charset="-120"/>
              </a:rPr>
              <a:t>APPENDIX · 2 OF 16</a:t>
            </a:r>
            <a:endParaRPr lang="en-US" sz="1100" dirty="0"/>
          </a:p>
        </p:txBody>
      </p:sp>
      <p:sp>
        <p:nvSpPr>
          <p:cNvPr id="4" name="card background">
            <a:extLst>
              <a:ext uri="{C183D7F6-B498-43B3-948B-1728B52AA6E4}">
                <adec:decorative xmlns:adec="http://schemas.microsoft.com/office/drawing/2017/decorative" val="1"/>
              </a:ext>
            </a:extLst>
          </p:cNvPr>
          <p:cNvSpPr/>
          <p:nvPr/>
        </p:nvSpPr>
        <p:spPr>
          <a:xfrm>
            <a:off x="502920" y="1207008"/>
            <a:ext cx="3959352" cy="2450592"/>
          </a:xfrm>
          <a:prstGeom prst="roundRect">
            <a:avLst>
              <a:gd name="adj" fmla="val 2239"/>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5" name="card top edge">
            <a:extLst>
              <a:ext uri="{C183D7F6-B498-43B3-948B-1728B52AA6E4}">
                <adec:decorative xmlns:adec="http://schemas.microsoft.com/office/drawing/2017/decorative" val="1"/>
              </a:ext>
            </a:extLst>
          </p:cNvPr>
          <p:cNvSpPr/>
          <p:nvPr/>
        </p:nvSpPr>
        <p:spPr>
          <a:xfrm>
            <a:off x="502920" y="1207008"/>
            <a:ext cx="3959352" cy="73152"/>
          </a:xfrm>
          <a:prstGeom prst="rect">
            <a:avLst/>
          </a:prstGeom>
          <a:solidFill>
            <a:srgbClr val="97A1AC"/>
          </a:solidFill>
          <a:ln w="12700">
            <a:solidFill>
              <a:srgbClr val="97A1AC"/>
            </a:solidFill>
            <a:prstDash val="solid"/>
          </a:ln>
        </p:spPr>
        <p:txBody>
          <a:bodyPr/>
          <a:lstStyle/>
          <a:p>
            <a:endParaRPr lang="en-SE"/>
          </a:p>
        </p:txBody>
      </p:sp>
      <p:sp>
        <p:nvSpPr>
          <p:cNvPr id="6" name="Text 4"/>
          <p:cNvSpPr/>
          <p:nvPr/>
        </p:nvSpPr>
        <p:spPr>
          <a:xfrm>
            <a:off x="740664" y="1426464"/>
            <a:ext cx="3502152" cy="365760"/>
          </a:xfrm>
          <a:prstGeom prst="rect">
            <a:avLst/>
          </a:prstGeom>
          <a:noFill/>
          <a:ln/>
        </p:spPr>
        <p:txBody>
          <a:bodyPr wrap="square" lIns="0" tIns="0" rIns="0" bIns="0" rtlCol="0" anchor="ctr"/>
          <a:lstStyle/>
          <a:p>
            <a:pPr marL="0" indent="0">
              <a:buNone/>
            </a:pPr>
            <a:r>
              <a:rPr lang="en-US" sz="1700" b="1" dirty="0">
                <a:solidFill>
                  <a:srgbClr val="97A1AC"/>
                </a:solidFill>
                <a:latin typeface="Trebuchet MS" pitchFamily="34" charset="0"/>
                <a:ea typeface="Trebuchet MS" pitchFamily="34" charset="-122"/>
                <a:cs typeface="Trebuchet MS" pitchFamily="34" charset="-120"/>
              </a:rPr>
              <a:t>A usual login system</a:t>
            </a:r>
            <a:endParaRPr lang="en-US" sz="1700" dirty="0"/>
          </a:p>
        </p:txBody>
      </p:sp>
      <p:sp>
        <p:nvSpPr>
          <p:cNvPr id="7" name="Text 5"/>
          <p:cNvSpPr/>
          <p:nvPr/>
        </p:nvSpPr>
        <p:spPr>
          <a:xfrm>
            <a:off x="740664" y="1792224"/>
            <a:ext cx="3502152" cy="274320"/>
          </a:xfrm>
          <a:prstGeom prst="rect">
            <a:avLst/>
          </a:prstGeom>
          <a:noFill/>
          <a:ln/>
        </p:spPr>
        <p:txBody>
          <a:bodyPr wrap="square" lIns="0" tIns="0" rIns="0" bIns="0" rtlCol="0" anchor="ctr"/>
          <a:lstStyle/>
          <a:p>
            <a:pPr marL="0" indent="0">
              <a:buNone/>
            </a:pPr>
            <a:r>
              <a:rPr lang="en-US" sz="1100" i="1" dirty="0">
                <a:solidFill>
                  <a:srgbClr val="97A1AC"/>
                </a:solidFill>
                <a:latin typeface="Calibri" pitchFamily="34" charset="0"/>
                <a:ea typeface="Calibri" pitchFamily="34" charset="-122"/>
                <a:cs typeface="Calibri" pitchFamily="34" charset="-120"/>
              </a:rPr>
              <a:t>Several moving parts</a:t>
            </a:r>
            <a:endParaRPr lang="en-US" sz="1100" dirty="0"/>
          </a:p>
        </p:txBody>
      </p:sp>
      <p:sp>
        <p:nvSpPr>
          <p:cNvPr id="8" name="Text 6"/>
          <p:cNvSpPr/>
          <p:nvPr/>
        </p:nvSpPr>
        <p:spPr>
          <a:xfrm>
            <a:off x="740664" y="2139696"/>
            <a:ext cx="3502152" cy="1335024"/>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A user name and a secret password</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A login call that exchanges them for a session token</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Tokens that expire and must be refreshed</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Server-side session state to keep track of</a:t>
            </a:r>
            <a:endParaRPr lang="en-US" sz="1150" dirty="0"/>
          </a:p>
        </p:txBody>
      </p:sp>
      <p:sp>
        <p:nvSpPr>
          <p:cNvPr id="9" name="card background">
            <a:extLst>
              <a:ext uri="{C183D7F6-B498-43B3-948B-1728B52AA6E4}">
                <adec:decorative xmlns:adec="http://schemas.microsoft.com/office/drawing/2017/decorative" val="1"/>
              </a:ext>
            </a:extLst>
          </p:cNvPr>
          <p:cNvSpPr/>
          <p:nvPr/>
        </p:nvSpPr>
        <p:spPr>
          <a:xfrm>
            <a:off x="4681728" y="1207008"/>
            <a:ext cx="3959352" cy="2450592"/>
          </a:xfrm>
          <a:prstGeom prst="roundRect">
            <a:avLst>
              <a:gd name="adj" fmla="val 2239"/>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0" name="card top edge">
            <a:extLst>
              <a:ext uri="{C183D7F6-B498-43B3-948B-1728B52AA6E4}">
                <adec:decorative xmlns:adec="http://schemas.microsoft.com/office/drawing/2017/decorative" val="1"/>
              </a:ext>
            </a:extLst>
          </p:cNvPr>
          <p:cNvSpPr/>
          <p:nvPr/>
        </p:nvSpPr>
        <p:spPr>
          <a:xfrm>
            <a:off x="4681728" y="1207008"/>
            <a:ext cx="3959352" cy="73152"/>
          </a:xfrm>
          <a:prstGeom prst="rect">
            <a:avLst/>
          </a:prstGeom>
          <a:solidFill>
            <a:srgbClr val="E8722C"/>
          </a:solidFill>
          <a:ln w="12700">
            <a:solidFill>
              <a:srgbClr val="E8722C"/>
            </a:solidFill>
            <a:prstDash val="solid"/>
          </a:ln>
        </p:spPr>
        <p:txBody>
          <a:bodyPr/>
          <a:lstStyle/>
          <a:p>
            <a:endParaRPr lang="en-SE"/>
          </a:p>
        </p:txBody>
      </p:sp>
      <p:sp>
        <p:nvSpPr>
          <p:cNvPr id="11" name="Text 9"/>
          <p:cNvSpPr/>
          <p:nvPr/>
        </p:nvSpPr>
        <p:spPr>
          <a:xfrm>
            <a:off x="4919472" y="1426464"/>
            <a:ext cx="3502152" cy="365760"/>
          </a:xfrm>
          <a:prstGeom prst="rect">
            <a:avLst/>
          </a:prstGeom>
          <a:noFill/>
          <a:ln/>
        </p:spPr>
        <p:txBody>
          <a:bodyPr wrap="square" lIns="0" tIns="0" rIns="0" bIns="0" rtlCol="0" anchor="ctr"/>
          <a:lstStyle/>
          <a:p>
            <a:pPr marL="0" indent="0">
              <a:buNone/>
            </a:pPr>
            <a:r>
              <a:rPr lang="en-US" sz="1700" b="1" dirty="0">
                <a:solidFill>
                  <a:srgbClr val="E8722C"/>
                </a:solidFill>
                <a:latin typeface="Trebuchet MS" pitchFamily="34" charset="0"/>
                <a:ea typeface="Trebuchet MS" pitchFamily="34" charset="-122"/>
                <a:cs typeface="Trebuchet MS" pitchFamily="34" charset="-120"/>
              </a:rPr>
              <a:t>This gateway</a:t>
            </a:r>
            <a:endParaRPr lang="en-US" sz="1700" dirty="0"/>
          </a:p>
        </p:txBody>
      </p:sp>
      <p:sp>
        <p:nvSpPr>
          <p:cNvPr id="12" name="Text 10"/>
          <p:cNvSpPr/>
          <p:nvPr/>
        </p:nvSpPr>
        <p:spPr>
          <a:xfrm>
            <a:off x="4919472" y="1792224"/>
            <a:ext cx="3502152" cy="274320"/>
          </a:xfrm>
          <a:prstGeom prst="rect">
            <a:avLst/>
          </a:prstGeom>
          <a:noFill/>
          <a:ln/>
        </p:spPr>
        <p:txBody>
          <a:bodyPr wrap="square" lIns="0" tIns="0" rIns="0" bIns="0" rtlCol="0" anchor="ctr"/>
          <a:lstStyle/>
          <a:p>
            <a:pPr marL="0" indent="0">
              <a:buNone/>
            </a:pPr>
            <a:r>
              <a:rPr lang="en-US" sz="1100" i="1" dirty="0">
                <a:solidFill>
                  <a:srgbClr val="97A1AC"/>
                </a:solidFill>
                <a:latin typeface="Calibri" pitchFamily="34" charset="0"/>
                <a:ea typeface="Calibri" pitchFamily="34" charset="-122"/>
                <a:cs typeface="Calibri" pitchFamily="34" charset="-120"/>
              </a:rPr>
              <a:t>One string, and nothing else</a:t>
            </a:r>
            <a:endParaRPr lang="en-US" sz="1100" dirty="0"/>
          </a:p>
        </p:txBody>
      </p:sp>
      <p:sp>
        <p:nvSpPr>
          <p:cNvPr id="13" name="Text 11"/>
          <p:cNvSpPr/>
          <p:nvPr/>
        </p:nvSpPr>
        <p:spPr>
          <a:xfrm>
            <a:off x="4919472" y="2139696"/>
            <a:ext cx="3502152" cy="1335024"/>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The API key is the whole credential — it names you and proves it</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No login call, no session, no refresh, nothing to expire</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Every request carries the key; the gateway checks its list</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The same string works for REST and for streams</a:t>
            </a:r>
            <a:endParaRPr lang="en-US" sz="1150" dirty="0"/>
          </a:p>
        </p:txBody>
      </p:sp>
      <p:sp>
        <p:nvSpPr>
          <p:cNvPr id="14" name="code panel">
            <a:extLst>
              <a:ext uri="{C183D7F6-B498-43B3-948B-1728B52AA6E4}">
                <adec:decorative xmlns:adec="http://schemas.microsoft.com/office/drawing/2017/decorative" val="1"/>
              </a:ext>
            </a:extLst>
          </p:cNvPr>
          <p:cNvSpPr/>
          <p:nvPr/>
        </p:nvSpPr>
        <p:spPr>
          <a:xfrm>
            <a:off x="502920" y="3767328"/>
            <a:ext cx="3959352" cy="658368"/>
          </a:xfrm>
          <a:prstGeom prst="roundRect">
            <a:avLst>
              <a:gd name="adj" fmla="val 6944"/>
            </a:avLst>
          </a:prstGeom>
          <a:solidFill>
            <a:srgbClr val="121519"/>
          </a:solidFill>
          <a:ln w="12700">
            <a:solidFill>
              <a:srgbClr val="3A424B"/>
            </a:solidFill>
            <a:prstDash val="solid"/>
          </a:ln>
        </p:spPr>
        <p:txBody>
          <a:bodyPr/>
          <a:lstStyle/>
          <a:p>
            <a:endParaRPr lang="en-SE"/>
          </a:p>
        </p:txBody>
      </p:sp>
      <p:sp>
        <p:nvSpPr>
          <p:cNvPr id="15" name="code panel edge">
            <a:extLst>
              <a:ext uri="{C183D7F6-B498-43B3-948B-1728B52AA6E4}">
                <adec:decorative xmlns:adec="http://schemas.microsoft.com/office/drawing/2017/decorative" val="1"/>
              </a:ext>
            </a:extLst>
          </p:cNvPr>
          <p:cNvSpPr/>
          <p:nvPr/>
        </p:nvSpPr>
        <p:spPr>
          <a:xfrm>
            <a:off x="502920" y="3767328"/>
            <a:ext cx="54864" cy="658368"/>
          </a:xfrm>
          <a:prstGeom prst="rect">
            <a:avLst/>
          </a:prstGeom>
          <a:solidFill>
            <a:srgbClr val="E8722C"/>
          </a:solidFill>
          <a:ln w="12700">
            <a:solidFill>
              <a:srgbClr val="E8722C"/>
            </a:solidFill>
            <a:prstDash val="solid"/>
          </a:ln>
        </p:spPr>
        <p:txBody>
          <a:bodyPr/>
          <a:lstStyle/>
          <a:p>
            <a:endParaRPr lang="en-SE"/>
          </a:p>
        </p:txBody>
      </p:sp>
      <p:sp>
        <p:nvSpPr>
          <p:cNvPr id="16" name="Text 14"/>
          <p:cNvSpPr/>
          <p:nvPr/>
        </p:nvSpPr>
        <p:spPr>
          <a:xfrm>
            <a:off x="704088" y="3895344"/>
            <a:ext cx="3593592" cy="402336"/>
          </a:xfrm>
          <a:prstGeom prst="rect">
            <a:avLst/>
          </a:prstGeom>
          <a:noFill/>
          <a:ln/>
        </p:spPr>
        <p:txBody>
          <a:bodyPr wrap="square" lIns="0" tIns="0" rIns="0" bIns="0" rtlCol="0" anchor="t"/>
          <a:lstStyle/>
          <a:p>
            <a:pPr marL="0" indent="0">
              <a:buNone/>
            </a:pPr>
            <a:r>
              <a:rPr lang="en-US" sz="1050" b="1" dirty="0">
                <a:solidFill>
                  <a:srgbClr val="F2A65A"/>
                </a:solidFill>
                <a:latin typeface="Consolas" pitchFamily="34" charset="0"/>
                <a:ea typeface="Consolas" pitchFamily="34" charset="-122"/>
                <a:cs typeface="Consolas" pitchFamily="34" charset="-120"/>
              </a:rPr>
              <a:t>Authorization: Bearer key-trader-demo</a:t>
            </a:r>
            <a:endParaRPr lang="en-US" sz="1050" dirty="0"/>
          </a:p>
        </p:txBody>
      </p:sp>
      <p:sp>
        <p:nvSpPr>
          <p:cNvPr id="17" name="code panel">
            <a:extLst>
              <a:ext uri="{C183D7F6-B498-43B3-948B-1728B52AA6E4}">
                <adec:decorative xmlns:adec="http://schemas.microsoft.com/office/drawing/2017/decorative" val="1"/>
              </a:ext>
            </a:extLst>
          </p:cNvPr>
          <p:cNvSpPr/>
          <p:nvPr/>
        </p:nvSpPr>
        <p:spPr>
          <a:xfrm>
            <a:off x="4681728" y="3767328"/>
            <a:ext cx="3959352" cy="658368"/>
          </a:xfrm>
          <a:prstGeom prst="roundRect">
            <a:avLst>
              <a:gd name="adj" fmla="val 6944"/>
            </a:avLst>
          </a:prstGeom>
          <a:solidFill>
            <a:srgbClr val="121519"/>
          </a:solidFill>
          <a:ln w="12700">
            <a:solidFill>
              <a:srgbClr val="3A424B"/>
            </a:solidFill>
            <a:prstDash val="solid"/>
          </a:ln>
        </p:spPr>
        <p:txBody>
          <a:bodyPr/>
          <a:lstStyle/>
          <a:p>
            <a:endParaRPr lang="en-SE"/>
          </a:p>
        </p:txBody>
      </p:sp>
      <p:sp>
        <p:nvSpPr>
          <p:cNvPr id="18" name="code panel edge">
            <a:extLst>
              <a:ext uri="{C183D7F6-B498-43B3-948B-1728B52AA6E4}">
                <adec:decorative xmlns:adec="http://schemas.microsoft.com/office/drawing/2017/decorative" val="1"/>
              </a:ext>
            </a:extLst>
          </p:cNvPr>
          <p:cNvSpPr/>
          <p:nvPr/>
        </p:nvSpPr>
        <p:spPr>
          <a:xfrm>
            <a:off x="4681728" y="3767328"/>
            <a:ext cx="54864" cy="658368"/>
          </a:xfrm>
          <a:prstGeom prst="rect">
            <a:avLst/>
          </a:prstGeom>
          <a:solidFill>
            <a:srgbClr val="35A79C"/>
          </a:solidFill>
          <a:ln w="12700">
            <a:solidFill>
              <a:srgbClr val="35A79C"/>
            </a:solidFill>
            <a:prstDash val="solid"/>
          </a:ln>
        </p:spPr>
        <p:txBody>
          <a:bodyPr/>
          <a:lstStyle/>
          <a:p>
            <a:endParaRPr lang="en-SE"/>
          </a:p>
        </p:txBody>
      </p:sp>
      <p:sp>
        <p:nvSpPr>
          <p:cNvPr id="19" name="Text 17"/>
          <p:cNvSpPr/>
          <p:nvPr/>
        </p:nvSpPr>
        <p:spPr>
          <a:xfrm>
            <a:off x="4882896" y="3895344"/>
            <a:ext cx="3593592" cy="402336"/>
          </a:xfrm>
          <a:prstGeom prst="rect">
            <a:avLst/>
          </a:prstGeom>
          <a:noFill/>
          <a:ln/>
        </p:spPr>
        <p:txBody>
          <a:bodyPr wrap="square" lIns="0" tIns="0" rIns="0" bIns="0" rtlCol="0" anchor="t"/>
          <a:lstStyle/>
          <a:p>
            <a:pPr marL="0" indent="0">
              <a:buNone/>
            </a:pPr>
            <a:r>
              <a:rPr lang="en-US" sz="1050" b="1" dirty="0">
                <a:solidFill>
                  <a:srgbClr val="F2A65A"/>
                </a:solidFill>
                <a:latin typeface="Consolas" pitchFamily="34" charset="0"/>
                <a:ea typeface="Consolas" pitchFamily="34" charset="-122"/>
                <a:cs typeface="Consolas" pitchFamily="34" charset="-120"/>
              </a:rPr>
              <a:t>{ "api_key": "key-trader-demo" }</a:t>
            </a:r>
            <a:endParaRPr lang="en-US" sz="1050" dirty="0"/>
          </a:p>
        </p:txBody>
      </p:sp>
      <p:sp>
        <p:nvSpPr>
          <p:cNvPr id="20" name="Text 18"/>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Technical appendix</a:t>
            </a:r>
            <a:endParaRPr lang="en-US" sz="900" dirty="0"/>
          </a:p>
        </p:txBody>
      </p:sp>
      <p:sp>
        <p:nvSpPr>
          <p:cNvPr id="21" name="Text 19"/>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68</a:t>
            </a:r>
            <a:endParaRPr lang="en-US" sz="9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8138160" cy="548640"/>
          </a:xfrm>
          <a:prstGeom prst="rect">
            <a:avLst/>
          </a:prstGeom>
          <a:noFill/>
          <a:ln/>
        </p:spPr>
        <p:txBody>
          <a:bodyPr wrap="square" lIns="0" tIns="0" rIns="0" bIns="0" rtlCol="0" anchor="ctr"/>
          <a:lstStyle/>
          <a:p>
            <a:pPr marL="0" indent="0">
              <a:buNone/>
            </a:pPr>
            <a:r>
              <a:rPr lang="en-US" sz="2700" b="1" dirty="0">
                <a:solidFill>
                  <a:srgbClr val="F3F5F7"/>
                </a:solidFill>
                <a:latin typeface="Trebuchet MS" pitchFamily="34" charset="0"/>
                <a:ea typeface="Trebuchet MS" pitchFamily="34" charset="-122"/>
                <a:cs typeface="Trebuchet MS" pitchFamily="34" charset="-120"/>
              </a:rPr>
              <a:t>Two lists must agree</a:t>
            </a:r>
            <a:endParaRPr lang="en-US" sz="2700" dirty="0"/>
          </a:p>
        </p:txBody>
      </p:sp>
      <p:sp>
        <p:nvSpPr>
          <p:cNvPr id="3" name="Text 1"/>
          <p:cNvSpPr/>
          <p:nvPr/>
        </p:nvSpPr>
        <p:spPr>
          <a:xfrm>
            <a:off x="502920" y="841248"/>
            <a:ext cx="8138160" cy="237744"/>
          </a:xfrm>
          <a:prstGeom prst="rect">
            <a:avLst/>
          </a:prstGeom>
          <a:noFill/>
          <a:ln/>
        </p:spPr>
        <p:txBody>
          <a:bodyPr wrap="square" lIns="0" tIns="0" rIns="0" bIns="0" rtlCol="0" anchor="ctr"/>
          <a:lstStyle/>
          <a:p>
            <a:pPr marL="0" indent="0">
              <a:buNone/>
            </a:pPr>
            <a:r>
              <a:rPr lang="en-US" sz="1100" b="1" kern="0" spc="200" dirty="0">
                <a:solidFill>
                  <a:srgbClr val="E8722C"/>
                </a:solidFill>
                <a:latin typeface="Calibri" pitchFamily="34" charset="0"/>
                <a:ea typeface="Calibri" pitchFamily="34" charset="-122"/>
                <a:cs typeface="Calibri" pitchFamily="34" charset="-120"/>
              </a:rPr>
              <a:t>APPENDIX · 3 OF 16</a:t>
            </a:r>
            <a:endParaRPr lang="en-US" sz="1100" dirty="0"/>
          </a:p>
        </p:txBody>
      </p:sp>
      <p:sp>
        <p:nvSpPr>
          <p:cNvPr id="4" name="Text 2"/>
          <p:cNvSpPr/>
          <p:nvPr/>
        </p:nvSpPr>
        <p:spPr>
          <a:xfrm>
            <a:off x="502920" y="1097280"/>
            <a:ext cx="8138160" cy="329184"/>
          </a:xfrm>
          <a:prstGeom prst="rect">
            <a:avLst/>
          </a:prstGeom>
          <a:noFill/>
          <a:ln/>
        </p:spPr>
        <p:txBody>
          <a:bodyPr wrap="square" lIns="0" tIns="0" rIns="0" bIns="0" rtlCol="0" anchor="t"/>
          <a:lstStyle/>
          <a:p>
            <a:pPr marL="0" indent="0" algn="l">
              <a:buNone/>
            </a:pPr>
            <a:r>
              <a:rPr lang="en-US" sz="1200" dirty="0">
                <a:solidFill>
                  <a:srgbClr val="D5DAE0"/>
                </a:solidFill>
                <a:latin typeface="Calibri" pitchFamily="34" charset="0"/>
                <a:ea typeface="Calibri" pitchFamily="34" charset="-122"/>
                <a:cs typeface="Calibri" pitchFamily="34" charset="-120"/>
              </a:rPr>
              <a:t>A key that looks perfectly correct still fails if the identity behind it is unknown to the engine. Authentication happens twice, in two different files.</a:t>
            </a:r>
            <a:endParaRPr lang="en-US" sz="1200" dirty="0"/>
          </a:p>
        </p:txBody>
      </p:sp>
      <p:sp>
        <p:nvSpPr>
          <p:cNvPr id="5" name="card background">
            <a:extLst>
              <a:ext uri="{C183D7F6-B498-43B3-948B-1728B52AA6E4}">
                <adec:decorative xmlns:adec="http://schemas.microsoft.com/office/drawing/2017/decorative" val="1"/>
              </a:ext>
            </a:extLst>
          </p:cNvPr>
          <p:cNvSpPr/>
          <p:nvPr/>
        </p:nvSpPr>
        <p:spPr>
          <a:xfrm>
            <a:off x="502920" y="1554480"/>
            <a:ext cx="2505456" cy="1234440"/>
          </a:xfrm>
          <a:prstGeom prst="roundRect">
            <a:avLst>
              <a:gd name="adj" fmla="val 4444"/>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6" name="card top edge">
            <a:extLst>
              <a:ext uri="{C183D7F6-B498-43B3-948B-1728B52AA6E4}">
                <adec:decorative xmlns:adec="http://schemas.microsoft.com/office/drawing/2017/decorative" val="1"/>
              </a:ext>
            </a:extLst>
          </p:cNvPr>
          <p:cNvSpPr/>
          <p:nvPr/>
        </p:nvSpPr>
        <p:spPr>
          <a:xfrm>
            <a:off x="502920" y="1554480"/>
            <a:ext cx="2505456" cy="64008"/>
          </a:xfrm>
          <a:prstGeom prst="rect">
            <a:avLst/>
          </a:prstGeom>
          <a:solidFill>
            <a:srgbClr val="E8722C"/>
          </a:solidFill>
          <a:ln w="12700">
            <a:solidFill>
              <a:srgbClr val="E8722C"/>
            </a:solidFill>
            <a:prstDash val="solid"/>
          </a:ln>
        </p:spPr>
        <p:txBody>
          <a:bodyPr/>
          <a:lstStyle/>
          <a:p>
            <a:endParaRPr lang="en-SE"/>
          </a:p>
        </p:txBody>
      </p:sp>
      <p:sp>
        <p:nvSpPr>
          <p:cNvPr id="7" name="Text 5"/>
          <p:cNvSpPr/>
          <p:nvPr/>
        </p:nvSpPr>
        <p:spPr>
          <a:xfrm>
            <a:off x="649224" y="1737360"/>
            <a:ext cx="2212848" cy="310896"/>
          </a:xfrm>
          <a:prstGeom prst="rect">
            <a:avLst/>
          </a:prstGeom>
          <a:noFill/>
          <a:ln/>
        </p:spPr>
        <p:txBody>
          <a:bodyPr wrap="square" lIns="0" tIns="0" rIns="0" bIns="0" rtlCol="0" anchor="ctr"/>
          <a:lstStyle/>
          <a:p>
            <a:pPr marL="0" indent="0" algn="ctr">
              <a:buNone/>
            </a:pPr>
            <a:r>
              <a:rPr lang="en-US" sz="1300" b="1" dirty="0">
                <a:solidFill>
                  <a:srgbClr val="E8722C"/>
                </a:solidFill>
                <a:latin typeface="Trebuchet MS" pitchFamily="34" charset="0"/>
                <a:ea typeface="Trebuchet MS" pitchFamily="34" charset="-122"/>
                <a:cs typeface="Trebuchet MS" pitchFamily="34" charset="-120"/>
              </a:rPr>
              <a:t>1 · The key list</a:t>
            </a:r>
            <a:endParaRPr lang="en-US" sz="1300" dirty="0"/>
          </a:p>
        </p:txBody>
      </p:sp>
      <p:sp>
        <p:nvSpPr>
          <p:cNvPr id="8" name="Text 6"/>
          <p:cNvSpPr/>
          <p:nvPr/>
        </p:nvSpPr>
        <p:spPr>
          <a:xfrm>
            <a:off x="630936" y="2066544"/>
            <a:ext cx="2249424" cy="612648"/>
          </a:xfrm>
          <a:prstGeom prst="rect">
            <a:avLst/>
          </a:prstGeom>
          <a:noFill/>
          <a:ln/>
        </p:spPr>
        <p:txBody>
          <a:bodyPr wrap="square" lIns="0" tIns="0" rIns="0" bIns="0" rtlCol="0" anchor="t"/>
          <a:lstStyle/>
          <a:p>
            <a:pPr marL="0" indent="0" algn="ctr">
              <a:buNone/>
            </a:pPr>
            <a:r>
              <a:rPr lang="en-US" sz="1050" dirty="0">
                <a:solidFill>
                  <a:srgbClr val="D5DAE0"/>
                </a:solidFill>
                <a:latin typeface="Calibri" pitchFamily="34" charset="0"/>
                <a:ea typeface="Calibri" pitchFamily="34" charset="-122"/>
                <a:cs typeface="Calibri" pitchFamily="34" charset="-120"/>
              </a:rPr>
              <a:t>The gateway's credentials decide whether the string is recognised at all</a:t>
            </a:r>
            <a:endParaRPr lang="en-US" sz="1050" dirty="0"/>
          </a:p>
        </p:txBody>
      </p:sp>
      <p:sp>
        <p:nvSpPr>
          <p:cNvPr id="9" name="Text 7"/>
          <p:cNvSpPr/>
          <p:nvPr/>
        </p:nvSpPr>
        <p:spPr>
          <a:xfrm>
            <a:off x="3008376" y="1952244"/>
            <a:ext cx="310896" cy="438912"/>
          </a:xfrm>
          <a:prstGeom prst="rect">
            <a:avLst/>
          </a:prstGeom>
          <a:noFill/>
          <a:ln/>
        </p:spPr>
        <p:txBody>
          <a:bodyPr wrap="square" lIns="0" tIns="0" rIns="0" bIns="0" rtlCol="0" anchor="ctr"/>
          <a:lstStyle/>
          <a:p>
            <a:pPr marL="0" indent="0" algn="ctr">
              <a:buNone/>
            </a:pPr>
            <a:r>
              <a:rPr lang="en-US" sz="2200" b="1" dirty="0">
                <a:solidFill>
                  <a:srgbClr val="E8722C"/>
                </a:solidFill>
                <a:latin typeface="Trebuchet MS" pitchFamily="34" charset="0"/>
                <a:ea typeface="Trebuchet MS" pitchFamily="34" charset="-122"/>
                <a:cs typeface="Trebuchet MS" pitchFamily="34" charset="-120"/>
              </a:rPr>
              <a:t>›</a:t>
            </a:r>
            <a:endParaRPr lang="en-US" sz="2200" dirty="0"/>
          </a:p>
        </p:txBody>
      </p:sp>
      <p:sp>
        <p:nvSpPr>
          <p:cNvPr id="10" name="card background">
            <a:extLst>
              <a:ext uri="{C183D7F6-B498-43B3-948B-1728B52AA6E4}">
                <adec:decorative xmlns:adec="http://schemas.microsoft.com/office/drawing/2017/decorative" val="1"/>
              </a:ext>
            </a:extLst>
          </p:cNvPr>
          <p:cNvSpPr/>
          <p:nvPr/>
        </p:nvSpPr>
        <p:spPr>
          <a:xfrm>
            <a:off x="3319272" y="1554480"/>
            <a:ext cx="2505456" cy="1234440"/>
          </a:xfrm>
          <a:prstGeom prst="roundRect">
            <a:avLst>
              <a:gd name="adj" fmla="val 4444"/>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1" name="card top edge">
            <a:extLst>
              <a:ext uri="{C183D7F6-B498-43B3-948B-1728B52AA6E4}">
                <adec:decorative xmlns:adec="http://schemas.microsoft.com/office/drawing/2017/decorative" val="1"/>
              </a:ext>
            </a:extLst>
          </p:cNvPr>
          <p:cNvSpPr/>
          <p:nvPr/>
        </p:nvSpPr>
        <p:spPr>
          <a:xfrm>
            <a:off x="3319272" y="1554480"/>
            <a:ext cx="2505456" cy="64008"/>
          </a:xfrm>
          <a:prstGeom prst="rect">
            <a:avLst/>
          </a:prstGeom>
          <a:solidFill>
            <a:srgbClr val="35A79C"/>
          </a:solidFill>
          <a:ln w="12700">
            <a:solidFill>
              <a:srgbClr val="35A79C"/>
            </a:solidFill>
            <a:prstDash val="solid"/>
          </a:ln>
        </p:spPr>
        <p:txBody>
          <a:bodyPr/>
          <a:lstStyle/>
          <a:p>
            <a:endParaRPr lang="en-SE"/>
          </a:p>
        </p:txBody>
      </p:sp>
      <p:sp>
        <p:nvSpPr>
          <p:cNvPr id="12" name="Text 10"/>
          <p:cNvSpPr/>
          <p:nvPr/>
        </p:nvSpPr>
        <p:spPr>
          <a:xfrm>
            <a:off x="3465576" y="1737360"/>
            <a:ext cx="2212848" cy="310896"/>
          </a:xfrm>
          <a:prstGeom prst="rect">
            <a:avLst/>
          </a:prstGeom>
          <a:noFill/>
          <a:ln/>
        </p:spPr>
        <p:txBody>
          <a:bodyPr wrap="square" lIns="0" tIns="0" rIns="0" bIns="0" rtlCol="0" anchor="ctr"/>
          <a:lstStyle/>
          <a:p>
            <a:pPr marL="0" indent="0" algn="ctr">
              <a:buNone/>
            </a:pPr>
            <a:r>
              <a:rPr lang="en-US" sz="1300" b="1" dirty="0">
                <a:solidFill>
                  <a:srgbClr val="35A79C"/>
                </a:solidFill>
                <a:latin typeface="Trebuchet MS" pitchFamily="34" charset="0"/>
                <a:ea typeface="Trebuchet MS" pitchFamily="34" charset="-122"/>
                <a:cs typeface="Trebuchet MS" pitchFamily="34" charset="-120"/>
              </a:rPr>
              <a:t>2 · The identity list</a:t>
            </a:r>
            <a:endParaRPr lang="en-US" sz="1300" dirty="0"/>
          </a:p>
        </p:txBody>
      </p:sp>
      <p:sp>
        <p:nvSpPr>
          <p:cNvPr id="13" name="Text 11"/>
          <p:cNvSpPr/>
          <p:nvPr/>
        </p:nvSpPr>
        <p:spPr>
          <a:xfrm>
            <a:off x="3447288" y="2066544"/>
            <a:ext cx="2249424" cy="612648"/>
          </a:xfrm>
          <a:prstGeom prst="rect">
            <a:avLst/>
          </a:prstGeom>
          <a:noFill/>
          <a:ln/>
        </p:spPr>
        <p:txBody>
          <a:bodyPr wrap="square" lIns="0" tIns="0" rIns="0" bIns="0" rtlCol="0" anchor="t"/>
          <a:lstStyle/>
          <a:p>
            <a:pPr marL="0" indent="0" algn="ctr">
              <a:buNone/>
            </a:pPr>
            <a:r>
              <a:rPr lang="en-US" sz="1050" dirty="0">
                <a:solidFill>
                  <a:srgbClr val="D5DAE0"/>
                </a:solidFill>
                <a:latin typeface="Calibri" pitchFamily="34" charset="0"/>
                <a:ea typeface="Calibri" pitchFamily="34" charset="-122"/>
                <a:cs typeface="Calibri" pitchFamily="34" charset="-120"/>
              </a:rPr>
              <a:t>The engine's own allow-list decides whether that identity may connect, and with which role</a:t>
            </a:r>
            <a:endParaRPr lang="en-US" sz="1050" dirty="0"/>
          </a:p>
        </p:txBody>
      </p:sp>
      <p:sp>
        <p:nvSpPr>
          <p:cNvPr id="14" name="Text 12"/>
          <p:cNvSpPr/>
          <p:nvPr/>
        </p:nvSpPr>
        <p:spPr>
          <a:xfrm>
            <a:off x="5824728" y="1952244"/>
            <a:ext cx="310896" cy="438912"/>
          </a:xfrm>
          <a:prstGeom prst="rect">
            <a:avLst/>
          </a:prstGeom>
          <a:noFill/>
          <a:ln/>
        </p:spPr>
        <p:txBody>
          <a:bodyPr wrap="square" lIns="0" tIns="0" rIns="0" bIns="0" rtlCol="0" anchor="ctr"/>
          <a:lstStyle/>
          <a:p>
            <a:pPr marL="0" indent="0" algn="ctr">
              <a:buNone/>
            </a:pPr>
            <a:r>
              <a:rPr lang="en-US" sz="2200" b="1" dirty="0">
                <a:solidFill>
                  <a:srgbClr val="E8722C"/>
                </a:solidFill>
                <a:latin typeface="Trebuchet MS" pitchFamily="34" charset="0"/>
                <a:ea typeface="Trebuchet MS" pitchFamily="34" charset="-122"/>
                <a:cs typeface="Trebuchet MS" pitchFamily="34" charset="-120"/>
              </a:rPr>
              <a:t>›</a:t>
            </a:r>
            <a:endParaRPr lang="en-US" sz="2200" dirty="0"/>
          </a:p>
        </p:txBody>
      </p:sp>
      <p:sp>
        <p:nvSpPr>
          <p:cNvPr id="15" name="card background">
            <a:extLst>
              <a:ext uri="{C183D7F6-B498-43B3-948B-1728B52AA6E4}">
                <adec:decorative xmlns:adec="http://schemas.microsoft.com/office/drawing/2017/decorative" val="1"/>
              </a:ext>
            </a:extLst>
          </p:cNvPr>
          <p:cNvSpPr/>
          <p:nvPr/>
        </p:nvSpPr>
        <p:spPr>
          <a:xfrm>
            <a:off x="6135624" y="1554480"/>
            <a:ext cx="2505456" cy="1234440"/>
          </a:xfrm>
          <a:prstGeom prst="roundRect">
            <a:avLst>
              <a:gd name="adj" fmla="val 4444"/>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6" name="card top edge">
            <a:extLst>
              <a:ext uri="{C183D7F6-B498-43B3-948B-1728B52AA6E4}">
                <adec:decorative xmlns:adec="http://schemas.microsoft.com/office/drawing/2017/decorative" val="1"/>
              </a:ext>
            </a:extLst>
          </p:cNvPr>
          <p:cNvSpPr/>
          <p:nvPr/>
        </p:nvSpPr>
        <p:spPr>
          <a:xfrm>
            <a:off x="6135624" y="1554480"/>
            <a:ext cx="2505456" cy="64008"/>
          </a:xfrm>
          <a:prstGeom prst="rect">
            <a:avLst/>
          </a:prstGeom>
          <a:solidFill>
            <a:srgbClr val="F2A65A"/>
          </a:solidFill>
          <a:ln w="12700">
            <a:solidFill>
              <a:srgbClr val="F2A65A"/>
            </a:solidFill>
            <a:prstDash val="solid"/>
          </a:ln>
        </p:spPr>
        <p:txBody>
          <a:bodyPr/>
          <a:lstStyle/>
          <a:p>
            <a:endParaRPr lang="en-SE"/>
          </a:p>
        </p:txBody>
      </p:sp>
      <p:sp>
        <p:nvSpPr>
          <p:cNvPr id="17" name="Text 15"/>
          <p:cNvSpPr/>
          <p:nvPr/>
        </p:nvSpPr>
        <p:spPr>
          <a:xfrm>
            <a:off x="6281928" y="1737360"/>
            <a:ext cx="2212848" cy="310896"/>
          </a:xfrm>
          <a:prstGeom prst="rect">
            <a:avLst/>
          </a:prstGeom>
          <a:noFill/>
          <a:ln/>
        </p:spPr>
        <p:txBody>
          <a:bodyPr wrap="square" lIns="0" tIns="0" rIns="0" bIns="0" rtlCol="0" anchor="ctr"/>
          <a:lstStyle/>
          <a:p>
            <a:pPr marL="0" indent="0" algn="ctr">
              <a:buNone/>
            </a:pPr>
            <a:r>
              <a:rPr lang="en-US" sz="1300" b="1" dirty="0">
                <a:solidFill>
                  <a:srgbClr val="F2A65A"/>
                </a:solidFill>
                <a:latin typeface="Trebuchet MS" pitchFamily="34" charset="0"/>
                <a:ea typeface="Trebuchet MS" pitchFamily="34" charset="-122"/>
                <a:cs typeface="Trebuchet MS" pitchFamily="34" charset="-120"/>
              </a:rPr>
              <a:t>3 · The verdict</a:t>
            </a:r>
            <a:endParaRPr lang="en-US" sz="1300" dirty="0"/>
          </a:p>
        </p:txBody>
      </p:sp>
      <p:sp>
        <p:nvSpPr>
          <p:cNvPr id="18" name="Text 16"/>
          <p:cNvSpPr/>
          <p:nvPr/>
        </p:nvSpPr>
        <p:spPr>
          <a:xfrm>
            <a:off x="6263640" y="2066544"/>
            <a:ext cx="2249424" cy="612648"/>
          </a:xfrm>
          <a:prstGeom prst="rect">
            <a:avLst/>
          </a:prstGeom>
          <a:noFill/>
          <a:ln/>
        </p:spPr>
        <p:txBody>
          <a:bodyPr wrap="square" lIns="0" tIns="0" rIns="0" bIns="0" rtlCol="0" anchor="t"/>
          <a:lstStyle/>
          <a:p>
            <a:pPr marL="0" indent="0" algn="ctr">
              <a:buNone/>
            </a:pPr>
            <a:r>
              <a:rPr lang="en-US" sz="1050" dirty="0">
                <a:solidFill>
                  <a:srgbClr val="D5DAE0"/>
                </a:solidFill>
                <a:latin typeface="Calibri" pitchFamily="34" charset="0"/>
                <a:ea typeface="Calibri" pitchFamily="34" charset="-122"/>
                <a:cs typeface="Calibri" pitchFamily="34" charset="-120"/>
              </a:rPr>
              <a:t>Both must agree before a single order can be sent</a:t>
            </a:r>
            <a:endParaRPr lang="en-US" sz="1050" dirty="0"/>
          </a:p>
        </p:txBody>
      </p:sp>
      <p:sp>
        <p:nvSpPr>
          <p:cNvPr id="19" name="card background">
            <a:extLst>
              <a:ext uri="{C183D7F6-B498-43B3-948B-1728B52AA6E4}">
                <adec:decorative xmlns:adec="http://schemas.microsoft.com/office/drawing/2017/decorative" val="1"/>
              </a:ext>
            </a:extLst>
          </p:cNvPr>
          <p:cNvSpPr/>
          <p:nvPr/>
        </p:nvSpPr>
        <p:spPr>
          <a:xfrm>
            <a:off x="502920" y="2971800"/>
            <a:ext cx="2566416" cy="1371600"/>
          </a:xfrm>
          <a:prstGeom prst="roundRect">
            <a:avLst>
              <a:gd name="adj" fmla="val 400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20" name="Text 18"/>
          <p:cNvSpPr/>
          <p:nvPr/>
        </p:nvSpPr>
        <p:spPr>
          <a:xfrm>
            <a:off x="722376" y="3154680"/>
            <a:ext cx="2164080" cy="329184"/>
          </a:xfrm>
          <a:prstGeom prst="rect">
            <a:avLst/>
          </a:prstGeom>
          <a:noFill/>
          <a:ln/>
        </p:spPr>
        <p:txBody>
          <a:bodyPr wrap="square" lIns="0" tIns="0" rIns="0" bIns="0" rtlCol="0" anchor="ctr"/>
          <a:lstStyle/>
          <a:p>
            <a:pPr marL="0" indent="0">
              <a:buNone/>
            </a:pPr>
            <a:r>
              <a:rPr lang="en-US" sz="1400" b="1" dirty="0">
                <a:solidFill>
                  <a:srgbClr val="D9534F"/>
                </a:solidFill>
                <a:latin typeface="Trebuchet MS" pitchFamily="34" charset="0"/>
                <a:ea typeface="Trebuchet MS" pitchFamily="34" charset="-122"/>
                <a:cs typeface="Trebuchet MS" pitchFamily="34" charset="-120"/>
              </a:rPr>
              <a:t>Unknown string</a:t>
            </a:r>
            <a:endParaRPr lang="en-US" sz="1400" dirty="0"/>
          </a:p>
        </p:txBody>
      </p:sp>
      <p:sp>
        <p:nvSpPr>
          <p:cNvPr id="21" name="Text 19"/>
          <p:cNvSpPr/>
          <p:nvPr/>
        </p:nvSpPr>
        <p:spPr>
          <a:xfrm>
            <a:off x="722376" y="3520440"/>
            <a:ext cx="2127504" cy="71323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Refused by the gateway with an authentication error before anything else happens.</a:t>
            </a:r>
            <a:endParaRPr lang="en-US" sz="1050" dirty="0"/>
          </a:p>
        </p:txBody>
      </p:sp>
      <p:sp>
        <p:nvSpPr>
          <p:cNvPr id="22" name="card background">
            <a:extLst>
              <a:ext uri="{C183D7F6-B498-43B3-948B-1728B52AA6E4}">
                <adec:decorative xmlns:adec="http://schemas.microsoft.com/office/drawing/2017/decorative" val="1"/>
              </a:ext>
            </a:extLst>
          </p:cNvPr>
          <p:cNvSpPr/>
          <p:nvPr/>
        </p:nvSpPr>
        <p:spPr>
          <a:xfrm>
            <a:off x="3288792" y="2971800"/>
            <a:ext cx="2566416" cy="1371600"/>
          </a:xfrm>
          <a:prstGeom prst="roundRect">
            <a:avLst>
              <a:gd name="adj" fmla="val 400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23" name="step marker">
            <a:extLst>
              <a:ext uri="{C183D7F6-B498-43B3-948B-1728B52AA6E4}">
                <adec:decorative xmlns:adec="http://schemas.microsoft.com/office/drawing/2017/decorative" val="1"/>
              </a:ext>
            </a:extLst>
          </p:cNvPr>
          <p:cNvSpPr/>
          <p:nvPr/>
        </p:nvSpPr>
        <p:spPr>
          <a:xfrm>
            <a:off x="3489960" y="3154680"/>
            <a:ext cx="310896" cy="310896"/>
          </a:xfrm>
          <a:prstGeom prst="ellipse">
            <a:avLst/>
          </a:prstGeom>
          <a:solidFill>
            <a:srgbClr val="F2A65A"/>
          </a:solidFill>
          <a:ln w="12700">
            <a:solidFill>
              <a:srgbClr val="F2A65A"/>
            </a:solidFill>
            <a:prstDash val="solid"/>
          </a:ln>
        </p:spPr>
        <p:txBody>
          <a:bodyPr/>
          <a:lstStyle/>
          <a:p>
            <a:endParaRPr lang="en-SE"/>
          </a:p>
        </p:txBody>
      </p:sp>
      <p:sp>
        <p:nvSpPr>
          <p:cNvPr id="24" name="Text 22"/>
          <p:cNvSpPr/>
          <p:nvPr/>
        </p:nvSpPr>
        <p:spPr>
          <a:xfrm>
            <a:off x="3489960" y="3154680"/>
            <a:ext cx="310896" cy="310896"/>
          </a:xfrm>
          <a:prstGeom prst="rect">
            <a:avLst/>
          </a:prstGeom>
          <a:noFill/>
          <a:ln/>
        </p:spPr>
        <p:txBody>
          <a:bodyPr wrap="square" lIns="0" tIns="0" rIns="0" bIns="0" rtlCol="0" anchor="ctr"/>
          <a:lstStyle/>
          <a:p>
            <a:pPr marL="0" indent="0" algn="ctr">
              <a:buNone/>
            </a:pPr>
            <a:endParaRPr lang="en-US" sz="1300" dirty="0"/>
          </a:p>
        </p:txBody>
      </p:sp>
      <p:sp>
        <p:nvSpPr>
          <p:cNvPr id="25" name="Text 23"/>
          <p:cNvSpPr/>
          <p:nvPr/>
        </p:nvSpPr>
        <p:spPr>
          <a:xfrm>
            <a:off x="3892296" y="3154680"/>
            <a:ext cx="1780032" cy="329184"/>
          </a:xfrm>
          <a:prstGeom prst="rect">
            <a:avLst/>
          </a:prstGeom>
          <a:noFill/>
          <a:ln/>
        </p:spPr>
        <p:txBody>
          <a:bodyPr wrap="square" lIns="0" tIns="0" rIns="0" bIns="0" rtlCol="0" anchor="ctr"/>
          <a:lstStyle/>
          <a:p>
            <a:pPr marL="0" indent="0">
              <a:buNone/>
            </a:pPr>
            <a:r>
              <a:rPr lang="en-US" sz="1400" b="1" dirty="0">
                <a:solidFill>
                  <a:srgbClr val="F2A65A"/>
                </a:solidFill>
                <a:latin typeface="Trebuchet MS" pitchFamily="34" charset="0"/>
                <a:ea typeface="Trebuchet MS" pitchFamily="34" charset="-122"/>
                <a:cs typeface="Trebuchet MS" pitchFamily="34" charset="-120"/>
              </a:rPr>
              <a:t>Known string, unknown identity</a:t>
            </a:r>
            <a:endParaRPr lang="en-US" sz="1400" dirty="0"/>
          </a:p>
        </p:txBody>
      </p:sp>
      <p:sp>
        <p:nvSpPr>
          <p:cNvPr id="26" name="Text 24"/>
          <p:cNvSpPr/>
          <p:nvPr/>
        </p:nvSpPr>
        <p:spPr>
          <a:xfrm>
            <a:off x="3508248" y="3520440"/>
            <a:ext cx="2127504" cy="71323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Refused with an engine authentication error — the key is fine, the identity is not allowed.</a:t>
            </a:r>
            <a:endParaRPr lang="en-US" sz="1050" dirty="0"/>
          </a:p>
        </p:txBody>
      </p:sp>
      <p:sp>
        <p:nvSpPr>
          <p:cNvPr id="27" name="card background">
            <a:extLst>
              <a:ext uri="{C183D7F6-B498-43B3-948B-1728B52AA6E4}">
                <adec:decorative xmlns:adec="http://schemas.microsoft.com/office/drawing/2017/decorative" val="1"/>
              </a:ext>
            </a:extLst>
          </p:cNvPr>
          <p:cNvSpPr/>
          <p:nvPr/>
        </p:nvSpPr>
        <p:spPr>
          <a:xfrm>
            <a:off x="6074664" y="2971800"/>
            <a:ext cx="2566416" cy="1371600"/>
          </a:xfrm>
          <a:prstGeom prst="roundRect">
            <a:avLst>
              <a:gd name="adj" fmla="val 400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28" name="Text 26"/>
          <p:cNvSpPr/>
          <p:nvPr/>
        </p:nvSpPr>
        <p:spPr>
          <a:xfrm>
            <a:off x="6294120" y="3154680"/>
            <a:ext cx="2164080" cy="329184"/>
          </a:xfrm>
          <a:prstGeom prst="rect">
            <a:avLst/>
          </a:prstGeom>
          <a:noFill/>
          <a:ln/>
        </p:spPr>
        <p:txBody>
          <a:bodyPr wrap="square" lIns="0" tIns="0" rIns="0" bIns="0" rtlCol="0" anchor="ctr"/>
          <a:lstStyle/>
          <a:p>
            <a:pPr marL="0" indent="0">
              <a:buNone/>
            </a:pPr>
            <a:r>
              <a:rPr lang="en-US" sz="1400" b="1" dirty="0">
                <a:solidFill>
                  <a:srgbClr val="35A79C"/>
                </a:solidFill>
                <a:latin typeface="Trebuchet MS" pitchFamily="34" charset="0"/>
                <a:ea typeface="Trebuchet MS" pitchFamily="34" charset="-122"/>
                <a:cs typeface="Trebuchet MS" pitchFamily="34" charset="-120"/>
              </a:rPr>
              <a:t>Known both, wrong power</a:t>
            </a:r>
            <a:endParaRPr lang="en-US" sz="1400" dirty="0"/>
          </a:p>
        </p:txBody>
      </p:sp>
      <p:sp>
        <p:nvSpPr>
          <p:cNvPr id="29" name="Text 27"/>
          <p:cNvSpPr/>
          <p:nvPr/>
        </p:nvSpPr>
        <p:spPr>
          <a:xfrm>
            <a:off x="6294120" y="3520440"/>
            <a:ext cx="2127504" cy="71323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Accepted, then refused per call: read-only keys cannot trade, non-admins cannot administer.</a:t>
            </a:r>
            <a:endParaRPr lang="en-US" sz="1050" dirty="0"/>
          </a:p>
        </p:txBody>
      </p:sp>
      <p:sp>
        <p:nvSpPr>
          <p:cNvPr id="30" name="Text 28"/>
          <p:cNvSpPr/>
          <p:nvPr/>
        </p:nvSpPr>
        <p:spPr>
          <a:xfrm>
            <a:off x="502920" y="4434840"/>
            <a:ext cx="8138160" cy="274320"/>
          </a:xfrm>
          <a:prstGeom prst="rect">
            <a:avLst/>
          </a:prstGeom>
          <a:noFill/>
          <a:ln/>
        </p:spPr>
        <p:txBody>
          <a:bodyPr wrap="square" lIns="0" tIns="0" rIns="0" bIns="0" rtlCol="0" anchor="t"/>
          <a:lstStyle/>
          <a:p>
            <a:pPr marL="0" indent="0" algn="l">
              <a:buNone/>
            </a:pPr>
            <a:r>
              <a:rPr lang="en-US" sz="1050" i="1" dirty="0">
                <a:solidFill>
                  <a:srgbClr val="97A1AC"/>
                </a:solidFill>
                <a:latin typeface="Calibri" pitchFamily="34" charset="0"/>
                <a:ea typeface="Calibri" pitchFamily="34" charset="-122"/>
                <a:cs typeface="Calibri" pitchFamily="34" charset="-120"/>
              </a:rPr>
              <a:t>Each trading identity may be used by only one gateway process; viewer credentials may be shared freely.</a:t>
            </a:r>
            <a:endParaRPr lang="en-US" sz="1050" dirty="0"/>
          </a:p>
        </p:txBody>
      </p:sp>
      <p:sp>
        <p:nvSpPr>
          <p:cNvPr id="31" name="Text 29"/>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Technical appendix</a:t>
            </a:r>
            <a:endParaRPr lang="en-US" sz="900" dirty="0"/>
          </a:p>
        </p:txBody>
      </p:sp>
      <p:sp>
        <p:nvSpPr>
          <p:cNvPr id="32" name="Text 30"/>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69</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8138160" cy="548640"/>
          </a:xfrm>
          <a:prstGeom prst="rect">
            <a:avLst/>
          </a:prstGeom>
          <a:noFill/>
          <a:ln/>
        </p:spPr>
        <p:txBody>
          <a:bodyPr wrap="square" lIns="0" tIns="0" rIns="0" bIns="0" rtlCol="0" anchor="ctr"/>
          <a:lstStyle/>
          <a:p>
            <a:pPr marL="0" indent="0">
              <a:buNone/>
            </a:pPr>
            <a:r>
              <a:rPr lang="en-US" sz="2700" b="1" dirty="0">
                <a:solidFill>
                  <a:srgbClr val="F3F5F7"/>
                </a:solidFill>
                <a:latin typeface="Trebuchet MS" pitchFamily="34" charset="0"/>
                <a:ea typeface="Trebuchet MS" pitchFamily="34" charset="-122"/>
                <a:cs typeface="Trebuchet MS" pitchFamily="34" charset="-120"/>
              </a:rPr>
              <a:t>Getting a key that works, step by step</a:t>
            </a:r>
            <a:endParaRPr lang="en-US" sz="2700" dirty="0"/>
          </a:p>
        </p:txBody>
      </p:sp>
      <p:sp>
        <p:nvSpPr>
          <p:cNvPr id="3" name="Text 1"/>
          <p:cNvSpPr/>
          <p:nvPr/>
        </p:nvSpPr>
        <p:spPr>
          <a:xfrm>
            <a:off x="502920" y="841248"/>
            <a:ext cx="8138160" cy="237744"/>
          </a:xfrm>
          <a:prstGeom prst="rect">
            <a:avLst/>
          </a:prstGeom>
          <a:noFill/>
          <a:ln/>
        </p:spPr>
        <p:txBody>
          <a:bodyPr wrap="square" lIns="0" tIns="0" rIns="0" bIns="0" rtlCol="0" anchor="ctr"/>
          <a:lstStyle/>
          <a:p>
            <a:pPr marL="0" indent="0">
              <a:buNone/>
            </a:pPr>
            <a:r>
              <a:rPr lang="en-US" sz="1100" b="1" kern="0" spc="200" dirty="0">
                <a:solidFill>
                  <a:srgbClr val="E8722C"/>
                </a:solidFill>
                <a:latin typeface="Calibri" pitchFamily="34" charset="0"/>
                <a:ea typeface="Calibri" pitchFamily="34" charset="-122"/>
                <a:cs typeface="Calibri" pitchFamily="34" charset="-120"/>
              </a:rPr>
              <a:t>APPENDIX · 4 OF 16</a:t>
            </a:r>
            <a:endParaRPr lang="en-US" sz="1100" dirty="0"/>
          </a:p>
        </p:txBody>
      </p:sp>
      <p:sp>
        <p:nvSpPr>
          <p:cNvPr id="4" name="card background">
            <a:extLst>
              <a:ext uri="{C183D7F6-B498-43B3-948B-1728B52AA6E4}">
                <adec:decorative xmlns:adec="http://schemas.microsoft.com/office/drawing/2017/decorative" val="1"/>
              </a:ext>
            </a:extLst>
          </p:cNvPr>
          <p:cNvSpPr/>
          <p:nvPr/>
        </p:nvSpPr>
        <p:spPr>
          <a:xfrm>
            <a:off x="502920" y="1170432"/>
            <a:ext cx="3959352" cy="960120"/>
          </a:xfrm>
          <a:prstGeom prst="roundRect">
            <a:avLst>
              <a:gd name="adj" fmla="val 5714"/>
            </a:avLst>
          </a:prstGeom>
          <a:solidFill>
            <a:srgbClr val="2E353D"/>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5" name="step marker">
            <a:extLst>
              <a:ext uri="{C183D7F6-B498-43B3-948B-1728B52AA6E4}">
                <adec:decorative xmlns:adec="http://schemas.microsoft.com/office/drawing/2017/decorative" val="1"/>
              </a:ext>
            </a:extLst>
          </p:cNvPr>
          <p:cNvSpPr/>
          <p:nvPr/>
        </p:nvSpPr>
        <p:spPr>
          <a:xfrm>
            <a:off x="685800" y="1335024"/>
            <a:ext cx="329184" cy="329184"/>
          </a:xfrm>
          <a:prstGeom prst="ellipse">
            <a:avLst/>
          </a:prstGeom>
          <a:solidFill>
            <a:srgbClr val="E8722C"/>
          </a:solidFill>
          <a:ln w="12700">
            <a:solidFill>
              <a:srgbClr val="E8722C"/>
            </a:solidFill>
            <a:prstDash val="solid"/>
          </a:ln>
        </p:spPr>
        <p:txBody>
          <a:bodyPr/>
          <a:lstStyle/>
          <a:p>
            <a:endParaRPr lang="en-SE"/>
          </a:p>
        </p:txBody>
      </p:sp>
      <p:sp>
        <p:nvSpPr>
          <p:cNvPr id="6" name="Text 4"/>
          <p:cNvSpPr/>
          <p:nvPr/>
        </p:nvSpPr>
        <p:spPr>
          <a:xfrm>
            <a:off x="685800" y="1335024"/>
            <a:ext cx="329184" cy="329184"/>
          </a:xfrm>
          <a:prstGeom prst="rect">
            <a:avLst/>
          </a:prstGeom>
          <a:noFill/>
          <a:ln/>
        </p:spPr>
        <p:txBody>
          <a:bodyPr wrap="square" lIns="0" tIns="0" rIns="0" bIns="0" rtlCol="0" anchor="ctr"/>
          <a:lstStyle/>
          <a:p>
            <a:pPr marL="0" indent="0" algn="ctr">
              <a:buNone/>
            </a:pPr>
            <a:r>
              <a:rPr lang="en-US" sz="1300" b="1" dirty="0">
                <a:solidFill>
                  <a:srgbClr val="13161A"/>
                </a:solidFill>
                <a:latin typeface="Trebuchet MS" pitchFamily="34" charset="0"/>
                <a:ea typeface="Trebuchet MS" pitchFamily="34" charset="-122"/>
                <a:cs typeface="Trebuchet MS" pitchFamily="34" charset="-120"/>
              </a:rPr>
              <a:t>1</a:t>
            </a:r>
            <a:endParaRPr lang="en-US" sz="1300" dirty="0"/>
          </a:p>
        </p:txBody>
      </p:sp>
      <p:sp>
        <p:nvSpPr>
          <p:cNvPr id="7" name="Text 5"/>
          <p:cNvSpPr/>
          <p:nvPr/>
        </p:nvSpPr>
        <p:spPr>
          <a:xfrm>
            <a:off x="1124712" y="1316736"/>
            <a:ext cx="3154680" cy="292608"/>
          </a:xfrm>
          <a:prstGeom prst="rect">
            <a:avLst/>
          </a:prstGeom>
          <a:noFill/>
          <a:ln/>
        </p:spPr>
        <p:txBody>
          <a:bodyPr wrap="square" lIns="0" tIns="0" rIns="0" bIns="0" rtlCol="0" anchor="ctr"/>
          <a:lstStyle/>
          <a:p>
            <a:pPr marL="0" indent="0">
              <a:buNone/>
            </a:pPr>
            <a:r>
              <a:rPr lang="en-US" sz="1250" b="1" dirty="0">
                <a:solidFill>
                  <a:srgbClr val="E8722C"/>
                </a:solidFill>
                <a:latin typeface="Trebuchet MS" pitchFamily="34" charset="0"/>
                <a:ea typeface="Trebuchet MS" pitchFamily="34" charset="-122"/>
                <a:cs typeface="Trebuchet MS" pitchFamily="34" charset="-120"/>
              </a:rPr>
              <a:t>Decide what the key is for</a:t>
            </a:r>
            <a:endParaRPr lang="en-US" sz="1250" dirty="0"/>
          </a:p>
        </p:txBody>
      </p:sp>
      <p:sp>
        <p:nvSpPr>
          <p:cNvPr id="8" name="Text 6"/>
          <p:cNvSpPr/>
          <p:nvPr/>
        </p:nvSpPr>
        <p:spPr>
          <a:xfrm>
            <a:off x="1124712" y="1627632"/>
            <a:ext cx="3154680" cy="438912"/>
          </a:xfrm>
          <a:prstGeom prst="rect">
            <a:avLst/>
          </a:prstGeom>
          <a:noFill/>
          <a:ln/>
        </p:spPr>
        <p:txBody>
          <a:bodyPr wrap="square" lIns="0" tIns="0" rIns="0" bIns="0" rtlCol="0" anchor="t"/>
          <a:lstStyle/>
          <a:p>
            <a:pPr marL="0" indent="0">
              <a:buNone/>
            </a:pPr>
            <a:r>
              <a:rPr lang="en-US" sz="1000" dirty="0">
                <a:solidFill>
                  <a:srgbClr val="D5DAE0"/>
                </a:solidFill>
                <a:latin typeface="Calibri" pitchFamily="34" charset="0"/>
                <a:ea typeface="Calibri" pitchFamily="34" charset="-122"/>
                <a:cs typeface="Calibri" pitchFamily="34" charset="-120"/>
              </a:rPr>
              <a:t>Displaying prices only, trading, or running the exchange. This single choice fixes everything that follows.</a:t>
            </a:r>
            <a:endParaRPr lang="en-US" sz="1000" dirty="0"/>
          </a:p>
        </p:txBody>
      </p:sp>
      <p:sp>
        <p:nvSpPr>
          <p:cNvPr id="9" name="card background">
            <a:extLst>
              <a:ext uri="{C183D7F6-B498-43B3-948B-1728B52AA6E4}">
                <adec:decorative xmlns:adec="http://schemas.microsoft.com/office/drawing/2017/decorative" val="1"/>
              </a:ext>
            </a:extLst>
          </p:cNvPr>
          <p:cNvSpPr/>
          <p:nvPr/>
        </p:nvSpPr>
        <p:spPr>
          <a:xfrm>
            <a:off x="4681728" y="1170432"/>
            <a:ext cx="3959352" cy="960120"/>
          </a:xfrm>
          <a:prstGeom prst="roundRect">
            <a:avLst>
              <a:gd name="adj" fmla="val 5714"/>
            </a:avLst>
          </a:prstGeom>
          <a:solidFill>
            <a:srgbClr val="2E353D"/>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0" name="step marker">
            <a:extLst>
              <a:ext uri="{C183D7F6-B498-43B3-948B-1728B52AA6E4}">
                <adec:decorative xmlns:adec="http://schemas.microsoft.com/office/drawing/2017/decorative" val="1"/>
              </a:ext>
            </a:extLst>
          </p:cNvPr>
          <p:cNvSpPr/>
          <p:nvPr/>
        </p:nvSpPr>
        <p:spPr>
          <a:xfrm>
            <a:off x="4864608" y="1335024"/>
            <a:ext cx="329184" cy="329184"/>
          </a:xfrm>
          <a:prstGeom prst="ellipse">
            <a:avLst/>
          </a:prstGeom>
          <a:solidFill>
            <a:srgbClr val="35A79C"/>
          </a:solidFill>
          <a:ln w="12700">
            <a:solidFill>
              <a:srgbClr val="35A79C"/>
            </a:solidFill>
            <a:prstDash val="solid"/>
          </a:ln>
        </p:spPr>
        <p:txBody>
          <a:bodyPr/>
          <a:lstStyle/>
          <a:p>
            <a:endParaRPr lang="en-SE"/>
          </a:p>
        </p:txBody>
      </p:sp>
      <p:sp>
        <p:nvSpPr>
          <p:cNvPr id="11" name="Text 9"/>
          <p:cNvSpPr/>
          <p:nvPr/>
        </p:nvSpPr>
        <p:spPr>
          <a:xfrm>
            <a:off x="4864608" y="1335024"/>
            <a:ext cx="329184" cy="329184"/>
          </a:xfrm>
          <a:prstGeom prst="rect">
            <a:avLst/>
          </a:prstGeom>
          <a:noFill/>
          <a:ln/>
        </p:spPr>
        <p:txBody>
          <a:bodyPr wrap="square" lIns="0" tIns="0" rIns="0" bIns="0" rtlCol="0" anchor="ctr"/>
          <a:lstStyle/>
          <a:p>
            <a:pPr marL="0" indent="0" algn="ctr">
              <a:buNone/>
            </a:pPr>
            <a:r>
              <a:rPr lang="en-US" sz="1300" b="1" dirty="0">
                <a:solidFill>
                  <a:srgbClr val="13161A"/>
                </a:solidFill>
                <a:latin typeface="Trebuchet MS" pitchFamily="34" charset="0"/>
                <a:ea typeface="Trebuchet MS" pitchFamily="34" charset="-122"/>
                <a:cs typeface="Trebuchet MS" pitchFamily="34" charset="-120"/>
              </a:rPr>
              <a:t>2</a:t>
            </a:r>
            <a:endParaRPr lang="en-US" sz="1300" dirty="0"/>
          </a:p>
        </p:txBody>
      </p:sp>
      <p:sp>
        <p:nvSpPr>
          <p:cNvPr id="12" name="Text 10"/>
          <p:cNvSpPr/>
          <p:nvPr/>
        </p:nvSpPr>
        <p:spPr>
          <a:xfrm>
            <a:off x="5303520" y="1316736"/>
            <a:ext cx="3154680" cy="292608"/>
          </a:xfrm>
          <a:prstGeom prst="rect">
            <a:avLst/>
          </a:prstGeom>
          <a:noFill/>
          <a:ln/>
        </p:spPr>
        <p:txBody>
          <a:bodyPr wrap="square" lIns="0" tIns="0" rIns="0" bIns="0" rtlCol="0" anchor="ctr"/>
          <a:lstStyle/>
          <a:p>
            <a:pPr marL="0" indent="0">
              <a:buNone/>
            </a:pPr>
            <a:r>
              <a:rPr lang="en-US" sz="1250" b="1" dirty="0">
                <a:solidFill>
                  <a:srgbClr val="35A79C"/>
                </a:solidFill>
                <a:latin typeface="Trebuchet MS" pitchFamily="34" charset="0"/>
                <a:ea typeface="Trebuchet MS" pitchFamily="34" charset="-122"/>
                <a:cs typeface="Trebuchet MS" pitchFamily="34" charset="-120"/>
              </a:rPr>
              <a:t>Choose the identity</a:t>
            </a:r>
            <a:endParaRPr lang="en-US" sz="1250" dirty="0"/>
          </a:p>
        </p:txBody>
      </p:sp>
      <p:sp>
        <p:nvSpPr>
          <p:cNvPr id="13" name="Text 11"/>
          <p:cNvSpPr/>
          <p:nvPr/>
        </p:nvSpPr>
        <p:spPr>
          <a:xfrm>
            <a:off x="5303520" y="1627632"/>
            <a:ext cx="3154680" cy="438912"/>
          </a:xfrm>
          <a:prstGeom prst="rect">
            <a:avLst/>
          </a:prstGeom>
          <a:noFill/>
          <a:ln/>
        </p:spPr>
        <p:txBody>
          <a:bodyPr wrap="square" lIns="0" tIns="0" rIns="0" bIns="0" rtlCol="0" anchor="t"/>
          <a:lstStyle/>
          <a:p>
            <a:pPr marL="0" indent="0">
              <a:buNone/>
            </a:pPr>
            <a:r>
              <a:rPr lang="en-US" sz="1000" dirty="0">
                <a:solidFill>
                  <a:srgbClr val="D5DAE0"/>
                </a:solidFill>
                <a:latin typeface="Calibri" pitchFamily="34" charset="0"/>
                <a:ea typeface="Calibri" pitchFamily="34" charset="-122"/>
                <a:cs typeface="Calibri" pitchFamily="34" charset="-120"/>
              </a:rPr>
              <a:t>For trading, pick an exchange identity that exists in the engine's allow-list with the role you need. For a viewer, leave it empty.</a:t>
            </a:r>
            <a:endParaRPr lang="en-US" sz="1000" dirty="0"/>
          </a:p>
        </p:txBody>
      </p:sp>
      <p:sp>
        <p:nvSpPr>
          <p:cNvPr id="14" name="card background">
            <a:extLst>
              <a:ext uri="{C183D7F6-B498-43B3-948B-1728B52AA6E4}">
                <adec:decorative xmlns:adec="http://schemas.microsoft.com/office/drawing/2017/decorative" val="1"/>
              </a:ext>
            </a:extLst>
          </p:cNvPr>
          <p:cNvSpPr/>
          <p:nvPr/>
        </p:nvSpPr>
        <p:spPr>
          <a:xfrm>
            <a:off x="502920" y="2267712"/>
            <a:ext cx="3959352" cy="960120"/>
          </a:xfrm>
          <a:prstGeom prst="roundRect">
            <a:avLst>
              <a:gd name="adj" fmla="val 5714"/>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5" name="step marker">
            <a:extLst>
              <a:ext uri="{C183D7F6-B498-43B3-948B-1728B52AA6E4}">
                <adec:decorative xmlns:adec="http://schemas.microsoft.com/office/drawing/2017/decorative" val="1"/>
              </a:ext>
            </a:extLst>
          </p:cNvPr>
          <p:cNvSpPr/>
          <p:nvPr/>
        </p:nvSpPr>
        <p:spPr>
          <a:xfrm>
            <a:off x="685800" y="2432304"/>
            <a:ext cx="329184" cy="329184"/>
          </a:xfrm>
          <a:prstGeom prst="ellipse">
            <a:avLst/>
          </a:prstGeom>
          <a:solidFill>
            <a:srgbClr val="F2A65A"/>
          </a:solidFill>
          <a:ln w="12700">
            <a:solidFill>
              <a:srgbClr val="F2A65A"/>
            </a:solidFill>
            <a:prstDash val="solid"/>
          </a:ln>
        </p:spPr>
        <p:txBody>
          <a:bodyPr/>
          <a:lstStyle/>
          <a:p>
            <a:endParaRPr lang="en-SE"/>
          </a:p>
        </p:txBody>
      </p:sp>
      <p:sp>
        <p:nvSpPr>
          <p:cNvPr id="16" name="Text 14"/>
          <p:cNvSpPr/>
          <p:nvPr/>
        </p:nvSpPr>
        <p:spPr>
          <a:xfrm>
            <a:off x="685800" y="2432304"/>
            <a:ext cx="329184" cy="329184"/>
          </a:xfrm>
          <a:prstGeom prst="rect">
            <a:avLst/>
          </a:prstGeom>
          <a:noFill/>
          <a:ln/>
        </p:spPr>
        <p:txBody>
          <a:bodyPr wrap="square" lIns="0" tIns="0" rIns="0" bIns="0" rtlCol="0" anchor="ctr"/>
          <a:lstStyle/>
          <a:p>
            <a:pPr marL="0" indent="0" algn="ctr">
              <a:buNone/>
            </a:pPr>
            <a:r>
              <a:rPr lang="en-US" sz="1300" b="1" dirty="0">
                <a:solidFill>
                  <a:srgbClr val="13161A"/>
                </a:solidFill>
                <a:latin typeface="Trebuchet MS" pitchFamily="34" charset="0"/>
                <a:ea typeface="Trebuchet MS" pitchFamily="34" charset="-122"/>
                <a:cs typeface="Trebuchet MS" pitchFamily="34" charset="-120"/>
              </a:rPr>
              <a:t>3</a:t>
            </a:r>
            <a:endParaRPr lang="en-US" sz="1300" dirty="0"/>
          </a:p>
        </p:txBody>
      </p:sp>
      <p:sp>
        <p:nvSpPr>
          <p:cNvPr id="17" name="Text 15"/>
          <p:cNvSpPr/>
          <p:nvPr/>
        </p:nvSpPr>
        <p:spPr>
          <a:xfrm>
            <a:off x="1124712" y="2414016"/>
            <a:ext cx="3154680" cy="292608"/>
          </a:xfrm>
          <a:prstGeom prst="rect">
            <a:avLst/>
          </a:prstGeom>
          <a:noFill/>
          <a:ln/>
        </p:spPr>
        <p:txBody>
          <a:bodyPr wrap="square" lIns="0" tIns="0" rIns="0" bIns="0" rtlCol="0" anchor="ctr"/>
          <a:lstStyle/>
          <a:p>
            <a:pPr marL="0" indent="0">
              <a:buNone/>
            </a:pPr>
            <a:r>
              <a:rPr lang="en-US" sz="1250" b="1" dirty="0">
                <a:solidFill>
                  <a:srgbClr val="F2A65A"/>
                </a:solidFill>
                <a:latin typeface="Trebuchet MS" pitchFamily="34" charset="0"/>
                <a:ea typeface="Trebuchet MS" pitchFamily="34" charset="-122"/>
                <a:cs typeface="Trebuchet MS" pitchFamily="34" charset="-120"/>
              </a:rPr>
              <a:t>Add the credential</a:t>
            </a:r>
            <a:endParaRPr lang="en-US" sz="1250" dirty="0"/>
          </a:p>
        </p:txBody>
      </p:sp>
      <p:sp>
        <p:nvSpPr>
          <p:cNvPr id="18" name="Text 16"/>
          <p:cNvSpPr/>
          <p:nvPr/>
        </p:nvSpPr>
        <p:spPr>
          <a:xfrm>
            <a:off x="1124712" y="2724912"/>
            <a:ext cx="3154680" cy="438912"/>
          </a:xfrm>
          <a:prstGeom prst="rect">
            <a:avLst/>
          </a:prstGeom>
          <a:noFill/>
          <a:ln/>
        </p:spPr>
        <p:txBody>
          <a:bodyPr wrap="square" lIns="0" tIns="0" rIns="0" bIns="0" rtlCol="0" anchor="t"/>
          <a:lstStyle/>
          <a:p>
            <a:pPr marL="0" indent="0">
              <a:buNone/>
            </a:pPr>
            <a:r>
              <a:rPr lang="en-US" sz="1000" dirty="0">
                <a:solidFill>
                  <a:srgbClr val="D5DAE0"/>
                </a:solidFill>
                <a:latin typeface="Calibri" pitchFamily="34" charset="0"/>
                <a:ea typeface="Calibri" pitchFamily="34" charset="-122"/>
                <a:cs typeface="Calibri" pitchFamily="34" charset="-120"/>
              </a:rPr>
              <a:t>Write the key string, the identity and a description into the gateway's configuration block.</a:t>
            </a:r>
            <a:endParaRPr lang="en-US" sz="1000" dirty="0"/>
          </a:p>
        </p:txBody>
      </p:sp>
      <p:sp>
        <p:nvSpPr>
          <p:cNvPr id="19" name="card background">
            <a:extLst>
              <a:ext uri="{C183D7F6-B498-43B3-948B-1728B52AA6E4}">
                <adec:decorative xmlns:adec="http://schemas.microsoft.com/office/drawing/2017/decorative" val="1"/>
              </a:ext>
            </a:extLst>
          </p:cNvPr>
          <p:cNvSpPr/>
          <p:nvPr/>
        </p:nvSpPr>
        <p:spPr>
          <a:xfrm>
            <a:off x="4681728" y="2267712"/>
            <a:ext cx="3959352" cy="960120"/>
          </a:xfrm>
          <a:prstGeom prst="roundRect">
            <a:avLst>
              <a:gd name="adj" fmla="val 5714"/>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20" name="step marker">
            <a:extLst>
              <a:ext uri="{C183D7F6-B498-43B3-948B-1728B52AA6E4}">
                <adec:decorative xmlns:adec="http://schemas.microsoft.com/office/drawing/2017/decorative" val="1"/>
              </a:ext>
            </a:extLst>
          </p:cNvPr>
          <p:cNvSpPr/>
          <p:nvPr/>
        </p:nvSpPr>
        <p:spPr>
          <a:xfrm>
            <a:off x="4864608" y="2432304"/>
            <a:ext cx="329184" cy="329184"/>
          </a:xfrm>
          <a:prstGeom prst="ellipse">
            <a:avLst/>
          </a:prstGeom>
          <a:solidFill>
            <a:srgbClr val="E8722C"/>
          </a:solidFill>
          <a:ln w="12700">
            <a:solidFill>
              <a:srgbClr val="E8722C"/>
            </a:solidFill>
            <a:prstDash val="solid"/>
          </a:ln>
        </p:spPr>
        <p:txBody>
          <a:bodyPr/>
          <a:lstStyle/>
          <a:p>
            <a:endParaRPr lang="en-SE"/>
          </a:p>
        </p:txBody>
      </p:sp>
      <p:sp>
        <p:nvSpPr>
          <p:cNvPr id="21" name="Text 19"/>
          <p:cNvSpPr/>
          <p:nvPr/>
        </p:nvSpPr>
        <p:spPr>
          <a:xfrm>
            <a:off x="4864608" y="2432304"/>
            <a:ext cx="329184" cy="329184"/>
          </a:xfrm>
          <a:prstGeom prst="rect">
            <a:avLst/>
          </a:prstGeom>
          <a:noFill/>
          <a:ln/>
        </p:spPr>
        <p:txBody>
          <a:bodyPr wrap="square" lIns="0" tIns="0" rIns="0" bIns="0" rtlCol="0" anchor="ctr"/>
          <a:lstStyle/>
          <a:p>
            <a:pPr marL="0" indent="0" algn="ctr">
              <a:buNone/>
            </a:pPr>
            <a:r>
              <a:rPr lang="en-US" sz="1300" b="1" dirty="0">
                <a:solidFill>
                  <a:srgbClr val="13161A"/>
                </a:solidFill>
                <a:latin typeface="Trebuchet MS" pitchFamily="34" charset="0"/>
                <a:ea typeface="Trebuchet MS" pitchFamily="34" charset="-122"/>
                <a:cs typeface="Trebuchet MS" pitchFamily="34" charset="-120"/>
              </a:rPr>
              <a:t>4</a:t>
            </a:r>
            <a:endParaRPr lang="en-US" sz="1300" dirty="0"/>
          </a:p>
        </p:txBody>
      </p:sp>
      <p:sp>
        <p:nvSpPr>
          <p:cNvPr id="22" name="Text 20"/>
          <p:cNvSpPr/>
          <p:nvPr/>
        </p:nvSpPr>
        <p:spPr>
          <a:xfrm>
            <a:off x="5303520" y="2414016"/>
            <a:ext cx="3154680" cy="292608"/>
          </a:xfrm>
          <a:prstGeom prst="rect">
            <a:avLst/>
          </a:prstGeom>
          <a:noFill/>
          <a:ln/>
        </p:spPr>
        <p:txBody>
          <a:bodyPr wrap="square" lIns="0" tIns="0" rIns="0" bIns="0" rtlCol="0" anchor="ctr"/>
          <a:lstStyle/>
          <a:p>
            <a:pPr marL="0" indent="0">
              <a:buNone/>
            </a:pPr>
            <a:r>
              <a:rPr lang="en-US" sz="1250" b="1" dirty="0">
                <a:solidFill>
                  <a:srgbClr val="E8722C"/>
                </a:solidFill>
                <a:latin typeface="Trebuchet MS" pitchFamily="34" charset="0"/>
                <a:ea typeface="Trebuchet MS" pitchFamily="34" charset="-122"/>
                <a:cs typeface="Trebuchet MS" pitchFamily="34" charset="-120"/>
              </a:rPr>
              <a:t>Restart the gateway</a:t>
            </a:r>
            <a:endParaRPr lang="en-US" sz="1250" dirty="0"/>
          </a:p>
        </p:txBody>
      </p:sp>
      <p:sp>
        <p:nvSpPr>
          <p:cNvPr id="23" name="Text 21"/>
          <p:cNvSpPr/>
          <p:nvPr/>
        </p:nvSpPr>
        <p:spPr>
          <a:xfrm>
            <a:off x="5303520" y="2724912"/>
            <a:ext cx="3154680" cy="438912"/>
          </a:xfrm>
          <a:prstGeom prst="rect">
            <a:avLst/>
          </a:prstGeom>
          <a:noFill/>
          <a:ln/>
        </p:spPr>
        <p:txBody>
          <a:bodyPr wrap="square" lIns="0" tIns="0" rIns="0" bIns="0" rtlCol="0" anchor="t"/>
          <a:lstStyle/>
          <a:p>
            <a:pPr marL="0" indent="0">
              <a:buNone/>
            </a:pPr>
            <a:r>
              <a:rPr lang="en-US" sz="1000" dirty="0">
                <a:solidFill>
                  <a:srgbClr val="D5DAE0"/>
                </a:solidFill>
                <a:latin typeface="Calibri" pitchFamily="34" charset="0"/>
                <a:ea typeface="Calibri" pitchFamily="34" charset="-122"/>
                <a:cs typeface="Calibri" pitchFamily="34" charset="-120"/>
              </a:rPr>
              <a:t>The credential list is read at start-up, so a new key only exists after a restart.</a:t>
            </a:r>
            <a:endParaRPr lang="en-US" sz="1000" dirty="0"/>
          </a:p>
        </p:txBody>
      </p:sp>
      <p:sp>
        <p:nvSpPr>
          <p:cNvPr id="24" name="card background">
            <a:extLst>
              <a:ext uri="{C183D7F6-B498-43B3-948B-1728B52AA6E4}">
                <adec:decorative xmlns:adec="http://schemas.microsoft.com/office/drawing/2017/decorative" val="1"/>
              </a:ext>
            </a:extLst>
          </p:cNvPr>
          <p:cNvSpPr/>
          <p:nvPr/>
        </p:nvSpPr>
        <p:spPr>
          <a:xfrm>
            <a:off x="502920" y="3364992"/>
            <a:ext cx="3959352" cy="960120"/>
          </a:xfrm>
          <a:prstGeom prst="roundRect">
            <a:avLst>
              <a:gd name="adj" fmla="val 5714"/>
            </a:avLst>
          </a:prstGeom>
          <a:solidFill>
            <a:srgbClr val="2E353D"/>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25" name="step marker">
            <a:extLst>
              <a:ext uri="{C183D7F6-B498-43B3-948B-1728B52AA6E4}">
                <adec:decorative xmlns:adec="http://schemas.microsoft.com/office/drawing/2017/decorative" val="1"/>
              </a:ext>
            </a:extLst>
          </p:cNvPr>
          <p:cNvSpPr/>
          <p:nvPr/>
        </p:nvSpPr>
        <p:spPr>
          <a:xfrm>
            <a:off x="685800" y="3529584"/>
            <a:ext cx="329184" cy="329184"/>
          </a:xfrm>
          <a:prstGeom prst="ellipse">
            <a:avLst/>
          </a:prstGeom>
          <a:solidFill>
            <a:srgbClr val="35A79C"/>
          </a:solidFill>
          <a:ln w="12700">
            <a:solidFill>
              <a:srgbClr val="35A79C"/>
            </a:solidFill>
            <a:prstDash val="solid"/>
          </a:ln>
        </p:spPr>
        <p:txBody>
          <a:bodyPr/>
          <a:lstStyle/>
          <a:p>
            <a:endParaRPr lang="en-SE"/>
          </a:p>
        </p:txBody>
      </p:sp>
      <p:sp>
        <p:nvSpPr>
          <p:cNvPr id="26" name="Text 24"/>
          <p:cNvSpPr/>
          <p:nvPr/>
        </p:nvSpPr>
        <p:spPr>
          <a:xfrm>
            <a:off x="685800" y="3529584"/>
            <a:ext cx="329184" cy="329184"/>
          </a:xfrm>
          <a:prstGeom prst="rect">
            <a:avLst/>
          </a:prstGeom>
          <a:noFill/>
          <a:ln/>
        </p:spPr>
        <p:txBody>
          <a:bodyPr wrap="square" lIns="0" tIns="0" rIns="0" bIns="0" rtlCol="0" anchor="ctr"/>
          <a:lstStyle/>
          <a:p>
            <a:pPr marL="0" indent="0" algn="ctr">
              <a:buNone/>
            </a:pPr>
            <a:r>
              <a:rPr lang="en-US" sz="1300" b="1" dirty="0">
                <a:solidFill>
                  <a:srgbClr val="13161A"/>
                </a:solidFill>
                <a:latin typeface="Trebuchet MS" pitchFamily="34" charset="0"/>
                <a:ea typeface="Trebuchet MS" pitchFamily="34" charset="-122"/>
                <a:cs typeface="Trebuchet MS" pitchFamily="34" charset="-120"/>
              </a:rPr>
              <a:t>5</a:t>
            </a:r>
            <a:endParaRPr lang="en-US" sz="1300" dirty="0"/>
          </a:p>
        </p:txBody>
      </p:sp>
      <p:sp>
        <p:nvSpPr>
          <p:cNvPr id="27" name="Text 25"/>
          <p:cNvSpPr/>
          <p:nvPr/>
        </p:nvSpPr>
        <p:spPr>
          <a:xfrm>
            <a:off x="1124712" y="3511296"/>
            <a:ext cx="3154680" cy="292608"/>
          </a:xfrm>
          <a:prstGeom prst="rect">
            <a:avLst/>
          </a:prstGeom>
          <a:noFill/>
          <a:ln/>
        </p:spPr>
        <p:txBody>
          <a:bodyPr wrap="square" lIns="0" tIns="0" rIns="0" bIns="0" rtlCol="0" anchor="ctr"/>
          <a:lstStyle/>
          <a:p>
            <a:pPr marL="0" indent="0">
              <a:buNone/>
            </a:pPr>
            <a:r>
              <a:rPr lang="en-US" sz="1250" b="1" dirty="0">
                <a:solidFill>
                  <a:srgbClr val="35A79C"/>
                </a:solidFill>
                <a:latin typeface="Trebuchet MS" pitchFamily="34" charset="0"/>
                <a:ea typeface="Trebuchet MS" pitchFamily="34" charset="-122"/>
                <a:cs typeface="Trebuchet MS" pitchFamily="34" charset="-120"/>
              </a:rPr>
              <a:t>Prove the gateway is up</a:t>
            </a:r>
            <a:endParaRPr lang="en-US" sz="1250" dirty="0"/>
          </a:p>
        </p:txBody>
      </p:sp>
      <p:sp>
        <p:nvSpPr>
          <p:cNvPr id="28" name="Text 26"/>
          <p:cNvSpPr/>
          <p:nvPr/>
        </p:nvSpPr>
        <p:spPr>
          <a:xfrm>
            <a:off x="1124712" y="3822192"/>
            <a:ext cx="3154680" cy="438912"/>
          </a:xfrm>
          <a:prstGeom prst="rect">
            <a:avLst/>
          </a:prstGeom>
          <a:noFill/>
          <a:ln/>
        </p:spPr>
        <p:txBody>
          <a:bodyPr wrap="square" lIns="0" tIns="0" rIns="0" bIns="0" rtlCol="0" anchor="t"/>
          <a:lstStyle/>
          <a:p>
            <a:pPr marL="0" indent="0">
              <a:buNone/>
            </a:pPr>
            <a:r>
              <a:rPr lang="en-US" sz="1000" dirty="0">
                <a:solidFill>
                  <a:srgbClr val="D5DAE0"/>
                </a:solidFill>
                <a:latin typeface="Calibri" pitchFamily="34" charset="0"/>
                <a:ea typeface="Calibri" pitchFamily="34" charset="-122"/>
                <a:cs typeface="Calibri" pitchFamily="34" charset="-120"/>
              </a:rPr>
              <a:t>Call the health endpoint. It needs no key, so a failure here is never a key problem.</a:t>
            </a:r>
            <a:endParaRPr lang="en-US" sz="1000" dirty="0"/>
          </a:p>
        </p:txBody>
      </p:sp>
      <p:sp>
        <p:nvSpPr>
          <p:cNvPr id="29" name="card background">
            <a:extLst>
              <a:ext uri="{C183D7F6-B498-43B3-948B-1728B52AA6E4}">
                <adec:decorative xmlns:adec="http://schemas.microsoft.com/office/drawing/2017/decorative" val="1"/>
              </a:ext>
            </a:extLst>
          </p:cNvPr>
          <p:cNvSpPr/>
          <p:nvPr/>
        </p:nvSpPr>
        <p:spPr>
          <a:xfrm>
            <a:off x="4681728" y="3364992"/>
            <a:ext cx="3959352" cy="960120"/>
          </a:xfrm>
          <a:prstGeom prst="roundRect">
            <a:avLst>
              <a:gd name="adj" fmla="val 5714"/>
            </a:avLst>
          </a:prstGeom>
          <a:solidFill>
            <a:srgbClr val="2E353D"/>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30" name="step marker">
            <a:extLst>
              <a:ext uri="{C183D7F6-B498-43B3-948B-1728B52AA6E4}">
                <adec:decorative xmlns:adec="http://schemas.microsoft.com/office/drawing/2017/decorative" val="1"/>
              </a:ext>
            </a:extLst>
          </p:cNvPr>
          <p:cNvSpPr/>
          <p:nvPr/>
        </p:nvSpPr>
        <p:spPr>
          <a:xfrm>
            <a:off x="4864608" y="3529584"/>
            <a:ext cx="329184" cy="329184"/>
          </a:xfrm>
          <a:prstGeom prst="ellipse">
            <a:avLst/>
          </a:prstGeom>
          <a:solidFill>
            <a:srgbClr val="F2A65A"/>
          </a:solidFill>
          <a:ln w="12700">
            <a:solidFill>
              <a:srgbClr val="F2A65A"/>
            </a:solidFill>
            <a:prstDash val="solid"/>
          </a:ln>
        </p:spPr>
        <p:txBody>
          <a:bodyPr/>
          <a:lstStyle/>
          <a:p>
            <a:endParaRPr lang="en-SE"/>
          </a:p>
        </p:txBody>
      </p:sp>
      <p:sp>
        <p:nvSpPr>
          <p:cNvPr id="31" name="Text 29"/>
          <p:cNvSpPr/>
          <p:nvPr/>
        </p:nvSpPr>
        <p:spPr>
          <a:xfrm>
            <a:off x="4864608" y="3529584"/>
            <a:ext cx="329184" cy="329184"/>
          </a:xfrm>
          <a:prstGeom prst="rect">
            <a:avLst/>
          </a:prstGeom>
          <a:noFill/>
          <a:ln/>
        </p:spPr>
        <p:txBody>
          <a:bodyPr wrap="square" lIns="0" tIns="0" rIns="0" bIns="0" rtlCol="0" anchor="ctr"/>
          <a:lstStyle/>
          <a:p>
            <a:pPr marL="0" indent="0" algn="ctr">
              <a:buNone/>
            </a:pPr>
            <a:r>
              <a:rPr lang="en-US" sz="1300" b="1" dirty="0">
                <a:solidFill>
                  <a:srgbClr val="13161A"/>
                </a:solidFill>
                <a:latin typeface="Trebuchet MS" pitchFamily="34" charset="0"/>
                <a:ea typeface="Trebuchet MS" pitchFamily="34" charset="-122"/>
                <a:cs typeface="Trebuchet MS" pitchFamily="34" charset="-120"/>
              </a:rPr>
              <a:t>6</a:t>
            </a:r>
            <a:endParaRPr lang="en-US" sz="1300" dirty="0"/>
          </a:p>
        </p:txBody>
      </p:sp>
      <p:sp>
        <p:nvSpPr>
          <p:cNvPr id="32" name="Text 30"/>
          <p:cNvSpPr/>
          <p:nvPr/>
        </p:nvSpPr>
        <p:spPr>
          <a:xfrm>
            <a:off x="5303520" y="3511296"/>
            <a:ext cx="3154680" cy="292608"/>
          </a:xfrm>
          <a:prstGeom prst="rect">
            <a:avLst/>
          </a:prstGeom>
          <a:noFill/>
          <a:ln/>
        </p:spPr>
        <p:txBody>
          <a:bodyPr wrap="square" lIns="0" tIns="0" rIns="0" bIns="0" rtlCol="0" anchor="ctr"/>
          <a:lstStyle/>
          <a:p>
            <a:pPr marL="0" indent="0">
              <a:buNone/>
            </a:pPr>
            <a:r>
              <a:rPr lang="en-US" sz="1250" b="1" dirty="0">
                <a:solidFill>
                  <a:srgbClr val="F2A65A"/>
                </a:solidFill>
                <a:latin typeface="Trebuchet MS" pitchFamily="34" charset="0"/>
                <a:ea typeface="Trebuchet MS" pitchFamily="34" charset="-122"/>
                <a:cs typeface="Trebuchet MS" pitchFamily="34" charset="-120"/>
              </a:rPr>
              <a:t>Prove the key works</a:t>
            </a:r>
            <a:endParaRPr lang="en-US" sz="1250" dirty="0"/>
          </a:p>
        </p:txBody>
      </p:sp>
      <p:sp>
        <p:nvSpPr>
          <p:cNvPr id="33" name="Text 31"/>
          <p:cNvSpPr/>
          <p:nvPr/>
        </p:nvSpPr>
        <p:spPr>
          <a:xfrm>
            <a:off x="5303520" y="3822192"/>
            <a:ext cx="3154680" cy="438912"/>
          </a:xfrm>
          <a:prstGeom prst="rect">
            <a:avLst/>
          </a:prstGeom>
          <a:noFill/>
          <a:ln/>
        </p:spPr>
        <p:txBody>
          <a:bodyPr wrap="square" lIns="0" tIns="0" rIns="0" bIns="0" rtlCol="0" anchor="t"/>
          <a:lstStyle/>
          <a:p>
            <a:pPr marL="0" indent="0">
              <a:buNone/>
            </a:pPr>
            <a:r>
              <a:rPr lang="en-US" sz="1000" dirty="0">
                <a:solidFill>
                  <a:srgbClr val="D5DAE0"/>
                </a:solidFill>
                <a:latin typeface="Calibri" pitchFamily="34" charset="0"/>
                <a:ea typeface="Calibri" pitchFamily="34" charset="-122"/>
                <a:cs typeface="Calibri" pitchFamily="34" charset="-120"/>
              </a:rPr>
              <a:t>Call the status endpoint with the key. A successful reply confirms both lists agree — you now have a working key.</a:t>
            </a:r>
            <a:endParaRPr lang="en-US" sz="1000" dirty="0"/>
          </a:p>
        </p:txBody>
      </p:sp>
      <p:sp>
        <p:nvSpPr>
          <p:cNvPr id="34" name="code panel">
            <a:extLst>
              <a:ext uri="{C183D7F6-B498-43B3-948B-1728B52AA6E4}">
                <adec:decorative xmlns:adec="http://schemas.microsoft.com/office/drawing/2017/decorative" val="1"/>
              </a:ext>
            </a:extLst>
          </p:cNvPr>
          <p:cNvSpPr/>
          <p:nvPr/>
        </p:nvSpPr>
        <p:spPr>
          <a:xfrm>
            <a:off x="502920" y="4315968"/>
            <a:ext cx="8138160" cy="384048"/>
          </a:xfrm>
          <a:prstGeom prst="roundRect">
            <a:avLst>
              <a:gd name="adj" fmla="val 11905"/>
            </a:avLst>
          </a:prstGeom>
          <a:solidFill>
            <a:srgbClr val="121519"/>
          </a:solidFill>
          <a:ln w="12700">
            <a:solidFill>
              <a:srgbClr val="3A424B"/>
            </a:solidFill>
            <a:prstDash val="solid"/>
          </a:ln>
        </p:spPr>
        <p:txBody>
          <a:bodyPr/>
          <a:lstStyle/>
          <a:p>
            <a:endParaRPr lang="en-SE"/>
          </a:p>
        </p:txBody>
      </p:sp>
      <p:sp>
        <p:nvSpPr>
          <p:cNvPr id="35" name="code panel edge">
            <a:extLst>
              <a:ext uri="{C183D7F6-B498-43B3-948B-1728B52AA6E4}">
                <adec:decorative xmlns:adec="http://schemas.microsoft.com/office/drawing/2017/decorative" val="1"/>
              </a:ext>
            </a:extLst>
          </p:cNvPr>
          <p:cNvSpPr/>
          <p:nvPr/>
        </p:nvSpPr>
        <p:spPr>
          <a:xfrm>
            <a:off x="502920" y="4315968"/>
            <a:ext cx="54864" cy="384048"/>
          </a:xfrm>
          <a:prstGeom prst="rect">
            <a:avLst/>
          </a:prstGeom>
          <a:solidFill>
            <a:srgbClr val="E8722C"/>
          </a:solidFill>
          <a:ln w="12700">
            <a:solidFill>
              <a:srgbClr val="E8722C"/>
            </a:solidFill>
            <a:prstDash val="solid"/>
          </a:ln>
        </p:spPr>
        <p:txBody>
          <a:bodyPr/>
          <a:lstStyle/>
          <a:p>
            <a:endParaRPr lang="en-SE"/>
          </a:p>
        </p:txBody>
      </p:sp>
      <p:sp>
        <p:nvSpPr>
          <p:cNvPr id="36" name="Text 34"/>
          <p:cNvSpPr/>
          <p:nvPr/>
        </p:nvSpPr>
        <p:spPr>
          <a:xfrm>
            <a:off x="704088" y="4443984"/>
            <a:ext cx="7772400" cy="128016"/>
          </a:xfrm>
          <a:prstGeom prst="rect">
            <a:avLst/>
          </a:prstGeom>
          <a:noFill/>
          <a:ln/>
        </p:spPr>
        <p:txBody>
          <a:bodyPr wrap="square" lIns="0" tIns="0" rIns="0" bIns="0" rtlCol="0" anchor="t"/>
          <a:lstStyle/>
          <a:p>
            <a:pPr marL="0" indent="0">
              <a:buNone/>
            </a:pPr>
            <a:r>
              <a:rPr lang="en-US" sz="1050" b="1" dirty="0">
                <a:solidFill>
                  <a:srgbClr val="F2A65A"/>
                </a:solidFill>
                <a:latin typeface="Consolas" pitchFamily="34" charset="0"/>
                <a:ea typeface="Consolas" pitchFamily="34" charset="-122"/>
                <a:cs typeface="Consolas" pitchFamily="34" charset="-120"/>
              </a:rPr>
              <a:t>curl -s -H "Authorization: Bearer YOUR-KEY" http://HOST:PORT/api/v1/status</a:t>
            </a:r>
            <a:endParaRPr lang="en-US" sz="1050" dirty="0"/>
          </a:p>
        </p:txBody>
      </p:sp>
      <p:sp>
        <p:nvSpPr>
          <p:cNvPr id="37" name="Text 35"/>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Technical appendix</a:t>
            </a:r>
            <a:endParaRPr lang="en-US" sz="900" dirty="0"/>
          </a:p>
        </p:txBody>
      </p:sp>
      <p:sp>
        <p:nvSpPr>
          <p:cNvPr id="38" name="Text 36"/>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70</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8138160" cy="548640"/>
          </a:xfrm>
          <a:prstGeom prst="rect">
            <a:avLst/>
          </a:prstGeom>
          <a:noFill/>
          <a:ln/>
        </p:spPr>
        <p:txBody>
          <a:bodyPr wrap="square" lIns="0" tIns="0" rIns="0" bIns="0" rtlCol="0" anchor="ctr"/>
          <a:lstStyle/>
          <a:p>
            <a:pPr marL="0" indent="0">
              <a:buNone/>
            </a:pPr>
            <a:r>
              <a:rPr lang="en-US" sz="2700" b="1" dirty="0">
                <a:solidFill>
                  <a:srgbClr val="F3F5F7"/>
                </a:solidFill>
                <a:latin typeface="Trebuchet MS" pitchFamily="34" charset="0"/>
                <a:ea typeface="Trebuchet MS" pitchFamily="34" charset="-122"/>
                <a:cs typeface="Trebuchet MS" pitchFamily="34" charset="-120"/>
              </a:rPr>
              <a:t>Reading the refusal</a:t>
            </a:r>
            <a:endParaRPr lang="en-US" sz="2700" dirty="0"/>
          </a:p>
        </p:txBody>
      </p:sp>
      <p:sp>
        <p:nvSpPr>
          <p:cNvPr id="3" name="Text 1"/>
          <p:cNvSpPr/>
          <p:nvPr/>
        </p:nvSpPr>
        <p:spPr>
          <a:xfrm>
            <a:off x="502920" y="841248"/>
            <a:ext cx="8138160" cy="237744"/>
          </a:xfrm>
          <a:prstGeom prst="rect">
            <a:avLst/>
          </a:prstGeom>
          <a:noFill/>
          <a:ln/>
        </p:spPr>
        <p:txBody>
          <a:bodyPr wrap="square" lIns="0" tIns="0" rIns="0" bIns="0" rtlCol="0" anchor="ctr"/>
          <a:lstStyle/>
          <a:p>
            <a:pPr marL="0" indent="0">
              <a:buNone/>
            </a:pPr>
            <a:r>
              <a:rPr lang="en-US" sz="1100" b="1" kern="0" spc="200" dirty="0">
                <a:solidFill>
                  <a:srgbClr val="E8722C"/>
                </a:solidFill>
                <a:latin typeface="Calibri" pitchFamily="34" charset="0"/>
                <a:ea typeface="Calibri" pitchFamily="34" charset="-122"/>
                <a:cs typeface="Calibri" pitchFamily="34" charset="-120"/>
              </a:rPr>
              <a:t>APPENDIX · 5 OF 16</a:t>
            </a:r>
            <a:endParaRPr lang="en-US" sz="1100" dirty="0"/>
          </a:p>
        </p:txBody>
      </p:sp>
      <p:sp>
        <p:nvSpPr>
          <p:cNvPr id="4" name="Text 2"/>
          <p:cNvSpPr/>
          <p:nvPr/>
        </p:nvSpPr>
        <p:spPr>
          <a:xfrm>
            <a:off x="502920" y="1097280"/>
            <a:ext cx="8138160" cy="329184"/>
          </a:xfrm>
          <a:prstGeom prst="rect">
            <a:avLst/>
          </a:prstGeom>
          <a:noFill/>
          <a:ln/>
        </p:spPr>
        <p:txBody>
          <a:bodyPr wrap="square" lIns="0" tIns="0" rIns="0" bIns="0" rtlCol="0" anchor="t"/>
          <a:lstStyle/>
          <a:p>
            <a:pPr marL="0" indent="0" algn="l">
              <a:buNone/>
            </a:pPr>
            <a:r>
              <a:rPr lang="en-US" sz="1200" dirty="0">
                <a:solidFill>
                  <a:srgbClr val="D5DAE0"/>
                </a:solidFill>
                <a:latin typeface="Calibri" pitchFamily="34" charset="0"/>
                <a:ea typeface="Calibri" pitchFamily="34" charset="-122"/>
                <a:cs typeface="Calibri" pitchFamily="34" charset="-120"/>
              </a:rPr>
              <a:t>Each failure names exactly which of the two lists rejected you, so a key problem never needs guesswork.</a:t>
            </a:r>
            <a:endParaRPr lang="en-US" sz="1200" dirty="0"/>
          </a:p>
        </p:txBody>
      </p:sp>
      <p:graphicFrame>
        <p:nvGraphicFramePr>
          <p:cNvPr id="72" name="Table 0"/>
          <p:cNvGraphicFramePr>
            <a:graphicFrameLocks noGrp="1"/>
          </p:cNvGraphicFramePr>
          <p:nvPr>
            <p:extLst>
              <p:ext uri="{D42A27DB-BD31-4B8C-83A1-F6EECF244321}">
                <p14:modId xmlns:p14="http://schemas.microsoft.com/office/powerpoint/2010/main" val="1101735926"/>
              </p:ext>
            </p:extLst>
          </p:nvPr>
        </p:nvGraphicFramePr>
        <p:xfrm>
          <a:off x="502920" y="1572768"/>
          <a:ext cx="8138160" cy="2304288"/>
        </p:xfrm>
        <a:graphic>
          <a:graphicData uri="http://schemas.openxmlformats.org/drawingml/2006/table">
            <a:tbl>
              <a:tblPr/>
              <a:tblGrid>
                <a:gridCol w="192024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3566160">
                  <a:extLst>
                    <a:ext uri="{9D8B030D-6E8A-4147-A177-3AD203B41FA5}">
                      <a16:colId xmlns:a16="http://schemas.microsoft.com/office/drawing/2014/main" val="20002"/>
                    </a:ext>
                  </a:extLst>
                </a:gridCol>
              </a:tblGrid>
              <a:tr h="384048">
                <a:tc>
                  <a:txBody>
                    <a:bodyPr/>
                    <a:lstStyle/>
                    <a:p>
                      <a:pPr marL="0" indent="0">
                        <a:buNone/>
                      </a:pPr>
                      <a:r>
                        <a:rPr lang="en-US" sz="1100" b="1">
                          <a:solidFill>
                            <a:srgbClr val="121519"/>
                          </a:solidFill>
                          <a:latin typeface="Trebuchet MS" pitchFamily="34" charset="0"/>
                          <a:ea typeface="Trebuchet MS" pitchFamily="34" charset="-122"/>
                          <a:cs typeface="Trebuchet MS" pitchFamily="34" charset="-120"/>
                        </a:rPr>
                        <a:t>What you see</a:t>
                      </a:r>
                      <a:endParaRPr lang="en-US" sz="1100" dirty="0">
                        <a:latin typeface="Trebuchet MS" charset="0"/>
                        <a:ea typeface="Trebuchet MS" charset="0"/>
                        <a:cs typeface="Trebuchet M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E8722C"/>
                    </a:solidFill>
                  </a:tcPr>
                </a:tc>
                <a:tc>
                  <a:txBody>
                    <a:bodyPr/>
                    <a:lstStyle/>
                    <a:p>
                      <a:pPr marL="0" indent="0">
                        <a:buNone/>
                      </a:pPr>
                      <a:r>
                        <a:rPr lang="en-US" sz="1100" b="1">
                          <a:solidFill>
                            <a:srgbClr val="121519"/>
                          </a:solidFill>
                          <a:latin typeface="Trebuchet MS" pitchFamily="34" charset="0"/>
                          <a:ea typeface="Trebuchet MS" pitchFamily="34" charset="-122"/>
                          <a:cs typeface="Trebuchet MS" pitchFamily="34" charset="-120"/>
                        </a:rPr>
                        <a:t>What it means</a:t>
                      </a:r>
                      <a:endParaRPr lang="en-US" sz="1100" dirty="0">
                        <a:latin typeface="Trebuchet MS" charset="0"/>
                        <a:ea typeface="Trebuchet MS" charset="0"/>
                        <a:cs typeface="Trebuchet M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E8722C"/>
                    </a:solidFill>
                  </a:tcPr>
                </a:tc>
                <a:tc>
                  <a:txBody>
                    <a:bodyPr/>
                    <a:lstStyle/>
                    <a:p>
                      <a:pPr marL="0" indent="0">
                        <a:buNone/>
                      </a:pPr>
                      <a:r>
                        <a:rPr lang="en-US" sz="1100" b="1">
                          <a:solidFill>
                            <a:srgbClr val="121519"/>
                          </a:solidFill>
                          <a:latin typeface="Trebuchet MS" pitchFamily="34" charset="0"/>
                          <a:ea typeface="Trebuchet MS" pitchFamily="34" charset="-122"/>
                          <a:cs typeface="Trebuchet MS" pitchFamily="34" charset="-120"/>
                        </a:rPr>
                        <a:t>What to change</a:t>
                      </a:r>
                      <a:endParaRPr lang="en-US" sz="1100" dirty="0">
                        <a:latin typeface="Trebuchet MS" charset="0"/>
                        <a:ea typeface="Trebuchet MS" charset="0"/>
                        <a:cs typeface="Trebuchet M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E8722C"/>
                    </a:solidFill>
                  </a:tcPr>
                </a:tc>
                <a:extLst>
                  <a:ext uri="{0D108BD9-81ED-4DB2-BD59-A6C34878D82A}">
                    <a16:rowId xmlns:a16="http://schemas.microsoft.com/office/drawing/2014/main" val="10000"/>
                  </a:ext>
                </a:extLst>
              </a:tr>
              <a:tr h="384048">
                <a:tc>
                  <a:txBody>
                    <a:bodyPr/>
                    <a:lstStyle/>
                    <a:p>
                      <a:pPr marL="0" indent="0">
                        <a:buNone/>
                      </a:pPr>
                      <a:r>
                        <a:rPr lang="en-US" sz="1000">
                          <a:solidFill>
                            <a:srgbClr val="F2A65A"/>
                          </a:solidFill>
                          <a:latin typeface="Consolas" pitchFamily="34" charset="0"/>
                          <a:ea typeface="Consolas" pitchFamily="34" charset="-122"/>
                          <a:cs typeface="Consolas" pitchFamily="34" charset="-120"/>
                        </a:rPr>
                        <a:t>AUTH, 401</a:t>
                      </a:r>
                      <a:endParaRPr lang="en-US" sz="100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1000">
                          <a:solidFill>
                            <a:srgbClr val="D5DAE0"/>
                          </a:solidFill>
                          <a:latin typeface="Calibri" pitchFamily="34" charset="0"/>
                          <a:ea typeface="Calibri" pitchFamily="34" charset="-122"/>
                          <a:cs typeface="Calibri" pitchFamily="34" charset="-120"/>
                        </a:rPr>
                        <a:t>The gateway does not know this string</a:t>
                      </a:r>
                      <a:endParaRPr lang="en-US" sz="10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1000">
                          <a:solidFill>
                            <a:srgbClr val="D5DAE0"/>
                          </a:solidFill>
                          <a:latin typeface="Calibri" pitchFamily="34" charset="0"/>
                          <a:ea typeface="Calibri" pitchFamily="34" charset="-122"/>
                          <a:cs typeface="Calibri" pitchFamily="34" charset="-120"/>
                        </a:rPr>
                        <a:t>Check for a typo, or that the gateway was restarted after the key was added</a:t>
                      </a:r>
                      <a:endParaRPr lang="en-US" sz="10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extLst>
                  <a:ext uri="{0D108BD9-81ED-4DB2-BD59-A6C34878D82A}">
                    <a16:rowId xmlns:a16="http://schemas.microsoft.com/office/drawing/2014/main" val="10001"/>
                  </a:ext>
                </a:extLst>
              </a:tr>
              <a:tr h="384048">
                <a:tc>
                  <a:txBody>
                    <a:bodyPr/>
                    <a:lstStyle/>
                    <a:p>
                      <a:pPr marL="0" indent="0">
                        <a:buNone/>
                      </a:pPr>
                      <a:r>
                        <a:rPr lang="en-US" sz="1000">
                          <a:solidFill>
                            <a:srgbClr val="F2A65A"/>
                          </a:solidFill>
                          <a:latin typeface="Consolas" pitchFamily="34" charset="0"/>
                          <a:ea typeface="Consolas" pitchFamily="34" charset="-122"/>
                          <a:cs typeface="Consolas" pitchFamily="34" charset="-120"/>
                        </a:rPr>
                        <a:t>ENGINE_AUTH, 403</a:t>
                      </a:r>
                      <a:endParaRPr lang="en-US" sz="100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1000">
                          <a:solidFill>
                            <a:srgbClr val="D5DAE0"/>
                          </a:solidFill>
                          <a:latin typeface="Calibri" pitchFamily="34" charset="0"/>
                          <a:ea typeface="Calibri" pitchFamily="34" charset="-122"/>
                          <a:cs typeface="Calibri" pitchFamily="34" charset="-120"/>
                        </a:rPr>
                        <a:t>The string is known, the identity is not allowed</a:t>
                      </a:r>
                      <a:endParaRPr lang="en-US" sz="10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1000">
                          <a:solidFill>
                            <a:srgbClr val="D5DAE0"/>
                          </a:solidFill>
                          <a:latin typeface="Calibri" pitchFamily="34" charset="0"/>
                          <a:ea typeface="Calibri" pitchFamily="34" charset="-122"/>
                          <a:cs typeface="Calibri" pitchFamily="34" charset="-120"/>
                        </a:rPr>
                        <a:t>Add the identity to the engine's allow-list, or point the key at one that exists</a:t>
                      </a:r>
                      <a:endParaRPr lang="en-US" sz="10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extLst>
                  <a:ext uri="{0D108BD9-81ED-4DB2-BD59-A6C34878D82A}">
                    <a16:rowId xmlns:a16="http://schemas.microsoft.com/office/drawing/2014/main" val="10002"/>
                  </a:ext>
                </a:extLst>
              </a:tr>
              <a:tr h="384048">
                <a:tc>
                  <a:txBody>
                    <a:bodyPr/>
                    <a:lstStyle/>
                    <a:p>
                      <a:pPr marL="0" indent="0">
                        <a:buNone/>
                      </a:pPr>
                      <a:r>
                        <a:rPr lang="en-US" sz="1000">
                          <a:solidFill>
                            <a:srgbClr val="F2A65A"/>
                          </a:solidFill>
                          <a:latin typeface="Consolas" pitchFamily="34" charset="0"/>
                          <a:ea typeface="Consolas" pitchFamily="34" charset="-122"/>
                          <a:cs typeface="Consolas" pitchFamily="34" charset="-120"/>
                        </a:rPr>
                        <a:t>READ_ONLY, 403</a:t>
                      </a:r>
                      <a:endParaRPr lang="en-US" sz="100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1000">
                          <a:solidFill>
                            <a:srgbClr val="D5DAE0"/>
                          </a:solidFill>
                          <a:latin typeface="Calibri" pitchFamily="34" charset="0"/>
                          <a:ea typeface="Calibri" pitchFamily="34" charset="-122"/>
                          <a:cs typeface="Calibri" pitchFamily="34" charset="-120"/>
                        </a:rPr>
                        <a:t>A viewer key called a trading endpoint</a:t>
                      </a:r>
                      <a:endParaRPr lang="en-US" sz="10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1000">
                          <a:solidFill>
                            <a:srgbClr val="D5DAE0"/>
                          </a:solidFill>
                          <a:latin typeface="Calibri" pitchFamily="34" charset="0"/>
                          <a:ea typeface="Calibri" pitchFamily="34" charset="-122"/>
                          <a:cs typeface="Calibri" pitchFamily="34" charset="-120"/>
                        </a:rPr>
                        <a:t>Use a key that carries an identity</a:t>
                      </a:r>
                      <a:endParaRPr lang="en-US" sz="10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extLst>
                  <a:ext uri="{0D108BD9-81ED-4DB2-BD59-A6C34878D82A}">
                    <a16:rowId xmlns:a16="http://schemas.microsoft.com/office/drawing/2014/main" val="10003"/>
                  </a:ext>
                </a:extLst>
              </a:tr>
              <a:tr h="384048">
                <a:tc>
                  <a:txBody>
                    <a:bodyPr/>
                    <a:lstStyle/>
                    <a:p>
                      <a:pPr marL="0" indent="0">
                        <a:buNone/>
                      </a:pPr>
                      <a:r>
                        <a:rPr lang="en-US" sz="1000">
                          <a:solidFill>
                            <a:srgbClr val="F2A65A"/>
                          </a:solidFill>
                          <a:latin typeface="Consolas" pitchFamily="34" charset="0"/>
                          <a:ea typeface="Consolas" pitchFamily="34" charset="-122"/>
                          <a:cs typeface="Consolas" pitchFamily="34" charset="-120"/>
                        </a:rPr>
                        <a:t>ROLE_DENIED, 403</a:t>
                      </a:r>
                      <a:endParaRPr lang="en-US" sz="100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1000">
                          <a:solidFill>
                            <a:srgbClr val="D5DAE0"/>
                          </a:solidFill>
                          <a:latin typeface="Calibri" pitchFamily="34" charset="0"/>
                          <a:ea typeface="Calibri" pitchFamily="34" charset="-122"/>
                          <a:cs typeface="Calibri" pitchFamily="34" charset="-120"/>
                        </a:rPr>
                        <a:t>The identity lacks the administrative role</a:t>
                      </a:r>
                      <a:endParaRPr lang="en-US" sz="10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1000">
                          <a:solidFill>
                            <a:srgbClr val="D5DAE0"/>
                          </a:solidFill>
                          <a:latin typeface="Calibri" pitchFamily="34" charset="0"/>
                          <a:ea typeface="Calibri" pitchFamily="34" charset="-122"/>
                          <a:cs typeface="Calibri" pitchFamily="34" charset="-120"/>
                        </a:rPr>
                        <a:t>Grant that role at the engine, or use an admin identity</a:t>
                      </a:r>
                      <a:endParaRPr lang="en-US" sz="10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extLst>
                  <a:ext uri="{0D108BD9-81ED-4DB2-BD59-A6C34878D82A}">
                    <a16:rowId xmlns:a16="http://schemas.microsoft.com/office/drawing/2014/main" val="10004"/>
                  </a:ext>
                </a:extLst>
              </a:tr>
              <a:tr h="384048">
                <a:tc>
                  <a:txBody>
                    <a:bodyPr/>
                    <a:lstStyle/>
                    <a:p>
                      <a:pPr marL="0" indent="0">
                        <a:buNone/>
                      </a:pPr>
                      <a:r>
                        <a:rPr lang="en-US" sz="1000">
                          <a:solidFill>
                            <a:srgbClr val="F2A65A"/>
                          </a:solidFill>
                          <a:latin typeface="Consolas" pitchFamily="34" charset="0"/>
                          <a:ea typeface="Consolas" pitchFamily="34" charset="-122"/>
                          <a:cs typeface="Consolas" pitchFamily="34" charset="-120"/>
                        </a:rPr>
                        <a:t>Health fails as well</a:t>
                      </a:r>
                      <a:endParaRPr lang="en-US" sz="100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1000">
                          <a:solidFill>
                            <a:srgbClr val="D5DAE0"/>
                          </a:solidFill>
                          <a:latin typeface="Calibri" pitchFamily="34" charset="0"/>
                          <a:ea typeface="Calibri" pitchFamily="34" charset="-122"/>
                          <a:cs typeface="Calibri" pitchFamily="34" charset="-120"/>
                        </a:rPr>
                        <a:t>Not a key problem at all</a:t>
                      </a:r>
                      <a:endParaRPr lang="en-US" sz="10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1000">
                          <a:solidFill>
                            <a:srgbClr val="D5DAE0"/>
                          </a:solidFill>
                          <a:latin typeface="Calibri" pitchFamily="34" charset="0"/>
                          <a:ea typeface="Calibri" pitchFamily="34" charset="-122"/>
                          <a:cs typeface="Calibri" pitchFamily="34" charset="-120"/>
                        </a:rPr>
                        <a:t>Start the gateway, or correct the address and port</a:t>
                      </a:r>
                      <a:endParaRPr lang="en-US" sz="10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extLst>
                  <a:ext uri="{0D108BD9-81ED-4DB2-BD59-A6C34878D82A}">
                    <a16:rowId xmlns:a16="http://schemas.microsoft.com/office/drawing/2014/main" val="10005"/>
                  </a:ext>
                </a:extLst>
              </a:tr>
            </a:tbl>
          </a:graphicData>
        </a:graphic>
      </p:graphicFrame>
      <p:sp>
        <p:nvSpPr>
          <p:cNvPr id="6" name="card background">
            <a:extLst>
              <a:ext uri="{C183D7F6-B498-43B3-948B-1728B52AA6E4}">
                <adec:decorative xmlns:adec="http://schemas.microsoft.com/office/drawing/2017/decorative" val="1"/>
              </a:ext>
            </a:extLst>
          </p:cNvPr>
          <p:cNvSpPr/>
          <p:nvPr/>
        </p:nvSpPr>
        <p:spPr>
          <a:xfrm>
            <a:off x="502920" y="3913632"/>
            <a:ext cx="8138160" cy="594360"/>
          </a:xfrm>
          <a:prstGeom prst="roundRect">
            <a:avLst>
              <a:gd name="adj" fmla="val 9231"/>
            </a:avLst>
          </a:prstGeom>
          <a:solidFill>
            <a:srgbClr val="2E353D"/>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7" name="Text 4"/>
          <p:cNvSpPr/>
          <p:nvPr/>
        </p:nvSpPr>
        <p:spPr>
          <a:xfrm>
            <a:off x="713232" y="3950208"/>
            <a:ext cx="7680960" cy="521208"/>
          </a:xfrm>
          <a:prstGeom prst="rect">
            <a:avLst/>
          </a:prstGeom>
          <a:noFill/>
          <a:ln/>
        </p:spPr>
        <p:txBody>
          <a:bodyPr wrap="square" lIns="0" tIns="0" rIns="0" bIns="0" rtlCol="0" anchor="ctr"/>
          <a:lstStyle/>
          <a:p>
            <a:pPr marL="0" indent="0">
              <a:buNone/>
            </a:pPr>
            <a:r>
              <a:rPr lang="en-US" sz="1100" dirty="0">
                <a:solidFill>
                  <a:srgbClr val="D5DAE0"/>
                </a:solidFill>
                <a:latin typeface="Calibri" pitchFamily="34" charset="0"/>
                <a:ea typeface="Calibri" pitchFamily="34" charset="-122"/>
                <a:cs typeface="Calibri" pitchFamily="34" charset="-120"/>
              </a:rPr>
              <a:t>Rotating a key is the same operation as creating one: edit the string in the configuration, restart, and hand the new value to the client. Nothing else has to be revoked.</a:t>
            </a:r>
            <a:endParaRPr lang="en-US" sz="1100" dirty="0"/>
          </a:p>
        </p:txBody>
      </p:sp>
      <p:sp>
        <p:nvSpPr>
          <p:cNvPr id="8" name="Text 5"/>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Technical appendix</a:t>
            </a:r>
            <a:endParaRPr lang="en-US" sz="900" dirty="0"/>
          </a:p>
        </p:txBody>
      </p:sp>
      <p:sp>
        <p:nvSpPr>
          <p:cNvPr id="9" name="Text 6"/>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71</a:t>
            </a:r>
            <a:endParaRPr lang="en-US" sz="9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8138160" cy="548640"/>
          </a:xfrm>
          <a:prstGeom prst="rect">
            <a:avLst/>
          </a:prstGeom>
          <a:noFill/>
          <a:ln/>
        </p:spPr>
        <p:txBody>
          <a:bodyPr wrap="square" lIns="0" tIns="0" rIns="0" bIns="0" rtlCol="0" anchor="ctr"/>
          <a:lstStyle/>
          <a:p>
            <a:pPr marL="0" indent="0">
              <a:buNone/>
            </a:pPr>
            <a:r>
              <a:rPr lang="en-US" sz="2700" b="1" dirty="0">
                <a:solidFill>
                  <a:srgbClr val="F3F5F7"/>
                </a:solidFill>
                <a:latin typeface="Trebuchet MS" pitchFamily="34" charset="0"/>
                <a:ea typeface="Trebuchet MS" pitchFamily="34" charset="-122"/>
                <a:cs typeface="Trebuchet MS" pitchFamily="34" charset="-120"/>
              </a:rPr>
              <a:t>Handing the key to your client</a:t>
            </a:r>
            <a:endParaRPr lang="en-US" sz="2700" dirty="0"/>
          </a:p>
        </p:txBody>
      </p:sp>
      <p:sp>
        <p:nvSpPr>
          <p:cNvPr id="3" name="Text 1"/>
          <p:cNvSpPr/>
          <p:nvPr/>
        </p:nvSpPr>
        <p:spPr>
          <a:xfrm>
            <a:off x="502920" y="841248"/>
            <a:ext cx="8138160" cy="237744"/>
          </a:xfrm>
          <a:prstGeom prst="rect">
            <a:avLst/>
          </a:prstGeom>
          <a:noFill/>
          <a:ln/>
        </p:spPr>
        <p:txBody>
          <a:bodyPr wrap="square" lIns="0" tIns="0" rIns="0" bIns="0" rtlCol="0" anchor="ctr"/>
          <a:lstStyle/>
          <a:p>
            <a:pPr marL="0" indent="0">
              <a:buNone/>
            </a:pPr>
            <a:r>
              <a:rPr lang="en-US" sz="1100" b="1" kern="0" spc="200" dirty="0">
                <a:solidFill>
                  <a:srgbClr val="E8722C"/>
                </a:solidFill>
                <a:latin typeface="Calibri" pitchFamily="34" charset="0"/>
                <a:ea typeface="Calibri" pitchFamily="34" charset="-122"/>
                <a:cs typeface="Calibri" pitchFamily="34" charset="-120"/>
              </a:rPr>
              <a:t>APPENDIX · 6 OF 16</a:t>
            </a:r>
            <a:endParaRPr lang="en-US" sz="1100" dirty="0"/>
          </a:p>
        </p:txBody>
      </p:sp>
      <p:sp>
        <p:nvSpPr>
          <p:cNvPr id="4" name="code panel">
            <a:extLst>
              <a:ext uri="{C183D7F6-B498-43B3-948B-1728B52AA6E4}">
                <adec:decorative xmlns:adec="http://schemas.microsoft.com/office/drawing/2017/decorative" val="1"/>
              </a:ext>
            </a:extLst>
          </p:cNvPr>
          <p:cNvSpPr/>
          <p:nvPr/>
        </p:nvSpPr>
        <p:spPr>
          <a:xfrm>
            <a:off x="502920" y="1170432"/>
            <a:ext cx="3977640" cy="1234440"/>
          </a:xfrm>
          <a:prstGeom prst="roundRect">
            <a:avLst>
              <a:gd name="adj" fmla="val 3704"/>
            </a:avLst>
          </a:prstGeom>
          <a:solidFill>
            <a:srgbClr val="121519"/>
          </a:solidFill>
          <a:ln w="12700">
            <a:solidFill>
              <a:srgbClr val="3A424B"/>
            </a:solidFill>
            <a:prstDash val="solid"/>
          </a:ln>
        </p:spPr>
        <p:txBody>
          <a:bodyPr/>
          <a:lstStyle/>
          <a:p>
            <a:endParaRPr lang="en-SE"/>
          </a:p>
        </p:txBody>
      </p:sp>
      <p:sp>
        <p:nvSpPr>
          <p:cNvPr id="5" name="code panel edge">
            <a:extLst>
              <a:ext uri="{C183D7F6-B498-43B3-948B-1728B52AA6E4}">
                <adec:decorative xmlns:adec="http://schemas.microsoft.com/office/drawing/2017/decorative" val="1"/>
              </a:ext>
            </a:extLst>
          </p:cNvPr>
          <p:cNvSpPr/>
          <p:nvPr/>
        </p:nvSpPr>
        <p:spPr>
          <a:xfrm>
            <a:off x="502920" y="1170432"/>
            <a:ext cx="54864" cy="1234440"/>
          </a:xfrm>
          <a:prstGeom prst="rect">
            <a:avLst/>
          </a:prstGeom>
          <a:solidFill>
            <a:srgbClr val="E8722C"/>
          </a:solidFill>
          <a:ln w="12700">
            <a:solidFill>
              <a:srgbClr val="E8722C"/>
            </a:solidFill>
            <a:prstDash val="solid"/>
          </a:ln>
        </p:spPr>
        <p:txBody>
          <a:bodyPr/>
          <a:lstStyle/>
          <a:p>
            <a:endParaRPr lang="en-SE"/>
          </a:p>
        </p:txBody>
      </p:sp>
      <p:sp>
        <p:nvSpPr>
          <p:cNvPr id="6" name="Text 4">
            <a:extLst>
              <a:ext uri="{C183D7F6-B498-43B3-948B-1728B52AA6E4}">
                <adec:decorative xmlns:adec="http://schemas.microsoft.com/office/drawing/2017/decorative" val="1"/>
              </a:ext>
            </a:extLst>
          </p:cNvPr>
          <p:cNvSpPr/>
          <p:nvPr/>
        </p:nvSpPr>
        <p:spPr>
          <a:xfrm>
            <a:off x="704088" y="1298448"/>
            <a:ext cx="3611880" cy="978408"/>
          </a:xfrm>
          <a:prstGeom prst="rect">
            <a:avLst/>
          </a:prstGeom>
          <a:noFill/>
          <a:ln/>
        </p:spPr>
        <p:txBody>
          <a:bodyPr wrap="square" lIns="0" tIns="0" rIns="0" bIns="0" rtlCol="0" anchor="t"/>
          <a:lstStyle/>
          <a:p>
            <a:pPr marL="0" indent="0">
              <a:buNone/>
            </a:pPr>
            <a:r>
              <a:rPr lang="en-US" sz="950" dirty="0">
                <a:solidFill>
                  <a:srgbClr val="97A1AC"/>
                </a:solidFill>
                <a:latin typeface="Consolas" pitchFamily="34" charset="0"/>
                <a:ea typeface="Consolas" pitchFamily="34" charset="-122"/>
                <a:cs typeface="Consolas" pitchFamily="34" charset="-120"/>
              </a:rPr>
              <a:t># never in source control</a:t>
            </a:r>
            <a:endParaRPr lang="en-US" sz="950" dirty="0"/>
          </a:p>
          <a:p>
            <a:pPr marL="0" indent="0">
              <a:buNone/>
            </a:pPr>
            <a:r>
              <a:rPr lang="en-US" sz="950" dirty="0">
                <a:solidFill>
                  <a:srgbClr val="D5DAE0"/>
                </a:solidFill>
                <a:latin typeface="Consolas" pitchFamily="34" charset="0"/>
                <a:ea typeface="Consolas" pitchFamily="34" charset="-122"/>
                <a:cs typeface="Consolas" pitchFamily="34" charset="-120"/>
              </a:rPr>
              <a:t>EDUMATCHER_API_URL=http://127.0.0.1:8080 \</a:t>
            </a:r>
            <a:endParaRPr lang="en-US" sz="950" dirty="0"/>
          </a:p>
          <a:p>
            <a:pPr marL="0" indent="0">
              <a:buNone/>
            </a:pPr>
            <a:r>
              <a:rPr lang="en-US" sz="950" dirty="0">
                <a:solidFill>
                  <a:srgbClr val="D5DAE0"/>
                </a:solidFill>
                <a:latin typeface="Consolas" pitchFamily="34" charset="0"/>
                <a:ea typeface="Consolas" pitchFamily="34" charset="-122"/>
                <a:cs typeface="Consolas" pitchFamily="34" charset="-120"/>
              </a:rPr>
              <a:t>EDUMATCHER_API_KEY=key-trader-demo \</a:t>
            </a:r>
            <a:endParaRPr lang="en-US" sz="950" dirty="0"/>
          </a:p>
          <a:p>
            <a:pPr marL="0" indent="0">
              <a:buNone/>
            </a:pPr>
            <a:r>
              <a:rPr lang="en-US" sz="950" dirty="0">
                <a:solidFill>
                  <a:srgbClr val="D5DAE0"/>
                </a:solidFill>
                <a:latin typeface="Consolas" pitchFamily="34" charset="0"/>
                <a:ea typeface="Consolas" pitchFamily="34" charset="-122"/>
                <a:cs typeface="Consolas" pitchFamily="34" charset="-120"/>
              </a:rPr>
              <a:t>python3 submit_market_order.py --side BUY ...</a:t>
            </a:r>
            <a:endParaRPr lang="en-US" sz="950" dirty="0"/>
          </a:p>
        </p:txBody>
      </p:sp>
      <p:sp>
        <p:nvSpPr>
          <p:cNvPr id="7" name="code panel">
            <a:extLst>
              <a:ext uri="{C183D7F6-B498-43B3-948B-1728B52AA6E4}">
                <adec:decorative xmlns:adec="http://schemas.microsoft.com/office/drawing/2017/decorative" val="1"/>
              </a:ext>
            </a:extLst>
          </p:cNvPr>
          <p:cNvSpPr/>
          <p:nvPr/>
        </p:nvSpPr>
        <p:spPr>
          <a:xfrm>
            <a:off x="4663440" y="1170432"/>
            <a:ext cx="3977640" cy="1234440"/>
          </a:xfrm>
          <a:prstGeom prst="roundRect">
            <a:avLst>
              <a:gd name="adj" fmla="val 3704"/>
            </a:avLst>
          </a:prstGeom>
          <a:solidFill>
            <a:srgbClr val="121519"/>
          </a:solidFill>
          <a:ln w="12700">
            <a:solidFill>
              <a:srgbClr val="3A424B"/>
            </a:solidFill>
            <a:prstDash val="solid"/>
          </a:ln>
        </p:spPr>
        <p:txBody>
          <a:bodyPr/>
          <a:lstStyle/>
          <a:p>
            <a:endParaRPr lang="en-SE"/>
          </a:p>
        </p:txBody>
      </p:sp>
      <p:sp>
        <p:nvSpPr>
          <p:cNvPr id="8" name="code panel edge">
            <a:extLst>
              <a:ext uri="{C183D7F6-B498-43B3-948B-1728B52AA6E4}">
                <adec:decorative xmlns:adec="http://schemas.microsoft.com/office/drawing/2017/decorative" val="1"/>
              </a:ext>
            </a:extLst>
          </p:cNvPr>
          <p:cNvSpPr/>
          <p:nvPr/>
        </p:nvSpPr>
        <p:spPr>
          <a:xfrm>
            <a:off x="4663440" y="1170432"/>
            <a:ext cx="54864" cy="1234440"/>
          </a:xfrm>
          <a:prstGeom prst="rect">
            <a:avLst/>
          </a:prstGeom>
          <a:solidFill>
            <a:srgbClr val="35A79C"/>
          </a:solidFill>
          <a:ln w="12700">
            <a:solidFill>
              <a:srgbClr val="35A79C"/>
            </a:solidFill>
            <a:prstDash val="solid"/>
          </a:ln>
        </p:spPr>
        <p:txBody>
          <a:bodyPr/>
          <a:lstStyle/>
          <a:p>
            <a:endParaRPr lang="en-SE"/>
          </a:p>
        </p:txBody>
      </p:sp>
      <p:sp>
        <p:nvSpPr>
          <p:cNvPr id="9" name="Text 7"/>
          <p:cNvSpPr/>
          <p:nvPr/>
        </p:nvSpPr>
        <p:spPr>
          <a:xfrm>
            <a:off x="4864608" y="1298448"/>
            <a:ext cx="3611880" cy="978408"/>
          </a:xfrm>
          <a:prstGeom prst="rect">
            <a:avLst/>
          </a:prstGeom>
          <a:noFill/>
          <a:ln/>
        </p:spPr>
        <p:txBody>
          <a:bodyPr wrap="square" lIns="0" tIns="0" rIns="0" bIns="0" rtlCol="0" anchor="t"/>
          <a:lstStyle/>
          <a:p>
            <a:pPr marL="0" indent="0">
              <a:buNone/>
            </a:pPr>
            <a:r>
              <a:rPr lang="en-US" sz="1050" dirty="0">
                <a:solidFill>
                  <a:srgbClr val="97A1AC"/>
                </a:solidFill>
                <a:latin typeface="Consolas" pitchFamily="34" charset="0"/>
                <a:ea typeface="Consolas" pitchFamily="34" charset="-122"/>
                <a:cs typeface="Consolas" pitchFamily="34" charset="-120"/>
              </a:rPr>
              <a:t># in the interactive documentation</a:t>
            </a:r>
            <a:endParaRPr lang="en-US" sz="1050" dirty="0"/>
          </a:p>
          <a:p>
            <a:pPr marL="0" indent="0">
              <a:buNone/>
            </a:pPr>
            <a:r>
              <a:rPr lang="en-US" sz="1050" dirty="0">
                <a:solidFill>
                  <a:srgbClr val="D5DAE0"/>
                </a:solidFill>
                <a:latin typeface="Consolas" pitchFamily="34" charset="0"/>
                <a:ea typeface="Consolas" pitchFamily="34" charset="-122"/>
                <a:cs typeface="Consolas" pitchFamily="34" charset="-120"/>
              </a:rPr>
              <a:t>Authorize →</a:t>
            </a:r>
            <a:endParaRPr lang="en-US" sz="1050" dirty="0"/>
          </a:p>
          <a:p>
            <a:pPr marL="0" indent="0">
              <a:buNone/>
            </a:pPr>
            <a:r>
              <a:rPr lang="en-US" sz="1050" dirty="0">
                <a:solidFill>
                  <a:srgbClr val="D5DAE0"/>
                </a:solidFill>
                <a:latin typeface="Consolas" pitchFamily="34" charset="0"/>
                <a:ea typeface="Consolas" pitchFamily="34" charset="-122"/>
                <a:cs typeface="Consolas" pitchFamily="34" charset="-120"/>
              </a:rPr>
              <a:t>Bearer key-trader-demo</a:t>
            </a:r>
            <a:endParaRPr lang="en-US" sz="1050" dirty="0"/>
          </a:p>
        </p:txBody>
      </p:sp>
      <p:sp>
        <p:nvSpPr>
          <p:cNvPr id="10" name="card background">
            <a:extLst>
              <a:ext uri="{C183D7F6-B498-43B3-948B-1728B52AA6E4}">
                <adec:decorative xmlns:adec="http://schemas.microsoft.com/office/drawing/2017/decorative" val="1"/>
              </a:ext>
            </a:extLst>
          </p:cNvPr>
          <p:cNvSpPr/>
          <p:nvPr/>
        </p:nvSpPr>
        <p:spPr>
          <a:xfrm>
            <a:off x="502920" y="2606040"/>
            <a:ext cx="2566416" cy="1417320"/>
          </a:xfrm>
          <a:prstGeom prst="roundRect">
            <a:avLst>
              <a:gd name="adj" fmla="val 3871"/>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1" name="Text 9">
            <a:extLst>
              <a:ext uri="{C183D7F6-B498-43B3-948B-1728B52AA6E4}">
                <adec:decorative xmlns:adec="http://schemas.microsoft.com/office/drawing/2017/decorative" val="1"/>
              </a:ext>
            </a:extLst>
          </p:cNvPr>
          <p:cNvSpPr/>
          <p:nvPr/>
        </p:nvSpPr>
        <p:spPr>
          <a:xfrm>
            <a:off x="722376" y="2788920"/>
            <a:ext cx="2164080" cy="329184"/>
          </a:xfrm>
          <a:prstGeom prst="rect">
            <a:avLst/>
          </a:prstGeom>
          <a:noFill/>
          <a:ln/>
        </p:spPr>
        <p:txBody>
          <a:bodyPr wrap="square" lIns="0" tIns="0" rIns="0" bIns="0" rtlCol="0" anchor="ctr"/>
          <a:lstStyle/>
          <a:p>
            <a:pPr marL="0" indent="0">
              <a:buNone/>
            </a:pPr>
            <a:r>
              <a:rPr lang="en-US" sz="1400" b="1" dirty="0">
                <a:solidFill>
                  <a:srgbClr val="E8722C"/>
                </a:solidFill>
                <a:latin typeface="Trebuchet MS" pitchFamily="34" charset="0"/>
                <a:ea typeface="Trebuchet MS" pitchFamily="34" charset="-122"/>
                <a:cs typeface="Trebuchet MS" pitchFamily="34" charset="-120"/>
              </a:rPr>
              <a:t>From the environment</a:t>
            </a:r>
            <a:endParaRPr lang="en-US" sz="1400" dirty="0"/>
          </a:p>
        </p:txBody>
      </p:sp>
      <p:sp>
        <p:nvSpPr>
          <p:cNvPr id="12" name="Text 10"/>
          <p:cNvSpPr/>
          <p:nvPr/>
        </p:nvSpPr>
        <p:spPr>
          <a:xfrm>
            <a:off x="722376" y="3154680"/>
            <a:ext cx="2127504" cy="75895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The supplied example clients read the address and the key from environment variables, so no key ever has to be typed into a file.</a:t>
            </a:r>
            <a:endParaRPr lang="en-US" sz="1050" dirty="0"/>
          </a:p>
        </p:txBody>
      </p:sp>
      <p:sp>
        <p:nvSpPr>
          <p:cNvPr id="13" name="card background">
            <a:extLst>
              <a:ext uri="{C183D7F6-B498-43B3-948B-1728B52AA6E4}">
                <adec:decorative xmlns:adec="http://schemas.microsoft.com/office/drawing/2017/decorative" val="1"/>
              </a:ext>
            </a:extLst>
          </p:cNvPr>
          <p:cNvSpPr/>
          <p:nvPr/>
        </p:nvSpPr>
        <p:spPr>
          <a:xfrm>
            <a:off x="3288792" y="2606040"/>
            <a:ext cx="2566416" cy="1417320"/>
          </a:xfrm>
          <a:prstGeom prst="roundRect">
            <a:avLst>
              <a:gd name="adj" fmla="val 3871"/>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4" name="Text 12"/>
          <p:cNvSpPr/>
          <p:nvPr/>
        </p:nvSpPr>
        <p:spPr>
          <a:xfrm>
            <a:off x="3508248" y="2788920"/>
            <a:ext cx="2164080" cy="329184"/>
          </a:xfrm>
          <a:prstGeom prst="rect">
            <a:avLst/>
          </a:prstGeom>
          <a:noFill/>
          <a:ln/>
        </p:spPr>
        <p:txBody>
          <a:bodyPr wrap="square" lIns="0" tIns="0" rIns="0" bIns="0" rtlCol="0" anchor="ctr"/>
          <a:lstStyle/>
          <a:p>
            <a:pPr marL="0" indent="0">
              <a:buNone/>
            </a:pPr>
            <a:r>
              <a:rPr lang="en-US" sz="1400" b="1" dirty="0">
                <a:solidFill>
                  <a:srgbClr val="35A79C"/>
                </a:solidFill>
                <a:latin typeface="Trebuchet MS" pitchFamily="34" charset="0"/>
                <a:ea typeface="Trebuchet MS" pitchFamily="34" charset="-122"/>
                <a:cs typeface="Trebuchet MS" pitchFamily="34" charset="-120"/>
              </a:rPr>
              <a:t>Through the docs page</a:t>
            </a:r>
            <a:endParaRPr lang="en-US" sz="1400" dirty="0"/>
          </a:p>
        </p:txBody>
      </p:sp>
      <p:sp>
        <p:nvSpPr>
          <p:cNvPr id="15" name="Text 13">
            <a:extLst>
              <a:ext uri="{C183D7F6-B498-43B3-948B-1728B52AA6E4}">
                <adec:decorative xmlns:adec="http://schemas.microsoft.com/office/drawing/2017/decorative" val="1"/>
              </a:ext>
            </a:extLst>
          </p:cNvPr>
          <p:cNvSpPr/>
          <p:nvPr/>
        </p:nvSpPr>
        <p:spPr>
          <a:xfrm>
            <a:off x="3508248" y="3154680"/>
            <a:ext cx="2127504" cy="75895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Paste the key once behind the Authorize button and every trial call on the page carries it.</a:t>
            </a:r>
            <a:endParaRPr lang="en-US" sz="1050" dirty="0"/>
          </a:p>
        </p:txBody>
      </p:sp>
      <p:sp>
        <p:nvSpPr>
          <p:cNvPr id="16" name="card background">
            <a:extLst>
              <a:ext uri="{C183D7F6-B498-43B3-948B-1728B52AA6E4}">
                <adec:decorative xmlns:adec="http://schemas.microsoft.com/office/drawing/2017/decorative" val="1"/>
              </a:ext>
            </a:extLst>
          </p:cNvPr>
          <p:cNvSpPr/>
          <p:nvPr/>
        </p:nvSpPr>
        <p:spPr>
          <a:xfrm>
            <a:off x="6074664" y="2606040"/>
            <a:ext cx="2566416" cy="1417320"/>
          </a:xfrm>
          <a:prstGeom prst="roundRect">
            <a:avLst>
              <a:gd name="adj" fmla="val 3871"/>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7" name="Text 15"/>
          <p:cNvSpPr/>
          <p:nvPr/>
        </p:nvSpPr>
        <p:spPr>
          <a:xfrm>
            <a:off x="6294120" y="2788920"/>
            <a:ext cx="2164080" cy="329184"/>
          </a:xfrm>
          <a:prstGeom prst="rect">
            <a:avLst/>
          </a:prstGeom>
          <a:noFill/>
          <a:ln/>
        </p:spPr>
        <p:txBody>
          <a:bodyPr wrap="square" lIns="0" tIns="0" rIns="0" bIns="0" rtlCol="0" anchor="ctr"/>
          <a:lstStyle/>
          <a:p>
            <a:pPr marL="0" indent="0">
              <a:buNone/>
            </a:pPr>
            <a:r>
              <a:rPr lang="en-US" sz="1400" b="1" dirty="0">
                <a:solidFill>
                  <a:srgbClr val="D9534F"/>
                </a:solidFill>
                <a:latin typeface="Trebuchet MS" pitchFamily="34" charset="0"/>
                <a:ea typeface="Trebuchet MS" pitchFamily="34" charset="-122"/>
                <a:cs typeface="Trebuchet MS" pitchFamily="34" charset="-120"/>
              </a:rPr>
              <a:t>Never in the browser</a:t>
            </a:r>
            <a:endParaRPr lang="en-US" sz="1400" dirty="0"/>
          </a:p>
        </p:txBody>
      </p:sp>
      <p:sp>
        <p:nvSpPr>
          <p:cNvPr id="18" name="Text 16"/>
          <p:cNvSpPr/>
          <p:nvPr/>
        </p:nvSpPr>
        <p:spPr>
          <a:xfrm>
            <a:off x="6294120" y="3154680"/>
            <a:ext cx="2127504" cy="75895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A key shipped to a web page is public. Keep it on a small server of your own and let the page talk to that.</a:t>
            </a:r>
            <a:endParaRPr lang="en-US" sz="1050" dirty="0"/>
          </a:p>
        </p:txBody>
      </p:sp>
      <p:sp>
        <p:nvSpPr>
          <p:cNvPr id="19" name="Text 17"/>
          <p:cNvSpPr/>
          <p:nvPr/>
        </p:nvSpPr>
        <p:spPr>
          <a:xfrm>
            <a:off x="502920" y="4160520"/>
            <a:ext cx="8138160" cy="365760"/>
          </a:xfrm>
          <a:prstGeom prst="rect">
            <a:avLst/>
          </a:prstGeom>
          <a:noFill/>
          <a:ln/>
        </p:spPr>
        <p:txBody>
          <a:bodyPr wrap="square" lIns="0" tIns="0" rIns="0" bIns="0" rtlCol="0" anchor="t"/>
          <a:lstStyle/>
          <a:p>
            <a:pPr marL="0" indent="0" algn="l">
              <a:buNone/>
            </a:pPr>
            <a:r>
              <a:rPr lang="en-US" sz="1100" i="1" dirty="0">
                <a:solidFill>
                  <a:srgbClr val="F2A65A"/>
                </a:solidFill>
                <a:latin typeface="Calibri" pitchFamily="34" charset="0"/>
                <a:ea typeface="Calibri" pitchFamily="34" charset="-122"/>
                <a:cs typeface="Calibri" pitchFamily="34" charset="-120"/>
              </a:rPr>
              <a:t>Because a key is the whole credential, anyone holding the string has exactly the power that key was given — treat it as you would a password.</a:t>
            </a:r>
            <a:endParaRPr lang="en-US" sz="1100" dirty="0"/>
          </a:p>
        </p:txBody>
      </p:sp>
      <p:sp>
        <p:nvSpPr>
          <p:cNvPr id="20" name="Text 18">
            <a:extLst>
              <a:ext uri="{C183D7F6-B498-43B3-948B-1728B52AA6E4}">
                <adec:decorative xmlns:adec="http://schemas.microsoft.com/office/drawing/2017/decorative" val="1"/>
              </a:ext>
            </a:extLst>
          </p:cNvPr>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Technical appendix</a:t>
            </a:r>
            <a:endParaRPr lang="en-US" sz="900" dirty="0"/>
          </a:p>
        </p:txBody>
      </p:sp>
      <p:sp>
        <p:nvSpPr>
          <p:cNvPr id="21" name="Text 19">
            <a:extLst>
              <a:ext uri="{C183D7F6-B498-43B3-948B-1728B52AA6E4}">
                <adec:decorative xmlns:adec="http://schemas.microsoft.com/office/drawing/2017/decorative" val="1"/>
              </a:ext>
            </a:extLst>
          </p:cNvPr>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72</a:t>
            </a:r>
            <a:endParaRPr lang="en-US" sz="9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8138160" cy="548640"/>
          </a:xfrm>
          <a:prstGeom prst="rect">
            <a:avLst/>
          </a:prstGeom>
          <a:noFill/>
          <a:ln/>
        </p:spPr>
        <p:txBody>
          <a:bodyPr wrap="square" lIns="0" tIns="0" rIns="0" bIns="0" rtlCol="0" anchor="ctr"/>
          <a:lstStyle/>
          <a:p>
            <a:pPr marL="0" indent="0">
              <a:buNone/>
            </a:pPr>
            <a:r>
              <a:rPr lang="en-US" sz="2700" b="1" dirty="0">
                <a:solidFill>
                  <a:srgbClr val="F3F5F7"/>
                </a:solidFill>
                <a:latin typeface="Trebuchet MS" pitchFamily="34" charset="0"/>
                <a:ea typeface="Trebuchet MS" pitchFamily="34" charset="-122"/>
                <a:cs typeface="Trebuchet MS" pitchFamily="34" charset="-120"/>
              </a:rPr>
              <a:t>REST endpoints — order entry</a:t>
            </a:r>
            <a:endParaRPr lang="en-US" sz="2700" dirty="0"/>
          </a:p>
        </p:txBody>
      </p:sp>
      <p:sp>
        <p:nvSpPr>
          <p:cNvPr id="3" name="Text 1"/>
          <p:cNvSpPr/>
          <p:nvPr/>
        </p:nvSpPr>
        <p:spPr>
          <a:xfrm>
            <a:off x="502920" y="841248"/>
            <a:ext cx="8138160" cy="237744"/>
          </a:xfrm>
          <a:prstGeom prst="rect">
            <a:avLst/>
          </a:prstGeom>
          <a:noFill/>
          <a:ln/>
        </p:spPr>
        <p:txBody>
          <a:bodyPr wrap="square" lIns="0" tIns="0" rIns="0" bIns="0" rtlCol="0" anchor="ctr"/>
          <a:lstStyle/>
          <a:p>
            <a:pPr marL="0" indent="0">
              <a:buNone/>
            </a:pPr>
            <a:r>
              <a:rPr lang="en-US" sz="1100" b="1" kern="0" spc="200" dirty="0">
                <a:solidFill>
                  <a:srgbClr val="E8722C"/>
                </a:solidFill>
                <a:latin typeface="Calibri" pitchFamily="34" charset="0"/>
                <a:ea typeface="Calibri" pitchFamily="34" charset="-122"/>
                <a:cs typeface="Calibri" pitchFamily="34" charset="-120"/>
              </a:rPr>
              <a:t>APPENDIX · 7 OF 16</a:t>
            </a:r>
            <a:endParaRPr lang="en-US" sz="1100" dirty="0"/>
          </a:p>
        </p:txBody>
      </p:sp>
      <p:graphicFrame>
        <p:nvGraphicFramePr>
          <p:cNvPr id="74" name="Table 0"/>
          <p:cNvGraphicFramePr>
            <a:graphicFrameLocks noGrp="1"/>
          </p:cNvGraphicFramePr>
          <p:nvPr>
            <p:extLst>
              <p:ext uri="{D42A27DB-BD31-4B8C-83A1-F6EECF244321}">
                <p14:modId xmlns:p14="http://schemas.microsoft.com/office/powerpoint/2010/main" val="2783576814"/>
              </p:ext>
            </p:extLst>
          </p:nvPr>
        </p:nvGraphicFramePr>
        <p:xfrm>
          <a:off x="502920" y="1170432"/>
          <a:ext cx="8138160" cy="914400"/>
        </p:xfrm>
        <a:graphic>
          <a:graphicData uri="http://schemas.openxmlformats.org/drawingml/2006/table">
            <a:tbl>
              <a:tblPr/>
              <a:tblGrid>
                <a:gridCol w="118872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tblGrid>
              <a:tr h="224028">
                <a:tc>
                  <a:txBody>
                    <a:bodyPr/>
                    <a:lstStyle/>
                    <a:p>
                      <a:pPr marL="0" indent="0">
                        <a:buNone/>
                      </a:pPr>
                      <a:r>
                        <a:rPr lang="en-US" sz="1100" b="1">
                          <a:solidFill>
                            <a:srgbClr val="121519"/>
                          </a:solidFill>
                          <a:latin typeface="Trebuchet MS" pitchFamily="34" charset="0"/>
                          <a:ea typeface="Trebuchet MS" pitchFamily="34" charset="-122"/>
                          <a:cs typeface="Trebuchet MS" pitchFamily="34" charset="-120"/>
                        </a:rPr>
                        <a:t>Method</a:t>
                      </a:r>
                      <a:endParaRPr lang="en-US" sz="1100" dirty="0">
                        <a:latin typeface="Trebuchet MS" charset="0"/>
                        <a:ea typeface="Trebuchet MS" charset="0"/>
                        <a:cs typeface="Trebuchet M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E8722C"/>
                    </a:solidFill>
                  </a:tcPr>
                </a:tc>
                <a:tc>
                  <a:txBody>
                    <a:bodyPr/>
                    <a:lstStyle/>
                    <a:p>
                      <a:pPr marL="0" indent="0">
                        <a:buNone/>
                      </a:pPr>
                      <a:r>
                        <a:rPr lang="en-US" sz="1100" b="1">
                          <a:solidFill>
                            <a:srgbClr val="121519"/>
                          </a:solidFill>
                          <a:latin typeface="Trebuchet MS" pitchFamily="34" charset="0"/>
                          <a:ea typeface="Trebuchet MS" pitchFamily="34" charset="-122"/>
                          <a:cs typeface="Trebuchet MS" pitchFamily="34" charset="-120"/>
                        </a:rPr>
                        <a:t>Path</a:t>
                      </a:r>
                      <a:endParaRPr lang="en-US" sz="1100" dirty="0">
                        <a:latin typeface="Trebuchet MS" charset="0"/>
                        <a:ea typeface="Trebuchet MS" charset="0"/>
                        <a:cs typeface="Trebuchet M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E8722C"/>
                    </a:solidFill>
                  </a:tcPr>
                </a:tc>
                <a:tc>
                  <a:txBody>
                    <a:bodyPr/>
                    <a:lstStyle/>
                    <a:p>
                      <a:pPr marL="0" indent="0">
                        <a:buNone/>
                      </a:pPr>
                      <a:r>
                        <a:rPr lang="en-US" sz="1100" b="1">
                          <a:solidFill>
                            <a:srgbClr val="121519"/>
                          </a:solidFill>
                          <a:latin typeface="Trebuchet MS" pitchFamily="34" charset="0"/>
                          <a:ea typeface="Trebuchet MS" pitchFamily="34" charset="-122"/>
                          <a:cs typeface="Trebuchet MS" pitchFamily="34" charset="-120"/>
                        </a:rPr>
                        <a:t>Purpose</a:t>
                      </a:r>
                      <a:endParaRPr lang="en-US" sz="1100" dirty="0">
                        <a:latin typeface="Trebuchet MS" charset="0"/>
                        <a:ea typeface="Trebuchet MS" charset="0"/>
                        <a:cs typeface="Trebuchet M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E8722C"/>
                    </a:solidFill>
                  </a:tcPr>
                </a:tc>
                <a:extLst>
                  <a:ext uri="{0D108BD9-81ED-4DB2-BD59-A6C34878D82A}">
                    <a16:rowId xmlns:a16="http://schemas.microsoft.com/office/drawing/2014/main" val="10000"/>
                  </a:ext>
                </a:extLst>
              </a:tr>
              <a:tr h="224028">
                <a:tc>
                  <a:txBody>
                    <a:bodyPr/>
                    <a:lstStyle/>
                    <a:p>
                      <a:pPr marL="0" indent="0">
                        <a:buNone/>
                      </a:pPr>
                      <a:r>
                        <a:rPr lang="en-US" sz="950">
                          <a:solidFill>
                            <a:srgbClr val="F2A65A"/>
                          </a:solidFill>
                          <a:latin typeface="Consolas" pitchFamily="34" charset="0"/>
                          <a:ea typeface="Consolas" pitchFamily="34" charset="-122"/>
                          <a:cs typeface="Consolas" pitchFamily="34" charset="-120"/>
                        </a:rPr>
                        <a:t>POST</a:t>
                      </a:r>
                      <a:endParaRPr lang="en-US" sz="95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50">
                          <a:solidFill>
                            <a:srgbClr val="D5DAE0"/>
                          </a:solidFill>
                          <a:latin typeface="Calibri" pitchFamily="34" charset="0"/>
                          <a:ea typeface="Calibri" pitchFamily="34" charset="-122"/>
                          <a:cs typeface="Calibri" pitchFamily="34" charset="-120"/>
                        </a:rPr>
                        <a:t>/orders</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50">
                          <a:solidFill>
                            <a:srgbClr val="D5DAE0"/>
                          </a:solidFill>
                          <a:latin typeface="Calibri" pitchFamily="34" charset="0"/>
                          <a:ea typeface="Calibri" pitchFamily="34" charset="-122"/>
                          <a:cs typeface="Calibri" pitchFamily="34" charset="-120"/>
                        </a:rPr>
                        <a:t>Submit one order</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extLst>
                  <a:ext uri="{0D108BD9-81ED-4DB2-BD59-A6C34878D82A}">
                    <a16:rowId xmlns:a16="http://schemas.microsoft.com/office/drawing/2014/main" val="10001"/>
                  </a:ext>
                </a:extLst>
              </a:tr>
              <a:tr h="224028">
                <a:tc>
                  <a:txBody>
                    <a:bodyPr/>
                    <a:lstStyle/>
                    <a:p>
                      <a:pPr marL="0" indent="0">
                        <a:buNone/>
                      </a:pPr>
                      <a:r>
                        <a:rPr lang="en-US" sz="950">
                          <a:solidFill>
                            <a:srgbClr val="F2A65A"/>
                          </a:solidFill>
                          <a:latin typeface="Consolas" pitchFamily="34" charset="0"/>
                          <a:ea typeface="Consolas" pitchFamily="34" charset="-122"/>
                          <a:cs typeface="Consolas" pitchFamily="34" charset="-120"/>
                        </a:rPr>
                        <a:t>DELETE</a:t>
                      </a:r>
                      <a:endParaRPr lang="en-US" sz="95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50">
                          <a:solidFill>
                            <a:srgbClr val="D5DAE0"/>
                          </a:solidFill>
                          <a:latin typeface="Calibri" pitchFamily="34" charset="0"/>
                          <a:ea typeface="Calibri" pitchFamily="34" charset="-122"/>
                          <a:cs typeface="Calibri" pitchFamily="34" charset="-120"/>
                        </a:rPr>
                        <a:t>/orders/{order_id}</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50">
                          <a:solidFill>
                            <a:srgbClr val="D5DAE0"/>
                          </a:solidFill>
                          <a:latin typeface="Calibri" pitchFamily="34" charset="0"/>
                          <a:ea typeface="Calibri" pitchFamily="34" charset="-122"/>
                          <a:cs typeface="Calibri" pitchFamily="34" charset="-120"/>
                        </a:rPr>
                        <a:t>Cancel one order</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extLst>
                  <a:ext uri="{0D108BD9-81ED-4DB2-BD59-A6C34878D82A}">
                    <a16:rowId xmlns:a16="http://schemas.microsoft.com/office/drawing/2014/main" val="10002"/>
                  </a:ext>
                </a:extLst>
              </a:tr>
              <a:tr h="224028">
                <a:tc>
                  <a:txBody>
                    <a:bodyPr/>
                    <a:lstStyle/>
                    <a:p>
                      <a:pPr marL="0" indent="0">
                        <a:buNone/>
                      </a:pPr>
                      <a:r>
                        <a:rPr lang="en-US" sz="950">
                          <a:solidFill>
                            <a:srgbClr val="F2A65A"/>
                          </a:solidFill>
                          <a:latin typeface="Consolas" pitchFamily="34" charset="0"/>
                          <a:ea typeface="Consolas" pitchFamily="34" charset="-122"/>
                          <a:cs typeface="Consolas" pitchFamily="34" charset="-120"/>
                        </a:rPr>
                        <a:t>PATCH</a:t>
                      </a:r>
                      <a:endParaRPr lang="en-US" sz="95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50">
                          <a:solidFill>
                            <a:srgbClr val="D5DAE0"/>
                          </a:solidFill>
                          <a:latin typeface="Calibri" pitchFamily="34" charset="0"/>
                          <a:ea typeface="Calibri" pitchFamily="34" charset="-122"/>
                          <a:cs typeface="Calibri" pitchFamily="34" charset="-120"/>
                        </a:rPr>
                        <a:t>/orders/{order_id}</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50">
                          <a:solidFill>
                            <a:srgbClr val="D5DAE0"/>
                          </a:solidFill>
                          <a:latin typeface="Calibri" pitchFamily="34" charset="0"/>
                          <a:ea typeface="Calibri" pitchFamily="34" charset="-122"/>
                          <a:cs typeface="Calibri" pitchFamily="34" charset="-120"/>
                        </a:rPr>
                        <a:t>Amend price and/or quantity</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extLst>
                  <a:ext uri="{0D108BD9-81ED-4DB2-BD59-A6C34878D82A}">
                    <a16:rowId xmlns:a16="http://schemas.microsoft.com/office/drawing/2014/main" val="10003"/>
                  </a:ext>
                </a:extLst>
              </a:tr>
              <a:tr h="224028">
                <a:tc>
                  <a:txBody>
                    <a:bodyPr/>
                    <a:lstStyle/>
                    <a:p>
                      <a:pPr marL="0" indent="0">
                        <a:buNone/>
                      </a:pPr>
                      <a:r>
                        <a:rPr lang="en-US" sz="950">
                          <a:solidFill>
                            <a:srgbClr val="F2A65A"/>
                          </a:solidFill>
                          <a:latin typeface="Consolas" pitchFamily="34" charset="0"/>
                          <a:ea typeface="Consolas" pitchFamily="34" charset="-122"/>
                          <a:cs typeface="Consolas" pitchFamily="34" charset="-120"/>
                        </a:rPr>
                        <a:t>POST</a:t>
                      </a:r>
                      <a:endParaRPr lang="en-US" sz="95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50">
                          <a:solidFill>
                            <a:srgbClr val="D5DAE0"/>
                          </a:solidFill>
                          <a:latin typeface="Calibri" pitchFamily="34" charset="0"/>
                          <a:ea typeface="Calibri" pitchFamily="34" charset="-122"/>
                          <a:cs typeface="Calibri" pitchFamily="34" charset="-120"/>
                        </a:rPr>
                        <a:t>/orders/{order_id}/replace</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50">
                          <a:solidFill>
                            <a:srgbClr val="D5DAE0"/>
                          </a:solidFill>
                          <a:latin typeface="Calibri" pitchFamily="34" charset="0"/>
                          <a:ea typeface="Calibri" pitchFamily="34" charset="-122"/>
                          <a:cs typeface="Calibri" pitchFamily="34" charset="-120"/>
                        </a:rPr>
                        <a:t>Cancel, then submit a replacement</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extLst>
                  <a:ext uri="{0D108BD9-81ED-4DB2-BD59-A6C34878D82A}">
                    <a16:rowId xmlns:a16="http://schemas.microsoft.com/office/drawing/2014/main" val="10004"/>
                  </a:ext>
                </a:extLst>
              </a:tr>
              <a:tr h="224028">
                <a:tc>
                  <a:txBody>
                    <a:bodyPr/>
                    <a:lstStyle/>
                    <a:p>
                      <a:pPr marL="0" indent="0">
                        <a:buNone/>
                      </a:pPr>
                      <a:r>
                        <a:rPr lang="en-US" sz="950">
                          <a:solidFill>
                            <a:srgbClr val="F2A65A"/>
                          </a:solidFill>
                          <a:latin typeface="Consolas" pitchFamily="34" charset="0"/>
                          <a:ea typeface="Consolas" pitchFamily="34" charset="-122"/>
                          <a:cs typeface="Consolas" pitchFamily="34" charset="-120"/>
                        </a:rPr>
                        <a:t>POST</a:t>
                      </a:r>
                      <a:endParaRPr lang="en-US" sz="95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50">
                          <a:solidFill>
                            <a:srgbClr val="D5DAE0"/>
                          </a:solidFill>
                          <a:latin typeface="Calibri" pitchFamily="34" charset="0"/>
                          <a:ea typeface="Calibri" pitchFamily="34" charset="-122"/>
                          <a:cs typeface="Calibri" pitchFamily="34" charset="-120"/>
                        </a:rPr>
                        <a:t>/oco</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50">
                          <a:solidFill>
                            <a:srgbClr val="D5DAE0"/>
                          </a:solidFill>
                          <a:latin typeface="Calibri" pitchFamily="34" charset="0"/>
                          <a:ea typeface="Calibri" pitchFamily="34" charset="-122"/>
                          <a:cs typeface="Calibri" pitchFamily="34" charset="-120"/>
                        </a:rPr>
                        <a:t>Submit a one-cancels-other pair</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extLst>
                  <a:ext uri="{0D108BD9-81ED-4DB2-BD59-A6C34878D82A}">
                    <a16:rowId xmlns:a16="http://schemas.microsoft.com/office/drawing/2014/main" val="10005"/>
                  </a:ext>
                </a:extLst>
              </a:tr>
              <a:tr h="224028">
                <a:tc>
                  <a:txBody>
                    <a:bodyPr/>
                    <a:lstStyle/>
                    <a:p>
                      <a:pPr marL="0" indent="0">
                        <a:buNone/>
                      </a:pPr>
                      <a:r>
                        <a:rPr lang="en-US" sz="950">
                          <a:solidFill>
                            <a:srgbClr val="F2A65A"/>
                          </a:solidFill>
                          <a:latin typeface="Consolas" pitchFamily="34" charset="0"/>
                          <a:ea typeface="Consolas" pitchFamily="34" charset="-122"/>
                          <a:cs typeface="Consolas" pitchFamily="34" charset="-120"/>
                        </a:rPr>
                        <a:t>DELETE</a:t>
                      </a:r>
                      <a:endParaRPr lang="en-US" sz="95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50">
                          <a:solidFill>
                            <a:srgbClr val="D5DAE0"/>
                          </a:solidFill>
                          <a:latin typeface="Calibri" pitchFamily="34" charset="0"/>
                          <a:ea typeface="Calibri" pitchFamily="34" charset="-122"/>
                          <a:cs typeface="Calibri" pitchFamily="34" charset="-120"/>
                        </a:rPr>
                        <a:t>/oco/{oco_id}</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50">
                          <a:solidFill>
                            <a:srgbClr val="D5DAE0"/>
                          </a:solidFill>
                          <a:latin typeface="Calibri" pitchFamily="34" charset="0"/>
                          <a:ea typeface="Calibri" pitchFamily="34" charset="-122"/>
                          <a:cs typeface="Calibri" pitchFamily="34" charset="-120"/>
                        </a:rPr>
                        <a:t>Cancel an OCO pair</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extLst>
                  <a:ext uri="{0D108BD9-81ED-4DB2-BD59-A6C34878D82A}">
                    <a16:rowId xmlns:a16="http://schemas.microsoft.com/office/drawing/2014/main" val="10006"/>
                  </a:ext>
                </a:extLst>
              </a:tr>
              <a:tr h="224028">
                <a:tc>
                  <a:txBody>
                    <a:bodyPr/>
                    <a:lstStyle/>
                    <a:p>
                      <a:pPr marL="0" indent="0">
                        <a:buNone/>
                      </a:pPr>
                      <a:r>
                        <a:rPr lang="en-US" sz="950">
                          <a:solidFill>
                            <a:srgbClr val="F2A65A"/>
                          </a:solidFill>
                          <a:latin typeface="Consolas" pitchFamily="34" charset="0"/>
                          <a:ea typeface="Consolas" pitchFamily="34" charset="-122"/>
                          <a:cs typeface="Consolas" pitchFamily="34" charset="-120"/>
                        </a:rPr>
                        <a:t>POST</a:t>
                      </a:r>
                      <a:endParaRPr lang="en-US" sz="95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50">
                          <a:solidFill>
                            <a:srgbClr val="D5DAE0"/>
                          </a:solidFill>
                          <a:latin typeface="Calibri" pitchFamily="34" charset="0"/>
                          <a:ea typeface="Calibri" pitchFamily="34" charset="-122"/>
                          <a:cs typeface="Calibri" pitchFamily="34" charset="-120"/>
                        </a:rPr>
                        <a:t>/combos</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50">
                          <a:solidFill>
                            <a:srgbClr val="D5DAE0"/>
                          </a:solidFill>
                          <a:latin typeface="Calibri" pitchFamily="34" charset="0"/>
                          <a:ea typeface="Calibri" pitchFamily="34" charset="-122"/>
                          <a:cs typeface="Calibri" pitchFamily="34" charset="-120"/>
                        </a:rPr>
                        <a:t>Submit a multi-leg combo order</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extLst>
                  <a:ext uri="{0D108BD9-81ED-4DB2-BD59-A6C34878D82A}">
                    <a16:rowId xmlns:a16="http://schemas.microsoft.com/office/drawing/2014/main" val="10007"/>
                  </a:ext>
                </a:extLst>
              </a:tr>
              <a:tr h="224028">
                <a:tc>
                  <a:txBody>
                    <a:bodyPr/>
                    <a:lstStyle/>
                    <a:p>
                      <a:pPr marL="0" indent="0">
                        <a:buNone/>
                      </a:pPr>
                      <a:r>
                        <a:rPr lang="en-US" sz="950">
                          <a:solidFill>
                            <a:srgbClr val="F2A65A"/>
                          </a:solidFill>
                          <a:latin typeface="Consolas" pitchFamily="34" charset="0"/>
                          <a:ea typeface="Consolas" pitchFamily="34" charset="-122"/>
                          <a:cs typeface="Consolas" pitchFamily="34" charset="-120"/>
                        </a:rPr>
                        <a:t>DELETE</a:t>
                      </a:r>
                      <a:endParaRPr lang="en-US" sz="95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50">
                          <a:solidFill>
                            <a:srgbClr val="D5DAE0"/>
                          </a:solidFill>
                          <a:latin typeface="Calibri" pitchFamily="34" charset="0"/>
                          <a:ea typeface="Calibri" pitchFamily="34" charset="-122"/>
                          <a:cs typeface="Calibri" pitchFamily="34" charset="-120"/>
                        </a:rPr>
                        <a:t>/combos/{combo_id}</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50">
                          <a:solidFill>
                            <a:srgbClr val="D5DAE0"/>
                          </a:solidFill>
                          <a:latin typeface="Calibri" pitchFamily="34" charset="0"/>
                          <a:ea typeface="Calibri" pitchFamily="34" charset="-122"/>
                          <a:cs typeface="Calibri" pitchFamily="34" charset="-120"/>
                        </a:rPr>
                        <a:t>Cancel a combo</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extLst>
                  <a:ext uri="{0D108BD9-81ED-4DB2-BD59-A6C34878D82A}">
                    <a16:rowId xmlns:a16="http://schemas.microsoft.com/office/drawing/2014/main" val="10008"/>
                  </a:ext>
                </a:extLst>
              </a:tr>
              <a:tr h="224028">
                <a:tc>
                  <a:txBody>
                    <a:bodyPr/>
                    <a:lstStyle/>
                    <a:p>
                      <a:pPr marL="0" indent="0">
                        <a:buNone/>
                      </a:pPr>
                      <a:r>
                        <a:rPr lang="en-US" sz="950">
                          <a:solidFill>
                            <a:srgbClr val="F2A65A"/>
                          </a:solidFill>
                          <a:latin typeface="Consolas" pitchFamily="34" charset="0"/>
                          <a:ea typeface="Consolas" pitchFamily="34" charset="-122"/>
                          <a:cs typeface="Consolas" pitchFamily="34" charset="-120"/>
                        </a:rPr>
                        <a:t>POST</a:t>
                      </a:r>
                      <a:endParaRPr lang="en-US" sz="95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50">
                          <a:solidFill>
                            <a:srgbClr val="D5DAE0"/>
                          </a:solidFill>
                          <a:latin typeface="Calibri" pitchFamily="34" charset="0"/>
                          <a:ea typeface="Calibri" pitchFamily="34" charset="-122"/>
                          <a:cs typeface="Calibri" pitchFamily="34" charset="-120"/>
                        </a:rPr>
                        <a:t>/quotes</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50">
                          <a:solidFill>
                            <a:srgbClr val="D5DAE0"/>
                          </a:solidFill>
                          <a:latin typeface="Calibri" pitchFamily="34" charset="0"/>
                          <a:ea typeface="Calibri" pitchFamily="34" charset="-122"/>
                          <a:cs typeface="Calibri" pitchFamily="34" charset="-120"/>
                        </a:rPr>
                        <a:t>Submit a two-sided quote</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extLst>
                  <a:ext uri="{0D108BD9-81ED-4DB2-BD59-A6C34878D82A}">
                    <a16:rowId xmlns:a16="http://schemas.microsoft.com/office/drawing/2014/main" val="10009"/>
                  </a:ext>
                </a:extLst>
              </a:tr>
              <a:tr h="224028">
                <a:tc>
                  <a:txBody>
                    <a:bodyPr/>
                    <a:lstStyle/>
                    <a:p>
                      <a:pPr marL="0" indent="0">
                        <a:buNone/>
                      </a:pPr>
                      <a:r>
                        <a:rPr lang="en-US" sz="950">
                          <a:solidFill>
                            <a:srgbClr val="F2A65A"/>
                          </a:solidFill>
                          <a:latin typeface="Consolas" pitchFamily="34" charset="0"/>
                          <a:ea typeface="Consolas" pitchFamily="34" charset="-122"/>
                          <a:cs typeface="Consolas" pitchFamily="34" charset="-120"/>
                        </a:rPr>
                        <a:t>DELETE</a:t>
                      </a:r>
                      <a:endParaRPr lang="en-US" sz="95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50">
                          <a:solidFill>
                            <a:srgbClr val="D5DAE0"/>
                          </a:solidFill>
                          <a:latin typeface="Calibri" pitchFamily="34" charset="0"/>
                          <a:ea typeface="Calibri" pitchFamily="34" charset="-122"/>
                          <a:cs typeface="Calibri" pitchFamily="34" charset="-120"/>
                        </a:rPr>
                        <a:t>/quotes/{symbol}</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50">
                          <a:solidFill>
                            <a:srgbClr val="D5DAE0"/>
                          </a:solidFill>
                          <a:latin typeface="Calibri" pitchFamily="34" charset="0"/>
                          <a:ea typeface="Calibri" pitchFamily="34" charset="-122"/>
                          <a:cs typeface="Calibri" pitchFamily="34" charset="-120"/>
                        </a:rPr>
                        <a:t>Cancel the quote for one instrument</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extLst>
                  <a:ext uri="{0D108BD9-81ED-4DB2-BD59-A6C34878D82A}">
                    <a16:rowId xmlns:a16="http://schemas.microsoft.com/office/drawing/2014/main" val="10010"/>
                  </a:ext>
                </a:extLst>
              </a:tr>
              <a:tr h="224028">
                <a:tc>
                  <a:txBody>
                    <a:bodyPr/>
                    <a:lstStyle/>
                    <a:p>
                      <a:pPr marL="0" indent="0">
                        <a:buNone/>
                      </a:pPr>
                      <a:r>
                        <a:rPr lang="en-US" sz="950">
                          <a:solidFill>
                            <a:srgbClr val="F2A65A"/>
                          </a:solidFill>
                          <a:latin typeface="Consolas" pitchFamily="34" charset="0"/>
                          <a:ea typeface="Consolas" pitchFamily="34" charset="-122"/>
                          <a:cs typeface="Consolas" pitchFamily="34" charset="-120"/>
                        </a:rPr>
                        <a:t>POST</a:t>
                      </a:r>
                      <a:endParaRPr lang="en-US" sz="95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50">
                          <a:solidFill>
                            <a:srgbClr val="D5DAE0"/>
                          </a:solidFill>
                          <a:latin typeface="Calibri" pitchFamily="34" charset="0"/>
                          <a:ea typeface="Calibri" pitchFamily="34" charset="-122"/>
                          <a:cs typeface="Calibri" pitchFamily="34" charset="-120"/>
                        </a:rPr>
                        <a:t>/mass-cancel</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50">
                          <a:solidFill>
                            <a:srgbClr val="D5DAE0"/>
                          </a:solidFill>
                          <a:latin typeface="Calibri" pitchFamily="34" charset="0"/>
                          <a:ea typeface="Calibri" pitchFamily="34" charset="-122"/>
                          <a:cs typeface="Calibri" pitchFamily="34" charset="-120"/>
                        </a:rPr>
                        <a:t>Cancel all, or one instrument's, exposure</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extLst>
                  <a:ext uri="{0D108BD9-81ED-4DB2-BD59-A6C34878D82A}">
                    <a16:rowId xmlns:a16="http://schemas.microsoft.com/office/drawing/2014/main" val="10011"/>
                  </a:ext>
                </a:extLst>
              </a:tr>
              <a:tr h="224028">
                <a:tc>
                  <a:txBody>
                    <a:bodyPr/>
                    <a:lstStyle/>
                    <a:p>
                      <a:pPr marL="0" indent="0">
                        <a:buNone/>
                      </a:pPr>
                      <a:r>
                        <a:rPr lang="en-US" sz="950" dirty="0">
                          <a:solidFill>
                            <a:srgbClr val="F2A65A"/>
                          </a:solidFill>
                          <a:latin typeface="Consolas" pitchFamily="34" charset="0"/>
                          <a:ea typeface="Consolas" pitchFamily="34" charset="-122"/>
                          <a:cs typeface="Consolas" pitchFamily="34" charset="-120"/>
                        </a:rPr>
                        <a:t>POST</a:t>
                      </a:r>
                      <a:endParaRPr lang="en-US" sz="95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/kill-switch</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Alias of mass cancel</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extLst>
                  <a:ext uri="{0D108BD9-81ED-4DB2-BD59-A6C34878D82A}">
                    <a16:rowId xmlns:a16="http://schemas.microsoft.com/office/drawing/2014/main" val="10012"/>
                  </a:ext>
                </a:extLst>
              </a:tr>
            </a:tbl>
          </a:graphicData>
        </a:graphic>
      </p:graphicFrame>
      <p:sp>
        <p:nvSpPr>
          <p:cNvPr id="5" name="Text 2"/>
          <p:cNvSpPr/>
          <p:nvPr/>
        </p:nvSpPr>
        <p:spPr>
          <a:xfrm>
            <a:off x="502920" y="4315968"/>
            <a:ext cx="8138160" cy="274320"/>
          </a:xfrm>
          <a:prstGeom prst="rect">
            <a:avLst/>
          </a:prstGeom>
          <a:noFill/>
          <a:ln/>
        </p:spPr>
        <p:txBody>
          <a:bodyPr wrap="square" lIns="0" tIns="0" rIns="0" bIns="0" rtlCol="0" anchor="t"/>
          <a:lstStyle/>
          <a:p>
            <a:pPr marL="0" indent="0" algn="l">
              <a:buNone/>
            </a:pPr>
            <a:r>
              <a:rPr lang="en-US" sz="1000" i="1" dirty="0">
                <a:solidFill>
                  <a:srgbClr val="97A1AC"/>
                </a:solidFill>
                <a:latin typeface="Calibri" pitchFamily="34" charset="0"/>
                <a:ea typeface="Calibri" pitchFamily="34" charset="-122"/>
                <a:cs typeface="Calibri" pitchFamily="34" charset="-120"/>
              </a:rPr>
              <a:t>All paths are relative to the base path /api/v1 and require a trading credential.</a:t>
            </a:r>
            <a:endParaRPr lang="en-US" sz="1000" dirty="0"/>
          </a:p>
        </p:txBody>
      </p:sp>
      <p:sp>
        <p:nvSpPr>
          <p:cNvPr id="6" name="Text 3"/>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Technical appendix</a:t>
            </a:r>
            <a:endParaRPr lang="en-US" sz="900" dirty="0"/>
          </a:p>
        </p:txBody>
      </p:sp>
      <p:sp>
        <p:nvSpPr>
          <p:cNvPr id="7" name="Text 4"/>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73</a:t>
            </a:r>
            <a:endParaRPr lang="en-US" sz="9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8138160" cy="548640"/>
          </a:xfrm>
          <a:prstGeom prst="rect">
            <a:avLst/>
          </a:prstGeom>
          <a:noFill/>
          <a:ln/>
        </p:spPr>
        <p:txBody>
          <a:bodyPr wrap="square" lIns="0" tIns="0" rIns="0" bIns="0" rtlCol="0" anchor="ctr"/>
          <a:lstStyle/>
          <a:p>
            <a:pPr marL="0" indent="0">
              <a:buNone/>
            </a:pPr>
            <a:r>
              <a:rPr lang="en-US" sz="2700" b="1" dirty="0">
                <a:solidFill>
                  <a:srgbClr val="F3F5F7"/>
                </a:solidFill>
                <a:latin typeface="Trebuchet MS" pitchFamily="34" charset="0"/>
                <a:ea typeface="Trebuchet MS" pitchFamily="34" charset="-122"/>
                <a:cs typeface="Trebuchet MS" pitchFamily="34" charset="-120"/>
              </a:rPr>
              <a:t>REST endpoints — state and reference</a:t>
            </a:r>
            <a:endParaRPr lang="en-US" sz="2700" dirty="0"/>
          </a:p>
        </p:txBody>
      </p:sp>
      <p:sp>
        <p:nvSpPr>
          <p:cNvPr id="3" name="Text 1"/>
          <p:cNvSpPr/>
          <p:nvPr/>
        </p:nvSpPr>
        <p:spPr>
          <a:xfrm>
            <a:off x="502920" y="841248"/>
            <a:ext cx="8138160" cy="237744"/>
          </a:xfrm>
          <a:prstGeom prst="rect">
            <a:avLst/>
          </a:prstGeom>
          <a:noFill/>
          <a:ln/>
        </p:spPr>
        <p:txBody>
          <a:bodyPr wrap="square" lIns="0" tIns="0" rIns="0" bIns="0" rtlCol="0" anchor="ctr"/>
          <a:lstStyle/>
          <a:p>
            <a:pPr marL="0" indent="0">
              <a:buNone/>
            </a:pPr>
            <a:r>
              <a:rPr lang="en-US" sz="1100" b="1" kern="0" spc="200" dirty="0">
                <a:solidFill>
                  <a:srgbClr val="E8722C"/>
                </a:solidFill>
                <a:latin typeface="Calibri" pitchFamily="34" charset="0"/>
                <a:ea typeface="Calibri" pitchFamily="34" charset="-122"/>
                <a:cs typeface="Calibri" pitchFamily="34" charset="-120"/>
              </a:rPr>
              <a:t>APPENDIX · 8 OF 16</a:t>
            </a:r>
            <a:endParaRPr lang="en-US" sz="1100" dirty="0"/>
          </a:p>
        </p:txBody>
      </p:sp>
      <p:graphicFrame>
        <p:nvGraphicFramePr>
          <p:cNvPr id="75" name="Table 0"/>
          <p:cNvGraphicFramePr>
            <a:graphicFrameLocks noGrp="1"/>
          </p:cNvGraphicFramePr>
          <p:nvPr>
            <p:extLst>
              <p:ext uri="{D42A27DB-BD31-4B8C-83A1-F6EECF244321}">
                <p14:modId xmlns:p14="http://schemas.microsoft.com/office/powerpoint/2010/main" val="1579011935"/>
              </p:ext>
            </p:extLst>
          </p:nvPr>
        </p:nvGraphicFramePr>
        <p:xfrm>
          <a:off x="502920" y="1170432"/>
          <a:ext cx="8138160" cy="914400"/>
        </p:xfrm>
        <a:graphic>
          <a:graphicData uri="http://schemas.openxmlformats.org/drawingml/2006/table">
            <a:tbl>
              <a:tblPr/>
              <a:tblGrid>
                <a:gridCol w="118872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tblGrid>
              <a:tr h="265176">
                <a:tc>
                  <a:txBody>
                    <a:bodyPr/>
                    <a:lstStyle/>
                    <a:p>
                      <a:pPr marL="0" indent="0">
                        <a:buNone/>
                      </a:pPr>
                      <a:r>
                        <a:rPr lang="en-US" sz="1100" b="1" dirty="0">
                          <a:solidFill>
                            <a:srgbClr val="121519"/>
                          </a:solidFill>
                          <a:latin typeface="Trebuchet MS" pitchFamily="34" charset="0"/>
                          <a:ea typeface="Trebuchet MS" pitchFamily="34" charset="-122"/>
                          <a:cs typeface="Trebuchet MS" pitchFamily="34" charset="-120"/>
                        </a:rPr>
                        <a:t>Method</a:t>
                      </a:r>
                      <a:endParaRPr lang="en-US" sz="1100" dirty="0">
                        <a:latin typeface="Trebuchet MS" charset="0"/>
                        <a:ea typeface="Trebuchet MS" charset="0"/>
                        <a:cs typeface="Trebuchet M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E8722C"/>
                    </a:solidFill>
                  </a:tcPr>
                </a:tc>
                <a:tc>
                  <a:txBody>
                    <a:bodyPr/>
                    <a:lstStyle/>
                    <a:p>
                      <a:pPr marL="0" indent="0">
                        <a:buNone/>
                      </a:pPr>
                      <a:r>
                        <a:rPr lang="en-US" sz="1100" b="1" dirty="0">
                          <a:solidFill>
                            <a:srgbClr val="121519"/>
                          </a:solidFill>
                          <a:latin typeface="Trebuchet MS" pitchFamily="34" charset="0"/>
                          <a:ea typeface="Trebuchet MS" pitchFamily="34" charset="-122"/>
                          <a:cs typeface="Trebuchet MS" pitchFamily="34" charset="-120"/>
                        </a:rPr>
                        <a:t>Path</a:t>
                      </a:r>
                      <a:endParaRPr lang="en-US" sz="1100" dirty="0">
                        <a:latin typeface="Trebuchet MS" charset="0"/>
                        <a:ea typeface="Trebuchet MS" charset="0"/>
                        <a:cs typeface="Trebuchet M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E8722C"/>
                    </a:solidFill>
                  </a:tcPr>
                </a:tc>
                <a:tc>
                  <a:txBody>
                    <a:bodyPr/>
                    <a:lstStyle/>
                    <a:p>
                      <a:pPr marL="0" indent="0">
                        <a:buNone/>
                      </a:pPr>
                      <a:r>
                        <a:rPr lang="en-US" sz="1100" b="1" dirty="0">
                          <a:solidFill>
                            <a:srgbClr val="121519"/>
                          </a:solidFill>
                          <a:latin typeface="Trebuchet MS" pitchFamily="34" charset="0"/>
                          <a:ea typeface="Trebuchet MS" pitchFamily="34" charset="-122"/>
                          <a:cs typeface="Trebuchet MS" pitchFamily="34" charset="-120"/>
                        </a:rPr>
                        <a:t>Returns</a:t>
                      </a:r>
                      <a:endParaRPr lang="en-US" sz="1100" dirty="0">
                        <a:latin typeface="Trebuchet MS" charset="0"/>
                        <a:ea typeface="Trebuchet MS" charset="0"/>
                        <a:cs typeface="Trebuchet M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E8722C"/>
                    </a:solidFill>
                  </a:tcPr>
                </a:tc>
                <a:extLst>
                  <a:ext uri="{0D108BD9-81ED-4DB2-BD59-A6C34878D82A}">
                    <a16:rowId xmlns:a16="http://schemas.microsoft.com/office/drawing/2014/main" val="10000"/>
                  </a:ext>
                </a:extLst>
              </a:tr>
              <a:tr h="265176">
                <a:tc>
                  <a:txBody>
                    <a:bodyPr/>
                    <a:lstStyle/>
                    <a:p>
                      <a:pPr marL="0" indent="0">
                        <a:buNone/>
                      </a:pPr>
                      <a:r>
                        <a:rPr lang="en-US" sz="950" dirty="0">
                          <a:solidFill>
                            <a:srgbClr val="F2A65A"/>
                          </a:solidFill>
                          <a:latin typeface="Consolas" pitchFamily="34" charset="0"/>
                          <a:ea typeface="Consolas" pitchFamily="34" charset="-122"/>
                          <a:cs typeface="Consolas" pitchFamily="34" charset="-120"/>
                        </a:rPr>
                        <a:t>GET</a:t>
                      </a:r>
                      <a:endParaRPr lang="en-US" sz="95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/orders</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Live orders for the caller's identity</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extLst>
                  <a:ext uri="{0D108BD9-81ED-4DB2-BD59-A6C34878D82A}">
                    <a16:rowId xmlns:a16="http://schemas.microsoft.com/office/drawing/2014/main" val="10001"/>
                  </a:ext>
                </a:extLst>
              </a:tr>
              <a:tr h="265176">
                <a:tc>
                  <a:txBody>
                    <a:bodyPr/>
                    <a:lstStyle/>
                    <a:p>
                      <a:pPr marL="0" indent="0">
                        <a:buNone/>
                      </a:pPr>
                      <a:r>
                        <a:rPr lang="en-US" sz="950" dirty="0">
                          <a:solidFill>
                            <a:srgbClr val="F2A65A"/>
                          </a:solidFill>
                          <a:latin typeface="Consolas" pitchFamily="34" charset="0"/>
                          <a:ea typeface="Consolas" pitchFamily="34" charset="-122"/>
                          <a:cs typeface="Consolas" pitchFamily="34" charset="-120"/>
                        </a:rPr>
                        <a:t>GET</a:t>
                      </a:r>
                      <a:endParaRPr lang="en-US" sz="95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/orders/{order_id}</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One order, read from the gateway cache</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extLst>
                  <a:ext uri="{0D108BD9-81ED-4DB2-BD59-A6C34878D82A}">
                    <a16:rowId xmlns:a16="http://schemas.microsoft.com/office/drawing/2014/main" val="10002"/>
                  </a:ext>
                </a:extLst>
              </a:tr>
              <a:tr h="265176">
                <a:tc>
                  <a:txBody>
                    <a:bodyPr/>
                    <a:lstStyle/>
                    <a:p>
                      <a:pPr marL="0" indent="0">
                        <a:buNone/>
                      </a:pPr>
                      <a:r>
                        <a:rPr lang="en-US" sz="950" dirty="0">
                          <a:solidFill>
                            <a:srgbClr val="F2A65A"/>
                          </a:solidFill>
                          <a:latin typeface="Consolas" pitchFamily="34" charset="0"/>
                          <a:ea typeface="Consolas" pitchFamily="34" charset="-122"/>
                          <a:cs typeface="Consolas" pitchFamily="34" charset="-120"/>
                        </a:rPr>
                        <a:t>GET</a:t>
                      </a:r>
                      <a:endParaRPr lang="en-US" sz="95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/symbols</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Instrument metadata, from the engine</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extLst>
                  <a:ext uri="{0D108BD9-81ED-4DB2-BD59-A6C34878D82A}">
                    <a16:rowId xmlns:a16="http://schemas.microsoft.com/office/drawing/2014/main" val="10003"/>
                  </a:ext>
                </a:extLst>
              </a:tr>
              <a:tr h="265176">
                <a:tc>
                  <a:txBody>
                    <a:bodyPr/>
                    <a:lstStyle/>
                    <a:p>
                      <a:pPr marL="0" indent="0">
                        <a:buNone/>
                      </a:pPr>
                      <a:r>
                        <a:rPr lang="en-US" sz="950" dirty="0">
                          <a:solidFill>
                            <a:srgbClr val="F2A65A"/>
                          </a:solidFill>
                          <a:latin typeface="Consolas" pitchFamily="34" charset="0"/>
                          <a:ea typeface="Consolas" pitchFamily="34" charset="-122"/>
                          <a:cs typeface="Consolas" pitchFamily="34" charset="-120"/>
                        </a:rPr>
                        <a:t>GET</a:t>
                      </a:r>
                      <a:endParaRPr lang="en-US" sz="95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/session</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Current session state and schedule</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extLst>
                  <a:ext uri="{0D108BD9-81ED-4DB2-BD59-A6C34878D82A}">
                    <a16:rowId xmlns:a16="http://schemas.microsoft.com/office/drawing/2014/main" val="10004"/>
                  </a:ext>
                </a:extLst>
              </a:tr>
              <a:tr h="265176">
                <a:tc>
                  <a:txBody>
                    <a:bodyPr/>
                    <a:lstStyle/>
                    <a:p>
                      <a:pPr marL="0" indent="0">
                        <a:buNone/>
                      </a:pPr>
                      <a:r>
                        <a:rPr lang="en-US" sz="950" dirty="0">
                          <a:solidFill>
                            <a:srgbClr val="F2A65A"/>
                          </a:solidFill>
                          <a:latin typeface="Consolas" pitchFamily="34" charset="0"/>
                          <a:ea typeface="Consolas" pitchFamily="34" charset="-122"/>
                          <a:cs typeface="Consolas" pitchFamily="34" charset="-120"/>
                        </a:rPr>
                        <a:t>GET</a:t>
                      </a:r>
                      <a:endParaRPr lang="en-US" sz="95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/quotes/bootstrap</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Active quote bootstrap state</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extLst>
                  <a:ext uri="{0D108BD9-81ED-4DB2-BD59-A6C34878D82A}">
                    <a16:rowId xmlns:a16="http://schemas.microsoft.com/office/drawing/2014/main" val="10005"/>
                  </a:ext>
                </a:extLst>
              </a:tr>
              <a:tr h="265176">
                <a:tc>
                  <a:txBody>
                    <a:bodyPr/>
                    <a:lstStyle/>
                    <a:p>
                      <a:pPr marL="0" indent="0">
                        <a:buNone/>
                      </a:pPr>
                      <a:r>
                        <a:rPr lang="en-US" sz="950" dirty="0">
                          <a:solidFill>
                            <a:srgbClr val="F2A65A"/>
                          </a:solidFill>
                          <a:latin typeface="Consolas" pitchFamily="34" charset="0"/>
                          <a:ea typeface="Consolas" pitchFamily="34" charset="-122"/>
                          <a:cs typeface="Consolas" pitchFamily="34" charset="-120"/>
                        </a:rPr>
                        <a:t>GET</a:t>
                      </a:r>
                      <a:endParaRPr lang="en-US" sz="95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/quotes/legs</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Quote leg state, cached or from the engine</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extLst>
                  <a:ext uri="{0D108BD9-81ED-4DB2-BD59-A6C34878D82A}">
                    <a16:rowId xmlns:a16="http://schemas.microsoft.com/office/drawing/2014/main" val="10006"/>
                  </a:ext>
                </a:extLst>
              </a:tr>
              <a:tr h="265176">
                <a:tc>
                  <a:txBody>
                    <a:bodyPr/>
                    <a:lstStyle/>
                    <a:p>
                      <a:pPr marL="0" indent="0">
                        <a:buNone/>
                      </a:pPr>
                      <a:r>
                        <a:rPr lang="en-US" sz="950" dirty="0">
                          <a:solidFill>
                            <a:srgbClr val="F2A65A"/>
                          </a:solidFill>
                          <a:latin typeface="Consolas" pitchFamily="34" charset="0"/>
                          <a:ea typeface="Consolas" pitchFamily="34" charset="-122"/>
                          <a:cs typeface="Consolas" pitchFamily="34" charset="-120"/>
                        </a:rPr>
                        <a:t>GET</a:t>
                      </a:r>
                      <a:endParaRPr lang="en-US" sz="95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/positions</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Net position per instrument, from cached fills</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extLst>
                  <a:ext uri="{0D108BD9-81ED-4DB2-BD59-A6C34878D82A}">
                    <a16:rowId xmlns:a16="http://schemas.microsoft.com/office/drawing/2014/main" val="10007"/>
                  </a:ext>
                </a:extLst>
              </a:tr>
              <a:tr h="265176">
                <a:tc>
                  <a:txBody>
                    <a:bodyPr/>
                    <a:lstStyle/>
                    <a:p>
                      <a:pPr marL="0" indent="0">
                        <a:buNone/>
                      </a:pPr>
                      <a:r>
                        <a:rPr lang="en-US" sz="950" dirty="0">
                          <a:solidFill>
                            <a:srgbClr val="F2A65A"/>
                          </a:solidFill>
                          <a:latin typeface="Consolas" pitchFamily="34" charset="0"/>
                          <a:ea typeface="Consolas" pitchFamily="34" charset="-122"/>
                          <a:cs typeface="Consolas" pitchFamily="34" charset="-120"/>
                        </a:rPr>
                        <a:t>GET</a:t>
                      </a:r>
                      <a:endParaRPr lang="en-US" sz="95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/status</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Cache summary, resolved role, and gateway count for admins</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extLst>
                  <a:ext uri="{0D108BD9-81ED-4DB2-BD59-A6C34878D82A}">
                    <a16:rowId xmlns:a16="http://schemas.microsoft.com/office/drawing/2014/main" val="10008"/>
                  </a:ext>
                </a:extLst>
              </a:tr>
              <a:tr h="265176">
                <a:tc>
                  <a:txBody>
                    <a:bodyPr/>
                    <a:lstStyle/>
                    <a:p>
                      <a:pPr marL="0" indent="0">
                        <a:buNone/>
                      </a:pPr>
                      <a:r>
                        <a:rPr lang="en-US" sz="950" dirty="0">
                          <a:solidFill>
                            <a:srgbClr val="F2A65A"/>
                          </a:solidFill>
                          <a:latin typeface="Consolas" pitchFamily="34" charset="0"/>
                          <a:ea typeface="Consolas" pitchFamily="34" charset="-122"/>
                          <a:cs typeface="Consolas" pitchFamily="34" charset="-120"/>
                        </a:rPr>
                        <a:t>GET</a:t>
                      </a:r>
                      <a:endParaRPr lang="en-US" sz="95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/healthz</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50" dirty="0">
                          <a:solidFill>
                            <a:srgbClr val="D5DAE0"/>
                          </a:solidFill>
                          <a:latin typeface="Calibri" pitchFamily="34" charset="0"/>
                          <a:ea typeface="Calibri" pitchFamily="34" charset="-122"/>
                          <a:cs typeface="Calibri" pitchFamily="34" charset="-120"/>
                        </a:rPr>
                        <a:t>Liveness probe — no authentication, not in the docs page</a:t>
                      </a:r>
                      <a:endParaRPr lang="en-US" sz="9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extLst>
                  <a:ext uri="{0D108BD9-81ED-4DB2-BD59-A6C34878D82A}">
                    <a16:rowId xmlns:a16="http://schemas.microsoft.com/office/drawing/2014/main" val="10009"/>
                  </a:ext>
                </a:extLst>
              </a:tr>
            </a:tbl>
          </a:graphicData>
        </a:graphic>
      </p:graphicFrame>
      <p:sp>
        <p:nvSpPr>
          <p:cNvPr id="5" name="Text 2">
            <a:extLst>
              <a:ext uri="{C183D7F6-B498-43B3-948B-1728B52AA6E4}">
                <adec:decorative xmlns:adec="http://schemas.microsoft.com/office/drawing/2017/decorative" val="1"/>
              </a:ext>
            </a:extLst>
          </p:cNvPr>
          <p:cNvSpPr/>
          <p:nvPr/>
        </p:nvSpPr>
        <p:spPr>
          <a:xfrm>
            <a:off x="502920" y="4224528"/>
            <a:ext cx="8138160" cy="411480"/>
          </a:xfrm>
          <a:prstGeom prst="rect">
            <a:avLst/>
          </a:prstGeom>
          <a:noFill/>
          <a:ln/>
        </p:spPr>
        <p:txBody>
          <a:bodyPr wrap="square" lIns="0" tIns="0" rIns="0" bIns="0" rtlCol="0" anchor="t"/>
          <a:lstStyle/>
          <a:p>
            <a:pPr marL="0" indent="0" algn="l">
              <a:buNone/>
            </a:pPr>
            <a:r>
              <a:rPr lang="en-US" sz="1050" i="1" dirty="0">
                <a:solidFill>
                  <a:srgbClr val="97A1AC"/>
                </a:solidFill>
                <a:latin typeface="Calibri" pitchFamily="34" charset="0"/>
                <a:ea typeface="Calibri" pitchFamily="34" charset="-122"/>
                <a:cs typeface="Calibri" pitchFamily="34" charset="-120"/>
              </a:rPr>
              <a:t>Endpoints that round-trip to the engine report a timeout error if it does not answer within the configured reply window. Reading one order returns a plain not-found body rather than the usual error envelope.</a:t>
            </a:r>
            <a:endParaRPr lang="en-US" sz="1050" dirty="0"/>
          </a:p>
        </p:txBody>
      </p:sp>
      <p:sp>
        <p:nvSpPr>
          <p:cNvPr id="6" name="Text 3"/>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Technical appendix</a:t>
            </a:r>
            <a:endParaRPr lang="en-US" sz="900" dirty="0"/>
          </a:p>
        </p:txBody>
      </p:sp>
      <p:sp>
        <p:nvSpPr>
          <p:cNvPr id="7" name="Text 4">
            <a:extLst>
              <a:ext uri="{C183D7F6-B498-43B3-948B-1728B52AA6E4}">
                <adec:decorative xmlns:adec="http://schemas.microsoft.com/office/drawing/2017/decorative" val="1"/>
              </a:ext>
            </a:extLst>
          </p:cNvPr>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74</a:t>
            </a:r>
            <a:endParaRPr lang="en-US" sz="9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8138160" cy="548640"/>
          </a:xfrm>
          <a:prstGeom prst="rect">
            <a:avLst/>
          </a:prstGeom>
          <a:noFill/>
          <a:ln/>
        </p:spPr>
        <p:txBody>
          <a:bodyPr wrap="square" lIns="0" tIns="0" rIns="0" bIns="0" rtlCol="0" anchor="ctr"/>
          <a:lstStyle/>
          <a:p>
            <a:pPr marL="0" indent="0">
              <a:buNone/>
            </a:pPr>
            <a:r>
              <a:rPr lang="en-US" sz="2700" b="1" dirty="0">
                <a:solidFill>
                  <a:srgbClr val="F3F5F7"/>
                </a:solidFill>
                <a:latin typeface="Trebuchet MS" pitchFamily="34" charset="0"/>
                <a:ea typeface="Trebuchet MS" pitchFamily="34" charset="-122"/>
                <a:cs typeface="Trebuchet MS" pitchFamily="34" charset="-120"/>
              </a:rPr>
              <a:t>REST endpoints — history</a:t>
            </a:r>
            <a:endParaRPr lang="en-US" sz="2700" dirty="0"/>
          </a:p>
        </p:txBody>
      </p:sp>
      <p:sp>
        <p:nvSpPr>
          <p:cNvPr id="3" name="Text 1"/>
          <p:cNvSpPr/>
          <p:nvPr/>
        </p:nvSpPr>
        <p:spPr>
          <a:xfrm>
            <a:off x="502920" y="841248"/>
            <a:ext cx="8138160" cy="237744"/>
          </a:xfrm>
          <a:prstGeom prst="rect">
            <a:avLst/>
          </a:prstGeom>
          <a:noFill/>
          <a:ln/>
        </p:spPr>
        <p:txBody>
          <a:bodyPr wrap="square" lIns="0" tIns="0" rIns="0" bIns="0" rtlCol="0" anchor="ctr"/>
          <a:lstStyle/>
          <a:p>
            <a:pPr marL="0" indent="0">
              <a:buNone/>
            </a:pPr>
            <a:r>
              <a:rPr lang="en-US" sz="1100" b="1" kern="0" spc="200" dirty="0">
                <a:solidFill>
                  <a:srgbClr val="E8722C"/>
                </a:solidFill>
                <a:latin typeface="Calibri" pitchFamily="34" charset="0"/>
                <a:ea typeface="Calibri" pitchFamily="34" charset="-122"/>
                <a:cs typeface="Calibri" pitchFamily="34" charset="-120"/>
              </a:rPr>
              <a:t>APPENDIX · 9 OF 16</a:t>
            </a:r>
            <a:endParaRPr lang="en-US" sz="1100" dirty="0"/>
          </a:p>
        </p:txBody>
      </p:sp>
      <p:graphicFrame>
        <p:nvGraphicFramePr>
          <p:cNvPr id="76" name="Table 0"/>
          <p:cNvGraphicFramePr>
            <a:graphicFrameLocks noGrp="1"/>
          </p:cNvGraphicFramePr>
          <p:nvPr>
            <p:extLst>
              <p:ext uri="{D42A27DB-BD31-4B8C-83A1-F6EECF244321}">
                <p14:modId xmlns:p14="http://schemas.microsoft.com/office/powerpoint/2010/main" val="1579011935"/>
              </p:ext>
            </p:extLst>
          </p:nvPr>
        </p:nvGraphicFramePr>
        <p:xfrm>
          <a:off x="502920" y="1170432"/>
          <a:ext cx="8138160" cy="914400"/>
        </p:xfrm>
        <a:graphic>
          <a:graphicData uri="http://schemas.openxmlformats.org/drawingml/2006/table">
            <a:tbl>
              <a:tblPr/>
              <a:tblGrid>
                <a:gridCol w="283464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tblGrid>
              <a:tr h="237744">
                <a:tc>
                  <a:txBody>
                    <a:bodyPr/>
                    <a:lstStyle/>
                    <a:p>
                      <a:pPr marL="0" indent="0">
                        <a:buNone/>
                      </a:pPr>
                      <a:r>
                        <a:rPr lang="en-US" sz="1100" b="1" dirty="0">
                          <a:solidFill>
                            <a:srgbClr val="121519"/>
                          </a:solidFill>
                          <a:latin typeface="Trebuchet MS" pitchFamily="34" charset="0"/>
                          <a:ea typeface="Trebuchet MS" pitchFamily="34" charset="-122"/>
                          <a:cs typeface="Trebuchet MS" pitchFamily="34" charset="-120"/>
                        </a:rPr>
                        <a:t>Path</a:t>
                      </a:r>
                      <a:endParaRPr lang="en-US" sz="1100" dirty="0">
                        <a:latin typeface="Trebuchet MS" charset="0"/>
                        <a:ea typeface="Trebuchet MS" charset="0"/>
                        <a:cs typeface="Trebuchet M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E8722C"/>
                    </a:solidFill>
                  </a:tcPr>
                </a:tc>
                <a:tc>
                  <a:txBody>
                    <a:bodyPr/>
                    <a:lstStyle/>
                    <a:p>
                      <a:pPr marL="0" indent="0">
                        <a:buNone/>
                      </a:pPr>
                      <a:r>
                        <a:rPr lang="en-US" sz="1100" b="1" dirty="0">
                          <a:solidFill>
                            <a:srgbClr val="121519"/>
                          </a:solidFill>
                          <a:latin typeface="Trebuchet MS" pitchFamily="34" charset="0"/>
                          <a:ea typeface="Trebuchet MS" pitchFamily="34" charset="-122"/>
                          <a:cs typeface="Trebuchet MS" pitchFamily="34" charset="-120"/>
                        </a:rPr>
                        <a:t>Access</a:t>
                      </a:r>
                      <a:endParaRPr lang="en-US" sz="1100" dirty="0">
                        <a:latin typeface="Trebuchet MS" charset="0"/>
                        <a:ea typeface="Trebuchet MS" charset="0"/>
                        <a:cs typeface="Trebuchet M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E8722C"/>
                    </a:solidFill>
                  </a:tcPr>
                </a:tc>
                <a:tc>
                  <a:txBody>
                    <a:bodyPr/>
                    <a:lstStyle/>
                    <a:p>
                      <a:pPr marL="0" indent="0">
                        <a:buNone/>
                      </a:pPr>
                      <a:r>
                        <a:rPr lang="en-US" sz="1100" b="1" dirty="0">
                          <a:solidFill>
                            <a:srgbClr val="121519"/>
                          </a:solidFill>
                          <a:latin typeface="Trebuchet MS" pitchFamily="34" charset="0"/>
                          <a:ea typeface="Trebuchet MS" pitchFamily="34" charset="-122"/>
                          <a:cs typeface="Trebuchet MS" pitchFamily="34" charset="-120"/>
                        </a:rPr>
                        <a:t>Contents</a:t>
                      </a:r>
                      <a:endParaRPr lang="en-US" sz="1100" dirty="0">
                        <a:latin typeface="Trebuchet MS" charset="0"/>
                        <a:ea typeface="Trebuchet MS" charset="0"/>
                        <a:cs typeface="Trebuchet M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E8722C"/>
                    </a:solidFill>
                  </a:tcPr>
                </a:tc>
                <a:extLst>
                  <a:ext uri="{0D108BD9-81ED-4DB2-BD59-A6C34878D82A}">
                    <a16:rowId xmlns:a16="http://schemas.microsoft.com/office/drawing/2014/main" val="10000"/>
                  </a:ext>
                </a:extLst>
              </a:tr>
              <a:tr h="237744">
                <a:tc>
                  <a:txBody>
                    <a:bodyPr/>
                    <a:lstStyle/>
                    <a:p>
                      <a:pPr marL="0" indent="0">
                        <a:buNone/>
                      </a:pPr>
                      <a:r>
                        <a:rPr lang="en-US" sz="900" dirty="0">
                          <a:solidFill>
                            <a:srgbClr val="F2A65A"/>
                          </a:solidFill>
                          <a:latin typeface="Consolas" pitchFamily="34" charset="0"/>
                          <a:ea typeface="Consolas" pitchFamily="34" charset="-122"/>
                          <a:cs typeface="Consolas" pitchFamily="34" charset="-120"/>
                        </a:rPr>
                        <a:t>/history/orders</a:t>
                      </a:r>
                      <a:endParaRPr lang="en-US" sz="90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00" dirty="0">
                          <a:solidFill>
                            <a:srgbClr val="D5DAE0"/>
                          </a:solidFill>
                          <a:latin typeface="Calibri" pitchFamily="34" charset="0"/>
                          <a:ea typeface="Calibri" pitchFamily="34" charset="-122"/>
                          <a:cs typeface="Calibri" pitchFamily="34" charset="-120"/>
                        </a:rPr>
                        <a:t>trading</a:t>
                      </a:r>
                      <a:endParaRPr lang="en-US" sz="9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00" dirty="0">
                          <a:solidFill>
                            <a:srgbClr val="D5DAE0"/>
                          </a:solidFill>
                          <a:latin typeface="Calibri" pitchFamily="34" charset="0"/>
                          <a:ea typeface="Calibri" pitchFamily="34" charset="-122"/>
                          <a:cs typeface="Calibri" pitchFamily="34" charset="-120"/>
                        </a:rPr>
                        <a:t>Your order lifecycle events</a:t>
                      </a:r>
                      <a:endParaRPr lang="en-US" sz="9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extLst>
                  <a:ext uri="{0D108BD9-81ED-4DB2-BD59-A6C34878D82A}">
                    <a16:rowId xmlns:a16="http://schemas.microsoft.com/office/drawing/2014/main" val="10001"/>
                  </a:ext>
                </a:extLst>
              </a:tr>
              <a:tr h="237744">
                <a:tc>
                  <a:txBody>
                    <a:bodyPr/>
                    <a:lstStyle/>
                    <a:p>
                      <a:pPr marL="0" indent="0">
                        <a:buNone/>
                      </a:pPr>
                      <a:r>
                        <a:rPr lang="en-US" sz="900" dirty="0">
                          <a:solidFill>
                            <a:srgbClr val="F2A65A"/>
                          </a:solidFill>
                          <a:latin typeface="Consolas" pitchFamily="34" charset="0"/>
                          <a:ea typeface="Consolas" pitchFamily="34" charset="-122"/>
                          <a:cs typeface="Consolas" pitchFamily="34" charset="-120"/>
                        </a:rPr>
                        <a:t>/history/orders/{order_id}</a:t>
                      </a:r>
                      <a:endParaRPr lang="en-US" sz="90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00" dirty="0">
                          <a:solidFill>
                            <a:srgbClr val="D5DAE0"/>
                          </a:solidFill>
                          <a:latin typeface="Calibri" pitchFamily="34" charset="0"/>
                          <a:ea typeface="Calibri" pitchFamily="34" charset="-122"/>
                          <a:cs typeface="Calibri" pitchFamily="34" charset="-120"/>
                        </a:rPr>
                        <a:t>trading</a:t>
                      </a:r>
                      <a:endParaRPr lang="en-US" sz="9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00" dirty="0">
                          <a:solidFill>
                            <a:srgbClr val="D5DAE0"/>
                          </a:solidFill>
                          <a:latin typeface="Calibri" pitchFamily="34" charset="0"/>
                          <a:ea typeface="Calibri" pitchFamily="34" charset="-122"/>
                          <a:cs typeface="Calibri" pitchFamily="34" charset="-120"/>
                        </a:rPr>
                        <a:t>One order's full lifecycle, unpaginated</a:t>
                      </a:r>
                      <a:endParaRPr lang="en-US" sz="9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extLst>
                  <a:ext uri="{0D108BD9-81ED-4DB2-BD59-A6C34878D82A}">
                    <a16:rowId xmlns:a16="http://schemas.microsoft.com/office/drawing/2014/main" val="10002"/>
                  </a:ext>
                </a:extLst>
              </a:tr>
              <a:tr h="237744">
                <a:tc>
                  <a:txBody>
                    <a:bodyPr/>
                    <a:lstStyle/>
                    <a:p>
                      <a:pPr marL="0" indent="0">
                        <a:buNone/>
                      </a:pPr>
                      <a:r>
                        <a:rPr lang="en-US" sz="900" dirty="0">
                          <a:solidFill>
                            <a:srgbClr val="F2A65A"/>
                          </a:solidFill>
                          <a:latin typeface="Consolas" pitchFamily="34" charset="0"/>
                          <a:ea typeface="Consolas" pitchFamily="34" charset="-122"/>
                          <a:cs typeface="Consolas" pitchFamily="34" charset="-120"/>
                        </a:rPr>
                        <a:t>/history/fills</a:t>
                      </a:r>
                      <a:endParaRPr lang="en-US" sz="90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00" dirty="0">
                          <a:solidFill>
                            <a:srgbClr val="D5DAE0"/>
                          </a:solidFill>
                          <a:latin typeface="Calibri" pitchFamily="34" charset="0"/>
                          <a:ea typeface="Calibri" pitchFamily="34" charset="-122"/>
                          <a:cs typeface="Calibri" pitchFamily="34" charset="-120"/>
                        </a:rPr>
                        <a:t>trading</a:t>
                      </a:r>
                      <a:endParaRPr lang="en-US" sz="9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00" dirty="0">
                          <a:solidFill>
                            <a:srgbClr val="D5DAE0"/>
                          </a:solidFill>
                          <a:latin typeface="Calibri" pitchFamily="34" charset="0"/>
                          <a:ea typeface="Calibri" pitchFamily="34" charset="-122"/>
                          <a:cs typeface="Calibri" pitchFamily="34" charset="-120"/>
                        </a:rPr>
                        <a:t>Your fills</a:t>
                      </a:r>
                      <a:endParaRPr lang="en-US" sz="9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extLst>
                  <a:ext uri="{0D108BD9-81ED-4DB2-BD59-A6C34878D82A}">
                    <a16:rowId xmlns:a16="http://schemas.microsoft.com/office/drawing/2014/main" val="10003"/>
                  </a:ext>
                </a:extLst>
              </a:tr>
              <a:tr h="237744">
                <a:tc>
                  <a:txBody>
                    <a:bodyPr/>
                    <a:lstStyle/>
                    <a:p>
                      <a:pPr marL="0" indent="0">
                        <a:buNone/>
                      </a:pPr>
                      <a:r>
                        <a:rPr lang="en-US" sz="900" dirty="0">
                          <a:solidFill>
                            <a:srgbClr val="F2A65A"/>
                          </a:solidFill>
                          <a:latin typeface="Consolas" pitchFamily="34" charset="0"/>
                          <a:ea typeface="Consolas" pitchFamily="34" charset="-122"/>
                          <a:cs typeface="Consolas" pitchFamily="34" charset="-120"/>
                        </a:rPr>
                        <a:t>/history/trades</a:t>
                      </a:r>
                      <a:endParaRPr lang="en-US" sz="90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00" dirty="0">
                          <a:solidFill>
                            <a:srgbClr val="D5DAE0"/>
                          </a:solidFill>
                          <a:latin typeface="Calibri" pitchFamily="34" charset="0"/>
                          <a:ea typeface="Calibri" pitchFamily="34" charset="-122"/>
                          <a:cs typeface="Calibri" pitchFamily="34" charset="-120"/>
                        </a:rPr>
                        <a:t>any key</a:t>
                      </a:r>
                      <a:endParaRPr lang="en-US" sz="9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00" dirty="0">
                          <a:solidFill>
                            <a:srgbClr val="D5DAE0"/>
                          </a:solidFill>
                          <a:latin typeface="Calibri" pitchFamily="34" charset="0"/>
                          <a:ea typeface="Calibri" pitchFamily="34" charset="-122"/>
                          <a:cs typeface="Calibri" pitchFamily="34" charset="-120"/>
                        </a:rPr>
                        <a:t>Public trade tape</a:t>
                      </a:r>
                      <a:endParaRPr lang="en-US" sz="9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extLst>
                  <a:ext uri="{0D108BD9-81ED-4DB2-BD59-A6C34878D82A}">
                    <a16:rowId xmlns:a16="http://schemas.microsoft.com/office/drawing/2014/main" val="10004"/>
                  </a:ext>
                </a:extLst>
              </a:tr>
              <a:tr h="237744">
                <a:tc>
                  <a:txBody>
                    <a:bodyPr/>
                    <a:lstStyle/>
                    <a:p>
                      <a:pPr marL="0" indent="0">
                        <a:buNone/>
                      </a:pPr>
                      <a:r>
                        <a:rPr lang="en-US" sz="900" dirty="0">
                          <a:solidFill>
                            <a:srgbClr val="F2A65A"/>
                          </a:solidFill>
                          <a:latin typeface="Consolas" pitchFamily="34" charset="0"/>
                          <a:ea typeface="Consolas" pitchFamily="34" charset="-122"/>
                          <a:cs typeface="Consolas" pitchFamily="34" charset="-120"/>
                        </a:rPr>
                        <a:t>/history/daily</a:t>
                      </a:r>
                      <a:endParaRPr lang="en-US" sz="90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00" dirty="0">
                          <a:solidFill>
                            <a:srgbClr val="D5DAE0"/>
                          </a:solidFill>
                          <a:latin typeface="Calibri" pitchFamily="34" charset="0"/>
                          <a:ea typeface="Calibri" pitchFamily="34" charset="-122"/>
                          <a:cs typeface="Calibri" pitchFamily="34" charset="-120"/>
                        </a:rPr>
                        <a:t>any key</a:t>
                      </a:r>
                      <a:endParaRPr lang="en-US" sz="9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00" dirty="0">
                          <a:solidFill>
                            <a:srgbClr val="D5DAE0"/>
                          </a:solidFill>
                          <a:latin typeface="Calibri" pitchFamily="34" charset="0"/>
                          <a:ea typeface="Calibri" pitchFamily="34" charset="-122"/>
                          <a:cs typeface="Calibri" pitchFamily="34" charset="-120"/>
                        </a:rPr>
                        <a:t>Daily open, high, low, close and volume</a:t>
                      </a:r>
                      <a:endParaRPr lang="en-US" sz="9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extLst>
                  <a:ext uri="{0D108BD9-81ED-4DB2-BD59-A6C34878D82A}">
                    <a16:rowId xmlns:a16="http://schemas.microsoft.com/office/drawing/2014/main" val="10005"/>
                  </a:ext>
                </a:extLst>
              </a:tr>
              <a:tr h="237744">
                <a:tc>
                  <a:txBody>
                    <a:bodyPr/>
                    <a:lstStyle/>
                    <a:p>
                      <a:pPr marL="0" indent="0">
                        <a:buNone/>
                      </a:pPr>
                      <a:r>
                        <a:rPr lang="en-US" sz="900" dirty="0">
                          <a:solidFill>
                            <a:srgbClr val="F2A65A"/>
                          </a:solidFill>
                          <a:latin typeface="Consolas" pitchFamily="34" charset="0"/>
                          <a:ea typeface="Consolas" pitchFamily="34" charset="-122"/>
                          <a:cs typeface="Consolas" pitchFamily="34" charset="-120"/>
                        </a:rPr>
                        <a:t>/history/price-snapshots</a:t>
                      </a:r>
                      <a:endParaRPr lang="en-US" sz="90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00" dirty="0">
                          <a:solidFill>
                            <a:srgbClr val="D5DAE0"/>
                          </a:solidFill>
                          <a:latin typeface="Calibri" pitchFamily="34" charset="0"/>
                          <a:ea typeface="Calibri" pitchFamily="34" charset="-122"/>
                          <a:cs typeface="Calibri" pitchFamily="34" charset="-120"/>
                        </a:rPr>
                        <a:t>any key</a:t>
                      </a:r>
                      <a:endParaRPr lang="en-US" sz="9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00" dirty="0">
                          <a:solidFill>
                            <a:srgbClr val="D5DAE0"/>
                          </a:solidFill>
                          <a:latin typeface="Calibri" pitchFamily="34" charset="0"/>
                          <a:ea typeface="Calibri" pitchFamily="34" charset="-122"/>
                          <a:cs typeface="Calibri" pitchFamily="34" charset="-120"/>
                        </a:rPr>
                        <a:t>Intraday mid, bid and ask series</a:t>
                      </a:r>
                      <a:endParaRPr lang="en-US" sz="9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extLst>
                  <a:ext uri="{0D108BD9-81ED-4DB2-BD59-A6C34878D82A}">
                    <a16:rowId xmlns:a16="http://schemas.microsoft.com/office/drawing/2014/main" val="10006"/>
                  </a:ext>
                </a:extLst>
              </a:tr>
              <a:tr h="237744">
                <a:tc>
                  <a:txBody>
                    <a:bodyPr/>
                    <a:lstStyle/>
                    <a:p>
                      <a:pPr marL="0" indent="0">
                        <a:buNone/>
                      </a:pPr>
                      <a:r>
                        <a:rPr lang="en-US" sz="900" dirty="0">
                          <a:solidFill>
                            <a:srgbClr val="F2A65A"/>
                          </a:solidFill>
                          <a:latin typeface="Consolas" pitchFamily="34" charset="0"/>
                          <a:ea typeface="Consolas" pitchFamily="34" charset="-122"/>
                          <a:cs typeface="Consolas" pitchFamily="34" charset="-120"/>
                        </a:rPr>
                        <a:t>/history/index-daily</a:t>
                      </a:r>
                      <a:endParaRPr lang="en-US" sz="90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00" dirty="0">
                          <a:solidFill>
                            <a:srgbClr val="D5DAE0"/>
                          </a:solidFill>
                          <a:latin typeface="Calibri" pitchFamily="34" charset="0"/>
                          <a:ea typeface="Calibri" pitchFamily="34" charset="-122"/>
                          <a:cs typeface="Calibri" pitchFamily="34" charset="-120"/>
                        </a:rPr>
                        <a:t>any key</a:t>
                      </a:r>
                      <a:endParaRPr lang="en-US" sz="9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00" dirty="0">
                          <a:solidFill>
                            <a:srgbClr val="D5DAE0"/>
                          </a:solidFill>
                          <a:latin typeface="Calibri" pitchFamily="34" charset="0"/>
                          <a:ea typeface="Calibri" pitchFamily="34" charset="-122"/>
                          <a:cs typeface="Calibri" pitchFamily="34" charset="-120"/>
                        </a:rPr>
                        <a:t>Daily index open, high, low and close</a:t>
                      </a:r>
                      <a:endParaRPr lang="en-US" sz="9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extLst>
                  <a:ext uri="{0D108BD9-81ED-4DB2-BD59-A6C34878D82A}">
                    <a16:rowId xmlns:a16="http://schemas.microsoft.com/office/drawing/2014/main" val="10007"/>
                  </a:ext>
                </a:extLst>
              </a:tr>
              <a:tr h="237744">
                <a:tc>
                  <a:txBody>
                    <a:bodyPr/>
                    <a:lstStyle/>
                    <a:p>
                      <a:pPr marL="0" indent="0">
                        <a:buNone/>
                      </a:pPr>
                      <a:r>
                        <a:rPr lang="en-US" sz="900" dirty="0">
                          <a:solidFill>
                            <a:srgbClr val="F2A65A"/>
                          </a:solidFill>
                          <a:latin typeface="Consolas" pitchFamily="34" charset="0"/>
                          <a:ea typeface="Consolas" pitchFamily="34" charset="-122"/>
                          <a:cs typeface="Consolas" pitchFamily="34" charset="-120"/>
                        </a:rPr>
                        <a:t>/history/index-snapshots</a:t>
                      </a:r>
                      <a:endParaRPr lang="en-US" sz="90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00" dirty="0">
                          <a:solidFill>
                            <a:srgbClr val="D5DAE0"/>
                          </a:solidFill>
                          <a:latin typeface="Calibri" pitchFamily="34" charset="0"/>
                          <a:ea typeface="Calibri" pitchFamily="34" charset="-122"/>
                          <a:cs typeface="Calibri" pitchFamily="34" charset="-120"/>
                        </a:rPr>
                        <a:t>any key</a:t>
                      </a:r>
                      <a:endParaRPr lang="en-US" sz="9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00" dirty="0">
                          <a:solidFill>
                            <a:srgbClr val="D5DAE0"/>
                          </a:solidFill>
                          <a:latin typeface="Calibri" pitchFamily="34" charset="0"/>
                          <a:ea typeface="Calibri" pitchFamily="34" charset="-122"/>
                          <a:cs typeface="Calibri" pitchFamily="34" charset="-120"/>
                        </a:rPr>
                        <a:t>Intraday index level series</a:t>
                      </a:r>
                      <a:endParaRPr lang="en-US" sz="9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extLst>
                  <a:ext uri="{0D108BD9-81ED-4DB2-BD59-A6C34878D82A}">
                    <a16:rowId xmlns:a16="http://schemas.microsoft.com/office/drawing/2014/main" val="10008"/>
                  </a:ext>
                </a:extLst>
              </a:tr>
              <a:tr h="237744">
                <a:tc>
                  <a:txBody>
                    <a:bodyPr/>
                    <a:lstStyle/>
                    <a:p>
                      <a:pPr marL="0" indent="0">
                        <a:buNone/>
                      </a:pPr>
                      <a:r>
                        <a:rPr lang="en-US" sz="900" dirty="0">
                          <a:solidFill>
                            <a:srgbClr val="F2A65A"/>
                          </a:solidFill>
                          <a:latin typeface="Consolas" pitchFamily="34" charset="0"/>
                          <a:ea typeface="Consolas" pitchFamily="34" charset="-122"/>
                          <a:cs typeface="Consolas" pitchFamily="34" charset="-120"/>
                        </a:rPr>
                        <a:t>/history/index-ids</a:t>
                      </a:r>
                      <a:endParaRPr lang="en-US" sz="90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00" dirty="0">
                          <a:solidFill>
                            <a:srgbClr val="D5DAE0"/>
                          </a:solidFill>
                          <a:latin typeface="Calibri" pitchFamily="34" charset="0"/>
                          <a:ea typeface="Calibri" pitchFamily="34" charset="-122"/>
                          <a:cs typeface="Calibri" pitchFamily="34" charset="-120"/>
                        </a:rPr>
                        <a:t>any key</a:t>
                      </a:r>
                      <a:endParaRPr lang="en-US" sz="9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00" dirty="0">
                          <a:solidFill>
                            <a:srgbClr val="D5DAE0"/>
                          </a:solidFill>
                          <a:latin typeface="Calibri" pitchFamily="34" charset="0"/>
                          <a:ea typeface="Calibri" pitchFamily="34" charset="-122"/>
                          <a:cs typeface="Calibri" pitchFamily="34" charset="-120"/>
                        </a:rPr>
                        <a:t>Index identifiers with recorded data</a:t>
                      </a:r>
                      <a:endParaRPr lang="en-US" sz="9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extLst>
                  <a:ext uri="{0D108BD9-81ED-4DB2-BD59-A6C34878D82A}">
                    <a16:rowId xmlns:a16="http://schemas.microsoft.com/office/drawing/2014/main" val="10009"/>
                  </a:ext>
                </a:extLst>
              </a:tr>
              <a:tr h="237744">
                <a:tc>
                  <a:txBody>
                    <a:bodyPr/>
                    <a:lstStyle/>
                    <a:p>
                      <a:pPr marL="0" indent="0">
                        <a:buNone/>
                      </a:pPr>
                      <a:r>
                        <a:rPr lang="en-US" sz="900" dirty="0">
                          <a:solidFill>
                            <a:srgbClr val="F2A65A"/>
                          </a:solidFill>
                          <a:latin typeface="Consolas" pitchFamily="34" charset="0"/>
                          <a:ea typeface="Consolas" pitchFamily="34" charset="-122"/>
                          <a:cs typeface="Consolas" pitchFamily="34" charset="-120"/>
                        </a:rPr>
                        <a:t>/history/index-events</a:t>
                      </a:r>
                      <a:endParaRPr lang="en-US" sz="90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00" dirty="0">
                          <a:solidFill>
                            <a:srgbClr val="D5DAE0"/>
                          </a:solidFill>
                          <a:latin typeface="Calibri" pitchFamily="34" charset="0"/>
                          <a:ea typeface="Calibri" pitchFamily="34" charset="-122"/>
                          <a:cs typeface="Calibri" pitchFamily="34" charset="-120"/>
                        </a:rPr>
                        <a:t>any key</a:t>
                      </a:r>
                      <a:endParaRPr lang="en-US" sz="9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00" dirty="0">
                          <a:solidFill>
                            <a:srgbClr val="D5DAE0"/>
                          </a:solidFill>
                          <a:latin typeface="Calibri" pitchFamily="34" charset="0"/>
                          <a:ea typeface="Calibri" pitchFamily="34" charset="-122"/>
                          <a:cs typeface="Calibri" pitchFamily="34" charset="-120"/>
                        </a:rPr>
                        <a:t>Index structural and audit log, live from the index process</a:t>
                      </a:r>
                      <a:endParaRPr lang="en-US" sz="9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extLst>
                  <a:ext uri="{0D108BD9-81ED-4DB2-BD59-A6C34878D82A}">
                    <a16:rowId xmlns:a16="http://schemas.microsoft.com/office/drawing/2014/main" val="10010"/>
                  </a:ext>
                </a:extLst>
              </a:tr>
            </a:tbl>
          </a:graphicData>
        </a:graphic>
      </p:graphicFrame>
      <p:sp>
        <p:nvSpPr>
          <p:cNvPr id="5" name="Text 2">
            <a:extLst>
              <a:ext uri="{C183D7F6-B498-43B3-948B-1728B52AA6E4}">
                <adec:decorative xmlns:adec="http://schemas.microsoft.com/office/drawing/2017/decorative" val="1"/>
              </a:ext>
            </a:extLst>
          </p:cNvPr>
          <p:cNvSpPr/>
          <p:nvPr/>
        </p:nvSpPr>
        <p:spPr>
          <a:xfrm>
            <a:off x="502920" y="4224528"/>
            <a:ext cx="8138160" cy="411480"/>
          </a:xfrm>
          <a:prstGeom prst="rect">
            <a:avLst/>
          </a:prstGeom>
          <a:noFill/>
          <a:ln/>
        </p:spPr>
        <p:txBody>
          <a:bodyPr wrap="square" lIns="0" tIns="0" rIns="0" bIns="0" rtlCol="0" anchor="t"/>
          <a:lstStyle/>
          <a:p>
            <a:pPr marL="0" indent="0" algn="l">
              <a:buNone/>
            </a:pPr>
            <a:r>
              <a:rPr lang="en-US" sz="1050" i="1" dirty="0">
                <a:solidFill>
                  <a:srgbClr val="97A1AC"/>
                </a:solidFill>
                <a:latin typeface="Calibri" pitchFamily="34" charset="0"/>
                <a:ea typeface="Calibri" pitchFamily="34" charset="-122"/>
                <a:cs typeface="Calibri" pitchFamily="34" charset="-120"/>
              </a:rPr>
              <a:t>Private history is always scoped to the calling identity. All of these read the recorded database, except the index audit log, which is answered live by the index process.</a:t>
            </a:r>
            <a:endParaRPr lang="en-US" sz="1050" dirty="0"/>
          </a:p>
        </p:txBody>
      </p:sp>
      <p:sp>
        <p:nvSpPr>
          <p:cNvPr id="6" name="Text 3"/>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Technical appendix</a:t>
            </a:r>
            <a:endParaRPr lang="en-US" sz="900" dirty="0"/>
          </a:p>
        </p:txBody>
      </p:sp>
      <p:sp>
        <p:nvSpPr>
          <p:cNvPr id="7" name="Text 4"/>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75</a:t>
            </a:r>
            <a:endParaRPr lang="en-US" sz="9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8138160" cy="548640"/>
          </a:xfrm>
          <a:prstGeom prst="rect">
            <a:avLst/>
          </a:prstGeom>
          <a:noFill/>
          <a:ln/>
        </p:spPr>
        <p:txBody>
          <a:bodyPr wrap="square" lIns="0" tIns="0" rIns="0" bIns="0" rtlCol="0" anchor="ctr"/>
          <a:lstStyle/>
          <a:p>
            <a:pPr marL="0" indent="0">
              <a:buNone/>
            </a:pPr>
            <a:r>
              <a:rPr lang="en-US" sz="2700" b="1" dirty="0">
                <a:solidFill>
                  <a:srgbClr val="F3F5F7"/>
                </a:solidFill>
                <a:latin typeface="Trebuchet MS" pitchFamily="34" charset="0"/>
                <a:ea typeface="Trebuchet MS" pitchFamily="34" charset="-122"/>
                <a:cs typeface="Trebuchet MS" pitchFamily="34" charset="-120"/>
              </a:rPr>
              <a:t>History query parameters</a:t>
            </a:r>
            <a:endParaRPr lang="en-US" sz="2700" dirty="0"/>
          </a:p>
        </p:txBody>
      </p:sp>
      <p:sp>
        <p:nvSpPr>
          <p:cNvPr id="3" name="Text 1"/>
          <p:cNvSpPr/>
          <p:nvPr/>
        </p:nvSpPr>
        <p:spPr>
          <a:xfrm>
            <a:off x="502920" y="841248"/>
            <a:ext cx="8138160" cy="237744"/>
          </a:xfrm>
          <a:prstGeom prst="rect">
            <a:avLst/>
          </a:prstGeom>
          <a:noFill/>
          <a:ln/>
        </p:spPr>
        <p:txBody>
          <a:bodyPr wrap="square" lIns="0" tIns="0" rIns="0" bIns="0" rtlCol="0" anchor="ctr"/>
          <a:lstStyle/>
          <a:p>
            <a:pPr marL="0" indent="0">
              <a:buNone/>
            </a:pPr>
            <a:r>
              <a:rPr lang="en-US" sz="1100" b="1" kern="0" spc="200" dirty="0">
                <a:solidFill>
                  <a:srgbClr val="E8722C"/>
                </a:solidFill>
                <a:latin typeface="Calibri" pitchFamily="34" charset="0"/>
                <a:ea typeface="Calibri" pitchFamily="34" charset="-122"/>
                <a:cs typeface="Calibri" pitchFamily="34" charset="-120"/>
              </a:rPr>
              <a:t>APPENDIX · 10 OF 16</a:t>
            </a:r>
            <a:endParaRPr lang="en-US" sz="1100" dirty="0"/>
          </a:p>
        </p:txBody>
      </p:sp>
      <p:graphicFrame>
        <p:nvGraphicFramePr>
          <p:cNvPr id="77" name="Table 0"/>
          <p:cNvGraphicFramePr>
            <a:graphicFrameLocks noGrp="1"/>
          </p:cNvGraphicFramePr>
          <p:nvPr>
            <p:extLst>
              <p:ext uri="{D42A27DB-BD31-4B8C-83A1-F6EECF244321}">
                <p14:modId xmlns:p14="http://schemas.microsoft.com/office/powerpoint/2010/main" val="1579011935"/>
              </p:ext>
            </p:extLst>
          </p:nvPr>
        </p:nvGraphicFramePr>
        <p:xfrm>
          <a:off x="502920" y="1170432"/>
          <a:ext cx="8138160" cy="914400"/>
        </p:xfrm>
        <a:graphic>
          <a:graphicData uri="http://schemas.openxmlformats.org/drawingml/2006/table">
            <a:tbl>
              <a:tblPr/>
              <a:tblGrid>
                <a:gridCol w="2834640">
                  <a:extLst>
                    <a:ext uri="{9D8B030D-6E8A-4147-A177-3AD203B41FA5}">
                      <a16:colId xmlns:a16="http://schemas.microsoft.com/office/drawing/2014/main" val="20000"/>
                    </a:ext>
                  </a:extLst>
                </a:gridCol>
                <a:gridCol w="5303520">
                  <a:extLst>
                    <a:ext uri="{9D8B030D-6E8A-4147-A177-3AD203B41FA5}">
                      <a16:colId xmlns:a16="http://schemas.microsoft.com/office/drawing/2014/main" val="20001"/>
                    </a:ext>
                  </a:extLst>
                </a:gridCol>
              </a:tblGrid>
              <a:tr h="233172">
                <a:tc>
                  <a:txBody>
                    <a:bodyPr/>
                    <a:lstStyle/>
                    <a:p>
                      <a:pPr marL="0" indent="0">
                        <a:buNone/>
                      </a:pPr>
                      <a:r>
                        <a:rPr lang="en-US" sz="1100" b="1" dirty="0">
                          <a:solidFill>
                            <a:srgbClr val="121519"/>
                          </a:solidFill>
                          <a:latin typeface="Trebuchet MS" pitchFamily="34" charset="0"/>
                          <a:ea typeface="Trebuchet MS" pitchFamily="34" charset="-122"/>
                          <a:cs typeface="Trebuchet MS" pitchFamily="34" charset="-120"/>
                        </a:rPr>
                        <a:t>Endpoint</a:t>
                      </a:r>
                      <a:endParaRPr lang="en-US" sz="1100" dirty="0">
                        <a:latin typeface="Trebuchet MS" charset="0"/>
                        <a:ea typeface="Trebuchet MS" charset="0"/>
                        <a:cs typeface="Trebuchet M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E8722C"/>
                    </a:solidFill>
                  </a:tcPr>
                </a:tc>
                <a:tc>
                  <a:txBody>
                    <a:bodyPr/>
                    <a:lstStyle/>
                    <a:p>
                      <a:pPr marL="0" indent="0">
                        <a:buNone/>
                      </a:pPr>
                      <a:r>
                        <a:rPr lang="en-US" sz="1100" b="1" dirty="0">
                          <a:solidFill>
                            <a:srgbClr val="121519"/>
                          </a:solidFill>
                          <a:latin typeface="Trebuchet MS" pitchFamily="34" charset="0"/>
                          <a:ea typeface="Trebuchet MS" pitchFamily="34" charset="-122"/>
                          <a:cs typeface="Trebuchet MS" pitchFamily="34" charset="-120"/>
                        </a:rPr>
                        <a:t>Parameters</a:t>
                      </a:r>
                      <a:endParaRPr lang="en-US" sz="1100" dirty="0">
                        <a:latin typeface="Trebuchet MS" charset="0"/>
                        <a:ea typeface="Trebuchet MS" charset="0"/>
                        <a:cs typeface="Trebuchet M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E8722C"/>
                    </a:solidFill>
                  </a:tcPr>
                </a:tc>
                <a:extLst>
                  <a:ext uri="{0D108BD9-81ED-4DB2-BD59-A6C34878D82A}">
                    <a16:rowId xmlns:a16="http://schemas.microsoft.com/office/drawing/2014/main" val="10000"/>
                  </a:ext>
                </a:extLst>
              </a:tr>
              <a:tr h="233172">
                <a:tc>
                  <a:txBody>
                    <a:bodyPr/>
                    <a:lstStyle/>
                    <a:p>
                      <a:pPr marL="0" indent="0">
                        <a:buNone/>
                      </a:pPr>
                      <a:r>
                        <a:rPr lang="en-US" sz="900" dirty="0">
                          <a:solidFill>
                            <a:srgbClr val="F2A65A"/>
                          </a:solidFill>
                          <a:latin typeface="Consolas" pitchFamily="34" charset="0"/>
                          <a:ea typeface="Consolas" pitchFamily="34" charset="-122"/>
                          <a:cs typeface="Consolas" pitchFamily="34" charset="-120"/>
                        </a:rPr>
                        <a:t>/history/orders</a:t>
                      </a:r>
                      <a:endParaRPr lang="en-US" sz="90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00" dirty="0">
                          <a:solidFill>
                            <a:srgbClr val="D5DAE0"/>
                          </a:solidFill>
                          <a:latin typeface="Calibri" pitchFamily="34" charset="0"/>
                          <a:ea typeface="Calibri" pitchFamily="34" charset="-122"/>
                          <a:cs typeface="Calibri" pitchFamily="34" charset="-120"/>
                        </a:rPr>
                        <a:t>symbol, event_type, date, from, to, limit (1–5000, default 500), after</a:t>
                      </a:r>
                      <a:endParaRPr lang="en-US" sz="9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extLst>
                  <a:ext uri="{0D108BD9-81ED-4DB2-BD59-A6C34878D82A}">
                    <a16:rowId xmlns:a16="http://schemas.microsoft.com/office/drawing/2014/main" val="10001"/>
                  </a:ext>
                </a:extLst>
              </a:tr>
              <a:tr h="233172">
                <a:tc>
                  <a:txBody>
                    <a:bodyPr/>
                    <a:lstStyle/>
                    <a:p>
                      <a:pPr marL="0" indent="0">
                        <a:buNone/>
                      </a:pPr>
                      <a:r>
                        <a:rPr lang="en-US" sz="900" dirty="0">
                          <a:solidFill>
                            <a:srgbClr val="F2A65A"/>
                          </a:solidFill>
                          <a:latin typeface="Consolas" pitchFamily="34" charset="0"/>
                          <a:ea typeface="Consolas" pitchFamily="34" charset="-122"/>
                          <a:cs typeface="Consolas" pitchFamily="34" charset="-120"/>
                        </a:rPr>
                        <a:t>/history/orders/{order_id}</a:t>
                      </a:r>
                      <a:endParaRPr lang="en-US" sz="90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00" dirty="0">
                          <a:solidFill>
                            <a:srgbClr val="D5DAE0"/>
                          </a:solidFill>
                          <a:latin typeface="Calibri" pitchFamily="34" charset="0"/>
                          <a:ea typeface="Calibri" pitchFamily="34" charset="-122"/>
                          <a:cs typeface="Calibri" pitchFamily="34" charset="-120"/>
                        </a:rPr>
                        <a:t>none — path parameter only</a:t>
                      </a:r>
                      <a:endParaRPr lang="en-US" sz="9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extLst>
                  <a:ext uri="{0D108BD9-81ED-4DB2-BD59-A6C34878D82A}">
                    <a16:rowId xmlns:a16="http://schemas.microsoft.com/office/drawing/2014/main" val="10002"/>
                  </a:ext>
                </a:extLst>
              </a:tr>
              <a:tr h="233172">
                <a:tc>
                  <a:txBody>
                    <a:bodyPr/>
                    <a:lstStyle/>
                    <a:p>
                      <a:pPr marL="0" indent="0">
                        <a:buNone/>
                      </a:pPr>
                      <a:r>
                        <a:rPr lang="en-US" sz="900" dirty="0">
                          <a:solidFill>
                            <a:srgbClr val="F2A65A"/>
                          </a:solidFill>
                          <a:latin typeface="Consolas" pitchFamily="34" charset="0"/>
                          <a:ea typeface="Consolas" pitchFamily="34" charset="-122"/>
                          <a:cs typeface="Consolas" pitchFamily="34" charset="-120"/>
                        </a:rPr>
                        <a:t>/history/fills</a:t>
                      </a:r>
                      <a:endParaRPr lang="en-US" sz="90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00" dirty="0">
                          <a:solidFill>
                            <a:srgbClr val="D5DAE0"/>
                          </a:solidFill>
                          <a:latin typeface="Calibri" pitchFamily="34" charset="0"/>
                          <a:ea typeface="Calibri" pitchFamily="34" charset="-122"/>
                          <a:cs typeface="Calibri" pitchFamily="34" charset="-120"/>
                        </a:rPr>
                        <a:t>symbol, date, from, to, limit, after</a:t>
                      </a:r>
                      <a:endParaRPr lang="en-US" sz="9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extLst>
                  <a:ext uri="{0D108BD9-81ED-4DB2-BD59-A6C34878D82A}">
                    <a16:rowId xmlns:a16="http://schemas.microsoft.com/office/drawing/2014/main" val="10003"/>
                  </a:ext>
                </a:extLst>
              </a:tr>
              <a:tr h="233172">
                <a:tc>
                  <a:txBody>
                    <a:bodyPr/>
                    <a:lstStyle/>
                    <a:p>
                      <a:pPr marL="0" indent="0">
                        <a:buNone/>
                      </a:pPr>
                      <a:r>
                        <a:rPr lang="en-US" sz="900" dirty="0">
                          <a:solidFill>
                            <a:srgbClr val="F2A65A"/>
                          </a:solidFill>
                          <a:latin typeface="Consolas" pitchFamily="34" charset="0"/>
                          <a:ea typeface="Consolas" pitchFamily="34" charset="-122"/>
                          <a:cs typeface="Consolas" pitchFamily="34" charset="-120"/>
                        </a:rPr>
                        <a:t>/history/trades</a:t>
                      </a:r>
                      <a:endParaRPr lang="en-US" sz="90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00" dirty="0">
                          <a:solidFill>
                            <a:srgbClr val="D5DAE0"/>
                          </a:solidFill>
                          <a:latin typeface="Calibri" pitchFamily="34" charset="0"/>
                          <a:ea typeface="Calibri" pitchFamily="34" charset="-122"/>
                          <a:cs typeface="Calibri" pitchFamily="34" charset="-120"/>
                        </a:rPr>
                        <a:t>symbol, date, from, to, limit, after</a:t>
                      </a:r>
                      <a:endParaRPr lang="en-US" sz="9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extLst>
                  <a:ext uri="{0D108BD9-81ED-4DB2-BD59-A6C34878D82A}">
                    <a16:rowId xmlns:a16="http://schemas.microsoft.com/office/drawing/2014/main" val="10004"/>
                  </a:ext>
                </a:extLst>
              </a:tr>
              <a:tr h="233172">
                <a:tc>
                  <a:txBody>
                    <a:bodyPr/>
                    <a:lstStyle/>
                    <a:p>
                      <a:pPr marL="0" indent="0">
                        <a:buNone/>
                      </a:pPr>
                      <a:r>
                        <a:rPr lang="en-US" sz="900" dirty="0">
                          <a:solidFill>
                            <a:srgbClr val="F2A65A"/>
                          </a:solidFill>
                          <a:latin typeface="Consolas" pitchFamily="34" charset="0"/>
                          <a:ea typeface="Consolas" pitchFamily="34" charset="-122"/>
                          <a:cs typeface="Consolas" pitchFamily="34" charset="-120"/>
                        </a:rPr>
                        <a:t>/history/daily</a:t>
                      </a:r>
                      <a:endParaRPr lang="en-US" sz="90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00" dirty="0">
                          <a:solidFill>
                            <a:srgbClr val="D5DAE0"/>
                          </a:solidFill>
                          <a:latin typeface="Calibri" pitchFamily="34" charset="0"/>
                          <a:ea typeface="Calibri" pitchFamily="34" charset="-122"/>
                          <a:cs typeface="Calibri" pitchFamily="34" charset="-120"/>
                        </a:rPr>
                        <a:t>symbol, date, from, to, limit, after</a:t>
                      </a:r>
                      <a:endParaRPr lang="en-US" sz="9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extLst>
                  <a:ext uri="{0D108BD9-81ED-4DB2-BD59-A6C34878D82A}">
                    <a16:rowId xmlns:a16="http://schemas.microsoft.com/office/drawing/2014/main" val="10005"/>
                  </a:ext>
                </a:extLst>
              </a:tr>
              <a:tr h="233172">
                <a:tc>
                  <a:txBody>
                    <a:bodyPr/>
                    <a:lstStyle/>
                    <a:p>
                      <a:pPr marL="0" indent="0">
                        <a:buNone/>
                      </a:pPr>
                      <a:r>
                        <a:rPr lang="en-US" sz="900" dirty="0">
                          <a:solidFill>
                            <a:srgbClr val="F2A65A"/>
                          </a:solidFill>
                          <a:latin typeface="Consolas" pitchFamily="34" charset="0"/>
                          <a:ea typeface="Consolas" pitchFamily="34" charset="-122"/>
                          <a:cs typeface="Consolas" pitchFamily="34" charset="-120"/>
                        </a:rPr>
                        <a:t>/history/price-snapshots</a:t>
                      </a:r>
                      <a:endParaRPr lang="en-US" sz="90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00" dirty="0">
                          <a:solidFill>
                            <a:srgbClr val="D5DAE0"/>
                          </a:solidFill>
                          <a:latin typeface="Calibri" pitchFamily="34" charset="0"/>
                          <a:ea typeface="Calibri" pitchFamily="34" charset="-122"/>
                          <a:cs typeface="Calibri" pitchFamily="34" charset="-120"/>
                        </a:rPr>
                        <a:t>symbol (required), date, from, to, limit, after</a:t>
                      </a:r>
                      <a:endParaRPr lang="en-US" sz="9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extLst>
                  <a:ext uri="{0D108BD9-81ED-4DB2-BD59-A6C34878D82A}">
                    <a16:rowId xmlns:a16="http://schemas.microsoft.com/office/drawing/2014/main" val="10006"/>
                  </a:ext>
                </a:extLst>
              </a:tr>
              <a:tr h="233172">
                <a:tc>
                  <a:txBody>
                    <a:bodyPr/>
                    <a:lstStyle/>
                    <a:p>
                      <a:pPr marL="0" indent="0">
                        <a:buNone/>
                      </a:pPr>
                      <a:r>
                        <a:rPr lang="en-US" sz="900" dirty="0">
                          <a:solidFill>
                            <a:srgbClr val="F2A65A"/>
                          </a:solidFill>
                          <a:latin typeface="Consolas" pitchFamily="34" charset="0"/>
                          <a:ea typeface="Consolas" pitchFamily="34" charset="-122"/>
                          <a:cs typeface="Consolas" pitchFamily="34" charset="-120"/>
                        </a:rPr>
                        <a:t>/history/index-daily</a:t>
                      </a:r>
                      <a:endParaRPr lang="en-US" sz="90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00" dirty="0">
                          <a:solidFill>
                            <a:srgbClr val="D5DAE0"/>
                          </a:solidFill>
                          <a:latin typeface="Calibri" pitchFamily="34" charset="0"/>
                          <a:ea typeface="Calibri" pitchFamily="34" charset="-122"/>
                          <a:cs typeface="Calibri" pitchFamily="34" charset="-120"/>
                        </a:rPr>
                        <a:t>index_id, date, from, to, limit, after</a:t>
                      </a:r>
                      <a:endParaRPr lang="en-US" sz="9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extLst>
                  <a:ext uri="{0D108BD9-81ED-4DB2-BD59-A6C34878D82A}">
                    <a16:rowId xmlns:a16="http://schemas.microsoft.com/office/drawing/2014/main" val="10007"/>
                  </a:ext>
                </a:extLst>
              </a:tr>
              <a:tr h="233172">
                <a:tc>
                  <a:txBody>
                    <a:bodyPr/>
                    <a:lstStyle/>
                    <a:p>
                      <a:pPr marL="0" indent="0">
                        <a:buNone/>
                      </a:pPr>
                      <a:r>
                        <a:rPr lang="en-US" sz="900" dirty="0">
                          <a:solidFill>
                            <a:srgbClr val="F2A65A"/>
                          </a:solidFill>
                          <a:latin typeface="Consolas" pitchFamily="34" charset="0"/>
                          <a:ea typeface="Consolas" pitchFamily="34" charset="-122"/>
                          <a:cs typeface="Consolas" pitchFamily="34" charset="-120"/>
                        </a:rPr>
                        <a:t>/history/index-snapshots</a:t>
                      </a:r>
                      <a:endParaRPr lang="en-US" sz="90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00" dirty="0">
                          <a:solidFill>
                            <a:srgbClr val="D5DAE0"/>
                          </a:solidFill>
                          <a:latin typeface="Calibri" pitchFamily="34" charset="0"/>
                          <a:ea typeface="Calibri" pitchFamily="34" charset="-122"/>
                          <a:cs typeface="Calibri" pitchFamily="34" charset="-120"/>
                        </a:rPr>
                        <a:t>index_id (required), date, from, to, limit, after</a:t>
                      </a:r>
                      <a:endParaRPr lang="en-US" sz="9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extLst>
                  <a:ext uri="{0D108BD9-81ED-4DB2-BD59-A6C34878D82A}">
                    <a16:rowId xmlns:a16="http://schemas.microsoft.com/office/drawing/2014/main" val="10008"/>
                  </a:ext>
                </a:extLst>
              </a:tr>
              <a:tr h="233172">
                <a:tc>
                  <a:txBody>
                    <a:bodyPr/>
                    <a:lstStyle/>
                    <a:p>
                      <a:pPr marL="0" indent="0">
                        <a:buNone/>
                      </a:pPr>
                      <a:r>
                        <a:rPr lang="en-US" sz="900" dirty="0">
                          <a:solidFill>
                            <a:srgbClr val="F2A65A"/>
                          </a:solidFill>
                          <a:latin typeface="Consolas" pitchFamily="34" charset="0"/>
                          <a:ea typeface="Consolas" pitchFamily="34" charset="-122"/>
                          <a:cs typeface="Consolas" pitchFamily="34" charset="-120"/>
                        </a:rPr>
                        <a:t>/history/index-ids</a:t>
                      </a:r>
                      <a:endParaRPr lang="en-US" sz="90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00" dirty="0">
                          <a:solidFill>
                            <a:srgbClr val="D5DAE0"/>
                          </a:solidFill>
                          <a:latin typeface="Calibri" pitchFamily="34" charset="0"/>
                          <a:ea typeface="Calibri" pitchFamily="34" charset="-122"/>
                          <a:cs typeface="Calibri" pitchFamily="34" charset="-120"/>
                        </a:rPr>
                        <a:t>date</a:t>
                      </a:r>
                      <a:endParaRPr lang="en-US" sz="9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extLst>
                  <a:ext uri="{0D108BD9-81ED-4DB2-BD59-A6C34878D82A}">
                    <a16:rowId xmlns:a16="http://schemas.microsoft.com/office/drawing/2014/main" val="10009"/>
                  </a:ext>
                </a:extLst>
              </a:tr>
              <a:tr h="233172">
                <a:tc>
                  <a:txBody>
                    <a:bodyPr/>
                    <a:lstStyle/>
                    <a:p>
                      <a:pPr marL="0" indent="0">
                        <a:buNone/>
                      </a:pPr>
                      <a:r>
                        <a:rPr lang="en-US" sz="900" dirty="0">
                          <a:solidFill>
                            <a:srgbClr val="F2A65A"/>
                          </a:solidFill>
                          <a:latin typeface="Consolas" pitchFamily="34" charset="0"/>
                          <a:ea typeface="Consolas" pitchFamily="34" charset="-122"/>
                          <a:cs typeface="Consolas" pitchFamily="34" charset="-120"/>
                        </a:rPr>
                        <a:t>/history/index-events</a:t>
                      </a:r>
                      <a:endParaRPr lang="en-US" sz="90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00" dirty="0">
                          <a:solidFill>
                            <a:srgbClr val="D5DAE0"/>
                          </a:solidFill>
                          <a:latin typeface="Calibri" pitchFamily="34" charset="0"/>
                          <a:ea typeface="Calibri" pitchFamily="34" charset="-122"/>
                          <a:cs typeface="Calibri" pitchFamily="34" charset="-120"/>
                        </a:rPr>
                        <a:t>index_id (required), from, to, types, max_records (max 10,000)</a:t>
                      </a:r>
                      <a:endParaRPr lang="en-US" sz="9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extLst>
                  <a:ext uri="{0D108BD9-81ED-4DB2-BD59-A6C34878D82A}">
                    <a16:rowId xmlns:a16="http://schemas.microsoft.com/office/drawing/2014/main" val="10010"/>
                  </a:ext>
                </a:extLst>
              </a:tr>
            </a:tbl>
          </a:graphicData>
        </a:graphic>
      </p:graphicFrame>
      <p:sp>
        <p:nvSpPr>
          <p:cNvPr id="5" name="Text 2">
            <a:extLst>
              <a:ext uri="{C183D7F6-B498-43B3-948B-1728B52AA6E4}">
                <adec:decorative xmlns:adec="http://schemas.microsoft.com/office/drawing/2017/decorative" val="1"/>
              </a:ext>
            </a:extLst>
          </p:cNvPr>
          <p:cNvSpPr/>
          <p:nvPr/>
        </p:nvSpPr>
        <p:spPr>
          <a:xfrm>
            <a:off x="502920" y="4206240"/>
            <a:ext cx="8138160" cy="411480"/>
          </a:xfrm>
          <a:prstGeom prst="rect">
            <a:avLst/>
          </a:prstGeom>
          <a:noFill/>
          <a:ln/>
        </p:spPr>
        <p:txBody>
          <a:bodyPr wrap="square" lIns="0" tIns="0" rIns="0" bIns="0" rtlCol="0" anchor="t"/>
          <a:lstStyle/>
          <a:p>
            <a:pPr marL="0" indent="0" algn="l">
              <a:buNone/>
            </a:pPr>
            <a:r>
              <a:rPr lang="en-US" sz="1050" i="1" dirty="0">
                <a:solidFill>
                  <a:srgbClr val="97A1AC"/>
                </a:solidFill>
                <a:latin typeface="Calibri" pitchFamily="34" charset="0"/>
                <a:ea typeface="Calibri" pitchFamily="34" charset="-122"/>
                <a:cs typeface="Calibri" pitchFamily="34" charset="-120"/>
              </a:rPr>
              <a:t>Ranges on the daily tables are calendar dates; ranges on the tape and snapshot tables are timestamps; ranges on the index audit log are seconds since the epoch. Omitting every filter on a daily table returns the latest date only.</a:t>
            </a:r>
            <a:endParaRPr lang="en-US" sz="1050" dirty="0"/>
          </a:p>
        </p:txBody>
      </p:sp>
      <p:sp>
        <p:nvSpPr>
          <p:cNvPr id="6" name="Text 3"/>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Technical appendix</a:t>
            </a:r>
            <a:endParaRPr lang="en-US" sz="900" dirty="0"/>
          </a:p>
        </p:txBody>
      </p:sp>
      <p:sp>
        <p:nvSpPr>
          <p:cNvPr id="7" name="Text 4"/>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76</a:t>
            </a:r>
            <a:endParaRPr lang="en-US" sz="9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8138160" cy="548640"/>
          </a:xfrm>
          <a:prstGeom prst="rect">
            <a:avLst/>
          </a:prstGeom>
          <a:noFill/>
          <a:ln/>
        </p:spPr>
        <p:txBody>
          <a:bodyPr wrap="square" lIns="0" tIns="0" rIns="0" bIns="0" rtlCol="0" anchor="ctr"/>
          <a:lstStyle/>
          <a:p>
            <a:pPr marL="0" indent="0">
              <a:buNone/>
            </a:pPr>
            <a:r>
              <a:rPr lang="en-US" sz="2700" b="1" dirty="0">
                <a:solidFill>
                  <a:srgbClr val="F3F5F7"/>
                </a:solidFill>
                <a:latin typeface="Trebuchet MS" pitchFamily="34" charset="0"/>
                <a:ea typeface="Trebuchet MS" pitchFamily="34" charset="-122"/>
                <a:cs typeface="Trebuchet MS" pitchFamily="34" charset="-120"/>
              </a:rPr>
              <a:t>Admin endpoints</a:t>
            </a:r>
            <a:endParaRPr lang="en-US" sz="2700" dirty="0"/>
          </a:p>
        </p:txBody>
      </p:sp>
      <p:sp>
        <p:nvSpPr>
          <p:cNvPr id="3" name="Text 1"/>
          <p:cNvSpPr/>
          <p:nvPr/>
        </p:nvSpPr>
        <p:spPr>
          <a:xfrm>
            <a:off x="502920" y="841248"/>
            <a:ext cx="8138160" cy="237744"/>
          </a:xfrm>
          <a:prstGeom prst="rect">
            <a:avLst/>
          </a:prstGeom>
          <a:noFill/>
          <a:ln/>
        </p:spPr>
        <p:txBody>
          <a:bodyPr wrap="square" lIns="0" tIns="0" rIns="0" bIns="0" rtlCol="0" anchor="ctr"/>
          <a:lstStyle/>
          <a:p>
            <a:pPr marL="0" indent="0">
              <a:buNone/>
            </a:pPr>
            <a:r>
              <a:rPr lang="en-US" sz="1100" b="1" kern="0" spc="200" dirty="0">
                <a:solidFill>
                  <a:srgbClr val="E8722C"/>
                </a:solidFill>
                <a:latin typeface="Calibri" pitchFamily="34" charset="0"/>
                <a:ea typeface="Calibri" pitchFamily="34" charset="-122"/>
                <a:cs typeface="Calibri" pitchFamily="34" charset="-120"/>
              </a:rPr>
              <a:t>APPENDIX · 11 OF 16</a:t>
            </a:r>
            <a:endParaRPr lang="en-US" sz="1100" dirty="0"/>
          </a:p>
        </p:txBody>
      </p:sp>
      <p:graphicFrame>
        <p:nvGraphicFramePr>
          <p:cNvPr id="78" name="Table 0"/>
          <p:cNvGraphicFramePr>
            <a:graphicFrameLocks noGrp="1"/>
          </p:cNvGraphicFramePr>
          <p:nvPr>
            <p:extLst>
              <p:ext uri="{D42A27DB-BD31-4B8C-83A1-F6EECF244321}">
                <p14:modId xmlns:p14="http://schemas.microsoft.com/office/powerpoint/2010/main" val="1579011935"/>
              </p:ext>
            </p:extLst>
          </p:nvPr>
        </p:nvGraphicFramePr>
        <p:xfrm>
          <a:off x="502920" y="1170432"/>
          <a:ext cx="8138160" cy="914400"/>
        </p:xfrm>
        <a:graphic>
          <a:graphicData uri="http://schemas.openxmlformats.org/drawingml/2006/table">
            <a:tbl>
              <a:tblPr/>
              <a:tblGrid>
                <a:gridCol w="868680">
                  <a:extLst>
                    <a:ext uri="{9D8B030D-6E8A-4147-A177-3AD203B41FA5}">
                      <a16:colId xmlns:a16="http://schemas.microsoft.com/office/drawing/2014/main" val="20000"/>
                    </a:ext>
                  </a:extLst>
                </a:gridCol>
                <a:gridCol w="28803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3108960">
                  <a:extLst>
                    <a:ext uri="{9D8B030D-6E8A-4147-A177-3AD203B41FA5}">
                      <a16:colId xmlns:a16="http://schemas.microsoft.com/office/drawing/2014/main" val="20003"/>
                    </a:ext>
                  </a:extLst>
                </a:gridCol>
              </a:tblGrid>
              <a:tr h="274320">
                <a:tc>
                  <a:txBody>
                    <a:bodyPr/>
                    <a:lstStyle/>
                    <a:p>
                      <a:pPr marL="0" indent="0">
                        <a:buNone/>
                      </a:pPr>
                      <a:r>
                        <a:rPr lang="en-US" sz="1100" b="1" dirty="0">
                          <a:solidFill>
                            <a:srgbClr val="121519"/>
                          </a:solidFill>
                          <a:latin typeface="Trebuchet MS" pitchFamily="34" charset="0"/>
                          <a:ea typeface="Trebuchet MS" pitchFamily="34" charset="-122"/>
                          <a:cs typeface="Trebuchet MS" pitchFamily="34" charset="-120"/>
                        </a:rPr>
                        <a:t>Method</a:t>
                      </a:r>
                      <a:endParaRPr lang="en-US" sz="1100" dirty="0">
                        <a:latin typeface="Trebuchet MS" charset="0"/>
                        <a:ea typeface="Trebuchet MS" charset="0"/>
                        <a:cs typeface="Trebuchet M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E8722C"/>
                    </a:solidFill>
                  </a:tcPr>
                </a:tc>
                <a:tc>
                  <a:txBody>
                    <a:bodyPr/>
                    <a:lstStyle/>
                    <a:p>
                      <a:pPr marL="0" indent="0">
                        <a:buNone/>
                      </a:pPr>
                      <a:r>
                        <a:rPr lang="en-US" sz="1100" b="1" dirty="0">
                          <a:solidFill>
                            <a:srgbClr val="121519"/>
                          </a:solidFill>
                          <a:latin typeface="Trebuchet MS" pitchFamily="34" charset="0"/>
                          <a:ea typeface="Trebuchet MS" pitchFamily="34" charset="-122"/>
                          <a:cs typeface="Trebuchet MS" pitchFamily="34" charset="-120"/>
                        </a:rPr>
                        <a:t>Path</a:t>
                      </a:r>
                      <a:endParaRPr lang="en-US" sz="1100" dirty="0">
                        <a:latin typeface="Trebuchet MS" charset="0"/>
                        <a:ea typeface="Trebuchet MS" charset="0"/>
                        <a:cs typeface="Trebuchet M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E8722C"/>
                    </a:solidFill>
                  </a:tcPr>
                </a:tc>
                <a:tc>
                  <a:txBody>
                    <a:bodyPr/>
                    <a:lstStyle/>
                    <a:p>
                      <a:pPr marL="0" indent="0">
                        <a:buNone/>
                      </a:pPr>
                      <a:r>
                        <a:rPr lang="en-US" sz="1100" b="1" dirty="0">
                          <a:solidFill>
                            <a:srgbClr val="121519"/>
                          </a:solidFill>
                          <a:latin typeface="Trebuchet MS" pitchFamily="34" charset="0"/>
                          <a:ea typeface="Trebuchet MS" pitchFamily="34" charset="-122"/>
                          <a:cs typeface="Trebuchet MS" pitchFamily="34" charset="-120"/>
                        </a:rPr>
                        <a:t>Body</a:t>
                      </a:r>
                      <a:endParaRPr lang="en-US" sz="1100" dirty="0">
                        <a:latin typeface="Trebuchet MS" charset="0"/>
                        <a:ea typeface="Trebuchet MS" charset="0"/>
                        <a:cs typeface="Trebuchet M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E8722C"/>
                    </a:solidFill>
                  </a:tcPr>
                </a:tc>
                <a:tc>
                  <a:txBody>
                    <a:bodyPr/>
                    <a:lstStyle/>
                    <a:p>
                      <a:pPr marL="0" indent="0">
                        <a:buNone/>
                      </a:pPr>
                      <a:r>
                        <a:rPr lang="en-US" sz="1100" b="1" dirty="0">
                          <a:solidFill>
                            <a:srgbClr val="121519"/>
                          </a:solidFill>
                          <a:latin typeface="Trebuchet MS" pitchFamily="34" charset="0"/>
                          <a:ea typeface="Trebuchet MS" pitchFamily="34" charset="-122"/>
                          <a:cs typeface="Trebuchet MS" pitchFamily="34" charset="-120"/>
                        </a:rPr>
                        <a:t>Result</a:t>
                      </a:r>
                      <a:endParaRPr lang="en-US" sz="1100" dirty="0">
                        <a:latin typeface="Trebuchet MS" charset="0"/>
                        <a:ea typeface="Trebuchet MS" charset="0"/>
                        <a:cs typeface="Trebuchet M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E8722C"/>
                    </a:solidFill>
                  </a:tcPr>
                </a:tc>
                <a:extLst>
                  <a:ext uri="{0D108BD9-81ED-4DB2-BD59-A6C34878D82A}">
                    <a16:rowId xmlns:a16="http://schemas.microsoft.com/office/drawing/2014/main" val="10000"/>
                  </a:ext>
                </a:extLst>
              </a:tr>
              <a:tr h="274320">
                <a:tc>
                  <a:txBody>
                    <a:bodyPr/>
                    <a:lstStyle/>
                    <a:p>
                      <a:pPr marL="0" indent="0">
                        <a:buNone/>
                      </a:pPr>
                      <a:r>
                        <a:rPr lang="en-US" sz="900" dirty="0">
                          <a:solidFill>
                            <a:srgbClr val="F2A65A"/>
                          </a:solidFill>
                          <a:latin typeface="Consolas" pitchFamily="34" charset="0"/>
                          <a:ea typeface="Consolas" pitchFamily="34" charset="-122"/>
                          <a:cs typeface="Consolas" pitchFamily="34" charset="-120"/>
                        </a:rPr>
                        <a:t>POST</a:t>
                      </a:r>
                      <a:endParaRPr lang="en-US" sz="90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00" dirty="0">
                          <a:solidFill>
                            <a:srgbClr val="D5DAE0"/>
                          </a:solidFill>
                          <a:latin typeface="Calibri" pitchFamily="34" charset="0"/>
                          <a:ea typeface="Calibri" pitchFamily="34" charset="-122"/>
                          <a:cs typeface="Calibri" pitchFamily="34" charset="-120"/>
                        </a:rPr>
                        <a:t>/admin/session/transition</a:t>
                      </a:r>
                      <a:endParaRPr lang="en-US" sz="9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00" dirty="0">
                          <a:solidFill>
                            <a:srgbClr val="D5DAE0"/>
                          </a:solidFill>
                          <a:latin typeface="Calibri" pitchFamily="34" charset="0"/>
                          <a:ea typeface="Calibri" pitchFamily="34" charset="-122"/>
                          <a:cs typeface="Calibri" pitchFamily="34" charset="-120"/>
                        </a:rPr>
                        <a:t>target state</a:t>
                      </a:r>
                      <a:endParaRPr lang="en-US" sz="9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00" dirty="0">
                          <a:solidFill>
                            <a:srgbClr val="D5DAE0"/>
                          </a:solidFill>
                          <a:latin typeface="Calibri" pitchFamily="34" charset="0"/>
                          <a:ea typeface="Calibri" pitchFamily="34" charset="-122"/>
                          <a:cs typeface="Calibri" pitchFamily="34" charset="-120"/>
                        </a:rPr>
                        <a:t>Accepted, pending — applied by the engine</a:t>
                      </a:r>
                      <a:endParaRPr lang="en-US" sz="9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extLst>
                  <a:ext uri="{0D108BD9-81ED-4DB2-BD59-A6C34878D82A}">
                    <a16:rowId xmlns:a16="http://schemas.microsoft.com/office/drawing/2014/main" val="10001"/>
                  </a:ext>
                </a:extLst>
              </a:tr>
              <a:tr h="274320">
                <a:tc>
                  <a:txBody>
                    <a:bodyPr/>
                    <a:lstStyle/>
                    <a:p>
                      <a:pPr marL="0" indent="0">
                        <a:buNone/>
                      </a:pPr>
                      <a:r>
                        <a:rPr lang="en-US" sz="900" dirty="0">
                          <a:solidFill>
                            <a:srgbClr val="F2A65A"/>
                          </a:solidFill>
                          <a:latin typeface="Consolas" pitchFamily="34" charset="0"/>
                          <a:ea typeface="Consolas" pitchFamily="34" charset="-122"/>
                          <a:cs typeface="Consolas" pitchFamily="34" charset="-120"/>
                        </a:rPr>
                        <a:t>GET</a:t>
                      </a:r>
                      <a:endParaRPr lang="en-US" sz="90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00" dirty="0">
                          <a:solidFill>
                            <a:srgbClr val="D5DAE0"/>
                          </a:solidFill>
                          <a:latin typeface="Calibri" pitchFamily="34" charset="0"/>
                          <a:ea typeface="Calibri" pitchFamily="34" charset="-122"/>
                          <a:cs typeface="Calibri" pitchFamily="34" charset="-120"/>
                        </a:rPr>
                        <a:t>/admin/session/schedule</a:t>
                      </a:r>
                      <a:endParaRPr lang="en-US" sz="9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00" dirty="0">
                          <a:solidFill>
                            <a:srgbClr val="D5DAE0"/>
                          </a:solidFill>
                          <a:latin typeface="Calibri" pitchFamily="34" charset="0"/>
                          <a:ea typeface="Calibri" pitchFamily="34" charset="-122"/>
                          <a:cs typeface="Calibri" pitchFamily="34" charset="-120"/>
                        </a:rPr>
                        <a:t>none</a:t>
                      </a:r>
                      <a:endParaRPr lang="en-US" sz="9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00" dirty="0">
                          <a:solidFill>
                            <a:srgbClr val="D5DAE0"/>
                          </a:solidFill>
                          <a:latin typeface="Calibri" pitchFamily="34" charset="0"/>
                          <a:ea typeface="Calibri" pitchFamily="34" charset="-122"/>
                          <a:cs typeface="Calibri" pitchFamily="34" charset="-120"/>
                        </a:rPr>
                        <a:t>Whether sessions are scheduled, and the timetable</a:t>
                      </a:r>
                      <a:endParaRPr lang="en-US" sz="9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extLst>
                  <a:ext uri="{0D108BD9-81ED-4DB2-BD59-A6C34878D82A}">
                    <a16:rowId xmlns:a16="http://schemas.microsoft.com/office/drawing/2014/main" val="10002"/>
                  </a:ext>
                </a:extLst>
              </a:tr>
              <a:tr h="274320">
                <a:tc>
                  <a:txBody>
                    <a:bodyPr/>
                    <a:lstStyle/>
                    <a:p>
                      <a:pPr marL="0" indent="0">
                        <a:buNone/>
                      </a:pPr>
                      <a:r>
                        <a:rPr lang="en-US" sz="900" dirty="0">
                          <a:solidFill>
                            <a:srgbClr val="F2A65A"/>
                          </a:solidFill>
                          <a:latin typeface="Consolas" pitchFamily="34" charset="0"/>
                          <a:ea typeface="Consolas" pitchFamily="34" charset="-122"/>
                          <a:cs typeface="Consolas" pitchFamily="34" charset="-120"/>
                        </a:rPr>
                        <a:t>GET</a:t>
                      </a:r>
                      <a:endParaRPr lang="en-US" sz="90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00" dirty="0">
                          <a:solidFill>
                            <a:srgbClr val="D5DAE0"/>
                          </a:solidFill>
                          <a:latin typeface="Calibri" pitchFamily="34" charset="0"/>
                          <a:ea typeface="Calibri" pitchFamily="34" charset="-122"/>
                          <a:cs typeface="Calibri" pitchFamily="34" charset="-120"/>
                        </a:rPr>
                        <a:t>/admin/gateways</a:t>
                      </a:r>
                      <a:endParaRPr lang="en-US" sz="9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00" dirty="0">
                          <a:solidFill>
                            <a:srgbClr val="D5DAE0"/>
                          </a:solidFill>
                          <a:latin typeface="Calibri" pitchFamily="34" charset="0"/>
                          <a:ea typeface="Calibri" pitchFamily="34" charset="-122"/>
                          <a:cs typeface="Calibri" pitchFamily="34" charset="-120"/>
                        </a:rPr>
                        <a:t>none</a:t>
                      </a:r>
                      <a:endParaRPr lang="en-US" sz="9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00" dirty="0">
                          <a:solidFill>
                            <a:srgbClr val="D5DAE0"/>
                          </a:solidFill>
                          <a:latin typeface="Calibri" pitchFamily="34" charset="0"/>
                          <a:ea typeface="Calibri" pitchFamily="34" charset="-122"/>
                          <a:cs typeface="Calibri" pitchFamily="34" charset="-120"/>
                        </a:rPr>
                        <a:t>Identity, role, description, connection state</a:t>
                      </a:r>
                      <a:endParaRPr lang="en-US" sz="9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extLst>
                  <a:ext uri="{0D108BD9-81ED-4DB2-BD59-A6C34878D82A}">
                    <a16:rowId xmlns:a16="http://schemas.microsoft.com/office/drawing/2014/main" val="10003"/>
                  </a:ext>
                </a:extLst>
              </a:tr>
              <a:tr h="274320">
                <a:tc>
                  <a:txBody>
                    <a:bodyPr/>
                    <a:lstStyle/>
                    <a:p>
                      <a:pPr marL="0" indent="0">
                        <a:buNone/>
                      </a:pPr>
                      <a:r>
                        <a:rPr lang="en-US" sz="900" dirty="0">
                          <a:solidFill>
                            <a:srgbClr val="F2A65A"/>
                          </a:solidFill>
                          <a:latin typeface="Consolas" pitchFamily="34" charset="0"/>
                          <a:ea typeface="Consolas" pitchFamily="34" charset="-122"/>
                          <a:cs typeface="Consolas" pitchFamily="34" charset="-120"/>
                        </a:rPr>
                        <a:t>POST</a:t>
                      </a:r>
                      <a:endParaRPr lang="en-US" sz="90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00" dirty="0">
                          <a:solidFill>
                            <a:srgbClr val="D5DAE0"/>
                          </a:solidFill>
                          <a:latin typeface="Calibri" pitchFamily="34" charset="0"/>
                          <a:ea typeface="Calibri" pitchFamily="34" charset="-122"/>
                          <a:cs typeface="Calibri" pitchFamily="34" charset="-120"/>
                        </a:rPr>
                        <a:t>/admin/gateways/{gid}/disconnect</a:t>
                      </a:r>
                      <a:endParaRPr lang="en-US" sz="9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00" dirty="0">
                          <a:solidFill>
                            <a:srgbClr val="D5DAE0"/>
                          </a:solidFill>
                          <a:latin typeface="Calibri" pitchFamily="34" charset="0"/>
                          <a:ea typeface="Calibri" pitchFamily="34" charset="-122"/>
                          <a:cs typeface="Calibri" pitchFamily="34" charset="-120"/>
                        </a:rPr>
                        <a:t>none</a:t>
                      </a:r>
                      <a:endParaRPr lang="en-US" sz="9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00" dirty="0">
                          <a:solidFill>
                            <a:srgbClr val="D5DAE0"/>
                          </a:solidFill>
                          <a:latin typeface="Calibri" pitchFamily="34" charset="0"/>
                          <a:ea typeface="Calibri" pitchFamily="34" charset="-122"/>
                          <a:cs typeface="Calibri" pitchFamily="34" charset="-120"/>
                        </a:rPr>
                        <a:t>That participant is disconnected</a:t>
                      </a:r>
                      <a:endParaRPr lang="en-US" sz="9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extLst>
                  <a:ext uri="{0D108BD9-81ED-4DB2-BD59-A6C34878D82A}">
                    <a16:rowId xmlns:a16="http://schemas.microsoft.com/office/drawing/2014/main" val="10004"/>
                  </a:ext>
                </a:extLst>
              </a:tr>
              <a:tr h="274320">
                <a:tc>
                  <a:txBody>
                    <a:bodyPr/>
                    <a:lstStyle/>
                    <a:p>
                      <a:pPr marL="0" indent="0">
                        <a:buNone/>
                      </a:pPr>
                      <a:r>
                        <a:rPr lang="en-US" sz="900" dirty="0">
                          <a:solidFill>
                            <a:srgbClr val="F2A65A"/>
                          </a:solidFill>
                          <a:latin typeface="Consolas" pitchFamily="34" charset="0"/>
                          <a:ea typeface="Consolas" pitchFamily="34" charset="-122"/>
                          <a:cs typeface="Consolas" pitchFamily="34" charset="-120"/>
                        </a:rPr>
                        <a:t>POST</a:t>
                      </a:r>
                      <a:endParaRPr lang="en-US" sz="90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00" dirty="0">
                          <a:solidFill>
                            <a:srgbClr val="D5DAE0"/>
                          </a:solidFill>
                          <a:latin typeface="Calibri" pitchFamily="34" charset="0"/>
                          <a:ea typeface="Calibri" pitchFamily="34" charset="-122"/>
                          <a:cs typeface="Calibri" pitchFamily="34" charset="-120"/>
                        </a:rPr>
                        <a:t>/admin/circuit-breaker/trigger</a:t>
                      </a:r>
                      <a:endParaRPr lang="en-US" sz="9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00" dirty="0">
                          <a:solidFill>
                            <a:srgbClr val="D5DAE0"/>
                          </a:solidFill>
                          <a:latin typeface="Calibri" pitchFamily="34" charset="0"/>
                          <a:ea typeface="Calibri" pitchFamily="34" charset="-122"/>
                          <a:cs typeface="Calibri" pitchFamily="34" charset="-120"/>
                        </a:rPr>
                        <a:t>instrument</a:t>
                      </a:r>
                      <a:endParaRPr lang="en-US" sz="9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00" dirty="0">
                          <a:solidFill>
                            <a:srgbClr val="D5DAE0"/>
                          </a:solidFill>
                          <a:latin typeface="Calibri" pitchFamily="34" charset="0"/>
                          <a:ea typeface="Calibri" pitchFamily="34" charset="-122"/>
                          <a:cs typeface="Calibri" pitchFamily="34" charset="-120"/>
                        </a:rPr>
                        <a:t>Halt acknowledged by the engine</a:t>
                      </a:r>
                      <a:endParaRPr lang="en-US" sz="9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extLst>
                  <a:ext uri="{0D108BD9-81ED-4DB2-BD59-A6C34878D82A}">
                    <a16:rowId xmlns:a16="http://schemas.microsoft.com/office/drawing/2014/main" val="10005"/>
                  </a:ext>
                </a:extLst>
              </a:tr>
              <a:tr h="274320">
                <a:tc>
                  <a:txBody>
                    <a:bodyPr/>
                    <a:lstStyle/>
                    <a:p>
                      <a:pPr marL="0" indent="0">
                        <a:buNone/>
                      </a:pPr>
                      <a:r>
                        <a:rPr lang="en-US" sz="900" dirty="0">
                          <a:solidFill>
                            <a:srgbClr val="F2A65A"/>
                          </a:solidFill>
                          <a:latin typeface="Consolas" pitchFamily="34" charset="0"/>
                          <a:ea typeface="Consolas" pitchFamily="34" charset="-122"/>
                          <a:cs typeface="Consolas" pitchFamily="34" charset="-120"/>
                        </a:rPr>
                        <a:t>POST</a:t>
                      </a:r>
                      <a:endParaRPr lang="en-US" sz="90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00" dirty="0">
                          <a:solidFill>
                            <a:srgbClr val="D5DAE0"/>
                          </a:solidFill>
                          <a:latin typeface="Calibri" pitchFamily="34" charset="0"/>
                          <a:ea typeface="Calibri" pitchFamily="34" charset="-122"/>
                          <a:cs typeface="Calibri" pitchFamily="34" charset="-120"/>
                        </a:rPr>
                        <a:t>/admin/circuit-breaker/resume</a:t>
                      </a:r>
                      <a:endParaRPr lang="en-US" sz="9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00" dirty="0">
                          <a:solidFill>
                            <a:srgbClr val="D5DAE0"/>
                          </a:solidFill>
                          <a:latin typeface="Calibri" pitchFamily="34" charset="0"/>
                          <a:ea typeface="Calibri" pitchFamily="34" charset="-122"/>
                          <a:cs typeface="Calibri" pitchFamily="34" charset="-120"/>
                        </a:rPr>
                        <a:t>instrument</a:t>
                      </a:r>
                      <a:endParaRPr lang="en-US" sz="9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00" dirty="0">
                          <a:solidFill>
                            <a:srgbClr val="D5DAE0"/>
                          </a:solidFill>
                          <a:latin typeface="Calibri" pitchFamily="34" charset="0"/>
                          <a:ea typeface="Calibri" pitchFamily="34" charset="-122"/>
                          <a:cs typeface="Calibri" pitchFamily="34" charset="-120"/>
                        </a:rPr>
                        <a:t>Resume acknowledged by the engine</a:t>
                      </a:r>
                      <a:endParaRPr lang="en-US" sz="9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extLst>
                  <a:ext uri="{0D108BD9-81ED-4DB2-BD59-A6C34878D82A}">
                    <a16:rowId xmlns:a16="http://schemas.microsoft.com/office/drawing/2014/main" val="10006"/>
                  </a:ext>
                </a:extLst>
              </a:tr>
              <a:tr h="274320">
                <a:tc>
                  <a:txBody>
                    <a:bodyPr/>
                    <a:lstStyle/>
                    <a:p>
                      <a:pPr marL="0" indent="0">
                        <a:buNone/>
                      </a:pPr>
                      <a:r>
                        <a:rPr lang="en-US" sz="900" dirty="0">
                          <a:solidFill>
                            <a:srgbClr val="F2A65A"/>
                          </a:solidFill>
                          <a:latin typeface="Consolas" pitchFamily="34" charset="0"/>
                          <a:ea typeface="Consolas" pitchFamily="34" charset="-122"/>
                          <a:cs typeface="Consolas" pitchFamily="34" charset="-120"/>
                        </a:rPr>
                        <a:t>GET</a:t>
                      </a:r>
                      <a:endParaRPr lang="en-US" sz="90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00" dirty="0">
                          <a:solidFill>
                            <a:srgbClr val="D5DAE0"/>
                          </a:solidFill>
                          <a:latin typeface="Calibri" pitchFamily="34" charset="0"/>
                          <a:ea typeface="Calibri" pitchFamily="34" charset="-122"/>
                          <a:cs typeface="Calibri" pitchFamily="34" charset="-120"/>
                        </a:rPr>
                        <a:t>/admin/halts</a:t>
                      </a:r>
                      <a:endParaRPr lang="en-US" sz="9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00" dirty="0">
                          <a:solidFill>
                            <a:srgbClr val="D5DAE0"/>
                          </a:solidFill>
                          <a:latin typeface="Calibri" pitchFamily="34" charset="0"/>
                          <a:ea typeface="Calibri" pitchFamily="34" charset="-122"/>
                          <a:cs typeface="Calibri" pitchFamily="34" charset="-120"/>
                        </a:rPr>
                        <a:t>none</a:t>
                      </a:r>
                      <a:endParaRPr lang="en-US" sz="9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00" dirty="0">
                          <a:solidFill>
                            <a:srgbClr val="D5DAE0"/>
                          </a:solidFill>
                          <a:latin typeface="Calibri" pitchFamily="34" charset="0"/>
                          <a:ea typeface="Calibri" pitchFamily="34" charset="-122"/>
                          <a:cs typeface="Calibri" pitchFamily="34" charset="-120"/>
                        </a:rPr>
                        <a:t>Currently halted instruments</a:t>
                      </a:r>
                      <a:endParaRPr lang="en-US" sz="9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extLst>
                  <a:ext uri="{0D108BD9-81ED-4DB2-BD59-A6C34878D82A}">
                    <a16:rowId xmlns:a16="http://schemas.microsoft.com/office/drawing/2014/main" val="10007"/>
                  </a:ext>
                </a:extLst>
              </a:tr>
              <a:tr h="274320">
                <a:tc>
                  <a:txBody>
                    <a:bodyPr/>
                    <a:lstStyle/>
                    <a:p>
                      <a:pPr marL="0" indent="0">
                        <a:buNone/>
                      </a:pPr>
                      <a:r>
                        <a:rPr lang="en-US" sz="900" dirty="0">
                          <a:solidFill>
                            <a:srgbClr val="F2A65A"/>
                          </a:solidFill>
                          <a:latin typeface="Consolas" pitchFamily="34" charset="0"/>
                          <a:ea typeface="Consolas" pitchFamily="34" charset="-122"/>
                          <a:cs typeface="Consolas" pitchFamily="34" charset="-120"/>
                        </a:rPr>
                        <a:t>POST</a:t>
                      </a:r>
                      <a:endParaRPr lang="en-US" sz="90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00" dirty="0">
                          <a:solidFill>
                            <a:srgbClr val="D5DAE0"/>
                          </a:solidFill>
                          <a:latin typeface="Calibri" pitchFamily="34" charset="0"/>
                          <a:ea typeface="Calibri" pitchFamily="34" charset="-122"/>
                          <a:cs typeface="Calibri" pitchFamily="34" charset="-120"/>
                        </a:rPr>
                        <a:t>/admin/kill-switch/symbol</a:t>
                      </a:r>
                      <a:endParaRPr lang="en-US" sz="9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00" dirty="0">
                          <a:solidFill>
                            <a:srgbClr val="D5DAE0"/>
                          </a:solidFill>
                          <a:latin typeface="Calibri" pitchFamily="34" charset="0"/>
                          <a:ea typeface="Calibri" pitchFamily="34" charset="-122"/>
                          <a:cs typeface="Calibri" pitchFamily="34" charset="-120"/>
                        </a:rPr>
                        <a:t>instrument</a:t>
                      </a:r>
                      <a:endParaRPr lang="en-US" sz="9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00" dirty="0">
                          <a:solidFill>
                            <a:srgbClr val="D5DAE0"/>
                          </a:solidFill>
                          <a:latin typeface="Calibri" pitchFamily="34" charset="0"/>
                          <a:ea typeface="Calibri" pitchFamily="34" charset="-122"/>
                          <a:cs typeface="Calibri" pitchFamily="34" charset="-120"/>
                        </a:rPr>
                        <a:t>All exposure in that instrument cancelled</a:t>
                      </a:r>
                      <a:endParaRPr lang="en-US" sz="9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extLst>
                  <a:ext uri="{0D108BD9-81ED-4DB2-BD59-A6C34878D82A}">
                    <a16:rowId xmlns:a16="http://schemas.microsoft.com/office/drawing/2014/main" val="10008"/>
                  </a:ext>
                </a:extLst>
              </a:tr>
            </a:tbl>
          </a:graphicData>
        </a:graphic>
      </p:graphicFrame>
      <p:sp>
        <p:nvSpPr>
          <p:cNvPr id="5" name="Text 2"/>
          <p:cNvSpPr/>
          <p:nvPr/>
        </p:nvSpPr>
        <p:spPr>
          <a:xfrm>
            <a:off x="502920" y="4160520"/>
            <a:ext cx="8138160" cy="457200"/>
          </a:xfrm>
          <a:prstGeom prst="rect">
            <a:avLst/>
          </a:prstGeom>
          <a:noFill/>
          <a:ln/>
        </p:spPr>
        <p:txBody>
          <a:bodyPr wrap="square" lIns="0" tIns="0" rIns="0" bIns="0" rtlCol="0" anchor="t"/>
          <a:lstStyle/>
          <a:p>
            <a:pPr marL="0" indent="0" algn="l">
              <a:buNone/>
            </a:pPr>
            <a:r>
              <a:rPr lang="en-US" sz="1050" i="1" dirty="0">
                <a:solidFill>
                  <a:srgbClr val="97A1AC"/>
                </a:solidFill>
                <a:latin typeface="Calibri" pitchFamily="34" charset="0"/>
                <a:ea typeface="Calibri" pitchFamily="34" charset="-122"/>
                <a:cs typeface="Calibri" pitchFamily="34" charset="-120"/>
              </a:rPr>
              <a:t>These require the administrative role, resolved from the exchange rather than from the key. Session transitions do not wait for confirmation; halts and kill switches do. Writes are rate limited like any other write.</a:t>
            </a:r>
            <a:endParaRPr lang="en-US" sz="1050" dirty="0"/>
          </a:p>
        </p:txBody>
      </p:sp>
      <p:sp>
        <p:nvSpPr>
          <p:cNvPr id="6" name="Text 3"/>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Technical appendix</a:t>
            </a:r>
            <a:endParaRPr lang="en-US" sz="900" dirty="0"/>
          </a:p>
        </p:txBody>
      </p:sp>
      <p:sp>
        <p:nvSpPr>
          <p:cNvPr id="7" name="Text 4"/>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77</a:t>
            </a:r>
            <a:endParaRPr lang="en-US" sz="9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8138160" cy="548640"/>
          </a:xfrm>
          <a:prstGeom prst="rect">
            <a:avLst/>
          </a:prstGeom>
          <a:noFill/>
          <a:ln/>
        </p:spPr>
        <p:txBody>
          <a:bodyPr wrap="square" lIns="0" tIns="0" rIns="0" bIns="0" rtlCol="0" anchor="ctr"/>
          <a:lstStyle/>
          <a:p>
            <a:pPr marL="0" indent="0">
              <a:buNone/>
            </a:pPr>
            <a:r>
              <a:rPr lang="en-US" sz="2700" b="1" dirty="0">
                <a:solidFill>
                  <a:srgbClr val="F3F5F7"/>
                </a:solidFill>
                <a:latin typeface="Trebuchet MS" pitchFamily="34" charset="0"/>
                <a:ea typeface="Trebuchet MS" pitchFamily="34" charset="-122"/>
                <a:cs typeface="Trebuchet MS" pitchFamily="34" charset="-120"/>
              </a:rPr>
              <a:t>WebSocket streams and channels</a:t>
            </a:r>
            <a:endParaRPr lang="en-US" sz="2700" dirty="0"/>
          </a:p>
        </p:txBody>
      </p:sp>
      <p:sp>
        <p:nvSpPr>
          <p:cNvPr id="3" name="Text 1"/>
          <p:cNvSpPr/>
          <p:nvPr/>
        </p:nvSpPr>
        <p:spPr>
          <a:xfrm>
            <a:off x="502920" y="841248"/>
            <a:ext cx="8138160" cy="237744"/>
          </a:xfrm>
          <a:prstGeom prst="rect">
            <a:avLst/>
          </a:prstGeom>
          <a:noFill/>
          <a:ln/>
        </p:spPr>
        <p:txBody>
          <a:bodyPr wrap="square" lIns="0" tIns="0" rIns="0" bIns="0" rtlCol="0" anchor="ctr"/>
          <a:lstStyle/>
          <a:p>
            <a:pPr marL="0" indent="0">
              <a:buNone/>
            </a:pPr>
            <a:r>
              <a:rPr lang="en-US" sz="1100" b="1" kern="0" spc="200" dirty="0">
                <a:solidFill>
                  <a:srgbClr val="E8722C"/>
                </a:solidFill>
                <a:latin typeface="Calibri" pitchFamily="34" charset="0"/>
                <a:ea typeface="Calibri" pitchFamily="34" charset="-122"/>
                <a:cs typeface="Calibri" pitchFamily="34" charset="-120"/>
              </a:rPr>
              <a:t>APPENDIX · 12 OF 16</a:t>
            </a:r>
            <a:endParaRPr lang="en-US" sz="1100" dirty="0"/>
          </a:p>
        </p:txBody>
      </p:sp>
      <p:graphicFrame>
        <p:nvGraphicFramePr>
          <p:cNvPr id="79" name="Table 0"/>
          <p:cNvGraphicFramePr>
            <a:graphicFrameLocks noGrp="1"/>
          </p:cNvGraphicFramePr>
          <p:nvPr>
            <p:extLst>
              <p:ext uri="{D42A27DB-BD31-4B8C-83A1-F6EECF244321}">
                <p14:modId xmlns:p14="http://schemas.microsoft.com/office/powerpoint/2010/main" val="1579011935"/>
              </p:ext>
            </p:extLst>
          </p:nvPr>
        </p:nvGraphicFramePr>
        <p:xfrm>
          <a:off x="502920" y="1188720"/>
          <a:ext cx="813816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tblGrid>
              <a:tr h="365760">
                <a:tc>
                  <a:txBody>
                    <a:bodyPr/>
                    <a:lstStyle/>
                    <a:p>
                      <a:pPr marL="0" indent="0">
                        <a:buNone/>
                      </a:pPr>
                      <a:r>
                        <a:rPr lang="en-US" sz="1100" b="1" dirty="0">
                          <a:solidFill>
                            <a:srgbClr val="121519"/>
                          </a:solidFill>
                          <a:latin typeface="Trebuchet MS" pitchFamily="34" charset="0"/>
                          <a:ea typeface="Trebuchet MS" pitchFamily="34" charset="-122"/>
                          <a:cs typeface="Trebuchet MS" pitchFamily="34" charset="-120"/>
                        </a:rPr>
                        <a:t>Path</a:t>
                      </a:r>
                      <a:endParaRPr lang="en-US" sz="1100" dirty="0">
                        <a:latin typeface="Trebuchet MS" charset="0"/>
                        <a:ea typeface="Trebuchet MS" charset="0"/>
                        <a:cs typeface="Trebuchet M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E8722C"/>
                    </a:solidFill>
                  </a:tcPr>
                </a:tc>
                <a:tc>
                  <a:txBody>
                    <a:bodyPr/>
                    <a:lstStyle/>
                    <a:p>
                      <a:pPr marL="0" indent="0">
                        <a:buNone/>
                      </a:pPr>
                      <a:r>
                        <a:rPr lang="en-US" sz="1100" b="1" dirty="0">
                          <a:solidFill>
                            <a:srgbClr val="121519"/>
                          </a:solidFill>
                          <a:latin typeface="Trebuchet MS" pitchFamily="34" charset="0"/>
                          <a:ea typeface="Trebuchet MS" pitchFamily="34" charset="-122"/>
                          <a:cs typeface="Trebuchet MS" pitchFamily="34" charset="-120"/>
                        </a:rPr>
                        <a:t>Carries</a:t>
                      </a:r>
                      <a:endParaRPr lang="en-US" sz="1100" dirty="0">
                        <a:latin typeface="Trebuchet MS" charset="0"/>
                        <a:ea typeface="Trebuchet MS" charset="0"/>
                        <a:cs typeface="Trebuchet M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E8722C"/>
                    </a:solidFill>
                  </a:tcPr>
                </a:tc>
                <a:tc>
                  <a:txBody>
                    <a:bodyPr/>
                    <a:lstStyle/>
                    <a:p>
                      <a:pPr marL="0" indent="0">
                        <a:buNone/>
                      </a:pPr>
                      <a:r>
                        <a:rPr lang="en-US" sz="1100" b="1" dirty="0">
                          <a:solidFill>
                            <a:srgbClr val="121519"/>
                          </a:solidFill>
                          <a:latin typeface="Trebuchet MS" pitchFamily="34" charset="0"/>
                          <a:ea typeface="Trebuchet MS" pitchFamily="34" charset="-122"/>
                          <a:cs typeface="Trebuchet MS" pitchFamily="34" charset="-120"/>
                        </a:rPr>
                        <a:t>Who may connect</a:t>
                      </a:r>
                      <a:endParaRPr lang="en-US" sz="1100" dirty="0">
                        <a:latin typeface="Trebuchet MS" charset="0"/>
                        <a:ea typeface="Trebuchet MS" charset="0"/>
                        <a:cs typeface="Trebuchet M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E8722C"/>
                    </a:solidFill>
                  </a:tcPr>
                </a:tc>
                <a:extLst>
                  <a:ext uri="{0D108BD9-81ED-4DB2-BD59-A6C34878D82A}">
                    <a16:rowId xmlns:a16="http://schemas.microsoft.com/office/drawing/2014/main" val="10000"/>
                  </a:ext>
                </a:extLst>
              </a:tr>
              <a:tr h="365760">
                <a:tc>
                  <a:txBody>
                    <a:bodyPr/>
                    <a:lstStyle/>
                    <a:p>
                      <a:pPr marL="0" indent="0">
                        <a:buNone/>
                      </a:pPr>
                      <a:r>
                        <a:rPr lang="en-US" sz="1050" dirty="0">
                          <a:solidFill>
                            <a:srgbClr val="F2A65A"/>
                          </a:solidFill>
                          <a:latin typeface="Consolas" pitchFamily="34" charset="0"/>
                          <a:ea typeface="Consolas" pitchFamily="34" charset="-122"/>
                          <a:cs typeface="Consolas" pitchFamily="34" charset="-120"/>
                        </a:rPr>
                        <a:t>/api/v1/events</a:t>
                      </a:r>
                      <a:endParaRPr lang="en-US" sz="105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1050" dirty="0">
                          <a:solidFill>
                            <a:srgbClr val="D5DAE0"/>
                          </a:solidFill>
                          <a:latin typeface="Calibri" pitchFamily="34" charset="0"/>
                          <a:ea typeface="Calibri" pitchFamily="34" charset="-122"/>
                          <a:cs typeface="Calibri" pitchFamily="34" charset="-120"/>
                        </a:rPr>
                        <a:t>Private order, quote and risk lifecycle events</a:t>
                      </a:r>
                      <a:endParaRPr lang="en-US" sz="10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1050" dirty="0">
                          <a:solidFill>
                            <a:srgbClr val="D5DAE0"/>
                          </a:solidFill>
                          <a:latin typeface="Calibri" pitchFamily="34" charset="0"/>
                          <a:ea typeface="Calibri" pitchFamily="34" charset="-122"/>
                          <a:cs typeface="Calibri" pitchFamily="34" charset="-120"/>
                        </a:rPr>
                        <a:t>Trading credential</a:t>
                      </a:r>
                      <a:endParaRPr lang="en-US" sz="10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extLst>
                  <a:ext uri="{0D108BD9-81ED-4DB2-BD59-A6C34878D82A}">
                    <a16:rowId xmlns:a16="http://schemas.microsoft.com/office/drawing/2014/main" val="10001"/>
                  </a:ext>
                </a:extLst>
              </a:tr>
              <a:tr h="365760">
                <a:tc>
                  <a:txBody>
                    <a:bodyPr/>
                    <a:lstStyle/>
                    <a:p>
                      <a:pPr marL="0" indent="0">
                        <a:buNone/>
                      </a:pPr>
                      <a:r>
                        <a:rPr lang="en-US" sz="1050" dirty="0">
                          <a:solidFill>
                            <a:srgbClr val="F2A65A"/>
                          </a:solidFill>
                          <a:latin typeface="Consolas" pitchFamily="34" charset="0"/>
                          <a:ea typeface="Consolas" pitchFamily="34" charset="-122"/>
                          <a:cs typeface="Consolas" pitchFamily="34" charset="-120"/>
                        </a:rPr>
                        <a:t>/api/v1/market-data</a:t>
                      </a:r>
                      <a:endParaRPr lang="en-US" sz="105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1050" dirty="0">
                          <a:solidFill>
                            <a:srgbClr val="D5DAE0"/>
                          </a:solidFill>
                          <a:latin typeface="Calibri" pitchFamily="34" charset="0"/>
                          <a:ea typeface="Calibri" pitchFamily="34" charset="-122"/>
                          <a:cs typeface="Calibri" pitchFamily="34" charset="-120"/>
                        </a:rPr>
                        <a:t>Public book, trades, depth, auction, session and halts</a:t>
                      </a:r>
                      <a:endParaRPr lang="en-US" sz="10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1050" dirty="0">
                          <a:solidFill>
                            <a:srgbClr val="D5DAE0"/>
                          </a:solidFill>
                          <a:latin typeface="Calibri" pitchFamily="34" charset="0"/>
                          <a:ea typeface="Calibri" pitchFamily="34" charset="-122"/>
                          <a:cs typeface="Calibri" pitchFamily="34" charset="-120"/>
                        </a:rPr>
                        <a:t>Any valid key</a:t>
                      </a:r>
                      <a:endParaRPr lang="en-US" sz="10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extLst>
                  <a:ext uri="{0D108BD9-81ED-4DB2-BD59-A6C34878D82A}">
                    <a16:rowId xmlns:a16="http://schemas.microsoft.com/office/drawing/2014/main" val="10002"/>
                  </a:ext>
                </a:extLst>
              </a:tr>
              <a:tr h="365760">
                <a:tc>
                  <a:txBody>
                    <a:bodyPr/>
                    <a:lstStyle/>
                    <a:p>
                      <a:pPr marL="0" indent="0">
                        <a:buNone/>
                      </a:pPr>
                      <a:r>
                        <a:rPr lang="en-US" sz="1050" dirty="0">
                          <a:solidFill>
                            <a:srgbClr val="F2A65A"/>
                          </a:solidFill>
                          <a:latin typeface="Consolas" pitchFamily="34" charset="0"/>
                          <a:ea typeface="Consolas" pitchFamily="34" charset="-122"/>
                          <a:cs typeface="Consolas" pitchFamily="34" charset="-120"/>
                        </a:rPr>
                        <a:t>/api/v1/admin/monitor</a:t>
                      </a:r>
                      <a:endParaRPr lang="en-US" sz="105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1050" dirty="0">
                          <a:solidFill>
                            <a:srgbClr val="D5DAE0"/>
                          </a:solidFill>
                          <a:latin typeface="Calibri" pitchFamily="34" charset="0"/>
                          <a:ea typeface="Calibri" pitchFamily="34" charset="-122"/>
                          <a:cs typeface="Calibri" pitchFamily="34" charset="-120"/>
                        </a:rPr>
                        <a:t>Every event across every participant</a:t>
                      </a:r>
                      <a:endParaRPr lang="en-US" sz="10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1050" dirty="0">
                          <a:solidFill>
                            <a:srgbClr val="D5DAE0"/>
                          </a:solidFill>
                          <a:latin typeface="Calibri" pitchFamily="34" charset="0"/>
                          <a:ea typeface="Calibri" pitchFamily="34" charset="-122"/>
                          <a:cs typeface="Calibri" pitchFamily="34" charset="-120"/>
                        </a:rPr>
                        <a:t>Administrative role only</a:t>
                      </a:r>
                      <a:endParaRPr lang="en-US" sz="105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extLst>
                  <a:ext uri="{0D108BD9-81ED-4DB2-BD59-A6C34878D82A}">
                    <a16:rowId xmlns:a16="http://schemas.microsoft.com/office/drawing/2014/main" val="10003"/>
                  </a:ext>
                </a:extLst>
              </a:tr>
            </a:tbl>
          </a:graphicData>
        </a:graphic>
      </p:graphicFrame>
      <p:sp>
        <p:nvSpPr>
          <p:cNvPr id="5" name="card background">
            <a:extLst>
              <a:ext uri="{C183D7F6-B498-43B3-948B-1728B52AA6E4}">
                <adec:decorative xmlns:adec="http://schemas.microsoft.com/office/drawing/2017/decorative" val="1"/>
              </a:ext>
            </a:extLst>
          </p:cNvPr>
          <p:cNvSpPr/>
          <p:nvPr/>
        </p:nvSpPr>
        <p:spPr>
          <a:xfrm>
            <a:off x="502920" y="2743200"/>
            <a:ext cx="1869948" cy="1051560"/>
          </a:xfrm>
          <a:prstGeom prst="roundRect">
            <a:avLst>
              <a:gd name="adj" fmla="val 5217"/>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6" name="Text 3"/>
          <p:cNvSpPr/>
          <p:nvPr/>
        </p:nvSpPr>
        <p:spPr>
          <a:xfrm>
            <a:off x="722376" y="2926080"/>
            <a:ext cx="1467612" cy="329184"/>
          </a:xfrm>
          <a:prstGeom prst="rect">
            <a:avLst/>
          </a:prstGeom>
          <a:noFill/>
          <a:ln/>
        </p:spPr>
        <p:txBody>
          <a:bodyPr wrap="square" lIns="0" tIns="0" rIns="0" bIns="0" rtlCol="0" anchor="ctr"/>
          <a:lstStyle/>
          <a:p>
            <a:pPr marL="0" indent="0">
              <a:buNone/>
            </a:pPr>
            <a:r>
              <a:rPr lang="en-US" sz="1300" b="1" dirty="0">
                <a:solidFill>
                  <a:srgbClr val="E8722C"/>
                </a:solidFill>
                <a:latin typeface="Trebuchet MS" pitchFamily="34" charset="0"/>
                <a:ea typeface="Trebuchet MS" pitchFamily="34" charset="-122"/>
                <a:cs typeface="Trebuchet MS" pitchFamily="34" charset="-120"/>
              </a:rPr>
              <a:t>book</a:t>
            </a:r>
            <a:endParaRPr lang="en-US" sz="1300" dirty="0"/>
          </a:p>
        </p:txBody>
      </p:sp>
      <p:sp>
        <p:nvSpPr>
          <p:cNvPr id="7" name="Text 4"/>
          <p:cNvSpPr/>
          <p:nvPr/>
        </p:nvSpPr>
        <p:spPr>
          <a:xfrm>
            <a:off x="722376" y="3291840"/>
            <a:ext cx="1431036" cy="393192"/>
          </a:xfrm>
          <a:prstGeom prst="rect">
            <a:avLst/>
          </a:prstGeom>
          <a:noFill/>
          <a:ln/>
        </p:spPr>
        <p:txBody>
          <a:bodyPr wrap="square" lIns="0" tIns="0" rIns="0" bIns="0" rtlCol="0" anchor="t"/>
          <a:lstStyle/>
          <a:p>
            <a:pPr marL="0" indent="0">
              <a:buNone/>
            </a:pPr>
            <a:r>
              <a:rPr lang="en-US" sz="1000" dirty="0">
                <a:solidFill>
                  <a:srgbClr val="D5DAE0"/>
                </a:solidFill>
                <a:latin typeface="Calibri" pitchFamily="34" charset="0"/>
                <a:ea typeface="Calibri" pitchFamily="34" charset="-122"/>
                <a:cs typeface="Calibri" pitchFamily="34" charset="-120"/>
              </a:rPr>
              <a:t>Best prices on each side</a:t>
            </a:r>
            <a:endParaRPr lang="en-US" sz="1000" dirty="0"/>
          </a:p>
        </p:txBody>
      </p:sp>
      <p:sp>
        <p:nvSpPr>
          <p:cNvPr id="8" name="card background">
            <a:extLst>
              <a:ext uri="{C183D7F6-B498-43B3-948B-1728B52AA6E4}">
                <adec:decorative xmlns:adec="http://schemas.microsoft.com/office/drawing/2017/decorative" val="1"/>
              </a:ext>
            </a:extLst>
          </p:cNvPr>
          <p:cNvSpPr/>
          <p:nvPr/>
        </p:nvSpPr>
        <p:spPr>
          <a:xfrm>
            <a:off x="2592324" y="2743200"/>
            <a:ext cx="1869948" cy="1051560"/>
          </a:xfrm>
          <a:prstGeom prst="roundRect">
            <a:avLst>
              <a:gd name="adj" fmla="val 5217"/>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9" name="Text 6"/>
          <p:cNvSpPr/>
          <p:nvPr/>
        </p:nvSpPr>
        <p:spPr>
          <a:xfrm>
            <a:off x="2811780" y="2926080"/>
            <a:ext cx="1467612" cy="329184"/>
          </a:xfrm>
          <a:prstGeom prst="rect">
            <a:avLst/>
          </a:prstGeom>
          <a:noFill/>
          <a:ln/>
        </p:spPr>
        <p:txBody>
          <a:bodyPr wrap="square" lIns="0" tIns="0" rIns="0" bIns="0" rtlCol="0" anchor="ctr"/>
          <a:lstStyle/>
          <a:p>
            <a:pPr marL="0" indent="0">
              <a:buNone/>
            </a:pPr>
            <a:r>
              <a:rPr lang="en-US" sz="1300" b="1" dirty="0">
                <a:solidFill>
                  <a:srgbClr val="35A79C"/>
                </a:solidFill>
                <a:latin typeface="Trebuchet MS" pitchFamily="34" charset="0"/>
                <a:ea typeface="Trebuchet MS" pitchFamily="34" charset="-122"/>
                <a:cs typeface="Trebuchet MS" pitchFamily="34" charset="-120"/>
              </a:rPr>
              <a:t>trades</a:t>
            </a:r>
            <a:endParaRPr lang="en-US" sz="1300" dirty="0"/>
          </a:p>
        </p:txBody>
      </p:sp>
      <p:sp>
        <p:nvSpPr>
          <p:cNvPr id="10" name="Text 7"/>
          <p:cNvSpPr/>
          <p:nvPr/>
        </p:nvSpPr>
        <p:spPr>
          <a:xfrm>
            <a:off x="2811780" y="3291840"/>
            <a:ext cx="1431036" cy="393192"/>
          </a:xfrm>
          <a:prstGeom prst="rect">
            <a:avLst/>
          </a:prstGeom>
          <a:noFill/>
          <a:ln/>
        </p:spPr>
        <p:txBody>
          <a:bodyPr wrap="square" lIns="0" tIns="0" rIns="0" bIns="0" rtlCol="0" anchor="t"/>
          <a:lstStyle/>
          <a:p>
            <a:pPr marL="0" indent="0">
              <a:buNone/>
            </a:pPr>
            <a:r>
              <a:rPr lang="en-US" sz="1000" dirty="0">
                <a:solidFill>
                  <a:srgbClr val="D5DAE0"/>
                </a:solidFill>
                <a:latin typeface="Calibri" pitchFamily="34" charset="0"/>
                <a:ea typeface="Calibri" pitchFamily="34" charset="-122"/>
                <a:cs typeface="Calibri" pitchFamily="34" charset="-120"/>
              </a:rPr>
              <a:t>Executions as they print</a:t>
            </a:r>
            <a:endParaRPr lang="en-US" sz="1000" dirty="0"/>
          </a:p>
        </p:txBody>
      </p:sp>
      <p:sp>
        <p:nvSpPr>
          <p:cNvPr id="11" name="card background">
            <a:extLst>
              <a:ext uri="{C183D7F6-B498-43B3-948B-1728B52AA6E4}">
                <adec:decorative xmlns:adec="http://schemas.microsoft.com/office/drawing/2017/decorative" val="1"/>
              </a:ext>
            </a:extLst>
          </p:cNvPr>
          <p:cNvSpPr/>
          <p:nvPr/>
        </p:nvSpPr>
        <p:spPr>
          <a:xfrm>
            <a:off x="4681728" y="2743200"/>
            <a:ext cx="1869948" cy="1051560"/>
          </a:xfrm>
          <a:prstGeom prst="roundRect">
            <a:avLst>
              <a:gd name="adj" fmla="val 5217"/>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2" name="step marker">
            <a:extLst>
              <a:ext uri="{C183D7F6-B498-43B3-948B-1728B52AA6E4}">
                <adec:decorative xmlns:adec="http://schemas.microsoft.com/office/drawing/2017/decorative" val="1"/>
              </a:ext>
            </a:extLst>
          </p:cNvPr>
          <p:cNvSpPr/>
          <p:nvPr/>
        </p:nvSpPr>
        <p:spPr>
          <a:xfrm>
            <a:off x="4882896" y="2926080"/>
            <a:ext cx="310896" cy="310896"/>
          </a:xfrm>
          <a:prstGeom prst="ellipse">
            <a:avLst/>
          </a:prstGeom>
          <a:solidFill>
            <a:srgbClr val="8B7BD8"/>
          </a:solidFill>
          <a:ln w="12700">
            <a:solidFill>
              <a:srgbClr val="8B7BD8"/>
            </a:solidFill>
            <a:prstDash val="solid"/>
          </a:ln>
        </p:spPr>
        <p:txBody>
          <a:bodyPr/>
          <a:lstStyle/>
          <a:p>
            <a:endParaRPr lang="en-SE"/>
          </a:p>
        </p:txBody>
      </p:sp>
      <p:sp>
        <p:nvSpPr>
          <p:cNvPr id="13" name="Text 10"/>
          <p:cNvSpPr/>
          <p:nvPr/>
        </p:nvSpPr>
        <p:spPr>
          <a:xfrm>
            <a:off x="4882896" y="2926080"/>
            <a:ext cx="310896" cy="310896"/>
          </a:xfrm>
          <a:prstGeom prst="rect">
            <a:avLst/>
          </a:prstGeom>
          <a:noFill/>
          <a:ln/>
        </p:spPr>
        <p:txBody>
          <a:bodyPr wrap="square" lIns="0" tIns="0" rIns="0" bIns="0" rtlCol="0" anchor="ctr"/>
          <a:lstStyle/>
          <a:p>
            <a:pPr marL="0" indent="0" algn="ctr">
              <a:buNone/>
            </a:pPr>
            <a:endParaRPr lang="en-US" sz="1300" dirty="0"/>
          </a:p>
        </p:txBody>
      </p:sp>
      <p:sp>
        <p:nvSpPr>
          <p:cNvPr id="14" name="Text 11"/>
          <p:cNvSpPr/>
          <p:nvPr/>
        </p:nvSpPr>
        <p:spPr>
          <a:xfrm>
            <a:off x="5285232" y="2926080"/>
            <a:ext cx="1083564" cy="329184"/>
          </a:xfrm>
          <a:prstGeom prst="rect">
            <a:avLst/>
          </a:prstGeom>
          <a:noFill/>
          <a:ln/>
        </p:spPr>
        <p:txBody>
          <a:bodyPr wrap="square" lIns="0" tIns="0" rIns="0" bIns="0" rtlCol="0" anchor="ctr"/>
          <a:lstStyle/>
          <a:p>
            <a:pPr marL="0" indent="0">
              <a:buNone/>
            </a:pPr>
            <a:r>
              <a:rPr lang="en-US" sz="1300" b="1" dirty="0">
                <a:solidFill>
                  <a:srgbClr val="8B7BD8"/>
                </a:solidFill>
                <a:latin typeface="Trebuchet MS" pitchFamily="34" charset="0"/>
                <a:ea typeface="Trebuchet MS" pitchFamily="34" charset="-122"/>
                <a:cs typeface="Trebuchet MS" pitchFamily="34" charset="-120"/>
              </a:rPr>
              <a:t>depth</a:t>
            </a:r>
            <a:endParaRPr lang="en-US" sz="1300" dirty="0"/>
          </a:p>
        </p:txBody>
      </p:sp>
      <p:sp>
        <p:nvSpPr>
          <p:cNvPr id="15" name="Text 12"/>
          <p:cNvSpPr/>
          <p:nvPr/>
        </p:nvSpPr>
        <p:spPr>
          <a:xfrm>
            <a:off x="4901184" y="3291840"/>
            <a:ext cx="1431036" cy="393192"/>
          </a:xfrm>
          <a:prstGeom prst="rect">
            <a:avLst/>
          </a:prstGeom>
          <a:noFill/>
          <a:ln/>
        </p:spPr>
        <p:txBody>
          <a:bodyPr wrap="square" lIns="0" tIns="0" rIns="0" bIns="0" rtlCol="0" anchor="t"/>
          <a:lstStyle/>
          <a:p>
            <a:pPr marL="0" indent="0">
              <a:buNone/>
            </a:pPr>
            <a:r>
              <a:rPr lang="en-US" sz="1000" dirty="0">
                <a:solidFill>
                  <a:srgbClr val="D5DAE0"/>
                </a:solidFill>
                <a:latin typeface="Calibri" pitchFamily="34" charset="0"/>
                <a:ea typeface="Calibri" pitchFamily="34" charset="-122"/>
                <a:cs typeface="Calibri" pitchFamily="34" charset="-120"/>
              </a:rPr>
              <a:t>Volume by price level</a:t>
            </a:r>
            <a:endParaRPr lang="en-US" sz="1000" dirty="0"/>
          </a:p>
        </p:txBody>
      </p:sp>
      <p:sp>
        <p:nvSpPr>
          <p:cNvPr id="16" name="card background">
            <a:extLst>
              <a:ext uri="{C183D7F6-B498-43B3-948B-1728B52AA6E4}">
                <adec:decorative xmlns:adec="http://schemas.microsoft.com/office/drawing/2017/decorative" val="1"/>
              </a:ext>
            </a:extLst>
          </p:cNvPr>
          <p:cNvSpPr/>
          <p:nvPr/>
        </p:nvSpPr>
        <p:spPr>
          <a:xfrm>
            <a:off x="6771132" y="2743200"/>
            <a:ext cx="1869948" cy="1051560"/>
          </a:xfrm>
          <a:prstGeom prst="roundRect">
            <a:avLst>
              <a:gd name="adj" fmla="val 5217"/>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7" name="step marker">
            <a:extLst>
              <a:ext uri="{C183D7F6-B498-43B3-948B-1728B52AA6E4}">
                <adec:decorative xmlns:adec="http://schemas.microsoft.com/office/drawing/2017/decorative" val="1"/>
              </a:ext>
            </a:extLst>
          </p:cNvPr>
          <p:cNvSpPr/>
          <p:nvPr/>
        </p:nvSpPr>
        <p:spPr>
          <a:xfrm>
            <a:off x="6972300" y="2926080"/>
            <a:ext cx="310896" cy="310896"/>
          </a:xfrm>
          <a:prstGeom prst="ellipse">
            <a:avLst/>
          </a:prstGeom>
          <a:solidFill>
            <a:srgbClr val="F2A65A"/>
          </a:solidFill>
          <a:ln w="12700">
            <a:solidFill>
              <a:srgbClr val="F2A65A"/>
            </a:solidFill>
            <a:prstDash val="solid"/>
          </a:ln>
        </p:spPr>
        <p:txBody>
          <a:bodyPr/>
          <a:lstStyle/>
          <a:p>
            <a:endParaRPr lang="en-SE"/>
          </a:p>
        </p:txBody>
      </p:sp>
      <p:sp>
        <p:nvSpPr>
          <p:cNvPr id="18" name="Text 15"/>
          <p:cNvSpPr/>
          <p:nvPr/>
        </p:nvSpPr>
        <p:spPr>
          <a:xfrm>
            <a:off x="6972300" y="2926080"/>
            <a:ext cx="310896" cy="310896"/>
          </a:xfrm>
          <a:prstGeom prst="rect">
            <a:avLst/>
          </a:prstGeom>
          <a:noFill/>
          <a:ln/>
        </p:spPr>
        <p:txBody>
          <a:bodyPr wrap="square" lIns="0" tIns="0" rIns="0" bIns="0" rtlCol="0" anchor="ctr"/>
          <a:lstStyle/>
          <a:p>
            <a:pPr marL="0" indent="0" algn="ctr">
              <a:buNone/>
            </a:pPr>
            <a:endParaRPr lang="en-US" sz="1300" dirty="0"/>
          </a:p>
        </p:txBody>
      </p:sp>
      <p:sp>
        <p:nvSpPr>
          <p:cNvPr id="19" name="Text 16"/>
          <p:cNvSpPr/>
          <p:nvPr/>
        </p:nvSpPr>
        <p:spPr>
          <a:xfrm>
            <a:off x="7374636" y="2926080"/>
            <a:ext cx="1083564" cy="329184"/>
          </a:xfrm>
          <a:prstGeom prst="rect">
            <a:avLst/>
          </a:prstGeom>
          <a:noFill/>
          <a:ln/>
        </p:spPr>
        <p:txBody>
          <a:bodyPr wrap="square" lIns="0" tIns="0" rIns="0" bIns="0" rtlCol="0" anchor="ctr"/>
          <a:lstStyle/>
          <a:p>
            <a:pPr marL="0" indent="0">
              <a:buNone/>
            </a:pPr>
            <a:r>
              <a:rPr lang="en-US" sz="1300" b="1" dirty="0">
                <a:solidFill>
                  <a:srgbClr val="F2A65A"/>
                </a:solidFill>
                <a:latin typeface="Trebuchet MS" pitchFamily="34" charset="0"/>
                <a:ea typeface="Trebuchet MS" pitchFamily="34" charset="-122"/>
                <a:cs typeface="Trebuchet MS" pitchFamily="34" charset="-120"/>
              </a:rPr>
              <a:t>auction</a:t>
            </a:r>
            <a:endParaRPr lang="en-US" sz="1300" dirty="0"/>
          </a:p>
        </p:txBody>
      </p:sp>
      <p:sp>
        <p:nvSpPr>
          <p:cNvPr id="20" name="Text 17"/>
          <p:cNvSpPr/>
          <p:nvPr/>
        </p:nvSpPr>
        <p:spPr>
          <a:xfrm>
            <a:off x="6990588" y="3291840"/>
            <a:ext cx="1431036" cy="393192"/>
          </a:xfrm>
          <a:prstGeom prst="rect">
            <a:avLst/>
          </a:prstGeom>
          <a:noFill/>
          <a:ln/>
        </p:spPr>
        <p:txBody>
          <a:bodyPr wrap="square" lIns="0" tIns="0" rIns="0" bIns="0" rtlCol="0" anchor="t"/>
          <a:lstStyle/>
          <a:p>
            <a:pPr marL="0" indent="0">
              <a:buNone/>
            </a:pPr>
            <a:r>
              <a:rPr lang="en-US" sz="1000" dirty="0">
                <a:solidFill>
                  <a:srgbClr val="D5DAE0"/>
                </a:solidFill>
                <a:latin typeface="Calibri" pitchFamily="34" charset="0"/>
                <a:ea typeface="Calibri" pitchFamily="34" charset="-122"/>
                <a:cs typeface="Calibri" pitchFamily="34" charset="-120"/>
              </a:rPr>
              <a:t>Uncross results per instrument</a:t>
            </a:r>
            <a:endParaRPr lang="en-US" sz="1000" dirty="0"/>
          </a:p>
        </p:txBody>
      </p:sp>
      <p:sp>
        <p:nvSpPr>
          <p:cNvPr id="21" name="Text 18"/>
          <p:cNvSpPr/>
          <p:nvPr/>
        </p:nvSpPr>
        <p:spPr>
          <a:xfrm>
            <a:off x="502920" y="3977640"/>
            <a:ext cx="8138160" cy="548640"/>
          </a:xfrm>
          <a:prstGeom prst="rect">
            <a:avLst/>
          </a:prstGeom>
          <a:noFill/>
          <a:ln/>
        </p:spPr>
        <p:txBody>
          <a:bodyPr wrap="square" lIns="0" tIns="0" rIns="0" bIns="0" rtlCol="0" anchor="t"/>
          <a:lstStyle/>
          <a:p>
            <a:pPr marL="0" indent="0" algn="l">
              <a:buNone/>
            </a:pPr>
            <a:r>
              <a:rPr lang="en-US" sz="1050" i="1" dirty="0">
                <a:solidFill>
                  <a:srgbClr val="97A1AC"/>
                </a:solidFill>
                <a:latin typeface="Calibri" pitchFamily="34" charset="0"/>
                <a:ea typeface="Calibri" pitchFamily="34" charset="-122"/>
                <a:cs typeface="Calibri" pitchFamily="34" charset="-120"/>
              </a:rPr>
              <a:t>The first message on any stream must carry the key. The monitor stream confirms authentication, then streams everything; a non-administrative key is refused and disconnected. Session and circuit-breaker events are always delivered.</a:t>
            </a:r>
            <a:endParaRPr lang="en-US" sz="1050" dirty="0"/>
          </a:p>
        </p:txBody>
      </p:sp>
      <p:sp>
        <p:nvSpPr>
          <p:cNvPr id="22" name="Text 19"/>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Technical appendix</a:t>
            </a:r>
            <a:endParaRPr lang="en-US" sz="900" dirty="0"/>
          </a:p>
        </p:txBody>
      </p:sp>
      <p:sp>
        <p:nvSpPr>
          <p:cNvPr id="23" name="Text 20"/>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78</a:t>
            </a:r>
            <a:endParaRPr lang="en-US" sz="9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8138160" cy="548640"/>
          </a:xfrm>
          <a:prstGeom prst="rect">
            <a:avLst/>
          </a:prstGeom>
          <a:noFill/>
          <a:ln/>
        </p:spPr>
        <p:txBody>
          <a:bodyPr wrap="square" lIns="0" tIns="0" rIns="0" bIns="0" rtlCol="0" anchor="ctr"/>
          <a:lstStyle/>
          <a:p>
            <a:pPr marL="0" indent="0">
              <a:buNone/>
            </a:pPr>
            <a:r>
              <a:rPr lang="en-US" sz="2700" b="1" dirty="0">
                <a:solidFill>
                  <a:srgbClr val="F3F5F7"/>
                </a:solidFill>
                <a:latin typeface="Trebuchet MS" pitchFamily="34" charset="0"/>
                <a:ea typeface="Trebuchet MS" pitchFamily="34" charset="-122"/>
                <a:cs typeface="Trebuchet MS" pitchFamily="34" charset="-120"/>
              </a:rPr>
              <a:t>Order fields in full</a:t>
            </a:r>
            <a:endParaRPr lang="en-US" sz="2700" dirty="0"/>
          </a:p>
        </p:txBody>
      </p:sp>
      <p:sp>
        <p:nvSpPr>
          <p:cNvPr id="3" name="Text 1"/>
          <p:cNvSpPr/>
          <p:nvPr/>
        </p:nvSpPr>
        <p:spPr>
          <a:xfrm>
            <a:off x="502920" y="841248"/>
            <a:ext cx="8138160" cy="237744"/>
          </a:xfrm>
          <a:prstGeom prst="rect">
            <a:avLst/>
          </a:prstGeom>
          <a:noFill/>
          <a:ln/>
        </p:spPr>
        <p:txBody>
          <a:bodyPr wrap="square" lIns="0" tIns="0" rIns="0" bIns="0" rtlCol="0" anchor="ctr"/>
          <a:lstStyle/>
          <a:p>
            <a:pPr marL="0" indent="0">
              <a:buNone/>
            </a:pPr>
            <a:r>
              <a:rPr lang="en-US" sz="1100" b="1" kern="0" spc="200" dirty="0">
                <a:solidFill>
                  <a:srgbClr val="E8722C"/>
                </a:solidFill>
                <a:latin typeface="Calibri" pitchFamily="34" charset="0"/>
                <a:ea typeface="Calibri" pitchFamily="34" charset="-122"/>
                <a:cs typeface="Calibri" pitchFamily="34" charset="-120"/>
              </a:rPr>
              <a:t>APPENDIX · 13 OF 16</a:t>
            </a:r>
            <a:endParaRPr lang="en-US" sz="1100" dirty="0"/>
          </a:p>
        </p:txBody>
      </p:sp>
      <p:graphicFrame>
        <p:nvGraphicFramePr>
          <p:cNvPr id="80" name="Table 0"/>
          <p:cNvGraphicFramePr>
            <a:graphicFrameLocks noGrp="1"/>
          </p:cNvGraphicFramePr>
          <p:nvPr>
            <p:extLst>
              <p:ext uri="{D42A27DB-BD31-4B8C-83A1-F6EECF244321}">
                <p14:modId xmlns:p14="http://schemas.microsoft.com/office/powerpoint/2010/main" val="1579011935"/>
              </p:ext>
            </p:extLst>
          </p:nvPr>
        </p:nvGraphicFramePr>
        <p:xfrm>
          <a:off x="502920" y="1170432"/>
          <a:ext cx="8138160" cy="914400"/>
        </p:xfrm>
        <a:graphic>
          <a:graphicData uri="http://schemas.openxmlformats.org/drawingml/2006/table">
            <a:tbl>
              <a:tblPr/>
              <a:tblGrid>
                <a:gridCol w="173736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5029200">
                  <a:extLst>
                    <a:ext uri="{9D8B030D-6E8A-4147-A177-3AD203B41FA5}">
                      <a16:colId xmlns:a16="http://schemas.microsoft.com/office/drawing/2014/main" val="20002"/>
                    </a:ext>
                  </a:extLst>
                </a:gridCol>
              </a:tblGrid>
              <a:tr h="233172">
                <a:tc>
                  <a:txBody>
                    <a:bodyPr/>
                    <a:lstStyle/>
                    <a:p>
                      <a:pPr marL="0" indent="0">
                        <a:buNone/>
                      </a:pPr>
                      <a:r>
                        <a:rPr lang="en-US" sz="1100" b="1" dirty="0">
                          <a:solidFill>
                            <a:srgbClr val="121519"/>
                          </a:solidFill>
                          <a:latin typeface="Trebuchet MS" pitchFamily="34" charset="0"/>
                          <a:ea typeface="Trebuchet MS" pitchFamily="34" charset="-122"/>
                          <a:cs typeface="Trebuchet MS" pitchFamily="34" charset="-120"/>
                        </a:rPr>
                        <a:t>Field</a:t>
                      </a:r>
                      <a:endParaRPr lang="en-US" sz="1100" dirty="0">
                        <a:latin typeface="Trebuchet MS" charset="0"/>
                        <a:ea typeface="Trebuchet MS" charset="0"/>
                        <a:cs typeface="Trebuchet M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E8722C"/>
                    </a:solidFill>
                  </a:tcPr>
                </a:tc>
                <a:tc>
                  <a:txBody>
                    <a:bodyPr/>
                    <a:lstStyle/>
                    <a:p>
                      <a:pPr marL="0" indent="0">
                        <a:buNone/>
                      </a:pPr>
                      <a:r>
                        <a:rPr lang="en-US" sz="1100" b="1" dirty="0">
                          <a:solidFill>
                            <a:srgbClr val="121519"/>
                          </a:solidFill>
                          <a:latin typeface="Trebuchet MS" pitchFamily="34" charset="0"/>
                          <a:ea typeface="Trebuchet MS" pitchFamily="34" charset="-122"/>
                          <a:cs typeface="Trebuchet MS" pitchFamily="34" charset="-120"/>
                        </a:rPr>
                        <a:t>Required</a:t>
                      </a:r>
                      <a:endParaRPr lang="en-US" sz="1100" dirty="0">
                        <a:latin typeface="Trebuchet MS" charset="0"/>
                        <a:ea typeface="Trebuchet MS" charset="0"/>
                        <a:cs typeface="Trebuchet M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E8722C"/>
                    </a:solidFill>
                  </a:tcPr>
                </a:tc>
                <a:tc>
                  <a:txBody>
                    <a:bodyPr/>
                    <a:lstStyle/>
                    <a:p>
                      <a:pPr marL="0" indent="0">
                        <a:buNone/>
                      </a:pPr>
                      <a:r>
                        <a:rPr lang="en-US" sz="1100" b="1" dirty="0">
                          <a:solidFill>
                            <a:srgbClr val="121519"/>
                          </a:solidFill>
                          <a:latin typeface="Trebuchet MS" pitchFamily="34" charset="0"/>
                          <a:ea typeface="Trebuchet MS" pitchFamily="34" charset="-122"/>
                          <a:cs typeface="Trebuchet MS" pitchFamily="34" charset="-120"/>
                        </a:rPr>
                        <a:t>Notes</a:t>
                      </a:r>
                      <a:endParaRPr lang="en-US" sz="1100" dirty="0">
                        <a:latin typeface="Trebuchet MS" charset="0"/>
                        <a:ea typeface="Trebuchet MS" charset="0"/>
                        <a:cs typeface="Trebuchet M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E8722C"/>
                    </a:solidFill>
                  </a:tcPr>
                </a:tc>
                <a:extLst>
                  <a:ext uri="{0D108BD9-81ED-4DB2-BD59-A6C34878D82A}">
                    <a16:rowId xmlns:a16="http://schemas.microsoft.com/office/drawing/2014/main" val="10000"/>
                  </a:ext>
                </a:extLst>
              </a:tr>
              <a:tr h="233172">
                <a:tc>
                  <a:txBody>
                    <a:bodyPr/>
                    <a:lstStyle/>
                    <a:p>
                      <a:pPr marL="0" indent="0">
                        <a:buNone/>
                      </a:pPr>
                      <a:r>
                        <a:rPr lang="en-US" sz="900" dirty="0">
                          <a:solidFill>
                            <a:srgbClr val="F2A65A"/>
                          </a:solidFill>
                          <a:latin typeface="Consolas" pitchFamily="34" charset="0"/>
                          <a:ea typeface="Consolas" pitchFamily="34" charset="-122"/>
                          <a:cs typeface="Consolas" pitchFamily="34" charset="-120"/>
                        </a:rPr>
                        <a:t>symbol</a:t>
                      </a:r>
                      <a:endParaRPr lang="en-US" sz="90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00" dirty="0">
                          <a:solidFill>
                            <a:srgbClr val="D5DAE0"/>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00" dirty="0">
                          <a:solidFill>
                            <a:srgbClr val="D5DAE0"/>
                          </a:solidFill>
                          <a:latin typeface="Calibri" pitchFamily="34" charset="0"/>
                          <a:ea typeface="Calibri" pitchFamily="34" charset="-122"/>
                          <a:cs typeface="Calibri" pitchFamily="34" charset="-120"/>
                        </a:rPr>
                        <a:t>Instrument symbol</a:t>
                      </a:r>
                      <a:endParaRPr lang="en-US" sz="9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extLst>
                  <a:ext uri="{0D108BD9-81ED-4DB2-BD59-A6C34878D82A}">
                    <a16:rowId xmlns:a16="http://schemas.microsoft.com/office/drawing/2014/main" val="10001"/>
                  </a:ext>
                </a:extLst>
              </a:tr>
              <a:tr h="233172">
                <a:tc>
                  <a:txBody>
                    <a:bodyPr/>
                    <a:lstStyle/>
                    <a:p>
                      <a:pPr marL="0" indent="0">
                        <a:buNone/>
                      </a:pPr>
                      <a:r>
                        <a:rPr lang="en-US" sz="900" dirty="0">
                          <a:solidFill>
                            <a:srgbClr val="F2A65A"/>
                          </a:solidFill>
                          <a:latin typeface="Consolas" pitchFamily="34" charset="0"/>
                          <a:ea typeface="Consolas" pitchFamily="34" charset="-122"/>
                          <a:cs typeface="Consolas" pitchFamily="34" charset="-120"/>
                        </a:rPr>
                        <a:t>side</a:t>
                      </a:r>
                      <a:endParaRPr lang="en-US" sz="90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00" dirty="0">
                          <a:solidFill>
                            <a:srgbClr val="D5DAE0"/>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00" dirty="0">
                          <a:solidFill>
                            <a:srgbClr val="D5DAE0"/>
                          </a:solidFill>
                          <a:latin typeface="Calibri" pitchFamily="34" charset="0"/>
                          <a:ea typeface="Calibri" pitchFamily="34" charset="-122"/>
                          <a:cs typeface="Calibri" pitchFamily="34" charset="-120"/>
                        </a:rPr>
                        <a:t>BUY or SELL</a:t>
                      </a:r>
                      <a:endParaRPr lang="en-US" sz="9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extLst>
                  <a:ext uri="{0D108BD9-81ED-4DB2-BD59-A6C34878D82A}">
                    <a16:rowId xmlns:a16="http://schemas.microsoft.com/office/drawing/2014/main" val="10002"/>
                  </a:ext>
                </a:extLst>
              </a:tr>
              <a:tr h="233172">
                <a:tc>
                  <a:txBody>
                    <a:bodyPr/>
                    <a:lstStyle/>
                    <a:p>
                      <a:pPr marL="0" indent="0">
                        <a:buNone/>
                      </a:pPr>
                      <a:r>
                        <a:rPr lang="en-US" sz="900" dirty="0">
                          <a:solidFill>
                            <a:srgbClr val="F2A65A"/>
                          </a:solidFill>
                          <a:latin typeface="Consolas" pitchFamily="34" charset="0"/>
                          <a:ea typeface="Consolas" pitchFamily="34" charset="-122"/>
                          <a:cs typeface="Consolas" pitchFamily="34" charset="-120"/>
                        </a:rPr>
                        <a:t>order_type</a:t>
                      </a:r>
                      <a:endParaRPr lang="en-US" sz="90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00" dirty="0">
                          <a:solidFill>
                            <a:srgbClr val="D5DAE0"/>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00" dirty="0">
                          <a:solidFill>
                            <a:srgbClr val="D5DAE0"/>
                          </a:solidFill>
                          <a:latin typeface="Calibri" pitchFamily="34" charset="0"/>
                          <a:ea typeface="Calibri" pitchFamily="34" charset="-122"/>
                          <a:cs typeface="Calibri" pitchFamily="34" charset="-120"/>
                        </a:rPr>
                        <a:t>MARKET, LIMIT, STOP, STOP_LIMIT, FOK, ICEBERG, IOC, TRAILING_STOP</a:t>
                      </a:r>
                      <a:endParaRPr lang="en-US" sz="9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extLst>
                  <a:ext uri="{0D108BD9-81ED-4DB2-BD59-A6C34878D82A}">
                    <a16:rowId xmlns:a16="http://schemas.microsoft.com/office/drawing/2014/main" val="10003"/>
                  </a:ext>
                </a:extLst>
              </a:tr>
              <a:tr h="233172">
                <a:tc>
                  <a:txBody>
                    <a:bodyPr/>
                    <a:lstStyle/>
                    <a:p>
                      <a:pPr marL="0" indent="0">
                        <a:buNone/>
                      </a:pPr>
                      <a:r>
                        <a:rPr lang="en-US" sz="900" dirty="0">
                          <a:solidFill>
                            <a:srgbClr val="F2A65A"/>
                          </a:solidFill>
                          <a:latin typeface="Consolas" pitchFamily="34" charset="0"/>
                          <a:ea typeface="Consolas" pitchFamily="34" charset="-122"/>
                          <a:cs typeface="Consolas" pitchFamily="34" charset="-120"/>
                        </a:rPr>
                        <a:t>quantity</a:t>
                      </a:r>
                      <a:endParaRPr lang="en-US" sz="90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00" dirty="0">
                          <a:solidFill>
                            <a:srgbClr val="D5DAE0"/>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00" dirty="0">
                          <a:solidFill>
                            <a:srgbClr val="D5DAE0"/>
                          </a:solidFill>
                          <a:latin typeface="Calibri" pitchFamily="34" charset="0"/>
                          <a:ea typeface="Calibri" pitchFamily="34" charset="-122"/>
                          <a:cs typeface="Calibri" pitchFamily="34" charset="-120"/>
                        </a:rPr>
                        <a:t>Positive whole number</a:t>
                      </a:r>
                      <a:endParaRPr lang="en-US" sz="9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extLst>
                  <a:ext uri="{0D108BD9-81ED-4DB2-BD59-A6C34878D82A}">
                    <a16:rowId xmlns:a16="http://schemas.microsoft.com/office/drawing/2014/main" val="10004"/>
                  </a:ext>
                </a:extLst>
              </a:tr>
              <a:tr h="233172">
                <a:tc>
                  <a:txBody>
                    <a:bodyPr/>
                    <a:lstStyle/>
                    <a:p>
                      <a:pPr marL="0" indent="0">
                        <a:buNone/>
                      </a:pPr>
                      <a:r>
                        <a:rPr lang="en-US" sz="900" dirty="0">
                          <a:solidFill>
                            <a:srgbClr val="F2A65A"/>
                          </a:solidFill>
                          <a:latin typeface="Consolas" pitchFamily="34" charset="0"/>
                          <a:ea typeface="Consolas" pitchFamily="34" charset="-122"/>
                          <a:cs typeface="Consolas" pitchFamily="34" charset="-120"/>
                        </a:rPr>
                        <a:t>tif</a:t>
                      </a:r>
                      <a:endParaRPr lang="en-US" sz="90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00" dirty="0">
                          <a:solidFill>
                            <a:srgbClr val="D5DAE0"/>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00" dirty="0">
                          <a:solidFill>
                            <a:srgbClr val="D5DAE0"/>
                          </a:solidFill>
                          <a:latin typeface="Calibri" pitchFamily="34" charset="0"/>
                          <a:ea typeface="Calibri" pitchFamily="34" charset="-122"/>
                          <a:cs typeface="Calibri" pitchFamily="34" charset="-120"/>
                        </a:rPr>
                        <a:t>DAY, GTC, ATO, ATC — defaults to DAY</a:t>
                      </a:r>
                      <a:endParaRPr lang="en-US" sz="9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extLst>
                  <a:ext uri="{0D108BD9-81ED-4DB2-BD59-A6C34878D82A}">
                    <a16:rowId xmlns:a16="http://schemas.microsoft.com/office/drawing/2014/main" val="10005"/>
                  </a:ext>
                </a:extLst>
              </a:tr>
              <a:tr h="233172">
                <a:tc>
                  <a:txBody>
                    <a:bodyPr/>
                    <a:lstStyle/>
                    <a:p>
                      <a:pPr marL="0" indent="0">
                        <a:buNone/>
                      </a:pPr>
                      <a:r>
                        <a:rPr lang="en-US" sz="900" dirty="0">
                          <a:solidFill>
                            <a:srgbClr val="F2A65A"/>
                          </a:solidFill>
                          <a:latin typeface="Consolas" pitchFamily="34" charset="0"/>
                          <a:ea typeface="Consolas" pitchFamily="34" charset="-122"/>
                          <a:cs typeface="Consolas" pitchFamily="34" charset="-120"/>
                        </a:rPr>
                        <a:t>price</a:t>
                      </a:r>
                      <a:endParaRPr lang="en-US" sz="90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00" dirty="0">
                          <a:solidFill>
                            <a:srgbClr val="D5DAE0"/>
                          </a:solidFill>
                          <a:latin typeface="Calibri" pitchFamily="34" charset="0"/>
                          <a:ea typeface="Calibri" pitchFamily="34" charset="-122"/>
                          <a:cs typeface="Calibri" pitchFamily="34" charset="-120"/>
                        </a:rPr>
                        <a:t>conditional</a:t>
                      </a:r>
                      <a:endParaRPr lang="en-US" sz="9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00" dirty="0">
                          <a:solidFill>
                            <a:srgbClr val="D5DAE0"/>
                          </a:solidFill>
                          <a:latin typeface="Calibri" pitchFamily="34" charset="0"/>
                          <a:ea typeface="Calibri" pitchFamily="34" charset="-122"/>
                          <a:cs typeface="Calibri" pitchFamily="34" charset="-120"/>
                        </a:rPr>
                        <a:t>Required for LIMIT, FOK, IOC, ICEBERG and STOP_LIMIT</a:t>
                      </a:r>
                      <a:endParaRPr lang="en-US" sz="9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extLst>
                  <a:ext uri="{0D108BD9-81ED-4DB2-BD59-A6C34878D82A}">
                    <a16:rowId xmlns:a16="http://schemas.microsoft.com/office/drawing/2014/main" val="10006"/>
                  </a:ext>
                </a:extLst>
              </a:tr>
              <a:tr h="233172">
                <a:tc>
                  <a:txBody>
                    <a:bodyPr/>
                    <a:lstStyle/>
                    <a:p>
                      <a:pPr marL="0" indent="0">
                        <a:buNone/>
                      </a:pPr>
                      <a:r>
                        <a:rPr lang="en-US" sz="900" dirty="0">
                          <a:solidFill>
                            <a:srgbClr val="F2A65A"/>
                          </a:solidFill>
                          <a:latin typeface="Consolas" pitchFamily="34" charset="0"/>
                          <a:ea typeface="Consolas" pitchFamily="34" charset="-122"/>
                          <a:cs typeface="Consolas" pitchFamily="34" charset="-120"/>
                        </a:rPr>
                        <a:t>stop_price</a:t>
                      </a:r>
                      <a:endParaRPr lang="en-US" sz="90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00" dirty="0">
                          <a:solidFill>
                            <a:srgbClr val="D5DAE0"/>
                          </a:solidFill>
                          <a:latin typeface="Calibri" pitchFamily="34" charset="0"/>
                          <a:ea typeface="Calibri" pitchFamily="34" charset="-122"/>
                          <a:cs typeface="Calibri" pitchFamily="34" charset="-120"/>
                        </a:rPr>
                        <a:t>conditional</a:t>
                      </a:r>
                      <a:endParaRPr lang="en-US" sz="9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00" dirty="0">
                          <a:solidFill>
                            <a:srgbClr val="D5DAE0"/>
                          </a:solidFill>
                          <a:latin typeface="Calibri" pitchFamily="34" charset="0"/>
                          <a:ea typeface="Calibri" pitchFamily="34" charset="-122"/>
                          <a:cs typeface="Calibri" pitchFamily="34" charset="-120"/>
                        </a:rPr>
                        <a:t>Required for STOP and STOP_LIMIT</a:t>
                      </a:r>
                      <a:endParaRPr lang="en-US" sz="9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extLst>
                  <a:ext uri="{0D108BD9-81ED-4DB2-BD59-A6C34878D82A}">
                    <a16:rowId xmlns:a16="http://schemas.microsoft.com/office/drawing/2014/main" val="10007"/>
                  </a:ext>
                </a:extLst>
              </a:tr>
              <a:tr h="233172">
                <a:tc>
                  <a:txBody>
                    <a:bodyPr/>
                    <a:lstStyle/>
                    <a:p>
                      <a:pPr marL="0" indent="0">
                        <a:buNone/>
                      </a:pPr>
                      <a:r>
                        <a:rPr lang="en-US" sz="900" dirty="0">
                          <a:solidFill>
                            <a:srgbClr val="F2A65A"/>
                          </a:solidFill>
                          <a:latin typeface="Consolas" pitchFamily="34" charset="0"/>
                          <a:ea typeface="Consolas" pitchFamily="34" charset="-122"/>
                          <a:cs typeface="Consolas" pitchFamily="34" charset="-120"/>
                        </a:rPr>
                        <a:t>visible_qty</a:t>
                      </a:r>
                      <a:endParaRPr lang="en-US" sz="90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00" dirty="0">
                          <a:solidFill>
                            <a:srgbClr val="D5DAE0"/>
                          </a:solidFill>
                          <a:latin typeface="Calibri" pitchFamily="34" charset="0"/>
                          <a:ea typeface="Calibri" pitchFamily="34" charset="-122"/>
                          <a:cs typeface="Calibri" pitchFamily="34" charset="-120"/>
                        </a:rPr>
                        <a:t>conditional</a:t>
                      </a:r>
                      <a:endParaRPr lang="en-US" sz="9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00" dirty="0">
                          <a:solidFill>
                            <a:srgbClr val="D5DAE0"/>
                          </a:solidFill>
                          <a:latin typeface="Calibri" pitchFamily="34" charset="0"/>
                          <a:ea typeface="Calibri" pitchFamily="34" charset="-122"/>
                          <a:cs typeface="Calibri" pitchFamily="34" charset="-120"/>
                        </a:rPr>
                        <a:t>Required for ICEBERG; smaller than the quantity</a:t>
                      </a:r>
                      <a:endParaRPr lang="en-US" sz="9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extLst>
                  <a:ext uri="{0D108BD9-81ED-4DB2-BD59-A6C34878D82A}">
                    <a16:rowId xmlns:a16="http://schemas.microsoft.com/office/drawing/2014/main" val="10008"/>
                  </a:ext>
                </a:extLst>
              </a:tr>
              <a:tr h="233172">
                <a:tc>
                  <a:txBody>
                    <a:bodyPr/>
                    <a:lstStyle/>
                    <a:p>
                      <a:pPr marL="0" indent="0">
                        <a:buNone/>
                      </a:pPr>
                      <a:r>
                        <a:rPr lang="en-US" sz="900" dirty="0">
                          <a:solidFill>
                            <a:srgbClr val="F2A65A"/>
                          </a:solidFill>
                          <a:latin typeface="Consolas" pitchFamily="34" charset="0"/>
                          <a:ea typeface="Consolas" pitchFamily="34" charset="-122"/>
                          <a:cs typeface="Consolas" pitchFamily="34" charset="-120"/>
                        </a:rPr>
                        <a:t>trail_offset</a:t>
                      </a:r>
                      <a:endParaRPr lang="en-US" sz="90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00" dirty="0">
                          <a:solidFill>
                            <a:srgbClr val="D5DAE0"/>
                          </a:solidFill>
                          <a:latin typeface="Calibri" pitchFamily="34" charset="0"/>
                          <a:ea typeface="Calibri" pitchFamily="34" charset="-122"/>
                          <a:cs typeface="Calibri" pitchFamily="34" charset="-120"/>
                        </a:rPr>
                        <a:t>conditional</a:t>
                      </a:r>
                      <a:endParaRPr lang="en-US" sz="9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00" dirty="0">
                          <a:solidFill>
                            <a:srgbClr val="D5DAE0"/>
                          </a:solidFill>
                          <a:latin typeface="Calibri" pitchFamily="34" charset="0"/>
                          <a:ea typeface="Calibri" pitchFamily="34" charset="-122"/>
                          <a:cs typeface="Calibri" pitchFamily="34" charset="-120"/>
                        </a:rPr>
                        <a:t>Required for TRAILING_STOP</a:t>
                      </a:r>
                      <a:endParaRPr lang="en-US" sz="9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extLst>
                  <a:ext uri="{0D108BD9-81ED-4DB2-BD59-A6C34878D82A}">
                    <a16:rowId xmlns:a16="http://schemas.microsoft.com/office/drawing/2014/main" val="10009"/>
                  </a:ext>
                </a:extLst>
              </a:tr>
              <a:tr h="233172">
                <a:tc>
                  <a:txBody>
                    <a:bodyPr/>
                    <a:lstStyle/>
                    <a:p>
                      <a:pPr marL="0" indent="0">
                        <a:buNone/>
                      </a:pPr>
                      <a:r>
                        <a:rPr lang="en-US" sz="900" dirty="0">
                          <a:solidFill>
                            <a:srgbClr val="F2A65A"/>
                          </a:solidFill>
                          <a:latin typeface="Consolas" pitchFamily="34" charset="0"/>
                          <a:ea typeface="Consolas" pitchFamily="34" charset="-122"/>
                          <a:cs typeface="Consolas" pitchFamily="34" charset="-120"/>
                        </a:rPr>
                        <a:t>smp_action</a:t>
                      </a:r>
                      <a:endParaRPr lang="en-US" sz="90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00" dirty="0">
                          <a:solidFill>
                            <a:srgbClr val="D5DAE0"/>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tc>
                  <a:txBody>
                    <a:bodyPr/>
                    <a:lstStyle/>
                    <a:p>
                      <a:pPr marL="0" indent="0">
                        <a:buNone/>
                      </a:pPr>
                      <a:r>
                        <a:rPr lang="en-US" sz="900" dirty="0">
                          <a:solidFill>
                            <a:srgbClr val="D5DAE0"/>
                          </a:solidFill>
                          <a:latin typeface="Calibri" pitchFamily="34" charset="0"/>
                          <a:ea typeface="Calibri" pitchFamily="34" charset="-122"/>
                          <a:cs typeface="Calibri" pitchFamily="34" charset="-120"/>
                        </a:rPr>
                        <a:t>Self-match prevention action</a:t>
                      </a:r>
                      <a:endParaRPr lang="en-US" sz="9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52B32"/>
                    </a:solidFill>
                  </a:tcPr>
                </a:tc>
                <a:extLst>
                  <a:ext uri="{0D108BD9-81ED-4DB2-BD59-A6C34878D82A}">
                    <a16:rowId xmlns:a16="http://schemas.microsoft.com/office/drawing/2014/main" val="10010"/>
                  </a:ext>
                </a:extLst>
              </a:tr>
              <a:tr h="233172">
                <a:tc>
                  <a:txBody>
                    <a:bodyPr/>
                    <a:lstStyle/>
                    <a:p>
                      <a:pPr marL="0" indent="0">
                        <a:buNone/>
                      </a:pPr>
                      <a:r>
                        <a:rPr lang="en-US" sz="900" dirty="0">
                          <a:solidFill>
                            <a:srgbClr val="F2A65A"/>
                          </a:solidFill>
                          <a:latin typeface="Consolas" pitchFamily="34" charset="0"/>
                          <a:ea typeface="Consolas" pitchFamily="34" charset="-122"/>
                          <a:cs typeface="Consolas" pitchFamily="34" charset="-120"/>
                        </a:rPr>
                        <a:t>client_order_id</a:t>
                      </a:r>
                      <a:endParaRPr lang="en-US" sz="900" dirty="0">
                        <a:latin typeface="Consolas" charset="0"/>
                        <a:ea typeface="Consolas" charset="0"/>
                        <a:cs typeface="Consolas"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00" dirty="0">
                          <a:solidFill>
                            <a:srgbClr val="D5DAE0"/>
                          </a:solidFill>
                          <a:latin typeface="Calibri" pitchFamily="34" charset="0"/>
                          <a:ea typeface="Calibri" pitchFamily="34" charset="-122"/>
                          <a:cs typeface="Calibri" pitchFamily="34" charset="-120"/>
                        </a:rPr>
                        <a:t>no</a:t>
                      </a:r>
                      <a:endParaRPr lang="en-US" sz="9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tc>
                  <a:txBody>
                    <a:bodyPr/>
                    <a:lstStyle/>
                    <a:p>
                      <a:pPr marL="0" indent="0">
                        <a:buNone/>
                      </a:pPr>
                      <a:r>
                        <a:rPr lang="en-US" sz="900" dirty="0">
                          <a:solidFill>
                            <a:srgbClr val="D5DAE0"/>
                          </a:solidFill>
                          <a:latin typeface="Calibri" pitchFamily="34" charset="0"/>
                          <a:ea typeface="Calibri" pitchFamily="34" charset="-122"/>
                          <a:cs typeface="Calibri" pitchFamily="34" charset="-120"/>
                        </a:rPr>
                        <a:t>Your own reference; must be unique while active</a:t>
                      </a:r>
                      <a:endParaRPr lang="en-US" sz="900" dirty="0">
                        <a:latin typeface="Calibri" charset="0"/>
                        <a:ea typeface="Calibri" charset="0"/>
                        <a:cs typeface="Calibri" charset="0"/>
                      </a:endParaRPr>
                    </a:p>
                  </a:txBody>
                  <a:tcPr marL="76200" marR="76200" marT="38100" marB="38100" anchor="ctr">
                    <a:lnL w="12700" cap="flat" cmpd="sng" algn="ctr">
                      <a:solidFill>
                        <a:srgbClr val="1B1F24"/>
                      </a:solidFill>
                      <a:prstDash val="solid"/>
                      <a:round/>
                      <a:headEnd type="none" w="med" len="med"/>
                      <a:tailEnd type="none" w="med" len="med"/>
                    </a:lnL>
                    <a:lnR w="12700" cap="flat" cmpd="sng" algn="ctr">
                      <a:solidFill>
                        <a:srgbClr val="1B1F24"/>
                      </a:solidFill>
                      <a:prstDash val="solid"/>
                      <a:round/>
                      <a:headEnd type="none" w="med" len="med"/>
                      <a:tailEnd type="none" w="med" len="med"/>
                    </a:lnR>
                    <a:lnT w="12700" cap="flat" cmpd="sng" algn="ctr">
                      <a:solidFill>
                        <a:srgbClr val="1B1F24"/>
                      </a:solidFill>
                      <a:prstDash val="solid"/>
                      <a:round/>
                      <a:headEnd type="none" w="med" len="med"/>
                      <a:tailEnd type="none" w="med" len="med"/>
                    </a:lnT>
                    <a:lnB w="12700" cap="flat" cmpd="sng" algn="ctr">
                      <a:solidFill>
                        <a:srgbClr val="1B1F24"/>
                      </a:solidFill>
                      <a:prstDash val="solid"/>
                      <a:round/>
                      <a:headEnd type="none" w="med" len="med"/>
                      <a:tailEnd type="none" w="med" len="med"/>
                    </a:lnB>
                    <a:solidFill>
                      <a:srgbClr val="2E353D"/>
                    </a:solidFill>
                  </a:tcPr>
                </a:tc>
                <a:extLst>
                  <a:ext uri="{0D108BD9-81ED-4DB2-BD59-A6C34878D82A}">
                    <a16:rowId xmlns:a16="http://schemas.microsoft.com/office/drawing/2014/main" val="10011"/>
                  </a:ext>
                </a:extLst>
              </a:tr>
            </a:tbl>
          </a:graphicData>
        </a:graphic>
      </p:graphicFrame>
      <p:sp>
        <p:nvSpPr>
          <p:cNvPr id="5" name="Text 2"/>
          <p:cNvSpPr/>
          <p:nvPr/>
        </p:nvSpPr>
        <p:spPr>
          <a:xfrm>
            <a:off x="502920" y="4224528"/>
            <a:ext cx="8138160" cy="365760"/>
          </a:xfrm>
          <a:prstGeom prst="rect">
            <a:avLst/>
          </a:prstGeom>
          <a:noFill/>
          <a:ln/>
        </p:spPr>
        <p:txBody>
          <a:bodyPr wrap="square" lIns="0" tIns="0" rIns="0" bIns="0" rtlCol="0" anchor="t"/>
          <a:lstStyle/>
          <a:p>
            <a:pPr marL="0" indent="0" algn="l">
              <a:buNone/>
            </a:pPr>
            <a:r>
              <a:rPr lang="en-US" sz="1050" i="1" dirty="0">
                <a:solidFill>
                  <a:srgbClr val="97A1AC"/>
                </a:solidFill>
                <a:latin typeface="Calibri" pitchFamily="34" charset="0"/>
                <a:ea typeface="Calibri" pitchFamily="34" charset="-122"/>
                <a:cs typeface="Calibri" pitchFamily="34" charset="-120"/>
              </a:rPr>
              <a:t>Market orders must carry neither a price nor a stop price; including either is refused as invalid.</a:t>
            </a:r>
            <a:endParaRPr lang="en-US" sz="1050" dirty="0"/>
          </a:p>
        </p:txBody>
      </p:sp>
      <p:sp>
        <p:nvSpPr>
          <p:cNvPr id="6" name="Text 3"/>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Technical appendix</a:t>
            </a:r>
            <a:endParaRPr lang="en-US" sz="900" dirty="0"/>
          </a:p>
        </p:txBody>
      </p:sp>
      <p:sp>
        <p:nvSpPr>
          <p:cNvPr id="7" name="Text 4"/>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79</a:t>
            </a:r>
            <a:endParaRPr lang="en-US" sz="9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8138160" cy="548640"/>
          </a:xfrm>
          <a:prstGeom prst="rect">
            <a:avLst/>
          </a:prstGeom>
          <a:noFill/>
          <a:ln/>
        </p:spPr>
        <p:txBody>
          <a:bodyPr wrap="square" lIns="0" tIns="0" rIns="0" bIns="0" rtlCol="0" anchor="ctr"/>
          <a:lstStyle/>
          <a:p>
            <a:pPr marL="0" indent="0">
              <a:buNone/>
            </a:pPr>
            <a:r>
              <a:rPr lang="en-US" sz="2700" b="1" dirty="0">
                <a:solidFill>
                  <a:srgbClr val="F3F5F7"/>
                </a:solidFill>
                <a:latin typeface="Trebuchet MS" pitchFamily="34" charset="0"/>
                <a:ea typeface="Trebuchet MS" pitchFamily="34" charset="-122"/>
                <a:cs typeface="Trebuchet MS" pitchFamily="34" charset="-120"/>
              </a:rPr>
              <a:t>Payload examples</a:t>
            </a:r>
            <a:endParaRPr lang="en-US" sz="2700" dirty="0"/>
          </a:p>
        </p:txBody>
      </p:sp>
      <p:sp>
        <p:nvSpPr>
          <p:cNvPr id="3" name="Text 1"/>
          <p:cNvSpPr/>
          <p:nvPr/>
        </p:nvSpPr>
        <p:spPr>
          <a:xfrm>
            <a:off x="502920" y="841248"/>
            <a:ext cx="8138160" cy="237744"/>
          </a:xfrm>
          <a:prstGeom prst="rect">
            <a:avLst/>
          </a:prstGeom>
          <a:noFill/>
          <a:ln/>
        </p:spPr>
        <p:txBody>
          <a:bodyPr wrap="square" lIns="0" tIns="0" rIns="0" bIns="0" rtlCol="0" anchor="ctr"/>
          <a:lstStyle/>
          <a:p>
            <a:pPr marL="0" indent="0">
              <a:buNone/>
            </a:pPr>
            <a:r>
              <a:rPr lang="en-US" sz="1100" b="1" kern="0" spc="200" dirty="0">
                <a:solidFill>
                  <a:srgbClr val="E8722C"/>
                </a:solidFill>
                <a:latin typeface="Calibri" pitchFamily="34" charset="0"/>
                <a:ea typeface="Calibri" pitchFamily="34" charset="-122"/>
                <a:cs typeface="Calibri" pitchFamily="34" charset="-120"/>
              </a:rPr>
              <a:t>APPENDIX · 14 OF 16</a:t>
            </a:r>
            <a:endParaRPr lang="en-US" sz="1100" dirty="0"/>
          </a:p>
        </p:txBody>
      </p:sp>
      <p:sp>
        <p:nvSpPr>
          <p:cNvPr id="4" name="code panel">
            <a:extLst>
              <a:ext uri="{C183D7F6-B498-43B3-948B-1728B52AA6E4}">
                <adec:decorative xmlns:adec="http://schemas.microsoft.com/office/drawing/2017/decorative" val="1"/>
              </a:ext>
            </a:extLst>
          </p:cNvPr>
          <p:cNvSpPr/>
          <p:nvPr/>
        </p:nvSpPr>
        <p:spPr>
          <a:xfrm>
            <a:off x="502920" y="1170432"/>
            <a:ext cx="8138160" cy="1417320"/>
          </a:xfrm>
          <a:prstGeom prst="roundRect">
            <a:avLst>
              <a:gd name="adj" fmla="val 3226"/>
            </a:avLst>
          </a:prstGeom>
          <a:solidFill>
            <a:srgbClr val="121519"/>
          </a:solidFill>
          <a:ln w="12700">
            <a:solidFill>
              <a:srgbClr val="3A424B"/>
            </a:solidFill>
            <a:prstDash val="solid"/>
          </a:ln>
        </p:spPr>
        <p:txBody>
          <a:bodyPr/>
          <a:lstStyle/>
          <a:p>
            <a:endParaRPr lang="en-SE"/>
          </a:p>
        </p:txBody>
      </p:sp>
      <p:sp>
        <p:nvSpPr>
          <p:cNvPr id="5" name="code panel edge">
            <a:extLst>
              <a:ext uri="{C183D7F6-B498-43B3-948B-1728B52AA6E4}">
                <adec:decorative xmlns:adec="http://schemas.microsoft.com/office/drawing/2017/decorative" val="1"/>
              </a:ext>
            </a:extLst>
          </p:cNvPr>
          <p:cNvSpPr/>
          <p:nvPr/>
        </p:nvSpPr>
        <p:spPr>
          <a:xfrm>
            <a:off x="502920" y="1170432"/>
            <a:ext cx="54864" cy="1417320"/>
          </a:xfrm>
          <a:prstGeom prst="rect">
            <a:avLst/>
          </a:prstGeom>
          <a:solidFill>
            <a:srgbClr val="E8722C"/>
          </a:solidFill>
          <a:ln w="12700">
            <a:solidFill>
              <a:srgbClr val="E8722C"/>
            </a:solidFill>
            <a:prstDash val="solid"/>
          </a:ln>
        </p:spPr>
        <p:txBody>
          <a:bodyPr/>
          <a:lstStyle/>
          <a:p>
            <a:endParaRPr lang="en-SE"/>
          </a:p>
        </p:txBody>
      </p:sp>
      <p:sp>
        <p:nvSpPr>
          <p:cNvPr id="6" name="Text 4"/>
          <p:cNvSpPr/>
          <p:nvPr/>
        </p:nvSpPr>
        <p:spPr>
          <a:xfrm>
            <a:off x="704088" y="1298448"/>
            <a:ext cx="7772400" cy="1161288"/>
          </a:xfrm>
          <a:prstGeom prst="rect">
            <a:avLst/>
          </a:prstGeom>
          <a:noFill/>
          <a:ln/>
        </p:spPr>
        <p:txBody>
          <a:bodyPr wrap="square" lIns="0" tIns="0" rIns="0" bIns="0" rtlCol="0" anchor="t"/>
          <a:lstStyle/>
          <a:p>
            <a:pPr marL="0" indent="0">
              <a:buNone/>
            </a:pPr>
            <a:r>
              <a:rPr lang="en-US" sz="1050" b="1" dirty="0">
                <a:solidFill>
                  <a:srgbClr val="E8722C"/>
                </a:solidFill>
                <a:latin typeface="Consolas" pitchFamily="34" charset="0"/>
                <a:ea typeface="Consolas" pitchFamily="34" charset="-122"/>
                <a:cs typeface="Consolas" pitchFamily="34" charset="-120"/>
              </a:rPr>
              <a:t>POST /oco</a:t>
            </a:r>
            <a:endParaRPr lang="en-US" sz="1050" dirty="0"/>
          </a:p>
          <a:p>
            <a:pPr marL="0" indent="0">
              <a:buNone/>
            </a:pPr>
            <a:r>
              <a:rPr lang="en-US" sz="1050" dirty="0">
                <a:solidFill>
                  <a:srgbClr val="D5DAE0"/>
                </a:solidFill>
                <a:latin typeface="Consolas" pitchFamily="34" charset="0"/>
                <a:ea typeface="Consolas" pitchFamily="34" charset="-122"/>
                <a:cs typeface="Consolas" pitchFamily="34" charset="-120"/>
              </a:rPr>
              <a:t>{ "oco_id":"tp-sl-1", "symbol":"AAPL", "quantity":100,</a:t>
            </a:r>
            <a:endParaRPr lang="en-US" sz="1050" dirty="0"/>
          </a:p>
          <a:p>
            <a:pPr marL="0" indent="0">
              <a:buNone/>
            </a:pPr>
            <a:r>
              <a:rPr lang="en-US" sz="1050" dirty="0">
                <a:solidFill>
                  <a:srgbClr val="D5DAE0"/>
                </a:solidFill>
                <a:latin typeface="Consolas" pitchFamily="34" charset="0"/>
                <a:ea typeface="Consolas" pitchFamily="34" charset="-122"/>
                <a:cs typeface="Consolas" pitchFamily="34" charset="-120"/>
              </a:rPr>
              <a:t>  "leg1":{"side":"SELL","order_type":"LIMIT","price":152.0},</a:t>
            </a:r>
            <a:endParaRPr lang="en-US" sz="1050" dirty="0"/>
          </a:p>
          <a:p>
            <a:pPr marL="0" indent="0">
              <a:buNone/>
            </a:pPr>
            <a:r>
              <a:rPr lang="en-US" sz="1050" dirty="0">
                <a:solidFill>
                  <a:srgbClr val="D5DAE0"/>
                </a:solidFill>
                <a:latin typeface="Consolas" pitchFamily="34" charset="0"/>
                <a:ea typeface="Consolas" pitchFamily="34" charset="-122"/>
                <a:cs typeface="Consolas" pitchFamily="34" charset="-120"/>
              </a:rPr>
              <a:t>  "leg2":{"side":"SELL","order_type":"STOP","stop_price":147.0} }</a:t>
            </a:r>
            <a:endParaRPr lang="en-US" sz="1050" dirty="0"/>
          </a:p>
        </p:txBody>
      </p:sp>
      <p:sp>
        <p:nvSpPr>
          <p:cNvPr id="7" name="code panel">
            <a:extLst>
              <a:ext uri="{C183D7F6-B498-43B3-948B-1728B52AA6E4}">
                <adec:decorative xmlns:adec="http://schemas.microsoft.com/office/drawing/2017/decorative" val="1"/>
              </a:ext>
            </a:extLst>
          </p:cNvPr>
          <p:cNvSpPr/>
          <p:nvPr/>
        </p:nvSpPr>
        <p:spPr>
          <a:xfrm>
            <a:off x="502920" y="2697480"/>
            <a:ext cx="8138160" cy="960120"/>
          </a:xfrm>
          <a:prstGeom prst="roundRect">
            <a:avLst>
              <a:gd name="adj" fmla="val 4762"/>
            </a:avLst>
          </a:prstGeom>
          <a:solidFill>
            <a:srgbClr val="121519"/>
          </a:solidFill>
          <a:ln w="12700">
            <a:solidFill>
              <a:srgbClr val="3A424B"/>
            </a:solidFill>
            <a:prstDash val="solid"/>
          </a:ln>
        </p:spPr>
        <p:txBody>
          <a:bodyPr/>
          <a:lstStyle/>
          <a:p>
            <a:endParaRPr lang="en-SE"/>
          </a:p>
        </p:txBody>
      </p:sp>
      <p:sp>
        <p:nvSpPr>
          <p:cNvPr id="8" name="code panel edge">
            <a:extLst>
              <a:ext uri="{C183D7F6-B498-43B3-948B-1728B52AA6E4}">
                <adec:decorative xmlns:adec="http://schemas.microsoft.com/office/drawing/2017/decorative" val="1"/>
              </a:ext>
            </a:extLst>
          </p:cNvPr>
          <p:cNvSpPr/>
          <p:nvPr/>
        </p:nvSpPr>
        <p:spPr>
          <a:xfrm>
            <a:off x="502920" y="2697480"/>
            <a:ext cx="54864" cy="960120"/>
          </a:xfrm>
          <a:prstGeom prst="rect">
            <a:avLst/>
          </a:prstGeom>
          <a:solidFill>
            <a:srgbClr val="35A79C"/>
          </a:solidFill>
          <a:ln w="12700">
            <a:solidFill>
              <a:srgbClr val="35A79C"/>
            </a:solidFill>
            <a:prstDash val="solid"/>
          </a:ln>
        </p:spPr>
        <p:txBody>
          <a:bodyPr/>
          <a:lstStyle/>
          <a:p>
            <a:endParaRPr lang="en-SE"/>
          </a:p>
        </p:txBody>
      </p:sp>
      <p:sp>
        <p:nvSpPr>
          <p:cNvPr id="9" name="Text 7"/>
          <p:cNvSpPr/>
          <p:nvPr/>
        </p:nvSpPr>
        <p:spPr>
          <a:xfrm>
            <a:off x="704088" y="2825496"/>
            <a:ext cx="7772400" cy="704088"/>
          </a:xfrm>
          <a:prstGeom prst="rect">
            <a:avLst/>
          </a:prstGeom>
          <a:noFill/>
          <a:ln/>
        </p:spPr>
        <p:txBody>
          <a:bodyPr wrap="square" lIns="0" tIns="0" rIns="0" bIns="0" rtlCol="0" anchor="t"/>
          <a:lstStyle/>
          <a:p>
            <a:pPr marL="0" indent="0">
              <a:buNone/>
            </a:pPr>
            <a:r>
              <a:rPr lang="en-US" sz="1000" b="1" dirty="0">
                <a:solidFill>
                  <a:srgbClr val="35A79C"/>
                </a:solidFill>
                <a:latin typeface="Consolas" pitchFamily="34" charset="0"/>
                <a:ea typeface="Consolas" pitchFamily="34" charset="-122"/>
                <a:cs typeface="Consolas" pitchFamily="34" charset="-120"/>
              </a:rPr>
              <a:t>POST /combos</a:t>
            </a:r>
            <a:endParaRPr lang="en-US" sz="1000" dirty="0"/>
          </a:p>
          <a:p>
            <a:pPr marL="0" indent="0">
              <a:buNone/>
            </a:pPr>
            <a:r>
              <a:rPr lang="en-US" sz="1000" dirty="0">
                <a:solidFill>
                  <a:srgbClr val="D5DAE0"/>
                </a:solidFill>
                <a:latin typeface="Consolas" pitchFamily="34" charset="0"/>
                <a:ea typeface="Consolas" pitchFamily="34" charset="-122"/>
                <a:cs typeface="Consolas" pitchFamily="34" charset="-120"/>
              </a:rPr>
              <a:t>{ "combo_id":"spread-1", "legs":[ {"symbol":"AAPL","side":"BUY","quantity":100,"price":150.0},</a:t>
            </a:r>
            <a:endParaRPr lang="en-US" sz="1000" dirty="0"/>
          </a:p>
          <a:p>
            <a:pPr marL="0" indent="0">
              <a:buNone/>
            </a:pPr>
            <a:r>
              <a:rPr lang="en-US" sz="1000" dirty="0">
                <a:solidFill>
                  <a:srgbClr val="D5DAE0"/>
                </a:solidFill>
                <a:latin typeface="Consolas" pitchFamily="34" charset="0"/>
                <a:ea typeface="Consolas" pitchFamily="34" charset="-122"/>
                <a:cs typeface="Consolas" pitchFamily="34" charset="-120"/>
              </a:rPr>
              <a:t>                                  {"symbol":"MSFT","side":"SELL","quantity":100,"price":410.0} ] }</a:t>
            </a:r>
            <a:endParaRPr lang="en-US" sz="1000" dirty="0"/>
          </a:p>
        </p:txBody>
      </p:sp>
      <p:sp>
        <p:nvSpPr>
          <p:cNvPr id="10" name="code panel">
            <a:extLst>
              <a:ext uri="{C183D7F6-B498-43B3-948B-1728B52AA6E4}">
                <adec:decorative xmlns:adec="http://schemas.microsoft.com/office/drawing/2017/decorative" val="1"/>
              </a:ext>
            </a:extLst>
          </p:cNvPr>
          <p:cNvSpPr/>
          <p:nvPr/>
        </p:nvSpPr>
        <p:spPr>
          <a:xfrm>
            <a:off x="502920" y="3767328"/>
            <a:ext cx="3977640" cy="777240"/>
          </a:xfrm>
          <a:prstGeom prst="roundRect">
            <a:avLst>
              <a:gd name="adj" fmla="val 5882"/>
            </a:avLst>
          </a:prstGeom>
          <a:solidFill>
            <a:srgbClr val="121519"/>
          </a:solidFill>
          <a:ln w="12700">
            <a:solidFill>
              <a:srgbClr val="3A424B"/>
            </a:solidFill>
            <a:prstDash val="solid"/>
          </a:ln>
        </p:spPr>
        <p:txBody>
          <a:bodyPr/>
          <a:lstStyle/>
          <a:p>
            <a:endParaRPr lang="en-SE"/>
          </a:p>
        </p:txBody>
      </p:sp>
      <p:sp>
        <p:nvSpPr>
          <p:cNvPr id="11" name="code panel edge">
            <a:extLst>
              <a:ext uri="{C183D7F6-B498-43B3-948B-1728B52AA6E4}">
                <adec:decorative xmlns:adec="http://schemas.microsoft.com/office/drawing/2017/decorative" val="1"/>
              </a:ext>
            </a:extLst>
          </p:cNvPr>
          <p:cNvSpPr/>
          <p:nvPr/>
        </p:nvSpPr>
        <p:spPr>
          <a:xfrm>
            <a:off x="502920" y="3767328"/>
            <a:ext cx="54864" cy="777240"/>
          </a:xfrm>
          <a:prstGeom prst="rect">
            <a:avLst/>
          </a:prstGeom>
          <a:solidFill>
            <a:srgbClr val="8B7BD8"/>
          </a:solidFill>
          <a:ln w="12700">
            <a:solidFill>
              <a:srgbClr val="8B7BD8"/>
            </a:solidFill>
            <a:prstDash val="solid"/>
          </a:ln>
        </p:spPr>
        <p:txBody>
          <a:bodyPr/>
          <a:lstStyle/>
          <a:p>
            <a:endParaRPr lang="en-SE"/>
          </a:p>
        </p:txBody>
      </p:sp>
      <p:sp>
        <p:nvSpPr>
          <p:cNvPr id="12" name="Text 10"/>
          <p:cNvSpPr/>
          <p:nvPr/>
        </p:nvSpPr>
        <p:spPr>
          <a:xfrm>
            <a:off x="704088" y="3895344"/>
            <a:ext cx="3611880" cy="521208"/>
          </a:xfrm>
          <a:prstGeom prst="rect">
            <a:avLst/>
          </a:prstGeom>
          <a:noFill/>
          <a:ln/>
        </p:spPr>
        <p:txBody>
          <a:bodyPr wrap="square" lIns="0" tIns="0" rIns="0" bIns="0" rtlCol="0" anchor="t"/>
          <a:lstStyle/>
          <a:p>
            <a:pPr marL="0" indent="0">
              <a:buNone/>
            </a:pPr>
            <a:r>
              <a:rPr lang="en-US" sz="950" b="1" dirty="0">
                <a:solidFill>
                  <a:srgbClr val="8B7BD8"/>
                </a:solidFill>
                <a:latin typeface="Consolas" pitchFamily="34" charset="0"/>
                <a:ea typeface="Consolas" pitchFamily="34" charset="-122"/>
                <a:cs typeface="Consolas" pitchFamily="34" charset="-120"/>
              </a:rPr>
              <a:t>POST /quotes</a:t>
            </a:r>
            <a:endParaRPr lang="en-US" sz="950" dirty="0"/>
          </a:p>
          <a:p>
            <a:pPr marL="0" indent="0">
              <a:buNone/>
            </a:pPr>
            <a:r>
              <a:rPr lang="en-US" sz="950" dirty="0">
                <a:solidFill>
                  <a:srgbClr val="D5DAE0"/>
                </a:solidFill>
                <a:latin typeface="Consolas" pitchFamily="34" charset="0"/>
                <a:ea typeface="Consolas" pitchFamily="34" charset="-122"/>
                <a:cs typeface="Consolas" pitchFamily="34" charset="-120"/>
              </a:rPr>
              <a:t>{ "symbol":"AAPL", "bid_price":150.0,</a:t>
            </a:r>
            <a:endParaRPr lang="en-US" sz="950" dirty="0"/>
          </a:p>
          <a:p>
            <a:pPr marL="0" indent="0">
              <a:buNone/>
            </a:pPr>
            <a:r>
              <a:rPr lang="en-US" sz="950" dirty="0">
                <a:solidFill>
                  <a:srgbClr val="D5DAE0"/>
                </a:solidFill>
                <a:latin typeface="Consolas" pitchFamily="34" charset="0"/>
                <a:ea typeface="Consolas" pitchFamily="34" charset="-122"/>
                <a:cs typeface="Consolas" pitchFamily="34" charset="-120"/>
              </a:rPr>
              <a:t>  "bid_qty":500, "ask_price":150.1, "ask_qty":500 }</a:t>
            </a:r>
            <a:endParaRPr lang="en-US" sz="950" dirty="0"/>
          </a:p>
        </p:txBody>
      </p:sp>
      <p:sp>
        <p:nvSpPr>
          <p:cNvPr id="13" name="code panel">
            <a:extLst>
              <a:ext uri="{C183D7F6-B498-43B3-948B-1728B52AA6E4}">
                <adec:decorative xmlns:adec="http://schemas.microsoft.com/office/drawing/2017/decorative" val="1"/>
              </a:ext>
            </a:extLst>
          </p:cNvPr>
          <p:cNvSpPr/>
          <p:nvPr/>
        </p:nvSpPr>
        <p:spPr>
          <a:xfrm>
            <a:off x="4663440" y="3767328"/>
            <a:ext cx="3977640" cy="777240"/>
          </a:xfrm>
          <a:prstGeom prst="roundRect">
            <a:avLst>
              <a:gd name="adj" fmla="val 5882"/>
            </a:avLst>
          </a:prstGeom>
          <a:solidFill>
            <a:srgbClr val="121519"/>
          </a:solidFill>
          <a:ln w="12700">
            <a:solidFill>
              <a:srgbClr val="3A424B"/>
            </a:solidFill>
            <a:prstDash val="solid"/>
          </a:ln>
        </p:spPr>
        <p:txBody>
          <a:bodyPr/>
          <a:lstStyle/>
          <a:p>
            <a:endParaRPr lang="en-SE"/>
          </a:p>
        </p:txBody>
      </p:sp>
      <p:sp>
        <p:nvSpPr>
          <p:cNvPr id="14" name="code panel edge">
            <a:extLst>
              <a:ext uri="{C183D7F6-B498-43B3-948B-1728B52AA6E4}">
                <adec:decorative xmlns:adec="http://schemas.microsoft.com/office/drawing/2017/decorative" val="1"/>
              </a:ext>
            </a:extLst>
          </p:cNvPr>
          <p:cNvSpPr/>
          <p:nvPr/>
        </p:nvSpPr>
        <p:spPr>
          <a:xfrm>
            <a:off x="4663440" y="3767328"/>
            <a:ext cx="54864" cy="777240"/>
          </a:xfrm>
          <a:prstGeom prst="rect">
            <a:avLst/>
          </a:prstGeom>
          <a:solidFill>
            <a:srgbClr val="F2A65A"/>
          </a:solidFill>
          <a:ln w="12700">
            <a:solidFill>
              <a:srgbClr val="F2A65A"/>
            </a:solidFill>
            <a:prstDash val="solid"/>
          </a:ln>
        </p:spPr>
        <p:txBody>
          <a:bodyPr/>
          <a:lstStyle/>
          <a:p>
            <a:endParaRPr lang="en-SE"/>
          </a:p>
        </p:txBody>
      </p:sp>
      <p:sp>
        <p:nvSpPr>
          <p:cNvPr id="15" name="Text 13"/>
          <p:cNvSpPr/>
          <p:nvPr/>
        </p:nvSpPr>
        <p:spPr>
          <a:xfrm>
            <a:off x="4864608" y="3895344"/>
            <a:ext cx="3611880" cy="521208"/>
          </a:xfrm>
          <a:prstGeom prst="rect">
            <a:avLst/>
          </a:prstGeom>
          <a:noFill/>
          <a:ln/>
        </p:spPr>
        <p:txBody>
          <a:bodyPr wrap="square" lIns="0" tIns="0" rIns="0" bIns="0" rtlCol="0" anchor="t"/>
          <a:lstStyle/>
          <a:p>
            <a:pPr marL="0" indent="0">
              <a:buNone/>
            </a:pPr>
            <a:r>
              <a:rPr lang="en-US" sz="950" b="1" dirty="0">
                <a:solidFill>
                  <a:srgbClr val="F2A65A"/>
                </a:solidFill>
                <a:latin typeface="Consolas" pitchFamily="34" charset="0"/>
                <a:ea typeface="Consolas" pitchFamily="34" charset="-122"/>
                <a:cs typeface="Consolas" pitchFamily="34" charset="-120"/>
              </a:rPr>
              <a:t>POST /mass-cancel</a:t>
            </a:r>
            <a:endParaRPr lang="en-US" sz="950" dirty="0"/>
          </a:p>
          <a:p>
            <a:pPr marL="0" indent="0">
              <a:buNone/>
            </a:pPr>
            <a:r>
              <a:rPr lang="en-US" sz="950" dirty="0">
                <a:solidFill>
                  <a:srgbClr val="D5DAE0"/>
                </a:solidFill>
                <a:latin typeface="Consolas" pitchFamily="34" charset="0"/>
                <a:ea typeface="Consolas" pitchFamily="34" charset="-122"/>
                <a:cs typeface="Consolas" pitchFamily="34" charset="-120"/>
              </a:rPr>
              <a:t>{ "symbol":"AAPL" }   or   {}  for everything</a:t>
            </a:r>
            <a:endParaRPr lang="en-US" sz="950" dirty="0"/>
          </a:p>
        </p:txBody>
      </p:sp>
      <p:sp>
        <p:nvSpPr>
          <p:cNvPr id="16" name="Text 14"/>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Technical appendix</a:t>
            </a:r>
            <a:endParaRPr lang="en-US" sz="900" dirty="0"/>
          </a:p>
        </p:txBody>
      </p:sp>
      <p:sp>
        <p:nvSpPr>
          <p:cNvPr id="17" name="Text 15"/>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80</a:t>
            </a:r>
            <a:endParaRPr lang="en-US" sz="9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8138160" cy="548640"/>
          </a:xfrm>
          <a:prstGeom prst="rect">
            <a:avLst/>
          </a:prstGeom>
          <a:noFill/>
          <a:ln/>
        </p:spPr>
        <p:txBody>
          <a:bodyPr wrap="square" lIns="0" tIns="0" rIns="0" bIns="0" rtlCol="0" anchor="ctr"/>
          <a:lstStyle/>
          <a:p>
            <a:pPr marL="0" indent="0">
              <a:buNone/>
            </a:pPr>
            <a:r>
              <a:rPr lang="en-US" sz="2700" b="1" dirty="0">
                <a:solidFill>
                  <a:srgbClr val="F3F5F7"/>
                </a:solidFill>
                <a:latin typeface="Trebuchet MS" pitchFamily="34" charset="0"/>
                <a:ea typeface="Trebuchet MS" pitchFamily="34" charset="-122"/>
                <a:cs typeface="Trebuchet MS" pitchFamily="34" charset="-120"/>
              </a:rPr>
              <a:t>Design decisions worth knowing</a:t>
            </a:r>
            <a:endParaRPr lang="en-US" sz="2700" dirty="0"/>
          </a:p>
        </p:txBody>
      </p:sp>
      <p:sp>
        <p:nvSpPr>
          <p:cNvPr id="3" name="Text 1"/>
          <p:cNvSpPr/>
          <p:nvPr/>
        </p:nvSpPr>
        <p:spPr>
          <a:xfrm>
            <a:off x="502920" y="841248"/>
            <a:ext cx="8138160" cy="237744"/>
          </a:xfrm>
          <a:prstGeom prst="rect">
            <a:avLst/>
          </a:prstGeom>
          <a:noFill/>
          <a:ln/>
        </p:spPr>
        <p:txBody>
          <a:bodyPr wrap="square" lIns="0" tIns="0" rIns="0" bIns="0" rtlCol="0" anchor="ctr"/>
          <a:lstStyle/>
          <a:p>
            <a:pPr marL="0" indent="0">
              <a:buNone/>
            </a:pPr>
            <a:r>
              <a:rPr lang="en-US" sz="1100" b="1" kern="0" spc="200" dirty="0">
                <a:solidFill>
                  <a:srgbClr val="E8722C"/>
                </a:solidFill>
                <a:latin typeface="Calibri" pitchFamily="34" charset="0"/>
                <a:ea typeface="Calibri" pitchFamily="34" charset="-122"/>
                <a:cs typeface="Calibri" pitchFamily="34" charset="-120"/>
              </a:rPr>
              <a:t>APPENDIX · 15 OF 16</a:t>
            </a:r>
            <a:endParaRPr lang="en-US" sz="1100" dirty="0"/>
          </a:p>
        </p:txBody>
      </p:sp>
      <p:sp>
        <p:nvSpPr>
          <p:cNvPr id="4" name="card background">
            <a:extLst>
              <a:ext uri="{C183D7F6-B498-43B3-948B-1728B52AA6E4}">
                <adec:decorative xmlns:adec="http://schemas.microsoft.com/office/drawing/2017/decorative" val="1"/>
              </a:ext>
            </a:extLst>
          </p:cNvPr>
          <p:cNvSpPr/>
          <p:nvPr/>
        </p:nvSpPr>
        <p:spPr>
          <a:xfrm>
            <a:off x="502920" y="1280160"/>
            <a:ext cx="2566416" cy="1371600"/>
          </a:xfrm>
          <a:prstGeom prst="roundRect">
            <a:avLst>
              <a:gd name="adj" fmla="val 400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5" name="Text 3"/>
          <p:cNvSpPr/>
          <p:nvPr/>
        </p:nvSpPr>
        <p:spPr>
          <a:xfrm>
            <a:off x="722376" y="1463040"/>
            <a:ext cx="2164080" cy="329184"/>
          </a:xfrm>
          <a:prstGeom prst="rect">
            <a:avLst/>
          </a:prstGeom>
          <a:noFill/>
          <a:ln/>
        </p:spPr>
        <p:txBody>
          <a:bodyPr wrap="square" lIns="0" tIns="0" rIns="0" bIns="0" rtlCol="0" anchor="ctr"/>
          <a:lstStyle/>
          <a:p>
            <a:pPr marL="0" indent="0">
              <a:buNone/>
            </a:pPr>
            <a:r>
              <a:rPr lang="en-US" sz="1400" b="1" dirty="0">
                <a:solidFill>
                  <a:srgbClr val="E8722C"/>
                </a:solidFill>
                <a:latin typeface="Trebuchet MS" pitchFamily="34" charset="0"/>
                <a:ea typeface="Trebuchet MS" pitchFamily="34" charset="-122"/>
                <a:cs typeface="Trebuchet MS" pitchFamily="34" charset="-120"/>
              </a:rPr>
              <a:t>One configuration file</a:t>
            </a:r>
            <a:endParaRPr lang="en-US" sz="1400" dirty="0"/>
          </a:p>
        </p:txBody>
      </p:sp>
      <p:sp>
        <p:nvSpPr>
          <p:cNvPr id="6" name="Text 4"/>
          <p:cNvSpPr/>
          <p:nvPr/>
        </p:nvSpPr>
        <p:spPr>
          <a:xfrm>
            <a:off x="722376" y="1828800"/>
            <a:ext cx="2127504" cy="71323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Gateway settings live with the engine's configuration, following the same pattern as the other gateways.</a:t>
            </a:r>
            <a:endParaRPr lang="en-US" sz="1050" dirty="0"/>
          </a:p>
        </p:txBody>
      </p:sp>
      <p:sp>
        <p:nvSpPr>
          <p:cNvPr id="7" name="card background">
            <a:extLst>
              <a:ext uri="{C183D7F6-B498-43B3-948B-1728B52AA6E4}">
                <adec:decorative xmlns:adec="http://schemas.microsoft.com/office/drawing/2017/decorative" val="1"/>
              </a:ext>
            </a:extLst>
          </p:cNvPr>
          <p:cNvSpPr/>
          <p:nvPr/>
        </p:nvSpPr>
        <p:spPr>
          <a:xfrm>
            <a:off x="3288792" y="1280160"/>
            <a:ext cx="2566416" cy="1371600"/>
          </a:xfrm>
          <a:prstGeom prst="roundRect">
            <a:avLst>
              <a:gd name="adj" fmla="val 400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8" name="Text 6"/>
          <p:cNvSpPr/>
          <p:nvPr/>
        </p:nvSpPr>
        <p:spPr>
          <a:xfrm>
            <a:off x="3508248" y="1463040"/>
            <a:ext cx="2164080" cy="329184"/>
          </a:xfrm>
          <a:prstGeom prst="rect">
            <a:avLst/>
          </a:prstGeom>
          <a:noFill/>
          <a:ln/>
        </p:spPr>
        <p:txBody>
          <a:bodyPr wrap="square" lIns="0" tIns="0" rIns="0" bIns="0" rtlCol="0" anchor="ctr"/>
          <a:lstStyle/>
          <a:p>
            <a:pPr marL="0" indent="0">
              <a:buNone/>
            </a:pPr>
            <a:r>
              <a:rPr lang="en-US" sz="1400" b="1" dirty="0">
                <a:solidFill>
                  <a:srgbClr val="35A79C"/>
                </a:solidFill>
                <a:latin typeface="Trebuchet MS" pitchFamily="34" charset="0"/>
                <a:ea typeface="Trebuchet MS" pitchFamily="34" charset="-122"/>
                <a:cs typeface="Trebuchet MS" pitchFamily="34" charset="-120"/>
              </a:rPr>
              <a:t>Identities are exclusive</a:t>
            </a:r>
            <a:endParaRPr lang="en-US" sz="1400" dirty="0"/>
          </a:p>
        </p:txBody>
      </p:sp>
      <p:sp>
        <p:nvSpPr>
          <p:cNvPr id="9" name="Text 7"/>
          <p:cNvSpPr/>
          <p:nvPr/>
        </p:nvSpPr>
        <p:spPr>
          <a:xfrm>
            <a:off x="3508248" y="1828800"/>
            <a:ext cx="2127504" cy="71323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A trading identity belongs to one gateway process, so private session state is never split across two.</a:t>
            </a:r>
            <a:endParaRPr lang="en-US" sz="1050" dirty="0"/>
          </a:p>
        </p:txBody>
      </p:sp>
      <p:sp>
        <p:nvSpPr>
          <p:cNvPr id="10" name="card background">
            <a:extLst>
              <a:ext uri="{C183D7F6-B498-43B3-948B-1728B52AA6E4}">
                <adec:decorative xmlns:adec="http://schemas.microsoft.com/office/drawing/2017/decorative" val="1"/>
              </a:ext>
            </a:extLst>
          </p:cNvPr>
          <p:cNvSpPr/>
          <p:nvPr/>
        </p:nvSpPr>
        <p:spPr>
          <a:xfrm>
            <a:off x="6074664" y="1280160"/>
            <a:ext cx="2566416" cy="1371600"/>
          </a:xfrm>
          <a:prstGeom prst="roundRect">
            <a:avLst>
              <a:gd name="adj" fmla="val 400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1" name="step marker">
            <a:extLst>
              <a:ext uri="{C183D7F6-B498-43B3-948B-1728B52AA6E4}">
                <adec:decorative xmlns:adec="http://schemas.microsoft.com/office/drawing/2017/decorative" val="1"/>
              </a:ext>
            </a:extLst>
          </p:cNvPr>
          <p:cNvSpPr/>
          <p:nvPr/>
        </p:nvSpPr>
        <p:spPr>
          <a:xfrm>
            <a:off x="6275832" y="1463040"/>
            <a:ext cx="310896" cy="310896"/>
          </a:xfrm>
          <a:prstGeom prst="ellipse">
            <a:avLst/>
          </a:prstGeom>
          <a:solidFill>
            <a:srgbClr val="F2A65A"/>
          </a:solidFill>
          <a:ln w="12700">
            <a:solidFill>
              <a:srgbClr val="F2A65A"/>
            </a:solidFill>
            <a:prstDash val="solid"/>
          </a:ln>
        </p:spPr>
        <p:txBody>
          <a:bodyPr/>
          <a:lstStyle/>
          <a:p>
            <a:endParaRPr lang="en-SE"/>
          </a:p>
        </p:txBody>
      </p:sp>
      <p:sp>
        <p:nvSpPr>
          <p:cNvPr id="12" name="Text 10"/>
          <p:cNvSpPr/>
          <p:nvPr/>
        </p:nvSpPr>
        <p:spPr>
          <a:xfrm>
            <a:off x="6275832" y="1463040"/>
            <a:ext cx="310896" cy="310896"/>
          </a:xfrm>
          <a:prstGeom prst="rect">
            <a:avLst/>
          </a:prstGeom>
          <a:noFill/>
          <a:ln/>
        </p:spPr>
        <p:txBody>
          <a:bodyPr wrap="square" lIns="0" tIns="0" rIns="0" bIns="0" rtlCol="0" anchor="ctr"/>
          <a:lstStyle/>
          <a:p>
            <a:pPr marL="0" indent="0" algn="ctr">
              <a:buNone/>
            </a:pPr>
            <a:endParaRPr lang="en-US" sz="1300" dirty="0"/>
          </a:p>
        </p:txBody>
      </p:sp>
      <p:sp>
        <p:nvSpPr>
          <p:cNvPr id="13" name="Text 11"/>
          <p:cNvSpPr/>
          <p:nvPr/>
        </p:nvSpPr>
        <p:spPr>
          <a:xfrm>
            <a:off x="6678168" y="1463040"/>
            <a:ext cx="1780032" cy="329184"/>
          </a:xfrm>
          <a:prstGeom prst="rect">
            <a:avLst/>
          </a:prstGeom>
          <a:noFill/>
          <a:ln/>
        </p:spPr>
        <p:txBody>
          <a:bodyPr wrap="square" lIns="0" tIns="0" rIns="0" bIns="0" rtlCol="0" anchor="ctr"/>
          <a:lstStyle/>
          <a:p>
            <a:pPr marL="0" indent="0">
              <a:buNone/>
            </a:pPr>
            <a:r>
              <a:rPr lang="en-US" sz="1400" b="1" dirty="0">
                <a:solidFill>
                  <a:srgbClr val="F2A65A"/>
                </a:solidFill>
                <a:latin typeface="Trebuchet MS" pitchFamily="34" charset="0"/>
                <a:ea typeface="Trebuchet MS" pitchFamily="34" charset="-122"/>
                <a:cs typeface="Trebuchet MS" pitchFamily="34" charset="-120"/>
              </a:rPr>
              <a:t>Waiting is targeted</a:t>
            </a:r>
            <a:endParaRPr lang="en-US" sz="1400" dirty="0"/>
          </a:p>
        </p:txBody>
      </p:sp>
      <p:sp>
        <p:nvSpPr>
          <p:cNvPr id="14" name="Text 12"/>
          <p:cNvSpPr/>
          <p:nvPr/>
        </p:nvSpPr>
        <p:spPr>
          <a:xfrm>
            <a:off x="6294120" y="1828800"/>
            <a:ext cx="2127504" cy="71323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A waiting request resolves on the event matching its own order, so parallel calls never take each other's answer.</a:t>
            </a:r>
            <a:endParaRPr lang="en-US" sz="1050" dirty="0"/>
          </a:p>
        </p:txBody>
      </p:sp>
      <p:sp>
        <p:nvSpPr>
          <p:cNvPr id="15" name="card background">
            <a:extLst>
              <a:ext uri="{C183D7F6-B498-43B3-948B-1728B52AA6E4}">
                <adec:decorative xmlns:adec="http://schemas.microsoft.com/office/drawing/2017/decorative" val="1"/>
              </a:ext>
            </a:extLst>
          </p:cNvPr>
          <p:cNvSpPr/>
          <p:nvPr/>
        </p:nvSpPr>
        <p:spPr>
          <a:xfrm>
            <a:off x="502920" y="2852928"/>
            <a:ext cx="2566416" cy="1371600"/>
          </a:xfrm>
          <a:prstGeom prst="roundRect">
            <a:avLst>
              <a:gd name="adj" fmla="val 400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6" name="step marker">
            <a:extLst>
              <a:ext uri="{C183D7F6-B498-43B3-948B-1728B52AA6E4}">
                <adec:decorative xmlns:adec="http://schemas.microsoft.com/office/drawing/2017/decorative" val="1"/>
              </a:ext>
            </a:extLst>
          </p:cNvPr>
          <p:cNvSpPr/>
          <p:nvPr/>
        </p:nvSpPr>
        <p:spPr>
          <a:xfrm>
            <a:off x="704088" y="3035808"/>
            <a:ext cx="310896" cy="310896"/>
          </a:xfrm>
          <a:prstGeom prst="ellipse">
            <a:avLst/>
          </a:prstGeom>
          <a:solidFill>
            <a:srgbClr val="8B7BD8"/>
          </a:solidFill>
          <a:ln w="12700">
            <a:solidFill>
              <a:srgbClr val="8B7BD8"/>
            </a:solidFill>
            <a:prstDash val="solid"/>
          </a:ln>
        </p:spPr>
        <p:txBody>
          <a:bodyPr/>
          <a:lstStyle/>
          <a:p>
            <a:endParaRPr lang="en-SE"/>
          </a:p>
        </p:txBody>
      </p:sp>
      <p:sp>
        <p:nvSpPr>
          <p:cNvPr id="17" name="Text 15"/>
          <p:cNvSpPr/>
          <p:nvPr/>
        </p:nvSpPr>
        <p:spPr>
          <a:xfrm>
            <a:off x="704088" y="3035808"/>
            <a:ext cx="310896" cy="310896"/>
          </a:xfrm>
          <a:prstGeom prst="rect">
            <a:avLst/>
          </a:prstGeom>
          <a:noFill/>
          <a:ln/>
        </p:spPr>
        <p:txBody>
          <a:bodyPr wrap="square" lIns="0" tIns="0" rIns="0" bIns="0" rtlCol="0" anchor="ctr"/>
          <a:lstStyle/>
          <a:p>
            <a:pPr marL="0" indent="0" algn="ctr">
              <a:buNone/>
            </a:pPr>
            <a:endParaRPr lang="en-US" sz="1300" dirty="0"/>
          </a:p>
        </p:txBody>
      </p:sp>
      <p:sp>
        <p:nvSpPr>
          <p:cNvPr id="18" name="Text 16"/>
          <p:cNvSpPr/>
          <p:nvPr/>
        </p:nvSpPr>
        <p:spPr>
          <a:xfrm>
            <a:off x="1106424" y="3035808"/>
            <a:ext cx="1780032" cy="329184"/>
          </a:xfrm>
          <a:prstGeom prst="rect">
            <a:avLst/>
          </a:prstGeom>
          <a:noFill/>
          <a:ln/>
        </p:spPr>
        <p:txBody>
          <a:bodyPr wrap="square" lIns="0" tIns="0" rIns="0" bIns="0" rtlCol="0" anchor="ctr"/>
          <a:lstStyle/>
          <a:p>
            <a:pPr marL="0" indent="0">
              <a:buNone/>
            </a:pPr>
            <a:r>
              <a:rPr lang="en-US" sz="1400" b="1" dirty="0">
                <a:solidFill>
                  <a:srgbClr val="8B7BD8"/>
                </a:solidFill>
                <a:latin typeface="Trebuchet MS" pitchFamily="34" charset="0"/>
                <a:ea typeface="Trebuchet MS" pitchFamily="34" charset="-122"/>
                <a:cs typeface="Trebuchet MS" pitchFamily="34" charset="-120"/>
              </a:rPr>
              <a:t>Replace is cancel-then-submit</a:t>
            </a:r>
            <a:endParaRPr lang="en-US" sz="1400" dirty="0"/>
          </a:p>
        </p:txBody>
      </p:sp>
      <p:sp>
        <p:nvSpPr>
          <p:cNvPr id="19" name="Text 17"/>
          <p:cNvSpPr/>
          <p:nvPr/>
        </p:nvSpPr>
        <p:spPr>
          <a:xfrm>
            <a:off x="722376" y="3401568"/>
            <a:ext cx="2127504" cy="71323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The cancel is confirmed before the replacement is sent, and the replacement carries a full order body.</a:t>
            </a:r>
            <a:endParaRPr lang="en-US" sz="1050" dirty="0"/>
          </a:p>
        </p:txBody>
      </p:sp>
      <p:sp>
        <p:nvSpPr>
          <p:cNvPr id="20" name="card background">
            <a:extLst>
              <a:ext uri="{C183D7F6-B498-43B3-948B-1728B52AA6E4}">
                <adec:decorative xmlns:adec="http://schemas.microsoft.com/office/drawing/2017/decorative" val="1"/>
              </a:ext>
            </a:extLst>
          </p:cNvPr>
          <p:cNvSpPr/>
          <p:nvPr/>
        </p:nvSpPr>
        <p:spPr>
          <a:xfrm>
            <a:off x="3288792" y="2852928"/>
            <a:ext cx="2566416" cy="1371600"/>
          </a:xfrm>
          <a:prstGeom prst="roundRect">
            <a:avLst>
              <a:gd name="adj" fmla="val 400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21" name="Text 19"/>
          <p:cNvSpPr/>
          <p:nvPr/>
        </p:nvSpPr>
        <p:spPr>
          <a:xfrm>
            <a:off x="3508248" y="3035808"/>
            <a:ext cx="2164080" cy="329184"/>
          </a:xfrm>
          <a:prstGeom prst="rect">
            <a:avLst/>
          </a:prstGeom>
          <a:noFill/>
          <a:ln/>
        </p:spPr>
        <p:txBody>
          <a:bodyPr wrap="square" lIns="0" tIns="0" rIns="0" bIns="0" rtlCol="0" anchor="ctr"/>
          <a:lstStyle/>
          <a:p>
            <a:pPr marL="0" indent="0">
              <a:buNone/>
            </a:pPr>
            <a:r>
              <a:rPr lang="en-US" sz="1400" b="1" dirty="0">
                <a:solidFill>
                  <a:srgbClr val="35A79C"/>
                </a:solidFill>
                <a:latin typeface="Trebuchet MS" pitchFamily="34" charset="0"/>
                <a:ea typeface="Trebuchet MS" pitchFamily="34" charset="-122"/>
                <a:cs typeface="Trebuchet MS" pitchFamily="34" charset="-120"/>
              </a:rPr>
              <a:t>Events stay close to the engine</a:t>
            </a:r>
            <a:endParaRPr lang="en-US" sz="1400" dirty="0"/>
          </a:p>
        </p:txBody>
      </p:sp>
      <p:sp>
        <p:nvSpPr>
          <p:cNvPr id="22" name="Text 20"/>
          <p:cNvSpPr/>
          <p:nvPr/>
        </p:nvSpPr>
        <p:spPr>
          <a:xfrm>
            <a:off x="3508248" y="3401568"/>
            <a:ext cx="2127504" cy="71323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Outbound events are wrapped in a consistent envelope but otherwise keep the engine's own payloads.</a:t>
            </a:r>
            <a:endParaRPr lang="en-US" sz="1050" dirty="0"/>
          </a:p>
        </p:txBody>
      </p:sp>
      <p:sp>
        <p:nvSpPr>
          <p:cNvPr id="23" name="card background">
            <a:extLst>
              <a:ext uri="{C183D7F6-B498-43B3-948B-1728B52AA6E4}">
                <adec:decorative xmlns:adec="http://schemas.microsoft.com/office/drawing/2017/decorative" val="1"/>
              </a:ext>
            </a:extLst>
          </p:cNvPr>
          <p:cNvSpPr/>
          <p:nvPr/>
        </p:nvSpPr>
        <p:spPr>
          <a:xfrm>
            <a:off x="6074664" y="2852928"/>
            <a:ext cx="2566416" cy="1371600"/>
          </a:xfrm>
          <a:prstGeom prst="roundRect">
            <a:avLst>
              <a:gd name="adj" fmla="val 4000"/>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24" name="Text 22"/>
          <p:cNvSpPr/>
          <p:nvPr/>
        </p:nvSpPr>
        <p:spPr>
          <a:xfrm>
            <a:off x="6294120" y="3035808"/>
            <a:ext cx="2164080" cy="329184"/>
          </a:xfrm>
          <a:prstGeom prst="rect">
            <a:avLst/>
          </a:prstGeom>
          <a:noFill/>
          <a:ln/>
        </p:spPr>
        <p:txBody>
          <a:bodyPr wrap="square" lIns="0" tIns="0" rIns="0" bIns="0" rtlCol="0" anchor="ctr"/>
          <a:lstStyle/>
          <a:p>
            <a:pPr marL="0" indent="0">
              <a:buNone/>
            </a:pPr>
            <a:r>
              <a:rPr lang="en-US" sz="1400" b="1" dirty="0">
                <a:solidFill>
                  <a:srgbClr val="D9534F"/>
                </a:solidFill>
                <a:latin typeface="Trebuchet MS" pitchFamily="34" charset="0"/>
                <a:ea typeface="Trebuchet MS" pitchFamily="34" charset="-122"/>
                <a:cs typeface="Trebuchet MS" pitchFamily="34" charset="-120"/>
              </a:rPr>
              <a:t>History is optional at start-up</a:t>
            </a:r>
            <a:endParaRPr lang="en-US" sz="1400" dirty="0"/>
          </a:p>
        </p:txBody>
      </p:sp>
      <p:sp>
        <p:nvSpPr>
          <p:cNvPr id="25" name="Text 23"/>
          <p:cNvSpPr/>
          <p:nvPr/>
        </p:nvSpPr>
        <p:spPr>
          <a:xfrm>
            <a:off x="6294120" y="3401568"/>
            <a:ext cx="2127504" cy="713232"/>
          </a:xfrm>
          <a:prstGeom prst="rect">
            <a:avLst/>
          </a:prstGeom>
          <a:noFill/>
          <a:ln/>
        </p:spPr>
        <p:txBody>
          <a:bodyPr wrap="square" lIns="0" tIns="0" rIns="0" bIns="0" rtlCol="0" anchor="t"/>
          <a:lstStyle/>
          <a:p>
            <a:pPr marL="0" indent="0">
              <a:buNone/>
            </a:pPr>
            <a:r>
              <a:rPr lang="en-US" sz="1050" dirty="0">
                <a:solidFill>
                  <a:srgbClr val="D5DAE0"/>
                </a:solidFill>
                <a:latin typeface="Calibri" pitchFamily="34" charset="0"/>
                <a:ea typeface="Calibri" pitchFamily="34" charset="-122"/>
                <a:cs typeface="Calibri" pitchFamily="34" charset="-120"/>
              </a:rPr>
              <a:t>A missing history database does not stop the gateway; only the history endpoints are affected.</a:t>
            </a:r>
            <a:endParaRPr lang="en-US" sz="1050" dirty="0"/>
          </a:p>
        </p:txBody>
      </p:sp>
      <p:sp>
        <p:nvSpPr>
          <p:cNvPr id="26" name="Text 24"/>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Technical appendix</a:t>
            </a:r>
            <a:endParaRPr lang="en-US" sz="900" dirty="0"/>
          </a:p>
        </p:txBody>
      </p:sp>
      <p:sp>
        <p:nvSpPr>
          <p:cNvPr id="27" name="Text 25"/>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81</a:t>
            </a:r>
            <a:endParaRPr lang="en-US" sz="9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02920" y="310896"/>
            <a:ext cx="8138160" cy="548640"/>
          </a:xfrm>
          <a:prstGeom prst="rect">
            <a:avLst/>
          </a:prstGeom>
          <a:noFill/>
          <a:ln/>
        </p:spPr>
        <p:txBody>
          <a:bodyPr wrap="square" lIns="0" tIns="0" rIns="0" bIns="0" rtlCol="0" anchor="ctr"/>
          <a:lstStyle/>
          <a:p>
            <a:pPr marL="0" indent="0">
              <a:buNone/>
            </a:pPr>
            <a:r>
              <a:rPr lang="en-US" sz="2700" b="1" dirty="0">
                <a:solidFill>
                  <a:srgbClr val="F3F5F7"/>
                </a:solidFill>
                <a:latin typeface="Trebuchet MS" pitchFamily="34" charset="0"/>
                <a:ea typeface="Trebuchet MS" pitchFamily="34" charset="-122"/>
                <a:cs typeface="Trebuchet MS" pitchFamily="34" charset="-120"/>
              </a:rPr>
              <a:t>Known limits and edges</a:t>
            </a:r>
            <a:endParaRPr lang="en-US" sz="2700" dirty="0"/>
          </a:p>
        </p:txBody>
      </p:sp>
      <p:sp>
        <p:nvSpPr>
          <p:cNvPr id="3" name="Text 1"/>
          <p:cNvSpPr/>
          <p:nvPr/>
        </p:nvSpPr>
        <p:spPr>
          <a:xfrm>
            <a:off x="502920" y="841248"/>
            <a:ext cx="8138160" cy="237744"/>
          </a:xfrm>
          <a:prstGeom prst="rect">
            <a:avLst/>
          </a:prstGeom>
          <a:noFill/>
          <a:ln/>
        </p:spPr>
        <p:txBody>
          <a:bodyPr wrap="square" lIns="0" tIns="0" rIns="0" bIns="0" rtlCol="0" anchor="ctr"/>
          <a:lstStyle/>
          <a:p>
            <a:pPr marL="0" indent="0">
              <a:buNone/>
            </a:pPr>
            <a:r>
              <a:rPr lang="en-US" sz="1100" b="1" kern="0" spc="200" dirty="0">
                <a:solidFill>
                  <a:srgbClr val="E8722C"/>
                </a:solidFill>
                <a:latin typeface="Calibri" pitchFamily="34" charset="0"/>
                <a:ea typeface="Calibri" pitchFamily="34" charset="-122"/>
                <a:cs typeface="Calibri" pitchFamily="34" charset="-120"/>
              </a:rPr>
              <a:t>APPENDIX · 16 OF 16</a:t>
            </a:r>
            <a:endParaRPr lang="en-US" sz="1100" dirty="0"/>
          </a:p>
        </p:txBody>
      </p:sp>
      <p:sp>
        <p:nvSpPr>
          <p:cNvPr id="4" name="card background">
            <a:extLst>
              <a:ext uri="{C183D7F6-B498-43B3-948B-1728B52AA6E4}">
                <adec:decorative xmlns:adec="http://schemas.microsoft.com/office/drawing/2017/decorative" val="1"/>
              </a:ext>
            </a:extLst>
          </p:cNvPr>
          <p:cNvSpPr/>
          <p:nvPr/>
        </p:nvSpPr>
        <p:spPr>
          <a:xfrm>
            <a:off x="502920" y="1234440"/>
            <a:ext cx="3959352" cy="2514600"/>
          </a:xfrm>
          <a:prstGeom prst="roundRect">
            <a:avLst>
              <a:gd name="adj" fmla="val 2182"/>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5" name="card top edge">
            <a:extLst>
              <a:ext uri="{C183D7F6-B498-43B3-948B-1728B52AA6E4}">
                <adec:decorative xmlns:adec="http://schemas.microsoft.com/office/drawing/2017/decorative" val="1"/>
              </a:ext>
            </a:extLst>
          </p:cNvPr>
          <p:cNvSpPr/>
          <p:nvPr/>
        </p:nvSpPr>
        <p:spPr>
          <a:xfrm>
            <a:off x="502920" y="1234440"/>
            <a:ext cx="3959352" cy="73152"/>
          </a:xfrm>
          <a:prstGeom prst="rect">
            <a:avLst/>
          </a:prstGeom>
          <a:solidFill>
            <a:srgbClr val="D9534F"/>
          </a:solidFill>
          <a:ln w="12700">
            <a:solidFill>
              <a:srgbClr val="D9534F"/>
            </a:solidFill>
            <a:prstDash val="solid"/>
          </a:ln>
        </p:spPr>
        <p:txBody>
          <a:bodyPr/>
          <a:lstStyle/>
          <a:p>
            <a:endParaRPr lang="en-SE"/>
          </a:p>
        </p:txBody>
      </p:sp>
      <p:sp>
        <p:nvSpPr>
          <p:cNvPr id="6" name="Text 4"/>
          <p:cNvSpPr/>
          <p:nvPr/>
        </p:nvSpPr>
        <p:spPr>
          <a:xfrm>
            <a:off x="740664" y="1453896"/>
            <a:ext cx="3502152" cy="365760"/>
          </a:xfrm>
          <a:prstGeom prst="rect">
            <a:avLst/>
          </a:prstGeom>
          <a:noFill/>
          <a:ln/>
        </p:spPr>
        <p:txBody>
          <a:bodyPr wrap="square" lIns="0" tIns="0" rIns="0" bIns="0" rtlCol="0" anchor="ctr"/>
          <a:lstStyle/>
          <a:p>
            <a:pPr marL="0" indent="0">
              <a:buNone/>
            </a:pPr>
            <a:r>
              <a:rPr lang="en-US" sz="1700" b="1" dirty="0">
                <a:solidFill>
                  <a:srgbClr val="D9534F"/>
                </a:solidFill>
                <a:latin typeface="Trebuchet MS" pitchFamily="34" charset="0"/>
                <a:ea typeface="Trebuchet MS" pitchFamily="34" charset="-122"/>
                <a:cs typeface="Trebuchet MS" pitchFamily="34" charset="-120"/>
              </a:rPr>
              <a:t>Not exposed here</a:t>
            </a:r>
            <a:endParaRPr lang="en-US" sz="1700" dirty="0"/>
          </a:p>
        </p:txBody>
      </p:sp>
      <p:sp>
        <p:nvSpPr>
          <p:cNvPr id="7" name="Text 5"/>
          <p:cNvSpPr/>
          <p:nvPr/>
        </p:nvSpPr>
        <p:spPr>
          <a:xfrm>
            <a:off x="740664" y="1929384"/>
            <a:ext cx="3502152" cy="1636776"/>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Adding or editing instruments while the engine runs</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Index administration: corporate actions and constituent changes</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These live with dedicated tools, not with this gateway</a:t>
            </a:r>
            <a:endParaRPr lang="en-US" sz="1150" dirty="0"/>
          </a:p>
        </p:txBody>
      </p:sp>
      <p:sp>
        <p:nvSpPr>
          <p:cNvPr id="8" name="card background">
            <a:extLst>
              <a:ext uri="{C183D7F6-B498-43B3-948B-1728B52AA6E4}">
                <adec:decorative xmlns:adec="http://schemas.microsoft.com/office/drawing/2017/decorative" val="1"/>
              </a:ext>
            </a:extLst>
          </p:cNvPr>
          <p:cNvSpPr/>
          <p:nvPr/>
        </p:nvSpPr>
        <p:spPr>
          <a:xfrm>
            <a:off x="4681728" y="1234440"/>
            <a:ext cx="3959352" cy="2514600"/>
          </a:xfrm>
          <a:prstGeom prst="roundRect">
            <a:avLst>
              <a:gd name="adj" fmla="val 2182"/>
            </a:avLst>
          </a:prstGeom>
          <a:solidFill>
            <a:srgbClr val="252B32"/>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9" name="card top edge">
            <a:extLst>
              <a:ext uri="{C183D7F6-B498-43B3-948B-1728B52AA6E4}">
                <adec:decorative xmlns:adec="http://schemas.microsoft.com/office/drawing/2017/decorative" val="1"/>
              </a:ext>
            </a:extLst>
          </p:cNvPr>
          <p:cNvSpPr/>
          <p:nvPr/>
        </p:nvSpPr>
        <p:spPr>
          <a:xfrm>
            <a:off x="4681728" y="1234440"/>
            <a:ext cx="3959352" cy="73152"/>
          </a:xfrm>
          <a:prstGeom prst="rect">
            <a:avLst/>
          </a:prstGeom>
          <a:solidFill>
            <a:srgbClr val="F2A65A"/>
          </a:solidFill>
          <a:ln w="12700">
            <a:solidFill>
              <a:srgbClr val="F2A65A"/>
            </a:solidFill>
            <a:prstDash val="solid"/>
          </a:ln>
        </p:spPr>
        <p:txBody>
          <a:bodyPr/>
          <a:lstStyle/>
          <a:p>
            <a:endParaRPr lang="en-SE"/>
          </a:p>
        </p:txBody>
      </p:sp>
      <p:sp>
        <p:nvSpPr>
          <p:cNvPr id="10" name="Text 8"/>
          <p:cNvSpPr/>
          <p:nvPr/>
        </p:nvSpPr>
        <p:spPr>
          <a:xfrm>
            <a:off x="4919472" y="1453896"/>
            <a:ext cx="3502152" cy="365760"/>
          </a:xfrm>
          <a:prstGeom prst="rect">
            <a:avLst/>
          </a:prstGeom>
          <a:noFill/>
          <a:ln/>
        </p:spPr>
        <p:txBody>
          <a:bodyPr wrap="square" lIns="0" tIns="0" rIns="0" bIns="0" rtlCol="0" anchor="ctr"/>
          <a:lstStyle/>
          <a:p>
            <a:pPr marL="0" indent="0">
              <a:buNone/>
            </a:pPr>
            <a:r>
              <a:rPr lang="en-US" sz="1700" b="1" dirty="0">
                <a:solidFill>
                  <a:srgbClr val="F2A65A"/>
                </a:solidFill>
                <a:latin typeface="Trebuchet MS" pitchFamily="34" charset="0"/>
                <a:ea typeface="Trebuchet MS" pitchFamily="34" charset="-122"/>
                <a:cs typeface="Trebuchet MS" pitchFamily="34" charset="-120"/>
              </a:rPr>
              <a:t>Behavioural edges</a:t>
            </a:r>
            <a:endParaRPr lang="en-US" sz="1700" dirty="0"/>
          </a:p>
        </p:txBody>
      </p:sp>
      <p:sp>
        <p:nvSpPr>
          <p:cNvPr id="11" name="Text 9"/>
          <p:cNvSpPr/>
          <p:nvPr/>
        </p:nvSpPr>
        <p:spPr>
          <a:xfrm>
            <a:off x="4919472" y="1929384"/>
            <a:ext cx="3502152" cy="1636776"/>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Reading one order by identifier returns a plain not-found body, unlike every other error</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A halt level may be supplied but is not currently forwarded</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Today's index close keeps moving until the session is marked closed</a:t>
            </a:r>
            <a:endParaRPr lang="en-US" sz="1150" dirty="0"/>
          </a:p>
          <a:p>
            <a:pPr marL="342900" indent="-342900">
              <a:spcAft>
                <a:spcPts val="600"/>
              </a:spcAft>
              <a:buSzPct val="100000"/>
              <a:buChar char="▪"/>
            </a:pPr>
            <a:r>
              <a:rPr lang="en-US" sz="1150" dirty="0">
                <a:solidFill>
                  <a:srgbClr val="D5DAE0"/>
                </a:solidFill>
                <a:latin typeface="Calibri" pitchFamily="34" charset="0"/>
                <a:ea typeface="Calibri" pitchFamily="34" charset="-122"/>
                <a:cs typeface="Calibri" pitchFamily="34" charset="-120"/>
              </a:rPr>
              <a:t>Snapshots are recorded periodically, so they are not a substitute for a live feed</a:t>
            </a:r>
            <a:endParaRPr lang="en-US" sz="1150" dirty="0"/>
          </a:p>
        </p:txBody>
      </p:sp>
      <p:sp>
        <p:nvSpPr>
          <p:cNvPr id="12" name="card background">
            <a:extLst>
              <a:ext uri="{C183D7F6-B498-43B3-948B-1728B52AA6E4}">
                <adec:decorative xmlns:adec="http://schemas.microsoft.com/office/drawing/2017/decorative" val="1"/>
              </a:ext>
            </a:extLst>
          </p:cNvPr>
          <p:cNvSpPr/>
          <p:nvPr/>
        </p:nvSpPr>
        <p:spPr>
          <a:xfrm>
            <a:off x="502920" y="3913632"/>
            <a:ext cx="8138160" cy="566928"/>
          </a:xfrm>
          <a:prstGeom prst="roundRect">
            <a:avLst>
              <a:gd name="adj" fmla="val 9677"/>
            </a:avLst>
          </a:prstGeom>
          <a:solidFill>
            <a:srgbClr val="2E353D"/>
          </a:solidFill>
          <a:ln w="12700">
            <a:solidFill>
              <a:srgbClr val="3A424B"/>
            </a:solidFill>
            <a:prstDash val="solid"/>
          </a:ln>
          <a:effectLst>
            <a:outerShdw blurRad="127000" dist="38100" dir="5400000" algn="bl" rotWithShape="0">
              <a:srgbClr val="000000">
                <a:alpha val="28000"/>
              </a:srgbClr>
            </a:outerShdw>
          </a:effectLst>
        </p:spPr>
        <p:txBody>
          <a:bodyPr/>
          <a:lstStyle/>
          <a:p>
            <a:endParaRPr lang="en-SE"/>
          </a:p>
        </p:txBody>
      </p:sp>
      <p:sp>
        <p:nvSpPr>
          <p:cNvPr id="13" name="Text 11"/>
          <p:cNvSpPr/>
          <p:nvPr/>
        </p:nvSpPr>
        <p:spPr>
          <a:xfrm>
            <a:off x="713232" y="3950208"/>
            <a:ext cx="7680960" cy="493776"/>
          </a:xfrm>
          <a:prstGeom prst="rect">
            <a:avLst/>
          </a:prstGeom>
          <a:noFill/>
          <a:ln/>
        </p:spPr>
        <p:txBody>
          <a:bodyPr wrap="square" lIns="0" tIns="0" rIns="0" bIns="0" rtlCol="0" anchor="ctr"/>
          <a:lstStyle/>
          <a:p>
            <a:pPr marL="0" indent="0">
              <a:buNone/>
            </a:pPr>
            <a:r>
              <a:rPr lang="en-US" sz="1100" dirty="0">
                <a:solidFill>
                  <a:srgbClr val="D5DAE0"/>
                </a:solidFill>
                <a:latin typeface="Calibri" pitchFamily="34" charset="0"/>
                <a:ea typeface="Calibri" pitchFamily="34" charset="-122"/>
                <a:cs typeface="Calibri" pitchFamily="34" charset="-120"/>
              </a:rPr>
              <a:t>For teaching and local laboratories the keys sit in plain text. Any real deployment belongs behind encryption, with secrets managed by the surrounding platform.</a:t>
            </a:r>
            <a:endParaRPr lang="en-US" sz="1100" dirty="0"/>
          </a:p>
        </p:txBody>
      </p:sp>
      <p:sp>
        <p:nvSpPr>
          <p:cNvPr id="14" name="Text 12"/>
          <p:cNvSpPr/>
          <p:nvPr/>
        </p:nvSpPr>
        <p:spPr>
          <a:xfrm>
            <a:off x="502920" y="4718304"/>
            <a:ext cx="5943600" cy="274320"/>
          </a:xfrm>
          <a:prstGeom prst="rect">
            <a:avLst/>
          </a:prstGeom>
          <a:noFill/>
          <a:ln/>
        </p:spPr>
        <p:txBody>
          <a:bodyPr wrap="square" lIns="0" tIns="0" rIns="0" bIns="0" rtlCol="0" anchor="ctr"/>
          <a:lstStyle/>
          <a:p>
            <a:pPr marL="0" indent="0">
              <a:buNone/>
            </a:pPr>
            <a:r>
              <a:rPr lang="en-US" sz="900" dirty="0">
                <a:solidFill>
                  <a:srgbClr val="97A1AC"/>
                </a:solidFill>
                <a:latin typeface="Calibri" pitchFamily="34" charset="0"/>
                <a:ea typeface="Calibri" pitchFamily="34" charset="-122"/>
                <a:cs typeface="Calibri" pitchFamily="34" charset="-120"/>
              </a:rPr>
              <a:t>EduMatcher API Gateway  ·  Technical appendix</a:t>
            </a:r>
            <a:endParaRPr lang="en-US" sz="900" dirty="0"/>
          </a:p>
        </p:txBody>
      </p:sp>
      <p:sp>
        <p:nvSpPr>
          <p:cNvPr id="15" name="Text 13"/>
          <p:cNvSpPr/>
          <p:nvPr/>
        </p:nvSpPr>
        <p:spPr>
          <a:xfrm>
            <a:off x="8001000" y="4718304"/>
            <a:ext cx="640080" cy="274320"/>
          </a:xfrm>
          <a:prstGeom prst="rect">
            <a:avLst/>
          </a:prstGeom>
          <a:noFill/>
          <a:ln/>
        </p:spPr>
        <p:txBody>
          <a:bodyPr wrap="square" lIns="0" tIns="0" rIns="0" bIns="0" rtlCol="0" anchor="ctr"/>
          <a:lstStyle/>
          <a:p>
            <a:pPr marL="0" indent="0" algn="r">
              <a:buNone/>
            </a:pPr>
            <a:r>
              <a:rPr lang="en-US" sz="900" dirty="0">
                <a:solidFill>
                  <a:srgbClr val="97A1AC"/>
                </a:solidFill>
                <a:latin typeface="Calibri" pitchFamily="34" charset="0"/>
                <a:ea typeface="Calibri" pitchFamily="34" charset="-122"/>
                <a:cs typeface="Calibri" pitchFamily="34" charset="-120"/>
              </a:rPr>
              <a:t>82</a:t>
            </a:r>
            <a:endParaRPr lang="en-US" sz="9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bottom band">
            <a:extLst>
              <a:ext uri="{C183D7F6-B498-43B3-948B-1728B52AA6E4}">
                <adec:decorative xmlns:adec="http://schemas.microsoft.com/office/drawing/2017/decorative" val="1"/>
              </a:ext>
            </a:extLst>
          </p:cNvPr>
          <p:cNvSpPr/>
          <p:nvPr/>
        </p:nvSpPr>
        <p:spPr>
          <a:xfrm>
            <a:off x="0" y="4480560"/>
            <a:ext cx="9144000" cy="658368"/>
          </a:xfrm>
          <a:prstGeom prst="rect">
            <a:avLst/>
          </a:prstGeom>
          <a:solidFill>
            <a:srgbClr val="E8722C"/>
          </a:solidFill>
          <a:ln w="12700">
            <a:solidFill>
              <a:srgbClr val="E8722C"/>
            </a:solidFill>
            <a:prstDash val="solid"/>
          </a:ln>
        </p:spPr>
        <p:txBody>
          <a:bodyPr/>
          <a:lstStyle/>
          <a:p>
            <a:endParaRPr lang="en-SE"/>
          </a:p>
        </p:txBody>
      </p:sp>
      <p:sp>
        <p:nvSpPr>
          <p:cNvPr id="3" name="Text 0"/>
          <p:cNvSpPr>
            <a:spLocks noGrp="1"/>
          </p:cNvSpPr>
          <p:nvPr>
            <p:ph type="title" idx="100" hasCustomPrompt="1"/>
          </p:nvPr>
        </p:nvSpPr>
        <p:spPr>
          <a:xfrm>
            <a:off x="1005840" y="2148840"/>
            <a:ext cx="7132320" cy="914400"/>
          </a:xfrm>
          <a:prstGeom prst="rect">
            <a:avLst/>
          </a:prstGeom>
          <a:noFill/>
          <a:ln/>
        </p:spPr>
        <p:txBody>
          <a:bodyPr wrap="square" lIns="0" tIns="0" rIns="0" bIns="0" rtlCol="0"/>
          <a:lstStyle/>
          <a:p>
            <a:pPr marL="0" indent="0" algn="l">
              <a:buNone/>
            </a:pPr>
            <a:r>
              <a:rPr lang="en-US" sz="3600" b="1" dirty="0">
                <a:solidFill>
                  <a:srgbClr val="F3F5F7"/>
                </a:solidFill>
                <a:latin typeface="Trebuchet MS" pitchFamily="34" charset="0"/>
                <a:ea typeface="Trebuchet MS" pitchFamily="34" charset="-122"/>
                <a:cs typeface="Trebuchet MS" pitchFamily="34" charset="-120"/>
              </a:rPr>
              <a:t>Start here</a:t>
            </a:r>
            <a:endParaRPr lang="en-US" sz="3600" dirty="0"/>
          </a:p>
        </p:txBody>
      </p:sp>
      <p:sp>
        <p:nvSpPr>
          <p:cNvPr id="4" name="Text 2"/>
          <p:cNvSpPr/>
          <p:nvPr/>
        </p:nvSpPr>
        <p:spPr>
          <a:xfrm>
            <a:off x="1005840" y="1600200"/>
            <a:ext cx="7132320" cy="365760"/>
          </a:xfrm>
          <a:prstGeom prst="rect">
            <a:avLst/>
          </a:prstGeom>
          <a:noFill/>
          <a:ln/>
        </p:spPr>
        <p:txBody>
          <a:bodyPr wrap="square" lIns="0" tIns="0" rIns="0" bIns="0" rtlCol="0" anchor="ctr"/>
          <a:lstStyle/>
          <a:p>
            <a:pPr marL="0" indent="0">
              <a:buNone/>
            </a:pPr>
            <a:r>
              <a:rPr lang="en-US" sz="1300" b="1" kern="0" spc="300" dirty="0">
                <a:solidFill>
                  <a:srgbClr val="E8722C"/>
                </a:solidFill>
                <a:latin typeface="Calibri" pitchFamily="34" charset="0"/>
                <a:ea typeface="Calibri" pitchFamily="34" charset="-122"/>
                <a:cs typeface="Calibri" pitchFamily="34" charset="-120"/>
              </a:rPr>
              <a:t>EDUMATCHER API GATEWAY</a:t>
            </a:r>
            <a:endParaRPr lang="en-US" sz="1300" dirty="0"/>
          </a:p>
        </p:txBody>
      </p:sp>
      <p:sp>
        <p:nvSpPr>
          <p:cNvPr id="5" name="Text 3"/>
          <p:cNvSpPr/>
          <p:nvPr/>
        </p:nvSpPr>
        <p:spPr>
          <a:xfrm>
            <a:off x="1024128" y="3200400"/>
            <a:ext cx="6766560" cy="1005840"/>
          </a:xfrm>
          <a:prstGeom prst="rect">
            <a:avLst/>
          </a:prstGeom>
          <a:noFill/>
          <a:ln/>
        </p:spPr>
        <p:txBody>
          <a:bodyPr wrap="square" lIns="0" tIns="0" rIns="0" bIns="0" rtlCol="0" anchor="ctr"/>
          <a:lstStyle/>
          <a:p>
            <a:pPr marL="0" indent="0">
              <a:buNone/>
            </a:pPr>
            <a:r>
              <a:rPr lang="en-US" sz="1400" dirty="0">
                <a:solidFill>
                  <a:srgbClr val="D5DAE0"/>
                </a:solidFill>
                <a:latin typeface="Calibri" pitchFamily="34" charset="0"/>
                <a:ea typeface="Calibri" pitchFamily="34" charset="-122"/>
                <a:cs typeface="Calibri" pitchFamily="34" charset="-120"/>
              </a:rPr>
              <a:t>Open the interactive documentation, authorise with a demo key, and call the status endpoint. Everything in this deck follows from that first successful request.</a:t>
            </a:r>
            <a:endParaRPr lang="en-US" sz="1400" dirty="0"/>
          </a:p>
        </p:txBody>
      </p:sp>
      <p:sp>
        <p:nvSpPr>
          <p:cNvPr id="6" name="Text 4"/>
          <p:cNvSpPr/>
          <p:nvPr/>
        </p:nvSpPr>
        <p:spPr>
          <a:xfrm>
            <a:off x="1024128" y="4553712"/>
            <a:ext cx="6766560" cy="457200"/>
          </a:xfrm>
          <a:prstGeom prst="rect">
            <a:avLst/>
          </a:prstGeom>
          <a:noFill/>
          <a:ln/>
        </p:spPr>
        <p:txBody>
          <a:bodyPr wrap="square" lIns="0" tIns="0" rIns="0" bIns="0" rtlCol="0" anchor="ctr"/>
          <a:lstStyle/>
          <a:p>
            <a:pPr marL="0" indent="0">
              <a:buNone/>
            </a:pPr>
            <a:r>
              <a:rPr lang="en-US" sz="1400" b="1" dirty="0">
                <a:solidFill>
                  <a:srgbClr val="17191C"/>
                </a:solidFill>
                <a:latin typeface="Consolas" pitchFamily="34" charset="0"/>
                <a:ea typeface="Consolas" pitchFamily="34" charset="-122"/>
                <a:cs typeface="Consolas" pitchFamily="34" charset="-120"/>
              </a:rPr>
              <a:t>http://127.0.0.1:8080/docs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TotalTime>
  <Words>10382</Words>
  <Application>Microsoft Macintosh PowerPoint</Application>
  <PresentationFormat>On-screen Show (16:9)</PresentationFormat>
  <Paragraphs>1714</Paragraphs>
  <Slides>83</Slides>
  <Notes>83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83</vt:i4>
      </vt:variant>
    </vt:vector>
  </HeadingPairs>
  <TitlesOfParts>
    <vt:vector size="88" baseType="lpstr">
      <vt:lpstr>Arial</vt:lpstr>
      <vt:lpstr>Calibri</vt:lpstr>
      <vt:lpstr>Consolas</vt:lpstr>
      <vt:lpstr>Trebuchet MS</vt:lpstr>
      <vt:lpstr>Office Theme</vt:lpstr>
      <vt:lpstr>The EduMatcher API Gateway</vt:lpstr>
      <vt:lpstr>What this deck covers</vt:lpstr>
      <vt:lpstr>Orientation</vt:lpstr>
      <vt:lpstr>EduMatcher in one picture</vt:lpstr>
      <vt:lpstr>Why the gateway exists</vt:lpstr>
      <vt:lpstr>What it is — and what it is not</vt:lpstr>
      <vt:lpstr>Who sits on the other side</vt:lpstr>
      <vt:lpstr>Inside the gateway</vt:lpstr>
      <vt:lpstr>The gateway among its siblings</vt:lpstr>
      <vt:lpstr>Which protocol should I use?</vt:lpstr>
      <vt:lpstr>REST and WebSocket</vt:lpstr>
      <vt:lpstr>Two conversation styles</vt:lpstr>
      <vt:lpstr>Push versus pull, illustrated</vt:lpstr>
      <vt:lpstr>Choosing between them</vt:lpstr>
      <vt:lpstr>Real clients use both</vt:lpstr>
      <vt:lpstr>Synchronous or fire-and-forget?</vt:lpstr>
      <vt:lpstr>Getting connected</vt:lpstr>
      <vt:lpstr>The five-minute path</vt:lpstr>
      <vt:lpstr>Configuration lives with the engine</vt:lpstr>
      <vt:lpstr>Two identities, two levels of power</vt:lpstr>
      <vt:lpstr>Starting the processes</vt:lpstr>
      <vt:lpstr>Command-line overrides</vt:lpstr>
      <vt:lpstr>Your first two calls</vt:lpstr>
      <vt:lpstr>The interactive documentation</vt:lpstr>
      <vt:lpstr>API keys and access</vt:lpstr>
      <vt:lpstr>One key, two ways to present it</vt:lpstr>
      <vt:lpstr>What a key is allowed to do</vt:lpstr>
      <vt:lpstr>Where the admin role comes from</vt:lpstr>
      <vt:lpstr>Handling keys sensibly</vt:lpstr>
      <vt:lpstr>The client library pattern</vt:lpstr>
      <vt:lpstr>What flows through</vt:lpstr>
      <vt:lpstr>Six categories of information</vt:lpstr>
      <vt:lpstr>Direction of travel</vt:lpstr>
      <vt:lpstr>Order entry, beyond a single order</vt:lpstr>
      <vt:lpstr>The life of an order</vt:lpstr>
      <vt:lpstr>Reference and account data</vt:lpstr>
      <vt:lpstr>Live market data</vt:lpstr>
      <vt:lpstr>Recorded history</vt:lpstr>
      <vt:lpstr>Administration</vt:lpstr>
      <vt:lpstr>The shape of the data</vt:lpstr>
      <vt:lpstr>Five shapes to learn</vt:lpstr>
      <vt:lpstr>A request, field by field</vt:lpstr>
      <vt:lpstr>Conditional fields, explained</vt:lpstr>
      <vt:lpstr>What comes back from a write</vt:lpstr>
      <vt:lpstr>Lists arrive in pages</vt:lpstr>
      <vt:lpstr>Why cursors, not page numbers</vt:lpstr>
      <vt:lpstr>Events look the same every time</vt:lpstr>
      <vt:lpstr>Subscribing to market data</vt:lpstr>
      <vt:lpstr>When things go wrong</vt:lpstr>
      <vt:lpstr>Errors are data, not surprises</vt:lpstr>
      <vt:lpstr>The status code at a glance</vt:lpstr>
      <vt:lpstr>The error codes you will actually meet</vt:lpstr>
      <vt:lpstr>How to react to each family</vt:lpstr>
      <vt:lpstr>The most common first-day problems</vt:lpstr>
      <vt:lpstr>Checking connectivity from the shell</vt:lpstr>
      <vt:lpstr>Client recipes</vt:lpstr>
      <vt:lpstr>Recipe 1 — a trading bot</vt:lpstr>
      <vt:lpstr>Recipe 2 — a live dashboard</vt:lpstr>
      <vt:lpstr>Recipe 3 — a research script</vt:lpstr>
      <vt:lpstr>A minimal order from the command line</vt:lpstr>
      <vt:lpstr>Habits of a well-behaved client</vt:lpstr>
      <vt:lpstr>Before you call it done</vt:lpstr>
      <vt:lpstr>Finding out more</vt:lpstr>
      <vt:lpstr>Four places to look</vt:lpstr>
      <vt:lpstr>What to take away</vt:lpstr>
      <vt:lpstr>Technical appendix</vt:lpstr>
      <vt:lpstr>Where API keys actually come from</vt:lpstr>
      <vt:lpstr>Why there are no passwords</vt:lpstr>
      <vt:lpstr>Two lists must agree</vt:lpstr>
      <vt:lpstr>Getting a key that works, step by step</vt:lpstr>
      <vt:lpstr>Reading the refusal</vt:lpstr>
      <vt:lpstr>Handing the key to your client</vt:lpstr>
      <vt:lpstr>REST endpoints — order entry</vt:lpstr>
      <vt:lpstr>REST endpoints — state and reference</vt:lpstr>
      <vt:lpstr>REST endpoints — history</vt:lpstr>
      <vt:lpstr>History query parameters</vt:lpstr>
      <vt:lpstr>Admin endpoints</vt:lpstr>
      <vt:lpstr>WebSocket streams and channels</vt:lpstr>
      <vt:lpstr>Order fields in full</vt:lpstr>
      <vt:lpstr>Payload examples</vt:lpstr>
      <vt:lpstr>Design decisions worth knowing</vt:lpstr>
      <vt:lpstr>Known limits and edges</vt:lpstr>
      <vt:lpstr>Start here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Johan Persson</dc:creator>
  <cp:lastModifiedBy>Johan Persson</cp:lastModifiedBy>
  <cp:revision>2</cp:revision>
  <dcterms:created xsi:type="dcterms:W3CDTF">2026-08-04T08:23:11Z</dcterms:created>
  <dcterms:modified xsi:type="dcterms:W3CDTF">2026-08-04T09:16:03Z</dcterms:modified>
</cp:coreProperties>
</file>