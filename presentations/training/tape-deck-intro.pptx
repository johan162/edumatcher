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08"/>
    <p:restoredTop sz="94651"/>
  </p:normalViewPr>
  <p:slideViewPr>
    <p:cSldViewPr snapToGrid="0">
      <p:cViewPr varScale="1">
        <p:scale>
          <a:sx n="138" d="100"/>
          <a:sy n="138" d="100"/>
        </p:scale>
        <p:origin x="49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M">
    <p:bg>
      <p:bgPr>
        <a:solidFill>
          <a:srgbClr val="13171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0"/>
            <a:ext cx="6949440" cy="164592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M">
    <p:bg>
      <p:bgPr>
        <a:solidFill>
          <a:srgbClr val="13171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371600" y="2788920"/>
            <a:ext cx="9418320" cy="100584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M">
    <p:bg>
      <p:bgPr>
        <a:solidFill>
          <a:srgbClr val="13171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384048"/>
            <a:ext cx="10058400" cy="566928"/>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6917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82296"/>
          </a:xfrm>
          <a:prstGeom prst="rect">
            <a:avLst/>
          </a:prstGeom>
          <a:solidFill>
            <a:srgbClr val="3FE08A"/>
          </a:solidFill>
          <a:ln w="12700">
            <a:solidFill>
              <a:srgbClr val="333333"/>
            </a:solidFill>
            <a:prstDash val="solid"/>
          </a:ln>
        </p:spPr>
        <p:txBody>
          <a:bodyPr/>
          <a:lstStyle/>
          <a:p>
            <a:endParaRPr lang="en-SE"/>
          </a:p>
        </p:txBody>
      </p:sp>
      <p:sp>
        <p:nvSpPr>
          <p:cNvPr id="29" name="chart panel">
            <a:extLst>
              <a:ext uri="{C183D7F6-B498-43B3-948B-1728B52AA6E4}">
                <adec:decorative xmlns:adec="http://schemas.microsoft.com/office/drawing/2017/decorative" val="1"/>
              </a:ext>
            </a:extLst>
          </p:cNvPr>
          <p:cNvSpPr/>
          <p:nvPr/>
        </p:nvSpPr>
        <p:spPr>
          <a:xfrm>
            <a:off x="8138160" y="1051560"/>
            <a:ext cx="3520440" cy="4754880"/>
          </a:xfrm>
          <a:prstGeom prst="rect">
            <a:avLst/>
          </a:prstGeom>
          <a:solidFill>
            <a:srgbClr val="191E23"/>
          </a:solidFill>
          <a:ln w="12700">
            <a:solidFill>
              <a:srgbClr val="313B44"/>
            </a:solidFill>
            <a:prstDash val="solid"/>
          </a:ln>
        </p:spPr>
        <p:txBody>
          <a:bodyPr/>
          <a:lstStyle/>
          <a:p>
            <a:endParaRPr lang="en-SE"/>
          </a:p>
        </p:txBody>
      </p:sp>
      <p:sp>
        <p:nvSpPr>
          <p:cNvPr id="30" name="candle wick">
            <a:extLst>
              <a:ext uri="{C183D7F6-B498-43B3-948B-1728B52AA6E4}">
                <adec:decorative xmlns:adec="http://schemas.microsoft.com/office/drawing/2017/decorative" val="1"/>
              </a:ext>
            </a:extLst>
          </p:cNvPr>
          <p:cNvSpPr/>
          <p:nvPr/>
        </p:nvSpPr>
        <p:spPr>
          <a:xfrm>
            <a:off x="8494776" y="3291840"/>
            <a:ext cx="0" cy="960120"/>
          </a:xfrm>
          <a:prstGeom prst="line">
            <a:avLst/>
          </a:prstGeom>
          <a:noFill/>
          <a:ln w="12700">
            <a:solidFill>
              <a:srgbClr val="3FE08A"/>
            </a:solidFill>
            <a:prstDash val="solid"/>
          </a:ln>
        </p:spPr>
        <p:txBody>
          <a:bodyPr/>
          <a:lstStyle/>
          <a:p>
            <a:endParaRPr lang="en-SE"/>
          </a:p>
        </p:txBody>
      </p:sp>
      <p:sp>
        <p:nvSpPr>
          <p:cNvPr id="31" name="candlestick body">
            <a:extLst>
              <a:ext uri="{C183D7F6-B498-43B3-948B-1728B52AA6E4}">
                <adec:decorative xmlns:adec="http://schemas.microsoft.com/office/drawing/2017/decorative" val="1"/>
              </a:ext>
            </a:extLst>
          </p:cNvPr>
          <p:cNvSpPr/>
          <p:nvPr/>
        </p:nvSpPr>
        <p:spPr>
          <a:xfrm>
            <a:off x="8412480" y="3429000"/>
            <a:ext cx="173736" cy="640080"/>
          </a:xfrm>
          <a:prstGeom prst="rect">
            <a:avLst/>
          </a:prstGeom>
          <a:solidFill>
            <a:srgbClr val="3FE08A"/>
          </a:solidFill>
          <a:ln w="12700">
            <a:solidFill>
              <a:srgbClr val="333333"/>
            </a:solidFill>
            <a:prstDash val="solid"/>
          </a:ln>
        </p:spPr>
        <p:txBody>
          <a:bodyPr/>
          <a:lstStyle/>
          <a:p>
            <a:endParaRPr lang="en-SE"/>
          </a:p>
        </p:txBody>
      </p:sp>
      <p:sp>
        <p:nvSpPr>
          <p:cNvPr id="32" name="candle wick">
            <a:extLst>
              <a:ext uri="{C183D7F6-B498-43B3-948B-1728B52AA6E4}">
                <adec:decorative xmlns:adec="http://schemas.microsoft.com/office/drawing/2017/decorative" val="1"/>
              </a:ext>
            </a:extLst>
          </p:cNvPr>
          <p:cNvSpPr/>
          <p:nvPr/>
        </p:nvSpPr>
        <p:spPr>
          <a:xfrm>
            <a:off x="8787384" y="3063240"/>
            <a:ext cx="0" cy="822960"/>
          </a:xfrm>
          <a:prstGeom prst="line">
            <a:avLst/>
          </a:prstGeom>
          <a:noFill/>
          <a:ln w="12700">
            <a:solidFill>
              <a:srgbClr val="3FE08A"/>
            </a:solidFill>
            <a:prstDash val="solid"/>
          </a:ln>
        </p:spPr>
        <p:txBody>
          <a:bodyPr/>
          <a:lstStyle/>
          <a:p>
            <a:endParaRPr lang="en-SE"/>
          </a:p>
        </p:txBody>
      </p:sp>
      <p:sp>
        <p:nvSpPr>
          <p:cNvPr id="33" name="candlestick body">
            <a:extLst>
              <a:ext uri="{C183D7F6-B498-43B3-948B-1728B52AA6E4}">
                <adec:decorative xmlns:adec="http://schemas.microsoft.com/office/drawing/2017/decorative" val="1"/>
              </a:ext>
            </a:extLst>
          </p:cNvPr>
          <p:cNvSpPr/>
          <p:nvPr/>
        </p:nvSpPr>
        <p:spPr>
          <a:xfrm>
            <a:off x="8705088" y="3154680"/>
            <a:ext cx="173736" cy="640080"/>
          </a:xfrm>
          <a:prstGeom prst="rect">
            <a:avLst/>
          </a:prstGeom>
          <a:solidFill>
            <a:srgbClr val="3FE08A"/>
          </a:solidFill>
          <a:ln w="12700">
            <a:solidFill>
              <a:srgbClr val="333333"/>
            </a:solidFill>
            <a:prstDash val="solid"/>
          </a:ln>
        </p:spPr>
        <p:txBody>
          <a:bodyPr/>
          <a:lstStyle/>
          <a:p>
            <a:endParaRPr lang="en-SE"/>
          </a:p>
        </p:txBody>
      </p:sp>
      <p:sp>
        <p:nvSpPr>
          <p:cNvPr id="34" name="candle wick">
            <a:extLst>
              <a:ext uri="{C183D7F6-B498-43B3-948B-1728B52AA6E4}">
                <adec:decorative xmlns:adec="http://schemas.microsoft.com/office/drawing/2017/decorative" val="1"/>
              </a:ext>
            </a:extLst>
          </p:cNvPr>
          <p:cNvSpPr/>
          <p:nvPr/>
        </p:nvSpPr>
        <p:spPr>
          <a:xfrm>
            <a:off x="9079992" y="2743200"/>
            <a:ext cx="0" cy="914400"/>
          </a:xfrm>
          <a:prstGeom prst="line">
            <a:avLst/>
          </a:prstGeom>
          <a:noFill/>
          <a:ln w="12700">
            <a:solidFill>
              <a:srgbClr val="EF5B63"/>
            </a:solidFill>
            <a:prstDash val="solid"/>
          </a:ln>
        </p:spPr>
        <p:txBody>
          <a:bodyPr/>
          <a:lstStyle/>
          <a:p>
            <a:endParaRPr lang="en-SE"/>
          </a:p>
        </p:txBody>
      </p:sp>
      <p:sp>
        <p:nvSpPr>
          <p:cNvPr id="35" name="candlestick body">
            <a:extLst>
              <a:ext uri="{C183D7F6-B498-43B3-948B-1728B52AA6E4}">
                <adec:decorative xmlns:adec="http://schemas.microsoft.com/office/drawing/2017/decorative" val="1"/>
              </a:ext>
            </a:extLst>
          </p:cNvPr>
          <p:cNvSpPr/>
          <p:nvPr/>
        </p:nvSpPr>
        <p:spPr>
          <a:xfrm>
            <a:off x="8997696" y="2880360"/>
            <a:ext cx="173736" cy="594360"/>
          </a:xfrm>
          <a:prstGeom prst="rect">
            <a:avLst/>
          </a:prstGeom>
          <a:solidFill>
            <a:srgbClr val="EF5B63"/>
          </a:solidFill>
          <a:ln w="12700">
            <a:solidFill>
              <a:srgbClr val="333333"/>
            </a:solidFill>
            <a:prstDash val="solid"/>
          </a:ln>
        </p:spPr>
        <p:txBody>
          <a:bodyPr/>
          <a:lstStyle/>
          <a:p>
            <a:endParaRPr lang="en-SE"/>
          </a:p>
        </p:txBody>
      </p:sp>
      <p:sp>
        <p:nvSpPr>
          <p:cNvPr id="36" name="candle wick">
            <a:extLst>
              <a:ext uri="{C183D7F6-B498-43B3-948B-1728B52AA6E4}">
                <adec:decorative xmlns:adec="http://schemas.microsoft.com/office/drawing/2017/decorative" val="1"/>
              </a:ext>
            </a:extLst>
          </p:cNvPr>
          <p:cNvSpPr/>
          <p:nvPr/>
        </p:nvSpPr>
        <p:spPr>
          <a:xfrm>
            <a:off x="9372600" y="3017520"/>
            <a:ext cx="0" cy="822960"/>
          </a:xfrm>
          <a:prstGeom prst="line">
            <a:avLst/>
          </a:prstGeom>
          <a:noFill/>
          <a:ln w="12700">
            <a:solidFill>
              <a:srgbClr val="3FE08A"/>
            </a:solidFill>
            <a:prstDash val="solid"/>
          </a:ln>
        </p:spPr>
        <p:txBody>
          <a:bodyPr/>
          <a:lstStyle/>
          <a:p>
            <a:endParaRPr lang="en-SE"/>
          </a:p>
        </p:txBody>
      </p:sp>
      <p:sp>
        <p:nvSpPr>
          <p:cNvPr id="37" name="candlestick body">
            <a:extLst>
              <a:ext uri="{C183D7F6-B498-43B3-948B-1728B52AA6E4}">
                <adec:decorative xmlns:adec="http://schemas.microsoft.com/office/drawing/2017/decorative" val="1"/>
              </a:ext>
            </a:extLst>
          </p:cNvPr>
          <p:cNvSpPr/>
          <p:nvPr/>
        </p:nvSpPr>
        <p:spPr>
          <a:xfrm>
            <a:off x="9290304" y="3154680"/>
            <a:ext cx="173736" cy="548640"/>
          </a:xfrm>
          <a:prstGeom prst="rect">
            <a:avLst/>
          </a:prstGeom>
          <a:solidFill>
            <a:srgbClr val="3FE08A"/>
          </a:solidFill>
          <a:ln w="12700">
            <a:solidFill>
              <a:srgbClr val="333333"/>
            </a:solidFill>
            <a:prstDash val="solid"/>
          </a:ln>
        </p:spPr>
        <p:txBody>
          <a:bodyPr/>
          <a:lstStyle/>
          <a:p>
            <a:endParaRPr lang="en-SE"/>
          </a:p>
        </p:txBody>
      </p:sp>
      <p:sp>
        <p:nvSpPr>
          <p:cNvPr id="38" name="candle wick">
            <a:extLst>
              <a:ext uri="{C183D7F6-B498-43B3-948B-1728B52AA6E4}">
                <adec:decorative xmlns:adec="http://schemas.microsoft.com/office/drawing/2017/decorative" val="1"/>
              </a:ext>
            </a:extLst>
          </p:cNvPr>
          <p:cNvSpPr/>
          <p:nvPr/>
        </p:nvSpPr>
        <p:spPr>
          <a:xfrm>
            <a:off x="9665208" y="2514600"/>
            <a:ext cx="0" cy="960120"/>
          </a:xfrm>
          <a:prstGeom prst="line">
            <a:avLst/>
          </a:prstGeom>
          <a:noFill/>
          <a:ln w="12700">
            <a:solidFill>
              <a:srgbClr val="3FE08A"/>
            </a:solidFill>
            <a:prstDash val="solid"/>
          </a:ln>
        </p:spPr>
        <p:txBody>
          <a:bodyPr/>
          <a:lstStyle/>
          <a:p>
            <a:endParaRPr lang="en-SE"/>
          </a:p>
        </p:txBody>
      </p:sp>
      <p:sp>
        <p:nvSpPr>
          <p:cNvPr id="39" name="candlestick body">
            <a:extLst>
              <a:ext uri="{C183D7F6-B498-43B3-948B-1728B52AA6E4}">
                <adec:decorative xmlns:adec="http://schemas.microsoft.com/office/drawing/2017/decorative" val="1"/>
              </a:ext>
            </a:extLst>
          </p:cNvPr>
          <p:cNvSpPr/>
          <p:nvPr/>
        </p:nvSpPr>
        <p:spPr>
          <a:xfrm>
            <a:off x="9582912" y="2606040"/>
            <a:ext cx="173736" cy="731520"/>
          </a:xfrm>
          <a:prstGeom prst="rect">
            <a:avLst/>
          </a:prstGeom>
          <a:solidFill>
            <a:srgbClr val="3FE08A"/>
          </a:solidFill>
          <a:ln w="12700">
            <a:solidFill>
              <a:srgbClr val="333333"/>
            </a:solidFill>
            <a:prstDash val="solid"/>
          </a:ln>
        </p:spPr>
        <p:txBody>
          <a:bodyPr/>
          <a:lstStyle/>
          <a:p>
            <a:endParaRPr lang="en-SE"/>
          </a:p>
        </p:txBody>
      </p:sp>
      <p:sp>
        <p:nvSpPr>
          <p:cNvPr id="40" name="candle wick">
            <a:extLst>
              <a:ext uri="{C183D7F6-B498-43B3-948B-1728B52AA6E4}">
                <adec:decorative xmlns:adec="http://schemas.microsoft.com/office/drawing/2017/decorative" val="1"/>
              </a:ext>
            </a:extLst>
          </p:cNvPr>
          <p:cNvSpPr/>
          <p:nvPr/>
        </p:nvSpPr>
        <p:spPr>
          <a:xfrm>
            <a:off x="9957816" y="2286000"/>
            <a:ext cx="0" cy="822960"/>
          </a:xfrm>
          <a:prstGeom prst="line">
            <a:avLst/>
          </a:prstGeom>
          <a:noFill/>
          <a:ln w="12700">
            <a:solidFill>
              <a:srgbClr val="EF5B63"/>
            </a:solidFill>
            <a:prstDash val="solid"/>
          </a:ln>
        </p:spPr>
        <p:txBody>
          <a:bodyPr/>
          <a:lstStyle/>
          <a:p>
            <a:endParaRPr lang="en-SE"/>
          </a:p>
        </p:txBody>
      </p:sp>
      <p:sp>
        <p:nvSpPr>
          <p:cNvPr id="41" name="candlestick body">
            <a:extLst>
              <a:ext uri="{C183D7F6-B498-43B3-948B-1728B52AA6E4}">
                <adec:decorative xmlns:adec="http://schemas.microsoft.com/office/drawing/2017/decorative" val="1"/>
              </a:ext>
            </a:extLst>
          </p:cNvPr>
          <p:cNvSpPr/>
          <p:nvPr/>
        </p:nvSpPr>
        <p:spPr>
          <a:xfrm>
            <a:off x="9875520" y="2423160"/>
            <a:ext cx="173736" cy="457200"/>
          </a:xfrm>
          <a:prstGeom prst="rect">
            <a:avLst/>
          </a:prstGeom>
          <a:solidFill>
            <a:srgbClr val="EF5B63"/>
          </a:solidFill>
          <a:ln w="12700">
            <a:solidFill>
              <a:srgbClr val="333333"/>
            </a:solidFill>
            <a:prstDash val="solid"/>
          </a:ln>
        </p:spPr>
        <p:txBody>
          <a:bodyPr/>
          <a:lstStyle/>
          <a:p>
            <a:endParaRPr lang="en-SE"/>
          </a:p>
        </p:txBody>
      </p:sp>
      <p:sp>
        <p:nvSpPr>
          <p:cNvPr id="42" name="candle wick">
            <a:extLst>
              <a:ext uri="{C183D7F6-B498-43B3-948B-1728B52AA6E4}">
                <adec:decorative xmlns:adec="http://schemas.microsoft.com/office/drawing/2017/decorative" val="1"/>
              </a:ext>
            </a:extLst>
          </p:cNvPr>
          <p:cNvSpPr/>
          <p:nvPr/>
        </p:nvSpPr>
        <p:spPr>
          <a:xfrm>
            <a:off x="10250424" y="2423160"/>
            <a:ext cx="0" cy="777240"/>
          </a:xfrm>
          <a:prstGeom prst="line">
            <a:avLst/>
          </a:prstGeom>
          <a:noFill/>
          <a:ln w="12700">
            <a:solidFill>
              <a:srgbClr val="3FE08A"/>
            </a:solidFill>
            <a:prstDash val="solid"/>
          </a:ln>
        </p:spPr>
        <p:txBody>
          <a:bodyPr/>
          <a:lstStyle/>
          <a:p>
            <a:endParaRPr lang="en-SE"/>
          </a:p>
        </p:txBody>
      </p:sp>
      <p:sp>
        <p:nvSpPr>
          <p:cNvPr id="43" name="candlestick body">
            <a:extLst>
              <a:ext uri="{C183D7F6-B498-43B3-948B-1728B52AA6E4}">
                <adec:decorative xmlns:adec="http://schemas.microsoft.com/office/drawing/2017/decorative" val="1"/>
              </a:ext>
            </a:extLst>
          </p:cNvPr>
          <p:cNvSpPr/>
          <p:nvPr/>
        </p:nvSpPr>
        <p:spPr>
          <a:xfrm>
            <a:off x="10168128" y="2560320"/>
            <a:ext cx="173736" cy="502920"/>
          </a:xfrm>
          <a:prstGeom prst="rect">
            <a:avLst/>
          </a:prstGeom>
          <a:solidFill>
            <a:srgbClr val="3FE08A"/>
          </a:solidFill>
          <a:ln w="12700">
            <a:solidFill>
              <a:srgbClr val="333333"/>
            </a:solidFill>
            <a:prstDash val="solid"/>
          </a:ln>
        </p:spPr>
        <p:txBody>
          <a:bodyPr/>
          <a:lstStyle/>
          <a:p>
            <a:endParaRPr lang="en-SE"/>
          </a:p>
        </p:txBody>
      </p:sp>
      <p:sp>
        <p:nvSpPr>
          <p:cNvPr id="44" name="candle wick">
            <a:extLst>
              <a:ext uri="{C183D7F6-B498-43B3-948B-1728B52AA6E4}">
                <adec:decorative xmlns:adec="http://schemas.microsoft.com/office/drawing/2017/decorative" val="1"/>
              </a:ext>
            </a:extLst>
          </p:cNvPr>
          <p:cNvSpPr/>
          <p:nvPr/>
        </p:nvSpPr>
        <p:spPr>
          <a:xfrm>
            <a:off x="10543032" y="1920240"/>
            <a:ext cx="0" cy="914400"/>
          </a:xfrm>
          <a:prstGeom prst="line">
            <a:avLst/>
          </a:prstGeom>
          <a:noFill/>
          <a:ln w="12700">
            <a:solidFill>
              <a:srgbClr val="3FE08A"/>
            </a:solidFill>
            <a:prstDash val="solid"/>
          </a:ln>
        </p:spPr>
        <p:txBody>
          <a:bodyPr/>
          <a:lstStyle/>
          <a:p>
            <a:endParaRPr lang="en-SE"/>
          </a:p>
        </p:txBody>
      </p:sp>
      <p:sp>
        <p:nvSpPr>
          <p:cNvPr id="45" name="candlestick body">
            <a:extLst>
              <a:ext uri="{C183D7F6-B498-43B3-948B-1728B52AA6E4}">
                <adec:decorative xmlns:adec="http://schemas.microsoft.com/office/drawing/2017/decorative" val="1"/>
              </a:ext>
            </a:extLst>
          </p:cNvPr>
          <p:cNvSpPr/>
          <p:nvPr/>
        </p:nvSpPr>
        <p:spPr>
          <a:xfrm>
            <a:off x="10460736" y="2057400"/>
            <a:ext cx="173736" cy="640080"/>
          </a:xfrm>
          <a:prstGeom prst="rect">
            <a:avLst/>
          </a:prstGeom>
          <a:solidFill>
            <a:srgbClr val="3FE08A"/>
          </a:solidFill>
          <a:ln w="12700">
            <a:solidFill>
              <a:srgbClr val="333333"/>
            </a:solidFill>
            <a:prstDash val="solid"/>
          </a:ln>
        </p:spPr>
        <p:txBody>
          <a:bodyPr/>
          <a:lstStyle/>
          <a:p>
            <a:endParaRPr lang="en-SE"/>
          </a:p>
        </p:txBody>
      </p:sp>
      <p:sp>
        <p:nvSpPr>
          <p:cNvPr id="46" name="candle wick">
            <a:extLst>
              <a:ext uri="{C183D7F6-B498-43B3-948B-1728B52AA6E4}">
                <adec:decorative xmlns:adec="http://schemas.microsoft.com/office/drawing/2017/decorative" val="1"/>
              </a:ext>
            </a:extLst>
          </p:cNvPr>
          <p:cNvSpPr/>
          <p:nvPr/>
        </p:nvSpPr>
        <p:spPr>
          <a:xfrm>
            <a:off x="10835640" y="1737360"/>
            <a:ext cx="0" cy="777240"/>
          </a:xfrm>
          <a:prstGeom prst="line">
            <a:avLst/>
          </a:prstGeom>
          <a:noFill/>
          <a:ln w="12700">
            <a:solidFill>
              <a:srgbClr val="EF5B63"/>
            </a:solidFill>
            <a:prstDash val="solid"/>
          </a:ln>
        </p:spPr>
        <p:txBody>
          <a:bodyPr/>
          <a:lstStyle/>
          <a:p>
            <a:endParaRPr lang="en-SE"/>
          </a:p>
        </p:txBody>
      </p:sp>
      <p:sp>
        <p:nvSpPr>
          <p:cNvPr id="47" name="candlestick body">
            <a:extLst>
              <a:ext uri="{C183D7F6-B498-43B3-948B-1728B52AA6E4}">
                <adec:decorative xmlns:adec="http://schemas.microsoft.com/office/drawing/2017/decorative" val="1"/>
              </a:ext>
            </a:extLst>
          </p:cNvPr>
          <p:cNvSpPr/>
          <p:nvPr/>
        </p:nvSpPr>
        <p:spPr>
          <a:xfrm>
            <a:off x="10753344" y="1874520"/>
            <a:ext cx="173736" cy="365760"/>
          </a:xfrm>
          <a:prstGeom prst="rect">
            <a:avLst/>
          </a:prstGeom>
          <a:solidFill>
            <a:srgbClr val="EF5B63"/>
          </a:solidFill>
          <a:ln w="12700">
            <a:solidFill>
              <a:srgbClr val="333333"/>
            </a:solidFill>
            <a:prstDash val="solid"/>
          </a:ln>
        </p:spPr>
        <p:txBody>
          <a:bodyPr/>
          <a:lstStyle/>
          <a:p>
            <a:endParaRPr lang="en-SE"/>
          </a:p>
        </p:txBody>
      </p:sp>
      <p:sp>
        <p:nvSpPr>
          <p:cNvPr id="48" name="candle wick">
            <a:extLst>
              <a:ext uri="{C183D7F6-B498-43B3-948B-1728B52AA6E4}">
                <adec:decorative xmlns:adec="http://schemas.microsoft.com/office/drawing/2017/decorative" val="1"/>
              </a:ext>
            </a:extLst>
          </p:cNvPr>
          <p:cNvSpPr/>
          <p:nvPr/>
        </p:nvSpPr>
        <p:spPr>
          <a:xfrm>
            <a:off x="11128248" y="1508760"/>
            <a:ext cx="0" cy="1051560"/>
          </a:xfrm>
          <a:prstGeom prst="line">
            <a:avLst/>
          </a:prstGeom>
          <a:noFill/>
          <a:ln w="12700">
            <a:solidFill>
              <a:srgbClr val="3FE08A"/>
            </a:solidFill>
            <a:prstDash val="solid"/>
          </a:ln>
        </p:spPr>
        <p:txBody>
          <a:bodyPr/>
          <a:lstStyle/>
          <a:p>
            <a:endParaRPr lang="en-SE"/>
          </a:p>
        </p:txBody>
      </p:sp>
      <p:sp>
        <p:nvSpPr>
          <p:cNvPr id="49" name="candlestick body">
            <a:extLst>
              <a:ext uri="{C183D7F6-B498-43B3-948B-1728B52AA6E4}">
                <adec:decorative xmlns:adec="http://schemas.microsoft.com/office/drawing/2017/decorative" val="1"/>
              </a:ext>
            </a:extLst>
          </p:cNvPr>
          <p:cNvSpPr/>
          <p:nvPr/>
        </p:nvSpPr>
        <p:spPr>
          <a:xfrm>
            <a:off x="11045952" y="1645920"/>
            <a:ext cx="173736" cy="777240"/>
          </a:xfrm>
          <a:prstGeom prst="rect">
            <a:avLst/>
          </a:prstGeom>
          <a:solidFill>
            <a:srgbClr val="3FE08A"/>
          </a:solidFill>
          <a:ln w="12700">
            <a:solidFill>
              <a:srgbClr val="333333"/>
            </a:solidFill>
            <a:prstDash val="solid"/>
          </a:ln>
        </p:spPr>
        <p:txBody>
          <a:bodyPr/>
          <a:lstStyle/>
          <a:p>
            <a:endParaRPr lang="en-SE"/>
          </a:p>
        </p:txBody>
      </p:sp>
      <p:sp>
        <p:nvSpPr>
          <p:cNvPr id="50" name="previous close reference line">
            <a:extLst>
              <a:ext uri="{C183D7F6-B498-43B3-948B-1728B52AA6E4}">
                <adec:decorative xmlns:adec="http://schemas.microsoft.com/office/drawing/2017/decorative" val="1"/>
              </a:ext>
            </a:extLst>
          </p:cNvPr>
          <p:cNvSpPr/>
          <p:nvPr/>
        </p:nvSpPr>
        <p:spPr>
          <a:xfrm>
            <a:off x="8138160" y="3246120"/>
            <a:ext cx="3520440" cy="0"/>
          </a:xfrm>
          <a:prstGeom prst="line">
            <a:avLst/>
          </a:prstGeom>
          <a:noFill/>
          <a:ln w="12700">
            <a:solidFill>
              <a:srgbClr val="F5A524"/>
            </a:solidFill>
            <a:prstDash val="dash"/>
          </a:ln>
        </p:spPr>
        <p:txBody>
          <a:bodyPr/>
          <a:lstStyle/>
          <a:p>
            <a:endParaRPr lang="en-SE"/>
          </a:p>
        </p:txBody>
      </p:sp>
      <p:sp>
        <p:nvSpPr>
          <p:cNvPr id="51" name="Text 49"/>
          <p:cNvSpPr/>
          <p:nvPr/>
        </p:nvSpPr>
        <p:spPr>
          <a:xfrm>
            <a:off x="822960" y="1783080"/>
            <a:ext cx="7315200" cy="365760"/>
          </a:xfrm>
          <a:prstGeom prst="rect">
            <a:avLst/>
          </a:prstGeom>
          <a:noFill/>
          <a:ln/>
        </p:spPr>
        <p:txBody>
          <a:bodyPr wrap="square" lIns="0" tIns="0" rIns="0" bIns="0" rtlCol="0" anchor="ctr"/>
          <a:lstStyle/>
          <a:p>
            <a:pPr marL="0" indent="0">
              <a:buNone/>
            </a:pPr>
            <a:r>
              <a:rPr lang="en-US" sz="1250" kern="0" spc="300" dirty="0">
                <a:solidFill>
                  <a:srgbClr val="3FE08A"/>
                </a:solidFill>
                <a:latin typeface="Consolas" pitchFamily="34" charset="0"/>
                <a:ea typeface="Consolas" pitchFamily="34" charset="-122"/>
                <a:cs typeface="Consolas" pitchFamily="34" charset="-120"/>
              </a:rPr>
              <a:t>OPERATORS GUIDE  ·  MARKET DATA TERMINAL</a:t>
            </a:r>
            <a:endParaRPr lang="en-US" sz="1250" dirty="0"/>
          </a:p>
        </p:txBody>
      </p:sp>
      <p:sp>
        <p:nvSpPr>
          <p:cNvPr id="52" name="Text 0"/>
          <p:cNvSpPr>
            <a:spLocks noGrp="1"/>
          </p:cNvSpPr>
          <p:nvPr>
            <p:ph type="title" idx="100" hasCustomPrompt="1"/>
          </p:nvPr>
        </p:nvSpPr>
        <p:spPr>
          <a:xfrm>
            <a:off x="822960" y="2286000"/>
            <a:ext cx="6949440" cy="1645920"/>
          </a:xfrm>
          <a:prstGeom prst="rect">
            <a:avLst/>
          </a:prstGeom>
          <a:noFill/>
          <a:ln/>
        </p:spPr>
        <p:txBody>
          <a:bodyPr wrap="square" lIns="0" tIns="0" rIns="0" bIns="0" rtlCol="0" anchor="t"/>
          <a:lstStyle/>
          <a:p>
            <a:pPr marL="0" indent="0">
              <a:buNone/>
            </a:pPr>
            <a:r>
              <a:rPr lang="en-US" sz="3400" b="1" dirty="0">
                <a:solidFill>
                  <a:srgbClr val="E6EDF3"/>
                </a:solidFill>
                <a:latin typeface="Segoe UI" pitchFamily="34" charset="0"/>
                <a:ea typeface="Segoe UI" pitchFamily="34" charset="-122"/>
                <a:cs typeface="Segoe UI" pitchFamily="34" charset="-120"/>
              </a:rPr>
              <a:t>TapeDeck</a:t>
            </a:r>
            <a:endParaRPr lang="en-US" sz="3400" dirty="0"/>
          </a:p>
          <a:p>
            <a:pPr marL="0" indent="0">
              <a:buNone/>
            </a:pPr>
            <a:r>
              <a:rPr lang="en-US" sz="3400" b="1" dirty="0">
                <a:solidFill>
                  <a:srgbClr val="E6EDF3"/>
                </a:solidFill>
                <a:latin typeface="Segoe UI" pitchFamily="34" charset="0"/>
                <a:ea typeface="Segoe UI" pitchFamily="34" charset="-122"/>
                <a:cs typeface="Segoe UI" pitchFamily="34" charset="-120"/>
              </a:rPr>
              <a:t>The Trader Information</a:t>
            </a:r>
            <a:endParaRPr lang="en-US" sz="3400" dirty="0"/>
          </a:p>
          <a:p>
            <a:pPr marL="0" indent="0">
              <a:buNone/>
            </a:pPr>
            <a:r>
              <a:rPr lang="en-US" sz="3400" b="1" dirty="0">
                <a:solidFill>
                  <a:srgbClr val="E6EDF3"/>
                </a:solidFill>
                <a:latin typeface="Segoe UI" pitchFamily="34" charset="0"/>
                <a:ea typeface="Segoe UI" pitchFamily="34" charset="-122"/>
                <a:cs typeface="Segoe UI" pitchFamily="34" charset="-120"/>
              </a:rPr>
              <a:t>Terminal</a:t>
            </a:r>
            <a:endParaRPr lang="en-US" sz="3400" dirty="0"/>
          </a:p>
        </p:txBody>
      </p:sp>
      <p:sp>
        <p:nvSpPr>
          <p:cNvPr id="53" name="rule">
            <a:extLst>
              <a:ext uri="{C183D7F6-B498-43B3-948B-1728B52AA6E4}">
                <adec:decorative xmlns:adec="http://schemas.microsoft.com/office/drawing/2017/decorative" val="1"/>
              </a:ext>
            </a:extLst>
          </p:cNvPr>
          <p:cNvSpPr/>
          <p:nvPr/>
        </p:nvSpPr>
        <p:spPr>
          <a:xfrm>
            <a:off x="822960" y="3977640"/>
            <a:ext cx="1371600" cy="36576"/>
          </a:xfrm>
          <a:prstGeom prst="rect">
            <a:avLst/>
          </a:prstGeom>
          <a:solidFill>
            <a:srgbClr val="3FE08A"/>
          </a:solidFill>
          <a:ln w="12700">
            <a:solidFill>
              <a:srgbClr val="333333"/>
            </a:solidFill>
            <a:prstDash val="solid"/>
          </a:ln>
        </p:spPr>
        <p:txBody>
          <a:bodyPr/>
          <a:lstStyle/>
          <a:p>
            <a:endParaRPr lang="en-SE"/>
          </a:p>
        </p:txBody>
      </p:sp>
      <p:sp>
        <p:nvSpPr>
          <p:cNvPr id="54" name="Text 52"/>
          <p:cNvSpPr/>
          <p:nvPr/>
        </p:nvSpPr>
        <p:spPr>
          <a:xfrm>
            <a:off x="822960" y="4206240"/>
            <a:ext cx="6949440" cy="822960"/>
          </a:xfrm>
          <a:prstGeom prst="rect">
            <a:avLst/>
          </a:prstGeom>
          <a:noFill/>
          <a:ln/>
        </p:spPr>
        <p:txBody>
          <a:bodyPr wrap="square" lIns="0" tIns="0" rIns="0" bIns="0" rtlCol="0" anchor="ctr"/>
          <a:lstStyle/>
          <a:p>
            <a:pPr marL="0" indent="0">
              <a:lnSpc>
                <a:spcPct val="115000"/>
              </a:lnSpc>
              <a:buNone/>
            </a:pPr>
            <a:r>
              <a:rPr lang="en-US" sz="1600" dirty="0">
                <a:solidFill>
                  <a:srgbClr val="AAB7C2"/>
                </a:solidFill>
                <a:latin typeface="Segoe UI" pitchFamily="34" charset="0"/>
                <a:ea typeface="Segoe UI" pitchFamily="34" charset="-122"/>
                <a:cs typeface="Segoe UI" pitchFamily="34" charset="-120"/>
              </a:rPr>
              <a:t>An operator's guide to watching the market — what the screens show,</a:t>
            </a:r>
            <a:endParaRPr lang="en-US" sz="1600" dirty="0"/>
          </a:p>
          <a:p>
            <a:pPr marL="0" indent="0">
              <a:lnSpc>
                <a:spcPct val="115000"/>
              </a:lnSpc>
              <a:buNone/>
            </a:pPr>
            <a:r>
              <a:rPr lang="en-US" sz="1600" dirty="0">
                <a:solidFill>
                  <a:srgbClr val="AAB7C2"/>
                </a:solidFill>
                <a:latin typeface="Segoe UI" pitchFamily="34" charset="0"/>
                <a:ea typeface="Segoe UI" pitchFamily="34" charset="-122"/>
                <a:cs typeface="Segoe UI" pitchFamily="34" charset="-120"/>
              </a:rPr>
              <a:t>how to read them, and how to start the terminal.</a:t>
            </a:r>
            <a:endParaRPr lang="en-US" sz="1600" dirty="0"/>
          </a:p>
        </p:txBody>
      </p:sp>
      <p:sp>
        <p:nvSpPr>
          <p:cNvPr id="55" name="badge background">
            <a:extLst>
              <a:ext uri="{C183D7F6-B498-43B3-948B-1728B52AA6E4}">
                <adec:decorative xmlns:adec="http://schemas.microsoft.com/office/drawing/2017/decorative" val="1"/>
              </a:ext>
            </a:extLst>
          </p:cNvPr>
          <p:cNvSpPr/>
          <p:nvPr/>
        </p:nvSpPr>
        <p:spPr>
          <a:xfrm>
            <a:off x="822960" y="5257800"/>
            <a:ext cx="1691640" cy="329184"/>
          </a:xfrm>
          <a:prstGeom prst="roundRect">
            <a:avLst>
              <a:gd name="adj" fmla="val 25000"/>
            </a:avLst>
          </a:prstGeom>
          <a:solidFill>
            <a:srgbClr val="122C22"/>
          </a:solidFill>
          <a:ln w="12700">
            <a:solidFill>
              <a:srgbClr val="333333"/>
            </a:solidFill>
            <a:prstDash val="solid"/>
          </a:ln>
        </p:spPr>
        <p:txBody>
          <a:bodyPr/>
          <a:lstStyle/>
          <a:p>
            <a:endParaRPr lang="en-SE"/>
          </a:p>
        </p:txBody>
      </p:sp>
      <p:sp>
        <p:nvSpPr>
          <p:cNvPr id="56" name="Text 54"/>
          <p:cNvSpPr/>
          <p:nvPr/>
        </p:nvSpPr>
        <p:spPr>
          <a:xfrm>
            <a:off x="822960" y="5257800"/>
            <a:ext cx="1691640" cy="329184"/>
          </a:xfrm>
          <a:prstGeom prst="rect">
            <a:avLst/>
          </a:prstGeom>
          <a:noFill/>
          <a:ln/>
        </p:spPr>
        <p:txBody>
          <a:bodyPr wrap="square" lIns="0" tIns="0" rIns="0" bIns="0" rtlCol="0" anchor="ctr"/>
          <a:lstStyle/>
          <a:p>
            <a:pPr marL="0" indent="0" algn="ctr">
              <a:buNone/>
            </a:pPr>
            <a:r>
              <a:rPr lang="en-US" sz="1400" b="1" kern="0" spc="80" dirty="0">
                <a:solidFill>
                  <a:srgbClr val="3FE08A"/>
                </a:solidFill>
                <a:latin typeface="Consolas" pitchFamily="34" charset="0"/>
                <a:ea typeface="Consolas" pitchFamily="34" charset="-122"/>
                <a:cs typeface="Consolas" pitchFamily="34" charset="-120"/>
              </a:rPr>
              <a:t>READ-ONLY</a:t>
            </a:r>
            <a:endParaRPr lang="en-US" sz="1400" dirty="0"/>
          </a:p>
        </p:txBody>
      </p:sp>
      <p:sp>
        <p:nvSpPr>
          <p:cNvPr id="57" name="badge background">
            <a:extLst>
              <a:ext uri="{C183D7F6-B498-43B3-948B-1728B52AA6E4}">
                <adec:decorative xmlns:adec="http://schemas.microsoft.com/office/drawing/2017/decorative" val="1"/>
              </a:ext>
            </a:extLst>
          </p:cNvPr>
          <p:cNvSpPr/>
          <p:nvPr/>
        </p:nvSpPr>
        <p:spPr>
          <a:xfrm>
            <a:off x="2651760" y="5257800"/>
            <a:ext cx="1965960" cy="329184"/>
          </a:xfrm>
          <a:prstGeom prst="roundRect">
            <a:avLst>
              <a:gd name="adj" fmla="val 25000"/>
            </a:avLst>
          </a:prstGeom>
          <a:solidFill>
            <a:srgbClr val="6B4A0F"/>
          </a:solidFill>
          <a:ln w="12700">
            <a:solidFill>
              <a:srgbClr val="333333"/>
            </a:solidFill>
            <a:prstDash val="solid"/>
          </a:ln>
        </p:spPr>
        <p:txBody>
          <a:bodyPr/>
          <a:lstStyle/>
          <a:p>
            <a:endParaRPr lang="en-SE" sz="3200"/>
          </a:p>
        </p:txBody>
      </p:sp>
      <p:sp>
        <p:nvSpPr>
          <p:cNvPr id="58" name="Text 56"/>
          <p:cNvSpPr/>
          <p:nvPr/>
        </p:nvSpPr>
        <p:spPr>
          <a:xfrm>
            <a:off x="2651760" y="5257800"/>
            <a:ext cx="1965960" cy="329184"/>
          </a:xfrm>
          <a:prstGeom prst="rect">
            <a:avLst/>
          </a:prstGeom>
          <a:noFill/>
          <a:ln/>
        </p:spPr>
        <p:txBody>
          <a:bodyPr wrap="square" lIns="0" tIns="0" rIns="0" bIns="0" rtlCol="0" anchor="ctr"/>
          <a:lstStyle/>
          <a:p>
            <a:pPr marL="0" indent="0" algn="ctr">
              <a:buNone/>
            </a:pPr>
            <a:r>
              <a:rPr lang="en-US" sz="1400" b="1" kern="0" spc="80" dirty="0">
                <a:solidFill>
                  <a:srgbClr val="F5A524"/>
                </a:solidFill>
                <a:latin typeface="Consolas" pitchFamily="34" charset="0"/>
                <a:ea typeface="Consolas" pitchFamily="34" charset="-122"/>
                <a:cs typeface="Consolas" pitchFamily="34" charset="-120"/>
              </a:rPr>
              <a:t>NO ORDER ENTRY</a:t>
            </a:r>
            <a:endParaRPr lang="en-US" sz="1400" dirty="0"/>
          </a:p>
        </p:txBody>
      </p:sp>
      <p:sp>
        <p:nvSpPr>
          <p:cNvPr id="59" name="badge background">
            <a:extLst>
              <a:ext uri="{C183D7F6-B498-43B3-948B-1728B52AA6E4}">
                <adec:decorative xmlns:adec="http://schemas.microsoft.com/office/drawing/2017/decorative" val="1"/>
              </a:ext>
            </a:extLst>
          </p:cNvPr>
          <p:cNvSpPr/>
          <p:nvPr/>
        </p:nvSpPr>
        <p:spPr>
          <a:xfrm>
            <a:off x="4754880" y="5257800"/>
            <a:ext cx="1600200" cy="329184"/>
          </a:xfrm>
          <a:prstGeom prst="roundRect">
            <a:avLst>
              <a:gd name="adj" fmla="val 25000"/>
            </a:avLst>
          </a:prstGeom>
          <a:solidFill>
            <a:srgbClr val="273037"/>
          </a:solidFill>
          <a:ln w="12700">
            <a:solidFill>
              <a:srgbClr val="333333"/>
            </a:solidFill>
            <a:prstDash val="solid"/>
          </a:ln>
        </p:spPr>
        <p:txBody>
          <a:bodyPr/>
          <a:lstStyle/>
          <a:p>
            <a:endParaRPr lang="en-SE"/>
          </a:p>
        </p:txBody>
      </p:sp>
      <p:sp>
        <p:nvSpPr>
          <p:cNvPr id="60" name="Text 58"/>
          <p:cNvSpPr/>
          <p:nvPr/>
        </p:nvSpPr>
        <p:spPr>
          <a:xfrm>
            <a:off x="4754880" y="5257800"/>
            <a:ext cx="1600200" cy="329184"/>
          </a:xfrm>
          <a:prstGeom prst="rect">
            <a:avLst/>
          </a:prstGeom>
          <a:noFill/>
          <a:ln/>
        </p:spPr>
        <p:txBody>
          <a:bodyPr wrap="square" lIns="0" tIns="0" rIns="0" bIns="0" rtlCol="0" anchor="ctr"/>
          <a:lstStyle/>
          <a:p>
            <a:pPr marL="0" indent="0" algn="ctr">
              <a:buNone/>
            </a:pPr>
            <a:r>
              <a:rPr lang="en-US" sz="1400" b="1" kern="0" spc="80" dirty="0">
                <a:solidFill>
                  <a:srgbClr val="AAB7C2"/>
                </a:solidFill>
                <a:latin typeface="Consolas" pitchFamily="34" charset="0"/>
                <a:ea typeface="Consolas" pitchFamily="34" charset="-122"/>
                <a:cs typeface="Consolas" pitchFamily="34" charset="-120"/>
              </a:rPr>
              <a:t>NO LOGIN</a:t>
            </a:r>
            <a:endParaRPr lang="en-US" sz="1400" dirty="0"/>
          </a:p>
        </p:txBody>
      </p:sp>
      <p:sp>
        <p:nvSpPr>
          <p:cNvPr id="6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6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64" name="Text 6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65" name="Text 6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66" name="Text 6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01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What this session covers</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AGENDA</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02</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600" dirty="0">
                <a:solidFill>
                  <a:srgbClr val="AAB7C2"/>
                </a:solidFill>
                <a:latin typeface="Segoe UI" pitchFamily="34" charset="0"/>
                <a:ea typeface="Segoe UI" pitchFamily="34" charset="-122"/>
                <a:cs typeface="Segoe UI" pitchFamily="34" charset="-120"/>
              </a:rPr>
              <a:t>Six ideas, then a technical reference section you can come back to later.</a:t>
            </a:r>
            <a:endParaRPr lang="en-US" sz="1600" dirty="0"/>
          </a:p>
        </p:txBody>
      </p:sp>
      <p:sp>
        <p:nvSpPr>
          <p:cNvPr id="38" name="panel">
            <a:extLst>
              <a:ext uri="{C183D7F6-B498-43B3-948B-1728B52AA6E4}">
                <adec:decorative xmlns:adec="http://schemas.microsoft.com/office/drawing/2017/decorative" val="1"/>
              </a:ext>
            </a:extLst>
          </p:cNvPr>
          <p:cNvSpPr/>
          <p:nvPr/>
        </p:nvSpPr>
        <p:spPr>
          <a:xfrm>
            <a:off x="566928" y="1920240"/>
            <a:ext cx="3474720" cy="187452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39" name="panel accent">
            <a:extLst>
              <a:ext uri="{C183D7F6-B498-43B3-948B-1728B52AA6E4}">
                <adec:decorative xmlns:adec="http://schemas.microsoft.com/office/drawing/2017/decorative" val="1"/>
              </a:ext>
            </a:extLst>
          </p:cNvPr>
          <p:cNvSpPr/>
          <p:nvPr/>
        </p:nvSpPr>
        <p:spPr>
          <a:xfrm>
            <a:off x="566928" y="1920240"/>
            <a:ext cx="50292" cy="1874520"/>
          </a:xfrm>
          <a:prstGeom prst="rect">
            <a:avLst/>
          </a:prstGeom>
          <a:solidFill>
            <a:srgbClr val="3FE08A"/>
          </a:solidFill>
          <a:ln w="12700">
            <a:solidFill>
              <a:srgbClr val="333333"/>
            </a:solidFill>
            <a:prstDash val="solid"/>
          </a:ln>
        </p:spPr>
        <p:txBody>
          <a:bodyPr/>
          <a:lstStyle/>
          <a:p>
            <a:endParaRPr lang="en-SE"/>
          </a:p>
        </p:txBody>
      </p:sp>
      <p:sp>
        <p:nvSpPr>
          <p:cNvPr id="40" name="Text 38"/>
          <p:cNvSpPr/>
          <p:nvPr/>
        </p:nvSpPr>
        <p:spPr>
          <a:xfrm>
            <a:off x="804672" y="2103120"/>
            <a:ext cx="3017520" cy="292608"/>
          </a:xfrm>
          <a:prstGeom prst="rect">
            <a:avLst/>
          </a:prstGeom>
          <a:noFill/>
          <a:ln/>
        </p:spPr>
        <p:txBody>
          <a:bodyPr wrap="square" lIns="0" tIns="0" rIns="0" bIns="0" rtlCol="0" anchor="ctr"/>
          <a:lstStyle/>
          <a:p>
            <a:pPr marL="0" indent="0">
              <a:buNone/>
            </a:pPr>
            <a:r>
              <a:rPr lang="en-US" sz="2800" b="1" kern="0" spc="150" dirty="0">
                <a:solidFill>
                  <a:srgbClr val="3FE08A"/>
                </a:solidFill>
                <a:latin typeface="Consolas" pitchFamily="34" charset="0"/>
                <a:ea typeface="Consolas" pitchFamily="34" charset="-122"/>
                <a:cs typeface="Consolas" pitchFamily="34" charset="-120"/>
              </a:rPr>
              <a:t>01</a:t>
            </a:r>
            <a:endParaRPr lang="en-US" sz="2800" dirty="0"/>
          </a:p>
        </p:txBody>
      </p:sp>
      <p:sp>
        <p:nvSpPr>
          <p:cNvPr id="41" name="Text 39"/>
          <p:cNvSpPr/>
          <p:nvPr/>
        </p:nvSpPr>
        <p:spPr>
          <a:xfrm>
            <a:off x="804672" y="2470052"/>
            <a:ext cx="3017520" cy="384048"/>
          </a:xfrm>
          <a:prstGeom prst="rect">
            <a:avLst/>
          </a:prstGeom>
          <a:noFill/>
          <a:ln/>
        </p:spPr>
        <p:txBody>
          <a:bodyPr wrap="square" lIns="0" tIns="0" rIns="0" bIns="0" rtlCol="0" anchor="t"/>
          <a:lstStyle/>
          <a:p>
            <a:pPr marL="0" indent="0">
              <a:buNone/>
            </a:pPr>
            <a:r>
              <a:rPr lang="en-US" b="1" dirty="0">
                <a:solidFill>
                  <a:srgbClr val="E6EDF3"/>
                </a:solidFill>
                <a:latin typeface="Segoe UI" pitchFamily="34" charset="0"/>
                <a:ea typeface="Segoe UI" pitchFamily="34" charset="-122"/>
                <a:cs typeface="Segoe UI" pitchFamily="34" charset="-120"/>
              </a:rPr>
              <a:t>Purpose</a:t>
            </a:r>
            <a:endParaRPr lang="en-US" dirty="0"/>
          </a:p>
        </p:txBody>
      </p:sp>
      <p:sp>
        <p:nvSpPr>
          <p:cNvPr id="42" name="Text 40"/>
          <p:cNvSpPr/>
          <p:nvPr/>
        </p:nvSpPr>
        <p:spPr>
          <a:xfrm>
            <a:off x="804672" y="2881532"/>
            <a:ext cx="3017520" cy="777240"/>
          </a:xfrm>
          <a:prstGeom prst="rect">
            <a:avLst/>
          </a:prstGeom>
          <a:noFill/>
          <a:ln/>
        </p:spPr>
        <p:txBody>
          <a:bodyPr wrap="square" lIns="0" tIns="0" rIns="0" bIns="0" rtlCol="0" anchor="t"/>
          <a:lstStyle/>
          <a:p>
            <a:pPr marL="0" indent="0">
              <a:lnSpc>
                <a:spcPct val="115000"/>
              </a:lnSpc>
              <a:buNone/>
            </a:pPr>
            <a:r>
              <a:rPr lang="en-US" sz="1400" dirty="0">
                <a:solidFill>
                  <a:srgbClr val="AAB7C2"/>
                </a:solidFill>
                <a:latin typeface="Segoe UI" pitchFamily="34" charset="0"/>
                <a:ea typeface="Segoe UI" pitchFamily="34" charset="-122"/>
                <a:cs typeface="Segoe UI" pitchFamily="34" charset="-120"/>
              </a:rPr>
              <a:t>What a market data terminal is for — and what it is emphatically not for.</a:t>
            </a:r>
            <a:endParaRPr lang="en-US" sz="1400" dirty="0"/>
          </a:p>
        </p:txBody>
      </p:sp>
      <p:sp>
        <p:nvSpPr>
          <p:cNvPr id="43" name="panel">
            <a:extLst>
              <a:ext uri="{C183D7F6-B498-43B3-948B-1728B52AA6E4}">
                <adec:decorative xmlns:adec="http://schemas.microsoft.com/office/drawing/2017/decorative" val="1"/>
              </a:ext>
            </a:extLst>
          </p:cNvPr>
          <p:cNvSpPr/>
          <p:nvPr/>
        </p:nvSpPr>
        <p:spPr>
          <a:xfrm>
            <a:off x="4279392" y="1920240"/>
            <a:ext cx="3474720" cy="187452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44" name="panel accent">
            <a:extLst>
              <a:ext uri="{C183D7F6-B498-43B3-948B-1728B52AA6E4}">
                <adec:decorative xmlns:adec="http://schemas.microsoft.com/office/drawing/2017/decorative" val="1"/>
              </a:ext>
            </a:extLst>
          </p:cNvPr>
          <p:cNvSpPr/>
          <p:nvPr/>
        </p:nvSpPr>
        <p:spPr>
          <a:xfrm>
            <a:off x="4279392" y="1920240"/>
            <a:ext cx="50292" cy="1874520"/>
          </a:xfrm>
          <a:prstGeom prst="rect">
            <a:avLst/>
          </a:prstGeom>
          <a:solidFill>
            <a:srgbClr val="3FE08A"/>
          </a:solidFill>
          <a:ln w="12700">
            <a:solidFill>
              <a:srgbClr val="333333"/>
            </a:solidFill>
            <a:prstDash val="solid"/>
          </a:ln>
        </p:spPr>
        <p:txBody>
          <a:bodyPr/>
          <a:lstStyle/>
          <a:p>
            <a:endParaRPr lang="en-SE"/>
          </a:p>
        </p:txBody>
      </p:sp>
      <p:sp>
        <p:nvSpPr>
          <p:cNvPr id="45" name="Text 43"/>
          <p:cNvSpPr/>
          <p:nvPr/>
        </p:nvSpPr>
        <p:spPr>
          <a:xfrm>
            <a:off x="4517136" y="2103120"/>
            <a:ext cx="3017520" cy="292608"/>
          </a:xfrm>
          <a:prstGeom prst="rect">
            <a:avLst/>
          </a:prstGeom>
          <a:noFill/>
          <a:ln/>
        </p:spPr>
        <p:txBody>
          <a:bodyPr wrap="square" lIns="0" tIns="0" rIns="0" bIns="0" rtlCol="0" anchor="ctr"/>
          <a:lstStyle/>
          <a:p>
            <a:pPr marL="0" indent="0">
              <a:buNone/>
            </a:pPr>
            <a:r>
              <a:rPr lang="en-US" sz="2800" b="1" kern="0" spc="150" dirty="0">
                <a:solidFill>
                  <a:srgbClr val="3FE08A"/>
                </a:solidFill>
                <a:latin typeface="Consolas" pitchFamily="34" charset="0"/>
                <a:ea typeface="Consolas" pitchFamily="34" charset="-122"/>
                <a:cs typeface="Consolas" pitchFamily="34" charset="-120"/>
              </a:rPr>
              <a:t>02</a:t>
            </a:r>
            <a:endParaRPr lang="en-US" sz="2800" dirty="0"/>
          </a:p>
        </p:txBody>
      </p:sp>
      <p:sp>
        <p:nvSpPr>
          <p:cNvPr id="46" name="Text 44"/>
          <p:cNvSpPr/>
          <p:nvPr/>
        </p:nvSpPr>
        <p:spPr>
          <a:xfrm>
            <a:off x="4517136" y="2470052"/>
            <a:ext cx="3017520" cy="384048"/>
          </a:xfrm>
          <a:prstGeom prst="rect">
            <a:avLst/>
          </a:prstGeom>
          <a:noFill/>
          <a:ln/>
        </p:spPr>
        <p:txBody>
          <a:bodyPr wrap="square" lIns="0" tIns="0" rIns="0" bIns="0" rtlCol="0" anchor="t"/>
          <a:lstStyle/>
          <a:p>
            <a:pPr marL="0" indent="0">
              <a:buNone/>
            </a:pPr>
            <a:r>
              <a:rPr lang="en-US" b="1" dirty="0">
                <a:solidFill>
                  <a:srgbClr val="E6EDF3"/>
                </a:solidFill>
                <a:latin typeface="Segoe UI" pitchFamily="34" charset="0"/>
                <a:ea typeface="Segoe UI" pitchFamily="34" charset="-122"/>
                <a:cs typeface="Segoe UI" pitchFamily="34" charset="-120"/>
              </a:rPr>
              <a:t>The information</a:t>
            </a:r>
            <a:endParaRPr lang="en-US" dirty="0"/>
          </a:p>
        </p:txBody>
      </p:sp>
      <p:sp>
        <p:nvSpPr>
          <p:cNvPr id="47" name="Text 45"/>
          <p:cNvSpPr/>
          <p:nvPr/>
        </p:nvSpPr>
        <p:spPr>
          <a:xfrm>
            <a:off x="4517136" y="2881532"/>
            <a:ext cx="3017520" cy="777240"/>
          </a:xfrm>
          <a:prstGeom prst="rect">
            <a:avLst/>
          </a:prstGeom>
          <a:noFill/>
          <a:ln/>
        </p:spPr>
        <p:txBody>
          <a:bodyPr wrap="square" lIns="0" tIns="0" rIns="0" bIns="0" rtlCol="0" anchor="t"/>
          <a:lstStyle/>
          <a:p>
            <a:pPr marL="0" indent="0">
              <a:lnSpc>
                <a:spcPct val="115000"/>
              </a:lnSpc>
              <a:buNone/>
            </a:pPr>
            <a:r>
              <a:rPr lang="en-US" sz="1400" dirty="0">
                <a:solidFill>
                  <a:srgbClr val="AAB7C2"/>
                </a:solidFill>
                <a:latin typeface="Segoe UI" pitchFamily="34" charset="0"/>
                <a:ea typeface="Segoe UI" pitchFamily="34" charset="-122"/>
                <a:cs typeface="Segoe UI" pitchFamily="34" charset="-120"/>
              </a:rPr>
              <a:t>Prices, trades, depth, indexes, session state, auctions and halts.</a:t>
            </a:r>
            <a:endParaRPr lang="en-US" sz="1400" dirty="0"/>
          </a:p>
        </p:txBody>
      </p:sp>
      <p:sp>
        <p:nvSpPr>
          <p:cNvPr id="48" name="panel">
            <a:extLst>
              <a:ext uri="{C183D7F6-B498-43B3-948B-1728B52AA6E4}">
                <adec:decorative xmlns:adec="http://schemas.microsoft.com/office/drawing/2017/decorative" val="1"/>
              </a:ext>
            </a:extLst>
          </p:cNvPr>
          <p:cNvSpPr/>
          <p:nvPr/>
        </p:nvSpPr>
        <p:spPr>
          <a:xfrm>
            <a:off x="7991856" y="1920240"/>
            <a:ext cx="3474720" cy="187452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49" name="panel accent">
            <a:extLst>
              <a:ext uri="{C183D7F6-B498-43B3-948B-1728B52AA6E4}">
                <adec:decorative xmlns:adec="http://schemas.microsoft.com/office/drawing/2017/decorative" val="1"/>
              </a:ext>
            </a:extLst>
          </p:cNvPr>
          <p:cNvSpPr/>
          <p:nvPr/>
        </p:nvSpPr>
        <p:spPr>
          <a:xfrm>
            <a:off x="7991856" y="1920240"/>
            <a:ext cx="50292" cy="1874520"/>
          </a:xfrm>
          <a:prstGeom prst="rect">
            <a:avLst/>
          </a:prstGeom>
          <a:solidFill>
            <a:srgbClr val="3FE08A"/>
          </a:solidFill>
          <a:ln w="12700">
            <a:solidFill>
              <a:srgbClr val="333333"/>
            </a:solidFill>
            <a:prstDash val="solid"/>
          </a:ln>
        </p:spPr>
        <p:txBody>
          <a:bodyPr/>
          <a:lstStyle/>
          <a:p>
            <a:endParaRPr lang="en-SE"/>
          </a:p>
        </p:txBody>
      </p:sp>
      <p:sp>
        <p:nvSpPr>
          <p:cNvPr id="50" name="Text 48"/>
          <p:cNvSpPr/>
          <p:nvPr/>
        </p:nvSpPr>
        <p:spPr>
          <a:xfrm>
            <a:off x="8229600" y="2103120"/>
            <a:ext cx="3017520" cy="292608"/>
          </a:xfrm>
          <a:prstGeom prst="rect">
            <a:avLst/>
          </a:prstGeom>
          <a:noFill/>
          <a:ln/>
        </p:spPr>
        <p:txBody>
          <a:bodyPr wrap="square" lIns="0" tIns="0" rIns="0" bIns="0" rtlCol="0" anchor="ctr"/>
          <a:lstStyle/>
          <a:p>
            <a:pPr marL="0" indent="0">
              <a:buNone/>
            </a:pPr>
            <a:r>
              <a:rPr lang="en-US" sz="2800" b="1" kern="0" spc="150" dirty="0">
                <a:solidFill>
                  <a:srgbClr val="3FE08A"/>
                </a:solidFill>
                <a:latin typeface="Consolas" pitchFamily="34" charset="0"/>
                <a:ea typeface="Consolas" pitchFamily="34" charset="-122"/>
                <a:cs typeface="Consolas" pitchFamily="34" charset="-120"/>
              </a:rPr>
              <a:t>03</a:t>
            </a:r>
            <a:endParaRPr lang="en-US" sz="2800" dirty="0"/>
          </a:p>
        </p:txBody>
      </p:sp>
      <p:sp>
        <p:nvSpPr>
          <p:cNvPr id="51" name="Text 49"/>
          <p:cNvSpPr/>
          <p:nvPr/>
        </p:nvSpPr>
        <p:spPr>
          <a:xfrm>
            <a:off x="8229600" y="2470052"/>
            <a:ext cx="3017520" cy="384048"/>
          </a:xfrm>
          <a:prstGeom prst="rect">
            <a:avLst/>
          </a:prstGeom>
          <a:noFill/>
          <a:ln/>
        </p:spPr>
        <p:txBody>
          <a:bodyPr wrap="square" lIns="0" tIns="0" rIns="0" bIns="0" rtlCol="0" anchor="t"/>
          <a:lstStyle/>
          <a:p>
            <a:pPr marL="0" indent="0">
              <a:buNone/>
            </a:pPr>
            <a:r>
              <a:rPr lang="en-US" b="1" dirty="0">
                <a:solidFill>
                  <a:srgbClr val="E6EDF3"/>
                </a:solidFill>
                <a:latin typeface="Segoe UI" pitchFamily="34" charset="0"/>
                <a:ea typeface="Segoe UI" pitchFamily="34" charset="-122"/>
                <a:cs typeface="Segoe UI" pitchFamily="34" charset="-120"/>
              </a:rPr>
              <a:t>The screens</a:t>
            </a:r>
            <a:endParaRPr lang="en-US" dirty="0"/>
          </a:p>
        </p:txBody>
      </p:sp>
      <p:sp>
        <p:nvSpPr>
          <p:cNvPr id="52" name="Text 50"/>
          <p:cNvSpPr/>
          <p:nvPr/>
        </p:nvSpPr>
        <p:spPr>
          <a:xfrm>
            <a:off x="8229600" y="2881532"/>
            <a:ext cx="3017520" cy="777240"/>
          </a:xfrm>
          <a:prstGeom prst="rect">
            <a:avLst/>
          </a:prstGeom>
          <a:noFill/>
          <a:ln/>
        </p:spPr>
        <p:txBody>
          <a:bodyPr wrap="square" lIns="0" tIns="0" rIns="0" bIns="0" rtlCol="0" anchor="t"/>
          <a:lstStyle/>
          <a:p>
            <a:pPr marL="0" indent="0">
              <a:lnSpc>
                <a:spcPct val="115000"/>
              </a:lnSpc>
              <a:buNone/>
            </a:pPr>
            <a:r>
              <a:rPr lang="en-US" sz="1400" dirty="0">
                <a:solidFill>
                  <a:srgbClr val="AAB7C2"/>
                </a:solidFill>
                <a:latin typeface="Segoe UI" pitchFamily="34" charset="0"/>
                <a:ea typeface="Segoe UI" pitchFamily="34" charset="-122"/>
                <a:cs typeface="Segoe UI" pitchFamily="34" charset="-120"/>
              </a:rPr>
              <a:t>A guided tour of all six views, with screenshot placeholders.</a:t>
            </a:r>
            <a:endParaRPr lang="en-US" sz="1400" dirty="0"/>
          </a:p>
        </p:txBody>
      </p:sp>
      <p:sp>
        <p:nvSpPr>
          <p:cNvPr id="53" name="panel">
            <a:extLst>
              <a:ext uri="{C183D7F6-B498-43B3-948B-1728B52AA6E4}">
                <adec:decorative xmlns:adec="http://schemas.microsoft.com/office/drawing/2017/decorative" val="1"/>
              </a:ext>
            </a:extLst>
          </p:cNvPr>
          <p:cNvSpPr/>
          <p:nvPr/>
        </p:nvSpPr>
        <p:spPr>
          <a:xfrm>
            <a:off x="566928" y="4069080"/>
            <a:ext cx="3474720" cy="187452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54" name="panel accent">
            <a:extLst>
              <a:ext uri="{C183D7F6-B498-43B3-948B-1728B52AA6E4}">
                <adec:decorative xmlns:adec="http://schemas.microsoft.com/office/drawing/2017/decorative" val="1"/>
              </a:ext>
            </a:extLst>
          </p:cNvPr>
          <p:cNvSpPr/>
          <p:nvPr/>
        </p:nvSpPr>
        <p:spPr>
          <a:xfrm>
            <a:off x="566928" y="4069080"/>
            <a:ext cx="50292" cy="1874520"/>
          </a:xfrm>
          <a:prstGeom prst="rect">
            <a:avLst/>
          </a:prstGeom>
          <a:solidFill>
            <a:srgbClr val="3FE08A"/>
          </a:solidFill>
          <a:ln w="12700">
            <a:solidFill>
              <a:srgbClr val="333333"/>
            </a:solidFill>
            <a:prstDash val="solid"/>
          </a:ln>
        </p:spPr>
        <p:txBody>
          <a:bodyPr/>
          <a:lstStyle/>
          <a:p>
            <a:endParaRPr lang="en-SE"/>
          </a:p>
        </p:txBody>
      </p:sp>
      <p:sp>
        <p:nvSpPr>
          <p:cNvPr id="55" name="Text 53"/>
          <p:cNvSpPr/>
          <p:nvPr/>
        </p:nvSpPr>
        <p:spPr>
          <a:xfrm>
            <a:off x="804672" y="4251960"/>
            <a:ext cx="3017520" cy="292608"/>
          </a:xfrm>
          <a:prstGeom prst="rect">
            <a:avLst/>
          </a:prstGeom>
          <a:noFill/>
          <a:ln/>
        </p:spPr>
        <p:txBody>
          <a:bodyPr wrap="square" lIns="0" tIns="0" rIns="0" bIns="0" rtlCol="0" anchor="ctr"/>
          <a:lstStyle/>
          <a:p>
            <a:pPr marL="0" indent="0">
              <a:buNone/>
            </a:pPr>
            <a:r>
              <a:rPr lang="en-US" sz="2800" b="1" kern="0" spc="150" dirty="0">
                <a:solidFill>
                  <a:srgbClr val="3FE08A"/>
                </a:solidFill>
                <a:latin typeface="Consolas" pitchFamily="34" charset="0"/>
                <a:ea typeface="Consolas" pitchFamily="34" charset="-122"/>
                <a:cs typeface="Consolas" pitchFamily="34" charset="-120"/>
              </a:rPr>
              <a:t>04</a:t>
            </a:r>
            <a:endParaRPr lang="en-US" sz="2800" dirty="0"/>
          </a:p>
        </p:txBody>
      </p:sp>
      <p:sp>
        <p:nvSpPr>
          <p:cNvPr id="56" name="Text 54"/>
          <p:cNvSpPr/>
          <p:nvPr/>
        </p:nvSpPr>
        <p:spPr>
          <a:xfrm>
            <a:off x="804672" y="4618892"/>
            <a:ext cx="3017520" cy="384048"/>
          </a:xfrm>
          <a:prstGeom prst="rect">
            <a:avLst/>
          </a:prstGeom>
          <a:noFill/>
          <a:ln/>
        </p:spPr>
        <p:txBody>
          <a:bodyPr wrap="square" lIns="0" tIns="0" rIns="0" bIns="0" rtlCol="0" anchor="t"/>
          <a:lstStyle/>
          <a:p>
            <a:pPr marL="0" indent="0">
              <a:buNone/>
            </a:pPr>
            <a:r>
              <a:rPr lang="en-US" b="1" dirty="0">
                <a:solidFill>
                  <a:srgbClr val="E6EDF3"/>
                </a:solidFill>
                <a:latin typeface="Segoe UI" pitchFamily="34" charset="0"/>
                <a:ea typeface="Segoe UI" pitchFamily="34" charset="-122"/>
                <a:cs typeface="Segoe UI" pitchFamily="34" charset="-120"/>
              </a:rPr>
              <a:t>Reading dense screens</a:t>
            </a:r>
            <a:endParaRPr lang="en-US" dirty="0"/>
          </a:p>
        </p:txBody>
      </p:sp>
      <p:sp>
        <p:nvSpPr>
          <p:cNvPr id="57" name="Text 55"/>
          <p:cNvSpPr/>
          <p:nvPr/>
        </p:nvSpPr>
        <p:spPr>
          <a:xfrm>
            <a:off x="804672" y="5030372"/>
            <a:ext cx="3017520" cy="777240"/>
          </a:xfrm>
          <a:prstGeom prst="rect">
            <a:avLst/>
          </a:prstGeom>
          <a:noFill/>
          <a:ln/>
        </p:spPr>
        <p:txBody>
          <a:bodyPr wrap="square" lIns="0" tIns="0" rIns="0" bIns="0" rtlCol="0" anchor="t"/>
          <a:lstStyle/>
          <a:p>
            <a:pPr marL="0" indent="0">
              <a:lnSpc>
                <a:spcPct val="115000"/>
              </a:lnSpc>
              <a:buNone/>
            </a:pPr>
            <a:r>
              <a:rPr lang="en-US" sz="1400" dirty="0">
                <a:solidFill>
                  <a:srgbClr val="AAB7C2"/>
                </a:solidFill>
                <a:latin typeface="Segoe UI" pitchFamily="34" charset="0"/>
                <a:ea typeface="Segoe UI" pitchFamily="34" charset="-122"/>
                <a:cs typeface="Segoe UI" pitchFamily="34" charset="-120"/>
              </a:rPr>
              <a:t>Where beginners misread a busy board, and how to avoid it.</a:t>
            </a:r>
            <a:endParaRPr lang="en-US" sz="1400" dirty="0"/>
          </a:p>
        </p:txBody>
      </p:sp>
      <p:sp>
        <p:nvSpPr>
          <p:cNvPr id="58" name="panel">
            <a:extLst>
              <a:ext uri="{C183D7F6-B498-43B3-948B-1728B52AA6E4}">
                <adec:decorative xmlns:adec="http://schemas.microsoft.com/office/drawing/2017/decorative" val="1"/>
              </a:ext>
            </a:extLst>
          </p:cNvPr>
          <p:cNvSpPr/>
          <p:nvPr/>
        </p:nvSpPr>
        <p:spPr>
          <a:xfrm>
            <a:off x="4279392" y="4069080"/>
            <a:ext cx="3474720" cy="187452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59" name="panel accent">
            <a:extLst>
              <a:ext uri="{C183D7F6-B498-43B3-948B-1728B52AA6E4}">
                <adec:decorative xmlns:adec="http://schemas.microsoft.com/office/drawing/2017/decorative" val="1"/>
              </a:ext>
            </a:extLst>
          </p:cNvPr>
          <p:cNvSpPr/>
          <p:nvPr/>
        </p:nvSpPr>
        <p:spPr>
          <a:xfrm>
            <a:off x="4279392" y="4069080"/>
            <a:ext cx="50292" cy="1874520"/>
          </a:xfrm>
          <a:prstGeom prst="rect">
            <a:avLst/>
          </a:prstGeom>
          <a:solidFill>
            <a:srgbClr val="3FE08A"/>
          </a:solidFill>
          <a:ln w="12700">
            <a:solidFill>
              <a:srgbClr val="333333"/>
            </a:solidFill>
            <a:prstDash val="solid"/>
          </a:ln>
        </p:spPr>
        <p:txBody>
          <a:bodyPr/>
          <a:lstStyle/>
          <a:p>
            <a:endParaRPr lang="en-SE"/>
          </a:p>
        </p:txBody>
      </p:sp>
      <p:sp>
        <p:nvSpPr>
          <p:cNvPr id="60" name="Text 58"/>
          <p:cNvSpPr/>
          <p:nvPr/>
        </p:nvSpPr>
        <p:spPr>
          <a:xfrm>
            <a:off x="4517136" y="4251960"/>
            <a:ext cx="3017520" cy="292608"/>
          </a:xfrm>
          <a:prstGeom prst="rect">
            <a:avLst/>
          </a:prstGeom>
          <a:noFill/>
          <a:ln/>
        </p:spPr>
        <p:txBody>
          <a:bodyPr wrap="square" lIns="0" tIns="0" rIns="0" bIns="0" rtlCol="0" anchor="ctr"/>
          <a:lstStyle/>
          <a:p>
            <a:pPr marL="0" indent="0">
              <a:buNone/>
            </a:pPr>
            <a:r>
              <a:rPr lang="en-US" sz="2800" b="1" kern="0" spc="150" dirty="0">
                <a:solidFill>
                  <a:srgbClr val="3FE08A"/>
                </a:solidFill>
                <a:latin typeface="Consolas" pitchFamily="34" charset="0"/>
                <a:ea typeface="Consolas" pitchFamily="34" charset="-122"/>
                <a:cs typeface="Consolas" pitchFamily="34" charset="-120"/>
              </a:rPr>
              <a:t>05</a:t>
            </a:r>
            <a:endParaRPr lang="en-US" sz="2800" dirty="0"/>
          </a:p>
        </p:txBody>
      </p:sp>
      <p:sp>
        <p:nvSpPr>
          <p:cNvPr id="61" name="Text 59"/>
          <p:cNvSpPr/>
          <p:nvPr/>
        </p:nvSpPr>
        <p:spPr>
          <a:xfrm>
            <a:off x="4517136" y="4618892"/>
            <a:ext cx="3017520" cy="384048"/>
          </a:xfrm>
          <a:prstGeom prst="rect">
            <a:avLst/>
          </a:prstGeom>
          <a:noFill/>
          <a:ln/>
        </p:spPr>
        <p:txBody>
          <a:bodyPr wrap="square" lIns="0" tIns="0" rIns="0" bIns="0" rtlCol="0" anchor="t"/>
          <a:lstStyle/>
          <a:p>
            <a:pPr marL="0" indent="0">
              <a:buNone/>
            </a:pPr>
            <a:r>
              <a:rPr lang="en-US" b="1" dirty="0">
                <a:solidFill>
                  <a:srgbClr val="E6EDF3"/>
                </a:solidFill>
                <a:latin typeface="Segoe UI" pitchFamily="34" charset="0"/>
                <a:ea typeface="Segoe UI" pitchFamily="34" charset="-122"/>
                <a:cs typeface="Segoe UI" pitchFamily="34" charset="-120"/>
              </a:rPr>
              <a:t>Error handling</a:t>
            </a:r>
            <a:endParaRPr lang="en-US" dirty="0"/>
          </a:p>
        </p:txBody>
      </p:sp>
      <p:sp>
        <p:nvSpPr>
          <p:cNvPr id="62" name="Text 60"/>
          <p:cNvSpPr/>
          <p:nvPr/>
        </p:nvSpPr>
        <p:spPr>
          <a:xfrm>
            <a:off x="4517136" y="5030372"/>
            <a:ext cx="3017520" cy="777240"/>
          </a:xfrm>
          <a:prstGeom prst="rect">
            <a:avLst/>
          </a:prstGeom>
          <a:noFill/>
          <a:ln/>
        </p:spPr>
        <p:txBody>
          <a:bodyPr wrap="square" lIns="0" tIns="0" rIns="0" bIns="0" rtlCol="0" anchor="t"/>
          <a:lstStyle/>
          <a:p>
            <a:pPr marL="0" indent="0">
              <a:lnSpc>
                <a:spcPct val="115000"/>
              </a:lnSpc>
              <a:buNone/>
            </a:pPr>
            <a:r>
              <a:rPr lang="en-US" sz="1400" dirty="0">
                <a:solidFill>
                  <a:srgbClr val="AAB7C2"/>
                </a:solidFill>
                <a:latin typeface="Segoe UI" pitchFamily="34" charset="0"/>
                <a:ea typeface="Segoe UI" pitchFamily="34" charset="-122"/>
                <a:cs typeface="Segoe UI" pitchFamily="34" charset="-120"/>
              </a:rPr>
              <a:t>"No data" beats "possibly faulty data" — and how that looks on screen.</a:t>
            </a:r>
            <a:endParaRPr lang="en-US" sz="1400" dirty="0"/>
          </a:p>
        </p:txBody>
      </p:sp>
      <p:sp>
        <p:nvSpPr>
          <p:cNvPr id="63" name="panel">
            <a:extLst>
              <a:ext uri="{C183D7F6-B498-43B3-948B-1728B52AA6E4}">
                <adec:decorative xmlns:adec="http://schemas.microsoft.com/office/drawing/2017/decorative" val="1"/>
              </a:ext>
            </a:extLst>
          </p:cNvPr>
          <p:cNvSpPr/>
          <p:nvPr/>
        </p:nvSpPr>
        <p:spPr>
          <a:xfrm>
            <a:off x="7991856" y="4069080"/>
            <a:ext cx="3474720" cy="187452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64" name="panel accent">
            <a:extLst>
              <a:ext uri="{C183D7F6-B498-43B3-948B-1728B52AA6E4}">
                <adec:decorative xmlns:adec="http://schemas.microsoft.com/office/drawing/2017/decorative" val="1"/>
              </a:ext>
            </a:extLst>
          </p:cNvPr>
          <p:cNvSpPr/>
          <p:nvPr/>
        </p:nvSpPr>
        <p:spPr>
          <a:xfrm>
            <a:off x="7991856" y="4069080"/>
            <a:ext cx="50292" cy="1874520"/>
          </a:xfrm>
          <a:prstGeom prst="rect">
            <a:avLst/>
          </a:prstGeom>
          <a:solidFill>
            <a:srgbClr val="3FE08A"/>
          </a:solidFill>
          <a:ln w="12700">
            <a:solidFill>
              <a:srgbClr val="333333"/>
            </a:solidFill>
            <a:prstDash val="solid"/>
          </a:ln>
        </p:spPr>
        <p:txBody>
          <a:bodyPr/>
          <a:lstStyle/>
          <a:p>
            <a:endParaRPr lang="en-SE"/>
          </a:p>
        </p:txBody>
      </p:sp>
      <p:sp>
        <p:nvSpPr>
          <p:cNvPr id="65" name="Text 63"/>
          <p:cNvSpPr/>
          <p:nvPr/>
        </p:nvSpPr>
        <p:spPr>
          <a:xfrm>
            <a:off x="8229600" y="4251960"/>
            <a:ext cx="3017520" cy="292608"/>
          </a:xfrm>
          <a:prstGeom prst="rect">
            <a:avLst/>
          </a:prstGeom>
          <a:noFill/>
          <a:ln/>
        </p:spPr>
        <p:txBody>
          <a:bodyPr wrap="square" lIns="0" tIns="0" rIns="0" bIns="0" rtlCol="0" anchor="ctr"/>
          <a:lstStyle/>
          <a:p>
            <a:pPr marL="0" indent="0">
              <a:buNone/>
            </a:pPr>
            <a:r>
              <a:rPr lang="en-US" sz="2800" b="1" kern="0" spc="150" dirty="0">
                <a:solidFill>
                  <a:srgbClr val="3FE08A"/>
                </a:solidFill>
                <a:latin typeface="Consolas" pitchFamily="34" charset="0"/>
                <a:ea typeface="Consolas" pitchFamily="34" charset="-122"/>
                <a:cs typeface="Consolas" pitchFamily="34" charset="-120"/>
              </a:rPr>
              <a:t>06</a:t>
            </a:r>
            <a:endParaRPr lang="en-US" sz="2800" dirty="0"/>
          </a:p>
        </p:txBody>
      </p:sp>
      <p:sp>
        <p:nvSpPr>
          <p:cNvPr id="66" name="Text 64"/>
          <p:cNvSpPr/>
          <p:nvPr/>
        </p:nvSpPr>
        <p:spPr>
          <a:xfrm>
            <a:off x="8229600" y="4618892"/>
            <a:ext cx="3017520" cy="384048"/>
          </a:xfrm>
          <a:prstGeom prst="rect">
            <a:avLst/>
          </a:prstGeom>
          <a:noFill/>
          <a:ln/>
        </p:spPr>
        <p:txBody>
          <a:bodyPr wrap="square" lIns="0" tIns="0" rIns="0" bIns="0" rtlCol="0" anchor="t"/>
          <a:lstStyle/>
          <a:p>
            <a:pPr marL="0" indent="0">
              <a:buNone/>
            </a:pPr>
            <a:r>
              <a:rPr lang="en-US" b="1" dirty="0">
                <a:solidFill>
                  <a:srgbClr val="E6EDF3"/>
                </a:solidFill>
                <a:latin typeface="Segoe UI" pitchFamily="34" charset="0"/>
                <a:ea typeface="Segoe UI" pitchFamily="34" charset="-122"/>
                <a:cs typeface="Segoe UI" pitchFamily="34" charset="-120"/>
              </a:rPr>
              <a:t>Starting it up</a:t>
            </a:r>
            <a:endParaRPr lang="en-US" dirty="0"/>
          </a:p>
        </p:txBody>
      </p:sp>
      <p:sp>
        <p:nvSpPr>
          <p:cNvPr id="67" name="Text 65"/>
          <p:cNvSpPr/>
          <p:nvPr/>
        </p:nvSpPr>
        <p:spPr>
          <a:xfrm>
            <a:off x="8229600" y="5030372"/>
            <a:ext cx="3017520" cy="777240"/>
          </a:xfrm>
          <a:prstGeom prst="rect">
            <a:avLst/>
          </a:prstGeom>
          <a:noFill/>
          <a:ln/>
        </p:spPr>
        <p:txBody>
          <a:bodyPr wrap="square" lIns="0" tIns="0" rIns="0" bIns="0" rtlCol="0" anchor="t"/>
          <a:lstStyle/>
          <a:p>
            <a:pPr marL="0" indent="0">
              <a:lnSpc>
                <a:spcPct val="115000"/>
              </a:lnSpc>
              <a:buNone/>
            </a:pPr>
            <a:r>
              <a:rPr lang="en-US" sz="1400" dirty="0">
                <a:solidFill>
                  <a:srgbClr val="AAB7C2"/>
                </a:solidFill>
                <a:latin typeface="Segoe UI" pitchFamily="34" charset="0"/>
                <a:ea typeface="Segoe UI" pitchFamily="34" charset="-122"/>
                <a:cs typeface="Segoe UI" pitchFamily="34" charset="-120"/>
              </a:rPr>
              <a:t>Launch the pre-built container and set the configuration that matters.</a:t>
            </a:r>
            <a:endParaRPr lang="en-US" sz="1400" dirty="0"/>
          </a:p>
        </p:txBody>
      </p:sp>
      <p:sp>
        <p:nvSpPr>
          <p:cNvPr id="68" name="Text 66"/>
          <p:cNvSpPr/>
          <p:nvPr/>
        </p:nvSpPr>
        <p:spPr>
          <a:xfrm>
            <a:off x="566928" y="5989320"/>
            <a:ext cx="10607040" cy="365760"/>
          </a:xfrm>
          <a:prstGeom prst="rect">
            <a:avLst/>
          </a:prstGeom>
          <a:noFill/>
          <a:ln/>
        </p:spPr>
        <p:txBody>
          <a:bodyPr wrap="square" lIns="0" tIns="0" rIns="0" bIns="0" rtlCol="0" anchor="ctr"/>
          <a:lstStyle/>
          <a:p>
            <a:pPr marL="0" indent="0">
              <a:buNone/>
            </a:pPr>
            <a:r>
              <a:rPr lang="en-US" sz="1400" i="1" dirty="0">
                <a:solidFill>
                  <a:srgbClr val="7C8B97"/>
                </a:solidFill>
                <a:latin typeface="Segoe UI" pitchFamily="34" charset="0"/>
                <a:ea typeface="Segoe UI" pitchFamily="34" charset="-122"/>
                <a:cs typeface="Segoe UI" pitchFamily="34" charset="-120"/>
              </a:rPr>
              <a:t>Plus a technical reference: the CALF market-data feed, the REST history gateway, and the full configuration table.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side band">
            <a:extLst>
              <a:ext uri="{C183D7F6-B498-43B3-948B-1728B52AA6E4}">
                <adec:decorative xmlns:adec="http://schemas.microsoft.com/office/drawing/2017/decorative" val="1"/>
              </a:ext>
            </a:extLst>
          </p:cNvPr>
          <p:cNvSpPr/>
          <p:nvPr/>
        </p:nvSpPr>
        <p:spPr>
          <a:xfrm>
            <a:off x="0" y="0"/>
            <a:ext cx="384048" cy="6858000"/>
          </a:xfrm>
          <a:prstGeom prst="rect">
            <a:avLst/>
          </a:prstGeom>
          <a:solidFill>
            <a:srgbClr val="122C22"/>
          </a:solidFill>
          <a:ln w="12700">
            <a:solidFill>
              <a:srgbClr val="333333"/>
            </a:solidFill>
            <a:prstDash val="solid"/>
          </a:ln>
        </p:spPr>
        <p:txBody>
          <a:bodyPr/>
          <a:lstStyle/>
          <a:p>
            <a:endParaRPr lang="en-SE"/>
          </a:p>
        </p:txBody>
      </p:sp>
      <p:sp>
        <p:nvSpPr>
          <p:cNvPr id="29" name="side accent">
            <a:extLst>
              <a:ext uri="{C183D7F6-B498-43B3-948B-1728B52AA6E4}">
                <adec:decorative xmlns:adec="http://schemas.microsoft.com/office/drawing/2017/decorative" val="1"/>
              </a:ext>
            </a:extLst>
          </p:cNvPr>
          <p:cNvSpPr/>
          <p:nvPr/>
        </p:nvSpPr>
        <p:spPr>
          <a:xfrm>
            <a:off x="384048" y="0"/>
            <a:ext cx="45720" cy="6858000"/>
          </a:xfrm>
          <a:prstGeom prst="rect">
            <a:avLst/>
          </a:prstGeom>
          <a:solidFill>
            <a:srgbClr val="3FE08A"/>
          </a:solidFill>
          <a:ln w="12700">
            <a:solidFill>
              <a:srgbClr val="333333"/>
            </a:solidFill>
            <a:prstDash val="solid"/>
          </a:ln>
        </p:spPr>
        <p:txBody>
          <a:bodyPr/>
          <a:lstStyle/>
          <a:p>
            <a:endParaRPr lang="en-SE"/>
          </a:p>
        </p:txBody>
      </p:sp>
      <p:sp>
        <p:nvSpPr>
          <p:cNvPr id="30" name="Text 28"/>
          <p:cNvSpPr/>
          <p:nvPr/>
        </p:nvSpPr>
        <p:spPr>
          <a:xfrm>
            <a:off x="1280160" y="1691640"/>
            <a:ext cx="3657600" cy="1371600"/>
          </a:xfrm>
          <a:prstGeom prst="rect">
            <a:avLst/>
          </a:prstGeom>
          <a:noFill/>
          <a:ln/>
        </p:spPr>
        <p:txBody>
          <a:bodyPr wrap="square" lIns="0" tIns="0" rIns="0" bIns="0" rtlCol="0" anchor="ctr"/>
          <a:lstStyle/>
          <a:p>
            <a:pPr marL="0" indent="0">
              <a:buNone/>
            </a:pPr>
            <a:r>
              <a:rPr lang="en-US" sz="8400" b="1" dirty="0">
                <a:solidFill>
                  <a:srgbClr val="1E6E4B"/>
                </a:solidFill>
                <a:latin typeface="Consolas" pitchFamily="34" charset="0"/>
                <a:ea typeface="Consolas" pitchFamily="34" charset="-122"/>
                <a:cs typeface="Consolas" pitchFamily="34" charset="-120"/>
              </a:rPr>
              <a:t>01</a:t>
            </a:r>
            <a:endParaRPr lang="en-US" sz="8400" dirty="0"/>
          </a:p>
        </p:txBody>
      </p:sp>
      <p:sp>
        <p:nvSpPr>
          <p:cNvPr id="31" name="Text 0"/>
          <p:cNvSpPr>
            <a:spLocks noGrp="1"/>
          </p:cNvSpPr>
          <p:nvPr>
            <p:ph type="title" idx="100" hasCustomPrompt="1"/>
          </p:nvPr>
        </p:nvSpPr>
        <p:spPr>
          <a:xfrm>
            <a:off x="1371600" y="2788920"/>
            <a:ext cx="9418320" cy="1005840"/>
          </a:xfrm>
          <a:prstGeom prst="rect">
            <a:avLst/>
          </a:prstGeom>
          <a:noFill/>
          <a:ln/>
        </p:spPr>
        <p:txBody>
          <a:bodyPr wrap="square" lIns="0" tIns="0" rIns="0" bIns="0" rtlCol="0" anchor="ctr"/>
          <a:lstStyle/>
          <a:p>
            <a:pPr marL="0" indent="0">
              <a:buNone/>
            </a:pPr>
            <a:r>
              <a:rPr lang="en-US" sz="3600" b="1" dirty="0">
                <a:solidFill>
                  <a:srgbClr val="E6EDF3"/>
                </a:solidFill>
                <a:latin typeface="Segoe UI" pitchFamily="34" charset="0"/>
                <a:ea typeface="Segoe UI" pitchFamily="34" charset="-122"/>
                <a:cs typeface="Segoe UI" pitchFamily="34" charset="-120"/>
              </a:rPr>
              <a:t>Purpose: a window, not a control panel</a:t>
            </a:r>
            <a:endParaRPr lang="en-US" sz="3600" dirty="0"/>
          </a:p>
        </p:txBody>
      </p:sp>
      <p:sp>
        <p:nvSpPr>
          <p:cNvPr id="32" name="Text 30"/>
          <p:cNvSpPr/>
          <p:nvPr/>
        </p:nvSpPr>
        <p:spPr>
          <a:xfrm>
            <a:off x="1371600" y="3931920"/>
            <a:ext cx="8778240" cy="822960"/>
          </a:xfrm>
          <a:prstGeom prst="rect">
            <a:avLst/>
          </a:prstGeom>
          <a:noFill/>
          <a:ln/>
        </p:spPr>
        <p:txBody>
          <a:bodyPr wrap="square" lIns="0" tIns="0" rIns="0" bIns="0" rtlCol="0" anchor="t"/>
          <a:lstStyle/>
          <a:p>
            <a:pPr marL="0" indent="0">
              <a:lnSpc>
                <a:spcPct val="115000"/>
              </a:lnSpc>
              <a:buNone/>
            </a:pPr>
            <a:r>
              <a:rPr lang="en-US" sz="1450" dirty="0">
                <a:solidFill>
                  <a:srgbClr val="AAB7C2"/>
                </a:solidFill>
                <a:latin typeface="Segoe UI" pitchFamily="34" charset="0"/>
                <a:ea typeface="Segoe UI" pitchFamily="34" charset="-122"/>
                <a:cs typeface="Segoe UI" pitchFamily="34" charset="-120"/>
              </a:rPr>
              <a:t>Before you read a single number on the screen, be clear about what this application is allowed to do.</a:t>
            </a:r>
            <a:endParaRPr lang="en-US" sz="1450" dirty="0"/>
          </a:p>
        </p:txBody>
      </p:sp>
      <p:sp>
        <p:nvSpPr>
          <p:cNvPr id="33" name="ticker bar">
            <a:extLst>
              <a:ext uri="{C183D7F6-B498-43B3-948B-1728B52AA6E4}">
                <adec:decorative xmlns:adec="http://schemas.microsoft.com/office/drawing/2017/decorative" val="1"/>
              </a:ext>
            </a:extLst>
          </p:cNvPr>
          <p:cNvSpPr/>
          <p:nvPr/>
        </p:nvSpPr>
        <p:spPr>
          <a:xfrm>
            <a:off x="1371600" y="5532120"/>
            <a:ext cx="164592" cy="137160"/>
          </a:xfrm>
          <a:prstGeom prst="rect">
            <a:avLst/>
          </a:prstGeom>
          <a:solidFill>
            <a:srgbClr val="1E6E4B"/>
          </a:solidFill>
          <a:ln w="12700">
            <a:solidFill>
              <a:srgbClr val="333333"/>
            </a:solidFill>
            <a:prstDash val="solid"/>
          </a:ln>
        </p:spPr>
        <p:txBody>
          <a:bodyPr/>
          <a:lstStyle/>
          <a:p>
            <a:endParaRPr lang="en-SE"/>
          </a:p>
        </p:txBody>
      </p:sp>
      <p:sp>
        <p:nvSpPr>
          <p:cNvPr id="34" name="ticker bar">
            <a:extLst>
              <a:ext uri="{C183D7F6-B498-43B3-948B-1728B52AA6E4}">
                <adec:decorative xmlns:adec="http://schemas.microsoft.com/office/drawing/2017/decorative" val="1"/>
              </a:ext>
            </a:extLst>
          </p:cNvPr>
          <p:cNvSpPr/>
          <p:nvPr/>
        </p:nvSpPr>
        <p:spPr>
          <a:xfrm>
            <a:off x="1682496" y="5367528"/>
            <a:ext cx="164592" cy="301752"/>
          </a:xfrm>
          <a:prstGeom prst="rect">
            <a:avLst/>
          </a:prstGeom>
          <a:solidFill>
            <a:srgbClr val="1E6E4B"/>
          </a:solidFill>
          <a:ln w="12700">
            <a:solidFill>
              <a:srgbClr val="333333"/>
            </a:solidFill>
            <a:prstDash val="solid"/>
          </a:ln>
        </p:spPr>
        <p:txBody>
          <a:bodyPr/>
          <a:lstStyle/>
          <a:p>
            <a:endParaRPr lang="en-SE"/>
          </a:p>
        </p:txBody>
      </p:sp>
      <p:sp>
        <p:nvSpPr>
          <p:cNvPr id="35" name="ticker bar">
            <a:extLst>
              <a:ext uri="{C183D7F6-B498-43B3-948B-1728B52AA6E4}">
                <adec:decorative xmlns:adec="http://schemas.microsoft.com/office/drawing/2017/decorative" val="1"/>
              </a:ext>
            </a:extLst>
          </p:cNvPr>
          <p:cNvSpPr/>
          <p:nvPr/>
        </p:nvSpPr>
        <p:spPr>
          <a:xfrm>
            <a:off x="1993392" y="5449824"/>
            <a:ext cx="164592" cy="219456"/>
          </a:xfrm>
          <a:prstGeom prst="rect">
            <a:avLst/>
          </a:prstGeom>
          <a:solidFill>
            <a:srgbClr val="1E6E4B"/>
          </a:solidFill>
          <a:ln w="12700">
            <a:solidFill>
              <a:srgbClr val="333333"/>
            </a:solidFill>
            <a:prstDash val="solid"/>
          </a:ln>
        </p:spPr>
        <p:txBody>
          <a:bodyPr/>
          <a:lstStyle/>
          <a:p>
            <a:endParaRPr lang="en-SE"/>
          </a:p>
        </p:txBody>
      </p:sp>
      <p:sp>
        <p:nvSpPr>
          <p:cNvPr id="36" name="ticker bar">
            <a:extLst>
              <a:ext uri="{C183D7F6-B498-43B3-948B-1728B52AA6E4}">
                <adec:decorative xmlns:adec="http://schemas.microsoft.com/office/drawing/2017/decorative" val="1"/>
              </a:ext>
            </a:extLst>
          </p:cNvPr>
          <p:cNvSpPr/>
          <p:nvPr/>
        </p:nvSpPr>
        <p:spPr>
          <a:xfrm>
            <a:off x="2304288" y="5230368"/>
            <a:ext cx="164592" cy="438912"/>
          </a:xfrm>
          <a:prstGeom prst="rect">
            <a:avLst/>
          </a:prstGeom>
          <a:solidFill>
            <a:srgbClr val="1E6E4B"/>
          </a:solidFill>
          <a:ln w="12700">
            <a:solidFill>
              <a:srgbClr val="333333"/>
            </a:solidFill>
            <a:prstDash val="solid"/>
          </a:ln>
        </p:spPr>
        <p:txBody>
          <a:bodyPr/>
          <a:lstStyle/>
          <a:p>
            <a:endParaRPr lang="en-SE"/>
          </a:p>
        </p:txBody>
      </p:sp>
      <p:sp>
        <p:nvSpPr>
          <p:cNvPr id="37" name="ticker bar">
            <a:extLst>
              <a:ext uri="{C183D7F6-B498-43B3-948B-1728B52AA6E4}">
                <adec:decorative xmlns:adec="http://schemas.microsoft.com/office/drawing/2017/decorative" val="1"/>
              </a:ext>
            </a:extLst>
          </p:cNvPr>
          <p:cNvSpPr/>
          <p:nvPr/>
        </p:nvSpPr>
        <p:spPr>
          <a:xfrm>
            <a:off x="2615184" y="5340096"/>
            <a:ext cx="164592" cy="329184"/>
          </a:xfrm>
          <a:prstGeom prst="rect">
            <a:avLst/>
          </a:prstGeom>
          <a:solidFill>
            <a:srgbClr val="1E6E4B"/>
          </a:solidFill>
          <a:ln w="12700">
            <a:solidFill>
              <a:srgbClr val="333333"/>
            </a:solidFill>
            <a:prstDash val="solid"/>
          </a:ln>
        </p:spPr>
        <p:txBody>
          <a:bodyPr/>
          <a:lstStyle/>
          <a:p>
            <a:endParaRPr lang="en-SE"/>
          </a:p>
        </p:txBody>
      </p:sp>
      <p:sp>
        <p:nvSpPr>
          <p:cNvPr id="38" name="ticker bar">
            <a:extLst>
              <a:ext uri="{C183D7F6-B498-43B3-948B-1728B52AA6E4}">
                <adec:decorative xmlns:adec="http://schemas.microsoft.com/office/drawing/2017/decorative" val="1"/>
              </a:ext>
            </a:extLst>
          </p:cNvPr>
          <p:cNvSpPr/>
          <p:nvPr/>
        </p:nvSpPr>
        <p:spPr>
          <a:xfrm>
            <a:off x="2926080" y="5120640"/>
            <a:ext cx="164592" cy="548640"/>
          </a:xfrm>
          <a:prstGeom prst="rect">
            <a:avLst/>
          </a:prstGeom>
          <a:solidFill>
            <a:srgbClr val="1E6E4B"/>
          </a:solidFill>
          <a:ln w="12700">
            <a:solidFill>
              <a:srgbClr val="333333"/>
            </a:solidFill>
            <a:prstDash val="solid"/>
          </a:ln>
        </p:spPr>
        <p:txBody>
          <a:bodyPr/>
          <a:lstStyle/>
          <a:p>
            <a:endParaRPr lang="en-SE"/>
          </a:p>
        </p:txBody>
      </p:sp>
      <p:sp>
        <p:nvSpPr>
          <p:cNvPr id="39" name="ticker bar">
            <a:extLst>
              <a:ext uri="{C183D7F6-B498-43B3-948B-1728B52AA6E4}">
                <adec:decorative xmlns:adec="http://schemas.microsoft.com/office/drawing/2017/decorative" val="1"/>
              </a:ext>
            </a:extLst>
          </p:cNvPr>
          <p:cNvSpPr/>
          <p:nvPr/>
        </p:nvSpPr>
        <p:spPr>
          <a:xfrm>
            <a:off x="3236976" y="5257800"/>
            <a:ext cx="164592" cy="411480"/>
          </a:xfrm>
          <a:prstGeom prst="rect">
            <a:avLst/>
          </a:prstGeom>
          <a:solidFill>
            <a:srgbClr val="1E6E4B"/>
          </a:solidFill>
          <a:ln w="12700">
            <a:solidFill>
              <a:srgbClr val="333333"/>
            </a:solidFill>
            <a:prstDash val="solid"/>
          </a:ln>
        </p:spPr>
        <p:txBody>
          <a:bodyPr/>
          <a:lstStyle/>
          <a:p>
            <a:endParaRPr lang="en-SE"/>
          </a:p>
        </p:txBody>
      </p:sp>
      <p:sp>
        <p:nvSpPr>
          <p:cNvPr id="40" name="ticker bar">
            <a:extLst>
              <a:ext uri="{C183D7F6-B498-43B3-948B-1728B52AA6E4}">
                <adec:decorative xmlns:adec="http://schemas.microsoft.com/office/drawing/2017/decorative" val="1"/>
              </a:ext>
            </a:extLst>
          </p:cNvPr>
          <p:cNvSpPr/>
          <p:nvPr/>
        </p:nvSpPr>
        <p:spPr>
          <a:xfrm>
            <a:off x="3547872" y="5010912"/>
            <a:ext cx="164592" cy="658368"/>
          </a:xfrm>
          <a:prstGeom prst="rect">
            <a:avLst/>
          </a:prstGeom>
          <a:solidFill>
            <a:srgbClr val="3FE08A"/>
          </a:solidFill>
          <a:ln w="12700">
            <a:solidFill>
              <a:srgbClr val="333333"/>
            </a:solidFill>
            <a:prstDash val="solid"/>
          </a:ln>
        </p:spPr>
        <p:txBody>
          <a:bodyPr/>
          <a:lstStyle/>
          <a:p>
            <a:endParaRPr lang="en-SE"/>
          </a:p>
        </p:txBody>
      </p:sp>
      <p:sp>
        <p:nvSpPr>
          <p:cNvPr id="41" name="ticker bar">
            <a:extLst>
              <a:ext uri="{C183D7F6-B498-43B3-948B-1728B52AA6E4}">
                <adec:decorative xmlns:adec="http://schemas.microsoft.com/office/drawing/2017/decorative" val="1"/>
              </a:ext>
            </a:extLst>
          </p:cNvPr>
          <p:cNvSpPr/>
          <p:nvPr/>
        </p:nvSpPr>
        <p:spPr>
          <a:xfrm>
            <a:off x="3858768" y="5148072"/>
            <a:ext cx="164592" cy="521208"/>
          </a:xfrm>
          <a:prstGeom prst="rect">
            <a:avLst/>
          </a:prstGeom>
          <a:solidFill>
            <a:srgbClr val="3FE08A"/>
          </a:solidFill>
          <a:ln w="12700">
            <a:solidFill>
              <a:srgbClr val="333333"/>
            </a:solidFill>
            <a:prstDash val="solid"/>
          </a:ln>
        </p:spPr>
        <p:txBody>
          <a:bodyPr/>
          <a:lstStyle/>
          <a:p>
            <a:endParaRPr lang="en-SE"/>
          </a:p>
        </p:txBody>
      </p:sp>
      <p:sp>
        <p:nvSpPr>
          <p:cNvPr id="42" name="ticker bar">
            <a:extLst>
              <a:ext uri="{C183D7F6-B498-43B3-948B-1728B52AA6E4}">
                <adec:decorative xmlns:adec="http://schemas.microsoft.com/office/drawing/2017/decorative" val="1"/>
              </a:ext>
            </a:extLst>
          </p:cNvPr>
          <p:cNvSpPr/>
          <p:nvPr/>
        </p:nvSpPr>
        <p:spPr>
          <a:xfrm>
            <a:off x="4169664" y="4928616"/>
            <a:ext cx="164592" cy="740664"/>
          </a:xfrm>
          <a:prstGeom prst="rect">
            <a:avLst/>
          </a:prstGeom>
          <a:solidFill>
            <a:srgbClr val="3FE08A"/>
          </a:solidFill>
          <a:ln w="12700">
            <a:solidFill>
              <a:srgbClr val="333333"/>
            </a:solidFill>
            <a:prstDash val="solid"/>
          </a:ln>
        </p:spPr>
        <p:txBody>
          <a:bodyPr/>
          <a:lstStyle/>
          <a:p>
            <a:endParaRPr lang="en-SE"/>
          </a:p>
        </p:txBody>
      </p:sp>
      <p:sp>
        <p:nvSpPr>
          <p:cNvPr id="43"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44"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45" name="Text 43"/>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46" name="Text 44"/>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47" name="Text 45"/>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03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What is a market data terminal?</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01 · PURPOSE</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04</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600" dirty="0">
                <a:solidFill>
                  <a:srgbClr val="AAB7C2"/>
                </a:solidFill>
                <a:latin typeface="Segoe UI" pitchFamily="34" charset="0"/>
                <a:ea typeface="Segoe UI" pitchFamily="34" charset="-122"/>
                <a:cs typeface="Segoe UI" pitchFamily="34" charset="-120"/>
              </a:rPr>
              <a:t>An exchange constantly produces events. A market data terminal turns that stream into something a human can watch.</a:t>
            </a:r>
            <a:endParaRPr lang="en-US" sz="1600" dirty="0"/>
          </a:p>
        </p:txBody>
      </p:sp>
      <p:sp>
        <p:nvSpPr>
          <p:cNvPr id="38" name="diagram node">
            <a:extLst>
              <a:ext uri="{C183D7F6-B498-43B3-948B-1728B52AA6E4}">
                <adec:decorative xmlns:adec="http://schemas.microsoft.com/office/drawing/2017/decorative" val="1"/>
              </a:ext>
            </a:extLst>
          </p:cNvPr>
          <p:cNvSpPr/>
          <p:nvPr/>
        </p:nvSpPr>
        <p:spPr>
          <a:xfrm>
            <a:off x="566928" y="2286000"/>
            <a:ext cx="2286000" cy="1371600"/>
          </a:xfrm>
          <a:prstGeom prst="rect">
            <a:avLst/>
          </a:prstGeom>
          <a:solidFill>
            <a:srgbClr val="20272D"/>
          </a:solidFill>
          <a:ln w="1905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39" name="Text 37"/>
          <p:cNvSpPr/>
          <p:nvPr/>
        </p:nvSpPr>
        <p:spPr>
          <a:xfrm>
            <a:off x="676656" y="2432304"/>
            <a:ext cx="2066544" cy="329184"/>
          </a:xfrm>
          <a:prstGeom prst="rect">
            <a:avLst/>
          </a:prstGeom>
          <a:noFill/>
          <a:ln/>
        </p:spPr>
        <p:txBody>
          <a:bodyPr wrap="square" lIns="0" tIns="0" rIns="0" bIns="0" rtlCol="0" anchor="t"/>
          <a:lstStyle/>
          <a:p>
            <a:pPr marL="0" indent="0" algn="ctr">
              <a:buNone/>
            </a:pPr>
            <a:r>
              <a:rPr lang="en-US" sz="1600" b="1" dirty="0">
                <a:solidFill>
                  <a:srgbClr val="E6EDF3"/>
                </a:solidFill>
                <a:latin typeface="Consolas" pitchFamily="34" charset="0"/>
                <a:ea typeface="Consolas" pitchFamily="34" charset="-122"/>
                <a:cs typeface="Consolas" pitchFamily="34" charset="-120"/>
              </a:rPr>
              <a:t>EXCHANGE</a:t>
            </a:r>
            <a:endParaRPr lang="en-US" sz="1600" dirty="0"/>
          </a:p>
        </p:txBody>
      </p:sp>
      <p:sp>
        <p:nvSpPr>
          <p:cNvPr id="40" name="Text 38"/>
          <p:cNvSpPr/>
          <p:nvPr/>
        </p:nvSpPr>
        <p:spPr>
          <a:xfrm>
            <a:off x="676656" y="2919045"/>
            <a:ext cx="2066544" cy="822960"/>
          </a:xfrm>
          <a:prstGeom prst="rect">
            <a:avLst/>
          </a:prstGeom>
          <a:noFill/>
          <a:ln/>
        </p:spPr>
        <p:txBody>
          <a:bodyPr wrap="square" lIns="0" tIns="0" rIns="0" bIns="0" rtlCol="0" anchor="t"/>
          <a:lstStyle/>
          <a:p>
            <a:pPr marL="0" indent="0" algn="ctr">
              <a:lnSpc>
                <a:spcPct val="105000"/>
              </a:lnSpc>
              <a:buNone/>
            </a:pPr>
            <a:r>
              <a:rPr lang="en-US" sz="1400" dirty="0">
                <a:solidFill>
                  <a:srgbClr val="AAB7C2"/>
                </a:solidFill>
                <a:latin typeface="Segoe UI" pitchFamily="34" charset="0"/>
                <a:ea typeface="Segoe UI" pitchFamily="34" charset="-122"/>
                <a:cs typeface="Segoe UI" pitchFamily="34" charset="-120"/>
              </a:rPr>
              <a:t>Matching engine</a:t>
            </a:r>
            <a:endParaRPr lang="en-US" sz="1400" dirty="0"/>
          </a:p>
          <a:p>
            <a:pPr marL="0" indent="0" algn="ctr">
              <a:lnSpc>
                <a:spcPct val="105000"/>
              </a:lnSpc>
              <a:buNone/>
            </a:pPr>
            <a:r>
              <a:rPr lang="en-US" sz="1400" dirty="0">
                <a:solidFill>
                  <a:srgbClr val="AAB7C2"/>
                </a:solidFill>
                <a:latin typeface="Segoe UI" pitchFamily="34" charset="0"/>
                <a:ea typeface="Segoe UI" pitchFamily="34" charset="-122"/>
                <a:cs typeface="Segoe UI" pitchFamily="34" charset="-120"/>
              </a:rPr>
              <a:t>matches orders,</a:t>
            </a:r>
            <a:endParaRPr lang="en-US" sz="1400" dirty="0"/>
          </a:p>
          <a:p>
            <a:pPr marL="0" indent="0" algn="ctr">
              <a:lnSpc>
                <a:spcPct val="105000"/>
              </a:lnSpc>
              <a:buNone/>
            </a:pPr>
            <a:r>
              <a:rPr lang="en-US" sz="1400" dirty="0">
                <a:solidFill>
                  <a:srgbClr val="AAB7C2"/>
                </a:solidFill>
                <a:latin typeface="Segoe UI" pitchFamily="34" charset="0"/>
                <a:ea typeface="Segoe UI" pitchFamily="34" charset="-122"/>
                <a:cs typeface="Segoe UI" pitchFamily="34" charset="-120"/>
              </a:rPr>
              <a:t>produces events</a:t>
            </a:r>
            <a:endParaRPr lang="en-US" sz="1400" dirty="0"/>
          </a:p>
        </p:txBody>
      </p:sp>
      <p:sp>
        <p:nvSpPr>
          <p:cNvPr id="41" name="flow arrow">
            <a:extLst>
              <a:ext uri="{C183D7F6-B498-43B3-948B-1728B52AA6E4}">
                <adec:decorative xmlns:adec="http://schemas.microsoft.com/office/drawing/2017/decorative" val="1"/>
              </a:ext>
            </a:extLst>
          </p:cNvPr>
          <p:cNvSpPr/>
          <p:nvPr/>
        </p:nvSpPr>
        <p:spPr>
          <a:xfrm>
            <a:off x="2971800" y="2971800"/>
            <a:ext cx="914400" cy="0"/>
          </a:xfrm>
          <a:prstGeom prst="line">
            <a:avLst/>
          </a:prstGeom>
          <a:noFill/>
          <a:ln w="25400">
            <a:solidFill>
              <a:srgbClr val="3FE08A"/>
            </a:solidFill>
            <a:prstDash val="solid"/>
            <a:tailEnd type="triangle"/>
          </a:ln>
        </p:spPr>
        <p:txBody>
          <a:bodyPr/>
          <a:lstStyle/>
          <a:p>
            <a:endParaRPr lang="en-SE"/>
          </a:p>
        </p:txBody>
      </p:sp>
      <p:sp>
        <p:nvSpPr>
          <p:cNvPr id="42" name="Text 40"/>
          <p:cNvSpPr/>
          <p:nvPr/>
        </p:nvSpPr>
        <p:spPr>
          <a:xfrm>
            <a:off x="2971800" y="2587752"/>
            <a:ext cx="914400" cy="310896"/>
          </a:xfrm>
          <a:prstGeom prst="rect">
            <a:avLst/>
          </a:prstGeom>
          <a:noFill/>
          <a:ln/>
        </p:spPr>
        <p:txBody>
          <a:bodyPr wrap="square" lIns="0" tIns="0" rIns="0" bIns="0" rtlCol="0" anchor="ctr"/>
          <a:lstStyle/>
          <a:p>
            <a:pPr marL="0" indent="0" algn="ctr">
              <a:buNone/>
            </a:pPr>
            <a:r>
              <a:rPr lang="en-US" sz="1600" dirty="0">
                <a:solidFill>
                  <a:srgbClr val="7C8B97"/>
                </a:solidFill>
                <a:latin typeface="Consolas" pitchFamily="34" charset="0"/>
                <a:ea typeface="Consolas" pitchFamily="34" charset="-122"/>
                <a:cs typeface="Consolas" pitchFamily="34" charset="-120"/>
              </a:rPr>
              <a:t>events</a:t>
            </a:r>
            <a:endParaRPr lang="en-US" sz="1600" dirty="0"/>
          </a:p>
        </p:txBody>
      </p:sp>
      <p:sp>
        <p:nvSpPr>
          <p:cNvPr id="43" name="diagram node">
            <a:extLst>
              <a:ext uri="{C183D7F6-B498-43B3-948B-1728B52AA6E4}">
                <adec:decorative xmlns:adec="http://schemas.microsoft.com/office/drawing/2017/decorative" val="1"/>
              </a:ext>
            </a:extLst>
          </p:cNvPr>
          <p:cNvSpPr/>
          <p:nvPr/>
        </p:nvSpPr>
        <p:spPr>
          <a:xfrm>
            <a:off x="4023360" y="2286000"/>
            <a:ext cx="2286000" cy="1371600"/>
          </a:xfrm>
          <a:prstGeom prst="rect">
            <a:avLst/>
          </a:prstGeom>
          <a:solidFill>
            <a:srgbClr val="20272D"/>
          </a:solidFill>
          <a:ln w="19050">
            <a:solidFill>
              <a:srgbClr val="1E6E4B"/>
            </a:solidFill>
            <a:prstDash val="solid"/>
          </a:ln>
          <a:effectLst>
            <a:outerShdw blurRad="152400" dist="38100" dir="5400000" algn="bl" rotWithShape="0">
              <a:srgbClr val="000000">
                <a:alpha val="35000"/>
              </a:srgbClr>
            </a:outerShdw>
          </a:effectLst>
        </p:spPr>
        <p:txBody>
          <a:bodyPr/>
          <a:lstStyle/>
          <a:p>
            <a:endParaRPr lang="en-SE"/>
          </a:p>
        </p:txBody>
      </p:sp>
      <p:sp>
        <p:nvSpPr>
          <p:cNvPr id="44" name="Text 42"/>
          <p:cNvSpPr/>
          <p:nvPr/>
        </p:nvSpPr>
        <p:spPr>
          <a:xfrm>
            <a:off x="4133088" y="2432304"/>
            <a:ext cx="2066544" cy="329184"/>
          </a:xfrm>
          <a:prstGeom prst="rect">
            <a:avLst/>
          </a:prstGeom>
          <a:noFill/>
          <a:ln/>
        </p:spPr>
        <p:txBody>
          <a:bodyPr wrap="square" lIns="0" tIns="0" rIns="0" bIns="0" rtlCol="0" anchor="t"/>
          <a:lstStyle/>
          <a:p>
            <a:pPr marL="0" indent="0" algn="ctr">
              <a:buNone/>
            </a:pPr>
            <a:r>
              <a:rPr lang="en-US" sz="1600" b="1" dirty="0">
                <a:solidFill>
                  <a:srgbClr val="E6EDF3"/>
                </a:solidFill>
                <a:latin typeface="Consolas" pitchFamily="34" charset="0"/>
                <a:ea typeface="Consolas" pitchFamily="34" charset="-122"/>
                <a:cs typeface="Consolas" pitchFamily="34" charset="-120"/>
              </a:rPr>
              <a:t>MARKET DATA</a:t>
            </a:r>
            <a:endParaRPr lang="en-US" sz="1600" dirty="0"/>
          </a:p>
          <a:p>
            <a:pPr marL="0" indent="0" algn="ctr">
              <a:buNone/>
            </a:pPr>
            <a:r>
              <a:rPr lang="en-US" sz="1600" b="1" dirty="0">
                <a:solidFill>
                  <a:srgbClr val="E6EDF3"/>
                </a:solidFill>
                <a:latin typeface="Consolas" pitchFamily="34" charset="0"/>
                <a:ea typeface="Consolas" pitchFamily="34" charset="-122"/>
                <a:cs typeface="Consolas" pitchFamily="34" charset="-120"/>
              </a:rPr>
              <a:t>FEED</a:t>
            </a:r>
            <a:endParaRPr lang="en-US" sz="1600" dirty="0"/>
          </a:p>
        </p:txBody>
      </p:sp>
      <p:sp>
        <p:nvSpPr>
          <p:cNvPr id="45" name="Text 43"/>
          <p:cNvSpPr/>
          <p:nvPr/>
        </p:nvSpPr>
        <p:spPr>
          <a:xfrm>
            <a:off x="4133088" y="2919045"/>
            <a:ext cx="2066544" cy="822960"/>
          </a:xfrm>
          <a:prstGeom prst="rect">
            <a:avLst/>
          </a:prstGeom>
          <a:noFill/>
          <a:ln/>
        </p:spPr>
        <p:txBody>
          <a:bodyPr wrap="square" lIns="0" tIns="0" rIns="0" bIns="0" rtlCol="0" anchor="t"/>
          <a:lstStyle/>
          <a:p>
            <a:pPr marL="0" indent="0" algn="ctr">
              <a:lnSpc>
                <a:spcPct val="105000"/>
              </a:lnSpc>
              <a:buNone/>
            </a:pPr>
            <a:r>
              <a:rPr lang="en-US" sz="1400" dirty="0">
                <a:solidFill>
                  <a:srgbClr val="AAB7C2"/>
                </a:solidFill>
                <a:latin typeface="Segoe UI" pitchFamily="34" charset="0"/>
                <a:ea typeface="Segoe UI" pitchFamily="34" charset="-122"/>
                <a:cs typeface="Segoe UI" pitchFamily="34" charset="-120"/>
              </a:rPr>
              <a:t>Publishes prices,</a:t>
            </a:r>
            <a:endParaRPr lang="en-US" sz="1400" dirty="0"/>
          </a:p>
          <a:p>
            <a:pPr marL="0" indent="0" algn="ctr">
              <a:lnSpc>
                <a:spcPct val="105000"/>
              </a:lnSpc>
              <a:buNone/>
            </a:pPr>
            <a:r>
              <a:rPr lang="en-US" sz="1400" dirty="0">
                <a:solidFill>
                  <a:srgbClr val="AAB7C2"/>
                </a:solidFill>
                <a:latin typeface="Segoe UI" pitchFamily="34" charset="0"/>
                <a:ea typeface="Segoe UI" pitchFamily="34" charset="-122"/>
                <a:cs typeface="Segoe UI" pitchFamily="34" charset="-120"/>
              </a:rPr>
              <a:t>trades, state to</a:t>
            </a:r>
            <a:endParaRPr lang="en-US" sz="1400" dirty="0"/>
          </a:p>
          <a:p>
            <a:pPr marL="0" indent="0" algn="ctr">
              <a:lnSpc>
                <a:spcPct val="105000"/>
              </a:lnSpc>
              <a:buNone/>
            </a:pPr>
            <a:r>
              <a:rPr lang="en-US" sz="1400" dirty="0">
                <a:solidFill>
                  <a:srgbClr val="AAB7C2"/>
                </a:solidFill>
                <a:latin typeface="Segoe UI" pitchFamily="34" charset="0"/>
                <a:ea typeface="Segoe UI" pitchFamily="34" charset="-122"/>
                <a:cs typeface="Segoe UI" pitchFamily="34" charset="-120"/>
              </a:rPr>
              <a:t>any listener</a:t>
            </a:r>
            <a:endParaRPr lang="en-US" sz="1400" dirty="0"/>
          </a:p>
        </p:txBody>
      </p:sp>
      <p:sp>
        <p:nvSpPr>
          <p:cNvPr id="46" name="flow arrow">
            <a:extLst>
              <a:ext uri="{C183D7F6-B498-43B3-948B-1728B52AA6E4}">
                <adec:decorative xmlns:adec="http://schemas.microsoft.com/office/drawing/2017/decorative" val="1"/>
              </a:ext>
            </a:extLst>
          </p:cNvPr>
          <p:cNvSpPr/>
          <p:nvPr/>
        </p:nvSpPr>
        <p:spPr>
          <a:xfrm>
            <a:off x="6446520" y="2971800"/>
            <a:ext cx="914400" cy="0"/>
          </a:xfrm>
          <a:prstGeom prst="line">
            <a:avLst/>
          </a:prstGeom>
          <a:noFill/>
          <a:ln w="25400">
            <a:solidFill>
              <a:srgbClr val="3FE08A"/>
            </a:solidFill>
            <a:prstDash val="solid"/>
            <a:tailEnd type="triangle"/>
          </a:ln>
        </p:spPr>
        <p:txBody>
          <a:bodyPr/>
          <a:lstStyle/>
          <a:p>
            <a:endParaRPr lang="en-SE"/>
          </a:p>
        </p:txBody>
      </p:sp>
      <p:sp>
        <p:nvSpPr>
          <p:cNvPr id="47" name="Text 45"/>
          <p:cNvSpPr/>
          <p:nvPr/>
        </p:nvSpPr>
        <p:spPr>
          <a:xfrm>
            <a:off x="6446520" y="2587752"/>
            <a:ext cx="914400" cy="310896"/>
          </a:xfrm>
          <a:prstGeom prst="rect">
            <a:avLst/>
          </a:prstGeom>
          <a:noFill/>
          <a:ln/>
        </p:spPr>
        <p:txBody>
          <a:bodyPr wrap="square" lIns="0" tIns="0" rIns="0" bIns="0" rtlCol="0" anchor="ctr"/>
          <a:lstStyle/>
          <a:p>
            <a:pPr marL="0" indent="0" algn="ctr">
              <a:buNone/>
            </a:pPr>
            <a:r>
              <a:rPr lang="en-US" sz="1600" dirty="0">
                <a:solidFill>
                  <a:srgbClr val="7C8B97"/>
                </a:solidFill>
                <a:latin typeface="Consolas" pitchFamily="34" charset="0"/>
                <a:ea typeface="Consolas" pitchFamily="34" charset="-122"/>
                <a:cs typeface="Consolas" pitchFamily="34" charset="-120"/>
              </a:rPr>
              <a:t>feed</a:t>
            </a:r>
            <a:endParaRPr lang="en-US" sz="1600" dirty="0"/>
          </a:p>
        </p:txBody>
      </p:sp>
      <p:sp>
        <p:nvSpPr>
          <p:cNvPr id="48" name="diagram node">
            <a:extLst>
              <a:ext uri="{C183D7F6-B498-43B3-948B-1728B52AA6E4}">
                <adec:decorative xmlns:adec="http://schemas.microsoft.com/office/drawing/2017/decorative" val="1"/>
              </a:ext>
            </a:extLst>
          </p:cNvPr>
          <p:cNvSpPr/>
          <p:nvPr/>
        </p:nvSpPr>
        <p:spPr>
          <a:xfrm>
            <a:off x="7498080" y="2286000"/>
            <a:ext cx="2286000" cy="1371600"/>
          </a:xfrm>
          <a:prstGeom prst="rect">
            <a:avLst/>
          </a:prstGeom>
          <a:solidFill>
            <a:srgbClr val="122C22"/>
          </a:solidFill>
          <a:ln w="19050">
            <a:solidFill>
              <a:srgbClr val="3FE08A"/>
            </a:solidFill>
            <a:prstDash val="solid"/>
          </a:ln>
          <a:effectLst>
            <a:outerShdw blurRad="152400" dist="38100" dir="5400000" algn="bl" rotWithShape="0">
              <a:srgbClr val="000000">
                <a:alpha val="35000"/>
              </a:srgbClr>
            </a:outerShdw>
          </a:effectLst>
        </p:spPr>
        <p:txBody>
          <a:bodyPr/>
          <a:lstStyle/>
          <a:p>
            <a:endParaRPr lang="en-SE"/>
          </a:p>
        </p:txBody>
      </p:sp>
      <p:sp>
        <p:nvSpPr>
          <p:cNvPr id="49" name="Text 47"/>
          <p:cNvSpPr/>
          <p:nvPr/>
        </p:nvSpPr>
        <p:spPr>
          <a:xfrm>
            <a:off x="7607808" y="2432304"/>
            <a:ext cx="2066544" cy="329184"/>
          </a:xfrm>
          <a:prstGeom prst="rect">
            <a:avLst/>
          </a:prstGeom>
          <a:noFill/>
          <a:ln/>
        </p:spPr>
        <p:txBody>
          <a:bodyPr wrap="square" lIns="0" tIns="0" rIns="0" bIns="0" rtlCol="0" anchor="t"/>
          <a:lstStyle/>
          <a:p>
            <a:pPr marL="0" indent="0" algn="ctr">
              <a:buNone/>
            </a:pPr>
            <a:r>
              <a:rPr lang="en-US" sz="1600" b="1" dirty="0">
                <a:solidFill>
                  <a:srgbClr val="E6EDF3"/>
                </a:solidFill>
                <a:latin typeface="Consolas" pitchFamily="34" charset="0"/>
                <a:ea typeface="Consolas" pitchFamily="34" charset="-122"/>
                <a:cs typeface="Consolas" pitchFamily="34" charset="-120"/>
              </a:rPr>
              <a:t>TAPEDECK</a:t>
            </a:r>
            <a:endParaRPr lang="en-US" sz="1600" dirty="0"/>
          </a:p>
        </p:txBody>
      </p:sp>
      <p:sp>
        <p:nvSpPr>
          <p:cNvPr id="50" name="Text 48"/>
          <p:cNvSpPr/>
          <p:nvPr/>
        </p:nvSpPr>
        <p:spPr>
          <a:xfrm>
            <a:off x="7607808" y="2919045"/>
            <a:ext cx="2066544" cy="822960"/>
          </a:xfrm>
          <a:prstGeom prst="rect">
            <a:avLst/>
          </a:prstGeom>
          <a:noFill/>
          <a:ln/>
        </p:spPr>
        <p:txBody>
          <a:bodyPr wrap="square" lIns="0" tIns="0" rIns="0" bIns="0" rtlCol="0" anchor="t"/>
          <a:lstStyle/>
          <a:p>
            <a:pPr marL="0" indent="0" algn="ctr">
              <a:lnSpc>
                <a:spcPct val="105000"/>
              </a:lnSpc>
              <a:buNone/>
            </a:pPr>
            <a:r>
              <a:rPr lang="en-US" sz="1400" dirty="0">
                <a:solidFill>
                  <a:srgbClr val="AAB7C2"/>
                </a:solidFill>
                <a:latin typeface="Segoe UI" pitchFamily="34" charset="0"/>
                <a:ea typeface="Segoe UI" pitchFamily="34" charset="-122"/>
                <a:cs typeface="Segoe UI" pitchFamily="34" charset="-120"/>
              </a:rPr>
              <a:t>Renders it as</a:t>
            </a:r>
            <a:endParaRPr lang="en-US" sz="1400" dirty="0"/>
          </a:p>
          <a:p>
            <a:pPr marL="0" indent="0" algn="ctr">
              <a:lnSpc>
                <a:spcPct val="105000"/>
              </a:lnSpc>
              <a:buNone/>
            </a:pPr>
            <a:r>
              <a:rPr lang="en-US" sz="1400" dirty="0">
                <a:solidFill>
                  <a:srgbClr val="AAB7C2"/>
                </a:solidFill>
                <a:latin typeface="Segoe UI" pitchFamily="34" charset="0"/>
                <a:ea typeface="Segoe UI" pitchFamily="34" charset="-122"/>
                <a:cs typeface="Segoe UI" pitchFamily="34" charset="-120"/>
              </a:rPr>
              <a:t>screens a person</a:t>
            </a:r>
            <a:endParaRPr lang="en-US" sz="1400" dirty="0"/>
          </a:p>
          <a:p>
            <a:pPr marL="0" indent="0" algn="ctr">
              <a:lnSpc>
                <a:spcPct val="105000"/>
              </a:lnSpc>
              <a:buNone/>
            </a:pPr>
            <a:r>
              <a:rPr lang="en-US" sz="1400" dirty="0">
                <a:solidFill>
                  <a:srgbClr val="AAB7C2"/>
                </a:solidFill>
                <a:latin typeface="Segoe UI" pitchFamily="34" charset="0"/>
                <a:ea typeface="Segoe UI" pitchFamily="34" charset="-122"/>
                <a:cs typeface="Segoe UI" pitchFamily="34" charset="-120"/>
              </a:rPr>
              <a:t>can read</a:t>
            </a:r>
            <a:endParaRPr lang="en-US" sz="1400" dirty="0"/>
          </a:p>
        </p:txBody>
      </p:sp>
      <p:sp>
        <p:nvSpPr>
          <p:cNvPr id="51" name="viewer icon background">
            <a:extLst>
              <a:ext uri="{C183D7F6-B498-43B3-948B-1728B52AA6E4}">
                <adec:decorative xmlns:adec="http://schemas.microsoft.com/office/drawing/2017/decorative" val="1"/>
              </a:ext>
            </a:extLst>
          </p:cNvPr>
          <p:cNvSpPr/>
          <p:nvPr/>
        </p:nvSpPr>
        <p:spPr>
          <a:xfrm>
            <a:off x="10378440" y="2651760"/>
            <a:ext cx="658368" cy="658368"/>
          </a:xfrm>
          <a:prstGeom prst="ellipse">
            <a:avLst/>
          </a:prstGeom>
          <a:solidFill>
            <a:srgbClr val="20272D"/>
          </a:solidFill>
          <a:ln w="19050">
            <a:solidFill>
              <a:srgbClr val="3FE08A"/>
            </a:solidFill>
            <a:prstDash val="solid"/>
          </a:ln>
        </p:spPr>
        <p:txBody>
          <a:bodyPr/>
          <a:lstStyle/>
          <a:p>
            <a:endParaRPr lang="en-SE"/>
          </a:p>
        </p:txBody>
      </p:sp>
      <p:sp>
        <p:nvSpPr>
          <p:cNvPr id="52" name="Text 50"/>
          <p:cNvSpPr/>
          <p:nvPr/>
        </p:nvSpPr>
        <p:spPr>
          <a:xfrm>
            <a:off x="10378440" y="2651760"/>
            <a:ext cx="658368" cy="658368"/>
          </a:xfrm>
          <a:prstGeom prst="rect">
            <a:avLst/>
          </a:prstGeom>
          <a:noFill/>
          <a:ln/>
        </p:spPr>
        <p:txBody>
          <a:bodyPr wrap="square" lIns="0" tIns="0" rIns="0" bIns="0" rtlCol="0" anchor="ctr"/>
          <a:lstStyle/>
          <a:p>
            <a:pPr marL="0" indent="0" algn="ctr">
              <a:buNone/>
            </a:pPr>
            <a:r>
              <a:rPr lang="en-US" b="1" dirty="0">
                <a:solidFill>
                  <a:srgbClr val="3FE08A"/>
                </a:solidFill>
                <a:latin typeface="Consolas" pitchFamily="34" charset="0"/>
                <a:ea typeface="Consolas" pitchFamily="34" charset="-122"/>
                <a:cs typeface="Consolas" pitchFamily="34" charset="-120"/>
              </a:rPr>
              <a:t>YOU</a:t>
            </a:r>
            <a:endParaRPr lang="en-US" dirty="0"/>
          </a:p>
        </p:txBody>
      </p:sp>
      <p:sp>
        <p:nvSpPr>
          <p:cNvPr id="53" name="Text 51"/>
          <p:cNvSpPr/>
          <p:nvPr/>
        </p:nvSpPr>
        <p:spPr>
          <a:xfrm>
            <a:off x="10012680" y="3401568"/>
            <a:ext cx="1417320" cy="274320"/>
          </a:xfrm>
          <a:prstGeom prst="rect">
            <a:avLst/>
          </a:prstGeom>
          <a:noFill/>
          <a:ln/>
        </p:spPr>
        <p:txBody>
          <a:bodyPr wrap="square" lIns="0" tIns="0" rIns="0" bIns="0" rtlCol="0" anchor="ctr"/>
          <a:lstStyle/>
          <a:p>
            <a:pPr marL="0" indent="0" algn="ctr">
              <a:buNone/>
            </a:pPr>
            <a:r>
              <a:rPr lang="en-US" sz="1400" dirty="0">
                <a:solidFill>
                  <a:srgbClr val="7C8B97"/>
                </a:solidFill>
                <a:latin typeface="Segoe UI" pitchFamily="34" charset="0"/>
                <a:ea typeface="Segoe UI" pitchFamily="34" charset="-122"/>
                <a:cs typeface="Segoe UI" pitchFamily="34" charset="-120"/>
              </a:rPr>
              <a:t>The observer</a:t>
            </a:r>
            <a:endParaRPr lang="en-US" sz="1400" dirty="0"/>
          </a:p>
        </p:txBody>
      </p:sp>
      <p:sp>
        <p:nvSpPr>
          <p:cNvPr id="54" name="panel">
            <a:extLst>
              <a:ext uri="{C183D7F6-B498-43B3-948B-1728B52AA6E4}">
                <adec:decorative xmlns:adec="http://schemas.microsoft.com/office/drawing/2017/decorative" val="1"/>
              </a:ext>
            </a:extLst>
          </p:cNvPr>
          <p:cNvSpPr/>
          <p:nvPr/>
        </p:nvSpPr>
        <p:spPr>
          <a:xfrm>
            <a:off x="566928" y="4114800"/>
            <a:ext cx="10607040" cy="173736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55" name="panel accent">
            <a:extLst>
              <a:ext uri="{C183D7F6-B498-43B3-948B-1728B52AA6E4}">
                <adec:decorative xmlns:adec="http://schemas.microsoft.com/office/drawing/2017/decorative" val="1"/>
              </a:ext>
            </a:extLst>
          </p:cNvPr>
          <p:cNvSpPr/>
          <p:nvPr/>
        </p:nvSpPr>
        <p:spPr>
          <a:xfrm>
            <a:off x="566928" y="4114800"/>
            <a:ext cx="50292" cy="1737360"/>
          </a:xfrm>
          <a:prstGeom prst="rect">
            <a:avLst/>
          </a:prstGeom>
          <a:solidFill>
            <a:srgbClr val="3FE08A"/>
          </a:solidFill>
          <a:ln w="12700">
            <a:solidFill>
              <a:srgbClr val="333333"/>
            </a:solidFill>
            <a:prstDash val="solid"/>
          </a:ln>
        </p:spPr>
        <p:txBody>
          <a:bodyPr/>
          <a:lstStyle/>
          <a:p>
            <a:endParaRPr lang="en-SE"/>
          </a:p>
        </p:txBody>
      </p:sp>
      <p:sp>
        <p:nvSpPr>
          <p:cNvPr id="56" name="Text 54"/>
          <p:cNvSpPr/>
          <p:nvPr/>
        </p:nvSpPr>
        <p:spPr>
          <a:xfrm>
            <a:off x="868680" y="4315968"/>
            <a:ext cx="5486400" cy="320040"/>
          </a:xfrm>
          <a:prstGeom prst="rect">
            <a:avLst/>
          </a:prstGeom>
          <a:noFill/>
          <a:ln/>
        </p:spPr>
        <p:txBody>
          <a:bodyPr wrap="square" lIns="0" tIns="0" rIns="0" bIns="0" rtlCol="0" anchor="ctr"/>
          <a:lstStyle/>
          <a:p>
            <a:pPr marL="0" indent="0">
              <a:buNone/>
            </a:pPr>
            <a:r>
              <a:rPr lang="en-US" sz="1400" kern="0" spc="120" dirty="0">
                <a:solidFill>
                  <a:srgbClr val="3FE08A"/>
                </a:solidFill>
                <a:latin typeface="Consolas" pitchFamily="34" charset="0"/>
                <a:ea typeface="Consolas" pitchFamily="34" charset="-122"/>
                <a:cs typeface="Consolas" pitchFamily="34" charset="-120"/>
              </a:rPr>
              <a:t>The one-sentence definition</a:t>
            </a:r>
            <a:endParaRPr lang="en-US" sz="1400" dirty="0"/>
          </a:p>
        </p:txBody>
      </p:sp>
      <p:sp>
        <p:nvSpPr>
          <p:cNvPr id="57" name="Text 55"/>
          <p:cNvSpPr/>
          <p:nvPr/>
        </p:nvSpPr>
        <p:spPr>
          <a:xfrm>
            <a:off x="868680" y="4663440"/>
            <a:ext cx="10058400" cy="1005840"/>
          </a:xfrm>
          <a:prstGeom prst="rect">
            <a:avLst/>
          </a:prstGeom>
          <a:noFill/>
          <a:ln/>
        </p:spPr>
        <p:txBody>
          <a:bodyPr wrap="square" lIns="0" tIns="0" rIns="0" bIns="0" rtlCol="0" anchor="ctr"/>
          <a:lstStyle/>
          <a:p>
            <a:pPr marL="0" indent="0">
              <a:lnSpc>
                <a:spcPct val="120000"/>
              </a:lnSpc>
              <a:buNone/>
            </a:pPr>
            <a:r>
              <a:rPr lang="en-US" sz="1500" dirty="0">
                <a:solidFill>
                  <a:srgbClr val="E6EDF3"/>
                </a:solidFill>
                <a:latin typeface="Segoe UI" pitchFamily="34" charset="0"/>
                <a:ea typeface="Segoe UI" pitchFamily="34" charset="-122"/>
                <a:cs typeface="Segoe UI" pitchFamily="34" charset="-120"/>
              </a:rPr>
              <a:t>TapeDeck is a browser window for watching live prices, trades, auctions, halts, indexes and depth-of-book on the EduMatcher exchange. Data flows one way — from the exchange, to your eyes. Nothing you do in the browser can ever reach the market.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Read-only means read-only</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01 · PURPOSE</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05</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600" dirty="0">
                <a:solidFill>
                  <a:srgbClr val="AAB7C2"/>
                </a:solidFill>
                <a:latin typeface="Segoe UI" pitchFamily="34" charset="0"/>
                <a:ea typeface="Segoe UI" pitchFamily="34" charset="-122"/>
                <a:cs typeface="Segoe UI" pitchFamily="34" charset="-120"/>
              </a:rPr>
              <a:t>This is the single most important thing to understand about the terminal. There is no write path back into the exchange.</a:t>
            </a:r>
            <a:endParaRPr lang="en-US" sz="1600" dirty="0"/>
          </a:p>
        </p:txBody>
      </p:sp>
      <p:sp>
        <p:nvSpPr>
          <p:cNvPr id="38" name="panel">
            <a:extLst>
              <a:ext uri="{C183D7F6-B498-43B3-948B-1728B52AA6E4}">
                <adec:decorative xmlns:adec="http://schemas.microsoft.com/office/drawing/2017/decorative" val="1"/>
              </a:ext>
            </a:extLst>
          </p:cNvPr>
          <p:cNvSpPr/>
          <p:nvPr/>
        </p:nvSpPr>
        <p:spPr>
          <a:xfrm>
            <a:off x="566928" y="1965960"/>
            <a:ext cx="5120640" cy="3200400"/>
          </a:xfrm>
          <a:prstGeom prst="rect">
            <a:avLst/>
          </a:prstGeom>
          <a:solidFill>
            <a:srgbClr val="122C22"/>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39" name="panel accent">
            <a:extLst>
              <a:ext uri="{C183D7F6-B498-43B3-948B-1728B52AA6E4}">
                <adec:decorative xmlns:adec="http://schemas.microsoft.com/office/drawing/2017/decorative" val="1"/>
              </a:ext>
            </a:extLst>
          </p:cNvPr>
          <p:cNvSpPr/>
          <p:nvPr/>
        </p:nvSpPr>
        <p:spPr>
          <a:xfrm>
            <a:off x="566928" y="1965960"/>
            <a:ext cx="50292" cy="3200400"/>
          </a:xfrm>
          <a:prstGeom prst="rect">
            <a:avLst/>
          </a:prstGeom>
          <a:solidFill>
            <a:srgbClr val="3FE08A"/>
          </a:solidFill>
          <a:ln w="12700">
            <a:solidFill>
              <a:srgbClr val="333333"/>
            </a:solidFill>
            <a:prstDash val="solid"/>
          </a:ln>
        </p:spPr>
        <p:txBody>
          <a:bodyPr/>
          <a:lstStyle/>
          <a:p>
            <a:endParaRPr lang="en-SE"/>
          </a:p>
        </p:txBody>
      </p:sp>
      <p:sp>
        <p:nvSpPr>
          <p:cNvPr id="40" name="Text 38"/>
          <p:cNvSpPr/>
          <p:nvPr/>
        </p:nvSpPr>
        <p:spPr>
          <a:xfrm>
            <a:off x="868680" y="2176272"/>
            <a:ext cx="4114800" cy="320040"/>
          </a:xfrm>
          <a:prstGeom prst="rect">
            <a:avLst/>
          </a:prstGeom>
          <a:noFill/>
          <a:ln/>
        </p:spPr>
        <p:txBody>
          <a:bodyPr wrap="square" lIns="0" tIns="0" rIns="0" bIns="0" rtlCol="0" anchor="ctr"/>
          <a:lstStyle/>
          <a:p>
            <a:pPr marL="0" indent="0">
              <a:buNone/>
            </a:pPr>
            <a:r>
              <a:rPr lang="en-US" b="1" kern="0" spc="150" dirty="0">
                <a:solidFill>
                  <a:srgbClr val="3FE08A"/>
                </a:solidFill>
                <a:latin typeface="Consolas" pitchFamily="34" charset="0"/>
                <a:ea typeface="Consolas" pitchFamily="34" charset="-122"/>
                <a:cs typeface="Consolas" pitchFamily="34" charset="-120"/>
              </a:rPr>
              <a:t>WHAT IT DOES</a:t>
            </a:r>
            <a:endParaRPr lang="en-US" dirty="0"/>
          </a:p>
        </p:txBody>
      </p:sp>
      <p:sp>
        <p:nvSpPr>
          <p:cNvPr id="41" name="Text 39"/>
          <p:cNvSpPr/>
          <p:nvPr/>
        </p:nvSpPr>
        <p:spPr>
          <a:xfrm>
            <a:off x="868680" y="2664655"/>
            <a:ext cx="274320" cy="320040"/>
          </a:xfrm>
          <a:prstGeom prst="rect">
            <a:avLst/>
          </a:prstGeom>
          <a:noFill/>
          <a:ln/>
        </p:spPr>
        <p:txBody>
          <a:bodyPr wrap="square" lIns="0" tIns="0" rIns="0" bIns="0" rtlCol="0" anchor="ctr"/>
          <a:lstStyle/>
          <a:p>
            <a:pPr marL="0" indent="0">
              <a:buNone/>
            </a:pPr>
            <a:r>
              <a:rPr lang="en-US" sz="1400" b="1" dirty="0">
                <a:solidFill>
                  <a:srgbClr val="3FE08A"/>
                </a:solidFill>
                <a:latin typeface="Segoe UI" pitchFamily="34" charset="0"/>
                <a:ea typeface="Segoe UI" pitchFamily="34" charset="-122"/>
                <a:cs typeface="Segoe UI" pitchFamily="34" charset="-120"/>
              </a:rPr>
              <a:t>✓</a:t>
            </a:r>
            <a:endParaRPr lang="en-US" sz="1400" dirty="0"/>
          </a:p>
        </p:txBody>
      </p:sp>
      <p:sp>
        <p:nvSpPr>
          <p:cNvPr id="42" name="Text 40"/>
          <p:cNvSpPr/>
          <p:nvPr/>
        </p:nvSpPr>
        <p:spPr>
          <a:xfrm>
            <a:off x="1207008" y="2606040"/>
            <a:ext cx="4297680" cy="548640"/>
          </a:xfrm>
          <a:prstGeom prst="rect">
            <a:avLst/>
          </a:prstGeom>
          <a:noFill/>
          <a:ln/>
        </p:spPr>
        <p:txBody>
          <a:bodyPr wrap="square" lIns="0" tIns="0" rIns="0" bIns="0" rtlCol="0" anchor="ctr"/>
          <a:lstStyle/>
          <a:p>
            <a:pPr marL="0" indent="0">
              <a:lnSpc>
                <a:spcPct val="105000"/>
              </a:lnSpc>
              <a:buNone/>
            </a:pPr>
            <a:r>
              <a:rPr lang="en-US" sz="1600" dirty="0">
                <a:solidFill>
                  <a:srgbClr val="E6EDF3"/>
                </a:solidFill>
                <a:latin typeface="Segoe UI" pitchFamily="34" charset="0"/>
                <a:ea typeface="Segoe UI" pitchFamily="34" charset="-122"/>
                <a:cs typeface="Segoe UI" pitchFamily="34" charset="-120"/>
              </a:rPr>
              <a:t>live prices, quotes and trade prints</a:t>
            </a:r>
            <a:endParaRPr lang="en-US" sz="1600" dirty="0"/>
          </a:p>
        </p:txBody>
      </p:sp>
      <p:sp>
        <p:nvSpPr>
          <p:cNvPr id="43" name="Text 41"/>
          <p:cNvSpPr/>
          <p:nvPr/>
        </p:nvSpPr>
        <p:spPr>
          <a:xfrm>
            <a:off x="868680" y="3268159"/>
            <a:ext cx="274320" cy="320040"/>
          </a:xfrm>
          <a:prstGeom prst="rect">
            <a:avLst/>
          </a:prstGeom>
          <a:noFill/>
          <a:ln/>
        </p:spPr>
        <p:txBody>
          <a:bodyPr wrap="square" lIns="0" tIns="0" rIns="0" bIns="0" rtlCol="0" anchor="ctr"/>
          <a:lstStyle/>
          <a:p>
            <a:pPr marL="0" indent="0">
              <a:buNone/>
            </a:pPr>
            <a:r>
              <a:rPr lang="en-US" sz="1400" b="1" dirty="0">
                <a:solidFill>
                  <a:srgbClr val="3FE08A"/>
                </a:solidFill>
                <a:latin typeface="Segoe UI" pitchFamily="34" charset="0"/>
                <a:ea typeface="Segoe UI" pitchFamily="34" charset="-122"/>
                <a:cs typeface="Segoe UI" pitchFamily="34" charset="-120"/>
              </a:rPr>
              <a:t>✓</a:t>
            </a:r>
            <a:endParaRPr lang="en-US" sz="1400" dirty="0"/>
          </a:p>
        </p:txBody>
      </p:sp>
      <p:sp>
        <p:nvSpPr>
          <p:cNvPr id="44" name="Text 42"/>
          <p:cNvSpPr/>
          <p:nvPr/>
        </p:nvSpPr>
        <p:spPr>
          <a:xfrm>
            <a:off x="1207008" y="3209544"/>
            <a:ext cx="4297680" cy="548640"/>
          </a:xfrm>
          <a:prstGeom prst="rect">
            <a:avLst/>
          </a:prstGeom>
          <a:noFill/>
          <a:ln/>
        </p:spPr>
        <p:txBody>
          <a:bodyPr wrap="square" lIns="0" tIns="0" rIns="0" bIns="0" rtlCol="0" anchor="ctr"/>
          <a:lstStyle/>
          <a:p>
            <a:pPr marL="0" indent="0">
              <a:lnSpc>
                <a:spcPct val="105000"/>
              </a:lnSpc>
              <a:buNone/>
            </a:pPr>
            <a:r>
              <a:rPr lang="en-US" sz="1600" dirty="0">
                <a:solidFill>
                  <a:srgbClr val="E6EDF3"/>
                </a:solidFill>
                <a:latin typeface="Segoe UI" pitchFamily="34" charset="0"/>
                <a:ea typeface="Segoe UI" pitchFamily="34" charset="-122"/>
                <a:cs typeface="Segoe UI" pitchFamily="34" charset="-120"/>
              </a:rPr>
              <a:t>session phase, halts and auction outcomes</a:t>
            </a:r>
            <a:endParaRPr lang="en-US" sz="1600" dirty="0"/>
          </a:p>
        </p:txBody>
      </p:sp>
      <p:sp>
        <p:nvSpPr>
          <p:cNvPr id="45" name="Text 43"/>
          <p:cNvSpPr/>
          <p:nvPr/>
        </p:nvSpPr>
        <p:spPr>
          <a:xfrm>
            <a:off x="868680" y="3871663"/>
            <a:ext cx="274320" cy="320040"/>
          </a:xfrm>
          <a:prstGeom prst="rect">
            <a:avLst/>
          </a:prstGeom>
          <a:noFill/>
          <a:ln/>
        </p:spPr>
        <p:txBody>
          <a:bodyPr wrap="square" lIns="0" tIns="0" rIns="0" bIns="0" rtlCol="0" anchor="ctr"/>
          <a:lstStyle/>
          <a:p>
            <a:pPr marL="0" indent="0">
              <a:buNone/>
            </a:pPr>
            <a:r>
              <a:rPr lang="en-US" sz="1400" b="1" dirty="0">
                <a:solidFill>
                  <a:srgbClr val="3FE08A"/>
                </a:solidFill>
                <a:latin typeface="Segoe UI" pitchFamily="34" charset="0"/>
                <a:ea typeface="Segoe UI" pitchFamily="34" charset="-122"/>
                <a:cs typeface="Segoe UI" pitchFamily="34" charset="-120"/>
              </a:rPr>
              <a:t>✓</a:t>
            </a:r>
            <a:endParaRPr lang="en-US" sz="1400" dirty="0"/>
          </a:p>
        </p:txBody>
      </p:sp>
      <p:sp>
        <p:nvSpPr>
          <p:cNvPr id="46" name="Text 44"/>
          <p:cNvSpPr/>
          <p:nvPr/>
        </p:nvSpPr>
        <p:spPr>
          <a:xfrm>
            <a:off x="1207008" y="3813048"/>
            <a:ext cx="4297680" cy="548640"/>
          </a:xfrm>
          <a:prstGeom prst="rect">
            <a:avLst/>
          </a:prstGeom>
          <a:noFill/>
          <a:ln/>
        </p:spPr>
        <p:txBody>
          <a:bodyPr wrap="square" lIns="0" tIns="0" rIns="0" bIns="0" rtlCol="0" anchor="ctr"/>
          <a:lstStyle/>
          <a:p>
            <a:pPr marL="0" indent="0">
              <a:lnSpc>
                <a:spcPct val="105000"/>
              </a:lnSpc>
              <a:buNone/>
            </a:pPr>
            <a:r>
              <a:rPr lang="en-US" sz="1600" dirty="0">
                <a:solidFill>
                  <a:srgbClr val="E6EDF3"/>
                </a:solidFill>
                <a:latin typeface="Segoe UI" pitchFamily="34" charset="0"/>
                <a:ea typeface="Segoe UI" pitchFamily="34" charset="-122"/>
                <a:cs typeface="Segoe UI" pitchFamily="34" charset="-120"/>
              </a:rPr>
              <a:t>index levels and historical charts</a:t>
            </a:r>
            <a:endParaRPr lang="en-US" sz="1600" dirty="0"/>
          </a:p>
        </p:txBody>
      </p:sp>
      <p:sp>
        <p:nvSpPr>
          <p:cNvPr id="47" name="Text 45"/>
          <p:cNvSpPr/>
          <p:nvPr/>
        </p:nvSpPr>
        <p:spPr>
          <a:xfrm>
            <a:off x="868680" y="4475167"/>
            <a:ext cx="274320" cy="320040"/>
          </a:xfrm>
          <a:prstGeom prst="rect">
            <a:avLst/>
          </a:prstGeom>
          <a:noFill/>
          <a:ln/>
        </p:spPr>
        <p:txBody>
          <a:bodyPr wrap="square" lIns="0" tIns="0" rIns="0" bIns="0" rtlCol="0" anchor="ctr"/>
          <a:lstStyle/>
          <a:p>
            <a:pPr marL="0" indent="0">
              <a:buNone/>
            </a:pPr>
            <a:r>
              <a:rPr lang="en-US" sz="1400" b="1" dirty="0">
                <a:solidFill>
                  <a:srgbClr val="3FE08A"/>
                </a:solidFill>
                <a:latin typeface="Segoe UI" pitchFamily="34" charset="0"/>
                <a:ea typeface="Segoe UI" pitchFamily="34" charset="-122"/>
                <a:cs typeface="Segoe UI" pitchFamily="34" charset="-120"/>
              </a:rPr>
              <a:t>✓</a:t>
            </a:r>
            <a:endParaRPr lang="en-US" sz="1400" dirty="0"/>
          </a:p>
        </p:txBody>
      </p:sp>
      <p:sp>
        <p:nvSpPr>
          <p:cNvPr id="48" name="Text 46"/>
          <p:cNvSpPr/>
          <p:nvPr/>
        </p:nvSpPr>
        <p:spPr>
          <a:xfrm>
            <a:off x="1207008" y="4416552"/>
            <a:ext cx="4297680" cy="548640"/>
          </a:xfrm>
          <a:prstGeom prst="rect">
            <a:avLst/>
          </a:prstGeom>
          <a:noFill/>
          <a:ln/>
        </p:spPr>
        <p:txBody>
          <a:bodyPr wrap="square" lIns="0" tIns="0" rIns="0" bIns="0" rtlCol="0" anchor="ctr"/>
          <a:lstStyle/>
          <a:p>
            <a:pPr marL="0" indent="0">
              <a:lnSpc>
                <a:spcPct val="105000"/>
              </a:lnSpc>
              <a:buNone/>
            </a:pPr>
            <a:r>
              <a:rPr lang="en-US" sz="1600" dirty="0">
                <a:solidFill>
                  <a:srgbClr val="E6EDF3"/>
                </a:solidFill>
                <a:latin typeface="Segoe UI" pitchFamily="34" charset="0"/>
                <a:ea typeface="Segoe UI" pitchFamily="34" charset="-122"/>
                <a:cs typeface="Segoe UI" pitchFamily="34" charset="-120"/>
              </a:rPr>
              <a:t>aggregated depth of book, on request</a:t>
            </a:r>
            <a:endParaRPr lang="en-US" sz="1600" dirty="0"/>
          </a:p>
        </p:txBody>
      </p:sp>
      <p:sp>
        <p:nvSpPr>
          <p:cNvPr id="49" name="panel">
            <a:extLst>
              <a:ext uri="{C183D7F6-B498-43B3-948B-1728B52AA6E4}">
                <adec:decorative xmlns:adec="http://schemas.microsoft.com/office/drawing/2017/decorative" val="1"/>
              </a:ext>
            </a:extLst>
          </p:cNvPr>
          <p:cNvSpPr/>
          <p:nvPr/>
        </p:nvSpPr>
        <p:spPr>
          <a:xfrm>
            <a:off x="6053328" y="1965960"/>
            <a:ext cx="5120640" cy="3200400"/>
          </a:xfrm>
          <a:prstGeom prst="rect">
            <a:avLst/>
          </a:prstGeom>
          <a:solidFill>
            <a:srgbClr val="24191B"/>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50" name="panel accent">
            <a:extLst>
              <a:ext uri="{C183D7F6-B498-43B3-948B-1728B52AA6E4}">
                <adec:decorative xmlns:adec="http://schemas.microsoft.com/office/drawing/2017/decorative" val="1"/>
              </a:ext>
            </a:extLst>
          </p:cNvPr>
          <p:cNvSpPr/>
          <p:nvPr/>
        </p:nvSpPr>
        <p:spPr>
          <a:xfrm>
            <a:off x="6053328" y="1965960"/>
            <a:ext cx="50292" cy="3200400"/>
          </a:xfrm>
          <a:prstGeom prst="rect">
            <a:avLst/>
          </a:prstGeom>
          <a:solidFill>
            <a:srgbClr val="EF5B63"/>
          </a:solidFill>
          <a:ln w="12700">
            <a:solidFill>
              <a:srgbClr val="333333"/>
            </a:solidFill>
            <a:prstDash val="solid"/>
          </a:ln>
        </p:spPr>
        <p:txBody>
          <a:bodyPr/>
          <a:lstStyle/>
          <a:p>
            <a:endParaRPr lang="en-SE"/>
          </a:p>
        </p:txBody>
      </p:sp>
      <p:sp>
        <p:nvSpPr>
          <p:cNvPr id="51" name="Text 49"/>
          <p:cNvSpPr/>
          <p:nvPr/>
        </p:nvSpPr>
        <p:spPr>
          <a:xfrm>
            <a:off x="6355080" y="2176272"/>
            <a:ext cx="4572000" cy="320040"/>
          </a:xfrm>
          <a:prstGeom prst="rect">
            <a:avLst/>
          </a:prstGeom>
          <a:noFill/>
          <a:ln/>
        </p:spPr>
        <p:txBody>
          <a:bodyPr wrap="square" lIns="0" tIns="0" rIns="0" bIns="0" rtlCol="0" anchor="ctr"/>
          <a:lstStyle/>
          <a:p>
            <a:pPr marL="0" indent="0">
              <a:buNone/>
            </a:pPr>
            <a:r>
              <a:rPr lang="en-US" b="1" kern="0" spc="150" dirty="0">
                <a:solidFill>
                  <a:srgbClr val="EF5B63"/>
                </a:solidFill>
                <a:latin typeface="Consolas" pitchFamily="34" charset="0"/>
                <a:ea typeface="Consolas" pitchFamily="34" charset="-122"/>
                <a:cs typeface="Consolas" pitchFamily="34" charset="-120"/>
              </a:rPr>
              <a:t>WHAT IT NEVER DOES</a:t>
            </a:r>
            <a:endParaRPr lang="en-US" dirty="0"/>
          </a:p>
        </p:txBody>
      </p:sp>
      <p:sp>
        <p:nvSpPr>
          <p:cNvPr id="52" name="Text 50"/>
          <p:cNvSpPr/>
          <p:nvPr/>
        </p:nvSpPr>
        <p:spPr>
          <a:xfrm>
            <a:off x="6355080" y="2711547"/>
            <a:ext cx="274320" cy="320040"/>
          </a:xfrm>
          <a:prstGeom prst="rect">
            <a:avLst/>
          </a:prstGeom>
          <a:noFill/>
          <a:ln/>
        </p:spPr>
        <p:txBody>
          <a:bodyPr wrap="square" lIns="0" tIns="0" rIns="0" bIns="0" rtlCol="0" anchor="ctr"/>
          <a:lstStyle/>
          <a:p>
            <a:pPr marL="0" indent="0">
              <a:buNone/>
            </a:pPr>
            <a:r>
              <a:rPr lang="en-US" sz="1400" b="1" dirty="0">
                <a:solidFill>
                  <a:srgbClr val="EF5B63"/>
                </a:solidFill>
                <a:latin typeface="Segoe UI" pitchFamily="34" charset="0"/>
                <a:ea typeface="Segoe UI" pitchFamily="34" charset="-122"/>
                <a:cs typeface="Segoe UI" pitchFamily="34" charset="-120"/>
              </a:rPr>
              <a:t>✕</a:t>
            </a:r>
            <a:endParaRPr lang="en-US" sz="1400" dirty="0"/>
          </a:p>
        </p:txBody>
      </p:sp>
      <p:sp>
        <p:nvSpPr>
          <p:cNvPr id="53" name="Text 51"/>
          <p:cNvSpPr/>
          <p:nvPr/>
        </p:nvSpPr>
        <p:spPr>
          <a:xfrm>
            <a:off x="6693408" y="2606040"/>
            <a:ext cx="4297680" cy="548640"/>
          </a:xfrm>
          <a:prstGeom prst="rect">
            <a:avLst/>
          </a:prstGeom>
          <a:noFill/>
          <a:ln/>
        </p:spPr>
        <p:txBody>
          <a:bodyPr wrap="square" lIns="0" tIns="0" rIns="0" bIns="0" rtlCol="0" anchor="ctr"/>
          <a:lstStyle/>
          <a:p>
            <a:pPr marL="0" indent="0">
              <a:lnSpc>
                <a:spcPct val="105000"/>
              </a:lnSpc>
              <a:buNone/>
            </a:pPr>
            <a:r>
              <a:rPr lang="en-US" sz="1600" dirty="0">
                <a:solidFill>
                  <a:srgbClr val="E6EDF3"/>
                </a:solidFill>
                <a:latin typeface="Segoe UI" pitchFamily="34" charset="0"/>
                <a:ea typeface="Segoe UI" pitchFamily="34" charset="-122"/>
                <a:cs typeface="Segoe UI" pitchFamily="34" charset="-120"/>
              </a:rPr>
              <a:t>Place, amend or cancel an order</a:t>
            </a:r>
            <a:endParaRPr lang="en-US" sz="1600" dirty="0"/>
          </a:p>
        </p:txBody>
      </p:sp>
      <p:sp>
        <p:nvSpPr>
          <p:cNvPr id="54" name="Text 52"/>
          <p:cNvSpPr/>
          <p:nvPr/>
        </p:nvSpPr>
        <p:spPr>
          <a:xfrm>
            <a:off x="6355080" y="3315051"/>
            <a:ext cx="274320" cy="320040"/>
          </a:xfrm>
          <a:prstGeom prst="rect">
            <a:avLst/>
          </a:prstGeom>
          <a:noFill/>
          <a:ln/>
        </p:spPr>
        <p:txBody>
          <a:bodyPr wrap="square" lIns="0" tIns="0" rIns="0" bIns="0" rtlCol="0" anchor="ctr"/>
          <a:lstStyle/>
          <a:p>
            <a:pPr marL="0" indent="0">
              <a:buNone/>
            </a:pPr>
            <a:r>
              <a:rPr lang="en-US" sz="1400" b="1" dirty="0">
                <a:solidFill>
                  <a:srgbClr val="EF5B63"/>
                </a:solidFill>
                <a:latin typeface="Segoe UI" pitchFamily="34" charset="0"/>
                <a:ea typeface="Segoe UI" pitchFamily="34" charset="-122"/>
                <a:cs typeface="Segoe UI" pitchFamily="34" charset="-120"/>
              </a:rPr>
              <a:t>✕</a:t>
            </a:r>
            <a:endParaRPr lang="en-US" sz="1400" dirty="0"/>
          </a:p>
        </p:txBody>
      </p:sp>
      <p:sp>
        <p:nvSpPr>
          <p:cNvPr id="55" name="Text 53"/>
          <p:cNvSpPr/>
          <p:nvPr/>
        </p:nvSpPr>
        <p:spPr>
          <a:xfrm>
            <a:off x="6693408" y="3209544"/>
            <a:ext cx="4297680" cy="548640"/>
          </a:xfrm>
          <a:prstGeom prst="rect">
            <a:avLst/>
          </a:prstGeom>
          <a:noFill/>
          <a:ln/>
        </p:spPr>
        <p:txBody>
          <a:bodyPr wrap="square" lIns="0" tIns="0" rIns="0" bIns="0" rtlCol="0" anchor="ctr"/>
          <a:lstStyle/>
          <a:p>
            <a:pPr marL="0" indent="0">
              <a:lnSpc>
                <a:spcPct val="105000"/>
              </a:lnSpc>
              <a:buNone/>
            </a:pPr>
            <a:r>
              <a:rPr lang="en-US" sz="1600" dirty="0">
                <a:solidFill>
                  <a:srgbClr val="E6EDF3"/>
                </a:solidFill>
                <a:latin typeface="Segoe UI" pitchFamily="34" charset="0"/>
                <a:ea typeface="Segoe UI" pitchFamily="34" charset="-122"/>
                <a:cs typeface="Segoe UI" pitchFamily="34" charset="-120"/>
              </a:rPr>
              <a:t>Halt, resume or otherwise change exchange state</a:t>
            </a:r>
            <a:endParaRPr lang="en-US" sz="1600" dirty="0"/>
          </a:p>
        </p:txBody>
      </p:sp>
      <p:sp>
        <p:nvSpPr>
          <p:cNvPr id="56" name="Text 54"/>
          <p:cNvSpPr/>
          <p:nvPr/>
        </p:nvSpPr>
        <p:spPr>
          <a:xfrm>
            <a:off x="6355080" y="3918555"/>
            <a:ext cx="274320" cy="320040"/>
          </a:xfrm>
          <a:prstGeom prst="rect">
            <a:avLst/>
          </a:prstGeom>
          <a:noFill/>
          <a:ln/>
        </p:spPr>
        <p:txBody>
          <a:bodyPr wrap="square" lIns="0" tIns="0" rIns="0" bIns="0" rtlCol="0" anchor="ctr"/>
          <a:lstStyle/>
          <a:p>
            <a:pPr marL="0" indent="0">
              <a:buNone/>
            </a:pPr>
            <a:r>
              <a:rPr lang="en-US" sz="1400" b="1" dirty="0">
                <a:solidFill>
                  <a:srgbClr val="EF5B63"/>
                </a:solidFill>
                <a:latin typeface="Segoe UI" pitchFamily="34" charset="0"/>
                <a:ea typeface="Segoe UI" pitchFamily="34" charset="-122"/>
                <a:cs typeface="Segoe UI" pitchFamily="34" charset="-120"/>
              </a:rPr>
              <a:t>✕</a:t>
            </a:r>
            <a:endParaRPr lang="en-US" sz="1400" dirty="0"/>
          </a:p>
        </p:txBody>
      </p:sp>
      <p:sp>
        <p:nvSpPr>
          <p:cNvPr id="57" name="Text 55"/>
          <p:cNvSpPr/>
          <p:nvPr/>
        </p:nvSpPr>
        <p:spPr>
          <a:xfrm>
            <a:off x="6693408" y="3813048"/>
            <a:ext cx="4297680" cy="548640"/>
          </a:xfrm>
          <a:prstGeom prst="rect">
            <a:avLst/>
          </a:prstGeom>
          <a:noFill/>
          <a:ln/>
        </p:spPr>
        <p:txBody>
          <a:bodyPr wrap="square" lIns="0" tIns="0" rIns="0" bIns="0" rtlCol="0" anchor="ctr"/>
          <a:lstStyle/>
          <a:p>
            <a:pPr marL="0" indent="0">
              <a:lnSpc>
                <a:spcPct val="105000"/>
              </a:lnSpc>
              <a:buNone/>
            </a:pPr>
            <a:r>
              <a:rPr lang="en-US" sz="1600" dirty="0">
                <a:solidFill>
                  <a:srgbClr val="E6EDF3"/>
                </a:solidFill>
                <a:latin typeface="Segoe UI" pitchFamily="34" charset="0"/>
                <a:ea typeface="Segoe UI" pitchFamily="34" charset="-122"/>
                <a:cs typeface="Segoe UI" pitchFamily="34" charset="-120"/>
              </a:rPr>
              <a:t>Ask you to log in — there are no user accounts</a:t>
            </a:r>
            <a:endParaRPr lang="en-US" sz="1600" dirty="0"/>
          </a:p>
        </p:txBody>
      </p:sp>
      <p:sp>
        <p:nvSpPr>
          <p:cNvPr id="58" name="Text 56"/>
          <p:cNvSpPr/>
          <p:nvPr/>
        </p:nvSpPr>
        <p:spPr>
          <a:xfrm>
            <a:off x="6355080" y="4522059"/>
            <a:ext cx="274320" cy="320040"/>
          </a:xfrm>
          <a:prstGeom prst="rect">
            <a:avLst/>
          </a:prstGeom>
          <a:noFill/>
          <a:ln/>
        </p:spPr>
        <p:txBody>
          <a:bodyPr wrap="square" lIns="0" tIns="0" rIns="0" bIns="0" rtlCol="0" anchor="ctr"/>
          <a:lstStyle/>
          <a:p>
            <a:pPr marL="0" indent="0">
              <a:buNone/>
            </a:pPr>
            <a:r>
              <a:rPr lang="en-US" sz="1400" b="1" dirty="0">
                <a:solidFill>
                  <a:srgbClr val="EF5B63"/>
                </a:solidFill>
                <a:latin typeface="Segoe UI" pitchFamily="34" charset="0"/>
                <a:ea typeface="Segoe UI" pitchFamily="34" charset="-122"/>
                <a:cs typeface="Segoe UI" pitchFamily="34" charset="-120"/>
              </a:rPr>
              <a:t>✕</a:t>
            </a:r>
            <a:endParaRPr lang="en-US" sz="1400" dirty="0"/>
          </a:p>
        </p:txBody>
      </p:sp>
      <p:sp>
        <p:nvSpPr>
          <p:cNvPr id="59" name="Text 57"/>
          <p:cNvSpPr/>
          <p:nvPr/>
        </p:nvSpPr>
        <p:spPr>
          <a:xfrm>
            <a:off x="6693408" y="4416552"/>
            <a:ext cx="4297680" cy="548640"/>
          </a:xfrm>
          <a:prstGeom prst="rect">
            <a:avLst/>
          </a:prstGeom>
          <a:noFill/>
          <a:ln/>
        </p:spPr>
        <p:txBody>
          <a:bodyPr wrap="square" lIns="0" tIns="0" rIns="0" bIns="0" rtlCol="0" anchor="ctr"/>
          <a:lstStyle/>
          <a:p>
            <a:pPr marL="0" indent="0">
              <a:lnSpc>
                <a:spcPct val="105000"/>
              </a:lnSpc>
              <a:buNone/>
            </a:pPr>
            <a:r>
              <a:rPr lang="en-US" sz="1600" dirty="0">
                <a:solidFill>
                  <a:srgbClr val="E6EDF3"/>
                </a:solidFill>
                <a:latin typeface="Segoe UI" pitchFamily="34" charset="0"/>
                <a:ea typeface="Segoe UI" pitchFamily="34" charset="-122"/>
                <a:cs typeface="Segoe UI" pitchFamily="34" charset="-120"/>
              </a:rPr>
              <a:t>Send anything at all back up into the market</a:t>
            </a:r>
            <a:endParaRPr lang="en-US" sz="1600" dirty="0"/>
          </a:p>
        </p:txBody>
      </p:sp>
      <p:sp>
        <p:nvSpPr>
          <p:cNvPr id="60" name="callout background">
            <a:extLst>
              <a:ext uri="{C183D7F6-B498-43B3-948B-1728B52AA6E4}">
                <adec:decorative xmlns:adec="http://schemas.microsoft.com/office/drawing/2017/decorative" val="1"/>
              </a:ext>
            </a:extLst>
          </p:cNvPr>
          <p:cNvSpPr/>
          <p:nvPr/>
        </p:nvSpPr>
        <p:spPr>
          <a:xfrm>
            <a:off x="566928" y="5440680"/>
            <a:ext cx="10607040" cy="658368"/>
          </a:xfrm>
          <a:prstGeom prst="rect">
            <a:avLst/>
          </a:prstGeom>
          <a:solidFill>
            <a:srgbClr val="273037"/>
          </a:solidFill>
          <a:ln w="12700">
            <a:solidFill>
              <a:srgbClr val="F5A524"/>
            </a:solidFill>
            <a:prstDash val="solid"/>
          </a:ln>
        </p:spPr>
        <p:txBody>
          <a:bodyPr/>
          <a:lstStyle/>
          <a:p>
            <a:endParaRPr lang="en-SE"/>
          </a:p>
        </p:txBody>
      </p:sp>
      <p:sp>
        <p:nvSpPr>
          <p:cNvPr id="61" name="Text 59"/>
          <p:cNvSpPr/>
          <p:nvPr/>
        </p:nvSpPr>
        <p:spPr>
          <a:xfrm>
            <a:off x="868680" y="5440680"/>
            <a:ext cx="10058400" cy="658368"/>
          </a:xfrm>
          <a:prstGeom prst="rect">
            <a:avLst/>
          </a:prstGeom>
          <a:noFill/>
          <a:ln/>
        </p:spPr>
        <p:txBody>
          <a:bodyPr wrap="square" lIns="0" tIns="0" rIns="0" bIns="0" rtlCol="0" anchor="ctr"/>
          <a:lstStyle/>
          <a:p>
            <a:pPr marL="0" indent="0">
              <a:buNone/>
            </a:pPr>
            <a:r>
              <a:rPr lang="en-US" sz="1400" b="1" dirty="0">
                <a:solidFill>
                  <a:srgbClr val="F5A524"/>
                </a:solidFill>
                <a:latin typeface="Segoe UI" pitchFamily="34" charset="0"/>
                <a:ea typeface="Segoe UI" pitchFamily="34" charset="-122"/>
                <a:cs typeface="Segoe UI" pitchFamily="34" charset="-120"/>
              </a:rPr>
              <a:t>Why this matters:  </a:t>
            </a:r>
            <a:r>
              <a:rPr lang="en-US" sz="1400" dirty="0">
                <a:solidFill>
                  <a:srgbClr val="E6EDF3"/>
                </a:solidFill>
                <a:latin typeface="Segoe UI" pitchFamily="34" charset="0"/>
                <a:ea typeface="Segoe UI" pitchFamily="34" charset="-122"/>
                <a:cs typeface="Segoe UI" pitchFamily="34" charset="-120"/>
              </a:rPr>
              <a:t>you can safely put this on a classroom wall, a projector, or a shared observer workstation. A viewer cannot break the market by clicking the wrong thing.</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Three applications, three jobs</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01 · PURPOSE</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06</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dirty="0">
                <a:solidFill>
                  <a:srgbClr val="AAB7C2"/>
                </a:solidFill>
                <a:latin typeface="Segoe UI" pitchFamily="34" charset="0"/>
                <a:ea typeface="Segoe UI" pitchFamily="34" charset="-122"/>
                <a:cs typeface="Segoe UI" pitchFamily="34" charset="-120"/>
              </a:rPr>
              <a:t>If you want to do something other than watch, you are in the wrong application. Know which tool does what.</a:t>
            </a:r>
            <a:endParaRPr lang="en-US" dirty="0"/>
          </a:p>
        </p:txBody>
      </p:sp>
      <p:sp>
        <p:nvSpPr>
          <p:cNvPr id="38" name="panel">
            <a:extLst>
              <a:ext uri="{C183D7F6-B498-43B3-948B-1728B52AA6E4}">
                <adec:decorative xmlns:adec="http://schemas.microsoft.com/office/drawing/2017/decorative" val="1"/>
              </a:ext>
            </a:extLst>
          </p:cNvPr>
          <p:cNvSpPr/>
          <p:nvPr/>
        </p:nvSpPr>
        <p:spPr>
          <a:xfrm>
            <a:off x="566928" y="1965960"/>
            <a:ext cx="3474720" cy="333756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39" name="panel accent">
            <a:extLst>
              <a:ext uri="{C183D7F6-B498-43B3-948B-1728B52AA6E4}">
                <adec:decorative xmlns:adec="http://schemas.microsoft.com/office/drawing/2017/decorative" val="1"/>
              </a:ext>
            </a:extLst>
          </p:cNvPr>
          <p:cNvSpPr/>
          <p:nvPr/>
        </p:nvSpPr>
        <p:spPr>
          <a:xfrm>
            <a:off x="566928" y="1965960"/>
            <a:ext cx="3474720" cy="50292"/>
          </a:xfrm>
          <a:prstGeom prst="rect">
            <a:avLst/>
          </a:prstGeom>
          <a:solidFill>
            <a:srgbClr val="3FE08A"/>
          </a:solidFill>
          <a:ln w="12700">
            <a:solidFill>
              <a:srgbClr val="333333"/>
            </a:solidFill>
            <a:prstDash val="solid"/>
          </a:ln>
        </p:spPr>
        <p:txBody>
          <a:bodyPr/>
          <a:lstStyle/>
          <a:p>
            <a:endParaRPr lang="en-SE"/>
          </a:p>
        </p:txBody>
      </p:sp>
      <p:sp>
        <p:nvSpPr>
          <p:cNvPr id="40" name="Text 38"/>
          <p:cNvSpPr/>
          <p:nvPr/>
        </p:nvSpPr>
        <p:spPr>
          <a:xfrm>
            <a:off x="841248" y="2286000"/>
            <a:ext cx="2926080" cy="365760"/>
          </a:xfrm>
          <a:prstGeom prst="rect">
            <a:avLst/>
          </a:prstGeom>
          <a:noFill/>
          <a:ln/>
        </p:spPr>
        <p:txBody>
          <a:bodyPr wrap="square" lIns="0" tIns="0" rIns="0" bIns="0" rtlCol="0" anchor="ctr"/>
          <a:lstStyle/>
          <a:p>
            <a:pPr marL="0" indent="0">
              <a:buNone/>
            </a:pPr>
            <a:r>
              <a:rPr lang="en-US" b="1" kern="0" spc="100" dirty="0">
                <a:solidFill>
                  <a:srgbClr val="3FE08A"/>
                </a:solidFill>
                <a:latin typeface="Consolas" pitchFamily="34" charset="0"/>
                <a:ea typeface="Consolas" pitchFamily="34" charset="-122"/>
                <a:cs typeface="Consolas" pitchFamily="34" charset="-120"/>
              </a:rPr>
              <a:t>TAPEDECK</a:t>
            </a:r>
            <a:endParaRPr lang="en-US" dirty="0"/>
          </a:p>
        </p:txBody>
      </p:sp>
      <p:sp>
        <p:nvSpPr>
          <p:cNvPr id="41" name="Text 39"/>
          <p:cNvSpPr/>
          <p:nvPr/>
        </p:nvSpPr>
        <p:spPr>
          <a:xfrm>
            <a:off x="841248" y="2697480"/>
            <a:ext cx="2926080" cy="457200"/>
          </a:xfrm>
          <a:prstGeom prst="rect">
            <a:avLst/>
          </a:prstGeom>
          <a:noFill/>
          <a:ln/>
        </p:spPr>
        <p:txBody>
          <a:bodyPr wrap="square" lIns="0" tIns="0" rIns="0" bIns="0" rtlCol="0" anchor="ctr"/>
          <a:lstStyle/>
          <a:p>
            <a:pPr marL="0" indent="0">
              <a:buNone/>
            </a:pPr>
            <a:r>
              <a:rPr lang="en-US" sz="1800" b="1" dirty="0">
                <a:solidFill>
                  <a:srgbClr val="E6EDF3"/>
                </a:solidFill>
                <a:latin typeface="Segoe UI" pitchFamily="34" charset="0"/>
                <a:ea typeface="Segoe UI" pitchFamily="34" charset="-122"/>
                <a:cs typeface="Segoe UI" pitchFamily="34" charset="-120"/>
              </a:rPr>
              <a:t>Watch the market</a:t>
            </a:r>
            <a:endParaRPr lang="en-US" sz="1800" dirty="0"/>
          </a:p>
        </p:txBody>
      </p:sp>
      <p:sp>
        <p:nvSpPr>
          <p:cNvPr id="42" name="rule">
            <a:extLst>
              <a:ext uri="{C183D7F6-B498-43B3-948B-1728B52AA6E4}">
                <adec:decorative xmlns:adec="http://schemas.microsoft.com/office/drawing/2017/decorative" val="1"/>
              </a:ext>
            </a:extLst>
          </p:cNvPr>
          <p:cNvSpPr/>
          <p:nvPr/>
        </p:nvSpPr>
        <p:spPr>
          <a:xfrm>
            <a:off x="841248" y="3246120"/>
            <a:ext cx="822960" cy="27432"/>
          </a:xfrm>
          <a:prstGeom prst="rect">
            <a:avLst/>
          </a:prstGeom>
          <a:solidFill>
            <a:srgbClr val="313B44"/>
          </a:solidFill>
          <a:ln w="12700">
            <a:solidFill>
              <a:srgbClr val="333333"/>
            </a:solidFill>
            <a:prstDash val="solid"/>
          </a:ln>
        </p:spPr>
        <p:txBody>
          <a:bodyPr/>
          <a:lstStyle/>
          <a:p>
            <a:endParaRPr lang="en-SE"/>
          </a:p>
        </p:txBody>
      </p:sp>
      <p:sp>
        <p:nvSpPr>
          <p:cNvPr id="43" name="Text 41"/>
          <p:cNvSpPr/>
          <p:nvPr/>
        </p:nvSpPr>
        <p:spPr>
          <a:xfrm>
            <a:off x="841248" y="3456432"/>
            <a:ext cx="2926080" cy="1097280"/>
          </a:xfrm>
          <a:prstGeom prst="rect">
            <a:avLst/>
          </a:prstGeom>
          <a:noFill/>
          <a:ln/>
        </p:spPr>
        <p:txBody>
          <a:bodyPr wrap="square" lIns="0" tIns="0" rIns="0" bIns="0" rtlCol="0" anchor="ctr"/>
          <a:lstStyle/>
          <a:p>
            <a:pPr marL="0" indent="0">
              <a:lnSpc>
                <a:spcPct val="115000"/>
              </a:lnSpc>
              <a:buNone/>
            </a:pPr>
            <a:r>
              <a:rPr lang="en-US" sz="1400" dirty="0">
                <a:solidFill>
                  <a:srgbClr val="AAB7C2"/>
                </a:solidFill>
                <a:latin typeface="Segoe UI" pitchFamily="34" charset="0"/>
                <a:ea typeface="Segoe UI" pitchFamily="34" charset="-122"/>
                <a:cs typeface="Segoe UI" pitchFamily="34" charset="-120"/>
              </a:rPr>
              <a:t>Read-only display of live and historical market data. No login, no order entry.</a:t>
            </a:r>
            <a:endParaRPr lang="en-US" sz="1400" dirty="0"/>
          </a:p>
        </p:txBody>
      </p:sp>
      <p:sp>
        <p:nvSpPr>
          <p:cNvPr id="44" name="badge background">
            <a:extLst>
              <a:ext uri="{C183D7F6-B498-43B3-948B-1728B52AA6E4}">
                <adec:decorative xmlns:adec="http://schemas.microsoft.com/office/drawing/2017/decorative" val="1"/>
              </a:ext>
            </a:extLst>
          </p:cNvPr>
          <p:cNvSpPr/>
          <p:nvPr/>
        </p:nvSpPr>
        <p:spPr>
          <a:xfrm>
            <a:off x="841248" y="4754880"/>
            <a:ext cx="1920240" cy="310896"/>
          </a:xfrm>
          <a:prstGeom prst="roundRect">
            <a:avLst>
              <a:gd name="adj" fmla="val 26471"/>
            </a:avLst>
          </a:prstGeom>
          <a:solidFill>
            <a:srgbClr val="122C22"/>
          </a:solidFill>
          <a:ln w="12700">
            <a:solidFill>
              <a:srgbClr val="333333"/>
            </a:solidFill>
            <a:prstDash val="solid"/>
          </a:ln>
        </p:spPr>
        <p:txBody>
          <a:bodyPr/>
          <a:lstStyle/>
          <a:p>
            <a:endParaRPr lang="en-SE"/>
          </a:p>
        </p:txBody>
      </p:sp>
      <p:sp>
        <p:nvSpPr>
          <p:cNvPr id="45" name="Text 43"/>
          <p:cNvSpPr/>
          <p:nvPr/>
        </p:nvSpPr>
        <p:spPr>
          <a:xfrm>
            <a:off x="841248" y="4754880"/>
            <a:ext cx="1920240" cy="310896"/>
          </a:xfrm>
          <a:prstGeom prst="rect">
            <a:avLst/>
          </a:prstGeom>
          <a:noFill/>
          <a:ln/>
        </p:spPr>
        <p:txBody>
          <a:bodyPr wrap="square" lIns="0" tIns="0" rIns="0" bIns="0" rtlCol="0" anchor="ctr"/>
          <a:lstStyle/>
          <a:p>
            <a:pPr marL="0" indent="0" algn="ctr">
              <a:buNone/>
            </a:pPr>
            <a:r>
              <a:rPr lang="en-US" sz="1400" b="1" kern="0" spc="80" dirty="0">
                <a:solidFill>
                  <a:srgbClr val="3FE08A"/>
                </a:solidFill>
                <a:latin typeface="Consolas" pitchFamily="34" charset="0"/>
                <a:ea typeface="Consolas" pitchFamily="34" charset="-122"/>
                <a:cs typeface="Consolas" pitchFamily="34" charset="-120"/>
              </a:rPr>
              <a:t>YOU ARE HERE</a:t>
            </a:r>
            <a:endParaRPr lang="en-US" sz="1400" dirty="0"/>
          </a:p>
        </p:txBody>
      </p:sp>
      <p:sp>
        <p:nvSpPr>
          <p:cNvPr id="46" name="panel">
            <a:extLst>
              <a:ext uri="{C183D7F6-B498-43B3-948B-1728B52AA6E4}">
                <adec:decorative xmlns:adec="http://schemas.microsoft.com/office/drawing/2017/decorative" val="1"/>
              </a:ext>
            </a:extLst>
          </p:cNvPr>
          <p:cNvSpPr/>
          <p:nvPr/>
        </p:nvSpPr>
        <p:spPr>
          <a:xfrm>
            <a:off x="4279392" y="1965960"/>
            <a:ext cx="3474720" cy="333756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47" name="panel accent">
            <a:extLst>
              <a:ext uri="{C183D7F6-B498-43B3-948B-1728B52AA6E4}">
                <adec:decorative xmlns:adec="http://schemas.microsoft.com/office/drawing/2017/decorative" val="1"/>
              </a:ext>
            </a:extLst>
          </p:cNvPr>
          <p:cNvSpPr/>
          <p:nvPr/>
        </p:nvSpPr>
        <p:spPr>
          <a:xfrm>
            <a:off x="4279392" y="1965960"/>
            <a:ext cx="3474720" cy="50292"/>
          </a:xfrm>
          <a:prstGeom prst="rect">
            <a:avLst/>
          </a:prstGeom>
          <a:solidFill>
            <a:srgbClr val="F5A524"/>
          </a:solidFill>
          <a:ln w="12700">
            <a:solidFill>
              <a:srgbClr val="333333"/>
            </a:solidFill>
            <a:prstDash val="solid"/>
          </a:ln>
        </p:spPr>
        <p:txBody>
          <a:bodyPr/>
          <a:lstStyle/>
          <a:p>
            <a:endParaRPr lang="en-SE"/>
          </a:p>
        </p:txBody>
      </p:sp>
      <p:sp>
        <p:nvSpPr>
          <p:cNvPr id="48" name="Text 46"/>
          <p:cNvSpPr/>
          <p:nvPr/>
        </p:nvSpPr>
        <p:spPr>
          <a:xfrm>
            <a:off x="4553712" y="2286000"/>
            <a:ext cx="2926080" cy="365760"/>
          </a:xfrm>
          <a:prstGeom prst="rect">
            <a:avLst/>
          </a:prstGeom>
          <a:noFill/>
          <a:ln/>
        </p:spPr>
        <p:txBody>
          <a:bodyPr wrap="square" lIns="0" tIns="0" rIns="0" bIns="0" rtlCol="0" anchor="ctr"/>
          <a:lstStyle/>
          <a:p>
            <a:pPr marL="0" indent="0">
              <a:buNone/>
            </a:pPr>
            <a:r>
              <a:rPr lang="en-US" b="1" kern="0" spc="100" dirty="0">
                <a:solidFill>
                  <a:srgbClr val="F5A524"/>
                </a:solidFill>
                <a:latin typeface="Consolas" pitchFamily="34" charset="0"/>
                <a:ea typeface="Consolas" pitchFamily="34" charset="-122"/>
                <a:cs typeface="Consolas" pitchFamily="34" charset="-120"/>
              </a:rPr>
              <a:t>TRADING CLIENT</a:t>
            </a:r>
            <a:endParaRPr lang="en-US" dirty="0"/>
          </a:p>
        </p:txBody>
      </p:sp>
      <p:sp>
        <p:nvSpPr>
          <p:cNvPr id="49" name="Text 47"/>
          <p:cNvSpPr/>
          <p:nvPr/>
        </p:nvSpPr>
        <p:spPr>
          <a:xfrm>
            <a:off x="4553712" y="2697480"/>
            <a:ext cx="2926080" cy="457200"/>
          </a:xfrm>
          <a:prstGeom prst="rect">
            <a:avLst/>
          </a:prstGeom>
          <a:noFill/>
          <a:ln/>
        </p:spPr>
        <p:txBody>
          <a:bodyPr wrap="square" lIns="0" tIns="0" rIns="0" bIns="0" rtlCol="0" anchor="ctr"/>
          <a:lstStyle/>
          <a:p>
            <a:pPr marL="0" indent="0">
              <a:buNone/>
            </a:pPr>
            <a:r>
              <a:rPr lang="en-US" sz="1800" b="1" dirty="0">
                <a:solidFill>
                  <a:srgbClr val="E6EDF3"/>
                </a:solidFill>
                <a:latin typeface="Segoe UI" pitchFamily="34" charset="0"/>
                <a:ea typeface="Segoe UI" pitchFamily="34" charset="-122"/>
                <a:cs typeface="Segoe UI" pitchFamily="34" charset="-120"/>
              </a:rPr>
              <a:t>Place orders</a:t>
            </a:r>
            <a:endParaRPr lang="en-US" sz="1800" dirty="0"/>
          </a:p>
        </p:txBody>
      </p:sp>
      <p:sp>
        <p:nvSpPr>
          <p:cNvPr id="50" name="rule">
            <a:extLst>
              <a:ext uri="{C183D7F6-B498-43B3-948B-1728B52AA6E4}">
                <adec:decorative xmlns:adec="http://schemas.microsoft.com/office/drawing/2017/decorative" val="1"/>
              </a:ext>
            </a:extLst>
          </p:cNvPr>
          <p:cNvSpPr/>
          <p:nvPr/>
        </p:nvSpPr>
        <p:spPr>
          <a:xfrm>
            <a:off x="4553712" y="3246120"/>
            <a:ext cx="822960" cy="27432"/>
          </a:xfrm>
          <a:prstGeom prst="rect">
            <a:avLst/>
          </a:prstGeom>
          <a:solidFill>
            <a:srgbClr val="313B44"/>
          </a:solidFill>
          <a:ln w="12700">
            <a:solidFill>
              <a:srgbClr val="333333"/>
            </a:solidFill>
            <a:prstDash val="solid"/>
          </a:ln>
        </p:spPr>
        <p:txBody>
          <a:bodyPr/>
          <a:lstStyle/>
          <a:p>
            <a:endParaRPr lang="en-SE"/>
          </a:p>
        </p:txBody>
      </p:sp>
      <p:sp>
        <p:nvSpPr>
          <p:cNvPr id="51" name="Text 49"/>
          <p:cNvSpPr/>
          <p:nvPr/>
        </p:nvSpPr>
        <p:spPr>
          <a:xfrm>
            <a:off x="4553712" y="3456432"/>
            <a:ext cx="2926080" cy="1097280"/>
          </a:xfrm>
          <a:prstGeom prst="rect">
            <a:avLst/>
          </a:prstGeom>
          <a:noFill/>
          <a:ln/>
        </p:spPr>
        <p:txBody>
          <a:bodyPr wrap="square" lIns="0" tIns="0" rIns="0" bIns="0" rtlCol="0" anchor="ctr"/>
          <a:lstStyle/>
          <a:p>
            <a:pPr marL="0" indent="0">
              <a:lnSpc>
                <a:spcPct val="115000"/>
              </a:lnSpc>
              <a:buNone/>
            </a:pPr>
            <a:r>
              <a:rPr lang="en-US" sz="1400" dirty="0">
                <a:solidFill>
                  <a:srgbClr val="AAB7C2"/>
                </a:solidFill>
                <a:latin typeface="Segoe UI" pitchFamily="34" charset="0"/>
                <a:ea typeface="Segoe UI" pitchFamily="34" charset="-122"/>
                <a:cs typeface="Segoe UI" pitchFamily="34" charset="-120"/>
              </a:rPr>
              <a:t>The application that submits, amends and cancels orders on the exchange.</a:t>
            </a:r>
            <a:endParaRPr lang="en-US" sz="1400" dirty="0"/>
          </a:p>
        </p:txBody>
      </p:sp>
      <p:sp>
        <p:nvSpPr>
          <p:cNvPr id="52" name="badge background">
            <a:extLst>
              <a:ext uri="{C183D7F6-B498-43B3-948B-1728B52AA6E4}">
                <adec:decorative xmlns:adec="http://schemas.microsoft.com/office/drawing/2017/decorative" val="1"/>
              </a:ext>
            </a:extLst>
          </p:cNvPr>
          <p:cNvSpPr/>
          <p:nvPr/>
        </p:nvSpPr>
        <p:spPr>
          <a:xfrm>
            <a:off x="4553712" y="4754880"/>
            <a:ext cx="1920240" cy="310896"/>
          </a:xfrm>
          <a:prstGeom prst="roundRect">
            <a:avLst>
              <a:gd name="adj" fmla="val 26471"/>
            </a:avLst>
          </a:prstGeom>
          <a:solidFill>
            <a:srgbClr val="273037"/>
          </a:solidFill>
          <a:ln w="12700">
            <a:solidFill>
              <a:srgbClr val="333333"/>
            </a:solidFill>
            <a:prstDash val="solid"/>
          </a:ln>
        </p:spPr>
        <p:txBody>
          <a:bodyPr/>
          <a:lstStyle/>
          <a:p>
            <a:endParaRPr lang="en-SE" sz="3200"/>
          </a:p>
        </p:txBody>
      </p:sp>
      <p:sp>
        <p:nvSpPr>
          <p:cNvPr id="53" name="Text 51"/>
          <p:cNvSpPr/>
          <p:nvPr/>
        </p:nvSpPr>
        <p:spPr>
          <a:xfrm>
            <a:off x="4553712" y="4754880"/>
            <a:ext cx="1920240" cy="310896"/>
          </a:xfrm>
          <a:prstGeom prst="rect">
            <a:avLst/>
          </a:prstGeom>
          <a:noFill/>
          <a:ln/>
        </p:spPr>
        <p:txBody>
          <a:bodyPr wrap="square" lIns="0" tIns="0" rIns="0" bIns="0" rtlCol="0" anchor="ctr"/>
          <a:lstStyle/>
          <a:p>
            <a:pPr marL="0" indent="0" algn="ctr">
              <a:buNone/>
            </a:pPr>
            <a:r>
              <a:rPr lang="en-US" sz="1400" b="1" kern="0" spc="80" dirty="0">
                <a:solidFill>
                  <a:srgbClr val="7C8B97"/>
                </a:solidFill>
                <a:latin typeface="Consolas" pitchFamily="34" charset="0"/>
                <a:ea typeface="Consolas" pitchFamily="34" charset="-122"/>
                <a:cs typeface="Consolas" pitchFamily="34" charset="-120"/>
              </a:rPr>
              <a:t>USE FOR TRADING</a:t>
            </a:r>
            <a:endParaRPr lang="en-US" sz="1400" dirty="0"/>
          </a:p>
        </p:txBody>
      </p:sp>
      <p:sp>
        <p:nvSpPr>
          <p:cNvPr id="54" name="panel">
            <a:extLst>
              <a:ext uri="{C183D7F6-B498-43B3-948B-1728B52AA6E4}">
                <adec:decorative xmlns:adec="http://schemas.microsoft.com/office/drawing/2017/decorative" val="1"/>
              </a:ext>
            </a:extLst>
          </p:cNvPr>
          <p:cNvSpPr/>
          <p:nvPr/>
        </p:nvSpPr>
        <p:spPr>
          <a:xfrm>
            <a:off x="7991856" y="1965960"/>
            <a:ext cx="3474720" cy="333756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55" name="panel accent">
            <a:extLst>
              <a:ext uri="{C183D7F6-B498-43B3-948B-1728B52AA6E4}">
                <adec:decorative xmlns:adec="http://schemas.microsoft.com/office/drawing/2017/decorative" val="1"/>
              </a:ext>
            </a:extLst>
          </p:cNvPr>
          <p:cNvSpPr/>
          <p:nvPr/>
        </p:nvSpPr>
        <p:spPr>
          <a:xfrm>
            <a:off x="7991856" y="1965960"/>
            <a:ext cx="3474720" cy="50292"/>
          </a:xfrm>
          <a:prstGeom prst="rect">
            <a:avLst/>
          </a:prstGeom>
          <a:solidFill>
            <a:srgbClr val="EF5B63"/>
          </a:solidFill>
          <a:ln w="12700">
            <a:solidFill>
              <a:srgbClr val="333333"/>
            </a:solidFill>
            <a:prstDash val="solid"/>
          </a:ln>
        </p:spPr>
        <p:txBody>
          <a:bodyPr/>
          <a:lstStyle/>
          <a:p>
            <a:endParaRPr lang="en-SE"/>
          </a:p>
        </p:txBody>
      </p:sp>
      <p:sp>
        <p:nvSpPr>
          <p:cNvPr id="56" name="Text 54"/>
          <p:cNvSpPr/>
          <p:nvPr/>
        </p:nvSpPr>
        <p:spPr>
          <a:xfrm>
            <a:off x="8266176" y="2286000"/>
            <a:ext cx="2926080" cy="365760"/>
          </a:xfrm>
          <a:prstGeom prst="rect">
            <a:avLst/>
          </a:prstGeom>
          <a:noFill/>
          <a:ln/>
        </p:spPr>
        <p:txBody>
          <a:bodyPr wrap="square" lIns="0" tIns="0" rIns="0" bIns="0" rtlCol="0" anchor="ctr"/>
          <a:lstStyle/>
          <a:p>
            <a:pPr marL="0" indent="0">
              <a:buNone/>
            </a:pPr>
            <a:r>
              <a:rPr lang="en-US" b="1" kern="0" spc="100" dirty="0">
                <a:solidFill>
                  <a:srgbClr val="EF5B63"/>
                </a:solidFill>
                <a:latin typeface="Consolas" pitchFamily="34" charset="0"/>
                <a:ea typeface="Consolas" pitchFamily="34" charset="-122"/>
                <a:cs typeface="Consolas" pitchFamily="34" charset="-120"/>
              </a:rPr>
              <a:t>ADMIN TOOLS</a:t>
            </a:r>
            <a:endParaRPr lang="en-US" dirty="0"/>
          </a:p>
        </p:txBody>
      </p:sp>
      <p:sp>
        <p:nvSpPr>
          <p:cNvPr id="57" name="Text 55"/>
          <p:cNvSpPr/>
          <p:nvPr/>
        </p:nvSpPr>
        <p:spPr>
          <a:xfrm>
            <a:off x="8266176" y="2697480"/>
            <a:ext cx="2926080" cy="457200"/>
          </a:xfrm>
          <a:prstGeom prst="rect">
            <a:avLst/>
          </a:prstGeom>
          <a:noFill/>
          <a:ln/>
        </p:spPr>
        <p:txBody>
          <a:bodyPr wrap="square" lIns="0" tIns="0" rIns="0" bIns="0" rtlCol="0" anchor="ctr"/>
          <a:lstStyle/>
          <a:p>
            <a:pPr marL="0" indent="0">
              <a:buNone/>
            </a:pPr>
            <a:r>
              <a:rPr lang="en-US" sz="1800" b="1" dirty="0">
                <a:solidFill>
                  <a:srgbClr val="E6EDF3"/>
                </a:solidFill>
                <a:latin typeface="Segoe UI" pitchFamily="34" charset="0"/>
                <a:ea typeface="Segoe UI" pitchFamily="34" charset="-122"/>
                <a:cs typeface="Segoe UI" pitchFamily="34" charset="-120"/>
              </a:rPr>
              <a:t>Change exchange state</a:t>
            </a:r>
            <a:endParaRPr lang="en-US" sz="1800" dirty="0"/>
          </a:p>
        </p:txBody>
      </p:sp>
      <p:sp>
        <p:nvSpPr>
          <p:cNvPr id="58" name="rule">
            <a:extLst>
              <a:ext uri="{C183D7F6-B498-43B3-948B-1728B52AA6E4}">
                <adec:decorative xmlns:adec="http://schemas.microsoft.com/office/drawing/2017/decorative" val="1"/>
              </a:ext>
            </a:extLst>
          </p:cNvPr>
          <p:cNvSpPr/>
          <p:nvPr/>
        </p:nvSpPr>
        <p:spPr>
          <a:xfrm>
            <a:off x="8266176" y="3246120"/>
            <a:ext cx="822960" cy="27432"/>
          </a:xfrm>
          <a:prstGeom prst="rect">
            <a:avLst/>
          </a:prstGeom>
          <a:solidFill>
            <a:srgbClr val="313B44"/>
          </a:solidFill>
          <a:ln w="12700">
            <a:solidFill>
              <a:srgbClr val="333333"/>
            </a:solidFill>
            <a:prstDash val="solid"/>
          </a:ln>
        </p:spPr>
        <p:txBody>
          <a:bodyPr/>
          <a:lstStyle/>
          <a:p>
            <a:endParaRPr lang="en-SE"/>
          </a:p>
        </p:txBody>
      </p:sp>
      <p:sp>
        <p:nvSpPr>
          <p:cNvPr id="59" name="Text 57"/>
          <p:cNvSpPr/>
          <p:nvPr/>
        </p:nvSpPr>
        <p:spPr>
          <a:xfrm>
            <a:off x="8266176" y="3456432"/>
            <a:ext cx="2926080" cy="1097280"/>
          </a:xfrm>
          <a:prstGeom prst="rect">
            <a:avLst/>
          </a:prstGeom>
          <a:noFill/>
          <a:ln/>
        </p:spPr>
        <p:txBody>
          <a:bodyPr wrap="square" lIns="0" tIns="0" rIns="0" bIns="0" rtlCol="0" anchor="ctr"/>
          <a:lstStyle/>
          <a:p>
            <a:pPr marL="0" indent="0">
              <a:lnSpc>
                <a:spcPct val="115000"/>
              </a:lnSpc>
              <a:buNone/>
            </a:pPr>
            <a:r>
              <a:rPr lang="en-US" sz="1400" dirty="0">
                <a:solidFill>
                  <a:srgbClr val="AAB7C2"/>
                </a:solidFill>
                <a:latin typeface="Segoe UI" pitchFamily="34" charset="0"/>
                <a:ea typeface="Segoe UI" pitchFamily="34" charset="-122"/>
                <a:cs typeface="Segoe UI" pitchFamily="34" charset="-120"/>
              </a:rPr>
              <a:t>Halting symbols, running auctions, opening and closing the session.</a:t>
            </a:r>
            <a:endParaRPr lang="en-US" sz="1400" dirty="0"/>
          </a:p>
        </p:txBody>
      </p:sp>
      <p:sp>
        <p:nvSpPr>
          <p:cNvPr id="60" name="badge background">
            <a:extLst>
              <a:ext uri="{C183D7F6-B498-43B3-948B-1728B52AA6E4}">
                <adec:decorative xmlns:adec="http://schemas.microsoft.com/office/drawing/2017/decorative" val="1"/>
              </a:ext>
            </a:extLst>
          </p:cNvPr>
          <p:cNvSpPr/>
          <p:nvPr/>
        </p:nvSpPr>
        <p:spPr>
          <a:xfrm>
            <a:off x="8266176" y="4754880"/>
            <a:ext cx="1920240" cy="310896"/>
          </a:xfrm>
          <a:prstGeom prst="roundRect">
            <a:avLst>
              <a:gd name="adj" fmla="val 26471"/>
            </a:avLst>
          </a:prstGeom>
          <a:solidFill>
            <a:srgbClr val="273037"/>
          </a:solidFill>
          <a:ln w="12700">
            <a:solidFill>
              <a:srgbClr val="333333"/>
            </a:solidFill>
            <a:prstDash val="solid"/>
          </a:ln>
        </p:spPr>
        <p:txBody>
          <a:bodyPr/>
          <a:lstStyle/>
          <a:p>
            <a:endParaRPr lang="en-SE"/>
          </a:p>
        </p:txBody>
      </p:sp>
      <p:sp>
        <p:nvSpPr>
          <p:cNvPr id="61" name="Text 59"/>
          <p:cNvSpPr/>
          <p:nvPr/>
        </p:nvSpPr>
        <p:spPr>
          <a:xfrm>
            <a:off x="8266175" y="4754880"/>
            <a:ext cx="2671455" cy="310896"/>
          </a:xfrm>
          <a:prstGeom prst="rect">
            <a:avLst/>
          </a:prstGeom>
          <a:noFill/>
          <a:ln/>
        </p:spPr>
        <p:txBody>
          <a:bodyPr wrap="square" lIns="0" tIns="0" rIns="0" bIns="0" rtlCol="0" anchor="ctr"/>
          <a:lstStyle/>
          <a:p>
            <a:pPr marL="0" indent="0" algn="ctr">
              <a:buNone/>
            </a:pPr>
            <a:r>
              <a:rPr lang="en-US" sz="1400" b="1" kern="0" spc="80" dirty="0">
                <a:solidFill>
                  <a:srgbClr val="7C8B97"/>
                </a:solidFill>
                <a:latin typeface="Consolas" pitchFamily="34" charset="0"/>
                <a:ea typeface="Consolas" pitchFamily="34" charset="-122"/>
                <a:cs typeface="Consolas" pitchFamily="34" charset="-120"/>
              </a:rPr>
              <a:t>USE FOR OPERATIONS</a:t>
            </a:r>
            <a:endParaRPr lang="en-US" sz="1400" dirty="0"/>
          </a:p>
        </p:txBody>
      </p:sp>
      <p:sp>
        <p:nvSpPr>
          <p:cNvPr id="62" name="Text 60"/>
          <p:cNvSpPr/>
          <p:nvPr/>
        </p:nvSpPr>
        <p:spPr>
          <a:xfrm>
            <a:off x="566928" y="5623560"/>
            <a:ext cx="11320272" cy="457200"/>
          </a:xfrm>
          <a:prstGeom prst="rect">
            <a:avLst/>
          </a:prstGeom>
          <a:noFill/>
          <a:ln/>
        </p:spPr>
        <p:txBody>
          <a:bodyPr wrap="square" lIns="0" tIns="0" rIns="0" bIns="0" rtlCol="0" anchor="ctr"/>
          <a:lstStyle/>
          <a:p>
            <a:pPr marL="0" indent="0">
              <a:buNone/>
            </a:pPr>
            <a:r>
              <a:rPr lang="en-US" sz="1400" i="1" dirty="0">
                <a:solidFill>
                  <a:srgbClr val="7C8B97"/>
                </a:solidFill>
                <a:latin typeface="Segoe UI" pitchFamily="34" charset="0"/>
                <a:ea typeface="Segoe UI" pitchFamily="34" charset="-122"/>
                <a:cs typeface="Segoe UI" pitchFamily="34" charset="-120"/>
              </a:rPr>
              <a:t>A beginner's rule of thumb: if the screen has no button that changes anything, you cannot cause an incident with it. TapeDeck has no such button.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732692"/>
            <a:ext cx="12191695" cy="0"/>
          </a:xfrm>
          <a:prstGeom prst="line">
            <a:avLst/>
          </a:prstGeom>
          <a:noFill/>
          <a:ln w="6350">
            <a:solidFill>
              <a:srgbClr val="222A31"/>
            </a:solidFill>
            <a:prstDash val="solid"/>
          </a:ln>
        </p:spPr>
        <p:txBody>
          <a:bodyPr/>
          <a:lstStyle/>
          <a:p>
            <a:endParaRPr lang="en-SE" sz="2800"/>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Where the terminal is used</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01 · PURPOSE</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07</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600" dirty="0">
                <a:solidFill>
                  <a:srgbClr val="AAB7C2"/>
                </a:solidFill>
                <a:latin typeface="Segoe UI" pitchFamily="34" charset="0"/>
                <a:ea typeface="Segoe UI" pitchFamily="34" charset="-122"/>
                <a:cs typeface="Segoe UI" pitchFamily="34" charset="-120"/>
              </a:rPr>
              <a:t>Four everyday situations. All of them are "someone needs to see the market" — none of them are "someone needs to act on the market".</a:t>
            </a:r>
            <a:endParaRPr lang="en-US" sz="1600" dirty="0"/>
          </a:p>
        </p:txBody>
      </p:sp>
      <p:sp>
        <p:nvSpPr>
          <p:cNvPr id="38" name="panel">
            <a:extLst>
              <a:ext uri="{C183D7F6-B498-43B3-948B-1728B52AA6E4}">
                <adec:decorative xmlns:adec="http://schemas.microsoft.com/office/drawing/2017/decorative" val="1"/>
              </a:ext>
            </a:extLst>
          </p:cNvPr>
          <p:cNvSpPr/>
          <p:nvPr/>
        </p:nvSpPr>
        <p:spPr>
          <a:xfrm>
            <a:off x="566928" y="1965960"/>
            <a:ext cx="5166360" cy="178308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39" name="panel accent">
            <a:extLst>
              <a:ext uri="{C183D7F6-B498-43B3-948B-1728B52AA6E4}">
                <adec:decorative xmlns:adec="http://schemas.microsoft.com/office/drawing/2017/decorative" val="1"/>
              </a:ext>
            </a:extLst>
          </p:cNvPr>
          <p:cNvSpPr/>
          <p:nvPr/>
        </p:nvSpPr>
        <p:spPr>
          <a:xfrm>
            <a:off x="566928" y="1965960"/>
            <a:ext cx="50292" cy="1783080"/>
          </a:xfrm>
          <a:prstGeom prst="rect">
            <a:avLst/>
          </a:prstGeom>
          <a:solidFill>
            <a:srgbClr val="3FE08A"/>
          </a:solidFill>
          <a:ln w="12700">
            <a:solidFill>
              <a:srgbClr val="333333"/>
            </a:solidFill>
            <a:prstDash val="solid"/>
          </a:ln>
        </p:spPr>
        <p:txBody>
          <a:bodyPr/>
          <a:lstStyle/>
          <a:p>
            <a:endParaRPr lang="en-SE"/>
          </a:p>
        </p:txBody>
      </p:sp>
      <p:sp>
        <p:nvSpPr>
          <p:cNvPr id="40" name="Text 38"/>
          <p:cNvSpPr/>
          <p:nvPr/>
        </p:nvSpPr>
        <p:spPr>
          <a:xfrm>
            <a:off x="804672" y="2148840"/>
            <a:ext cx="4709160" cy="292608"/>
          </a:xfrm>
          <a:prstGeom prst="rect">
            <a:avLst/>
          </a:prstGeom>
          <a:noFill/>
          <a:ln/>
        </p:spPr>
        <p:txBody>
          <a:bodyPr wrap="square" lIns="0" tIns="0" rIns="0" bIns="0" rtlCol="0" anchor="ctr"/>
          <a:lstStyle/>
          <a:p>
            <a:pPr marL="0" indent="0">
              <a:buNone/>
            </a:pPr>
            <a:r>
              <a:rPr lang="en-US" sz="2400" b="1" kern="0" spc="150" dirty="0">
                <a:solidFill>
                  <a:srgbClr val="3FE08A"/>
                </a:solidFill>
                <a:latin typeface="Consolas" pitchFamily="34" charset="0"/>
                <a:ea typeface="Consolas" pitchFamily="34" charset="-122"/>
                <a:cs typeface="Consolas" pitchFamily="34" charset="-120"/>
              </a:rPr>
              <a:t>A</a:t>
            </a:r>
            <a:endParaRPr lang="en-US" sz="2400" dirty="0"/>
          </a:p>
        </p:txBody>
      </p:sp>
      <p:sp>
        <p:nvSpPr>
          <p:cNvPr id="41" name="Text 39"/>
          <p:cNvSpPr/>
          <p:nvPr/>
        </p:nvSpPr>
        <p:spPr>
          <a:xfrm>
            <a:off x="804672" y="2468880"/>
            <a:ext cx="4709160" cy="384048"/>
          </a:xfrm>
          <a:prstGeom prst="rect">
            <a:avLst/>
          </a:prstGeom>
          <a:noFill/>
          <a:ln/>
        </p:spPr>
        <p:txBody>
          <a:bodyPr wrap="square" lIns="0" tIns="0" rIns="0" bIns="0" rtlCol="0" anchor="t"/>
          <a:lstStyle/>
          <a:p>
            <a:pPr marL="0" indent="0">
              <a:buNone/>
            </a:pPr>
            <a:r>
              <a:rPr lang="en-US" b="1" dirty="0">
                <a:solidFill>
                  <a:srgbClr val="E6EDF3"/>
                </a:solidFill>
                <a:latin typeface="Segoe UI" pitchFamily="34" charset="0"/>
                <a:ea typeface="Segoe UI" pitchFamily="34" charset="-122"/>
                <a:cs typeface="Segoe UI" pitchFamily="34" charset="-120"/>
              </a:rPr>
              <a:t>Classroom wallboard</a:t>
            </a:r>
            <a:endParaRPr lang="en-US" dirty="0"/>
          </a:p>
        </p:txBody>
      </p:sp>
      <p:sp>
        <p:nvSpPr>
          <p:cNvPr id="42" name="Text 40"/>
          <p:cNvSpPr/>
          <p:nvPr/>
        </p:nvSpPr>
        <p:spPr>
          <a:xfrm>
            <a:off x="804672" y="2927252"/>
            <a:ext cx="4709160" cy="685800"/>
          </a:xfrm>
          <a:prstGeom prst="rect">
            <a:avLst/>
          </a:prstGeom>
          <a:noFill/>
          <a:ln/>
        </p:spPr>
        <p:txBody>
          <a:bodyPr wrap="square" lIns="0" tIns="0" rIns="0" bIns="0" rtlCol="0" anchor="t"/>
          <a:lstStyle/>
          <a:p>
            <a:pPr marL="0" indent="0">
              <a:lnSpc>
                <a:spcPct val="115000"/>
              </a:lnSpc>
              <a:buNone/>
            </a:pPr>
            <a:r>
              <a:rPr lang="en-US" sz="1600" dirty="0">
                <a:solidFill>
                  <a:srgbClr val="AAB7C2"/>
                </a:solidFill>
                <a:latin typeface="Segoe UI" pitchFamily="34" charset="0"/>
                <a:ea typeface="Segoe UI" pitchFamily="34" charset="-122"/>
                <a:cs typeface="Segoe UI" pitchFamily="34" charset="-120"/>
              </a:rPr>
              <a:t>Runs unattended on a big screen. Auto-pages through every symbol so nobody has to touch a mouse.</a:t>
            </a:r>
            <a:endParaRPr lang="en-US" sz="1600" dirty="0"/>
          </a:p>
        </p:txBody>
      </p:sp>
      <p:sp>
        <p:nvSpPr>
          <p:cNvPr id="43" name="panel">
            <a:extLst>
              <a:ext uri="{C183D7F6-B498-43B3-948B-1728B52AA6E4}">
                <adec:decorative xmlns:adec="http://schemas.microsoft.com/office/drawing/2017/decorative" val="1"/>
              </a:ext>
            </a:extLst>
          </p:cNvPr>
          <p:cNvSpPr/>
          <p:nvPr/>
        </p:nvSpPr>
        <p:spPr>
          <a:xfrm>
            <a:off x="6007608" y="1965960"/>
            <a:ext cx="5166360" cy="178308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44" name="panel accent">
            <a:extLst>
              <a:ext uri="{C183D7F6-B498-43B3-948B-1728B52AA6E4}">
                <adec:decorative xmlns:adec="http://schemas.microsoft.com/office/drawing/2017/decorative" val="1"/>
              </a:ext>
            </a:extLst>
          </p:cNvPr>
          <p:cNvSpPr/>
          <p:nvPr/>
        </p:nvSpPr>
        <p:spPr>
          <a:xfrm>
            <a:off x="6007608" y="1965960"/>
            <a:ext cx="50292" cy="1783080"/>
          </a:xfrm>
          <a:prstGeom prst="rect">
            <a:avLst/>
          </a:prstGeom>
          <a:solidFill>
            <a:srgbClr val="3FE08A"/>
          </a:solidFill>
          <a:ln w="12700">
            <a:solidFill>
              <a:srgbClr val="333333"/>
            </a:solidFill>
            <a:prstDash val="solid"/>
          </a:ln>
        </p:spPr>
        <p:txBody>
          <a:bodyPr/>
          <a:lstStyle/>
          <a:p>
            <a:endParaRPr lang="en-SE"/>
          </a:p>
        </p:txBody>
      </p:sp>
      <p:sp>
        <p:nvSpPr>
          <p:cNvPr id="45" name="Text 43"/>
          <p:cNvSpPr/>
          <p:nvPr/>
        </p:nvSpPr>
        <p:spPr>
          <a:xfrm>
            <a:off x="6245352" y="2148840"/>
            <a:ext cx="4709160" cy="292608"/>
          </a:xfrm>
          <a:prstGeom prst="rect">
            <a:avLst/>
          </a:prstGeom>
          <a:noFill/>
          <a:ln/>
        </p:spPr>
        <p:txBody>
          <a:bodyPr wrap="square" lIns="0" tIns="0" rIns="0" bIns="0" rtlCol="0" anchor="ctr"/>
          <a:lstStyle/>
          <a:p>
            <a:pPr marL="0" indent="0">
              <a:buNone/>
            </a:pPr>
            <a:r>
              <a:rPr lang="en-US" sz="2400" b="1" kern="0" spc="150" dirty="0">
                <a:solidFill>
                  <a:srgbClr val="3FE08A"/>
                </a:solidFill>
                <a:latin typeface="Consolas" pitchFamily="34" charset="0"/>
                <a:ea typeface="Consolas" pitchFamily="34" charset="-122"/>
                <a:cs typeface="Consolas" pitchFamily="34" charset="-120"/>
              </a:rPr>
              <a:t>B</a:t>
            </a:r>
            <a:endParaRPr lang="en-US" sz="2400" dirty="0"/>
          </a:p>
        </p:txBody>
      </p:sp>
      <p:sp>
        <p:nvSpPr>
          <p:cNvPr id="46" name="Text 44"/>
          <p:cNvSpPr/>
          <p:nvPr/>
        </p:nvSpPr>
        <p:spPr>
          <a:xfrm>
            <a:off x="6245352" y="2468880"/>
            <a:ext cx="4709160" cy="384048"/>
          </a:xfrm>
          <a:prstGeom prst="rect">
            <a:avLst/>
          </a:prstGeom>
          <a:noFill/>
          <a:ln/>
        </p:spPr>
        <p:txBody>
          <a:bodyPr wrap="square" lIns="0" tIns="0" rIns="0" bIns="0" rtlCol="0" anchor="t"/>
          <a:lstStyle/>
          <a:p>
            <a:pPr marL="0" indent="0">
              <a:buNone/>
            </a:pPr>
            <a:r>
              <a:rPr lang="en-US" b="1" dirty="0">
                <a:solidFill>
                  <a:srgbClr val="E6EDF3"/>
                </a:solidFill>
                <a:latin typeface="Segoe UI" pitchFamily="34" charset="0"/>
                <a:ea typeface="Segoe UI" pitchFamily="34" charset="-122"/>
                <a:cs typeface="Segoe UI" pitchFamily="34" charset="-120"/>
              </a:rPr>
              <a:t>Demo display</a:t>
            </a:r>
            <a:endParaRPr lang="en-US" dirty="0"/>
          </a:p>
        </p:txBody>
      </p:sp>
      <p:sp>
        <p:nvSpPr>
          <p:cNvPr id="47" name="Text 45"/>
          <p:cNvSpPr/>
          <p:nvPr/>
        </p:nvSpPr>
        <p:spPr>
          <a:xfrm>
            <a:off x="6245352" y="2927252"/>
            <a:ext cx="4709160" cy="685800"/>
          </a:xfrm>
          <a:prstGeom prst="rect">
            <a:avLst/>
          </a:prstGeom>
          <a:noFill/>
          <a:ln/>
        </p:spPr>
        <p:txBody>
          <a:bodyPr wrap="square" lIns="0" tIns="0" rIns="0" bIns="0" rtlCol="0" anchor="t"/>
          <a:lstStyle/>
          <a:p>
            <a:pPr marL="0" indent="0">
              <a:lnSpc>
                <a:spcPct val="115000"/>
              </a:lnSpc>
              <a:buNone/>
            </a:pPr>
            <a:r>
              <a:rPr lang="en-US" sz="1600" dirty="0">
                <a:solidFill>
                  <a:srgbClr val="AAB7C2"/>
                </a:solidFill>
                <a:latin typeface="Segoe UI" pitchFamily="34" charset="0"/>
                <a:ea typeface="Segoe UI" pitchFamily="34" charset="-122"/>
                <a:cs typeface="Segoe UI" pitchFamily="34" charset="-120"/>
              </a:rPr>
              <a:t>Shows a live, believable market to visitors while the exchange runs a scenario.</a:t>
            </a:r>
            <a:endParaRPr lang="en-US" sz="1600" dirty="0"/>
          </a:p>
        </p:txBody>
      </p:sp>
      <p:sp>
        <p:nvSpPr>
          <p:cNvPr id="48" name="panel">
            <a:extLst>
              <a:ext uri="{C183D7F6-B498-43B3-948B-1728B52AA6E4}">
                <adec:decorative xmlns:adec="http://schemas.microsoft.com/office/drawing/2017/decorative" val="1"/>
              </a:ext>
            </a:extLst>
          </p:cNvPr>
          <p:cNvSpPr/>
          <p:nvPr/>
        </p:nvSpPr>
        <p:spPr>
          <a:xfrm>
            <a:off x="566928" y="3977640"/>
            <a:ext cx="5166360" cy="178308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49" name="panel accent">
            <a:extLst>
              <a:ext uri="{C183D7F6-B498-43B3-948B-1728B52AA6E4}">
                <adec:decorative xmlns:adec="http://schemas.microsoft.com/office/drawing/2017/decorative" val="1"/>
              </a:ext>
            </a:extLst>
          </p:cNvPr>
          <p:cNvSpPr/>
          <p:nvPr/>
        </p:nvSpPr>
        <p:spPr>
          <a:xfrm>
            <a:off x="566928" y="3977640"/>
            <a:ext cx="50292" cy="1783080"/>
          </a:xfrm>
          <a:prstGeom prst="rect">
            <a:avLst/>
          </a:prstGeom>
          <a:solidFill>
            <a:srgbClr val="3FE08A"/>
          </a:solidFill>
          <a:ln w="12700">
            <a:solidFill>
              <a:srgbClr val="333333"/>
            </a:solidFill>
            <a:prstDash val="solid"/>
          </a:ln>
        </p:spPr>
        <p:txBody>
          <a:bodyPr/>
          <a:lstStyle/>
          <a:p>
            <a:endParaRPr lang="en-SE"/>
          </a:p>
        </p:txBody>
      </p:sp>
      <p:sp>
        <p:nvSpPr>
          <p:cNvPr id="50" name="Text 48"/>
          <p:cNvSpPr/>
          <p:nvPr/>
        </p:nvSpPr>
        <p:spPr>
          <a:xfrm>
            <a:off x="804672" y="4160520"/>
            <a:ext cx="4709160" cy="292608"/>
          </a:xfrm>
          <a:prstGeom prst="rect">
            <a:avLst/>
          </a:prstGeom>
          <a:noFill/>
          <a:ln/>
        </p:spPr>
        <p:txBody>
          <a:bodyPr wrap="square" lIns="0" tIns="0" rIns="0" bIns="0" rtlCol="0" anchor="ctr"/>
          <a:lstStyle/>
          <a:p>
            <a:pPr marL="0" indent="0">
              <a:buNone/>
            </a:pPr>
            <a:r>
              <a:rPr lang="en-US" sz="2400" b="1" kern="0" spc="150" dirty="0">
                <a:solidFill>
                  <a:srgbClr val="3FE08A"/>
                </a:solidFill>
                <a:latin typeface="Consolas" pitchFamily="34" charset="0"/>
                <a:ea typeface="Consolas" pitchFamily="34" charset="-122"/>
                <a:cs typeface="Consolas" pitchFamily="34" charset="-120"/>
              </a:rPr>
              <a:t>C</a:t>
            </a:r>
            <a:endParaRPr lang="en-US" sz="2400" dirty="0"/>
          </a:p>
        </p:txBody>
      </p:sp>
      <p:sp>
        <p:nvSpPr>
          <p:cNvPr id="51" name="Text 49"/>
          <p:cNvSpPr/>
          <p:nvPr/>
        </p:nvSpPr>
        <p:spPr>
          <a:xfrm>
            <a:off x="804672" y="4480560"/>
            <a:ext cx="4709160" cy="384048"/>
          </a:xfrm>
          <a:prstGeom prst="rect">
            <a:avLst/>
          </a:prstGeom>
          <a:noFill/>
          <a:ln/>
        </p:spPr>
        <p:txBody>
          <a:bodyPr wrap="square" lIns="0" tIns="0" rIns="0" bIns="0" rtlCol="0" anchor="t"/>
          <a:lstStyle/>
          <a:p>
            <a:pPr marL="0" indent="0">
              <a:buNone/>
            </a:pPr>
            <a:r>
              <a:rPr lang="en-US" b="1" dirty="0">
                <a:solidFill>
                  <a:srgbClr val="E6EDF3"/>
                </a:solidFill>
                <a:latin typeface="Segoe UI" pitchFamily="34" charset="0"/>
                <a:ea typeface="Segoe UI" pitchFamily="34" charset="-122"/>
                <a:cs typeface="Segoe UI" pitchFamily="34" charset="-120"/>
              </a:rPr>
              <a:t>Observer workstation</a:t>
            </a:r>
            <a:endParaRPr lang="en-US" dirty="0"/>
          </a:p>
        </p:txBody>
      </p:sp>
      <p:sp>
        <p:nvSpPr>
          <p:cNvPr id="52" name="Text 50"/>
          <p:cNvSpPr/>
          <p:nvPr/>
        </p:nvSpPr>
        <p:spPr>
          <a:xfrm>
            <a:off x="804672" y="4938932"/>
            <a:ext cx="4709160" cy="685800"/>
          </a:xfrm>
          <a:prstGeom prst="rect">
            <a:avLst/>
          </a:prstGeom>
          <a:noFill/>
          <a:ln/>
        </p:spPr>
        <p:txBody>
          <a:bodyPr wrap="square" lIns="0" tIns="0" rIns="0" bIns="0" rtlCol="0" anchor="t"/>
          <a:lstStyle/>
          <a:p>
            <a:pPr marL="0" indent="0">
              <a:lnSpc>
                <a:spcPct val="115000"/>
              </a:lnSpc>
              <a:buNone/>
            </a:pPr>
            <a:r>
              <a:rPr lang="en-US" sz="1600" dirty="0">
                <a:solidFill>
                  <a:srgbClr val="AAB7C2"/>
                </a:solidFill>
                <a:latin typeface="Segoe UI" pitchFamily="34" charset="0"/>
                <a:ea typeface="Segoe UI" pitchFamily="34" charset="-122"/>
                <a:cs typeface="Segoe UI" pitchFamily="34" charset="-120"/>
              </a:rPr>
              <a:t>A seat for someone who needs to follow the market closely but must not trade.</a:t>
            </a:r>
            <a:endParaRPr lang="en-US" sz="1600" dirty="0"/>
          </a:p>
        </p:txBody>
      </p:sp>
      <p:sp>
        <p:nvSpPr>
          <p:cNvPr id="53" name="panel">
            <a:extLst>
              <a:ext uri="{C183D7F6-B498-43B3-948B-1728B52AA6E4}">
                <adec:decorative xmlns:adec="http://schemas.microsoft.com/office/drawing/2017/decorative" val="1"/>
              </a:ext>
            </a:extLst>
          </p:cNvPr>
          <p:cNvSpPr/>
          <p:nvPr/>
        </p:nvSpPr>
        <p:spPr>
          <a:xfrm>
            <a:off x="6007608" y="3977640"/>
            <a:ext cx="5166360" cy="178308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54" name="panel accent">
            <a:extLst>
              <a:ext uri="{C183D7F6-B498-43B3-948B-1728B52AA6E4}">
                <adec:decorative xmlns:adec="http://schemas.microsoft.com/office/drawing/2017/decorative" val="1"/>
              </a:ext>
            </a:extLst>
          </p:cNvPr>
          <p:cNvSpPr/>
          <p:nvPr/>
        </p:nvSpPr>
        <p:spPr>
          <a:xfrm>
            <a:off x="6007608" y="3977640"/>
            <a:ext cx="50292" cy="1783080"/>
          </a:xfrm>
          <a:prstGeom prst="rect">
            <a:avLst/>
          </a:prstGeom>
          <a:solidFill>
            <a:srgbClr val="3FE08A"/>
          </a:solidFill>
          <a:ln w="12700">
            <a:solidFill>
              <a:srgbClr val="333333"/>
            </a:solidFill>
            <a:prstDash val="solid"/>
          </a:ln>
        </p:spPr>
        <p:txBody>
          <a:bodyPr/>
          <a:lstStyle/>
          <a:p>
            <a:endParaRPr lang="en-SE"/>
          </a:p>
        </p:txBody>
      </p:sp>
      <p:sp>
        <p:nvSpPr>
          <p:cNvPr id="55" name="Text 53"/>
          <p:cNvSpPr/>
          <p:nvPr/>
        </p:nvSpPr>
        <p:spPr>
          <a:xfrm>
            <a:off x="6245352" y="4160520"/>
            <a:ext cx="4709160" cy="292608"/>
          </a:xfrm>
          <a:prstGeom prst="rect">
            <a:avLst/>
          </a:prstGeom>
          <a:noFill/>
          <a:ln/>
        </p:spPr>
        <p:txBody>
          <a:bodyPr wrap="square" lIns="0" tIns="0" rIns="0" bIns="0" rtlCol="0" anchor="ctr"/>
          <a:lstStyle/>
          <a:p>
            <a:pPr marL="0" indent="0">
              <a:buNone/>
            </a:pPr>
            <a:r>
              <a:rPr lang="en-US" sz="2400" b="1" kern="0" spc="150" dirty="0">
                <a:solidFill>
                  <a:srgbClr val="3FE08A"/>
                </a:solidFill>
                <a:latin typeface="Consolas" pitchFamily="34" charset="0"/>
                <a:ea typeface="Consolas" pitchFamily="34" charset="-122"/>
                <a:cs typeface="Consolas" pitchFamily="34" charset="-120"/>
              </a:rPr>
              <a:t>D</a:t>
            </a:r>
            <a:endParaRPr lang="en-US" sz="2400" dirty="0"/>
          </a:p>
        </p:txBody>
      </p:sp>
      <p:sp>
        <p:nvSpPr>
          <p:cNvPr id="56" name="Text 54"/>
          <p:cNvSpPr/>
          <p:nvPr/>
        </p:nvSpPr>
        <p:spPr>
          <a:xfrm>
            <a:off x="6245352" y="4480560"/>
            <a:ext cx="4709160" cy="384048"/>
          </a:xfrm>
          <a:prstGeom prst="rect">
            <a:avLst/>
          </a:prstGeom>
          <a:noFill/>
          <a:ln/>
        </p:spPr>
        <p:txBody>
          <a:bodyPr wrap="square" lIns="0" tIns="0" rIns="0" bIns="0" rtlCol="0" anchor="t"/>
          <a:lstStyle/>
          <a:p>
            <a:pPr marL="0" indent="0">
              <a:buNone/>
            </a:pPr>
            <a:r>
              <a:rPr lang="en-US" b="1" dirty="0">
                <a:solidFill>
                  <a:srgbClr val="E6EDF3"/>
                </a:solidFill>
                <a:latin typeface="Segoe UI" pitchFamily="34" charset="0"/>
                <a:ea typeface="Segoe UI" pitchFamily="34" charset="-122"/>
                <a:cs typeface="Segoe UI" pitchFamily="34" charset="-120"/>
              </a:rPr>
              <a:t>Operator health check</a:t>
            </a:r>
            <a:endParaRPr lang="en-US" dirty="0"/>
          </a:p>
        </p:txBody>
      </p:sp>
      <p:sp>
        <p:nvSpPr>
          <p:cNvPr id="57" name="Text 55"/>
          <p:cNvSpPr/>
          <p:nvPr/>
        </p:nvSpPr>
        <p:spPr>
          <a:xfrm>
            <a:off x="6245352" y="4938932"/>
            <a:ext cx="4709160" cy="685800"/>
          </a:xfrm>
          <a:prstGeom prst="rect">
            <a:avLst/>
          </a:prstGeom>
          <a:noFill/>
          <a:ln/>
        </p:spPr>
        <p:txBody>
          <a:bodyPr wrap="square" lIns="0" tIns="0" rIns="0" bIns="0" rtlCol="0" anchor="t"/>
          <a:lstStyle/>
          <a:p>
            <a:pPr marL="0" indent="0">
              <a:lnSpc>
                <a:spcPct val="115000"/>
              </a:lnSpc>
              <a:buNone/>
            </a:pPr>
            <a:r>
              <a:rPr lang="en-US" sz="1600" dirty="0">
                <a:solidFill>
                  <a:srgbClr val="AAB7C2"/>
                </a:solidFill>
                <a:latin typeface="Segoe UI" pitchFamily="34" charset="0"/>
                <a:ea typeface="Segoe UI" pitchFamily="34" charset="-122"/>
                <a:cs typeface="Segoe UI" pitchFamily="34" charset="-120"/>
              </a:rPr>
              <a:t>The fastest way to answer "is the market-data feed actually alive right now?"</a:t>
            </a:r>
            <a:endParaRPr lang="en-US" sz="1600" dirty="0"/>
          </a:p>
        </p:txBody>
      </p:sp>
      <p:sp>
        <p:nvSpPr>
          <p:cNvPr id="58" name="Text 56"/>
          <p:cNvSpPr/>
          <p:nvPr/>
        </p:nvSpPr>
        <p:spPr>
          <a:xfrm>
            <a:off x="566928" y="6035040"/>
            <a:ext cx="10607040" cy="320040"/>
          </a:xfrm>
          <a:prstGeom prst="rect">
            <a:avLst/>
          </a:prstGeom>
          <a:noFill/>
          <a:ln/>
        </p:spPr>
        <p:txBody>
          <a:bodyPr wrap="square" lIns="0" tIns="0" rIns="0" bIns="0" rtlCol="0" anchor="ctr"/>
          <a:lstStyle/>
          <a:p>
            <a:pPr marL="0" indent="0">
              <a:buNone/>
            </a:pPr>
            <a:r>
              <a:rPr lang="en-US" sz="1400" i="1" dirty="0">
                <a:solidFill>
                  <a:srgbClr val="7C8B97"/>
                </a:solidFill>
                <a:latin typeface="Segoe UI" pitchFamily="34" charset="0"/>
                <a:ea typeface="Segoe UI" pitchFamily="34" charset="-122"/>
                <a:cs typeface="Segoe UI" pitchFamily="34" charset="-120"/>
              </a:rPr>
              <a:t>Notice the last one: because the terminal shows the feed's own health, it doubles as a monitoring tool.</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side band">
            <a:extLst>
              <a:ext uri="{C183D7F6-B498-43B3-948B-1728B52AA6E4}">
                <adec:decorative xmlns:adec="http://schemas.microsoft.com/office/drawing/2017/decorative" val="1"/>
              </a:ext>
            </a:extLst>
          </p:cNvPr>
          <p:cNvSpPr/>
          <p:nvPr/>
        </p:nvSpPr>
        <p:spPr>
          <a:xfrm>
            <a:off x="0" y="0"/>
            <a:ext cx="384048" cy="6858000"/>
          </a:xfrm>
          <a:prstGeom prst="rect">
            <a:avLst/>
          </a:prstGeom>
          <a:solidFill>
            <a:srgbClr val="122C22"/>
          </a:solidFill>
          <a:ln w="12700">
            <a:solidFill>
              <a:srgbClr val="333333"/>
            </a:solidFill>
            <a:prstDash val="solid"/>
          </a:ln>
        </p:spPr>
        <p:txBody>
          <a:bodyPr/>
          <a:lstStyle/>
          <a:p>
            <a:endParaRPr lang="en-SE"/>
          </a:p>
        </p:txBody>
      </p:sp>
      <p:sp>
        <p:nvSpPr>
          <p:cNvPr id="29" name="side accent">
            <a:extLst>
              <a:ext uri="{C183D7F6-B498-43B3-948B-1728B52AA6E4}">
                <adec:decorative xmlns:adec="http://schemas.microsoft.com/office/drawing/2017/decorative" val="1"/>
              </a:ext>
            </a:extLst>
          </p:cNvPr>
          <p:cNvSpPr/>
          <p:nvPr/>
        </p:nvSpPr>
        <p:spPr>
          <a:xfrm>
            <a:off x="384048" y="0"/>
            <a:ext cx="45720" cy="6858000"/>
          </a:xfrm>
          <a:prstGeom prst="rect">
            <a:avLst/>
          </a:prstGeom>
          <a:solidFill>
            <a:srgbClr val="3FE08A"/>
          </a:solidFill>
          <a:ln w="12700">
            <a:solidFill>
              <a:srgbClr val="333333"/>
            </a:solidFill>
            <a:prstDash val="solid"/>
          </a:ln>
        </p:spPr>
        <p:txBody>
          <a:bodyPr/>
          <a:lstStyle/>
          <a:p>
            <a:endParaRPr lang="en-SE"/>
          </a:p>
        </p:txBody>
      </p:sp>
      <p:sp>
        <p:nvSpPr>
          <p:cNvPr id="30" name="Text 28"/>
          <p:cNvSpPr/>
          <p:nvPr/>
        </p:nvSpPr>
        <p:spPr>
          <a:xfrm>
            <a:off x="1280160" y="1691640"/>
            <a:ext cx="3657600" cy="1371600"/>
          </a:xfrm>
          <a:prstGeom prst="rect">
            <a:avLst/>
          </a:prstGeom>
          <a:noFill/>
          <a:ln/>
        </p:spPr>
        <p:txBody>
          <a:bodyPr wrap="square" lIns="0" tIns="0" rIns="0" bIns="0" rtlCol="0" anchor="ctr"/>
          <a:lstStyle/>
          <a:p>
            <a:pPr marL="0" indent="0">
              <a:buNone/>
            </a:pPr>
            <a:r>
              <a:rPr lang="en-US" sz="8400" b="1" dirty="0">
                <a:solidFill>
                  <a:srgbClr val="1E6E4B"/>
                </a:solidFill>
                <a:latin typeface="Consolas" pitchFamily="34" charset="0"/>
                <a:ea typeface="Consolas" pitchFamily="34" charset="-122"/>
                <a:cs typeface="Consolas" pitchFamily="34" charset="-120"/>
              </a:rPr>
              <a:t>02</a:t>
            </a:r>
            <a:endParaRPr lang="en-US" sz="8400" dirty="0"/>
          </a:p>
        </p:txBody>
      </p:sp>
      <p:sp>
        <p:nvSpPr>
          <p:cNvPr id="31" name="Text 0"/>
          <p:cNvSpPr>
            <a:spLocks noGrp="1"/>
          </p:cNvSpPr>
          <p:nvPr>
            <p:ph type="title" idx="100" hasCustomPrompt="1"/>
          </p:nvPr>
        </p:nvSpPr>
        <p:spPr>
          <a:xfrm>
            <a:off x="1371600" y="2788920"/>
            <a:ext cx="9418320" cy="1005840"/>
          </a:xfrm>
          <a:prstGeom prst="rect">
            <a:avLst/>
          </a:prstGeom>
          <a:noFill/>
          <a:ln/>
        </p:spPr>
        <p:txBody>
          <a:bodyPr wrap="square" lIns="0" tIns="0" rIns="0" bIns="0" rtlCol="0" anchor="ctr"/>
          <a:lstStyle/>
          <a:p>
            <a:pPr marL="0" indent="0">
              <a:buNone/>
            </a:pPr>
            <a:r>
              <a:rPr lang="en-US" sz="3600" b="1" dirty="0">
                <a:solidFill>
                  <a:srgbClr val="E6EDF3"/>
                </a:solidFill>
                <a:latin typeface="Segoe UI" pitchFamily="34" charset="0"/>
                <a:ea typeface="Segoe UI" pitchFamily="34" charset="-122"/>
                <a:cs typeface="Segoe UI" pitchFamily="34" charset="-120"/>
              </a:rPr>
              <a:t>What information is available</a:t>
            </a:r>
            <a:endParaRPr lang="en-US" sz="3600" dirty="0"/>
          </a:p>
        </p:txBody>
      </p:sp>
      <p:sp>
        <p:nvSpPr>
          <p:cNvPr id="32" name="Text 30"/>
          <p:cNvSpPr/>
          <p:nvPr/>
        </p:nvSpPr>
        <p:spPr>
          <a:xfrm>
            <a:off x="1371600" y="3931920"/>
            <a:ext cx="8778240" cy="822960"/>
          </a:xfrm>
          <a:prstGeom prst="rect">
            <a:avLst/>
          </a:prstGeom>
          <a:noFill/>
          <a:ln/>
        </p:spPr>
        <p:txBody>
          <a:bodyPr wrap="square" lIns="0" tIns="0" rIns="0" bIns="0" rtlCol="0" anchor="t"/>
          <a:lstStyle/>
          <a:p>
            <a:pPr marL="0" indent="0">
              <a:lnSpc>
                <a:spcPct val="115000"/>
              </a:lnSpc>
              <a:buNone/>
            </a:pPr>
            <a:r>
              <a:rPr lang="en-US" sz="1450" dirty="0">
                <a:solidFill>
                  <a:srgbClr val="AAB7C2"/>
                </a:solidFill>
                <a:latin typeface="Segoe UI" pitchFamily="34" charset="0"/>
                <a:ea typeface="Segoe UI" pitchFamily="34" charset="-122"/>
                <a:cs typeface="Segoe UI" pitchFamily="34" charset="-120"/>
              </a:rPr>
              <a:t>Everything the exchange publishes about how the market is moving — organised into seven kinds of data.</a:t>
            </a:r>
            <a:endParaRPr lang="en-US" sz="1450" dirty="0"/>
          </a:p>
        </p:txBody>
      </p:sp>
      <p:sp>
        <p:nvSpPr>
          <p:cNvPr id="33" name="ticker bar">
            <a:extLst>
              <a:ext uri="{C183D7F6-B498-43B3-948B-1728B52AA6E4}">
                <adec:decorative xmlns:adec="http://schemas.microsoft.com/office/drawing/2017/decorative" val="1"/>
              </a:ext>
            </a:extLst>
          </p:cNvPr>
          <p:cNvSpPr/>
          <p:nvPr/>
        </p:nvSpPr>
        <p:spPr>
          <a:xfrm>
            <a:off x="1371600" y="5532120"/>
            <a:ext cx="164592" cy="137160"/>
          </a:xfrm>
          <a:prstGeom prst="rect">
            <a:avLst/>
          </a:prstGeom>
          <a:solidFill>
            <a:srgbClr val="1E6E4B"/>
          </a:solidFill>
          <a:ln w="12700">
            <a:solidFill>
              <a:srgbClr val="333333"/>
            </a:solidFill>
            <a:prstDash val="solid"/>
          </a:ln>
        </p:spPr>
        <p:txBody>
          <a:bodyPr/>
          <a:lstStyle/>
          <a:p>
            <a:endParaRPr lang="en-SE"/>
          </a:p>
        </p:txBody>
      </p:sp>
      <p:sp>
        <p:nvSpPr>
          <p:cNvPr id="34" name="ticker bar">
            <a:extLst>
              <a:ext uri="{C183D7F6-B498-43B3-948B-1728B52AA6E4}">
                <adec:decorative xmlns:adec="http://schemas.microsoft.com/office/drawing/2017/decorative" val="1"/>
              </a:ext>
            </a:extLst>
          </p:cNvPr>
          <p:cNvSpPr/>
          <p:nvPr/>
        </p:nvSpPr>
        <p:spPr>
          <a:xfrm>
            <a:off x="1682496" y="5367528"/>
            <a:ext cx="164592" cy="301752"/>
          </a:xfrm>
          <a:prstGeom prst="rect">
            <a:avLst/>
          </a:prstGeom>
          <a:solidFill>
            <a:srgbClr val="1E6E4B"/>
          </a:solidFill>
          <a:ln w="12700">
            <a:solidFill>
              <a:srgbClr val="333333"/>
            </a:solidFill>
            <a:prstDash val="solid"/>
          </a:ln>
        </p:spPr>
        <p:txBody>
          <a:bodyPr/>
          <a:lstStyle/>
          <a:p>
            <a:endParaRPr lang="en-SE"/>
          </a:p>
        </p:txBody>
      </p:sp>
      <p:sp>
        <p:nvSpPr>
          <p:cNvPr id="35" name="ticker bar">
            <a:extLst>
              <a:ext uri="{C183D7F6-B498-43B3-948B-1728B52AA6E4}">
                <adec:decorative xmlns:adec="http://schemas.microsoft.com/office/drawing/2017/decorative" val="1"/>
              </a:ext>
            </a:extLst>
          </p:cNvPr>
          <p:cNvSpPr/>
          <p:nvPr/>
        </p:nvSpPr>
        <p:spPr>
          <a:xfrm>
            <a:off x="1993392" y="5449824"/>
            <a:ext cx="164592" cy="219456"/>
          </a:xfrm>
          <a:prstGeom prst="rect">
            <a:avLst/>
          </a:prstGeom>
          <a:solidFill>
            <a:srgbClr val="1E6E4B"/>
          </a:solidFill>
          <a:ln w="12700">
            <a:solidFill>
              <a:srgbClr val="333333"/>
            </a:solidFill>
            <a:prstDash val="solid"/>
          </a:ln>
        </p:spPr>
        <p:txBody>
          <a:bodyPr/>
          <a:lstStyle/>
          <a:p>
            <a:endParaRPr lang="en-SE"/>
          </a:p>
        </p:txBody>
      </p:sp>
      <p:sp>
        <p:nvSpPr>
          <p:cNvPr id="36" name="ticker bar">
            <a:extLst>
              <a:ext uri="{C183D7F6-B498-43B3-948B-1728B52AA6E4}">
                <adec:decorative xmlns:adec="http://schemas.microsoft.com/office/drawing/2017/decorative" val="1"/>
              </a:ext>
            </a:extLst>
          </p:cNvPr>
          <p:cNvSpPr/>
          <p:nvPr/>
        </p:nvSpPr>
        <p:spPr>
          <a:xfrm>
            <a:off x="2304288" y="5230368"/>
            <a:ext cx="164592" cy="438912"/>
          </a:xfrm>
          <a:prstGeom prst="rect">
            <a:avLst/>
          </a:prstGeom>
          <a:solidFill>
            <a:srgbClr val="1E6E4B"/>
          </a:solidFill>
          <a:ln w="12700">
            <a:solidFill>
              <a:srgbClr val="333333"/>
            </a:solidFill>
            <a:prstDash val="solid"/>
          </a:ln>
        </p:spPr>
        <p:txBody>
          <a:bodyPr/>
          <a:lstStyle/>
          <a:p>
            <a:endParaRPr lang="en-SE"/>
          </a:p>
        </p:txBody>
      </p:sp>
      <p:sp>
        <p:nvSpPr>
          <p:cNvPr id="37" name="ticker bar">
            <a:extLst>
              <a:ext uri="{C183D7F6-B498-43B3-948B-1728B52AA6E4}">
                <adec:decorative xmlns:adec="http://schemas.microsoft.com/office/drawing/2017/decorative" val="1"/>
              </a:ext>
            </a:extLst>
          </p:cNvPr>
          <p:cNvSpPr/>
          <p:nvPr/>
        </p:nvSpPr>
        <p:spPr>
          <a:xfrm>
            <a:off x="2615184" y="5340096"/>
            <a:ext cx="164592" cy="329184"/>
          </a:xfrm>
          <a:prstGeom prst="rect">
            <a:avLst/>
          </a:prstGeom>
          <a:solidFill>
            <a:srgbClr val="1E6E4B"/>
          </a:solidFill>
          <a:ln w="12700">
            <a:solidFill>
              <a:srgbClr val="333333"/>
            </a:solidFill>
            <a:prstDash val="solid"/>
          </a:ln>
        </p:spPr>
        <p:txBody>
          <a:bodyPr/>
          <a:lstStyle/>
          <a:p>
            <a:endParaRPr lang="en-SE"/>
          </a:p>
        </p:txBody>
      </p:sp>
      <p:sp>
        <p:nvSpPr>
          <p:cNvPr id="38" name="ticker bar">
            <a:extLst>
              <a:ext uri="{C183D7F6-B498-43B3-948B-1728B52AA6E4}">
                <adec:decorative xmlns:adec="http://schemas.microsoft.com/office/drawing/2017/decorative" val="1"/>
              </a:ext>
            </a:extLst>
          </p:cNvPr>
          <p:cNvSpPr/>
          <p:nvPr/>
        </p:nvSpPr>
        <p:spPr>
          <a:xfrm>
            <a:off x="2926080" y="5120640"/>
            <a:ext cx="164592" cy="548640"/>
          </a:xfrm>
          <a:prstGeom prst="rect">
            <a:avLst/>
          </a:prstGeom>
          <a:solidFill>
            <a:srgbClr val="1E6E4B"/>
          </a:solidFill>
          <a:ln w="12700">
            <a:solidFill>
              <a:srgbClr val="333333"/>
            </a:solidFill>
            <a:prstDash val="solid"/>
          </a:ln>
        </p:spPr>
        <p:txBody>
          <a:bodyPr/>
          <a:lstStyle/>
          <a:p>
            <a:endParaRPr lang="en-SE"/>
          </a:p>
        </p:txBody>
      </p:sp>
      <p:sp>
        <p:nvSpPr>
          <p:cNvPr id="39" name="ticker bar">
            <a:extLst>
              <a:ext uri="{C183D7F6-B498-43B3-948B-1728B52AA6E4}">
                <adec:decorative xmlns:adec="http://schemas.microsoft.com/office/drawing/2017/decorative" val="1"/>
              </a:ext>
            </a:extLst>
          </p:cNvPr>
          <p:cNvSpPr/>
          <p:nvPr/>
        </p:nvSpPr>
        <p:spPr>
          <a:xfrm>
            <a:off x="3236976" y="5257800"/>
            <a:ext cx="164592" cy="411480"/>
          </a:xfrm>
          <a:prstGeom prst="rect">
            <a:avLst/>
          </a:prstGeom>
          <a:solidFill>
            <a:srgbClr val="1E6E4B"/>
          </a:solidFill>
          <a:ln w="12700">
            <a:solidFill>
              <a:srgbClr val="333333"/>
            </a:solidFill>
            <a:prstDash val="solid"/>
          </a:ln>
        </p:spPr>
        <p:txBody>
          <a:bodyPr/>
          <a:lstStyle/>
          <a:p>
            <a:endParaRPr lang="en-SE"/>
          </a:p>
        </p:txBody>
      </p:sp>
      <p:sp>
        <p:nvSpPr>
          <p:cNvPr id="40" name="ticker bar">
            <a:extLst>
              <a:ext uri="{C183D7F6-B498-43B3-948B-1728B52AA6E4}">
                <adec:decorative xmlns:adec="http://schemas.microsoft.com/office/drawing/2017/decorative" val="1"/>
              </a:ext>
            </a:extLst>
          </p:cNvPr>
          <p:cNvSpPr/>
          <p:nvPr/>
        </p:nvSpPr>
        <p:spPr>
          <a:xfrm>
            <a:off x="3547872" y="5010912"/>
            <a:ext cx="164592" cy="658368"/>
          </a:xfrm>
          <a:prstGeom prst="rect">
            <a:avLst/>
          </a:prstGeom>
          <a:solidFill>
            <a:srgbClr val="3FE08A"/>
          </a:solidFill>
          <a:ln w="12700">
            <a:solidFill>
              <a:srgbClr val="333333"/>
            </a:solidFill>
            <a:prstDash val="solid"/>
          </a:ln>
        </p:spPr>
        <p:txBody>
          <a:bodyPr/>
          <a:lstStyle/>
          <a:p>
            <a:endParaRPr lang="en-SE"/>
          </a:p>
        </p:txBody>
      </p:sp>
      <p:sp>
        <p:nvSpPr>
          <p:cNvPr id="41" name="ticker bar">
            <a:extLst>
              <a:ext uri="{C183D7F6-B498-43B3-948B-1728B52AA6E4}">
                <adec:decorative xmlns:adec="http://schemas.microsoft.com/office/drawing/2017/decorative" val="1"/>
              </a:ext>
            </a:extLst>
          </p:cNvPr>
          <p:cNvSpPr/>
          <p:nvPr/>
        </p:nvSpPr>
        <p:spPr>
          <a:xfrm>
            <a:off x="3858768" y="5148072"/>
            <a:ext cx="164592" cy="521208"/>
          </a:xfrm>
          <a:prstGeom prst="rect">
            <a:avLst/>
          </a:prstGeom>
          <a:solidFill>
            <a:srgbClr val="3FE08A"/>
          </a:solidFill>
          <a:ln w="12700">
            <a:solidFill>
              <a:srgbClr val="333333"/>
            </a:solidFill>
            <a:prstDash val="solid"/>
          </a:ln>
        </p:spPr>
        <p:txBody>
          <a:bodyPr/>
          <a:lstStyle/>
          <a:p>
            <a:endParaRPr lang="en-SE"/>
          </a:p>
        </p:txBody>
      </p:sp>
      <p:sp>
        <p:nvSpPr>
          <p:cNvPr id="42" name="ticker bar">
            <a:extLst>
              <a:ext uri="{C183D7F6-B498-43B3-948B-1728B52AA6E4}">
                <adec:decorative xmlns:adec="http://schemas.microsoft.com/office/drawing/2017/decorative" val="1"/>
              </a:ext>
            </a:extLst>
          </p:cNvPr>
          <p:cNvSpPr/>
          <p:nvPr/>
        </p:nvSpPr>
        <p:spPr>
          <a:xfrm>
            <a:off x="4169664" y="4928616"/>
            <a:ext cx="164592" cy="740664"/>
          </a:xfrm>
          <a:prstGeom prst="rect">
            <a:avLst/>
          </a:prstGeom>
          <a:solidFill>
            <a:srgbClr val="3FE08A"/>
          </a:solidFill>
          <a:ln w="12700">
            <a:solidFill>
              <a:srgbClr val="333333"/>
            </a:solidFill>
            <a:prstDash val="solid"/>
          </a:ln>
        </p:spPr>
        <p:txBody>
          <a:bodyPr/>
          <a:lstStyle/>
          <a:p>
            <a:endParaRPr lang="en-SE"/>
          </a:p>
        </p:txBody>
      </p:sp>
      <p:sp>
        <p:nvSpPr>
          <p:cNvPr id="43"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44"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45" name="Text 43"/>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46" name="Text 44"/>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47" name="Text 45"/>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08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The seven kinds of market data</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02 · INFORMATION</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09</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600" dirty="0">
                <a:solidFill>
                  <a:srgbClr val="AAB7C2"/>
                </a:solidFill>
                <a:latin typeface="Segoe UI" pitchFamily="34" charset="0"/>
                <a:ea typeface="Segoe UI" pitchFamily="34" charset="-122"/>
                <a:cs typeface="Segoe UI" pitchFamily="34" charset="-120"/>
              </a:rPr>
              <a:t>Each one answers a different question. Learn the question, and you will always know which screen to open.</a:t>
            </a:r>
            <a:endParaRPr lang="en-US" sz="1600" dirty="0"/>
          </a:p>
        </p:txBody>
      </p:sp>
      <p:sp>
        <p:nvSpPr>
          <p:cNvPr id="38" name="panel">
            <a:extLst>
              <a:ext uri="{C183D7F6-B498-43B3-948B-1728B52AA6E4}">
                <adec:decorative xmlns:adec="http://schemas.microsoft.com/office/drawing/2017/decorative" val="1"/>
              </a:ext>
            </a:extLst>
          </p:cNvPr>
          <p:cNvSpPr/>
          <p:nvPr/>
        </p:nvSpPr>
        <p:spPr>
          <a:xfrm>
            <a:off x="566928" y="1965960"/>
            <a:ext cx="2487168" cy="182880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39" name="panel accent">
            <a:extLst>
              <a:ext uri="{C183D7F6-B498-43B3-948B-1728B52AA6E4}">
                <adec:decorative xmlns:adec="http://schemas.microsoft.com/office/drawing/2017/decorative" val="1"/>
              </a:ext>
            </a:extLst>
          </p:cNvPr>
          <p:cNvSpPr/>
          <p:nvPr/>
        </p:nvSpPr>
        <p:spPr>
          <a:xfrm>
            <a:off x="566928" y="1965960"/>
            <a:ext cx="2487168" cy="50292"/>
          </a:xfrm>
          <a:prstGeom prst="rect">
            <a:avLst/>
          </a:prstGeom>
          <a:solidFill>
            <a:srgbClr val="3FE08A"/>
          </a:solidFill>
          <a:ln w="12700">
            <a:solidFill>
              <a:srgbClr val="333333"/>
            </a:solidFill>
            <a:prstDash val="solid"/>
          </a:ln>
        </p:spPr>
        <p:txBody>
          <a:bodyPr/>
          <a:lstStyle/>
          <a:p>
            <a:endParaRPr lang="en-SE"/>
          </a:p>
        </p:txBody>
      </p:sp>
      <p:sp>
        <p:nvSpPr>
          <p:cNvPr id="40" name="Text 38"/>
          <p:cNvSpPr/>
          <p:nvPr/>
        </p:nvSpPr>
        <p:spPr>
          <a:xfrm>
            <a:off x="786384" y="2221992"/>
            <a:ext cx="2103120" cy="347472"/>
          </a:xfrm>
          <a:prstGeom prst="rect">
            <a:avLst/>
          </a:prstGeom>
          <a:noFill/>
          <a:ln/>
        </p:spPr>
        <p:txBody>
          <a:bodyPr wrap="square" lIns="0" tIns="0" rIns="0" bIns="0" rtlCol="0" anchor="ctr"/>
          <a:lstStyle/>
          <a:p>
            <a:pPr marL="0" indent="0">
              <a:buNone/>
            </a:pPr>
            <a:r>
              <a:rPr lang="en-US" b="1" kern="0" spc="100" dirty="0">
                <a:solidFill>
                  <a:srgbClr val="3FE08A"/>
                </a:solidFill>
                <a:latin typeface="Consolas" pitchFamily="34" charset="0"/>
                <a:ea typeface="Consolas" pitchFamily="34" charset="-122"/>
                <a:cs typeface="Consolas" pitchFamily="34" charset="-120"/>
              </a:rPr>
              <a:t>TOP</a:t>
            </a:r>
            <a:endParaRPr lang="en-US" dirty="0"/>
          </a:p>
        </p:txBody>
      </p:sp>
      <p:sp>
        <p:nvSpPr>
          <p:cNvPr id="41" name="Text 39"/>
          <p:cNvSpPr/>
          <p:nvPr/>
        </p:nvSpPr>
        <p:spPr>
          <a:xfrm>
            <a:off x="786384" y="2624328"/>
            <a:ext cx="2103120" cy="457200"/>
          </a:xfrm>
          <a:prstGeom prst="rect">
            <a:avLst/>
          </a:prstGeom>
          <a:noFill/>
          <a:ln/>
        </p:spPr>
        <p:txBody>
          <a:bodyPr wrap="square" lIns="0" tIns="0" rIns="0" bIns="0" rtlCol="0" anchor="ctr"/>
          <a:lstStyle/>
          <a:p>
            <a:pPr marL="0" indent="0">
              <a:lnSpc>
                <a:spcPct val="105000"/>
              </a:lnSpc>
              <a:buNone/>
            </a:pPr>
            <a:r>
              <a:rPr lang="en-US" sz="1400" b="1" dirty="0">
                <a:solidFill>
                  <a:srgbClr val="E6EDF3"/>
                </a:solidFill>
                <a:latin typeface="Segoe UI" pitchFamily="34" charset="0"/>
                <a:ea typeface="Segoe UI" pitchFamily="34" charset="-122"/>
                <a:cs typeface="Segoe UI" pitchFamily="34" charset="-120"/>
              </a:rPr>
              <a:t>Best bid, ask &amp; last</a:t>
            </a:r>
            <a:endParaRPr lang="en-US" sz="1400" dirty="0"/>
          </a:p>
        </p:txBody>
      </p:sp>
      <p:sp>
        <p:nvSpPr>
          <p:cNvPr id="42" name="Text 40"/>
          <p:cNvSpPr/>
          <p:nvPr/>
        </p:nvSpPr>
        <p:spPr>
          <a:xfrm>
            <a:off x="786383" y="3136392"/>
            <a:ext cx="2250127" cy="566928"/>
          </a:xfrm>
          <a:prstGeom prst="rect">
            <a:avLst/>
          </a:prstGeom>
          <a:noFill/>
          <a:ln/>
        </p:spPr>
        <p:txBody>
          <a:bodyPr wrap="square" lIns="0" tIns="0" rIns="0" bIns="0" rtlCol="0" anchor="ctr"/>
          <a:lstStyle/>
          <a:p>
            <a:pPr marL="0" indent="0">
              <a:lnSpc>
                <a:spcPct val="105000"/>
              </a:lnSpc>
              <a:buNone/>
            </a:pPr>
            <a:r>
              <a:rPr lang="en-US" sz="1600" i="1" dirty="0">
                <a:solidFill>
                  <a:srgbClr val="AAB7C2"/>
                </a:solidFill>
                <a:latin typeface="Segoe UI" pitchFamily="34" charset="0"/>
                <a:ea typeface="Segoe UI" pitchFamily="34" charset="-122"/>
                <a:cs typeface="Segoe UI" pitchFamily="34" charset="-120"/>
              </a:rPr>
              <a:t>What is the market right now?</a:t>
            </a:r>
            <a:endParaRPr lang="en-US" sz="1600" dirty="0"/>
          </a:p>
        </p:txBody>
      </p:sp>
      <p:sp>
        <p:nvSpPr>
          <p:cNvPr id="43" name="panel">
            <a:extLst>
              <a:ext uri="{C183D7F6-B498-43B3-948B-1728B52AA6E4}">
                <adec:decorative xmlns:adec="http://schemas.microsoft.com/office/drawing/2017/decorative" val="1"/>
              </a:ext>
            </a:extLst>
          </p:cNvPr>
          <p:cNvSpPr/>
          <p:nvPr/>
        </p:nvSpPr>
        <p:spPr>
          <a:xfrm>
            <a:off x="3282696" y="1965960"/>
            <a:ext cx="2487168" cy="182880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44" name="panel accent">
            <a:extLst>
              <a:ext uri="{C183D7F6-B498-43B3-948B-1728B52AA6E4}">
                <adec:decorative xmlns:adec="http://schemas.microsoft.com/office/drawing/2017/decorative" val="1"/>
              </a:ext>
            </a:extLst>
          </p:cNvPr>
          <p:cNvSpPr/>
          <p:nvPr/>
        </p:nvSpPr>
        <p:spPr>
          <a:xfrm>
            <a:off x="3282696" y="1965960"/>
            <a:ext cx="2487168" cy="50292"/>
          </a:xfrm>
          <a:prstGeom prst="rect">
            <a:avLst/>
          </a:prstGeom>
          <a:solidFill>
            <a:srgbClr val="3FE08A"/>
          </a:solidFill>
          <a:ln w="12700">
            <a:solidFill>
              <a:srgbClr val="333333"/>
            </a:solidFill>
            <a:prstDash val="solid"/>
          </a:ln>
        </p:spPr>
        <p:txBody>
          <a:bodyPr/>
          <a:lstStyle/>
          <a:p>
            <a:endParaRPr lang="en-SE"/>
          </a:p>
        </p:txBody>
      </p:sp>
      <p:sp>
        <p:nvSpPr>
          <p:cNvPr id="45" name="Text 43"/>
          <p:cNvSpPr/>
          <p:nvPr/>
        </p:nvSpPr>
        <p:spPr>
          <a:xfrm>
            <a:off x="3502152" y="2221992"/>
            <a:ext cx="2103120" cy="347472"/>
          </a:xfrm>
          <a:prstGeom prst="rect">
            <a:avLst/>
          </a:prstGeom>
          <a:noFill/>
          <a:ln/>
        </p:spPr>
        <p:txBody>
          <a:bodyPr wrap="square" lIns="0" tIns="0" rIns="0" bIns="0" rtlCol="0" anchor="ctr"/>
          <a:lstStyle/>
          <a:p>
            <a:pPr marL="0" indent="0">
              <a:buNone/>
            </a:pPr>
            <a:r>
              <a:rPr lang="en-US" b="1" kern="0" spc="100" dirty="0">
                <a:solidFill>
                  <a:srgbClr val="3FE08A"/>
                </a:solidFill>
                <a:latin typeface="Consolas" pitchFamily="34" charset="0"/>
                <a:ea typeface="Consolas" pitchFamily="34" charset="-122"/>
                <a:cs typeface="Consolas" pitchFamily="34" charset="-120"/>
              </a:rPr>
              <a:t>TRADE</a:t>
            </a:r>
            <a:endParaRPr lang="en-US" dirty="0"/>
          </a:p>
        </p:txBody>
      </p:sp>
      <p:sp>
        <p:nvSpPr>
          <p:cNvPr id="46" name="Text 44"/>
          <p:cNvSpPr/>
          <p:nvPr/>
        </p:nvSpPr>
        <p:spPr>
          <a:xfrm>
            <a:off x="3502152" y="2624328"/>
            <a:ext cx="2103120" cy="457200"/>
          </a:xfrm>
          <a:prstGeom prst="rect">
            <a:avLst/>
          </a:prstGeom>
          <a:noFill/>
          <a:ln/>
        </p:spPr>
        <p:txBody>
          <a:bodyPr wrap="square" lIns="0" tIns="0" rIns="0" bIns="0" rtlCol="0" anchor="ctr"/>
          <a:lstStyle/>
          <a:p>
            <a:pPr marL="0" indent="0">
              <a:lnSpc>
                <a:spcPct val="105000"/>
              </a:lnSpc>
              <a:buNone/>
            </a:pPr>
            <a:r>
              <a:rPr lang="en-US" sz="1400" b="1" dirty="0">
                <a:solidFill>
                  <a:srgbClr val="E6EDF3"/>
                </a:solidFill>
                <a:latin typeface="Segoe UI" pitchFamily="34" charset="0"/>
                <a:ea typeface="Segoe UI" pitchFamily="34" charset="-122"/>
                <a:cs typeface="Segoe UI" pitchFamily="34" charset="-120"/>
              </a:rPr>
              <a:t>Every trade print</a:t>
            </a:r>
            <a:endParaRPr lang="en-US" sz="1400" dirty="0"/>
          </a:p>
        </p:txBody>
      </p:sp>
      <p:sp>
        <p:nvSpPr>
          <p:cNvPr id="47" name="Text 45"/>
          <p:cNvSpPr/>
          <p:nvPr/>
        </p:nvSpPr>
        <p:spPr>
          <a:xfrm>
            <a:off x="3502151" y="3171561"/>
            <a:ext cx="2250127" cy="566928"/>
          </a:xfrm>
          <a:prstGeom prst="rect">
            <a:avLst/>
          </a:prstGeom>
          <a:noFill/>
          <a:ln/>
        </p:spPr>
        <p:txBody>
          <a:bodyPr wrap="square" lIns="0" tIns="0" rIns="0" bIns="0" rtlCol="0" anchor="ctr"/>
          <a:lstStyle/>
          <a:p>
            <a:pPr marL="0" indent="0">
              <a:lnSpc>
                <a:spcPct val="105000"/>
              </a:lnSpc>
              <a:buNone/>
            </a:pPr>
            <a:r>
              <a:rPr lang="en-US" sz="1600" i="1" dirty="0">
                <a:solidFill>
                  <a:srgbClr val="AAB7C2"/>
                </a:solidFill>
                <a:latin typeface="Segoe UI" pitchFamily="34" charset="0"/>
                <a:ea typeface="Segoe UI" pitchFamily="34" charset="-122"/>
                <a:cs typeface="Segoe UI" pitchFamily="34" charset="-120"/>
              </a:rPr>
              <a:t>What actually changed hands?</a:t>
            </a:r>
            <a:endParaRPr lang="en-US" sz="1600" dirty="0"/>
          </a:p>
        </p:txBody>
      </p:sp>
      <p:sp>
        <p:nvSpPr>
          <p:cNvPr id="48" name="panel">
            <a:extLst>
              <a:ext uri="{C183D7F6-B498-43B3-948B-1728B52AA6E4}">
                <adec:decorative xmlns:adec="http://schemas.microsoft.com/office/drawing/2017/decorative" val="1"/>
              </a:ext>
            </a:extLst>
          </p:cNvPr>
          <p:cNvSpPr/>
          <p:nvPr/>
        </p:nvSpPr>
        <p:spPr>
          <a:xfrm>
            <a:off x="5998464" y="1965960"/>
            <a:ext cx="2487168" cy="182880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49" name="panel accent">
            <a:extLst>
              <a:ext uri="{C183D7F6-B498-43B3-948B-1728B52AA6E4}">
                <adec:decorative xmlns:adec="http://schemas.microsoft.com/office/drawing/2017/decorative" val="1"/>
              </a:ext>
            </a:extLst>
          </p:cNvPr>
          <p:cNvSpPr/>
          <p:nvPr/>
        </p:nvSpPr>
        <p:spPr>
          <a:xfrm>
            <a:off x="5998464" y="1965960"/>
            <a:ext cx="2487168" cy="50292"/>
          </a:xfrm>
          <a:prstGeom prst="rect">
            <a:avLst/>
          </a:prstGeom>
          <a:solidFill>
            <a:srgbClr val="F5A524"/>
          </a:solidFill>
          <a:ln w="12700">
            <a:solidFill>
              <a:srgbClr val="333333"/>
            </a:solidFill>
            <a:prstDash val="solid"/>
          </a:ln>
        </p:spPr>
        <p:txBody>
          <a:bodyPr/>
          <a:lstStyle/>
          <a:p>
            <a:endParaRPr lang="en-SE"/>
          </a:p>
        </p:txBody>
      </p:sp>
      <p:sp>
        <p:nvSpPr>
          <p:cNvPr id="50" name="Text 48"/>
          <p:cNvSpPr/>
          <p:nvPr/>
        </p:nvSpPr>
        <p:spPr>
          <a:xfrm>
            <a:off x="6217920" y="2221992"/>
            <a:ext cx="2103120" cy="347472"/>
          </a:xfrm>
          <a:prstGeom prst="rect">
            <a:avLst/>
          </a:prstGeom>
          <a:noFill/>
          <a:ln/>
        </p:spPr>
        <p:txBody>
          <a:bodyPr wrap="square" lIns="0" tIns="0" rIns="0" bIns="0" rtlCol="0" anchor="ctr"/>
          <a:lstStyle/>
          <a:p>
            <a:pPr marL="0" indent="0">
              <a:buNone/>
            </a:pPr>
            <a:r>
              <a:rPr lang="en-US" b="1" kern="0" spc="100" dirty="0">
                <a:solidFill>
                  <a:srgbClr val="F5A524"/>
                </a:solidFill>
                <a:latin typeface="Consolas" pitchFamily="34" charset="0"/>
                <a:ea typeface="Consolas" pitchFamily="34" charset="-122"/>
                <a:cs typeface="Consolas" pitchFamily="34" charset="-120"/>
              </a:rPr>
              <a:t>STATE</a:t>
            </a:r>
            <a:endParaRPr lang="en-US" dirty="0"/>
          </a:p>
        </p:txBody>
      </p:sp>
      <p:sp>
        <p:nvSpPr>
          <p:cNvPr id="51" name="Text 49"/>
          <p:cNvSpPr/>
          <p:nvPr/>
        </p:nvSpPr>
        <p:spPr>
          <a:xfrm>
            <a:off x="6217920" y="2624328"/>
            <a:ext cx="2103120" cy="457200"/>
          </a:xfrm>
          <a:prstGeom prst="rect">
            <a:avLst/>
          </a:prstGeom>
          <a:noFill/>
          <a:ln/>
        </p:spPr>
        <p:txBody>
          <a:bodyPr wrap="square" lIns="0" tIns="0" rIns="0" bIns="0" rtlCol="0" anchor="ctr"/>
          <a:lstStyle/>
          <a:p>
            <a:pPr marL="0" indent="0">
              <a:lnSpc>
                <a:spcPct val="105000"/>
              </a:lnSpc>
              <a:buNone/>
            </a:pPr>
            <a:r>
              <a:rPr lang="en-US" sz="1400" b="1" dirty="0">
                <a:solidFill>
                  <a:srgbClr val="E6EDF3"/>
                </a:solidFill>
                <a:latin typeface="Segoe UI" pitchFamily="34" charset="0"/>
                <a:ea typeface="Segoe UI" pitchFamily="34" charset="-122"/>
                <a:cs typeface="Segoe UI" pitchFamily="34" charset="-120"/>
              </a:rPr>
              <a:t>Session &amp; symbol state</a:t>
            </a:r>
            <a:endParaRPr lang="en-US" sz="1400" dirty="0"/>
          </a:p>
        </p:txBody>
      </p:sp>
      <p:sp>
        <p:nvSpPr>
          <p:cNvPr id="52" name="Text 50"/>
          <p:cNvSpPr/>
          <p:nvPr/>
        </p:nvSpPr>
        <p:spPr>
          <a:xfrm>
            <a:off x="6217919" y="3136392"/>
            <a:ext cx="2250127" cy="566928"/>
          </a:xfrm>
          <a:prstGeom prst="rect">
            <a:avLst/>
          </a:prstGeom>
          <a:noFill/>
          <a:ln/>
        </p:spPr>
        <p:txBody>
          <a:bodyPr wrap="square" lIns="0" tIns="0" rIns="0" bIns="0" rtlCol="0" anchor="ctr"/>
          <a:lstStyle/>
          <a:p>
            <a:pPr marL="0" indent="0">
              <a:lnSpc>
                <a:spcPct val="105000"/>
              </a:lnSpc>
              <a:buNone/>
            </a:pPr>
            <a:r>
              <a:rPr lang="en-US" sz="1600" i="1" dirty="0">
                <a:solidFill>
                  <a:srgbClr val="AAB7C2"/>
                </a:solidFill>
                <a:latin typeface="Segoe UI" pitchFamily="34" charset="0"/>
                <a:ea typeface="Segoe UI" pitchFamily="34" charset="-122"/>
                <a:cs typeface="Segoe UI" pitchFamily="34" charset="-120"/>
              </a:rPr>
              <a:t>Is the market open, closed or in auction?</a:t>
            </a:r>
            <a:endParaRPr lang="en-US" sz="1600" dirty="0"/>
          </a:p>
        </p:txBody>
      </p:sp>
      <p:sp>
        <p:nvSpPr>
          <p:cNvPr id="53" name="panel">
            <a:extLst>
              <a:ext uri="{C183D7F6-B498-43B3-948B-1728B52AA6E4}">
                <adec:decorative xmlns:adec="http://schemas.microsoft.com/office/drawing/2017/decorative" val="1"/>
              </a:ext>
            </a:extLst>
          </p:cNvPr>
          <p:cNvSpPr/>
          <p:nvPr/>
        </p:nvSpPr>
        <p:spPr>
          <a:xfrm>
            <a:off x="8714232" y="1965960"/>
            <a:ext cx="2487168" cy="182880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54" name="panel accent">
            <a:extLst>
              <a:ext uri="{C183D7F6-B498-43B3-948B-1728B52AA6E4}">
                <adec:decorative xmlns:adec="http://schemas.microsoft.com/office/drawing/2017/decorative" val="1"/>
              </a:ext>
            </a:extLst>
          </p:cNvPr>
          <p:cNvSpPr/>
          <p:nvPr/>
        </p:nvSpPr>
        <p:spPr>
          <a:xfrm>
            <a:off x="8714232" y="1965960"/>
            <a:ext cx="2487168" cy="50292"/>
          </a:xfrm>
          <a:prstGeom prst="rect">
            <a:avLst/>
          </a:prstGeom>
          <a:solidFill>
            <a:srgbClr val="3FE08A"/>
          </a:solidFill>
          <a:ln w="12700">
            <a:solidFill>
              <a:srgbClr val="333333"/>
            </a:solidFill>
            <a:prstDash val="solid"/>
          </a:ln>
        </p:spPr>
        <p:txBody>
          <a:bodyPr/>
          <a:lstStyle/>
          <a:p>
            <a:endParaRPr lang="en-SE"/>
          </a:p>
        </p:txBody>
      </p:sp>
      <p:sp>
        <p:nvSpPr>
          <p:cNvPr id="55" name="Text 53"/>
          <p:cNvSpPr/>
          <p:nvPr/>
        </p:nvSpPr>
        <p:spPr>
          <a:xfrm>
            <a:off x="8933688" y="2221992"/>
            <a:ext cx="2103120" cy="347472"/>
          </a:xfrm>
          <a:prstGeom prst="rect">
            <a:avLst/>
          </a:prstGeom>
          <a:noFill/>
          <a:ln/>
        </p:spPr>
        <p:txBody>
          <a:bodyPr wrap="square" lIns="0" tIns="0" rIns="0" bIns="0" rtlCol="0" anchor="ctr"/>
          <a:lstStyle/>
          <a:p>
            <a:pPr marL="0" indent="0">
              <a:buNone/>
            </a:pPr>
            <a:r>
              <a:rPr lang="en-US" b="1" kern="0" spc="100" dirty="0">
                <a:solidFill>
                  <a:srgbClr val="3FE08A"/>
                </a:solidFill>
                <a:latin typeface="Consolas" pitchFamily="34" charset="0"/>
                <a:ea typeface="Consolas" pitchFamily="34" charset="-122"/>
                <a:cs typeface="Consolas" pitchFamily="34" charset="-120"/>
              </a:rPr>
              <a:t>DEPTH</a:t>
            </a:r>
            <a:endParaRPr lang="en-US" dirty="0"/>
          </a:p>
        </p:txBody>
      </p:sp>
      <p:sp>
        <p:nvSpPr>
          <p:cNvPr id="56" name="Text 54"/>
          <p:cNvSpPr/>
          <p:nvPr/>
        </p:nvSpPr>
        <p:spPr>
          <a:xfrm>
            <a:off x="8933688" y="2624328"/>
            <a:ext cx="2103120" cy="457200"/>
          </a:xfrm>
          <a:prstGeom prst="rect">
            <a:avLst/>
          </a:prstGeom>
          <a:noFill/>
          <a:ln/>
        </p:spPr>
        <p:txBody>
          <a:bodyPr wrap="square" lIns="0" tIns="0" rIns="0" bIns="0" rtlCol="0" anchor="ctr"/>
          <a:lstStyle/>
          <a:p>
            <a:pPr marL="0" indent="0">
              <a:lnSpc>
                <a:spcPct val="105000"/>
              </a:lnSpc>
              <a:buNone/>
            </a:pPr>
            <a:r>
              <a:rPr lang="en-US" sz="1400" b="1" dirty="0">
                <a:solidFill>
                  <a:srgbClr val="E6EDF3"/>
                </a:solidFill>
                <a:latin typeface="Segoe UI" pitchFamily="34" charset="0"/>
                <a:ea typeface="Segoe UI" pitchFamily="34" charset="-122"/>
                <a:cs typeface="Segoe UI" pitchFamily="34" charset="-120"/>
              </a:rPr>
              <a:t>Aggregated order book</a:t>
            </a:r>
            <a:endParaRPr lang="en-US" sz="1400" dirty="0"/>
          </a:p>
        </p:txBody>
      </p:sp>
      <p:sp>
        <p:nvSpPr>
          <p:cNvPr id="57" name="Text 55"/>
          <p:cNvSpPr/>
          <p:nvPr/>
        </p:nvSpPr>
        <p:spPr>
          <a:xfrm>
            <a:off x="8933687" y="3136392"/>
            <a:ext cx="2250127" cy="566928"/>
          </a:xfrm>
          <a:prstGeom prst="rect">
            <a:avLst/>
          </a:prstGeom>
          <a:noFill/>
          <a:ln/>
        </p:spPr>
        <p:txBody>
          <a:bodyPr wrap="square" lIns="0" tIns="0" rIns="0" bIns="0" rtlCol="0" anchor="ctr"/>
          <a:lstStyle/>
          <a:p>
            <a:pPr marL="0" indent="0">
              <a:lnSpc>
                <a:spcPct val="105000"/>
              </a:lnSpc>
              <a:buNone/>
            </a:pPr>
            <a:r>
              <a:rPr lang="en-US" sz="1600" i="1" dirty="0">
                <a:solidFill>
                  <a:srgbClr val="AAB7C2"/>
                </a:solidFill>
                <a:latin typeface="Segoe UI" pitchFamily="34" charset="0"/>
                <a:ea typeface="Segoe UI" pitchFamily="34" charset="-122"/>
                <a:cs typeface="Segoe UI" pitchFamily="34" charset="-120"/>
              </a:rPr>
              <a:t>How much interest sits behind the touch?</a:t>
            </a:r>
            <a:endParaRPr lang="en-US" sz="1600" dirty="0"/>
          </a:p>
        </p:txBody>
      </p:sp>
      <p:sp>
        <p:nvSpPr>
          <p:cNvPr id="58" name="panel">
            <a:extLst>
              <a:ext uri="{C183D7F6-B498-43B3-948B-1728B52AA6E4}">
                <adec:decorative xmlns:adec="http://schemas.microsoft.com/office/drawing/2017/decorative" val="1"/>
              </a:ext>
            </a:extLst>
          </p:cNvPr>
          <p:cNvSpPr/>
          <p:nvPr/>
        </p:nvSpPr>
        <p:spPr>
          <a:xfrm>
            <a:off x="566928" y="4023360"/>
            <a:ext cx="2487168" cy="182880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59" name="panel accent">
            <a:extLst>
              <a:ext uri="{C183D7F6-B498-43B3-948B-1728B52AA6E4}">
                <adec:decorative xmlns:adec="http://schemas.microsoft.com/office/drawing/2017/decorative" val="1"/>
              </a:ext>
            </a:extLst>
          </p:cNvPr>
          <p:cNvSpPr/>
          <p:nvPr/>
        </p:nvSpPr>
        <p:spPr>
          <a:xfrm>
            <a:off x="566928" y="4023360"/>
            <a:ext cx="2487168" cy="50292"/>
          </a:xfrm>
          <a:prstGeom prst="rect">
            <a:avLst/>
          </a:prstGeom>
          <a:solidFill>
            <a:srgbClr val="3FE08A"/>
          </a:solidFill>
          <a:ln w="12700">
            <a:solidFill>
              <a:srgbClr val="333333"/>
            </a:solidFill>
            <a:prstDash val="solid"/>
          </a:ln>
        </p:spPr>
        <p:txBody>
          <a:bodyPr/>
          <a:lstStyle/>
          <a:p>
            <a:endParaRPr lang="en-SE"/>
          </a:p>
        </p:txBody>
      </p:sp>
      <p:sp>
        <p:nvSpPr>
          <p:cNvPr id="60" name="Text 58"/>
          <p:cNvSpPr/>
          <p:nvPr/>
        </p:nvSpPr>
        <p:spPr>
          <a:xfrm>
            <a:off x="786384" y="4279392"/>
            <a:ext cx="2103120" cy="347472"/>
          </a:xfrm>
          <a:prstGeom prst="rect">
            <a:avLst/>
          </a:prstGeom>
          <a:noFill/>
          <a:ln/>
        </p:spPr>
        <p:txBody>
          <a:bodyPr wrap="square" lIns="0" tIns="0" rIns="0" bIns="0" rtlCol="0" anchor="ctr"/>
          <a:lstStyle/>
          <a:p>
            <a:pPr marL="0" indent="0">
              <a:buNone/>
            </a:pPr>
            <a:r>
              <a:rPr lang="en-US" b="1" kern="0" spc="100" dirty="0">
                <a:solidFill>
                  <a:srgbClr val="3FE08A"/>
                </a:solidFill>
                <a:latin typeface="Consolas" pitchFamily="34" charset="0"/>
                <a:ea typeface="Consolas" pitchFamily="34" charset="-122"/>
                <a:cs typeface="Consolas" pitchFamily="34" charset="-120"/>
              </a:rPr>
              <a:t>INDEX</a:t>
            </a:r>
            <a:endParaRPr lang="en-US" dirty="0"/>
          </a:p>
        </p:txBody>
      </p:sp>
      <p:sp>
        <p:nvSpPr>
          <p:cNvPr id="61" name="Text 59"/>
          <p:cNvSpPr/>
          <p:nvPr/>
        </p:nvSpPr>
        <p:spPr>
          <a:xfrm>
            <a:off x="786384" y="4681728"/>
            <a:ext cx="2103120" cy="457200"/>
          </a:xfrm>
          <a:prstGeom prst="rect">
            <a:avLst/>
          </a:prstGeom>
          <a:noFill/>
          <a:ln/>
        </p:spPr>
        <p:txBody>
          <a:bodyPr wrap="square" lIns="0" tIns="0" rIns="0" bIns="0" rtlCol="0" anchor="ctr"/>
          <a:lstStyle/>
          <a:p>
            <a:pPr marL="0" indent="0">
              <a:lnSpc>
                <a:spcPct val="105000"/>
              </a:lnSpc>
              <a:buNone/>
            </a:pPr>
            <a:r>
              <a:rPr lang="en-US" sz="1400" b="1" dirty="0">
                <a:solidFill>
                  <a:srgbClr val="E6EDF3"/>
                </a:solidFill>
                <a:latin typeface="Segoe UI" pitchFamily="34" charset="0"/>
                <a:ea typeface="Segoe UI" pitchFamily="34" charset="-122"/>
                <a:cs typeface="Segoe UI" pitchFamily="34" charset="-120"/>
              </a:rPr>
              <a:t>Index level updates</a:t>
            </a:r>
            <a:endParaRPr lang="en-US" sz="1400" dirty="0"/>
          </a:p>
        </p:txBody>
      </p:sp>
      <p:sp>
        <p:nvSpPr>
          <p:cNvPr id="62" name="Text 60"/>
          <p:cNvSpPr/>
          <p:nvPr/>
        </p:nvSpPr>
        <p:spPr>
          <a:xfrm>
            <a:off x="786383" y="5193792"/>
            <a:ext cx="2250127" cy="566928"/>
          </a:xfrm>
          <a:prstGeom prst="rect">
            <a:avLst/>
          </a:prstGeom>
          <a:noFill/>
          <a:ln/>
        </p:spPr>
        <p:txBody>
          <a:bodyPr wrap="square" lIns="0" tIns="0" rIns="0" bIns="0" rtlCol="0" anchor="ctr"/>
          <a:lstStyle/>
          <a:p>
            <a:pPr marL="0" indent="0">
              <a:lnSpc>
                <a:spcPct val="105000"/>
              </a:lnSpc>
              <a:buNone/>
            </a:pPr>
            <a:r>
              <a:rPr lang="en-US" sz="1600" i="1" dirty="0">
                <a:solidFill>
                  <a:srgbClr val="AAB7C2"/>
                </a:solidFill>
                <a:latin typeface="Segoe UI" pitchFamily="34" charset="0"/>
                <a:ea typeface="Segoe UI" pitchFamily="34" charset="-122"/>
                <a:cs typeface="Segoe UI" pitchFamily="34" charset="-120"/>
              </a:rPr>
              <a:t>How is the market as a whole doing?</a:t>
            </a:r>
            <a:endParaRPr lang="en-US" sz="1600" dirty="0"/>
          </a:p>
        </p:txBody>
      </p:sp>
      <p:sp>
        <p:nvSpPr>
          <p:cNvPr id="63" name="panel">
            <a:extLst>
              <a:ext uri="{C183D7F6-B498-43B3-948B-1728B52AA6E4}">
                <adec:decorative xmlns:adec="http://schemas.microsoft.com/office/drawing/2017/decorative" val="1"/>
              </a:ext>
            </a:extLst>
          </p:cNvPr>
          <p:cNvSpPr/>
          <p:nvPr/>
        </p:nvSpPr>
        <p:spPr>
          <a:xfrm>
            <a:off x="3282696" y="4023360"/>
            <a:ext cx="2487168" cy="182880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64" name="panel accent">
            <a:extLst>
              <a:ext uri="{C183D7F6-B498-43B3-948B-1728B52AA6E4}">
                <adec:decorative xmlns:adec="http://schemas.microsoft.com/office/drawing/2017/decorative" val="1"/>
              </a:ext>
            </a:extLst>
          </p:cNvPr>
          <p:cNvSpPr/>
          <p:nvPr/>
        </p:nvSpPr>
        <p:spPr>
          <a:xfrm>
            <a:off x="3282696" y="4023360"/>
            <a:ext cx="2487168" cy="50292"/>
          </a:xfrm>
          <a:prstGeom prst="rect">
            <a:avLst/>
          </a:prstGeom>
          <a:solidFill>
            <a:srgbClr val="F5A524"/>
          </a:solidFill>
          <a:ln w="12700">
            <a:solidFill>
              <a:srgbClr val="333333"/>
            </a:solidFill>
            <a:prstDash val="solid"/>
          </a:ln>
        </p:spPr>
        <p:txBody>
          <a:bodyPr/>
          <a:lstStyle/>
          <a:p>
            <a:endParaRPr lang="en-SE"/>
          </a:p>
        </p:txBody>
      </p:sp>
      <p:sp>
        <p:nvSpPr>
          <p:cNvPr id="65" name="Text 63"/>
          <p:cNvSpPr/>
          <p:nvPr/>
        </p:nvSpPr>
        <p:spPr>
          <a:xfrm>
            <a:off x="3502152" y="4279392"/>
            <a:ext cx="2103120" cy="347472"/>
          </a:xfrm>
          <a:prstGeom prst="rect">
            <a:avLst/>
          </a:prstGeom>
          <a:noFill/>
          <a:ln/>
        </p:spPr>
        <p:txBody>
          <a:bodyPr wrap="square" lIns="0" tIns="0" rIns="0" bIns="0" rtlCol="0" anchor="ctr"/>
          <a:lstStyle/>
          <a:p>
            <a:pPr marL="0" indent="0">
              <a:buNone/>
            </a:pPr>
            <a:r>
              <a:rPr lang="en-US" b="1" kern="0" spc="100" dirty="0">
                <a:solidFill>
                  <a:srgbClr val="F5A524"/>
                </a:solidFill>
                <a:latin typeface="Consolas" pitchFamily="34" charset="0"/>
                <a:ea typeface="Consolas" pitchFamily="34" charset="-122"/>
                <a:cs typeface="Consolas" pitchFamily="34" charset="-120"/>
              </a:rPr>
              <a:t>AUCTION</a:t>
            </a:r>
            <a:endParaRPr lang="en-US" dirty="0"/>
          </a:p>
        </p:txBody>
      </p:sp>
      <p:sp>
        <p:nvSpPr>
          <p:cNvPr id="66" name="Text 64"/>
          <p:cNvSpPr/>
          <p:nvPr/>
        </p:nvSpPr>
        <p:spPr>
          <a:xfrm>
            <a:off x="3502152" y="4681728"/>
            <a:ext cx="2103120" cy="457200"/>
          </a:xfrm>
          <a:prstGeom prst="rect">
            <a:avLst/>
          </a:prstGeom>
          <a:noFill/>
          <a:ln/>
        </p:spPr>
        <p:txBody>
          <a:bodyPr wrap="square" lIns="0" tIns="0" rIns="0" bIns="0" rtlCol="0" anchor="ctr"/>
          <a:lstStyle/>
          <a:p>
            <a:pPr marL="0" indent="0">
              <a:lnSpc>
                <a:spcPct val="105000"/>
              </a:lnSpc>
              <a:buNone/>
            </a:pPr>
            <a:r>
              <a:rPr lang="en-US" sz="1400" b="1" dirty="0">
                <a:solidFill>
                  <a:srgbClr val="E6EDF3"/>
                </a:solidFill>
                <a:latin typeface="Segoe UI" pitchFamily="34" charset="0"/>
                <a:ea typeface="Segoe UI" pitchFamily="34" charset="-122"/>
                <a:cs typeface="Segoe UI" pitchFamily="34" charset="-120"/>
              </a:rPr>
              <a:t>Uncross results</a:t>
            </a:r>
            <a:endParaRPr lang="en-US" sz="1400" dirty="0"/>
          </a:p>
        </p:txBody>
      </p:sp>
      <p:sp>
        <p:nvSpPr>
          <p:cNvPr id="67" name="Text 65"/>
          <p:cNvSpPr/>
          <p:nvPr/>
        </p:nvSpPr>
        <p:spPr>
          <a:xfrm>
            <a:off x="3502151" y="5193792"/>
            <a:ext cx="2250127" cy="566928"/>
          </a:xfrm>
          <a:prstGeom prst="rect">
            <a:avLst/>
          </a:prstGeom>
          <a:noFill/>
          <a:ln/>
        </p:spPr>
        <p:txBody>
          <a:bodyPr wrap="square" lIns="0" tIns="0" rIns="0" bIns="0" rtlCol="0" anchor="ctr"/>
          <a:lstStyle/>
          <a:p>
            <a:pPr marL="0" indent="0">
              <a:lnSpc>
                <a:spcPct val="105000"/>
              </a:lnSpc>
              <a:buNone/>
            </a:pPr>
            <a:r>
              <a:rPr lang="en-US" sz="1600" i="1" dirty="0">
                <a:solidFill>
                  <a:srgbClr val="AAB7C2"/>
                </a:solidFill>
                <a:latin typeface="Segoe UI" pitchFamily="34" charset="0"/>
                <a:ea typeface="Segoe UI" pitchFamily="34" charset="-122"/>
                <a:cs typeface="Segoe UI" pitchFamily="34" charset="-120"/>
              </a:rPr>
              <a:t>What price did the auction settle at?</a:t>
            </a:r>
            <a:endParaRPr lang="en-US" sz="1600" dirty="0"/>
          </a:p>
        </p:txBody>
      </p:sp>
      <p:sp>
        <p:nvSpPr>
          <p:cNvPr id="68" name="panel">
            <a:extLst>
              <a:ext uri="{C183D7F6-B498-43B3-948B-1728B52AA6E4}">
                <adec:decorative xmlns:adec="http://schemas.microsoft.com/office/drawing/2017/decorative" val="1"/>
              </a:ext>
            </a:extLst>
          </p:cNvPr>
          <p:cNvSpPr/>
          <p:nvPr/>
        </p:nvSpPr>
        <p:spPr>
          <a:xfrm>
            <a:off x="5998464" y="4023360"/>
            <a:ext cx="2487168" cy="182880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69" name="panel accent">
            <a:extLst>
              <a:ext uri="{C183D7F6-B498-43B3-948B-1728B52AA6E4}">
                <adec:decorative xmlns:adec="http://schemas.microsoft.com/office/drawing/2017/decorative" val="1"/>
              </a:ext>
            </a:extLst>
          </p:cNvPr>
          <p:cNvSpPr/>
          <p:nvPr/>
        </p:nvSpPr>
        <p:spPr>
          <a:xfrm>
            <a:off x="5998464" y="4023360"/>
            <a:ext cx="2487168" cy="50292"/>
          </a:xfrm>
          <a:prstGeom prst="rect">
            <a:avLst/>
          </a:prstGeom>
          <a:solidFill>
            <a:srgbClr val="EF5B63"/>
          </a:solidFill>
          <a:ln w="12700">
            <a:solidFill>
              <a:srgbClr val="333333"/>
            </a:solidFill>
            <a:prstDash val="solid"/>
          </a:ln>
        </p:spPr>
        <p:txBody>
          <a:bodyPr/>
          <a:lstStyle/>
          <a:p>
            <a:endParaRPr lang="en-SE"/>
          </a:p>
        </p:txBody>
      </p:sp>
      <p:sp>
        <p:nvSpPr>
          <p:cNvPr id="70" name="Text 68"/>
          <p:cNvSpPr/>
          <p:nvPr/>
        </p:nvSpPr>
        <p:spPr>
          <a:xfrm>
            <a:off x="6217920" y="4279392"/>
            <a:ext cx="2103120" cy="347472"/>
          </a:xfrm>
          <a:prstGeom prst="rect">
            <a:avLst/>
          </a:prstGeom>
          <a:noFill/>
          <a:ln/>
        </p:spPr>
        <p:txBody>
          <a:bodyPr wrap="square" lIns="0" tIns="0" rIns="0" bIns="0" rtlCol="0" anchor="ctr"/>
          <a:lstStyle/>
          <a:p>
            <a:pPr marL="0" indent="0">
              <a:buNone/>
            </a:pPr>
            <a:r>
              <a:rPr lang="en-US" b="1" kern="0" spc="100" dirty="0">
                <a:solidFill>
                  <a:srgbClr val="EF5B63"/>
                </a:solidFill>
                <a:latin typeface="Consolas" pitchFamily="34" charset="0"/>
                <a:ea typeface="Consolas" pitchFamily="34" charset="-122"/>
                <a:cs typeface="Consolas" pitchFamily="34" charset="-120"/>
              </a:rPr>
              <a:t>CB</a:t>
            </a:r>
            <a:endParaRPr lang="en-US" dirty="0"/>
          </a:p>
        </p:txBody>
      </p:sp>
      <p:sp>
        <p:nvSpPr>
          <p:cNvPr id="71" name="Text 69"/>
          <p:cNvSpPr/>
          <p:nvPr/>
        </p:nvSpPr>
        <p:spPr>
          <a:xfrm>
            <a:off x="6217920" y="4681728"/>
            <a:ext cx="2103120" cy="457200"/>
          </a:xfrm>
          <a:prstGeom prst="rect">
            <a:avLst/>
          </a:prstGeom>
          <a:noFill/>
          <a:ln/>
        </p:spPr>
        <p:txBody>
          <a:bodyPr wrap="square" lIns="0" tIns="0" rIns="0" bIns="0" rtlCol="0" anchor="ctr"/>
          <a:lstStyle/>
          <a:p>
            <a:pPr marL="0" indent="0">
              <a:lnSpc>
                <a:spcPct val="105000"/>
              </a:lnSpc>
              <a:buNone/>
            </a:pPr>
            <a:r>
              <a:rPr lang="en-US" sz="1400" b="1" dirty="0">
                <a:solidFill>
                  <a:srgbClr val="E6EDF3"/>
                </a:solidFill>
                <a:latin typeface="Segoe UI" pitchFamily="34" charset="0"/>
                <a:ea typeface="Segoe UI" pitchFamily="34" charset="-122"/>
                <a:cs typeface="Segoe UI" pitchFamily="34" charset="-120"/>
              </a:rPr>
              <a:t>Circuit-breaker detail</a:t>
            </a:r>
            <a:endParaRPr lang="en-US" sz="1400" dirty="0"/>
          </a:p>
        </p:txBody>
      </p:sp>
      <p:sp>
        <p:nvSpPr>
          <p:cNvPr id="72" name="Text 70"/>
          <p:cNvSpPr/>
          <p:nvPr/>
        </p:nvSpPr>
        <p:spPr>
          <a:xfrm>
            <a:off x="6217919" y="5193792"/>
            <a:ext cx="2250127" cy="566928"/>
          </a:xfrm>
          <a:prstGeom prst="rect">
            <a:avLst/>
          </a:prstGeom>
          <a:noFill/>
          <a:ln/>
        </p:spPr>
        <p:txBody>
          <a:bodyPr wrap="square" lIns="0" tIns="0" rIns="0" bIns="0" rtlCol="0" anchor="ctr"/>
          <a:lstStyle/>
          <a:p>
            <a:pPr marL="0" indent="0">
              <a:lnSpc>
                <a:spcPct val="105000"/>
              </a:lnSpc>
              <a:buNone/>
            </a:pPr>
            <a:r>
              <a:rPr lang="en-US" sz="1600" i="1" dirty="0">
                <a:solidFill>
                  <a:srgbClr val="AAB7C2"/>
                </a:solidFill>
                <a:latin typeface="Segoe UI" pitchFamily="34" charset="0"/>
                <a:ea typeface="Segoe UI" pitchFamily="34" charset="-122"/>
                <a:cs typeface="Segoe UI" pitchFamily="34" charset="-120"/>
              </a:rPr>
              <a:t>Why is this symbol halted, and when does it resume?</a:t>
            </a:r>
            <a:endParaRPr lang="en-US" sz="1600" dirty="0"/>
          </a:p>
        </p:txBody>
      </p:sp>
      <p:sp>
        <p:nvSpPr>
          <p:cNvPr id="73" name="panel">
            <a:extLst>
              <a:ext uri="{C183D7F6-B498-43B3-948B-1728B52AA6E4}">
                <adec:decorative xmlns:adec="http://schemas.microsoft.com/office/drawing/2017/decorative" val="1"/>
              </a:ext>
            </a:extLst>
          </p:cNvPr>
          <p:cNvSpPr/>
          <p:nvPr/>
        </p:nvSpPr>
        <p:spPr>
          <a:xfrm>
            <a:off x="8714232" y="4023360"/>
            <a:ext cx="2487168" cy="1828800"/>
          </a:xfrm>
          <a:prstGeom prst="rect">
            <a:avLst/>
          </a:prstGeom>
          <a:solidFill>
            <a:srgbClr val="191E23"/>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74" name="panel accent">
            <a:extLst>
              <a:ext uri="{C183D7F6-B498-43B3-948B-1728B52AA6E4}">
                <adec:decorative xmlns:adec="http://schemas.microsoft.com/office/drawing/2017/decorative" val="1"/>
              </a:ext>
            </a:extLst>
          </p:cNvPr>
          <p:cNvSpPr/>
          <p:nvPr/>
        </p:nvSpPr>
        <p:spPr>
          <a:xfrm>
            <a:off x="8714232" y="4023360"/>
            <a:ext cx="2487168" cy="50292"/>
          </a:xfrm>
          <a:prstGeom prst="rect">
            <a:avLst/>
          </a:prstGeom>
          <a:solidFill>
            <a:srgbClr val="7C8B97"/>
          </a:solidFill>
          <a:ln w="12700">
            <a:solidFill>
              <a:srgbClr val="333333"/>
            </a:solidFill>
            <a:prstDash val="solid"/>
          </a:ln>
        </p:spPr>
        <p:txBody>
          <a:bodyPr/>
          <a:lstStyle/>
          <a:p>
            <a:endParaRPr lang="en-SE"/>
          </a:p>
        </p:txBody>
      </p:sp>
      <p:sp>
        <p:nvSpPr>
          <p:cNvPr id="75" name="Text 73"/>
          <p:cNvSpPr/>
          <p:nvPr/>
        </p:nvSpPr>
        <p:spPr>
          <a:xfrm>
            <a:off x="8933688" y="4279392"/>
            <a:ext cx="2103120" cy="347472"/>
          </a:xfrm>
          <a:prstGeom prst="rect">
            <a:avLst/>
          </a:prstGeom>
          <a:noFill/>
          <a:ln/>
        </p:spPr>
        <p:txBody>
          <a:bodyPr wrap="square" lIns="0" tIns="0" rIns="0" bIns="0" rtlCol="0" anchor="ctr"/>
          <a:lstStyle/>
          <a:p>
            <a:pPr marL="0" indent="0">
              <a:buNone/>
            </a:pPr>
            <a:r>
              <a:rPr lang="en-US" b="1" kern="0" spc="100" dirty="0">
                <a:solidFill>
                  <a:srgbClr val="7C8B97"/>
                </a:solidFill>
                <a:latin typeface="Consolas" pitchFamily="34" charset="0"/>
                <a:ea typeface="Consolas" pitchFamily="34" charset="-122"/>
                <a:cs typeface="Consolas" pitchFamily="34" charset="-120"/>
              </a:rPr>
              <a:t>REMEMBER</a:t>
            </a:r>
            <a:endParaRPr lang="en-US" dirty="0"/>
          </a:p>
        </p:txBody>
      </p:sp>
      <p:sp>
        <p:nvSpPr>
          <p:cNvPr id="76" name="Text 74"/>
          <p:cNvSpPr/>
          <p:nvPr/>
        </p:nvSpPr>
        <p:spPr>
          <a:xfrm>
            <a:off x="8780585" y="4681728"/>
            <a:ext cx="2473568" cy="1051560"/>
          </a:xfrm>
          <a:prstGeom prst="rect">
            <a:avLst/>
          </a:prstGeom>
          <a:noFill/>
          <a:ln/>
        </p:spPr>
        <p:txBody>
          <a:bodyPr wrap="square" lIns="0" tIns="0" rIns="0" bIns="0" rtlCol="0" anchor="ctr"/>
          <a:lstStyle/>
          <a:p>
            <a:pPr marL="0" indent="0">
              <a:lnSpc>
                <a:spcPct val="115000"/>
              </a:lnSpc>
              <a:buNone/>
            </a:pPr>
            <a:r>
              <a:rPr lang="en-US" sz="1400" dirty="0">
                <a:solidFill>
                  <a:srgbClr val="AAB7C2"/>
                </a:solidFill>
                <a:latin typeface="Segoe UI" pitchFamily="34" charset="0"/>
                <a:ea typeface="Segoe UI" pitchFamily="34" charset="-122"/>
                <a:cs typeface="Segoe UI" pitchFamily="34" charset="-120"/>
              </a:rPr>
              <a:t>These seven names are the actual channel names on the market-data feed — you will meet them again in the technical reference.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Live data and historical data are different things</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02 · INFORMATION</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10</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600" dirty="0">
                <a:solidFill>
                  <a:srgbClr val="AAB7C2"/>
                </a:solidFill>
                <a:latin typeface="Segoe UI" pitchFamily="34" charset="0"/>
                <a:ea typeface="Segoe UI" pitchFamily="34" charset="-122"/>
                <a:cs typeface="Segoe UI" pitchFamily="34" charset="-120"/>
              </a:rPr>
              <a:t>The terminal draws from two separate sources. Knowing which is which explains almost every "why is this blank?" question you will ever ask.</a:t>
            </a:r>
            <a:endParaRPr lang="en-US" sz="1600" dirty="0"/>
          </a:p>
        </p:txBody>
      </p:sp>
      <p:sp>
        <p:nvSpPr>
          <p:cNvPr id="38" name="panel">
            <a:extLst>
              <a:ext uri="{C183D7F6-B498-43B3-948B-1728B52AA6E4}">
                <adec:decorative xmlns:adec="http://schemas.microsoft.com/office/drawing/2017/decorative" val="1"/>
              </a:ext>
            </a:extLst>
          </p:cNvPr>
          <p:cNvSpPr/>
          <p:nvPr/>
        </p:nvSpPr>
        <p:spPr>
          <a:xfrm>
            <a:off x="566928" y="2011680"/>
            <a:ext cx="5120640" cy="310896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39" name="panel accent">
            <a:extLst>
              <a:ext uri="{C183D7F6-B498-43B3-948B-1728B52AA6E4}">
                <adec:decorative xmlns:adec="http://schemas.microsoft.com/office/drawing/2017/decorative" val="1"/>
              </a:ext>
            </a:extLst>
          </p:cNvPr>
          <p:cNvSpPr/>
          <p:nvPr/>
        </p:nvSpPr>
        <p:spPr>
          <a:xfrm>
            <a:off x="566928" y="2011680"/>
            <a:ext cx="50292" cy="3108960"/>
          </a:xfrm>
          <a:prstGeom prst="rect">
            <a:avLst/>
          </a:prstGeom>
          <a:solidFill>
            <a:srgbClr val="3FE08A"/>
          </a:solidFill>
          <a:ln w="12700">
            <a:solidFill>
              <a:srgbClr val="333333"/>
            </a:solidFill>
            <a:prstDash val="solid"/>
          </a:ln>
        </p:spPr>
        <p:txBody>
          <a:bodyPr/>
          <a:lstStyle/>
          <a:p>
            <a:endParaRPr lang="en-SE"/>
          </a:p>
        </p:txBody>
      </p:sp>
      <p:sp>
        <p:nvSpPr>
          <p:cNvPr id="40" name="badge background">
            <a:extLst>
              <a:ext uri="{C183D7F6-B498-43B3-948B-1728B52AA6E4}">
                <adec:decorative xmlns:adec="http://schemas.microsoft.com/office/drawing/2017/decorative" val="1"/>
              </a:ext>
            </a:extLst>
          </p:cNvPr>
          <p:cNvSpPr/>
          <p:nvPr/>
        </p:nvSpPr>
        <p:spPr>
          <a:xfrm>
            <a:off x="868680" y="2240280"/>
            <a:ext cx="1371600" cy="310896"/>
          </a:xfrm>
          <a:prstGeom prst="roundRect">
            <a:avLst>
              <a:gd name="adj" fmla="val 26471"/>
            </a:avLst>
          </a:prstGeom>
          <a:solidFill>
            <a:srgbClr val="122C22"/>
          </a:solidFill>
          <a:ln w="12700">
            <a:solidFill>
              <a:srgbClr val="333333"/>
            </a:solidFill>
            <a:prstDash val="solid"/>
          </a:ln>
        </p:spPr>
        <p:txBody>
          <a:bodyPr/>
          <a:lstStyle/>
          <a:p>
            <a:endParaRPr lang="en-SE"/>
          </a:p>
        </p:txBody>
      </p:sp>
      <p:sp>
        <p:nvSpPr>
          <p:cNvPr id="41" name="Text 39"/>
          <p:cNvSpPr/>
          <p:nvPr/>
        </p:nvSpPr>
        <p:spPr>
          <a:xfrm>
            <a:off x="868680" y="2240280"/>
            <a:ext cx="1371600" cy="310896"/>
          </a:xfrm>
          <a:prstGeom prst="rect">
            <a:avLst/>
          </a:prstGeom>
          <a:noFill/>
          <a:ln/>
        </p:spPr>
        <p:txBody>
          <a:bodyPr wrap="square" lIns="0" tIns="0" rIns="0" bIns="0" rtlCol="0" anchor="ctr"/>
          <a:lstStyle/>
          <a:p>
            <a:pPr marL="0" indent="0" algn="ctr">
              <a:buNone/>
            </a:pPr>
            <a:r>
              <a:rPr lang="en-US" sz="1600" b="1" kern="0" spc="80" dirty="0">
                <a:solidFill>
                  <a:srgbClr val="3FE08A"/>
                </a:solidFill>
                <a:latin typeface="Consolas" pitchFamily="34" charset="0"/>
                <a:ea typeface="Consolas" pitchFamily="34" charset="-122"/>
                <a:cs typeface="Consolas" pitchFamily="34" charset="-120"/>
              </a:rPr>
              <a:t>LIVE</a:t>
            </a:r>
            <a:endParaRPr lang="en-US" sz="1600" dirty="0"/>
          </a:p>
        </p:txBody>
      </p:sp>
      <p:sp>
        <p:nvSpPr>
          <p:cNvPr id="42" name="Text 40"/>
          <p:cNvSpPr/>
          <p:nvPr/>
        </p:nvSpPr>
        <p:spPr>
          <a:xfrm>
            <a:off x="868680" y="2697480"/>
            <a:ext cx="4572000" cy="365760"/>
          </a:xfrm>
          <a:prstGeom prst="rect">
            <a:avLst/>
          </a:prstGeom>
          <a:noFill/>
          <a:ln/>
        </p:spPr>
        <p:txBody>
          <a:bodyPr wrap="square" lIns="0" tIns="0" rIns="0" bIns="0" rtlCol="0" anchor="ctr"/>
          <a:lstStyle/>
          <a:p>
            <a:pPr marL="0" indent="0">
              <a:buNone/>
            </a:pPr>
            <a:r>
              <a:rPr lang="en-US" b="1" dirty="0">
                <a:solidFill>
                  <a:srgbClr val="E6EDF3"/>
                </a:solidFill>
                <a:latin typeface="Segoe UI" pitchFamily="34" charset="0"/>
                <a:ea typeface="Segoe UI" pitchFamily="34" charset="-122"/>
                <a:cs typeface="Segoe UI" pitchFamily="34" charset="-120"/>
              </a:rPr>
              <a:t>The market-data feed</a:t>
            </a:r>
            <a:endParaRPr lang="en-US" dirty="0"/>
          </a:p>
        </p:txBody>
      </p:sp>
      <p:sp>
        <p:nvSpPr>
          <p:cNvPr id="43" name="Text 41"/>
          <p:cNvSpPr/>
          <p:nvPr/>
        </p:nvSpPr>
        <p:spPr>
          <a:xfrm>
            <a:off x="868680" y="3127248"/>
            <a:ext cx="4572000" cy="914400"/>
          </a:xfrm>
          <a:prstGeom prst="rect">
            <a:avLst/>
          </a:prstGeom>
          <a:noFill/>
          <a:ln/>
        </p:spPr>
        <p:txBody>
          <a:bodyPr wrap="square" lIns="0" tIns="0" rIns="0" bIns="0" rtlCol="0" anchor="ctr"/>
          <a:lstStyle/>
          <a:p>
            <a:pPr marL="0" indent="0">
              <a:lnSpc>
                <a:spcPct val="115000"/>
              </a:lnSpc>
              <a:buNone/>
            </a:pPr>
            <a:r>
              <a:rPr lang="en-US" sz="1400" dirty="0">
                <a:solidFill>
                  <a:srgbClr val="AAB7C2"/>
                </a:solidFill>
                <a:latin typeface="Segoe UI" pitchFamily="34" charset="0"/>
                <a:ea typeface="Segoe UI" pitchFamily="34" charset="-122"/>
                <a:cs typeface="Segoe UI" pitchFamily="34" charset="-120"/>
              </a:rPr>
              <a:t>A continuous streaming connection. Delivers everything that is happening now: prices, prints, state changes, halts, auctions, index levels and depth.</a:t>
            </a:r>
            <a:endParaRPr lang="en-US" sz="1400" dirty="0"/>
          </a:p>
        </p:txBody>
      </p:sp>
      <p:sp>
        <p:nvSpPr>
          <p:cNvPr id="44" name="Text 42"/>
          <p:cNvSpPr/>
          <p:nvPr/>
        </p:nvSpPr>
        <p:spPr>
          <a:xfrm>
            <a:off x="868680" y="4160520"/>
            <a:ext cx="4572000" cy="777240"/>
          </a:xfrm>
          <a:prstGeom prst="rect">
            <a:avLst/>
          </a:prstGeom>
          <a:noFill/>
          <a:ln/>
        </p:spPr>
        <p:txBody>
          <a:bodyPr wrap="square" lIns="0" tIns="0" rIns="0" bIns="0" rtlCol="0" anchor="ctr"/>
          <a:lstStyle/>
          <a:p>
            <a:pPr marL="0" indent="0">
              <a:lnSpc>
                <a:spcPct val="110000"/>
              </a:lnSpc>
              <a:buNone/>
            </a:pPr>
            <a:r>
              <a:rPr lang="en-US" sz="1400" dirty="0">
                <a:solidFill>
                  <a:srgbClr val="3FE08A"/>
                </a:solidFill>
                <a:latin typeface="Segoe UI" pitchFamily="34" charset="0"/>
                <a:ea typeface="Segoe UI" pitchFamily="34" charset="-122"/>
                <a:cs typeface="Segoe UI" pitchFamily="34" charset="-120"/>
              </a:rPr>
              <a:t>If this is down: the screens show a connection warning and the numbers stop moving.</a:t>
            </a:r>
            <a:endParaRPr lang="en-US" sz="1400" dirty="0"/>
          </a:p>
        </p:txBody>
      </p:sp>
      <p:sp>
        <p:nvSpPr>
          <p:cNvPr id="45" name="panel">
            <a:extLst>
              <a:ext uri="{C183D7F6-B498-43B3-948B-1728B52AA6E4}">
                <adec:decorative xmlns:adec="http://schemas.microsoft.com/office/drawing/2017/decorative" val="1"/>
              </a:ext>
            </a:extLst>
          </p:cNvPr>
          <p:cNvSpPr/>
          <p:nvPr/>
        </p:nvSpPr>
        <p:spPr>
          <a:xfrm>
            <a:off x="6053328" y="2011680"/>
            <a:ext cx="5120640" cy="310896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46" name="panel accent">
            <a:extLst>
              <a:ext uri="{C183D7F6-B498-43B3-948B-1728B52AA6E4}">
                <adec:decorative xmlns:adec="http://schemas.microsoft.com/office/drawing/2017/decorative" val="1"/>
              </a:ext>
            </a:extLst>
          </p:cNvPr>
          <p:cNvSpPr/>
          <p:nvPr/>
        </p:nvSpPr>
        <p:spPr>
          <a:xfrm>
            <a:off x="6053328" y="2011680"/>
            <a:ext cx="50292" cy="3108960"/>
          </a:xfrm>
          <a:prstGeom prst="rect">
            <a:avLst/>
          </a:prstGeom>
          <a:solidFill>
            <a:srgbClr val="F5A524"/>
          </a:solidFill>
          <a:ln w="12700">
            <a:solidFill>
              <a:srgbClr val="333333"/>
            </a:solidFill>
            <a:prstDash val="solid"/>
          </a:ln>
        </p:spPr>
        <p:txBody>
          <a:bodyPr/>
          <a:lstStyle/>
          <a:p>
            <a:endParaRPr lang="en-SE"/>
          </a:p>
        </p:txBody>
      </p:sp>
      <p:sp>
        <p:nvSpPr>
          <p:cNvPr id="47" name="badge background">
            <a:extLst>
              <a:ext uri="{C183D7F6-B498-43B3-948B-1728B52AA6E4}">
                <adec:decorative xmlns:adec="http://schemas.microsoft.com/office/drawing/2017/decorative" val="1"/>
              </a:ext>
            </a:extLst>
          </p:cNvPr>
          <p:cNvSpPr/>
          <p:nvPr/>
        </p:nvSpPr>
        <p:spPr>
          <a:xfrm>
            <a:off x="6355080" y="2240280"/>
            <a:ext cx="1371600" cy="310896"/>
          </a:xfrm>
          <a:prstGeom prst="roundRect">
            <a:avLst>
              <a:gd name="adj" fmla="val 26471"/>
            </a:avLst>
          </a:prstGeom>
          <a:solidFill>
            <a:srgbClr val="6B4A0F"/>
          </a:solidFill>
          <a:ln w="12700">
            <a:solidFill>
              <a:srgbClr val="333333"/>
            </a:solidFill>
            <a:prstDash val="solid"/>
          </a:ln>
        </p:spPr>
        <p:txBody>
          <a:bodyPr/>
          <a:lstStyle/>
          <a:p>
            <a:endParaRPr lang="en-SE" sz="4800"/>
          </a:p>
        </p:txBody>
      </p:sp>
      <p:sp>
        <p:nvSpPr>
          <p:cNvPr id="48" name="Text 46"/>
          <p:cNvSpPr/>
          <p:nvPr/>
        </p:nvSpPr>
        <p:spPr>
          <a:xfrm>
            <a:off x="6355080" y="2240280"/>
            <a:ext cx="1371600" cy="310896"/>
          </a:xfrm>
          <a:prstGeom prst="rect">
            <a:avLst/>
          </a:prstGeom>
          <a:noFill/>
          <a:ln/>
        </p:spPr>
        <p:txBody>
          <a:bodyPr wrap="square" lIns="0" tIns="0" rIns="0" bIns="0" rtlCol="0" anchor="ctr"/>
          <a:lstStyle/>
          <a:p>
            <a:pPr marL="0" indent="0" algn="ctr">
              <a:buNone/>
            </a:pPr>
            <a:r>
              <a:rPr lang="en-US" sz="1400" b="1" kern="0" spc="80" dirty="0">
                <a:solidFill>
                  <a:srgbClr val="F5A524"/>
                </a:solidFill>
                <a:latin typeface="Consolas" pitchFamily="34" charset="0"/>
                <a:ea typeface="Consolas" pitchFamily="34" charset="-122"/>
                <a:cs typeface="Consolas" pitchFamily="34" charset="-120"/>
              </a:rPr>
              <a:t>HISTORY</a:t>
            </a:r>
            <a:endParaRPr lang="en-US" sz="1400" dirty="0"/>
          </a:p>
        </p:txBody>
      </p:sp>
      <p:sp>
        <p:nvSpPr>
          <p:cNvPr id="49" name="Text 47"/>
          <p:cNvSpPr/>
          <p:nvPr/>
        </p:nvSpPr>
        <p:spPr>
          <a:xfrm>
            <a:off x="6355080" y="2697480"/>
            <a:ext cx="4572000" cy="365760"/>
          </a:xfrm>
          <a:prstGeom prst="rect">
            <a:avLst/>
          </a:prstGeom>
          <a:noFill/>
          <a:ln/>
        </p:spPr>
        <p:txBody>
          <a:bodyPr wrap="square" lIns="0" tIns="0" rIns="0" bIns="0" rtlCol="0" anchor="ctr"/>
          <a:lstStyle/>
          <a:p>
            <a:pPr marL="0" indent="0">
              <a:buNone/>
            </a:pPr>
            <a:r>
              <a:rPr lang="en-US" b="1" dirty="0">
                <a:solidFill>
                  <a:srgbClr val="E6EDF3"/>
                </a:solidFill>
                <a:latin typeface="Segoe UI" pitchFamily="34" charset="0"/>
                <a:ea typeface="Segoe UI" pitchFamily="34" charset="-122"/>
                <a:cs typeface="Segoe UI" pitchFamily="34" charset="-120"/>
              </a:rPr>
              <a:t>The history service</a:t>
            </a:r>
            <a:endParaRPr lang="en-US" dirty="0"/>
          </a:p>
        </p:txBody>
      </p:sp>
      <p:sp>
        <p:nvSpPr>
          <p:cNvPr id="50" name="Text 48"/>
          <p:cNvSpPr/>
          <p:nvPr/>
        </p:nvSpPr>
        <p:spPr>
          <a:xfrm>
            <a:off x="6355080" y="3127248"/>
            <a:ext cx="4572000" cy="914400"/>
          </a:xfrm>
          <a:prstGeom prst="rect">
            <a:avLst/>
          </a:prstGeom>
          <a:noFill/>
          <a:ln/>
        </p:spPr>
        <p:txBody>
          <a:bodyPr wrap="square" lIns="0" tIns="0" rIns="0" bIns="0" rtlCol="0" anchor="ctr"/>
          <a:lstStyle/>
          <a:p>
            <a:pPr marL="0" indent="0">
              <a:lnSpc>
                <a:spcPct val="115000"/>
              </a:lnSpc>
              <a:buNone/>
            </a:pPr>
            <a:r>
              <a:rPr lang="en-US" sz="1400" dirty="0">
                <a:solidFill>
                  <a:srgbClr val="AAB7C2"/>
                </a:solidFill>
                <a:latin typeface="Segoe UI" pitchFamily="34" charset="0"/>
                <a:ea typeface="Segoe UI" pitchFamily="34" charset="-122"/>
                <a:cs typeface="Segoe UI" pitchFamily="34" charset="-120"/>
              </a:rPr>
              <a:t>On-demand lookups. Supplies chart bars, the previous close, index history, and the Open / Volume / Turnover columns on the boards.</a:t>
            </a:r>
            <a:endParaRPr lang="en-US" sz="1400" dirty="0"/>
          </a:p>
        </p:txBody>
      </p:sp>
      <p:sp>
        <p:nvSpPr>
          <p:cNvPr id="51" name="Text 49"/>
          <p:cNvSpPr/>
          <p:nvPr/>
        </p:nvSpPr>
        <p:spPr>
          <a:xfrm>
            <a:off x="6355080" y="4160520"/>
            <a:ext cx="4572000" cy="777240"/>
          </a:xfrm>
          <a:prstGeom prst="rect">
            <a:avLst/>
          </a:prstGeom>
          <a:noFill/>
          <a:ln/>
        </p:spPr>
        <p:txBody>
          <a:bodyPr wrap="square" lIns="0" tIns="0" rIns="0" bIns="0" rtlCol="0" anchor="ctr"/>
          <a:lstStyle/>
          <a:p>
            <a:pPr marL="0" indent="0">
              <a:lnSpc>
                <a:spcPct val="110000"/>
              </a:lnSpc>
              <a:buNone/>
            </a:pPr>
            <a:r>
              <a:rPr lang="en-US" sz="1400" dirty="0">
                <a:solidFill>
                  <a:srgbClr val="F5A524"/>
                </a:solidFill>
                <a:latin typeface="Segoe UI" pitchFamily="34" charset="0"/>
                <a:ea typeface="Segoe UI" pitchFamily="34" charset="-122"/>
                <a:cs typeface="Segoe UI" pitchFamily="34" charset="-120"/>
              </a:rPr>
              <a:t>If this is down: live prices keep ticking perfectly. Only the charts and the history-derived columns go blank.</a:t>
            </a:r>
            <a:endParaRPr lang="en-US" sz="1400" dirty="0"/>
          </a:p>
        </p:txBody>
      </p:sp>
      <p:sp>
        <p:nvSpPr>
          <p:cNvPr id="52" name="callout background">
            <a:extLst>
              <a:ext uri="{C183D7F6-B498-43B3-948B-1728B52AA6E4}">
                <adec:decorative xmlns:adec="http://schemas.microsoft.com/office/drawing/2017/decorative" val="1"/>
              </a:ext>
            </a:extLst>
          </p:cNvPr>
          <p:cNvSpPr/>
          <p:nvPr/>
        </p:nvSpPr>
        <p:spPr>
          <a:xfrm>
            <a:off x="566928" y="5394960"/>
            <a:ext cx="10607040" cy="713232"/>
          </a:xfrm>
          <a:prstGeom prst="rect">
            <a:avLst/>
          </a:prstGeom>
          <a:solidFill>
            <a:srgbClr val="273037"/>
          </a:solidFill>
          <a:ln w="12700">
            <a:solidFill>
              <a:srgbClr val="3FE08A"/>
            </a:solidFill>
            <a:prstDash val="solid"/>
          </a:ln>
        </p:spPr>
        <p:txBody>
          <a:bodyPr/>
          <a:lstStyle/>
          <a:p>
            <a:endParaRPr lang="en-SE"/>
          </a:p>
        </p:txBody>
      </p:sp>
      <p:sp>
        <p:nvSpPr>
          <p:cNvPr id="53" name="Text 51"/>
          <p:cNvSpPr/>
          <p:nvPr/>
        </p:nvSpPr>
        <p:spPr>
          <a:xfrm>
            <a:off x="868680" y="5394960"/>
            <a:ext cx="10058400" cy="713232"/>
          </a:xfrm>
          <a:prstGeom prst="rect">
            <a:avLst/>
          </a:prstGeom>
          <a:noFill/>
          <a:ln/>
        </p:spPr>
        <p:txBody>
          <a:bodyPr wrap="square" lIns="0" tIns="0" rIns="0" bIns="0" rtlCol="0" anchor="ctr"/>
          <a:lstStyle/>
          <a:p>
            <a:pPr marL="0" indent="0">
              <a:lnSpc>
                <a:spcPct val="110000"/>
              </a:lnSpc>
              <a:buNone/>
            </a:pPr>
            <a:r>
              <a:rPr lang="en-US" sz="1400" b="1" dirty="0">
                <a:solidFill>
                  <a:srgbClr val="3FE08A"/>
                </a:solidFill>
                <a:latin typeface="Segoe UI" pitchFamily="34" charset="0"/>
                <a:ea typeface="Segoe UI" pitchFamily="34" charset="-122"/>
                <a:cs typeface="Segoe UI" pitchFamily="34" charset="-120"/>
              </a:rPr>
              <a:t>The diagnostic shortcut:  </a:t>
            </a:r>
            <a:r>
              <a:rPr lang="en-US" sz="1400" dirty="0">
                <a:solidFill>
                  <a:srgbClr val="E6EDF3"/>
                </a:solidFill>
                <a:latin typeface="Segoe UI" pitchFamily="34" charset="0"/>
                <a:ea typeface="Segoe UI" pitchFamily="34" charset="-122"/>
                <a:cs typeface="Segoe UI" pitchFamily="34" charset="-120"/>
              </a:rPr>
              <a:t>prices frozen everywhere → the live feed is the problem. Prices ticking but charts empty → the history service is the problem. Two symptoms, two different fixes.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The numbers you will read most often</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02 · INFORMATION</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11</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600" dirty="0">
                <a:solidFill>
                  <a:srgbClr val="AAB7C2"/>
                </a:solidFill>
                <a:latin typeface="Segoe UI" pitchFamily="34" charset="0"/>
                <a:ea typeface="Segoe UI" pitchFamily="34" charset="-122"/>
                <a:cs typeface="Segoe UI" pitchFamily="34" charset="-120"/>
              </a:rPr>
              <a:t>A quick glossary. Every one of these appears on the Overview board or the Symbol Detail header.</a:t>
            </a:r>
            <a:endParaRPr lang="en-US" sz="1600" dirty="0"/>
          </a:p>
        </p:txBody>
      </p:sp>
      <p:sp>
        <p:nvSpPr>
          <p:cNvPr id="38" name="panel">
            <a:extLst>
              <a:ext uri="{C183D7F6-B498-43B3-948B-1728B52AA6E4}">
                <adec:decorative xmlns:adec="http://schemas.microsoft.com/office/drawing/2017/decorative" val="1"/>
              </a:ext>
            </a:extLst>
          </p:cNvPr>
          <p:cNvSpPr/>
          <p:nvPr/>
        </p:nvSpPr>
        <p:spPr>
          <a:xfrm>
            <a:off x="566928" y="1965960"/>
            <a:ext cx="5166360" cy="1207008"/>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sz="2400"/>
          </a:p>
        </p:txBody>
      </p:sp>
      <p:sp>
        <p:nvSpPr>
          <p:cNvPr id="39" name="panel accent">
            <a:extLst>
              <a:ext uri="{C183D7F6-B498-43B3-948B-1728B52AA6E4}">
                <adec:decorative xmlns:adec="http://schemas.microsoft.com/office/drawing/2017/decorative" val="1"/>
              </a:ext>
            </a:extLst>
          </p:cNvPr>
          <p:cNvSpPr/>
          <p:nvPr/>
        </p:nvSpPr>
        <p:spPr>
          <a:xfrm>
            <a:off x="566928" y="1965960"/>
            <a:ext cx="50292" cy="1207008"/>
          </a:xfrm>
          <a:prstGeom prst="rect">
            <a:avLst/>
          </a:prstGeom>
          <a:solidFill>
            <a:srgbClr val="3FE08A"/>
          </a:solidFill>
          <a:ln w="12700">
            <a:solidFill>
              <a:srgbClr val="333333"/>
            </a:solidFill>
            <a:prstDash val="solid"/>
          </a:ln>
        </p:spPr>
        <p:txBody>
          <a:bodyPr/>
          <a:lstStyle/>
          <a:p>
            <a:endParaRPr lang="en-SE" sz="2400"/>
          </a:p>
        </p:txBody>
      </p:sp>
      <p:sp>
        <p:nvSpPr>
          <p:cNvPr id="40" name="Text 38"/>
          <p:cNvSpPr/>
          <p:nvPr/>
        </p:nvSpPr>
        <p:spPr>
          <a:xfrm>
            <a:off x="804672" y="2112264"/>
            <a:ext cx="4663440" cy="320040"/>
          </a:xfrm>
          <a:prstGeom prst="rect">
            <a:avLst/>
          </a:prstGeom>
          <a:noFill/>
          <a:ln/>
        </p:spPr>
        <p:txBody>
          <a:bodyPr wrap="square" lIns="0" tIns="0" rIns="0" bIns="0" rtlCol="0" anchor="ctr"/>
          <a:lstStyle/>
          <a:p>
            <a:pPr marL="0" indent="0">
              <a:buNone/>
            </a:pPr>
            <a:r>
              <a:rPr lang="en-US" sz="1600" b="1" dirty="0">
                <a:solidFill>
                  <a:srgbClr val="3FE08A"/>
                </a:solidFill>
                <a:latin typeface="Consolas" pitchFamily="34" charset="0"/>
                <a:ea typeface="Consolas" pitchFamily="34" charset="-122"/>
                <a:cs typeface="Consolas" pitchFamily="34" charset="-120"/>
              </a:rPr>
              <a:t>Bid / Ask</a:t>
            </a:r>
            <a:endParaRPr lang="en-US" sz="1600" dirty="0"/>
          </a:p>
        </p:txBody>
      </p:sp>
      <p:sp>
        <p:nvSpPr>
          <p:cNvPr id="41" name="Text 39"/>
          <p:cNvSpPr/>
          <p:nvPr/>
        </p:nvSpPr>
        <p:spPr>
          <a:xfrm>
            <a:off x="804672" y="2468880"/>
            <a:ext cx="4663440" cy="621792"/>
          </a:xfrm>
          <a:prstGeom prst="rect">
            <a:avLst/>
          </a:prstGeom>
          <a:noFill/>
          <a:ln/>
        </p:spPr>
        <p:txBody>
          <a:bodyPr wrap="square" lIns="0" tIns="0" rIns="0" bIns="0" rtlCol="0" anchor="ctr"/>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The best price someone is willing to buy at, and the best price someone is willing to sell at. Together they are "the touch".</a:t>
            </a:r>
            <a:endParaRPr lang="en-US" sz="1400" dirty="0"/>
          </a:p>
        </p:txBody>
      </p:sp>
      <p:sp>
        <p:nvSpPr>
          <p:cNvPr id="42" name="panel">
            <a:extLst>
              <a:ext uri="{C183D7F6-B498-43B3-948B-1728B52AA6E4}">
                <adec:decorative xmlns:adec="http://schemas.microsoft.com/office/drawing/2017/decorative" val="1"/>
              </a:ext>
            </a:extLst>
          </p:cNvPr>
          <p:cNvSpPr/>
          <p:nvPr/>
        </p:nvSpPr>
        <p:spPr>
          <a:xfrm>
            <a:off x="6007608" y="1965960"/>
            <a:ext cx="5166360" cy="1207008"/>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sz="2400"/>
          </a:p>
        </p:txBody>
      </p:sp>
      <p:sp>
        <p:nvSpPr>
          <p:cNvPr id="43" name="panel accent">
            <a:extLst>
              <a:ext uri="{C183D7F6-B498-43B3-948B-1728B52AA6E4}">
                <adec:decorative xmlns:adec="http://schemas.microsoft.com/office/drawing/2017/decorative" val="1"/>
              </a:ext>
            </a:extLst>
          </p:cNvPr>
          <p:cNvSpPr/>
          <p:nvPr/>
        </p:nvSpPr>
        <p:spPr>
          <a:xfrm>
            <a:off x="6007608" y="1965960"/>
            <a:ext cx="50292" cy="1207008"/>
          </a:xfrm>
          <a:prstGeom prst="rect">
            <a:avLst/>
          </a:prstGeom>
          <a:solidFill>
            <a:srgbClr val="3FE08A"/>
          </a:solidFill>
          <a:ln w="12700">
            <a:solidFill>
              <a:srgbClr val="333333"/>
            </a:solidFill>
            <a:prstDash val="solid"/>
          </a:ln>
        </p:spPr>
        <p:txBody>
          <a:bodyPr/>
          <a:lstStyle/>
          <a:p>
            <a:endParaRPr lang="en-SE" sz="2400"/>
          </a:p>
        </p:txBody>
      </p:sp>
      <p:sp>
        <p:nvSpPr>
          <p:cNvPr id="44" name="Text 42"/>
          <p:cNvSpPr/>
          <p:nvPr/>
        </p:nvSpPr>
        <p:spPr>
          <a:xfrm>
            <a:off x="6245352" y="2112264"/>
            <a:ext cx="4663440" cy="320040"/>
          </a:xfrm>
          <a:prstGeom prst="rect">
            <a:avLst/>
          </a:prstGeom>
          <a:noFill/>
          <a:ln/>
        </p:spPr>
        <p:txBody>
          <a:bodyPr wrap="square" lIns="0" tIns="0" rIns="0" bIns="0" rtlCol="0" anchor="ctr"/>
          <a:lstStyle/>
          <a:p>
            <a:pPr marL="0" indent="0">
              <a:buNone/>
            </a:pPr>
            <a:r>
              <a:rPr lang="en-US" sz="1600" b="1" dirty="0">
                <a:solidFill>
                  <a:srgbClr val="3FE08A"/>
                </a:solidFill>
                <a:latin typeface="Consolas" pitchFamily="34" charset="0"/>
                <a:ea typeface="Consolas" pitchFamily="34" charset="-122"/>
                <a:cs typeface="Consolas" pitchFamily="34" charset="-120"/>
              </a:rPr>
              <a:t>Last</a:t>
            </a:r>
            <a:endParaRPr lang="en-US" sz="1600" dirty="0"/>
          </a:p>
        </p:txBody>
      </p:sp>
      <p:sp>
        <p:nvSpPr>
          <p:cNvPr id="45" name="Text 43"/>
          <p:cNvSpPr/>
          <p:nvPr/>
        </p:nvSpPr>
        <p:spPr>
          <a:xfrm>
            <a:off x="6245352" y="2468880"/>
            <a:ext cx="4663440" cy="621792"/>
          </a:xfrm>
          <a:prstGeom prst="rect">
            <a:avLst/>
          </a:prstGeom>
          <a:noFill/>
          <a:ln/>
        </p:spPr>
        <p:txBody>
          <a:bodyPr wrap="square" lIns="0" tIns="0" rIns="0" bIns="0" rtlCol="0" anchor="ctr"/>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The price of the most recent trade that actually executed. A price is only real once it has traded.</a:t>
            </a:r>
            <a:endParaRPr lang="en-US" sz="1400" dirty="0"/>
          </a:p>
        </p:txBody>
      </p:sp>
      <p:sp>
        <p:nvSpPr>
          <p:cNvPr id="46" name="panel">
            <a:extLst>
              <a:ext uri="{C183D7F6-B498-43B3-948B-1728B52AA6E4}">
                <adec:decorative xmlns:adec="http://schemas.microsoft.com/office/drawing/2017/decorative" val="1"/>
              </a:ext>
            </a:extLst>
          </p:cNvPr>
          <p:cNvSpPr/>
          <p:nvPr/>
        </p:nvSpPr>
        <p:spPr>
          <a:xfrm>
            <a:off x="566928" y="3337560"/>
            <a:ext cx="5166360" cy="1207008"/>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sz="2400"/>
          </a:p>
        </p:txBody>
      </p:sp>
      <p:sp>
        <p:nvSpPr>
          <p:cNvPr id="47" name="panel accent">
            <a:extLst>
              <a:ext uri="{C183D7F6-B498-43B3-948B-1728B52AA6E4}">
                <adec:decorative xmlns:adec="http://schemas.microsoft.com/office/drawing/2017/decorative" val="1"/>
              </a:ext>
            </a:extLst>
          </p:cNvPr>
          <p:cNvSpPr/>
          <p:nvPr/>
        </p:nvSpPr>
        <p:spPr>
          <a:xfrm>
            <a:off x="566928" y="3337560"/>
            <a:ext cx="50292" cy="1207008"/>
          </a:xfrm>
          <a:prstGeom prst="rect">
            <a:avLst/>
          </a:prstGeom>
          <a:solidFill>
            <a:srgbClr val="3FE08A"/>
          </a:solidFill>
          <a:ln w="12700">
            <a:solidFill>
              <a:srgbClr val="333333"/>
            </a:solidFill>
            <a:prstDash val="solid"/>
          </a:ln>
        </p:spPr>
        <p:txBody>
          <a:bodyPr/>
          <a:lstStyle/>
          <a:p>
            <a:endParaRPr lang="en-SE" sz="2400"/>
          </a:p>
        </p:txBody>
      </p:sp>
      <p:sp>
        <p:nvSpPr>
          <p:cNvPr id="48" name="Text 46"/>
          <p:cNvSpPr/>
          <p:nvPr/>
        </p:nvSpPr>
        <p:spPr>
          <a:xfrm>
            <a:off x="804672" y="3483864"/>
            <a:ext cx="4663440" cy="320040"/>
          </a:xfrm>
          <a:prstGeom prst="rect">
            <a:avLst/>
          </a:prstGeom>
          <a:noFill/>
          <a:ln/>
        </p:spPr>
        <p:txBody>
          <a:bodyPr wrap="square" lIns="0" tIns="0" rIns="0" bIns="0" rtlCol="0" anchor="ctr"/>
          <a:lstStyle/>
          <a:p>
            <a:pPr marL="0" indent="0">
              <a:buNone/>
            </a:pPr>
            <a:r>
              <a:rPr lang="en-US" sz="1600" b="1" dirty="0">
                <a:solidFill>
                  <a:srgbClr val="3FE08A"/>
                </a:solidFill>
                <a:latin typeface="Consolas" pitchFamily="34" charset="0"/>
                <a:ea typeface="Consolas" pitchFamily="34" charset="-122"/>
                <a:cs typeface="Consolas" pitchFamily="34" charset="-120"/>
              </a:rPr>
              <a:t>Change / % change</a:t>
            </a:r>
            <a:endParaRPr lang="en-US" sz="1600" dirty="0"/>
          </a:p>
        </p:txBody>
      </p:sp>
      <p:sp>
        <p:nvSpPr>
          <p:cNvPr id="49" name="Text 47"/>
          <p:cNvSpPr/>
          <p:nvPr/>
        </p:nvSpPr>
        <p:spPr>
          <a:xfrm>
            <a:off x="804672" y="3840480"/>
            <a:ext cx="4663440" cy="621792"/>
          </a:xfrm>
          <a:prstGeom prst="rect">
            <a:avLst/>
          </a:prstGeom>
          <a:noFill/>
          <a:ln/>
        </p:spPr>
        <p:txBody>
          <a:bodyPr wrap="square" lIns="0" tIns="0" rIns="0" bIns="0" rtlCol="0" anchor="ctr"/>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How far the last price has moved from the previous close — the closing price of the previous session.</a:t>
            </a:r>
            <a:endParaRPr lang="en-US" sz="1400" dirty="0"/>
          </a:p>
        </p:txBody>
      </p:sp>
      <p:sp>
        <p:nvSpPr>
          <p:cNvPr id="50" name="panel">
            <a:extLst>
              <a:ext uri="{C183D7F6-B498-43B3-948B-1728B52AA6E4}">
                <adec:decorative xmlns:adec="http://schemas.microsoft.com/office/drawing/2017/decorative" val="1"/>
              </a:ext>
            </a:extLst>
          </p:cNvPr>
          <p:cNvSpPr/>
          <p:nvPr/>
        </p:nvSpPr>
        <p:spPr>
          <a:xfrm>
            <a:off x="6007608" y="3337560"/>
            <a:ext cx="5166360" cy="1207008"/>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sz="2400"/>
          </a:p>
        </p:txBody>
      </p:sp>
      <p:sp>
        <p:nvSpPr>
          <p:cNvPr id="51" name="panel accent">
            <a:extLst>
              <a:ext uri="{C183D7F6-B498-43B3-948B-1728B52AA6E4}">
                <adec:decorative xmlns:adec="http://schemas.microsoft.com/office/drawing/2017/decorative" val="1"/>
              </a:ext>
            </a:extLst>
          </p:cNvPr>
          <p:cNvSpPr/>
          <p:nvPr/>
        </p:nvSpPr>
        <p:spPr>
          <a:xfrm>
            <a:off x="6007608" y="3337560"/>
            <a:ext cx="50292" cy="1207008"/>
          </a:xfrm>
          <a:prstGeom prst="rect">
            <a:avLst/>
          </a:prstGeom>
          <a:solidFill>
            <a:srgbClr val="3FE08A"/>
          </a:solidFill>
          <a:ln w="12700">
            <a:solidFill>
              <a:srgbClr val="333333"/>
            </a:solidFill>
            <a:prstDash val="solid"/>
          </a:ln>
        </p:spPr>
        <p:txBody>
          <a:bodyPr/>
          <a:lstStyle/>
          <a:p>
            <a:endParaRPr lang="en-SE" sz="2400"/>
          </a:p>
        </p:txBody>
      </p:sp>
      <p:sp>
        <p:nvSpPr>
          <p:cNvPr id="52" name="Text 50"/>
          <p:cNvSpPr/>
          <p:nvPr/>
        </p:nvSpPr>
        <p:spPr>
          <a:xfrm>
            <a:off x="6245352" y="3483864"/>
            <a:ext cx="4663440" cy="320040"/>
          </a:xfrm>
          <a:prstGeom prst="rect">
            <a:avLst/>
          </a:prstGeom>
          <a:noFill/>
          <a:ln/>
        </p:spPr>
        <p:txBody>
          <a:bodyPr wrap="square" lIns="0" tIns="0" rIns="0" bIns="0" rtlCol="0" anchor="ctr"/>
          <a:lstStyle/>
          <a:p>
            <a:pPr marL="0" indent="0">
              <a:buNone/>
            </a:pPr>
            <a:r>
              <a:rPr lang="en-US" sz="1600" b="1" dirty="0">
                <a:solidFill>
                  <a:srgbClr val="3FE08A"/>
                </a:solidFill>
                <a:latin typeface="Consolas" pitchFamily="34" charset="0"/>
                <a:ea typeface="Consolas" pitchFamily="34" charset="-122"/>
                <a:cs typeface="Consolas" pitchFamily="34" charset="-120"/>
              </a:rPr>
              <a:t>Volume</a:t>
            </a:r>
            <a:endParaRPr lang="en-US" sz="1600" dirty="0"/>
          </a:p>
        </p:txBody>
      </p:sp>
      <p:sp>
        <p:nvSpPr>
          <p:cNvPr id="53" name="Text 51"/>
          <p:cNvSpPr/>
          <p:nvPr/>
        </p:nvSpPr>
        <p:spPr>
          <a:xfrm>
            <a:off x="6245352" y="3840480"/>
            <a:ext cx="4663440" cy="621792"/>
          </a:xfrm>
          <a:prstGeom prst="rect">
            <a:avLst/>
          </a:prstGeom>
          <a:noFill/>
          <a:ln/>
        </p:spPr>
        <p:txBody>
          <a:bodyPr wrap="square" lIns="0" tIns="0" rIns="0" bIns="0" rtlCol="0" anchor="ctr"/>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How many units have traded so far today.</a:t>
            </a:r>
            <a:endParaRPr lang="en-US" sz="1400" dirty="0"/>
          </a:p>
        </p:txBody>
      </p:sp>
      <p:sp>
        <p:nvSpPr>
          <p:cNvPr id="54" name="panel">
            <a:extLst>
              <a:ext uri="{C183D7F6-B498-43B3-948B-1728B52AA6E4}">
                <adec:decorative xmlns:adec="http://schemas.microsoft.com/office/drawing/2017/decorative" val="1"/>
              </a:ext>
            </a:extLst>
          </p:cNvPr>
          <p:cNvSpPr/>
          <p:nvPr/>
        </p:nvSpPr>
        <p:spPr>
          <a:xfrm>
            <a:off x="566928" y="4709160"/>
            <a:ext cx="5166360" cy="1207008"/>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sz="2400"/>
          </a:p>
        </p:txBody>
      </p:sp>
      <p:sp>
        <p:nvSpPr>
          <p:cNvPr id="55" name="panel accent">
            <a:extLst>
              <a:ext uri="{C183D7F6-B498-43B3-948B-1728B52AA6E4}">
                <adec:decorative xmlns:adec="http://schemas.microsoft.com/office/drawing/2017/decorative" val="1"/>
              </a:ext>
            </a:extLst>
          </p:cNvPr>
          <p:cNvSpPr/>
          <p:nvPr/>
        </p:nvSpPr>
        <p:spPr>
          <a:xfrm>
            <a:off x="566928" y="4709160"/>
            <a:ext cx="50292" cy="1207008"/>
          </a:xfrm>
          <a:prstGeom prst="rect">
            <a:avLst/>
          </a:prstGeom>
          <a:solidFill>
            <a:srgbClr val="3FE08A"/>
          </a:solidFill>
          <a:ln w="12700">
            <a:solidFill>
              <a:srgbClr val="333333"/>
            </a:solidFill>
            <a:prstDash val="solid"/>
          </a:ln>
        </p:spPr>
        <p:txBody>
          <a:bodyPr/>
          <a:lstStyle/>
          <a:p>
            <a:endParaRPr lang="en-SE" sz="2400"/>
          </a:p>
        </p:txBody>
      </p:sp>
      <p:sp>
        <p:nvSpPr>
          <p:cNvPr id="56" name="Text 54"/>
          <p:cNvSpPr/>
          <p:nvPr/>
        </p:nvSpPr>
        <p:spPr>
          <a:xfrm>
            <a:off x="804672" y="4855464"/>
            <a:ext cx="4663440" cy="320040"/>
          </a:xfrm>
          <a:prstGeom prst="rect">
            <a:avLst/>
          </a:prstGeom>
          <a:noFill/>
          <a:ln/>
        </p:spPr>
        <p:txBody>
          <a:bodyPr wrap="square" lIns="0" tIns="0" rIns="0" bIns="0" rtlCol="0" anchor="ctr"/>
          <a:lstStyle/>
          <a:p>
            <a:pPr marL="0" indent="0">
              <a:buNone/>
            </a:pPr>
            <a:r>
              <a:rPr lang="en-US" sz="1600" b="1" dirty="0">
                <a:solidFill>
                  <a:srgbClr val="3FE08A"/>
                </a:solidFill>
                <a:latin typeface="Consolas" pitchFamily="34" charset="0"/>
                <a:ea typeface="Consolas" pitchFamily="34" charset="-122"/>
                <a:cs typeface="Consolas" pitchFamily="34" charset="-120"/>
              </a:rPr>
              <a:t>Turnover</a:t>
            </a:r>
            <a:endParaRPr lang="en-US" sz="1600" dirty="0"/>
          </a:p>
        </p:txBody>
      </p:sp>
      <p:sp>
        <p:nvSpPr>
          <p:cNvPr id="57" name="Text 55"/>
          <p:cNvSpPr/>
          <p:nvPr/>
        </p:nvSpPr>
        <p:spPr>
          <a:xfrm>
            <a:off x="804672" y="5212080"/>
            <a:ext cx="4663440" cy="621792"/>
          </a:xfrm>
          <a:prstGeom prst="rect">
            <a:avLst/>
          </a:prstGeom>
          <a:noFill/>
          <a:ln/>
        </p:spPr>
        <p:txBody>
          <a:bodyPr wrap="square" lIns="0" tIns="0" rIns="0" bIns="0" rtlCol="0" anchor="ctr"/>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The value traded so far today (price × quantity). Used to rank the genuinely active symbols.</a:t>
            </a:r>
            <a:endParaRPr lang="en-US" sz="1400" dirty="0"/>
          </a:p>
        </p:txBody>
      </p:sp>
      <p:sp>
        <p:nvSpPr>
          <p:cNvPr id="58" name="panel">
            <a:extLst>
              <a:ext uri="{C183D7F6-B498-43B3-948B-1728B52AA6E4}">
                <adec:decorative xmlns:adec="http://schemas.microsoft.com/office/drawing/2017/decorative" val="1"/>
              </a:ext>
            </a:extLst>
          </p:cNvPr>
          <p:cNvSpPr/>
          <p:nvPr/>
        </p:nvSpPr>
        <p:spPr>
          <a:xfrm>
            <a:off x="6007608" y="4709160"/>
            <a:ext cx="5166360" cy="1207008"/>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sz="2400"/>
          </a:p>
        </p:txBody>
      </p:sp>
      <p:sp>
        <p:nvSpPr>
          <p:cNvPr id="59" name="panel accent">
            <a:extLst>
              <a:ext uri="{C183D7F6-B498-43B3-948B-1728B52AA6E4}">
                <adec:decorative xmlns:adec="http://schemas.microsoft.com/office/drawing/2017/decorative" val="1"/>
              </a:ext>
            </a:extLst>
          </p:cNvPr>
          <p:cNvSpPr/>
          <p:nvPr/>
        </p:nvSpPr>
        <p:spPr>
          <a:xfrm>
            <a:off x="6007608" y="4709160"/>
            <a:ext cx="50292" cy="1207008"/>
          </a:xfrm>
          <a:prstGeom prst="rect">
            <a:avLst/>
          </a:prstGeom>
          <a:solidFill>
            <a:srgbClr val="3FE08A"/>
          </a:solidFill>
          <a:ln w="12700">
            <a:solidFill>
              <a:srgbClr val="333333"/>
            </a:solidFill>
            <a:prstDash val="solid"/>
          </a:ln>
        </p:spPr>
        <p:txBody>
          <a:bodyPr/>
          <a:lstStyle/>
          <a:p>
            <a:endParaRPr lang="en-SE" sz="2400"/>
          </a:p>
        </p:txBody>
      </p:sp>
      <p:sp>
        <p:nvSpPr>
          <p:cNvPr id="60" name="Text 58"/>
          <p:cNvSpPr/>
          <p:nvPr/>
        </p:nvSpPr>
        <p:spPr>
          <a:xfrm>
            <a:off x="6245352" y="4855464"/>
            <a:ext cx="4663440" cy="320040"/>
          </a:xfrm>
          <a:prstGeom prst="rect">
            <a:avLst/>
          </a:prstGeom>
          <a:noFill/>
          <a:ln/>
        </p:spPr>
        <p:txBody>
          <a:bodyPr wrap="square" lIns="0" tIns="0" rIns="0" bIns="0" rtlCol="0" anchor="ctr"/>
          <a:lstStyle/>
          <a:p>
            <a:pPr marL="0" indent="0">
              <a:buNone/>
            </a:pPr>
            <a:r>
              <a:rPr lang="en-US" sz="1600" b="1" dirty="0">
                <a:solidFill>
                  <a:srgbClr val="3FE08A"/>
                </a:solidFill>
                <a:latin typeface="Consolas" pitchFamily="34" charset="0"/>
                <a:ea typeface="Consolas" pitchFamily="34" charset="-122"/>
                <a:cs typeface="Consolas" pitchFamily="34" charset="-120"/>
              </a:rPr>
              <a:t>VWAP</a:t>
            </a:r>
            <a:endParaRPr lang="en-US" sz="1600" dirty="0"/>
          </a:p>
        </p:txBody>
      </p:sp>
      <p:sp>
        <p:nvSpPr>
          <p:cNvPr id="61" name="Text 59"/>
          <p:cNvSpPr/>
          <p:nvPr/>
        </p:nvSpPr>
        <p:spPr>
          <a:xfrm>
            <a:off x="6245352" y="5212080"/>
            <a:ext cx="4663440" cy="621792"/>
          </a:xfrm>
          <a:prstGeom prst="rect">
            <a:avLst/>
          </a:prstGeom>
          <a:noFill/>
          <a:ln/>
        </p:spPr>
        <p:txBody>
          <a:bodyPr wrap="square" lIns="0" tIns="0" rIns="0" bIns="0" rtlCol="0" anchor="ctr"/>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Volume-weighted average price for today's session — the average price weighted by how much traded at each level.</a:t>
            </a:r>
            <a:endParaRPr lang="en-US" sz="1400" dirty="0"/>
          </a:p>
        </p:txBody>
      </p:sp>
      <p:sp>
        <p:nvSpPr>
          <p:cNvPr id="62" name="Text 60"/>
          <p:cNvSpPr/>
          <p:nvPr/>
        </p:nvSpPr>
        <p:spPr>
          <a:xfrm>
            <a:off x="566928" y="6035040"/>
            <a:ext cx="10607040" cy="320040"/>
          </a:xfrm>
          <a:prstGeom prst="rect">
            <a:avLst/>
          </a:prstGeom>
          <a:noFill/>
          <a:ln/>
        </p:spPr>
        <p:txBody>
          <a:bodyPr wrap="square" lIns="0" tIns="0" rIns="0" bIns="0" rtlCol="0" anchor="ctr"/>
          <a:lstStyle/>
          <a:p>
            <a:pPr marL="0" indent="0">
              <a:buNone/>
            </a:pPr>
            <a:r>
              <a:rPr lang="en-US" sz="1200" i="1" dirty="0">
                <a:solidFill>
                  <a:srgbClr val="F5A524"/>
                </a:solidFill>
                <a:latin typeface="Segoe UI" pitchFamily="34" charset="0"/>
                <a:ea typeface="Segoe UI" pitchFamily="34" charset="-122"/>
                <a:cs typeface="Segoe UI" pitchFamily="34" charset="-120"/>
              </a:rPr>
              <a:t>Watch for the asterisk: when no previous close is on record, change is measured from today's open instead and marked with a small *. It is still a real figure — it just answers a slightly different question.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side band">
            <a:extLst>
              <a:ext uri="{C183D7F6-B498-43B3-948B-1728B52AA6E4}">
                <adec:decorative xmlns:adec="http://schemas.microsoft.com/office/drawing/2017/decorative" val="1"/>
              </a:ext>
            </a:extLst>
          </p:cNvPr>
          <p:cNvSpPr/>
          <p:nvPr/>
        </p:nvSpPr>
        <p:spPr>
          <a:xfrm>
            <a:off x="0" y="0"/>
            <a:ext cx="384048" cy="6858000"/>
          </a:xfrm>
          <a:prstGeom prst="rect">
            <a:avLst/>
          </a:prstGeom>
          <a:solidFill>
            <a:srgbClr val="122C22"/>
          </a:solidFill>
          <a:ln w="12700">
            <a:solidFill>
              <a:srgbClr val="333333"/>
            </a:solidFill>
            <a:prstDash val="solid"/>
          </a:ln>
        </p:spPr>
        <p:txBody>
          <a:bodyPr/>
          <a:lstStyle/>
          <a:p>
            <a:endParaRPr lang="en-SE"/>
          </a:p>
        </p:txBody>
      </p:sp>
      <p:sp>
        <p:nvSpPr>
          <p:cNvPr id="29" name="side accent">
            <a:extLst>
              <a:ext uri="{C183D7F6-B498-43B3-948B-1728B52AA6E4}">
                <adec:decorative xmlns:adec="http://schemas.microsoft.com/office/drawing/2017/decorative" val="1"/>
              </a:ext>
            </a:extLst>
          </p:cNvPr>
          <p:cNvSpPr/>
          <p:nvPr/>
        </p:nvSpPr>
        <p:spPr>
          <a:xfrm>
            <a:off x="384048" y="0"/>
            <a:ext cx="45720" cy="6858000"/>
          </a:xfrm>
          <a:prstGeom prst="rect">
            <a:avLst/>
          </a:prstGeom>
          <a:solidFill>
            <a:srgbClr val="3FE08A"/>
          </a:solidFill>
          <a:ln w="12700">
            <a:solidFill>
              <a:srgbClr val="333333"/>
            </a:solidFill>
            <a:prstDash val="solid"/>
          </a:ln>
        </p:spPr>
        <p:txBody>
          <a:bodyPr/>
          <a:lstStyle/>
          <a:p>
            <a:endParaRPr lang="en-SE"/>
          </a:p>
        </p:txBody>
      </p:sp>
      <p:sp>
        <p:nvSpPr>
          <p:cNvPr id="30" name="Text 28"/>
          <p:cNvSpPr/>
          <p:nvPr/>
        </p:nvSpPr>
        <p:spPr>
          <a:xfrm>
            <a:off x="1280160" y="1691640"/>
            <a:ext cx="3657600" cy="1371600"/>
          </a:xfrm>
          <a:prstGeom prst="rect">
            <a:avLst/>
          </a:prstGeom>
          <a:noFill/>
          <a:ln/>
        </p:spPr>
        <p:txBody>
          <a:bodyPr wrap="square" lIns="0" tIns="0" rIns="0" bIns="0" rtlCol="0" anchor="ctr"/>
          <a:lstStyle/>
          <a:p>
            <a:pPr marL="0" indent="0">
              <a:buNone/>
            </a:pPr>
            <a:r>
              <a:rPr lang="en-US" sz="8400" b="1" dirty="0">
                <a:solidFill>
                  <a:srgbClr val="1E6E4B"/>
                </a:solidFill>
                <a:latin typeface="Consolas" pitchFamily="34" charset="0"/>
                <a:ea typeface="Consolas" pitchFamily="34" charset="-122"/>
                <a:cs typeface="Consolas" pitchFamily="34" charset="-120"/>
              </a:rPr>
              <a:t>03</a:t>
            </a:r>
            <a:endParaRPr lang="en-US" sz="8400" dirty="0"/>
          </a:p>
        </p:txBody>
      </p:sp>
      <p:sp>
        <p:nvSpPr>
          <p:cNvPr id="31" name="Text 0"/>
          <p:cNvSpPr>
            <a:spLocks noGrp="1"/>
          </p:cNvSpPr>
          <p:nvPr>
            <p:ph type="title" idx="100" hasCustomPrompt="1"/>
          </p:nvPr>
        </p:nvSpPr>
        <p:spPr>
          <a:xfrm>
            <a:off x="1371600" y="2788920"/>
            <a:ext cx="9418320" cy="1005840"/>
          </a:xfrm>
          <a:prstGeom prst="rect">
            <a:avLst/>
          </a:prstGeom>
          <a:noFill/>
          <a:ln/>
        </p:spPr>
        <p:txBody>
          <a:bodyPr wrap="square" lIns="0" tIns="0" rIns="0" bIns="0" rtlCol="0" anchor="ctr"/>
          <a:lstStyle/>
          <a:p>
            <a:pPr marL="0" indent="0">
              <a:buNone/>
            </a:pPr>
            <a:r>
              <a:rPr lang="en-US" sz="3600" b="1" dirty="0">
                <a:solidFill>
                  <a:srgbClr val="E6EDF3"/>
                </a:solidFill>
                <a:latin typeface="Segoe UI" pitchFamily="34" charset="0"/>
                <a:ea typeface="Segoe UI" pitchFamily="34" charset="-122"/>
                <a:cs typeface="Segoe UI" pitchFamily="34" charset="-120"/>
              </a:rPr>
              <a:t>A tour of the screens</a:t>
            </a:r>
            <a:endParaRPr lang="en-US" sz="3600" dirty="0"/>
          </a:p>
        </p:txBody>
      </p:sp>
      <p:sp>
        <p:nvSpPr>
          <p:cNvPr id="32" name="Text 30"/>
          <p:cNvSpPr/>
          <p:nvPr/>
        </p:nvSpPr>
        <p:spPr>
          <a:xfrm>
            <a:off x="1371600" y="3931920"/>
            <a:ext cx="8778240" cy="822960"/>
          </a:xfrm>
          <a:prstGeom prst="rect">
            <a:avLst/>
          </a:prstGeom>
          <a:noFill/>
          <a:ln/>
        </p:spPr>
        <p:txBody>
          <a:bodyPr wrap="square" lIns="0" tIns="0" rIns="0" bIns="0" rtlCol="0" anchor="t"/>
          <a:lstStyle/>
          <a:p>
            <a:pPr marL="0" indent="0">
              <a:lnSpc>
                <a:spcPct val="115000"/>
              </a:lnSpc>
              <a:buNone/>
            </a:pPr>
            <a:r>
              <a:rPr lang="en-US" sz="1450" dirty="0">
                <a:solidFill>
                  <a:srgbClr val="AAB7C2"/>
                </a:solidFill>
                <a:latin typeface="Segoe UI" pitchFamily="34" charset="0"/>
                <a:ea typeface="Segoe UI" pitchFamily="34" charset="-122"/>
                <a:cs typeface="Segoe UI" pitchFamily="34" charset="-120"/>
              </a:rPr>
              <a:t>One shell, six views. We will walk each one, and mark where a screenshot belongs.</a:t>
            </a:r>
            <a:endParaRPr lang="en-US" sz="1450" dirty="0"/>
          </a:p>
        </p:txBody>
      </p:sp>
      <p:sp>
        <p:nvSpPr>
          <p:cNvPr id="33" name="ticker bar">
            <a:extLst>
              <a:ext uri="{C183D7F6-B498-43B3-948B-1728B52AA6E4}">
                <adec:decorative xmlns:adec="http://schemas.microsoft.com/office/drawing/2017/decorative" val="1"/>
              </a:ext>
            </a:extLst>
          </p:cNvPr>
          <p:cNvSpPr/>
          <p:nvPr/>
        </p:nvSpPr>
        <p:spPr>
          <a:xfrm>
            <a:off x="1371600" y="5532120"/>
            <a:ext cx="164592" cy="137160"/>
          </a:xfrm>
          <a:prstGeom prst="rect">
            <a:avLst/>
          </a:prstGeom>
          <a:solidFill>
            <a:srgbClr val="1E6E4B"/>
          </a:solidFill>
          <a:ln w="12700">
            <a:solidFill>
              <a:srgbClr val="333333"/>
            </a:solidFill>
            <a:prstDash val="solid"/>
          </a:ln>
        </p:spPr>
        <p:txBody>
          <a:bodyPr/>
          <a:lstStyle/>
          <a:p>
            <a:endParaRPr lang="en-SE"/>
          </a:p>
        </p:txBody>
      </p:sp>
      <p:sp>
        <p:nvSpPr>
          <p:cNvPr id="34" name="ticker bar">
            <a:extLst>
              <a:ext uri="{C183D7F6-B498-43B3-948B-1728B52AA6E4}">
                <adec:decorative xmlns:adec="http://schemas.microsoft.com/office/drawing/2017/decorative" val="1"/>
              </a:ext>
            </a:extLst>
          </p:cNvPr>
          <p:cNvSpPr/>
          <p:nvPr/>
        </p:nvSpPr>
        <p:spPr>
          <a:xfrm>
            <a:off x="1682496" y="5367528"/>
            <a:ext cx="164592" cy="301752"/>
          </a:xfrm>
          <a:prstGeom prst="rect">
            <a:avLst/>
          </a:prstGeom>
          <a:solidFill>
            <a:srgbClr val="1E6E4B"/>
          </a:solidFill>
          <a:ln w="12700">
            <a:solidFill>
              <a:srgbClr val="333333"/>
            </a:solidFill>
            <a:prstDash val="solid"/>
          </a:ln>
        </p:spPr>
        <p:txBody>
          <a:bodyPr/>
          <a:lstStyle/>
          <a:p>
            <a:endParaRPr lang="en-SE"/>
          </a:p>
        </p:txBody>
      </p:sp>
      <p:sp>
        <p:nvSpPr>
          <p:cNvPr id="35" name="ticker bar">
            <a:extLst>
              <a:ext uri="{C183D7F6-B498-43B3-948B-1728B52AA6E4}">
                <adec:decorative xmlns:adec="http://schemas.microsoft.com/office/drawing/2017/decorative" val="1"/>
              </a:ext>
            </a:extLst>
          </p:cNvPr>
          <p:cNvSpPr/>
          <p:nvPr/>
        </p:nvSpPr>
        <p:spPr>
          <a:xfrm>
            <a:off x="1993392" y="5449824"/>
            <a:ext cx="164592" cy="219456"/>
          </a:xfrm>
          <a:prstGeom prst="rect">
            <a:avLst/>
          </a:prstGeom>
          <a:solidFill>
            <a:srgbClr val="1E6E4B"/>
          </a:solidFill>
          <a:ln w="12700">
            <a:solidFill>
              <a:srgbClr val="333333"/>
            </a:solidFill>
            <a:prstDash val="solid"/>
          </a:ln>
        </p:spPr>
        <p:txBody>
          <a:bodyPr/>
          <a:lstStyle/>
          <a:p>
            <a:endParaRPr lang="en-SE"/>
          </a:p>
        </p:txBody>
      </p:sp>
      <p:sp>
        <p:nvSpPr>
          <p:cNvPr id="36" name="ticker bar">
            <a:extLst>
              <a:ext uri="{C183D7F6-B498-43B3-948B-1728B52AA6E4}">
                <adec:decorative xmlns:adec="http://schemas.microsoft.com/office/drawing/2017/decorative" val="1"/>
              </a:ext>
            </a:extLst>
          </p:cNvPr>
          <p:cNvSpPr/>
          <p:nvPr/>
        </p:nvSpPr>
        <p:spPr>
          <a:xfrm>
            <a:off x="2304288" y="5230368"/>
            <a:ext cx="164592" cy="438912"/>
          </a:xfrm>
          <a:prstGeom prst="rect">
            <a:avLst/>
          </a:prstGeom>
          <a:solidFill>
            <a:srgbClr val="1E6E4B"/>
          </a:solidFill>
          <a:ln w="12700">
            <a:solidFill>
              <a:srgbClr val="333333"/>
            </a:solidFill>
            <a:prstDash val="solid"/>
          </a:ln>
        </p:spPr>
        <p:txBody>
          <a:bodyPr/>
          <a:lstStyle/>
          <a:p>
            <a:endParaRPr lang="en-SE"/>
          </a:p>
        </p:txBody>
      </p:sp>
      <p:sp>
        <p:nvSpPr>
          <p:cNvPr id="37" name="ticker bar">
            <a:extLst>
              <a:ext uri="{C183D7F6-B498-43B3-948B-1728B52AA6E4}">
                <adec:decorative xmlns:adec="http://schemas.microsoft.com/office/drawing/2017/decorative" val="1"/>
              </a:ext>
            </a:extLst>
          </p:cNvPr>
          <p:cNvSpPr/>
          <p:nvPr/>
        </p:nvSpPr>
        <p:spPr>
          <a:xfrm>
            <a:off x="2615184" y="5340096"/>
            <a:ext cx="164592" cy="329184"/>
          </a:xfrm>
          <a:prstGeom prst="rect">
            <a:avLst/>
          </a:prstGeom>
          <a:solidFill>
            <a:srgbClr val="1E6E4B"/>
          </a:solidFill>
          <a:ln w="12700">
            <a:solidFill>
              <a:srgbClr val="333333"/>
            </a:solidFill>
            <a:prstDash val="solid"/>
          </a:ln>
        </p:spPr>
        <p:txBody>
          <a:bodyPr/>
          <a:lstStyle/>
          <a:p>
            <a:endParaRPr lang="en-SE"/>
          </a:p>
        </p:txBody>
      </p:sp>
      <p:sp>
        <p:nvSpPr>
          <p:cNvPr id="38" name="ticker bar">
            <a:extLst>
              <a:ext uri="{C183D7F6-B498-43B3-948B-1728B52AA6E4}">
                <adec:decorative xmlns:adec="http://schemas.microsoft.com/office/drawing/2017/decorative" val="1"/>
              </a:ext>
            </a:extLst>
          </p:cNvPr>
          <p:cNvSpPr/>
          <p:nvPr/>
        </p:nvSpPr>
        <p:spPr>
          <a:xfrm>
            <a:off x="2926080" y="5120640"/>
            <a:ext cx="164592" cy="548640"/>
          </a:xfrm>
          <a:prstGeom prst="rect">
            <a:avLst/>
          </a:prstGeom>
          <a:solidFill>
            <a:srgbClr val="1E6E4B"/>
          </a:solidFill>
          <a:ln w="12700">
            <a:solidFill>
              <a:srgbClr val="333333"/>
            </a:solidFill>
            <a:prstDash val="solid"/>
          </a:ln>
        </p:spPr>
        <p:txBody>
          <a:bodyPr/>
          <a:lstStyle/>
          <a:p>
            <a:endParaRPr lang="en-SE"/>
          </a:p>
        </p:txBody>
      </p:sp>
      <p:sp>
        <p:nvSpPr>
          <p:cNvPr id="39" name="ticker bar">
            <a:extLst>
              <a:ext uri="{C183D7F6-B498-43B3-948B-1728B52AA6E4}">
                <adec:decorative xmlns:adec="http://schemas.microsoft.com/office/drawing/2017/decorative" val="1"/>
              </a:ext>
            </a:extLst>
          </p:cNvPr>
          <p:cNvSpPr/>
          <p:nvPr/>
        </p:nvSpPr>
        <p:spPr>
          <a:xfrm>
            <a:off x="3236976" y="5257800"/>
            <a:ext cx="164592" cy="411480"/>
          </a:xfrm>
          <a:prstGeom prst="rect">
            <a:avLst/>
          </a:prstGeom>
          <a:solidFill>
            <a:srgbClr val="1E6E4B"/>
          </a:solidFill>
          <a:ln w="12700">
            <a:solidFill>
              <a:srgbClr val="333333"/>
            </a:solidFill>
            <a:prstDash val="solid"/>
          </a:ln>
        </p:spPr>
        <p:txBody>
          <a:bodyPr/>
          <a:lstStyle/>
          <a:p>
            <a:endParaRPr lang="en-SE"/>
          </a:p>
        </p:txBody>
      </p:sp>
      <p:sp>
        <p:nvSpPr>
          <p:cNvPr id="40" name="ticker bar">
            <a:extLst>
              <a:ext uri="{C183D7F6-B498-43B3-948B-1728B52AA6E4}">
                <adec:decorative xmlns:adec="http://schemas.microsoft.com/office/drawing/2017/decorative" val="1"/>
              </a:ext>
            </a:extLst>
          </p:cNvPr>
          <p:cNvSpPr/>
          <p:nvPr/>
        </p:nvSpPr>
        <p:spPr>
          <a:xfrm>
            <a:off x="3547872" y="5010912"/>
            <a:ext cx="164592" cy="658368"/>
          </a:xfrm>
          <a:prstGeom prst="rect">
            <a:avLst/>
          </a:prstGeom>
          <a:solidFill>
            <a:srgbClr val="3FE08A"/>
          </a:solidFill>
          <a:ln w="12700">
            <a:solidFill>
              <a:srgbClr val="333333"/>
            </a:solidFill>
            <a:prstDash val="solid"/>
          </a:ln>
        </p:spPr>
        <p:txBody>
          <a:bodyPr/>
          <a:lstStyle/>
          <a:p>
            <a:endParaRPr lang="en-SE"/>
          </a:p>
        </p:txBody>
      </p:sp>
      <p:sp>
        <p:nvSpPr>
          <p:cNvPr id="41" name="ticker bar">
            <a:extLst>
              <a:ext uri="{C183D7F6-B498-43B3-948B-1728B52AA6E4}">
                <adec:decorative xmlns:adec="http://schemas.microsoft.com/office/drawing/2017/decorative" val="1"/>
              </a:ext>
            </a:extLst>
          </p:cNvPr>
          <p:cNvSpPr/>
          <p:nvPr/>
        </p:nvSpPr>
        <p:spPr>
          <a:xfrm>
            <a:off x="3858768" y="5148072"/>
            <a:ext cx="164592" cy="521208"/>
          </a:xfrm>
          <a:prstGeom prst="rect">
            <a:avLst/>
          </a:prstGeom>
          <a:solidFill>
            <a:srgbClr val="3FE08A"/>
          </a:solidFill>
          <a:ln w="12700">
            <a:solidFill>
              <a:srgbClr val="333333"/>
            </a:solidFill>
            <a:prstDash val="solid"/>
          </a:ln>
        </p:spPr>
        <p:txBody>
          <a:bodyPr/>
          <a:lstStyle/>
          <a:p>
            <a:endParaRPr lang="en-SE"/>
          </a:p>
        </p:txBody>
      </p:sp>
      <p:sp>
        <p:nvSpPr>
          <p:cNvPr id="42" name="ticker bar">
            <a:extLst>
              <a:ext uri="{C183D7F6-B498-43B3-948B-1728B52AA6E4}">
                <adec:decorative xmlns:adec="http://schemas.microsoft.com/office/drawing/2017/decorative" val="1"/>
              </a:ext>
            </a:extLst>
          </p:cNvPr>
          <p:cNvSpPr/>
          <p:nvPr/>
        </p:nvSpPr>
        <p:spPr>
          <a:xfrm>
            <a:off x="4169664" y="4928616"/>
            <a:ext cx="164592" cy="740664"/>
          </a:xfrm>
          <a:prstGeom prst="rect">
            <a:avLst/>
          </a:prstGeom>
          <a:solidFill>
            <a:srgbClr val="3FE08A"/>
          </a:solidFill>
          <a:ln w="12700">
            <a:solidFill>
              <a:srgbClr val="333333"/>
            </a:solidFill>
            <a:prstDash val="solid"/>
          </a:ln>
        </p:spPr>
        <p:txBody>
          <a:bodyPr/>
          <a:lstStyle/>
          <a:p>
            <a:endParaRPr lang="en-SE"/>
          </a:p>
        </p:txBody>
      </p:sp>
      <p:sp>
        <p:nvSpPr>
          <p:cNvPr id="43"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44"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45" name="Text 43"/>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46" name="Text 44"/>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47" name="Text 45"/>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The app shell: everything lives inside this frame</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03 · SCREENS</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13</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A top bar for navigation and status, the view in the middle, and a status strip along the bottom.</a:t>
            </a:r>
            <a:endParaRPr lang="en-US" sz="1400" dirty="0"/>
          </a:p>
        </p:txBody>
      </p:sp>
      <p:sp>
        <p:nvSpPr>
          <p:cNvPr id="38" name="interface mock frame">
            <a:extLst>
              <a:ext uri="{C183D7F6-B498-43B3-948B-1728B52AA6E4}">
                <adec:decorative xmlns:adec="http://schemas.microsoft.com/office/drawing/2017/decorative" val="1"/>
              </a:ext>
            </a:extLst>
          </p:cNvPr>
          <p:cNvSpPr/>
          <p:nvPr/>
        </p:nvSpPr>
        <p:spPr>
          <a:xfrm>
            <a:off x="566928" y="1965960"/>
            <a:ext cx="6309360" cy="3108960"/>
          </a:xfrm>
          <a:prstGeom prst="rect">
            <a:avLst/>
          </a:prstGeom>
          <a:solidFill>
            <a:srgbClr val="191E23"/>
          </a:solidFill>
          <a:ln w="15875">
            <a:solidFill>
              <a:srgbClr val="313B44"/>
            </a:solidFill>
            <a:prstDash val="solid"/>
          </a:ln>
        </p:spPr>
        <p:txBody>
          <a:bodyPr/>
          <a:lstStyle/>
          <a:p>
            <a:endParaRPr lang="en-SE" sz="2000"/>
          </a:p>
        </p:txBody>
      </p:sp>
      <p:sp>
        <p:nvSpPr>
          <p:cNvPr id="39" name="mock top bar">
            <a:extLst>
              <a:ext uri="{C183D7F6-B498-43B3-948B-1728B52AA6E4}">
                <adec:decorative xmlns:adec="http://schemas.microsoft.com/office/drawing/2017/decorative" val="1"/>
              </a:ext>
            </a:extLst>
          </p:cNvPr>
          <p:cNvSpPr/>
          <p:nvPr/>
        </p:nvSpPr>
        <p:spPr>
          <a:xfrm>
            <a:off x="566928" y="1965960"/>
            <a:ext cx="6309360" cy="420624"/>
          </a:xfrm>
          <a:prstGeom prst="rect">
            <a:avLst/>
          </a:prstGeom>
          <a:solidFill>
            <a:srgbClr val="20272D"/>
          </a:solidFill>
          <a:ln w="12700">
            <a:solidFill>
              <a:srgbClr val="333333"/>
            </a:solidFill>
            <a:prstDash val="solid"/>
          </a:ln>
        </p:spPr>
        <p:txBody>
          <a:bodyPr/>
          <a:lstStyle/>
          <a:p>
            <a:endParaRPr lang="en-SE" sz="2000"/>
          </a:p>
        </p:txBody>
      </p:sp>
      <p:sp>
        <p:nvSpPr>
          <p:cNvPr id="40" name="Text 38"/>
          <p:cNvSpPr/>
          <p:nvPr/>
        </p:nvSpPr>
        <p:spPr>
          <a:xfrm>
            <a:off x="694944" y="1965960"/>
            <a:ext cx="914400" cy="420624"/>
          </a:xfrm>
          <a:prstGeom prst="rect">
            <a:avLst/>
          </a:prstGeom>
          <a:noFill/>
          <a:ln/>
        </p:spPr>
        <p:txBody>
          <a:bodyPr wrap="square" lIns="0" tIns="0" rIns="0" bIns="0" rtlCol="0" anchor="ctr"/>
          <a:lstStyle/>
          <a:p>
            <a:pPr marL="0" indent="0">
              <a:buNone/>
            </a:pPr>
            <a:r>
              <a:rPr lang="en-US" sz="1000" b="1" dirty="0">
                <a:solidFill>
                  <a:srgbClr val="3FE08A"/>
                </a:solidFill>
                <a:latin typeface="Consolas" pitchFamily="34" charset="0"/>
                <a:ea typeface="Consolas" pitchFamily="34" charset="-122"/>
                <a:cs typeface="Consolas" pitchFamily="34" charset="-120"/>
              </a:rPr>
              <a:t>TapeDeck</a:t>
            </a:r>
            <a:endParaRPr lang="en-US" sz="1000" dirty="0"/>
          </a:p>
        </p:txBody>
      </p:sp>
      <p:sp>
        <p:nvSpPr>
          <p:cNvPr id="41" name="active tab underline">
            <a:extLst>
              <a:ext uri="{C183D7F6-B498-43B3-948B-1728B52AA6E4}">
                <adec:decorative xmlns:adec="http://schemas.microsoft.com/office/drawing/2017/decorative" val="1"/>
              </a:ext>
            </a:extLst>
          </p:cNvPr>
          <p:cNvSpPr/>
          <p:nvPr/>
        </p:nvSpPr>
        <p:spPr>
          <a:xfrm>
            <a:off x="1572768" y="2295144"/>
            <a:ext cx="621792" cy="32004"/>
          </a:xfrm>
          <a:prstGeom prst="rect">
            <a:avLst/>
          </a:prstGeom>
          <a:solidFill>
            <a:srgbClr val="3FE08A"/>
          </a:solidFill>
          <a:ln w="12700">
            <a:solidFill>
              <a:srgbClr val="333333"/>
            </a:solidFill>
            <a:prstDash val="solid"/>
          </a:ln>
        </p:spPr>
        <p:txBody>
          <a:bodyPr/>
          <a:lstStyle/>
          <a:p>
            <a:endParaRPr lang="en-SE" sz="2000"/>
          </a:p>
        </p:txBody>
      </p:sp>
      <p:sp>
        <p:nvSpPr>
          <p:cNvPr id="42" name="Text 40"/>
          <p:cNvSpPr/>
          <p:nvPr/>
        </p:nvSpPr>
        <p:spPr>
          <a:xfrm>
            <a:off x="1572768" y="1965960"/>
            <a:ext cx="621792" cy="384048"/>
          </a:xfrm>
          <a:prstGeom prst="rect">
            <a:avLst/>
          </a:prstGeom>
          <a:noFill/>
          <a:ln/>
        </p:spPr>
        <p:txBody>
          <a:bodyPr wrap="square" lIns="0" tIns="0" rIns="0" bIns="0" rtlCol="0" anchor="ctr"/>
          <a:lstStyle/>
          <a:p>
            <a:pPr marL="0" indent="0" algn="ctr">
              <a:buNone/>
            </a:pPr>
            <a:r>
              <a:rPr lang="en-US" sz="800" dirty="0">
                <a:solidFill>
                  <a:srgbClr val="3FE08A"/>
                </a:solidFill>
                <a:latin typeface="Segoe UI" pitchFamily="34" charset="0"/>
                <a:ea typeface="Segoe UI" pitchFamily="34" charset="-122"/>
                <a:cs typeface="Segoe UI" pitchFamily="34" charset="-120"/>
              </a:rPr>
              <a:t>Overview</a:t>
            </a:r>
            <a:endParaRPr lang="en-US" sz="800" dirty="0"/>
          </a:p>
        </p:txBody>
      </p:sp>
      <p:sp>
        <p:nvSpPr>
          <p:cNvPr id="43" name="Text 41"/>
          <p:cNvSpPr/>
          <p:nvPr/>
        </p:nvSpPr>
        <p:spPr>
          <a:xfrm>
            <a:off x="2231136" y="1965960"/>
            <a:ext cx="621792" cy="384048"/>
          </a:xfrm>
          <a:prstGeom prst="rect">
            <a:avLst/>
          </a:prstGeom>
          <a:noFill/>
          <a:ln/>
        </p:spPr>
        <p:txBody>
          <a:bodyPr wrap="square" lIns="0" tIns="0" rIns="0" bIns="0" rtlCol="0" anchor="ctr"/>
          <a:lstStyle/>
          <a:p>
            <a:pPr marL="0" indent="0" algn="ctr">
              <a:buNone/>
            </a:pPr>
            <a:r>
              <a:rPr lang="en-US" sz="800" dirty="0">
                <a:solidFill>
                  <a:srgbClr val="AAB7C2"/>
                </a:solidFill>
                <a:latin typeface="Segoe UI" pitchFamily="34" charset="0"/>
                <a:ea typeface="Segoe UI" pitchFamily="34" charset="-122"/>
                <a:cs typeface="Segoe UI" pitchFamily="34" charset="-120"/>
              </a:rPr>
              <a:t>Symbol</a:t>
            </a:r>
            <a:endParaRPr lang="en-US" sz="800" dirty="0"/>
          </a:p>
        </p:txBody>
      </p:sp>
      <p:sp>
        <p:nvSpPr>
          <p:cNvPr id="44" name="Text 42"/>
          <p:cNvSpPr/>
          <p:nvPr/>
        </p:nvSpPr>
        <p:spPr>
          <a:xfrm>
            <a:off x="2889504" y="1965960"/>
            <a:ext cx="621792" cy="384048"/>
          </a:xfrm>
          <a:prstGeom prst="rect">
            <a:avLst/>
          </a:prstGeom>
          <a:noFill/>
          <a:ln/>
        </p:spPr>
        <p:txBody>
          <a:bodyPr wrap="square" lIns="0" tIns="0" rIns="0" bIns="0" rtlCol="0" anchor="ctr"/>
          <a:lstStyle/>
          <a:p>
            <a:pPr marL="0" indent="0" algn="ctr">
              <a:buNone/>
            </a:pPr>
            <a:r>
              <a:rPr lang="en-US" sz="800" dirty="0">
                <a:solidFill>
                  <a:srgbClr val="AAB7C2"/>
                </a:solidFill>
                <a:latin typeface="Segoe UI" pitchFamily="34" charset="0"/>
                <a:ea typeface="Segoe UI" pitchFamily="34" charset="-122"/>
                <a:cs typeface="Segoe UI" pitchFamily="34" charset="-120"/>
              </a:rPr>
              <a:t>Index</a:t>
            </a:r>
            <a:endParaRPr lang="en-US" sz="800" dirty="0"/>
          </a:p>
        </p:txBody>
      </p:sp>
      <p:sp>
        <p:nvSpPr>
          <p:cNvPr id="45" name="Text 43"/>
          <p:cNvSpPr/>
          <p:nvPr/>
        </p:nvSpPr>
        <p:spPr>
          <a:xfrm>
            <a:off x="3547872" y="1965960"/>
            <a:ext cx="621792" cy="384048"/>
          </a:xfrm>
          <a:prstGeom prst="rect">
            <a:avLst/>
          </a:prstGeom>
          <a:noFill/>
          <a:ln/>
        </p:spPr>
        <p:txBody>
          <a:bodyPr wrap="square" lIns="0" tIns="0" rIns="0" bIns="0" rtlCol="0" anchor="ctr"/>
          <a:lstStyle/>
          <a:p>
            <a:pPr marL="0" indent="0" algn="ctr">
              <a:buNone/>
            </a:pPr>
            <a:r>
              <a:rPr lang="en-US" sz="800" dirty="0">
                <a:solidFill>
                  <a:srgbClr val="AAB7C2"/>
                </a:solidFill>
                <a:latin typeface="Segoe UI" pitchFamily="34" charset="0"/>
                <a:ea typeface="Segoe UI" pitchFamily="34" charset="-122"/>
                <a:cs typeface="Segoe UI" pitchFamily="34" charset="-120"/>
              </a:rPr>
              <a:t>Tape</a:t>
            </a:r>
            <a:endParaRPr lang="en-US" sz="800" dirty="0"/>
          </a:p>
        </p:txBody>
      </p:sp>
      <p:sp>
        <p:nvSpPr>
          <p:cNvPr id="46" name="Text 44"/>
          <p:cNvSpPr/>
          <p:nvPr/>
        </p:nvSpPr>
        <p:spPr>
          <a:xfrm>
            <a:off x="4206240" y="1965960"/>
            <a:ext cx="621792" cy="384048"/>
          </a:xfrm>
          <a:prstGeom prst="rect">
            <a:avLst/>
          </a:prstGeom>
          <a:noFill/>
          <a:ln/>
        </p:spPr>
        <p:txBody>
          <a:bodyPr wrap="square" lIns="0" tIns="0" rIns="0" bIns="0" rtlCol="0" anchor="ctr"/>
          <a:lstStyle/>
          <a:p>
            <a:pPr marL="0" indent="0" algn="ctr">
              <a:buNone/>
            </a:pPr>
            <a:r>
              <a:rPr lang="en-US" sz="800" dirty="0">
                <a:solidFill>
                  <a:srgbClr val="AAB7C2"/>
                </a:solidFill>
                <a:latin typeface="Segoe UI" pitchFamily="34" charset="0"/>
                <a:ea typeface="Segoe UI" pitchFamily="34" charset="-122"/>
                <a:cs typeface="Segoe UI" pitchFamily="34" charset="-120"/>
              </a:rPr>
              <a:t>Movers</a:t>
            </a:r>
            <a:endParaRPr lang="en-US" sz="800" dirty="0"/>
          </a:p>
        </p:txBody>
      </p:sp>
      <p:sp>
        <p:nvSpPr>
          <p:cNvPr id="47" name="Text 45"/>
          <p:cNvSpPr/>
          <p:nvPr/>
        </p:nvSpPr>
        <p:spPr>
          <a:xfrm>
            <a:off x="4864608" y="1965960"/>
            <a:ext cx="621792" cy="384048"/>
          </a:xfrm>
          <a:prstGeom prst="rect">
            <a:avLst/>
          </a:prstGeom>
          <a:noFill/>
          <a:ln/>
        </p:spPr>
        <p:txBody>
          <a:bodyPr wrap="square" lIns="0" tIns="0" rIns="0" bIns="0" rtlCol="0" anchor="ctr"/>
          <a:lstStyle/>
          <a:p>
            <a:pPr marL="0" indent="0" algn="ctr">
              <a:buNone/>
            </a:pPr>
            <a:r>
              <a:rPr lang="en-US" sz="800" dirty="0">
                <a:solidFill>
                  <a:srgbClr val="AAB7C2"/>
                </a:solidFill>
                <a:latin typeface="Segoe UI" pitchFamily="34" charset="0"/>
                <a:ea typeface="Segoe UI" pitchFamily="34" charset="-122"/>
                <a:cs typeface="Segoe UI" pitchFamily="34" charset="-120"/>
              </a:rPr>
              <a:t>Session</a:t>
            </a:r>
            <a:endParaRPr lang="en-US" sz="800" dirty="0"/>
          </a:p>
        </p:txBody>
      </p:sp>
      <p:sp>
        <p:nvSpPr>
          <p:cNvPr id="48" name="Text 46"/>
          <p:cNvSpPr/>
          <p:nvPr/>
        </p:nvSpPr>
        <p:spPr>
          <a:xfrm>
            <a:off x="5458968" y="1965960"/>
            <a:ext cx="548640" cy="420624"/>
          </a:xfrm>
          <a:prstGeom prst="rect">
            <a:avLst/>
          </a:prstGeom>
          <a:noFill/>
          <a:ln/>
        </p:spPr>
        <p:txBody>
          <a:bodyPr wrap="square" lIns="0" tIns="0" rIns="0" bIns="0" rtlCol="0" anchor="ctr"/>
          <a:lstStyle/>
          <a:p>
            <a:pPr marL="0" indent="0">
              <a:buNone/>
            </a:pPr>
            <a:r>
              <a:rPr lang="en-US" sz="1000" dirty="0">
                <a:solidFill>
                  <a:srgbClr val="AAB7C2"/>
                </a:solidFill>
                <a:latin typeface="Segoe UI" pitchFamily="34" charset="0"/>
                <a:ea typeface="Segoe UI" pitchFamily="34" charset="-122"/>
                <a:cs typeface="Segoe UI" pitchFamily="34" charset="-120"/>
              </a:rPr>
              <a:t>⌗  ☾</a:t>
            </a:r>
            <a:endParaRPr lang="en-US" sz="1000" dirty="0"/>
          </a:p>
        </p:txBody>
      </p:sp>
      <p:sp>
        <p:nvSpPr>
          <p:cNvPr id="49" name="badge background">
            <a:extLst>
              <a:ext uri="{C183D7F6-B498-43B3-948B-1728B52AA6E4}">
                <adec:decorative xmlns:adec="http://schemas.microsoft.com/office/drawing/2017/decorative" val="1"/>
              </a:ext>
            </a:extLst>
          </p:cNvPr>
          <p:cNvSpPr/>
          <p:nvPr/>
        </p:nvSpPr>
        <p:spPr>
          <a:xfrm>
            <a:off x="6053328" y="2066544"/>
            <a:ext cx="713232" cy="219456"/>
          </a:xfrm>
          <a:prstGeom prst="roundRect">
            <a:avLst>
              <a:gd name="adj" fmla="val 37500"/>
            </a:avLst>
          </a:prstGeom>
          <a:solidFill>
            <a:srgbClr val="122C22"/>
          </a:solidFill>
          <a:ln w="12700">
            <a:solidFill>
              <a:srgbClr val="333333"/>
            </a:solidFill>
            <a:prstDash val="solid"/>
          </a:ln>
        </p:spPr>
        <p:txBody>
          <a:bodyPr/>
          <a:lstStyle/>
          <a:p>
            <a:endParaRPr lang="en-SE" sz="2000"/>
          </a:p>
        </p:txBody>
      </p:sp>
      <p:sp>
        <p:nvSpPr>
          <p:cNvPr id="50" name="Text 48"/>
          <p:cNvSpPr/>
          <p:nvPr/>
        </p:nvSpPr>
        <p:spPr>
          <a:xfrm>
            <a:off x="6053328" y="2066544"/>
            <a:ext cx="713232" cy="219456"/>
          </a:xfrm>
          <a:prstGeom prst="rect">
            <a:avLst/>
          </a:prstGeom>
          <a:noFill/>
          <a:ln/>
        </p:spPr>
        <p:txBody>
          <a:bodyPr wrap="square" lIns="0" tIns="0" rIns="0" bIns="0" rtlCol="0" anchor="ctr"/>
          <a:lstStyle/>
          <a:p>
            <a:pPr marL="0" indent="0" algn="ctr">
              <a:buNone/>
            </a:pPr>
            <a:r>
              <a:rPr lang="en-US" sz="1050" b="1" kern="0" spc="80" dirty="0">
                <a:solidFill>
                  <a:srgbClr val="3FE08A"/>
                </a:solidFill>
                <a:latin typeface="Consolas" pitchFamily="34" charset="0"/>
                <a:ea typeface="Consolas" pitchFamily="34" charset="-122"/>
                <a:cs typeface="Consolas" pitchFamily="34" charset="-120"/>
              </a:rPr>
              <a:t>LIVE</a:t>
            </a:r>
            <a:endParaRPr lang="en-US" sz="1050" dirty="0"/>
          </a:p>
        </p:txBody>
      </p:sp>
      <p:sp>
        <p:nvSpPr>
          <p:cNvPr id="51" name="mock data row">
            <a:extLst>
              <a:ext uri="{C183D7F6-B498-43B3-948B-1728B52AA6E4}">
                <adec:decorative xmlns:adec="http://schemas.microsoft.com/office/drawing/2017/decorative" val="1"/>
              </a:ext>
            </a:extLst>
          </p:cNvPr>
          <p:cNvSpPr/>
          <p:nvPr/>
        </p:nvSpPr>
        <p:spPr>
          <a:xfrm>
            <a:off x="694944" y="2532888"/>
            <a:ext cx="6053328" cy="173736"/>
          </a:xfrm>
          <a:prstGeom prst="rect">
            <a:avLst/>
          </a:prstGeom>
          <a:solidFill>
            <a:srgbClr val="273037"/>
          </a:solidFill>
          <a:ln w="12700">
            <a:solidFill>
              <a:srgbClr val="333333"/>
            </a:solidFill>
            <a:prstDash val="solid"/>
          </a:ln>
        </p:spPr>
        <p:txBody>
          <a:bodyPr/>
          <a:lstStyle/>
          <a:p>
            <a:endParaRPr lang="en-SE" sz="2000"/>
          </a:p>
        </p:txBody>
      </p:sp>
      <p:sp>
        <p:nvSpPr>
          <p:cNvPr id="52" name="mock data row">
            <a:extLst>
              <a:ext uri="{C183D7F6-B498-43B3-948B-1728B52AA6E4}">
                <adec:decorative xmlns:adec="http://schemas.microsoft.com/office/drawing/2017/decorative" val="1"/>
              </a:ext>
            </a:extLst>
          </p:cNvPr>
          <p:cNvSpPr/>
          <p:nvPr/>
        </p:nvSpPr>
        <p:spPr>
          <a:xfrm>
            <a:off x="694944" y="2770632"/>
            <a:ext cx="6053328" cy="173736"/>
          </a:xfrm>
          <a:prstGeom prst="rect">
            <a:avLst/>
          </a:prstGeom>
          <a:solidFill>
            <a:srgbClr val="13171B"/>
          </a:solidFill>
          <a:ln w="12700">
            <a:solidFill>
              <a:srgbClr val="333333"/>
            </a:solidFill>
            <a:prstDash val="solid"/>
          </a:ln>
        </p:spPr>
        <p:txBody>
          <a:bodyPr/>
          <a:lstStyle/>
          <a:p>
            <a:endParaRPr lang="en-SE" sz="2000"/>
          </a:p>
        </p:txBody>
      </p:sp>
      <p:sp>
        <p:nvSpPr>
          <p:cNvPr id="53" name="mock data row">
            <a:extLst>
              <a:ext uri="{C183D7F6-B498-43B3-948B-1728B52AA6E4}">
                <adec:decorative xmlns:adec="http://schemas.microsoft.com/office/drawing/2017/decorative" val="1"/>
              </a:ext>
            </a:extLst>
          </p:cNvPr>
          <p:cNvSpPr/>
          <p:nvPr/>
        </p:nvSpPr>
        <p:spPr>
          <a:xfrm>
            <a:off x="694944" y="3008376"/>
            <a:ext cx="6053328" cy="173736"/>
          </a:xfrm>
          <a:prstGeom prst="rect">
            <a:avLst/>
          </a:prstGeom>
          <a:solidFill>
            <a:srgbClr val="273037"/>
          </a:solidFill>
          <a:ln w="12700">
            <a:solidFill>
              <a:srgbClr val="333333"/>
            </a:solidFill>
            <a:prstDash val="solid"/>
          </a:ln>
        </p:spPr>
        <p:txBody>
          <a:bodyPr/>
          <a:lstStyle/>
          <a:p>
            <a:endParaRPr lang="en-SE" sz="2000"/>
          </a:p>
        </p:txBody>
      </p:sp>
      <p:sp>
        <p:nvSpPr>
          <p:cNvPr id="54" name="mock data row">
            <a:extLst>
              <a:ext uri="{C183D7F6-B498-43B3-948B-1728B52AA6E4}">
                <adec:decorative xmlns:adec="http://schemas.microsoft.com/office/drawing/2017/decorative" val="1"/>
              </a:ext>
            </a:extLst>
          </p:cNvPr>
          <p:cNvSpPr/>
          <p:nvPr/>
        </p:nvSpPr>
        <p:spPr>
          <a:xfrm>
            <a:off x="694944" y="3246120"/>
            <a:ext cx="6053328" cy="173736"/>
          </a:xfrm>
          <a:prstGeom prst="rect">
            <a:avLst/>
          </a:prstGeom>
          <a:solidFill>
            <a:srgbClr val="13171B"/>
          </a:solidFill>
          <a:ln w="12700">
            <a:solidFill>
              <a:srgbClr val="333333"/>
            </a:solidFill>
            <a:prstDash val="solid"/>
          </a:ln>
        </p:spPr>
        <p:txBody>
          <a:bodyPr/>
          <a:lstStyle/>
          <a:p>
            <a:endParaRPr lang="en-SE" sz="2000"/>
          </a:p>
        </p:txBody>
      </p:sp>
      <p:sp>
        <p:nvSpPr>
          <p:cNvPr id="55" name="mock data row">
            <a:extLst>
              <a:ext uri="{C183D7F6-B498-43B3-948B-1728B52AA6E4}">
                <adec:decorative xmlns:adec="http://schemas.microsoft.com/office/drawing/2017/decorative" val="1"/>
              </a:ext>
            </a:extLst>
          </p:cNvPr>
          <p:cNvSpPr/>
          <p:nvPr/>
        </p:nvSpPr>
        <p:spPr>
          <a:xfrm>
            <a:off x="694944" y="3483864"/>
            <a:ext cx="6053328" cy="173736"/>
          </a:xfrm>
          <a:prstGeom prst="rect">
            <a:avLst/>
          </a:prstGeom>
          <a:solidFill>
            <a:srgbClr val="273037"/>
          </a:solidFill>
          <a:ln w="12700">
            <a:solidFill>
              <a:srgbClr val="333333"/>
            </a:solidFill>
            <a:prstDash val="solid"/>
          </a:ln>
        </p:spPr>
        <p:txBody>
          <a:bodyPr/>
          <a:lstStyle/>
          <a:p>
            <a:endParaRPr lang="en-SE" sz="2000"/>
          </a:p>
        </p:txBody>
      </p:sp>
      <p:sp>
        <p:nvSpPr>
          <p:cNvPr id="56" name="mock data row">
            <a:extLst>
              <a:ext uri="{C183D7F6-B498-43B3-948B-1728B52AA6E4}">
                <adec:decorative xmlns:adec="http://schemas.microsoft.com/office/drawing/2017/decorative" val="1"/>
              </a:ext>
            </a:extLst>
          </p:cNvPr>
          <p:cNvSpPr/>
          <p:nvPr/>
        </p:nvSpPr>
        <p:spPr>
          <a:xfrm>
            <a:off x="694944" y="3721608"/>
            <a:ext cx="6053328" cy="173736"/>
          </a:xfrm>
          <a:prstGeom prst="rect">
            <a:avLst/>
          </a:prstGeom>
          <a:solidFill>
            <a:srgbClr val="13171B"/>
          </a:solidFill>
          <a:ln w="12700">
            <a:solidFill>
              <a:srgbClr val="333333"/>
            </a:solidFill>
            <a:prstDash val="solid"/>
          </a:ln>
        </p:spPr>
        <p:txBody>
          <a:bodyPr/>
          <a:lstStyle/>
          <a:p>
            <a:endParaRPr lang="en-SE" sz="2000"/>
          </a:p>
        </p:txBody>
      </p:sp>
      <p:sp>
        <p:nvSpPr>
          <p:cNvPr id="57" name="mock data row">
            <a:extLst>
              <a:ext uri="{C183D7F6-B498-43B3-948B-1728B52AA6E4}">
                <adec:decorative xmlns:adec="http://schemas.microsoft.com/office/drawing/2017/decorative" val="1"/>
              </a:ext>
            </a:extLst>
          </p:cNvPr>
          <p:cNvSpPr/>
          <p:nvPr/>
        </p:nvSpPr>
        <p:spPr>
          <a:xfrm>
            <a:off x="694944" y="3959352"/>
            <a:ext cx="6053328" cy="173736"/>
          </a:xfrm>
          <a:prstGeom prst="rect">
            <a:avLst/>
          </a:prstGeom>
          <a:solidFill>
            <a:srgbClr val="273037"/>
          </a:solidFill>
          <a:ln w="12700">
            <a:solidFill>
              <a:srgbClr val="333333"/>
            </a:solidFill>
            <a:prstDash val="solid"/>
          </a:ln>
        </p:spPr>
        <p:txBody>
          <a:bodyPr/>
          <a:lstStyle/>
          <a:p>
            <a:endParaRPr lang="en-SE" sz="2000"/>
          </a:p>
        </p:txBody>
      </p:sp>
      <p:sp>
        <p:nvSpPr>
          <p:cNvPr id="58" name="mock data row">
            <a:extLst>
              <a:ext uri="{C183D7F6-B498-43B3-948B-1728B52AA6E4}">
                <adec:decorative xmlns:adec="http://schemas.microsoft.com/office/drawing/2017/decorative" val="1"/>
              </a:ext>
            </a:extLst>
          </p:cNvPr>
          <p:cNvSpPr/>
          <p:nvPr/>
        </p:nvSpPr>
        <p:spPr>
          <a:xfrm>
            <a:off x="694944" y="4197096"/>
            <a:ext cx="6053328" cy="173736"/>
          </a:xfrm>
          <a:prstGeom prst="rect">
            <a:avLst/>
          </a:prstGeom>
          <a:solidFill>
            <a:srgbClr val="13171B"/>
          </a:solidFill>
          <a:ln w="12700">
            <a:solidFill>
              <a:srgbClr val="333333"/>
            </a:solidFill>
            <a:prstDash val="solid"/>
          </a:ln>
        </p:spPr>
        <p:txBody>
          <a:bodyPr/>
          <a:lstStyle/>
          <a:p>
            <a:endParaRPr lang="en-SE" sz="2000"/>
          </a:p>
        </p:txBody>
      </p:sp>
      <p:sp>
        <p:nvSpPr>
          <p:cNvPr id="59" name="mock data row">
            <a:extLst>
              <a:ext uri="{C183D7F6-B498-43B3-948B-1728B52AA6E4}">
                <adec:decorative xmlns:adec="http://schemas.microsoft.com/office/drawing/2017/decorative" val="1"/>
              </a:ext>
            </a:extLst>
          </p:cNvPr>
          <p:cNvSpPr/>
          <p:nvPr/>
        </p:nvSpPr>
        <p:spPr>
          <a:xfrm>
            <a:off x="694944" y="4434840"/>
            <a:ext cx="6053328" cy="173736"/>
          </a:xfrm>
          <a:prstGeom prst="rect">
            <a:avLst/>
          </a:prstGeom>
          <a:solidFill>
            <a:srgbClr val="273037"/>
          </a:solidFill>
          <a:ln w="12700">
            <a:solidFill>
              <a:srgbClr val="333333"/>
            </a:solidFill>
            <a:prstDash val="solid"/>
          </a:ln>
        </p:spPr>
        <p:txBody>
          <a:bodyPr/>
          <a:lstStyle/>
          <a:p>
            <a:endParaRPr lang="en-SE" sz="2000"/>
          </a:p>
        </p:txBody>
      </p:sp>
      <p:sp>
        <p:nvSpPr>
          <p:cNvPr id="60" name="mock status strip">
            <a:extLst>
              <a:ext uri="{C183D7F6-B498-43B3-948B-1728B52AA6E4}">
                <adec:decorative xmlns:adec="http://schemas.microsoft.com/office/drawing/2017/decorative" val="1"/>
              </a:ext>
            </a:extLst>
          </p:cNvPr>
          <p:cNvSpPr/>
          <p:nvPr/>
        </p:nvSpPr>
        <p:spPr>
          <a:xfrm>
            <a:off x="566928" y="4745736"/>
            <a:ext cx="6309360" cy="329184"/>
          </a:xfrm>
          <a:prstGeom prst="rect">
            <a:avLst/>
          </a:prstGeom>
          <a:solidFill>
            <a:srgbClr val="20272D"/>
          </a:solidFill>
          <a:ln w="12700">
            <a:solidFill>
              <a:srgbClr val="333333"/>
            </a:solidFill>
            <a:prstDash val="solid"/>
          </a:ln>
        </p:spPr>
        <p:txBody>
          <a:bodyPr/>
          <a:lstStyle/>
          <a:p>
            <a:endParaRPr lang="en-SE" sz="2000"/>
          </a:p>
        </p:txBody>
      </p:sp>
      <p:sp>
        <p:nvSpPr>
          <p:cNvPr id="61" name="Text 59"/>
          <p:cNvSpPr/>
          <p:nvPr/>
        </p:nvSpPr>
        <p:spPr>
          <a:xfrm>
            <a:off x="694944" y="4745736"/>
            <a:ext cx="6053328" cy="329184"/>
          </a:xfrm>
          <a:prstGeom prst="rect">
            <a:avLst/>
          </a:prstGeom>
          <a:noFill/>
          <a:ln/>
        </p:spPr>
        <p:txBody>
          <a:bodyPr wrap="square" lIns="0" tIns="0" rIns="0" bIns="0" rtlCol="0" anchor="ctr"/>
          <a:lstStyle/>
          <a:p>
            <a:pPr marL="0" indent="0">
              <a:buNone/>
            </a:pPr>
            <a:r>
              <a:rPr lang="en-US" sz="800" dirty="0">
                <a:solidFill>
                  <a:srgbClr val="AAB7C2"/>
                </a:solidFill>
                <a:latin typeface="Consolas" pitchFamily="34" charset="0"/>
                <a:ea typeface="Consolas" pitchFamily="34" charset="-122"/>
                <a:cs typeface="Consolas" pitchFamily="34" charset="-120"/>
              </a:rPr>
              <a:t>CONTINUOUS   ·   next phase 01:12:40   ·   2 halted   ·   120 symbols   ·   CALF connected   ·   tick age 0.4s   ·   13:07:22 UTC</a:t>
            </a:r>
            <a:endParaRPr lang="en-US" sz="800" dirty="0"/>
          </a:p>
        </p:txBody>
      </p:sp>
      <p:sp>
        <p:nvSpPr>
          <p:cNvPr id="62" name="annotation marker background">
            <a:extLst>
              <a:ext uri="{C183D7F6-B498-43B3-948B-1728B52AA6E4}">
                <adec:decorative xmlns:adec="http://schemas.microsoft.com/office/drawing/2017/decorative" val="1"/>
              </a:ext>
            </a:extLst>
          </p:cNvPr>
          <p:cNvSpPr/>
          <p:nvPr/>
        </p:nvSpPr>
        <p:spPr>
          <a:xfrm>
            <a:off x="7086600" y="2057400"/>
            <a:ext cx="329184" cy="329184"/>
          </a:xfrm>
          <a:prstGeom prst="ellipse">
            <a:avLst/>
          </a:prstGeom>
          <a:solidFill>
            <a:srgbClr val="122C22"/>
          </a:solidFill>
          <a:ln w="15875">
            <a:solidFill>
              <a:srgbClr val="3FE08A"/>
            </a:solidFill>
            <a:prstDash val="solid"/>
          </a:ln>
        </p:spPr>
        <p:txBody>
          <a:bodyPr/>
          <a:lstStyle/>
          <a:p>
            <a:endParaRPr lang="en-SE" sz="2400"/>
          </a:p>
        </p:txBody>
      </p:sp>
      <p:sp>
        <p:nvSpPr>
          <p:cNvPr id="63" name="Text 61"/>
          <p:cNvSpPr/>
          <p:nvPr/>
        </p:nvSpPr>
        <p:spPr>
          <a:xfrm>
            <a:off x="7086600" y="2057400"/>
            <a:ext cx="329184" cy="329184"/>
          </a:xfrm>
          <a:prstGeom prst="rect">
            <a:avLst/>
          </a:prstGeom>
          <a:noFill/>
          <a:ln/>
        </p:spPr>
        <p:txBody>
          <a:bodyPr wrap="square" lIns="0" tIns="0" rIns="0" bIns="0" rtlCol="0" anchor="ctr"/>
          <a:lstStyle/>
          <a:p>
            <a:pPr marL="0" indent="0" algn="ctr">
              <a:buNone/>
            </a:pPr>
            <a:r>
              <a:rPr lang="en-US" sz="1100" b="1" dirty="0">
                <a:solidFill>
                  <a:srgbClr val="3FE08A"/>
                </a:solidFill>
                <a:latin typeface="Consolas" pitchFamily="34" charset="0"/>
                <a:ea typeface="Consolas" pitchFamily="34" charset="-122"/>
                <a:cs typeface="Consolas" pitchFamily="34" charset="-120"/>
              </a:rPr>
              <a:t>1</a:t>
            </a:r>
            <a:endParaRPr lang="en-US" sz="1100" dirty="0"/>
          </a:p>
        </p:txBody>
      </p:sp>
      <p:sp>
        <p:nvSpPr>
          <p:cNvPr id="64" name="Text 62"/>
          <p:cNvSpPr/>
          <p:nvPr/>
        </p:nvSpPr>
        <p:spPr>
          <a:xfrm>
            <a:off x="7543800" y="2039112"/>
            <a:ext cx="3657600" cy="320040"/>
          </a:xfrm>
          <a:prstGeom prst="rect">
            <a:avLst/>
          </a:prstGeom>
          <a:noFill/>
          <a:ln/>
        </p:spPr>
        <p:txBody>
          <a:bodyPr wrap="square" lIns="0" tIns="0" rIns="0" bIns="0" rtlCol="0" anchor="ctr"/>
          <a:lstStyle/>
          <a:p>
            <a:pPr marL="0" indent="0">
              <a:buNone/>
            </a:pPr>
            <a:r>
              <a:rPr lang="en-US" b="1" dirty="0">
                <a:solidFill>
                  <a:srgbClr val="E6EDF3"/>
                </a:solidFill>
                <a:latin typeface="Segoe UI" pitchFamily="34" charset="0"/>
                <a:ea typeface="Segoe UI" pitchFamily="34" charset="-122"/>
                <a:cs typeface="Segoe UI" pitchFamily="34" charset="-120"/>
              </a:rPr>
              <a:t>Top bar</a:t>
            </a:r>
            <a:endParaRPr lang="en-US" dirty="0"/>
          </a:p>
        </p:txBody>
      </p:sp>
      <p:sp>
        <p:nvSpPr>
          <p:cNvPr id="65" name="Text 63"/>
          <p:cNvSpPr/>
          <p:nvPr/>
        </p:nvSpPr>
        <p:spPr>
          <a:xfrm>
            <a:off x="7543800" y="2359152"/>
            <a:ext cx="3657600" cy="685800"/>
          </a:xfrm>
          <a:prstGeom prst="rect">
            <a:avLst/>
          </a:prstGeom>
          <a:noFill/>
          <a:ln/>
        </p:spPr>
        <p:txBody>
          <a:bodyPr wrap="square" lIns="0" tIns="0" rIns="0" bIns="0" rtlCol="0" anchor="ctr"/>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Six view tabs, a density control, a theme toggle, and the connection indicator — all in one row.</a:t>
            </a:r>
            <a:endParaRPr lang="en-US" sz="1400" dirty="0"/>
          </a:p>
        </p:txBody>
      </p:sp>
      <p:sp>
        <p:nvSpPr>
          <p:cNvPr id="66" name="annotation marker background">
            <a:extLst>
              <a:ext uri="{C183D7F6-B498-43B3-948B-1728B52AA6E4}">
                <adec:decorative xmlns:adec="http://schemas.microsoft.com/office/drawing/2017/decorative" val="1"/>
              </a:ext>
            </a:extLst>
          </p:cNvPr>
          <p:cNvSpPr/>
          <p:nvPr/>
        </p:nvSpPr>
        <p:spPr>
          <a:xfrm>
            <a:off x="7086600" y="3108960"/>
            <a:ext cx="329184" cy="329184"/>
          </a:xfrm>
          <a:prstGeom prst="ellipse">
            <a:avLst/>
          </a:prstGeom>
          <a:solidFill>
            <a:srgbClr val="122C22"/>
          </a:solidFill>
          <a:ln w="15875">
            <a:solidFill>
              <a:srgbClr val="3FE08A"/>
            </a:solidFill>
            <a:prstDash val="solid"/>
          </a:ln>
        </p:spPr>
        <p:txBody>
          <a:bodyPr/>
          <a:lstStyle/>
          <a:p>
            <a:endParaRPr lang="en-SE" sz="2400"/>
          </a:p>
        </p:txBody>
      </p:sp>
      <p:sp>
        <p:nvSpPr>
          <p:cNvPr id="67" name="Text 65"/>
          <p:cNvSpPr/>
          <p:nvPr/>
        </p:nvSpPr>
        <p:spPr>
          <a:xfrm>
            <a:off x="7086600" y="3108960"/>
            <a:ext cx="329184" cy="329184"/>
          </a:xfrm>
          <a:prstGeom prst="rect">
            <a:avLst/>
          </a:prstGeom>
          <a:noFill/>
          <a:ln/>
        </p:spPr>
        <p:txBody>
          <a:bodyPr wrap="square" lIns="0" tIns="0" rIns="0" bIns="0" rtlCol="0" anchor="ctr"/>
          <a:lstStyle/>
          <a:p>
            <a:pPr marL="0" indent="0" algn="ctr">
              <a:buNone/>
            </a:pPr>
            <a:r>
              <a:rPr lang="en-US" sz="1100" b="1" dirty="0">
                <a:solidFill>
                  <a:srgbClr val="3FE08A"/>
                </a:solidFill>
                <a:latin typeface="Consolas" pitchFamily="34" charset="0"/>
                <a:ea typeface="Consolas" pitchFamily="34" charset="-122"/>
                <a:cs typeface="Consolas" pitchFamily="34" charset="-120"/>
              </a:rPr>
              <a:t>2</a:t>
            </a:r>
            <a:endParaRPr lang="en-US" sz="1100" dirty="0"/>
          </a:p>
        </p:txBody>
      </p:sp>
      <p:sp>
        <p:nvSpPr>
          <p:cNvPr id="68" name="Text 66"/>
          <p:cNvSpPr/>
          <p:nvPr/>
        </p:nvSpPr>
        <p:spPr>
          <a:xfrm>
            <a:off x="7543800" y="3090672"/>
            <a:ext cx="3657600" cy="320040"/>
          </a:xfrm>
          <a:prstGeom prst="rect">
            <a:avLst/>
          </a:prstGeom>
          <a:noFill/>
          <a:ln/>
        </p:spPr>
        <p:txBody>
          <a:bodyPr wrap="square" lIns="0" tIns="0" rIns="0" bIns="0" rtlCol="0" anchor="ctr"/>
          <a:lstStyle/>
          <a:p>
            <a:pPr marL="0" indent="0">
              <a:buNone/>
            </a:pPr>
            <a:r>
              <a:rPr lang="en-US" b="1" dirty="0">
                <a:solidFill>
                  <a:srgbClr val="E6EDF3"/>
                </a:solidFill>
                <a:latin typeface="Segoe UI" pitchFamily="34" charset="0"/>
                <a:ea typeface="Segoe UI" pitchFamily="34" charset="-122"/>
                <a:cs typeface="Segoe UI" pitchFamily="34" charset="-120"/>
              </a:rPr>
              <a:t>The view</a:t>
            </a:r>
            <a:endParaRPr lang="en-US" dirty="0"/>
          </a:p>
        </p:txBody>
      </p:sp>
      <p:sp>
        <p:nvSpPr>
          <p:cNvPr id="69" name="Text 67"/>
          <p:cNvSpPr/>
          <p:nvPr/>
        </p:nvSpPr>
        <p:spPr>
          <a:xfrm>
            <a:off x="7543800" y="3410712"/>
            <a:ext cx="3657600" cy="685800"/>
          </a:xfrm>
          <a:prstGeom prst="rect">
            <a:avLst/>
          </a:prstGeom>
          <a:noFill/>
          <a:ln/>
        </p:spPr>
        <p:txBody>
          <a:bodyPr wrap="square" lIns="0" tIns="0" rIns="0" bIns="0" rtlCol="0" anchor="ctr"/>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Whichever of the six screens you have selected. This is where the data lives.</a:t>
            </a:r>
            <a:endParaRPr lang="en-US" sz="1400" dirty="0"/>
          </a:p>
        </p:txBody>
      </p:sp>
      <p:sp>
        <p:nvSpPr>
          <p:cNvPr id="70" name="annotation marker background">
            <a:extLst>
              <a:ext uri="{C183D7F6-B498-43B3-948B-1728B52AA6E4}">
                <adec:decorative xmlns:adec="http://schemas.microsoft.com/office/drawing/2017/decorative" val="1"/>
              </a:ext>
            </a:extLst>
          </p:cNvPr>
          <p:cNvSpPr/>
          <p:nvPr/>
        </p:nvSpPr>
        <p:spPr>
          <a:xfrm>
            <a:off x="7086600" y="4160520"/>
            <a:ext cx="329184" cy="329184"/>
          </a:xfrm>
          <a:prstGeom prst="ellipse">
            <a:avLst/>
          </a:prstGeom>
          <a:solidFill>
            <a:srgbClr val="122C22"/>
          </a:solidFill>
          <a:ln w="15875">
            <a:solidFill>
              <a:srgbClr val="F5A524"/>
            </a:solidFill>
            <a:prstDash val="solid"/>
          </a:ln>
        </p:spPr>
        <p:txBody>
          <a:bodyPr/>
          <a:lstStyle/>
          <a:p>
            <a:endParaRPr lang="en-SE" sz="2400"/>
          </a:p>
        </p:txBody>
      </p:sp>
      <p:sp>
        <p:nvSpPr>
          <p:cNvPr id="71" name="Text 69"/>
          <p:cNvSpPr/>
          <p:nvPr/>
        </p:nvSpPr>
        <p:spPr>
          <a:xfrm>
            <a:off x="7086600" y="4160520"/>
            <a:ext cx="329184" cy="329184"/>
          </a:xfrm>
          <a:prstGeom prst="rect">
            <a:avLst/>
          </a:prstGeom>
          <a:noFill/>
          <a:ln/>
        </p:spPr>
        <p:txBody>
          <a:bodyPr wrap="square" lIns="0" tIns="0" rIns="0" bIns="0" rtlCol="0" anchor="ctr"/>
          <a:lstStyle/>
          <a:p>
            <a:pPr marL="0" indent="0" algn="ctr">
              <a:buNone/>
            </a:pPr>
            <a:r>
              <a:rPr lang="en-US" sz="1100" b="1" dirty="0">
                <a:solidFill>
                  <a:srgbClr val="F5A524"/>
                </a:solidFill>
                <a:latin typeface="Consolas" pitchFamily="34" charset="0"/>
                <a:ea typeface="Consolas" pitchFamily="34" charset="-122"/>
                <a:cs typeface="Consolas" pitchFamily="34" charset="-120"/>
              </a:rPr>
              <a:t>3</a:t>
            </a:r>
            <a:endParaRPr lang="en-US" sz="1100" dirty="0"/>
          </a:p>
        </p:txBody>
      </p:sp>
      <p:sp>
        <p:nvSpPr>
          <p:cNvPr id="72" name="Text 70"/>
          <p:cNvSpPr/>
          <p:nvPr/>
        </p:nvSpPr>
        <p:spPr>
          <a:xfrm>
            <a:off x="7543800" y="4142232"/>
            <a:ext cx="3657600" cy="320040"/>
          </a:xfrm>
          <a:prstGeom prst="rect">
            <a:avLst/>
          </a:prstGeom>
          <a:noFill/>
          <a:ln/>
        </p:spPr>
        <p:txBody>
          <a:bodyPr wrap="square" lIns="0" tIns="0" rIns="0" bIns="0" rtlCol="0" anchor="ctr"/>
          <a:lstStyle/>
          <a:p>
            <a:pPr marL="0" indent="0">
              <a:buNone/>
            </a:pPr>
            <a:r>
              <a:rPr lang="en-US" b="1" dirty="0">
                <a:solidFill>
                  <a:srgbClr val="E6EDF3"/>
                </a:solidFill>
                <a:latin typeface="Segoe UI" pitchFamily="34" charset="0"/>
                <a:ea typeface="Segoe UI" pitchFamily="34" charset="-122"/>
                <a:cs typeface="Segoe UI" pitchFamily="34" charset="-120"/>
              </a:rPr>
              <a:t>Status strip</a:t>
            </a:r>
            <a:endParaRPr lang="en-US" dirty="0"/>
          </a:p>
        </p:txBody>
      </p:sp>
      <p:sp>
        <p:nvSpPr>
          <p:cNvPr id="73" name="Text 71"/>
          <p:cNvSpPr/>
          <p:nvPr/>
        </p:nvSpPr>
        <p:spPr>
          <a:xfrm>
            <a:off x="7543800" y="4462272"/>
            <a:ext cx="3657600" cy="685800"/>
          </a:xfrm>
          <a:prstGeom prst="rect">
            <a:avLst/>
          </a:prstGeom>
          <a:noFill/>
          <a:ln/>
        </p:spPr>
        <p:txBody>
          <a:bodyPr wrap="square" lIns="0" tIns="0" rIns="0" bIns="0" rtlCol="0" anchor="ctr"/>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A one-line health summary, readable from across a room.</a:t>
            </a:r>
            <a:endParaRPr lang="en-US" sz="1400" dirty="0"/>
          </a:p>
        </p:txBody>
      </p:sp>
      <p:sp>
        <p:nvSpPr>
          <p:cNvPr id="74" name="figure note background">
            <a:extLst>
              <a:ext uri="{C183D7F6-B498-43B3-948B-1728B52AA6E4}">
                <adec:decorative xmlns:adec="http://schemas.microsoft.com/office/drawing/2017/decorative" val="1"/>
              </a:ext>
            </a:extLst>
          </p:cNvPr>
          <p:cNvSpPr/>
          <p:nvPr/>
        </p:nvSpPr>
        <p:spPr>
          <a:xfrm>
            <a:off x="7086600" y="5321808"/>
            <a:ext cx="4114800" cy="960120"/>
          </a:xfrm>
          <a:prstGeom prst="rect">
            <a:avLst/>
          </a:prstGeom>
          <a:solidFill>
            <a:srgbClr val="273037"/>
          </a:solidFill>
          <a:ln w="12700">
            <a:solidFill>
              <a:srgbClr val="3FE08A"/>
            </a:solidFill>
            <a:prstDash val="solid"/>
          </a:ln>
        </p:spPr>
        <p:txBody>
          <a:bodyPr/>
          <a:lstStyle/>
          <a:p>
            <a:endParaRPr lang="en-SE"/>
          </a:p>
        </p:txBody>
      </p:sp>
      <p:sp>
        <p:nvSpPr>
          <p:cNvPr id="75" name="Text 73"/>
          <p:cNvSpPr/>
          <p:nvPr/>
        </p:nvSpPr>
        <p:spPr>
          <a:xfrm>
            <a:off x="7269480" y="5321808"/>
            <a:ext cx="3794760" cy="960120"/>
          </a:xfrm>
          <a:prstGeom prst="rect">
            <a:avLst/>
          </a:prstGeom>
          <a:noFill/>
          <a:ln/>
        </p:spPr>
        <p:txBody>
          <a:bodyPr wrap="square" lIns="0" tIns="0" rIns="0" bIns="0" rtlCol="0" anchor="ctr"/>
          <a:lstStyle/>
          <a:p>
            <a:pPr marL="0" indent="0">
              <a:lnSpc>
                <a:spcPct val="108000"/>
              </a:lnSpc>
              <a:buNone/>
            </a:pPr>
            <a:r>
              <a:rPr lang="en-US" sz="1200" b="1" dirty="0">
                <a:solidFill>
                  <a:srgbClr val="3FE08A"/>
                </a:solidFill>
                <a:latin typeface="Segoe UI" pitchFamily="34" charset="0"/>
                <a:ea typeface="Segoe UI" pitchFamily="34" charset="-122"/>
                <a:cs typeface="Segoe UI" pitchFamily="34" charset="-120"/>
              </a:rPr>
              <a:t>SCREENSHOT 1 — App shell.  </a:t>
            </a:r>
            <a:r>
              <a:rPr lang="en-US" sz="1200" dirty="0">
                <a:solidFill>
                  <a:srgbClr val="AAB7C2"/>
                </a:solidFill>
                <a:latin typeface="Segoe UI" pitchFamily="34" charset="0"/>
                <a:ea typeface="Segoe UI" pitchFamily="34" charset="-122"/>
                <a:cs typeface="Segoe UI" pitchFamily="34" charset="-120"/>
              </a:rPr>
              <a:t>Capture the Overview screen in dark theme showing the whole frame: top bar, tabs, toggles, connection indicator, and the footer status strip.</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The top bar controls</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03 · SCREENS</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14</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600" dirty="0">
                <a:solidFill>
                  <a:srgbClr val="AAB7C2"/>
                </a:solidFill>
                <a:latin typeface="Segoe UI" pitchFamily="34" charset="0"/>
                <a:ea typeface="Segoe UI" pitchFamily="34" charset="-122"/>
                <a:cs typeface="Segoe UI" pitchFamily="34" charset="-120"/>
              </a:rPr>
              <a:t>Three controls, and none of them change the market. They change what you see and how it is sized.</a:t>
            </a:r>
            <a:endParaRPr lang="en-US" sz="1600" dirty="0"/>
          </a:p>
        </p:txBody>
      </p:sp>
      <p:sp>
        <p:nvSpPr>
          <p:cNvPr id="38" name="panel">
            <a:extLst>
              <a:ext uri="{C183D7F6-B498-43B3-948B-1728B52AA6E4}">
                <adec:decorative xmlns:adec="http://schemas.microsoft.com/office/drawing/2017/decorative" val="1"/>
              </a:ext>
            </a:extLst>
          </p:cNvPr>
          <p:cNvSpPr/>
          <p:nvPr/>
        </p:nvSpPr>
        <p:spPr>
          <a:xfrm>
            <a:off x="566928" y="1965960"/>
            <a:ext cx="3474720" cy="278892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sz="2000"/>
          </a:p>
        </p:txBody>
      </p:sp>
      <p:sp>
        <p:nvSpPr>
          <p:cNvPr id="39" name="panel accent">
            <a:extLst>
              <a:ext uri="{C183D7F6-B498-43B3-948B-1728B52AA6E4}">
                <adec:decorative xmlns:adec="http://schemas.microsoft.com/office/drawing/2017/decorative" val="1"/>
              </a:ext>
            </a:extLst>
          </p:cNvPr>
          <p:cNvSpPr/>
          <p:nvPr/>
        </p:nvSpPr>
        <p:spPr>
          <a:xfrm>
            <a:off x="566928" y="1965960"/>
            <a:ext cx="3474720" cy="50292"/>
          </a:xfrm>
          <a:prstGeom prst="rect">
            <a:avLst/>
          </a:prstGeom>
          <a:solidFill>
            <a:srgbClr val="3FE08A"/>
          </a:solidFill>
          <a:ln w="12700">
            <a:solidFill>
              <a:srgbClr val="333333"/>
            </a:solidFill>
            <a:prstDash val="solid"/>
          </a:ln>
        </p:spPr>
        <p:txBody>
          <a:bodyPr/>
          <a:lstStyle/>
          <a:p>
            <a:endParaRPr lang="en-SE" sz="2000"/>
          </a:p>
        </p:txBody>
      </p:sp>
      <p:sp>
        <p:nvSpPr>
          <p:cNvPr id="40" name="Text 38"/>
          <p:cNvSpPr/>
          <p:nvPr/>
        </p:nvSpPr>
        <p:spPr>
          <a:xfrm>
            <a:off x="822960" y="2240280"/>
            <a:ext cx="2971800" cy="320040"/>
          </a:xfrm>
          <a:prstGeom prst="rect">
            <a:avLst/>
          </a:prstGeom>
          <a:noFill/>
          <a:ln/>
        </p:spPr>
        <p:txBody>
          <a:bodyPr wrap="square" lIns="0" tIns="0" rIns="0" bIns="0" rtlCol="0" anchor="ctr"/>
          <a:lstStyle/>
          <a:p>
            <a:pPr marL="0" indent="0">
              <a:buNone/>
            </a:pPr>
            <a:r>
              <a:rPr lang="en-US" sz="1400" b="1" kern="0" spc="150" dirty="0">
                <a:solidFill>
                  <a:srgbClr val="3FE08A"/>
                </a:solidFill>
                <a:latin typeface="Consolas" pitchFamily="34" charset="0"/>
                <a:ea typeface="Consolas" pitchFamily="34" charset="-122"/>
                <a:cs typeface="Consolas" pitchFamily="34" charset="-120"/>
              </a:rPr>
              <a:t>DENSITY</a:t>
            </a:r>
            <a:endParaRPr lang="en-US" sz="1400" dirty="0"/>
          </a:p>
        </p:txBody>
      </p:sp>
      <p:sp>
        <p:nvSpPr>
          <p:cNvPr id="41" name="Text 39"/>
          <p:cNvSpPr/>
          <p:nvPr/>
        </p:nvSpPr>
        <p:spPr>
          <a:xfrm>
            <a:off x="822960" y="2606040"/>
            <a:ext cx="2971800" cy="502920"/>
          </a:xfrm>
          <a:prstGeom prst="rect">
            <a:avLst/>
          </a:prstGeom>
          <a:noFill/>
          <a:ln/>
        </p:spPr>
        <p:txBody>
          <a:bodyPr wrap="square" lIns="0" tIns="0" rIns="0" bIns="0" rtlCol="0" anchor="ctr"/>
          <a:lstStyle/>
          <a:p>
            <a:pPr marL="0" indent="0">
              <a:lnSpc>
                <a:spcPct val="105000"/>
              </a:lnSpc>
              <a:buNone/>
            </a:pPr>
            <a:r>
              <a:rPr lang="en-US" sz="1600" b="1" dirty="0">
                <a:solidFill>
                  <a:srgbClr val="E6EDF3"/>
                </a:solidFill>
                <a:latin typeface="Segoe UI" pitchFamily="34" charset="0"/>
                <a:ea typeface="Segoe UI" pitchFamily="34" charset="-122"/>
                <a:cs typeface="Segoe UI" pitchFamily="34" charset="-120"/>
              </a:rPr>
              <a:t>Lobby → Standard → Dense</a:t>
            </a:r>
            <a:endParaRPr lang="en-US" sz="1600" dirty="0"/>
          </a:p>
        </p:txBody>
      </p:sp>
      <p:sp>
        <p:nvSpPr>
          <p:cNvPr id="42" name="Text 40"/>
          <p:cNvSpPr/>
          <p:nvPr/>
        </p:nvSpPr>
        <p:spPr>
          <a:xfrm>
            <a:off x="822960" y="3247292"/>
            <a:ext cx="2971800" cy="1417320"/>
          </a:xfrm>
          <a:prstGeom prst="rect">
            <a:avLst/>
          </a:prstGeom>
          <a:noFill/>
          <a:ln/>
        </p:spPr>
        <p:txBody>
          <a:bodyPr wrap="square" lIns="0" tIns="0" rIns="0" bIns="0" rtlCol="0" anchor="t"/>
          <a:lstStyle/>
          <a:p>
            <a:pPr marL="0" indent="0">
              <a:lnSpc>
                <a:spcPct val="115000"/>
              </a:lnSpc>
              <a:buNone/>
            </a:pPr>
            <a:r>
              <a:rPr lang="en-US" sz="1400" dirty="0">
                <a:solidFill>
                  <a:srgbClr val="AAB7C2"/>
                </a:solidFill>
                <a:latin typeface="Segoe UI" pitchFamily="34" charset="0"/>
                <a:ea typeface="Segoe UI" pitchFamily="34" charset="-122"/>
                <a:cs typeface="Segoe UI" pitchFamily="34" charset="-120"/>
              </a:rPr>
              <a:t>Cycles how much fits on screen. Lobby means big type and a slow page dwell for a room; Dense means tight rows for a desk. Every data point stays reachable at every setting — only the defaults change.</a:t>
            </a:r>
            <a:endParaRPr lang="en-US" sz="1400" dirty="0"/>
          </a:p>
        </p:txBody>
      </p:sp>
      <p:sp>
        <p:nvSpPr>
          <p:cNvPr id="43" name="panel">
            <a:extLst>
              <a:ext uri="{C183D7F6-B498-43B3-948B-1728B52AA6E4}">
                <adec:decorative xmlns:adec="http://schemas.microsoft.com/office/drawing/2017/decorative" val="1"/>
              </a:ext>
            </a:extLst>
          </p:cNvPr>
          <p:cNvSpPr/>
          <p:nvPr/>
        </p:nvSpPr>
        <p:spPr>
          <a:xfrm>
            <a:off x="4279392" y="1965960"/>
            <a:ext cx="3474720" cy="278892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sz="2000"/>
          </a:p>
        </p:txBody>
      </p:sp>
      <p:sp>
        <p:nvSpPr>
          <p:cNvPr id="44" name="panel accent">
            <a:extLst>
              <a:ext uri="{C183D7F6-B498-43B3-948B-1728B52AA6E4}">
                <adec:decorative xmlns:adec="http://schemas.microsoft.com/office/drawing/2017/decorative" val="1"/>
              </a:ext>
            </a:extLst>
          </p:cNvPr>
          <p:cNvSpPr/>
          <p:nvPr/>
        </p:nvSpPr>
        <p:spPr>
          <a:xfrm>
            <a:off x="4279392" y="1965960"/>
            <a:ext cx="3474720" cy="50292"/>
          </a:xfrm>
          <a:prstGeom prst="rect">
            <a:avLst/>
          </a:prstGeom>
          <a:solidFill>
            <a:srgbClr val="3FE08A"/>
          </a:solidFill>
          <a:ln w="12700">
            <a:solidFill>
              <a:srgbClr val="333333"/>
            </a:solidFill>
            <a:prstDash val="solid"/>
          </a:ln>
        </p:spPr>
        <p:txBody>
          <a:bodyPr/>
          <a:lstStyle/>
          <a:p>
            <a:endParaRPr lang="en-SE" sz="2000"/>
          </a:p>
        </p:txBody>
      </p:sp>
      <p:sp>
        <p:nvSpPr>
          <p:cNvPr id="45" name="Text 43"/>
          <p:cNvSpPr/>
          <p:nvPr/>
        </p:nvSpPr>
        <p:spPr>
          <a:xfrm>
            <a:off x="4535424" y="2240280"/>
            <a:ext cx="2971800" cy="320040"/>
          </a:xfrm>
          <a:prstGeom prst="rect">
            <a:avLst/>
          </a:prstGeom>
          <a:noFill/>
          <a:ln/>
        </p:spPr>
        <p:txBody>
          <a:bodyPr wrap="square" lIns="0" tIns="0" rIns="0" bIns="0" rtlCol="0" anchor="ctr"/>
          <a:lstStyle/>
          <a:p>
            <a:pPr marL="0" indent="0">
              <a:buNone/>
            </a:pPr>
            <a:r>
              <a:rPr lang="en-US" sz="1400" b="1" kern="0" spc="150" dirty="0">
                <a:solidFill>
                  <a:srgbClr val="3FE08A"/>
                </a:solidFill>
                <a:latin typeface="Consolas" pitchFamily="34" charset="0"/>
                <a:ea typeface="Consolas" pitchFamily="34" charset="-122"/>
                <a:cs typeface="Consolas" pitchFamily="34" charset="-120"/>
              </a:rPr>
              <a:t>THEME</a:t>
            </a:r>
            <a:endParaRPr lang="en-US" sz="1400" dirty="0"/>
          </a:p>
        </p:txBody>
      </p:sp>
      <p:sp>
        <p:nvSpPr>
          <p:cNvPr id="46" name="Text 44"/>
          <p:cNvSpPr/>
          <p:nvPr/>
        </p:nvSpPr>
        <p:spPr>
          <a:xfrm>
            <a:off x="4535424" y="2606040"/>
            <a:ext cx="2971800" cy="502920"/>
          </a:xfrm>
          <a:prstGeom prst="rect">
            <a:avLst/>
          </a:prstGeom>
          <a:noFill/>
          <a:ln/>
        </p:spPr>
        <p:txBody>
          <a:bodyPr wrap="square" lIns="0" tIns="0" rIns="0" bIns="0" rtlCol="0" anchor="ctr"/>
          <a:lstStyle/>
          <a:p>
            <a:pPr marL="0" indent="0">
              <a:lnSpc>
                <a:spcPct val="105000"/>
              </a:lnSpc>
              <a:buNone/>
            </a:pPr>
            <a:r>
              <a:rPr lang="en-US" sz="1600" b="1" dirty="0">
                <a:solidFill>
                  <a:srgbClr val="E6EDF3"/>
                </a:solidFill>
                <a:latin typeface="Segoe UI" pitchFamily="34" charset="0"/>
                <a:ea typeface="Segoe UI" pitchFamily="34" charset="-122"/>
                <a:cs typeface="Segoe UI" pitchFamily="34" charset="-120"/>
              </a:rPr>
              <a:t>Dark ⇄ Light</a:t>
            </a:r>
            <a:endParaRPr lang="en-US" sz="1600" dirty="0"/>
          </a:p>
        </p:txBody>
      </p:sp>
      <p:sp>
        <p:nvSpPr>
          <p:cNvPr id="47" name="Text 45"/>
          <p:cNvSpPr/>
          <p:nvPr/>
        </p:nvSpPr>
        <p:spPr>
          <a:xfrm>
            <a:off x="4535424" y="3247292"/>
            <a:ext cx="2971800" cy="1417320"/>
          </a:xfrm>
          <a:prstGeom prst="rect">
            <a:avLst/>
          </a:prstGeom>
          <a:noFill/>
          <a:ln/>
        </p:spPr>
        <p:txBody>
          <a:bodyPr wrap="square" lIns="0" tIns="0" rIns="0" bIns="0" rtlCol="0" anchor="t"/>
          <a:lstStyle/>
          <a:p>
            <a:pPr marL="0" indent="0">
              <a:lnSpc>
                <a:spcPct val="115000"/>
              </a:lnSpc>
              <a:buNone/>
            </a:pPr>
            <a:r>
              <a:rPr lang="en-US" sz="1400" dirty="0">
                <a:solidFill>
                  <a:srgbClr val="AAB7C2"/>
                </a:solidFill>
                <a:latin typeface="Segoe UI" pitchFamily="34" charset="0"/>
                <a:ea typeface="Segoe UI" pitchFamily="34" charset="-122"/>
                <a:cs typeface="Segoe UI" pitchFamily="34" charset="-120"/>
              </a:rPr>
              <a:t>Dark is the default and the right choice for a trading screen. The full light palette exists for bright rooms and projectors.</a:t>
            </a:r>
            <a:endParaRPr lang="en-US" sz="1400" dirty="0"/>
          </a:p>
        </p:txBody>
      </p:sp>
      <p:sp>
        <p:nvSpPr>
          <p:cNvPr id="48" name="panel">
            <a:extLst>
              <a:ext uri="{C183D7F6-B498-43B3-948B-1728B52AA6E4}">
                <adec:decorative xmlns:adec="http://schemas.microsoft.com/office/drawing/2017/decorative" val="1"/>
              </a:ext>
            </a:extLst>
          </p:cNvPr>
          <p:cNvSpPr/>
          <p:nvPr/>
        </p:nvSpPr>
        <p:spPr>
          <a:xfrm>
            <a:off x="7991856" y="1965960"/>
            <a:ext cx="3474720" cy="278892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sz="2000"/>
          </a:p>
        </p:txBody>
      </p:sp>
      <p:sp>
        <p:nvSpPr>
          <p:cNvPr id="49" name="panel accent">
            <a:extLst>
              <a:ext uri="{C183D7F6-B498-43B3-948B-1728B52AA6E4}">
                <adec:decorative xmlns:adec="http://schemas.microsoft.com/office/drawing/2017/decorative" val="1"/>
              </a:ext>
            </a:extLst>
          </p:cNvPr>
          <p:cNvSpPr/>
          <p:nvPr/>
        </p:nvSpPr>
        <p:spPr>
          <a:xfrm>
            <a:off x="7991856" y="1965960"/>
            <a:ext cx="3474720" cy="50292"/>
          </a:xfrm>
          <a:prstGeom prst="rect">
            <a:avLst/>
          </a:prstGeom>
          <a:solidFill>
            <a:srgbClr val="F5A524"/>
          </a:solidFill>
          <a:ln w="12700">
            <a:solidFill>
              <a:srgbClr val="333333"/>
            </a:solidFill>
            <a:prstDash val="solid"/>
          </a:ln>
        </p:spPr>
        <p:txBody>
          <a:bodyPr/>
          <a:lstStyle/>
          <a:p>
            <a:endParaRPr lang="en-SE" sz="2000"/>
          </a:p>
        </p:txBody>
      </p:sp>
      <p:sp>
        <p:nvSpPr>
          <p:cNvPr id="50" name="Text 48"/>
          <p:cNvSpPr/>
          <p:nvPr/>
        </p:nvSpPr>
        <p:spPr>
          <a:xfrm>
            <a:off x="8247888" y="2240280"/>
            <a:ext cx="2971800" cy="320040"/>
          </a:xfrm>
          <a:prstGeom prst="rect">
            <a:avLst/>
          </a:prstGeom>
          <a:noFill/>
          <a:ln/>
        </p:spPr>
        <p:txBody>
          <a:bodyPr wrap="square" lIns="0" tIns="0" rIns="0" bIns="0" rtlCol="0" anchor="ctr"/>
          <a:lstStyle/>
          <a:p>
            <a:pPr marL="0" indent="0">
              <a:buNone/>
            </a:pPr>
            <a:r>
              <a:rPr lang="en-US" sz="1400" b="1" kern="0" spc="150" dirty="0">
                <a:solidFill>
                  <a:srgbClr val="F5A524"/>
                </a:solidFill>
                <a:latin typeface="Consolas" pitchFamily="34" charset="0"/>
                <a:ea typeface="Consolas" pitchFamily="34" charset="-122"/>
                <a:cs typeface="Consolas" pitchFamily="34" charset="-120"/>
              </a:rPr>
              <a:t>CONNECTION</a:t>
            </a:r>
            <a:endParaRPr lang="en-US" sz="1400" dirty="0"/>
          </a:p>
        </p:txBody>
      </p:sp>
      <p:sp>
        <p:nvSpPr>
          <p:cNvPr id="51" name="Text 49"/>
          <p:cNvSpPr/>
          <p:nvPr/>
        </p:nvSpPr>
        <p:spPr>
          <a:xfrm>
            <a:off x="8247888" y="2606040"/>
            <a:ext cx="2971800" cy="502920"/>
          </a:xfrm>
          <a:prstGeom prst="rect">
            <a:avLst/>
          </a:prstGeom>
          <a:noFill/>
          <a:ln/>
        </p:spPr>
        <p:txBody>
          <a:bodyPr wrap="square" lIns="0" tIns="0" rIns="0" bIns="0" rtlCol="0" anchor="ctr"/>
          <a:lstStyle/>
          <a:p>
            <a:pPr marL="0" indent="0">
              <a:lnSpc>
                <a:spcPct val="105000"/>
              </a:lnSpc>
              <a:buNone/>
            </a:pPr>
            <a:r>
              <a:rPr lang="en-US" sz="1600" b="1" dirty="0">
                <a:solidFill>
                  <a:srgbClr val="E6EDF3"/>
                </a:solidFill>
                <a:latin typeface="Segoe UI" pitchFamily="34" charset="0"/>
                <a:ea typeface="Segoe UI" pitchFamily="34" charset="-122"/>
                <a:cs typeface="Segoe UI" pitchFamily="34" charset="-120"/>
              </a:rPr>
              <a:t>LIVE / RECONNECTING / OFFLINE</a:t>
            </a:r>
            <a:endParaRPr lang="en-US" sz="1600" dirty="0"/>
          </a:p>
        </p:txBody>
      </p:sp>
      <p:sp>
        <p:nvSpPr>
          <p:cNvPr id="52" name="Text 50"/>
          <p:cNvSpPr/>
          <p:nvPr/>
        </p:nvSpPr>
        <p:spPr>
          <a:xfrm>
            <a:off x="8247888" y="3247292"/>
            <a:ext cx="2971800" cy="1417320"/>
          </a:xfrm>
          <a:prstGeom prst="rect">
            <a:avLst/>
          </a:prstGeom>
          <a:noFill/>
          <a:ln/>
        </p:spPr>
        <p:txBody>
          <a:bodyPr wrap="square" lIns="0" tIns="0" rIns="0" bIns="0" rtlCol="0" anchor="t"/>
          <a:lstStyle/>
          <a:p>
            <a:pPr marL="0" indent="0">
              <a:lnSpc>
                <a:spcPct val="115000"/>
              </a:lnSpc>
              <a:buNone/>
            </a:pPr>
            <a:r>
              <a:rPr lang="en-US" sz="1400" dirty="0">
                <a:solidFill>
                  <a:srgbClr val="AAB7C2"/>
                </a:solidFill>
                <a:latin typeface="Segoe UI" pitchFamily="34" charset="0"/>
                <a:ea typeface="Segoe UI" pitchFamily="34" charset="-122"/>
                <a:cs typeface="Segoe UI" pitchFamily="34" charset="-120"/>
              </a:rPr>
              <a:t>The health of the terminal's own connection to the market-data feed, plus the id of the gateway it is talking to.</a:t>
            </a:r>
            <a:endParaRPr lang="en-US" sz="1400" dirty="0"/>
          </a:p>
        </p:txBody>
      </p:sp>
      <p:sp>
        <p:nvSpPr>
          <p:cNvPr id="53" name="badge background">
            <a:extLst>
              <a:ext uri="{C183D7F6-B498-43B3-948B-1728B52AA6E4}">
                <adec:decorative xmlns:adec="http://schemas.microsoft.com/office/drawing/2017/decorative" val="1"/>
              </a:ext>
            </a:extLst>
          </p:cNvPr>
          <p:cNvSpPr/>
          <p:nvPr/>
        </p:nvSpPr>
        <p:spPr>
          <a:xfrm>
            <a:off x="566928" y="4983480"/>
            <a:ext cx="1691640" cy="329184"/>
          </a:xfrm>
          <a:prstGeom prst="roundRect">
            <a:avLst>
              <a:gd name="adj" fmla="val 25000"/>
            </a:avLst>
          </a:prstGeom>
          <a:solidFill>
            <a:srgbClr val="122C22"/>
          </a:solidFill>
          <a:ln w="12700">
            <a:solidFill>
              <a:srgbClr val="333333"/>
            </a:solidFill>
            <a:prstDash val="solid"/>
          </a:ln>
        </p:spPr>
        <p:txBody>
          <a:bodyPr/>
          <a:lstStyle/>
          <a:p>
            <a:endParaRPr lang="en-SE" sz="2000"/>
          </a:p>
        </p:txBody>
      </p:sp>
      <p:sp>
        <p:nvSpPr>
          <p:cNvPr id="54" name="Text 52"/>
          <p:cNvSpPr/>
          <p:nvPr/>
        </p:nvSpPr>
        <p:spPr>
          <a:xfrm>
            <a:off x="566928" y="4983480"/>
            <a:ext cx="1691640" cy="329184"/>
          </a:xfrm>
          <a:prstGeom prst="rect">
            <a:avLst/>
          </a:prstGeom>
          <a:noFill/>
          <a:ln/>
        </p:spPr>
        <p:txBody>
          <a:bodyPr wrap="square" lIns="0" tIns="0" rIns="0" bIns="0" rtlCol="0" anchor="ctr"/>
          <a:lstStyle/>
          <a:p>
            <a:pPr marL="0" indent="0" algn="ctr">
              <a:buNone/>
            </a:pPr>
            <a:r>
              <a:rPr lang="en-US" sz="1400" b="1" kern="0" spc="80" dirty="0">
                <a:solidFill>
                  <a:srgbClr val="3FE08A"/>
                </a:solidFill>
                <a:latin typeface="Consolas" pitchFamily="34" charset="0"/>
                <a:ea typeface="Consolas" pitchFamily="34" charset="-122"/>
                <a:cs typeface="Consolas" pitchFamily="34" charset="-120"/>
              </a:rPr>
              <a:t>LIVE</a:t>
            </a:r>
            <a:endParaRPr lang="en-US" sz="1400" dirty="0"/>
          </a:p>
        </p:txBody>
      </p:sp>
      <p:sp>
        <p:nvSpPr>
          <p:cNvPr id="55" name="Text 53"/>
          <p:cNvSpPr/>
          <p:nvPr/>
        </p:nvSpPr>
        <p:spPr>
          <a:xfrm>
            <a:off x="2395728" y="4983480"/>
            <a:ext cx="1691640" cy="329184"/>
          </a:xfrm>
          <a:prstGeom prst="rect">
            <a:avLst/>
          </a:prstGeom>
          <a:noFill/>
          <a:ln/>
        </p:spPr>
        <p:txBody>
          <a:bodyPr wrap="square" lIns="0" tIns="0" rIns="0" bIns="0" rtlCol="0" anchor="ctr"/>
          <a:lstStyle/>
          <a:p>
            <a:pPr marL="0" indent="0">
              <a:lnSpc>
                <a:spcPct val="100000"/>
              </a:lnSpc>
              <a:buNone/>
            </a:pPr>
            <a:r>
              <a:rPr lang="en-US" sz="1100" dirty="0">
                <a:solidFill>
                  <a:srgbClr val="AAB7C2"/>
                </a:solidFill>
                <a:latin typeface="Segoe UI" pitchFamily="34" charset="0"/>
                <a:ea typeface="Segoe UI" pitchFamily="34" charset="-122"/>
                <a:cs typeface="Segoe UI" pitchFamily="34" charset="-120"/>
              </a:rPr>
              <a:t>The feed is connected and healthy.</a:t>
            </a:r>
            <a:endParaRPr lang="en-US" sz="1100" dirty="0"/>
          </a:p>
        </p:txBody>
      </p:sp>
      <p:sp>
        <p:nvSpPr>
          <p:cNvPr id="56" name="badge background">
            <a:extLst>
              <a:ext uri="{C183D7F6-B498-43B3-948B-1728B52AA6E4}">
                <adec:decorative xmlns:adec="http://schemas.microsoft.com/office/drawing/2017/decorative" val="1"/>
              </a:ext>
            </a:extLst>
          </p:cNvPr>
          <p:cNvSpPr/>
          <p:nvPr/>
        </p:nvSpPr>
        <p:spPr>
          <a:xfrm>
            <a:off x="4279392" y="4983480"/>
            <a:ext cx="1691640" cy="329184"/>
          </a:xfrm>
          <a:prstGeom prst="roundRect">
            <a:avLst>
              <a:gd name="adj" fmla="val 25000"/>
            </a:avLst>
          </a:prstGeom>
          <a:solidFill>
            <a:srgbClr val="6B4A0F"/>
          </a:solidFill>
          <a:ln w="12700">
            <a:solidFill>
              <a:srgbClr val="333333"/>
            </a:solidFill>
            <a:prstDash val="solid"/>
          </a:ln>
        </p:spPr>
        <p:txBody>
          <a:bodyPr/>
          <a:lstStyle/>
          <a:p>
            <a:endParaRPr lang="en-SE" sz="2000"/>
          </a:p>
        </p:txBody>
      </p:sp>
      <p:sp>
        <p:nvSpPr>
          <p:cNvPr id="57" name="Text 55"/>
          <p:cNvSpPr/>
          <p:nvPr/>
        </p:nvSpPr>
        <p:spPr>
          <a:xfrm>
            <a:off x="4279392" y="4983480"/>
            <a:ext cx="1691640" cy="329184"/>
          </a:xfrm>
          <a:prstGeom prst="rect">
            <a:avLst/>
          </a:prstGeom>
          <a:noFill/>
          <a:ln/>
        </p:spPr>
        <p:txBody>
          <a:bodyPr wrap="square" lIns="0" tIns="0" rIns="0" bIns="0" rtlCol="0" anchor="ctr"/>
          <a:lstStyle/>
          <a:p>
            <a:pPr marL="0" indent="0" algn="ctr">
              <a:buNone/>
            </a:pPr>
            <a:r>
              <a:rPr lang="en-US" sz="1400" b="1" kern="0" spc="80" dirty="0">
                <a:solidFill>
                  <a:srgbClr val="F5A524"/>
                </a:solidFill>
                <a:latin typeface="Consolas" pitchFamily="34" charset="0"/>
                <a:ea typeface="Consolas" pitchFamily="34" charset="-122"/>
                <a:cs typeface="Consolas" pitchFamily="34" charset="-120"/>
              </a:rPr>
              <a:t>RECONNECTING</a:t>
            </a:r>
            <a:endParaRPr lang="en-US" sz="1400" dirty="0"/>
          </a:p>
        </p:txBody>
      </p:sp>
      <p:sp>
        <p:nvSpPr>
          <p:cNvPr id="58" name="Text 56"/>
          <p:cNvSpPr/>
          <p:nvPr/>
        </p:nvSpPr>
        <p:spPr>
          <a:xfrm>
            <a:off x="6108192" y="4983480"/>
            <a:ext cx="1691640" cy="329184"/>
          </a:xfrm>
          <a:prstGeom prst="rect">
            <a:avLst/>
          </a:prstGeom>
          <a:noFill/>
          <a:ln/>
        </p:spPr>
        <p:txBody>
          <a:bodyPr wrap="square" lIns="0" tIns="0" rIns="0" bIns="0" rtlCol="0" anchor="ctr"/>
          <a:lstStyle/>
          <a:p>
            <a:pPr marL="0" indent="0">
              <a:lnSpc>
                <a:spcPct val="100000"/>
              </a:lnSpc>
              <a:buNone/>
            </a:pPr>
            <a:r>
              <a:rPr lang="en-US" sz="1100" dirty="0">
                <a:solidFill>
                  <a:srgbClr val="AAB7C2"/>
                </a:solidFill>
                <a:latin typeface="Segoe UI" pitchFamily="34" charset="0"/>
                <a:ea typeface="Segoe UI" pitchFamily="34" charset="-122"/>
                <a:cs typeface="Segoe UI" pitchFamily="34" charset="-120"/>
              </a:rPr>
              <a:t>The connection dropped; the terminal is retrying.</a:t>
            </a:r>
            <a:endParaRPr lang="en-US" sz="1100" dirty="0"/>
          </a:p>
        </p:txBody>
      </p:sp>
      <p:sp>
        <p:nvSpPr>
          <p:cNvPr id="59" name="badge background">
            <a:extLst>
              <a:ext uri="{C183D7F6-B498-43B3-948B-1728B52AA6E4}">
                <adec:decorative xmlns:adec="http://schemas.microsoft.com/office/drawing/2017/decorative" val="1"/>
              </a:ext>
            </a:extLst>
          </p:cNvPr>
          <p:cNvSpPr/>
          <p:nvPr/>
        </p:nvSpPr>
        <p:spPr>
          <a:xfrm>
            <a:off x="7991856" y="4983480"/>
            <a:ext cx="1691640" cy="329184"/>
          </a:xfrm>
          <a:prstGeom prst="roundRect">
            <a:avLst>
              <a:gd name="adj" fmla="val 25000"/>
            </a:avLst>
          </a:prstGeom>
          <a:solidFill>
            <a:srgbClr val="6B2226"/>
          </a:solidFill>
          <a:ln w="12700">
            <a:solidFill>
              <a:srgbClr val="333333"/>
            </a:solidFill>
            <a:prstDash val="solid"/>
          </a:ln>
        </p:spPr>
        <p:txBody>
          <a:bodyPr/>
          <a:lstStyle/>
          <a:p>
            <a:endParaRPr lang="en-SE" sz="2000"/>
          </a:p>
        </p:txBody>
      </p:sp>
      <p:sp>
        <p:nvSpPr>
          <p:cNvPr id="60" name="Text 58"/>
          <p:cNvSpPr/>
          <p:nvPr/>
        </p:nvSpPr>
        <p:spPr>
          <a:xfrm>
            <a:off x="7991856" y="4983480"/>
            <a:ext cx="1691640" cy="329184"/>
          </a:xfrm>
          <a:prstGeom prst="rect">
            <a:avLst/>
          </a:prstGeom>
          <a:noFill/>
          <a:ln/>
        </p:spPr>
        <p:txBody>
          <a:bodyPr wrap="square" lIns="0" tIns="0" rIns="0" bIns="0" rtlCol="0" anchor="ctr"/>
          <a:lstStyle/>
          <a:p>
            <a:pPr marL="0" indent="0" algn="ctr">
              <a:buNone/>
            </a:pPr>
            <a:r>
              <a:rPr lang="en-US" sz="1400" b="1" kern="0" spc="80" dirty="0">
                <a:solidFill>
                  <a:srgbClr val="EF5B63"/>
                </a:solidFill>
                <a:latin typeface="Consolas" pitchFamily="34" charset="0"/>
                <a:ea typeface="Consolas" pitchFamily="34" charset="-122"/>
                <a:cs typeface="Consolas" pitchFamily="34" charset="-120"/>
              </a:rPr>
              <a:t>OFFLINE</a:t>
            </a:r>
            <a:endParaRPr lang="en-US" sz="1400" dirty="0"/>
          </a:p>
        </p:txBody>
      </p:sp>
      <p:sp>
        <p:nvSpPr>
          <p:cNvPr id="61" name="Text 59"/>
          <p:cNvSpPr/>
          <p:nvPr/>
        </p:nvSpPr>
        <p:spPr>
          <a:xfrm>
            <a:off x="9820656" y="4983480"/>
            <a:ext cx="1691640" cy="329184"/>
          </a:xfrm>
          <a:prstGeom prst="rect">
            <a:avLst/>
          </a:prstGeom>
          <a:noFill/>
          <a:ln/>
        </p:spPr>
        <p:txBody>
          <a:bodyPr wrap="square" lIns="0" tIns="0" rIns="0" bIns="0" rtlCol="0" anchor="ctr"/>
          <a:lstStyle/>
          <a:p>
            <a:pPr marL="0" indent="0">
              <a:lnSpc>
                <a:spcPct val="100000"/>
              </a:lnSpc>
              <a:buNone/>
            </a:pPr>
            <a:r>
              <a:rPr lang="en-US" sz="1100" dirty="0">
                <a:solidFill>
                  <a:srgbClr val="AAB7C2"/>
                </a:solidFill>
                <a:latin typeface="Segoe UI" pitchFamily="34" charset="0"/>
                <a:ea typeface="Segoe UI" pitchFamily="34" charset="-122"/>
                <a:cs typeface="Segoe UI" pitchFamily="34" charset="-120"/>
              </a:rPr>
              <a:t>No connection to the feed.</a:t>
            </a:r>
            <a:endParaRPr lang="en-US" sz="1100" dirty="0"/>
          </a:p>
        </p:txBody>
      </p:sp>
      <p:sp>
        <p:nvSpPr>
          <p:cNvPr id="62" name="callout background">
            <a:extLst>
              <a:ext uri="{C183D7F6-B498-43B3-948B-1728B52AA6E4}">
                <adec:decorative xmlns:adec="http://schemas.microsoft.com/office/drawing/2017/decorative" val="1"/>
              </a:ext>
            </a:extLst>
          </p:cNvPr>
          <p:cNvSpPr/>
          <p:nvPr/>
        </p:nvSpPr>
        <p:spPr>
          <a:xfrm>
            <a:off x="566928" y="5577840"/>
            <a:ext cx="10607040" cy="621792"/>
          </a:xfrm>
          <a:prstGeom prst="rect">
            <a:avLst/>
          </a:prstGeom>
          <a:solidFill>
            <a:srgbClr val="273037"/>
          </a:solidFill>
          <a:ln w="12700">
            <a:solidFill>
              <a:srgbClr val="313B44"/>
            </a:solidFill>
            <a:prstDash val="solid"/>
          </a:ln>
        </p:spPr>
        <p:txBody>
          <a:bodyPr/>
          <a:lstStyle/>
          <a:p>
            <a:endParaRPr lang="en-SE" sz="2000"/>
          </a:p>
        </p:txBody>
      </p:sp>
      <p:sp>
        <p:nvSpPr>
          <p:cNvPr id="63" name="Text 61"/>
          <p:cNvSpPr/>
          <p:nvPr/>
        </p:nvSpPr>
        <p:spPr>
          <a:xfrm>
            <a:off x="868680" y="5577840"/>
            <a:ext cx="10058400" cy="621792"/>
          </a:xfrm>
          <a:prstGeom prst="rect">
            <a:avLst/>
          </a:prstGeom>
          <a:noFill/>
          <a:ln/>
        </p:spPr>
        <p:txBody>
          <a:bodyPr wrap="square" lIns="0" tIns="0" rIns="0" bIns="0" rtlCol="0" anchor="ctr"/>
          <a:lstStyle/>
          <a:p>
            <a:pPr marL="0" indent="0">
              <a:buNone/>
            </a:pPr>
            <a:r>
              <a:rPr lang="en-US" sz="1400" b="1" dirty="0">
                <a:solidFill>
                  <a:srgbClr val="E6EDF3"/>
                </a:solidFill>
                <a:latin typeface="Segoe UI" pitchFamily="34" charset="0"/>
                <a:ea typeface="Segoe UI" pitchFamily="34" charset="-122"/>
                <a:cs typeface="Segoe UI" pitchFamily="34" charset="-120"/>
              </a:rPr>
              <a:t>Density and theme are stored in your own browser.  </a:t>
            </a:r>
            <a:r>
              <a:rPr lang="en-US" sz="1400" dirty="0">
                <a:solidFill>
                  <a:srgbClr val="AAB7C2"/>
                </a:solidFill>
                <a:latin typeface="Segoe UI" pitchFamily="34" charset="0"/>
                <a:ea typeface="Segoe UI" pitchFamily="34" charset="-122"/>
                <a:cs typeface="Segoe UI" pitchFamily="34" charset="-120"/>
              </a:rPr>
              <a:t>A different browser, machine or profile always starts on Standard — so don't be surprised when the wallboard looks different from your laptop.</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sz="2400"/>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sz="2400"/>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sz="2400"/>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sz="2400"/>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sz="2400"/>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The status strip: two readings, not one</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03 · SCREENS</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15</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This single line is the most valuable thing on the screen for an operator. Read it left to right.</a:t>
            </a:r>
            <a:endParaRPr lang="en-US" sz="1400" dirty="0"/>
          </a:p>
        </p:txBody>
      </p:sp>
      <p:sp>
        <p:nvSpPr>
          <p:cNvPr id="38" name="status strip mock">
            <a:extLst>
              <a:ext uri="{C183D7F6-B498-43B3-948B-1728B52AA6E4}">
                <adec:decorative xmlns:adec="http://schemas.microsoft.com/office/drawing/2017/decorative" val="1"/>
              </a:ext>
            </a:extLst>
          </p:cNvPr>
          <p:cNvSpPr/>
          <p:nvPr/>
        </p:nvSpPr>
        <p:spPr>
          <a:xfrm>
            <a:off x="566927" y="1920240"/>
            <a:ext cx="11261657" cy="566928"/>
          </a:xfrm>
          <a:prstGeom prst="rect">
            <a:avLst/>
          </a:prstGeom>
          <a:solidFill>
            <a:srgbClr val="20272D"/>
          </a:solidFill>
          <a:ln w="12700">
            <a:solidFill>
              <a:srgbClr val="313B44"/>
            </a:solidFill>
            <a:prstDash val="solid"/>
          </a:ln>
        </p:spPr>
        <p:txBody>
          <a:bodyPr/>
          <a:lstStyle/>
          <a:p>
            <a:endParaRPr lang="en-SE" sz="2400"/>
          </a:p>
        </p:txBody>
      </p:sp>
      <p:sp>
        <p:nvSpPr>
          <p:cNvPr id="39" name="Text 37"/>
          <p:cNvSpPr/>
          <p:nvPr/>
        </p:nvSpPr>
        <p:spPr>
          <a:xfrm>
            <a:off x="777240" y="1920240"/>
            <a:ext cx="1737360" cy="566928"/>
          </a:xfrm>
          <a:prstGeom prst="rect">
            <a:avLst/>
          </a:prstGeom>
          <a:noFill/>
          <a:ln/>
        </p:spPr>
        <p:txBody>
          <a:bodyPr wrap="square" lIns="0" tIns="0" rIns="0" bIns="0" rtlCol="0" anchor="ctr"/>
          <a:lstStyle/>
          <a:p>
            <a:pPr marL="0" indent="0">
              <a:buNone/>
            </a:pPr>
            <a:r>
              <a:rPr lang="en-US" sz="1100" dirty="0">
                <a:solidFill>
                  <a:srgbClr val="AAB7C2"/>
                </a:solidFill>
                <a:latin typeface="Consolas" pitchFamily="34" charset="0"/>
                <a:ea typeface="Consolas" pitchFamily="34" charset="-122"/>
                <a:cs typeface="Consolas" pitchFamily="34" charset="-120"/>
              </a:rPr>
              <a:t>CONTINUOUS</a:t>
            </a:r>
            <a:endParaRPr lang="en-US" sz="1100" dirty="0"/>
          </a:p>
        </p:txBody>
      </p:sp>
      <p:sp>
        <p:nvSpPr>
          <p:cNvPr id="40" name="Text 38"/>
          <p:cNvSpPr/>
          <p:nvPr/>
        </p:nvSpPr>
        <p:spPr>
          <a:xfrm>
            <a:off x="2606040" y="1920240"/>
            <a:ext cx="2011680" cy="566928"/>
          </a:xfrm>
          <a:prstGeom prst="rect">
            <a:avLst/>
          </a:prstGeom>
          <a:noFill/>
          <a:ln/>
        </p:spPr>
        <p:txBody>
          <a:bodyPr wrap="square" lIns="0" tIns="0" rIns="0" bIns="0" rtlCol="0" anchor="ctr"/>
          <a:lstStyle/>
          <a:p>
            <a:pPr marL="0" indent="0">
              <a:buNone/>
            </a:pPr>
            <a:r>
              <a:rPr lang="en-US" sz="1100" dirty="0">
                <a:solidFill>
                  <a:srgbClr val="AAB7C2"/>
                </a:solidFill>
                <a:latin typeface="Consolas" pitchFamily="34" charset="0"/>
                <a:ea typeface="Consolas" pitchFamily="34" charset="-122"/>
                <a:cs typeface="Consolas" pitchFamily="34" charset="-120"/>
              </a:rPr>
              <a:t>next phase 01:12:40</a:t>
            </a:r>
            <a:endParaRPr lang="en-US" sz="1100" dirty="0"/>
          </a:p>
        </p:txBody>
      </p:sp>
      <p:sp>
        <p:nvSpPr>
          <p:cNvPr id="41" name="Text 39"/>
          <p:cNvSpPr/>
          <p:nvPr/>
        </p:nvSpPr>
        <p:spPr>
          <a:xfrm>
            <a:off x="4754880" y="1920240"/>
            <a:ext cx="1188720" cy="566928"/>
          </a:xfrm>
          <a:prstGeom prst="rect">
            <a:avLst/>
          </a:prstGeom>
          <a:noFill/>
          <a:ln/>
        </p:spPr>
        <p:txBody>
          <a:bodyPr wrap="square" lIns="0" tIns="0" rIns="0" bIns="0" rtlCol="0" anchor="ctr"/>
          <a:lstStyle/>
          <a:p>
            <a:pPr marL="0" indent="0">
              <a:buNone/>
            </a:pPr>
            <a:r>
              <a:rPr lang="en-US" sz="1100" dirty="0">
                <a:solidFill>
                  <a:srgbClr val="F5A524"/>
                </a:solidFill>
                <a:latin typeface="Consolas" pitchFamily="34" charset="0"/>
                <a:ea typeface="Consolas" pitchFamily="34" charset="-122"/>
                <a:cs typeface="Consolas" pitchFamily="34" charset="-120"/>
              </a:rPr>
              <a:t>2 halted</a:t>
            </a:r>
            <a:endParaRPr lang="en-US" sz="1100" dirty="0"/>
          </a:p>
        </p:txBody>
      </p:sp>
      <p:sp>
        <p:nvSpPr>
          <p:cNvPr id="42" name="Text 40"/>
          <p:cNvSpPr/>
          <p:nvPr/>
        </p:nvSpPr>
        <p:spPr>
          <a:xfrm>
            <a:off x="6080760" y="1920240"/>
            <a:ext cx="1371600" cy="566928"/>
          </a:xfrm>
          <a:prstGeom prst="rect">
            <a:avLst/>
          </a:prstGeom>
          <a:noFill/>
          <a:ln/>
        </p:spPr>
        <p:txBody>
          <a:bodyPr wrap="square" lIns="0" tIns="0" rIns="0" bIns="0" rtlCol="0" anchor="ctr"/>
          <a:lstStyle/>
          <a:p>
            <a:pPr marL="0" indent="0">
              <a:buNone/>
            </a:pPr>
            <a:r>
              <a:rPr lang="en-US" sz="1100" dirty="0">
                <a:solidFill>
                  <a:srgbClr val="AAB7C2"/>
                </a:solidFill>
                <a:latin typeface="Consolas" pitchFamily="34" charset="0"/>
                <a:ea typeface="Consolas" pitchFamily="34" charset="-122"/>
                <a:cs typeface="Consolas" pitchFamily="34" charset="-120"/>
              </a:rPr>
              <a:t>120 symbols</a:t>
            </a:r>
            <a:endParaRPr lang="en-US" sz="1100" dirty="0"/>
          </a:p>
        </p:txBody>
      </p:sp>
      <p:sp>
        <p:nvSpPr>
          <p:cNvPr id="43" name="Text 41"/>
          <p:cNvSpPr/>
          <p:nvPr/>
        </p:nvSpPr>
        <p:spPr>
          <a:xfrm>
            <a:off x="7589520" y="1920240"/>
            <a:ext cx="1737360" cy="566928"/>
          </a:xfrm>
          <a:prstGeom prst="rect">
            <a:avLst/>
          </a:prstGeom>
          <a:noFill/>
          <a:ln/>
        </p:spPr>
        <p:txBody>
          <a:bodyPr wrap="square" lIns="0" tIns="0" rIns="0" bIns="0" rtlCol="0" anchor="ctr"/>
          <a:lstStyle/>
          <a:p>
            <a:pPr marL="0" indent="0">
              <a:buNone/>
            </a:pPr>
            <a:r>
              <a:rPr lang="en-US" sz="1100" dirty="0">
                <a:solidFill>
                  <a:srgbClr val="3FE08A"/>
                </a:solidFill>
                <a:latin typeface="Consolas" pitchFamily="34" charset="0"/>
                <a:ea typeface="Consolas" pitchFamily="34" charset="-122"/>
                <a:cs typeface="Consolas" pitchFamily="34" charset="-120"/>
              </a:rPr>
              <a:t>CALF connected</a:t>
            </a:r>
            <a:endParaRPr lang="en-US" sz="1100" dirty="0"/>
          </a:p>
        </p:txBody>
      </p:sp>
      <p:sp>
        <p:nvSpPr>
          <p:cNvPr id="44" name="Text 42"/>
          <p:cNvSpPr/>
          <p:nvPr/>
        </p:nvSpPr>
        <p:spPr>
          <a:xfrm>
            <a:off x="9464040" y="1920240"/>
            <a:ext cx="1371600" cy="566928"/>
          </a:xfrm>
          <a:prstGeom prst="rect">
            <a:avLst/>
          </a:prstGeom>
          <a:noFill/>
          <a:ln/>
        </p:spPr>
        <p:txBody>
          <a:bodyPr wrap="square" lIns="0" tIns="0" rIns="0" bIns="0" rtlCol="0" anchor="ctr"/>
          <a:lstStyle/>
          <a:p>
            <a:pPr marL="0" indent="0">
              <a:buNone/>
            </a:pPr>
            <a:r>
              <a:rPr lang="en-US" sz="1100" dirty="0">
                <a:solidFill>
                  <a:srgbClr val="3FE08A"/>
                </a:solidFill>
                <a:latin typeface="Consolas" pitchFamily="34" charset="0"/>
                <a:ea typeface="Consolas" pitchFamily="34" charset="-122"/>
                <a:cs typeface="Consolas" pitchFamily="34" charset="-120"/>
              </a:rPr>
              <a:t>tick age 0.4s</a:t>
            </a:r>
            <a:endParaRPr lang="en-US" sz="1100" dirty="0"/>
          </a:p>
        </p:txBody>
      </p:sp>
      <p:sp>
        <p:nvSpPr>
          <p:cNvPr id="45" name="Text 43"/>
          <p:cNvSpPr/>
          <p:nvPr/>
        </p:nvSpPr>
        <p:spPr>
          <a:xfrm>
            <a:off x="10927080" y="1920240"/>
            <a:ext cx="1005840" cy="566928"/>
          </a:xfrm>
          <a:prstGeom prst="rect">
            <a:avLst/>
          </a:prstGeom>
          <a:noFill/>
          <a:ln/>
        </p:spPr>
        <p:txBody>
          <a:bodyPr wrap="square" lIns="0" tIns="0" rIns="0" bIns="0" rtlCol="0" anchor="ctr"/>
          <a:lstStyle/>
          <a:p>
            <a:pPr marL="0" indent="0">
              <a:buNone/>
            </a:pPr>
            <a:r>
              <a:rPr lang="en-US" sz="1100" dirty="0">
                <a:solidFill>
                  <a:srgbClr val="AAB7C2"/>
                </a:solidFill>
                <a:latin typeface="Consolas" pitchFamily="34" charset="0"/>
                <a:ea typeface="Consolas" pitchFamily="34" charset="-122"/>
                <a:cs typeface="Consolas" pitchFamily="34" charset="-120"/>
              </a:rPr>
              <a:t>13:07 UTC</a:t>
            </a:r>
            <a:endParaRPr lang="en-US" sz="1100" dirty="0"/>
          </a:p>
        </p:txBody>
      </p:sp>
      <p:sp>
        <p:nvSpPr>
          <p:cNvPr id="46" name="separator">
            <a:extLst>
              <a:ext uri="{C183D7F6-B498-43B3-948B-1728B52AA6E4}">
                <adec:decorative xmlns:adec="http://schemas.microsoft.com/office/drawing/2017/decorative" val="1"/>
              </a:ext>
            </a:extLst>
          </p:cNvPr>
          <p:cNvSpPr/>
          <p:nvPr/>
        </p:nvSpPr>
        <p:spPr>
          <a:xfrm>
            <a:off x="2468880" y="2057400"/>
            <a:ext cx="0" cy="292608"/>
          </a:xfrm>
          <a:prstGeom prst="line">
            <a:avLst/>
          </a:prstGeom>
          <a:noFill/>
          <a:ln w="12700">
            <a:solidFill>
              <a:srgbClr val="313B44"/>
            </a:solidFill>
            <a:prstDash val="solid"/>
          </a:ln>
        </p:spPr>
        <p:txBody>
          <a:bodyPr/>
          <a:lstStyle/>
          <a:p>
            <a:endParaRPr lang="en-SE" sz="2400"/>
          </a:p>
        </p:txBody>
      </p:sp>
      <p:sp>
        <p:nvSpPr>
          <p:cNvPr id="47" name="separator">
            <a:extLst>
              <a:ext uri="{C183D7F6-B498-43B3-948B-1728B52AA6E4}">
                <adec:decorative xmlns:adec="http://schemas.microsoft.com/office/drawing/2017/decorative" val="1"/>
              </a:ext>
            </a:extLst>
          </p:cNvPr>
          <p:cNvSpPr/>
          <p:nvPr/>
        </p:nvSpPr>
        <p:spPr>
          <a:xfrm>
            <a:off x="4617720" y="2057400"/>
            <a:ext cx="0" cy="292608"/>
          </a:xfrm>
          <a:prstGeom prst="line">
            <a:avLst/>
          </a:prstGeom>
          <a:noFill/>
          <a:ln w="12700">
            <a:solidFill>
              <a:srgbClr val="313B44"/>
            </a:solidFill>
            <a:prstDash val="solid"/>
          </a:ln>
        </p:spPr>
        <p:txBody>
          <a:bodyPr/>
          <a:lstStyle/>
          <a:p>
            <a:endParaRPr lang="en-SE" sz="2400"/>
          </a:p>
        </p:txBody>
      </p:sp>
      <p:sp>
        <p:nvSpPr>
          <p:cNvPr id="48" name="separator">
            <a:extLst>
              <a:ext uri="{C183D7F6-B498-43B3-948B-1728B52AA6E4}">
                <adec:decorative xmlns:adec="http://schemas.microsoft.com/office/drawing/2017/decorative" val="1"/>
              </a:ext>
            </a:extLst>
          </p:cNvPr>
          <p:cNvSpPr/>
          <p:nvPr/>
        </p:nvSpPr>
        <p:spPr>
          <a:xfrm>
            <a:off x="5943600" y="2057400"/>
            <a:ext cx="0" cy="292608"/>
          </a:xfrm>
          <a:prstGeom prst="line">
            <a:avLst/>
          </a:prstGeom>
          <a:noFill/>
          <a:ln w="12700">
            <a:solidFill>
              <a:srgbClr val="313B44"/>
            </a:solidFill>
            <a:prstDash val="solid"/>
          </a:ln>
        </p:spPr>
        <p:txBody>
          <a:bodyPr/>
          <a:lstStyle/>
          <a:p>
            <a:endParaRPr lang="en-SE" sz="2400"/>
          </a:p>
        </p:txBody>
      </p:sp>
      <p:sp>
        <p:nvSpPr>
          <p:cNvPr id="49" name="separator">
            <a:extLst>
              <a:ext uri="{C183D7F6-B498-43B3-948B-1728B52AA6E4}">
                <adec:decorative xmlns:adec="http://schemas.microsoft.com/office/drawing/2017/decorative" val="1"/>
              </a:ext>
            </a:extLst>
          </p:cNvPr>
          <p:cNvSpPr/>
          <p:nvPr/>
        </p:nvSpPr>
        <p:spPr>
          <a:xfrm>
            <a:off x="7452360" y="2057400"/>
            <a:ext cx="0" cy="292608"/>
          </a:xfrm>
          <a:prstGeom prst="line">
            <a:avLst/>
          </a:prstGeom>
          <a:noFill/>
          <a:ln w="12700">
            <a:solidFill>
              <a:srgbClr val="313B44"/>
            </a:solidFill>
            <a:prstDash val="solid"/>
          </a:ln>
        </p:spPr>
        <p:txBody>
          <a:bodyPr/>
          <a:lstStyle/>
          <a:p>
            <a:endParaRPr lang="en-SE" sz="2400"/>
          </a:p>
        </p:txBody>
      </p:sp>
      <p:sp>
        <p:nvSpPr>
          <p:cNvPr id="50" name="separator">
            <a:extLst>
              <a:ext uri="{C183D7F6-B498-43B3-948B-1728B52AA6E4}">
                <adec:decorative xmlns:adec="http://schemas.microsoft.com/office/drawing/2017/decorative" val="1"/>
              </a:ext>
            </a:extLst>
          </p:cNvPr>
          <p:cNvSpPr/>
          <p:nvPr/>
        </p:nvSpPr>
        <p:spPr>
          <a:xfrm>
            <a:off x="9326880" y="2057400"/>
            <a:ext cx="0" cy="292608"/>
          </a:xfrm>
          <a:prstGeom prst="line">
            <a:avLst/>
          </a:prstGeom>
          <a:noFill/>
          <a:ln w="12700">
            <a:solidFill>
              <a:srgbClr val="313B44"/>
            </a:solidFill>
            <a:prstDash val="solid"/>
          </a:ln>
        </p:spPr>
        <p:txBody>
          <a:bodyPr/>
          <a:lstStyle/>
          <a:p>
            <a:endParaRPr lang="en-SE" sz="2400"/>
          </a:p>
        </p:txBody>
      </p:sp>
      <p:sp>
        <p:nvSpPr>
          <p:cNvPr id="51" name="separator">
            <a:extLst>
              <a:ext uri="{C183D7F6-B498-43B3-948B-1728B52AA6E4}">
                <adec:decorative xmlns:adec="http://schemas.microsoft.com/office/drawing/2017/decorative" val="1"/>
              </a:ext>
            </a:extLst>
          </p:cNvPr>
          <p:cNvSpPr/>
          <p:nvPr/>
        </p:nvSpPr>
        <p:spPr>
          <a:xfrm>
            <a:off x="10789920" y="2057400"/>
            <a:ext cx="0" cy="292608"/>
          </a:xfrm>
          <a:prstGeom prst="line">
            <a:avLst/>
          </a:prstGeom>
          <a:noFill/>
          <a:ln w="12700">
            <a:solidFill>
              <a:srgbClr val="313B44"/>
            </a:solidFill>
            <a:prstDash val="solid"/>
          </a:ln>
        </p:spPr>
        <p:txBody>
          <a:bodyPr/>
          <a:lstStyle/>
          <a:p>
            <a:endParaRPr lang="en-SE" sz="2400"/>
          </a:p>
        </p:txBody>
      </p:sp>
      <p:sp>
        <p:nvSpPr>
          <p:cNvPr id="52" name="item marker">
            <a:extLst>
              <a:ext uri="{C183D7F6-B498-43B3-948B-1728B52AA6E4}">
                <adec:decorative xmlns:adec="http://schemas.microsoft.com/office/drawing/2017/decorative" val="1"/>
              </a:ext>
            </a:extLst>
          </p:cNvPr>
          <p:cNvSpPr/>
          <p:nvPr/>
        </p:nvSpPr>
        <p:spPr>
          <a:xfrm>
            <a:off x="566928" y="2834640"/>
            <a:ext cx="32004" cy="1051560"/>
          </a:xfrm>
          <a:prstGeom prst="rect">
            <a:avLst/>
          </a:prstGeom>
          <a:solidFill>
            <a:srgbClr val="3FE08A"/>
          </a:solidFill>
          <a:ln w="12700">
            <a:solidFill>
              <a:srgbClr val="333333"/>
            </a:solidFill>
            <a:prstDash val="solid"/>
          </a:ln>
        </p:spPr>
        <p:txBody>
          <a:bodyPr/>
          <a:lstStyle/>
          <a:p>
            <a:endParaRPr lang="en-SE" sz="2400"/>
          </a:p>
        </p:txBody>
      </p:sp>
      <p:sp>
        <p:nvSpPr>
          <p:cNvPr id="53" name="Text 51"/>
          <p:cNvSpPr/>
          <p:nvPr/>
        </p:nvSpPr>
        <p:spPr>
          <a:xfrm>
            <a:off x="749808" y="2788920"/>
            <a:ext cx="3291840" cy="301752"/>
          </a:xfrm>
          <a:prstGeom prst="rect">
            <a:avLst/>
          </a:prstGeom>
          <a:noFill/>
          <a:ln/>
        </p:spPr>
        <p:txBody>
          <a:bodyPr wrap="square" lIns="0" tIns="0" rIns="0" bIns="0" rtlCol="0" anchor="ctr"/>
          <a:lstStyle/>
          <a:p>
            <a:pPr marL="0" indent="0">
              <a:buNone/>
            </a:pPr>
            <a:r>
              <a:rPr lang="en-US" sz="1600" b="1" dirty="0">
                <a:solidFill>
                  <a:srgbClr val="E6EDF3"/>
                </a:solidFill>
                <a:latin typeface="Segoe UI" pitchFamily="34" charset="0"/>
                <a:ea typeface="Segoe UI" pitchFamily="34" charset="-122"/>
                <a:cs typeface="Segoe UI" pitchFamily="34" charset="-120"/>
              </a:rPr>
              <a:t>Session phase</a:t>
            </a:r>
            <a:endParaRPr lang="en-US" sz="1600" dirty="0"/>
          </a:p>
        </p:txBody>
      </p:sp>
      <p:sp>
        <p:nvSpPr>
          <p:cNvPr id="54" name="Text 52"/>
          <p:cNvSpPr/>
          <p:nvPr/>
        </p:nvSpPr>
        <p:spPr>
          <a:xfrm>
            <a:off x="749808" y="3170154"/>
            <a:ext cx="3291840" cy="868680"/>
          </a:xfrm>
          <a:prstGeom prst="rect">
            <a:avLst/>
          </a:prstGeom>
          <a:noFill/>
          <a:ln/>
        </p:spPr>
        <p:txBody>
          <a:bodyPr wrap="square" lIns="0" tIns="0" rIns="0" bIns="0" rtlCol="0" anchor="t"/>
          <a:lstStyle/>
          <a:p>
            <a:pPr marL="0" indent="0">
              <a:lnSpc>
                <a:spcPct val="110000"/>
              </a:lnSpc>
              <a:buNone/>
            </a:pPr>
            <a:r>
              <a:rPr lang="en-US" sz="1200" dirty="0">
                <a:solidFill>
                  <a:srgbClr val="AAB7C2"/>
                </a:solidFill>
                <a:latin typeface="Segoe UI" pitchFamily="34" charset="0"/>
                <a:ea typeface="Segoe UI" pitchFamily="34" charset="-122"/>
                <a:cs typeface="Segoe UI" pitchFamily="34" charset="-120"/>
              </a:rPr>
              <a:t>Which phase the exchange is in. During normal continuous trading there is deliberately no badge at all — the absence of a badge IS the "everything is normal" signal.</a:t>
            </a:r>
            <a:endParaRPr lang="en-US" sz="1200" dirty="0"/>
          </a:p>
        </p:txBody>
      </p:sp>
      <p:sp>
        <p:nvSpPr>
          <p:cNvPr id="55" name="item marker">
            <a:extLst>
              <a:ext uri="{C183D7F6-B498-43B3-948B-1728B52AA6E4}">
                <adec:decorative xmlns:adec="http://schemas.microsoft.com/office/drawing/2017/decorative" val="1"/>
              </a:ext>
            </a:extLst>
          </p:cNvPr>
          <p:cNvSpPr/>
          <p:nvPr/>
        </p:nvSpPr>
        <p:spPr>
          <a:xfrm>
            <a:off x="4279392" y="2834640"/>
            <a:ext cx="32004" cy="1051560"/>
          </a:xfrm>
          <a:prstGeom prst="rect">
            <a:avLst/>
          </a:prstGeom>
          <a:solidFill>
            <a:srgbClr val="3FE08A"/>
          </a:solidFill>
          <a:ln w="12700">
            <a:solidFill>
              <a:srgbClr val="333333"/>
            </a:solidFill>
            <a:prstDash val="solid"/>
          </a:ln>
        </p:spPr>
        <p:txBody>
          <a:bodyPr/>
          <a:lstStyle/>
          <a:p>
            <a:endParaRPr lang="en-SE" sz="2400"/>
          </a:p>
        </p:txBody>
      </p:sp>
      <p:sp>
        <p:nvSpPr>
          <p:cNvPr id="56" name="Text 54"/>
          <p:cNvSpPr/>
          <p:nvPr/>
        </p:nvSpPr>
        <p:spPr>
          <a:xfrm>
            <a:off x="4462272" y="2788920"/>
            <a:ext cx="3291840" cy="301752"/>
          </a:xfrm>
          <a:prstGeom prst="rect">
            <a:avLst/>
          </a:prstGeom>
          <a:noFill/>
          <a:ln/>
        </p:spPr>
        <p:txBody>
          <a:bodyPr wrap="square" lIns="0" tIns="0" rIns="0" bIns="0" rtlCol="0" anchor="ctr"/>
          <a:lstStyle/>
          <a:p>
            <a:pPr marL="0" indent="0">
              <a:buNone/>
            </a:pPr>
            <a:r>
              <a:rPr lang="en-US" sz="1600" b="1" dirty="0">
                <a:solidFill>
                  <a:srgbClr val="E6EDF3"/>
                </a:solidFill>
                <a:latin typeface="Segoe UI" pitchFamily="34" charset="0"/>
                <a:ea typeface="Segoe UI" pitchFamily="34" charset="-122"/>
                <a:cs typeface="Segoe UI" pitchFamily="34" charset="-120"/>
              </a:rPr>
              <a:t>Phase countdown</a:t>
            </a:r>
            <a:endParaRPr lang="en-US" sz="1600" dirty="0"/>
          </a:p>
        </p:txBody>
      </p:sp>
      <p:sp>
        <p:nvSpPr>
          <p:cNvPr id="57" name="Text 55"/>
          <p:cNvSpPr/>
          <p:nvPr/>
        </p:nvSpPr>
        <p:spPr>
          <a:xfrm>
            <a:off x="4462272" y="3170154"/>
            <a:ext cx="3291840" cy="868680"/>
          </a:xfrm>
          <a:prstGeom prst="rect">
            <a:avLst/>
          </a:prstGeom>
          <a:noFill/>
          <a:ln/>
        </p:spPr>
        <p:txBody>
          <a:bodyPr wrap="square" lIns="0" tIns="0" rIns="0" bIns="0" rtlCol="0" anchor="t"/>
          <a:lstStyle/>
          <a:p>
            <a:pPr marL="0" indent="0">
              <a:lnSpc>
                <a:spcPct val="110000"/>
              </a:lnSpc>
              <a:buNone/>
            </a:pPr>
            <a:r>
              <a:rPr lang="en-US" sz="1200" dirty="0">
                <a:solidFill>
                  <a:srgbClr val="AAB7C2"/>
                </a:solidFill>
                <a:latin typeface="Segoe UI" pitchFamily="34" charset="0"/>
                <a:ea typeface="Segoe UI" pitchFamily="34" charset="-122"/>
                <a:cs typeface="Segoe UI" pitchFamily="34" charset="-120"/>
              </a:rPr>
              <a:t>Time until the next scheduled phase transition, when the feed has named one.</a:t>
            </a:r>
            <a:endParaRPr lang="en-US" sz="1200" dirty="0"/>
          </a:p>
        </p:txBody>
      </p:sp>
      <p:sp>
        <p:nvSpPr>
          <p:cNvPr id="58" name="item marker">
            <a:extLst>
              <a:ext uri="{C183D7F6-B498-43B3-948B-1728B52AA6E4}">
                <adec:decorative xmlns:adec="http://schemas.microsoft.com/office/drawing/2017/decorative" val="1"/>
              </a:ext>
            </a:extLst>
          </p:cNvPr>
          <p:cNvSpPr/>
          <p:nvPr/>
        </p:nvSpPr>
        <p:spPr>
          <a:xfrm>
            <a:off x="7991856" y="2834640"/>
            <a:ext cx="32004" cy="1051560"/>
          </a:xfrm>
          <a:prstGeom prst="rect">
            <a:avLst/>
          </a:prstGeom>
          <a:solidFill>
            <a:srgbClr val="3FE08A"/>
          </a:solidFill>
          <a:ln w="12700">
            <a:solidFill>
              <a:srgbClr val="333333"/>
            </a:solidFill>
            <a:prstDash val="solid"/>
          </a:ln>
        </p:spPr>
        <p:txBody>
          <a:bodyPr/>
          <a:lstStyle/>
          <a:p>
            <a:endParaRPr lang="en-SE" sz="2400"/>
          </a:p>
        </p:txBody>
      </p:sp>
      <p:sp>
        <p:nvSpPr>
          <p:cNvPr id="59" name="Text 57"/>
          <p:cNvSpPr/>
          <p:nvPr/>
        </p:nvSpPr>
        <p:spPr>
          <a:xfrm>
            <a:off x="8174736" y="2788920"/>
            <a:ext cx="3291840" cy="301752"/>
          </a:xfrm>
          <a:prstGeom prst="rect">
            <a:avLst/>
          </a:prstGeom>
          <a:noFill/>
          <a:ln/>
        </p:spPr>
        <p:txBody>
          <a:bodyPr wrap="square" lIns="0" tIns="0" rIns="0" bIns="0" rtlCol="0" anchor="ctr"/>
          <a:lstStyle/>
          <a:p>
            <a:pPr marL="0" indent="0">
              <a:buNone/>
            </a:pPr>
            <a:r>
              <a:rPr lang="en-US" sz="1600" b="1" dirty="0">
                <a:solidFill>
                  <a:srgbClr val="E6EDF3"/>
                </a:solidFill>
                <a:latin typeface="Segoe UI" pitchFamily="34" charset="0"/>
                <a:ea typeface="Segoe UI" pitchFamily="34" charset="-122"/>
                <a:cs typeface="Segoe UI" pitchFamily="34" charset="-120"/>
              </a:rPr>
              <a:t>Halted symbols</a:t>
            </a:r>
            <a:endParaRPr lang="en-US" sz="1600" dirty="0"/>
          </a:p>
        </p:txBody>
      </p:sp>
      <p:sp>
        <p:nvSpPr>
          <p:cNvPr id="60" name="Text 58"/>
          <p:cNvSpPr/>
          <p:nvPr/>
        </p:nvSpPr>
        <p:spPr>
          <a:xfrm>
            <a:off x="8174736" y="3170154"/>
            <a:ext cx="3291840" cy="868680"/>
          </a:xfrm>
          <a:prstGeom prst="rect">
            <a:avLst/>
          </a:prstGeom>
          <a:noFill/>
          <a:ln/>
        </p:spPr>
        <p:txBody>
          <a:bodyPr wrap="square" lIns="0" tIns="0" rIns="0" bIns="0" rtlCol="0" anchor="t"/>
          <a:lstStyle/>
          <a:p>
            <a:pPr marL="0" indent="0">
              <a:lnSpc>
                <a:spcPct val="110000"/>
              </a:lnSpc>
              <a:buNone/>
            </a:pPr>
            <a:r>
              <a:rPr lang="en-US" sz="1200" dirty="0">
                <a:solidFill>
                  <a:srgbClr val="AAB7C2"/>
                </a:solidFill>
                <a:latin typeface="Segoe UI" pitchFamily="34" charset="0"/>
                <a:ea typeface="Segoe UI" pitchFamily="34" charset="-122"/>
                <a:cs typeface="Segoe UI" pitchFamily="34" charset="-120"/>
              </a:rPr>
              <a:t>How many symbols are currently halted, and the total symbol count beside it.</a:t>
            </a:r>
            <a:endParaRPr lang="en-US" sz="1200" dirty="0"/>
          </a:p>
        </p:txBody>
      </p:sp>
      <p:sp>
        <p:nvSpPr>
          <p:cNvPr id="61" name="item marker">
            <a:extLst>
              <a:ext uri="{C183D7F6-B498-43B3-948B-1728B52AA6E4}">
                <adec:decorative xmlns:adec="http://schemas.microsoft.com/office/drawing/2017/decorative" val="1"/>
              </a:ext>
            </a:extLst>
          </p:cNvPr>
          <p:cNvSpPr/>
          <p:nvPr/>
        </p:nvSpPr>
        <p:spPr>
          <a:xfrm>
            <a:off x="566928" y="4206240"/>
            <a:ext cx="32004" cy="1051560"/>
          </a:xfrm>
          <a:prstGeom prst="rect">
            <a:avLst/>
          </a:prstGeom>
          <a:solidFill>
            <a:srgbClr val="3FE08A"/>
          </a:solidFill>
          <a:ln w="12700">
            <a:solidFill>
              <a:srgbClr val="333333"/>
            </a:solidFill>
            <a:prstDash val="solid"/>
          </a:ln>
        </p:spPr>
        <p:txBody>
          <a:bodyPr/>
          <a:lstStyle/>
          <a:p>
            <a:endParaRPr lang="en-SE" sz="2400"/>
          </a:p>
        </p:txBody>
      </p:sp>
      <p:sp>
        <p:nvSpPr>
          <p:cNvPr id="62" name="Text 60"/>
          <p:cNvSpPr/>
          <p:nvPr/>
        </p:nvSpPr>
        <p:spPr>
          <a:xfrm>
            <a:off x="749808" y="4160520"/>
            <a:ext cx="3291840" cy="301752"/>
          </a:xfrm>
          <a:prstGeom prst="rect">
            <a:avLst/>
          </a:prstGeom>
          <a:noFill/>
          <a:ln/>
        </p:spPr>
        <p:txBody>
          <a:bodyPr wrap="square" lIns="0" tIns="0" rIns="0" bIns="0" rtlCol="0" anchor="ctr"/>
          <a:lstStyle/>
          <a:p>
            <a:pPr marL="0" indent="0">
              <a:buNone/>
            </a:pPr>
            <a:r>
              <a:rPr lang="en-US" sz="1600" b="1" dirty="0">
                <a:solidFill>
                  <a:srgbClr val="E6EDF3"/>
                </a:solidFill>
                <a:latin typeface="Segoe UI" pitchFamily="34" charset="0"/>
                <a:ea typeface="Segoe UI" pitchFamily="34" charset="-122"/>
                <a:cs typeface="Segoe UI" pitchFamily="34" charset="-120"/>
              </a:rPr>
              <a:t>Connection state</a:t>
            </a:r>
            <a:endParaRPr lang="en-US" sz="1600" dirty="0"/>
          </a:p>
        </p:txBody>
      </p:sp>
      <p:sp>
        <p:nvSpPr>
          <p:cNvPr id="63" name="Text 61"/>
          <p:cNvSpPr/>
          <p:nvPr/>
        </p:nvSpPr>
        <p:spPr>
          <a:xfrm>
            <a:off x="749808" y="4541754"/>
            <a:ext cx="3291840" cy="868680"/>
          </a:xfrm>
          <a:prstGeom prst="rect">
            <a:avLst/>
          </a:prstGeom>
          <a:noFill/>
          <a:ln/>
        </p:spPr>
        <p:txBody>
          <a:bodyPr wrap="square" lIns="0" tIns="0" rIns="0" bIns="0" rtlCol="0" anchor="t"/>
          <a:lstStyle/>
          <a:p>
            <a:pPr marL="0" indent="0">
              <a:lnSpc>
                <a:spcPct val="110000"/>
              </a:lnSpc>
              <a:buNone/>
            </a:pPr>
            <a:r>
              <a:rPr lang="en-US" sz="1200" dirty="0">
                <a:solidFill>
                  <a:srgbClr val="AAB7C2"/>
                </a:solidFill>
                <a:latin typeface="Segoe UI" pitchFamily="34" charset="0"/>
                <a:ea typeface="Segoe UI" pitchFamily="34" charset="-122"/>
                <a:cs typeface="Segoe UI" pitchFamily="34" charset="-120"/>
              </a:rPr>
              <a:t>Whether the pipe to the feed is open.</a:t>
            </a:r>
            <a:endParaRPr lang="en-US" sz="1200" dirty="0"/>
          </a:p>
        </p:txBody>
      </p:sp>
      <p:sp>
        <p:nvSpPr>
          <p:cNvPr id="64" name="item marker">
            <a:extLst>
              <a:ext uri="{C183D7F6-B498-43B3-948B-1728B52AA6E4}">
                <adec:decorative xmlns:adec="http://schemas.microsoft.com/office/drawing/2017/decorative" val="1"/>
              </a:ext>
            </a:extLst>
          </p:cNvPr>
          <p:cNvSpPr/>
          <p:nvPr/>
        </p:nvSpPr>
        <p:spPr>
          <a:xfrm>
            <a:off x="4279392" y="4206240"/>
            <a:ext cx="32004" cy="1051560"/>
          </a:xfrm>
          <a:prstGeom prst="rect">
            <a:avLst/>
          </a:prstGeom>
          <a:solidFill>
            <a:srgbClr val="3FE08A"/>
          </a:solidFill>
          <a:ln w="12700">
            <a:solidFill>
              <a:srgbClr val="333333"/>
            </a:solidFill>
            <a:prstDash val="solid"/>
          </a:ln>
        </p:spPr>
        <p:txBody>
          <a:bodyPr/>
          <a:lstStyle/>
          <a:p>
            <a:endParaRPr lang="en-SE" sz="2400"/>
          </a:p>
        </p:txBody>
      </p:sp>
      <p:sp>
        <p:nvSpPr>
          <p:cNvPr id="65" name="Text 63"/>
          <p:cNvSpPr/>
          <p:nvPr/>
        </p:nvSpPr>
        <p:spPr>
          <a:xfrm>
            <a:off x="4462272" y="4160520"/>
            <a:ext cx="3291840" cy="301752"/>
          </a:xfrm>
          <a:prstGeom prst="rect">
            <a:avLst/>
          </a:prstGeom>
          <a:noFill/>
          <a:ln/>
        </p:spPr>
        <p:txBody>
          <a:bodyPr wrap="square" lIns="0" tIns="0" rIns="0" bIns="0" rtlCol="0" anchor="ctr"/>
          <a:lstStyle/>
          <a:p>
            <a:pPr marL="0" indent="0">
              <a:buNone/>
            </a:pPr>
            <a:r>
              <a:rPr lang="en-US" sz="1600" b="1" dirty="0">
                <a:solidFill>
                  <a:srgbClr val="E6EDF3"/>
                </a:solidFill>
                <a:latin typeface="Segoe UI" pitchFamily="34" charset="0"/>
                <a:ea typeface="Segoe UI" pitchFamily="34" charset="-122"/>
                <a:cs typeface="Segoe UI" pitchFamily="34" charset="-120"/>
              </a:rPr>
              <a:t>Tick age</a:t>
            </a:r>
            <a:endParaRPr lang="en-US" sz="1600" dirty="0"/>
          </a:p>
        </p:txBody>
      </p:sp>
      <p:sp>
        <p:nvSpPr>
          <p:cNvPr id="66" name="Text 64"/>
          <p:cNvSpPr/>
          <p:nvPr/>
        </p:nvSpPr>
        <p:spPr>
          <a:xfrm>
            <a:off x="4462272" y="4541754"/>
            <a:ext cx="3291840" cy="868680"/>
          </a:xfrm>
          <a:prstGeom prst="rect">
            <a:avLst/>
          </a:prstGeom>
          <a:noFill/>
          <a:ln/>
        </p:spPr>
        <p:txBody>
          <a:bodyPr wrap="square" lIns="0" tIns="0" rIns="0" bIns="0" rtlCol="0" anchor="t"/>
          <a:lstStyle/>
          <a:p>
            <a:pPr marL="0" indent="0">
              <a:lnSpc>
                <a:spcPct val="110000"/>
              </a:lnSpc>
              <a:buNone/>
            </a:pPr>
            <a:r>
              <a:rPr lang="en-US" sz="1200" dirty="0">
                <a:solidFill>
                  <a:srgbClr val="AAB7C2"/>
                </a:solidFill>
                <a:latin typeface="Segoe UI" pitchFamily="34" charset="0"/>
                <a:ea typeface="Segoe UI" pitchFamily="34" charset="-122"/>
                <a:cs typeface="Segoe UI" pitchFamily="34" charset="-120"/>
              </a:rPr>
              <a:t>How long since the last market-data update actually arrived. This is the separate, crucial second reading.</a:t>
            </a:r>
            <a:endParaRPr lang="en-US" sz="1200" dirty="0"/>
          </a:p>
        </p:txBody>
      </p:sp>
      <p:sp>
        <p:nvSpPr>
          <p:cNvPr id="67" name="item marker">
            <a:extLst>
              <a:ext uri="{C183D7F6-B498-43B3-948B-1728B52AA6E4}">
                <adec:decorative xmlns:adec="http://schemas.microsoft.com/office/drawing/2017/decorative" val="1"/>
              </a:ext>
            </a:extLst>
          </p:cNvPr>
          <p:cNvSpPr/>
          <p:nvPr/>
        </p:nvSpPr>
        <p:spPr>
          <a:xfrm>
            <a:off x="7991856" y="4206240"/>
            <a:ext cx="32004" cy="1051560"/>
          </a:xfrm>
          <a:prstGeom prst="rect">
            <a:avLst/>
          </a:prstGeom>
          <a:solidFill>
            <a:srgbClr val="3FE08A"/>
          </a:solidFill>
          <a:ln w="12700">
            <a:solidFill>
              <a:srgbClr val="333333"/>
            </a:solidFill>
            <a:prstDash val="solid"/>
          </a:ln>
        </p:spPr>
        <p:txBody>
          <a:bodyPr/>
          <a:lstStyle/>
          <a:p>
            <a:endParaRPr lang="en-SE" sz="2400"/>
          </a:p>
        </p:txBody>
      </p:sp>
      <p:sp>
        <p:nvSpPr>
          <p:cNvPr id="68" name="Text 66"/>
          <p:cNvSpPr/>
          <p:nvPr/>
        </p:nvSpPr>
        <p:spPr>
          <a:xfrm>
            <a:off x="8174736" y="4160520"/>
            <a:ext cx="3291840" cy="301752"/>
          </a:xfrm>
          <a:prstGeom prst="rect">
            <a:avLst/>
          </a:prstGeom>
          <a:noFill/>
          <a:ln/>
        </p:spPr>
        <p:txBody>
          <a:bodyPr wrap="square" lIns="0" tIns="0" rIns="0" bIns="0" rtlCol="0" anchor="ctr"/>
          <a:lstStyle/>
          <a:p>
            <a:pPr marL="0" indent="0">
              <a:buNone/>
            </a:pPr>
            <a:r>
              <a:rPr lang="en-US" sz="1600" b="1" dirty="0">
                <a:solidFill>
                  <a:srgbClr val="E6EDF3"/>
                </a:solidFill>
                <a:latin typeface="Segoe UI" pitchFamily="34" charset="0"/>
                <a:ea typeface="Segoe UI" pitchFamily="34" charset="-122"/>
                <a:cs typeface="Segoe UI" pitchFamily="34" charset="-120"/>
              </a:rPr>
              <a:t>UTC clock</a:t>
            </a:r>
            <a:endParaRPr lang="en-US" sz="1600" dirty="0"/>
          </a:p>
        </p:txBody>
      </p:sp>
      <p:sp>
        <p:nvSpPr>
          <p:cNvPr id="69" name="Text 67"/>
          <p:cNvSpPr/>
          <p:nvPr/>
        </p:nvSpPr>
        <p:spPr>
          <a:xfrm>
            <a:off x="8174736" y="4541754"/>
            <a:ext cx="3291840" cy="868680"/>
          </a:xfrm>
          <a:prstGeom prst="rect">
            <a:avLst/>
          </a:prstGeom>
          <a:noFill/>
          <a:ln/>
        </p:spPr>
        <p:txBody>
          <a:bodyPr wrap="square" lIns="0" tIns="0" rIns="0" bIns="0" rtlCol="0" anchor="t"/>
          <a:lstStyle/>
          <a:p>
            <a:pPr marL="0" indent="0">
              <a:lnSpc>
                <a:spcPct val="110000"/>
              </a:lnSpc>
              <a:buNone/>
            </a:pPr>
            <a:r>
              <a:rPr lang="en-US" sz="1200" dirty="0">
                <a:solidFill>
                  <a:srgbClr val="AAB7C2"/>
                </a:solidFill>
                <a:latin typeface="Segoe UI" pitchFamily="34" charset="0"/>
                <a:ea typeface="Segoe UI" pitchFamily="34" charset="-122"/>
                <a:cs typeface="Segoe UI" pitchFamily="34" charset="-120"/>
              </a:rPr>
              <a:t>Market time. Always UTC — never your local timezone.</a:t>
            </a:r>
            <a:endParaRPr lang="en-US" sz="1200" dirty="0"/>
          </a:p>
        </p:txBody>
      </p:sp>
      <p:sp>
        <p:nvSpPr>
          <p:cNvPr id="70" name="warning callout background">
            <a:extLst>
              <a:ext uri="{C183D7F6-B498-43B3-948B-1728B52AA6E4}">
                <adec:decorative xmlns:adec="http://schemas.microsoft.com/office/drawing/2017/decorative" val="1"/>
              </a:ext>
            </a:extLst>
          </p:cNvPr>
          <p:cNvSpPr/>
          <p:nvPr/>
        </p:nvSpPr>
        <p:spPr>
          <a:xfrm>
            <a:off x="566928" y="5623560"/>
            <a:ext cx="10607040" cy="713232"/>
          </a:xfrm>
          <a:prstGeom prst="rect">
            <a:avLst/>
          </a:prstGeom>
          <a:solidFill>
            <a:srgbClr val="24191B"/>
          </a:solidFill>
          <a:ln w="12700">
            <a:solidFill>
              <a:srgbClr val="EF5B63"/>
            </a:solidFill>
            <a:prstDash val="solid"/>
          </a:ln>
        </p:spPr>
        <p:txBody>
          <a:bodyPr/>
          <a:lstStyle/>
          <a:p>
            <a:endParaRPr lang="en-SE" sz="2000"/>
          </a:p>
        </p:txBody>
      </p:sp>
      <p:sp>
        <p:nvSpPr>
          <p:cNvPr id="71" name="Text 69"/>
          <p:cNvSpPr/>
          <p:nvPr/>
        </p:nvSpPr>
        <p:spPr>
          <a:xfrm>
            <a:off x="868680" y="5623560"/>
            <a:ext cx="10058400" cy="713232"/>
          </a:xfrm>
          <a:prstGeom prst="rect">
            <a:avLst/>
          </a:prstGeom>
          <a:noFill/>
          <a:ln/>
        </p:spPr>
        <p:txBody>
          <a:bodyPr wrap="square" lIns="0" tIns="0" rIns="0" bIns="0" rtlCol="0" anchor="ctr"/>
          <a:lstStyle/>
          <a:p>
            <a:pPr marL="0" indent="0">
              <a:lnSpc>
                <a:spcPct val="110000"/>
              </a:lnSpc>
              <a:buNone/>
            </a:pPr>
            <a:r>
              <a:rPr lang="en-US" sz="1400" b="1" dirty="0">
                <a:solidFill>
                  <a:srgbClr val="EF5B63"/>
                </a:solidFill>
                <a:latin typeface="Segoe UI" pitchFamily="34" charset="0"/>
                <a:ea typeface="Segoe UI" pitchFamily="34" charset="-122"/>
                <a:cs typeface="Segoe UI" pitchFamily="34" charset="-120"/>
              </a:rPr>
              <a:t>The failure this catches:  </a:t>
            </a:r>
            <a:r>
              <a:rPr lang="en-US" sz="1400" dirty="0">
                <a:solidFill>
                  <a:srgbClr val="E6EDF3"/>
                </a:solidFill>
                <a:latin typeface="Segoe UI" pitchFamily="34" charset="0"/>
                <a:ea typeface="Segoe UI" pitchFamily="34" charset="-122"/>
                <a:cs typeface="Segoe UI" pitchFamily="34" charset="-120"/>
              </a:rPr>
              <a:t>"connected" only means the pipe is open — it says nothing about whether anything is coming down it. A silently frozen exchange still reads CALF connected while its tick age climbs. Watch both numbers, always.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Market Overview — the default landing view</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03 · SCREENS</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16</a:t>
            </a:r>
            <a:endParaRPr lang="en-US" sz="950" dirty="0"/>
          </a:p>
        </p:txBody>
      </p:sp>
      <p:sp>
        <p:nvSpPr>
          <p:cNvPr id="37" name="Text 35"/>
          <p:cNvSpPr/>
          <p:nvPr/>
        </p:nvSpPr>
        <p:spPr>
          <a:xfrm>
            <a:off x="566928" y="1170432"/>
            <a:ext cx="10945134" cy="566928"/>
          </a:xfrm>
          <a:prstGeom prst="rect">
            <a:avLst/>
          </a:prstGeom>
          <a:noFill/>
          <a:ln/>
        </p:spPr>
        <p:txBody>
          <a:bodyPr wrap="square" lIns="0" tIns="0" rIns="0" bIns="0" rtlCol="0" anchor="t"/>
          <a:lstStyle/>
          <a:p>
            <a:pPr marL="0" indent="0">
              <a:lnSpc>
                <a:spcPct val="110000"/>
              </a:lnSpc>
              <a:buNone/>
            </a:pPr>
            <a:r>
              <a:rPr lang="en-US" sz="1600" dirty="0">
                <a:solidFill>
                  <a:srgbClr val="AAB7C2"/>
                </a:solidFill>
                <a:latin typeface="Segoe UI" pitchFamily="34" charset="0"/>
                <a:ea typeface="Segoe UI" pitchFamily="34" charset="-122"/>
                <a:cs typeface="Segoe UI" pitchFamily="34" charset="-120"/>
              </a:rPr>
              <a:t>Every tradable symbol, paginated. Built to run unattended on a wall just as well as it is actively browsed.</a:t>
            </a:r>
            <a:endParaRPr lang="en-US" sz="1600" dirty="0"/>
          </a:p>
        </p:txBody>
      </p:sp>
      <p:sp>
        <p:nvSpPr>
          <p:cNvPr id="38" name="screenshot placeholder frame">
            <a:extLst>
              <a:ext uri="{C183D7F6-B498-43B3-948B-1728B52AA6E4}">
                <adec:decorative xmlns:adec="http://schemas.microsoft.com/office/drawing/2017/decorative" val="1"/>
              </a:ext>
            </a:extLst>
          </p:cNvPr>
          <p:cNvSpPr/>
          <p:nvPr/>
        </p:nvSpPr>
        <p:spPr>
          <a:xfrm>
            <a:off x="566928" y="1965960"/>
            <a:ext cx="6400800" cy="3977640"/>
          </a:xfrm>
          <a:prstGeom prst="rect">
            <a:avLst/>
          </a:prstGeom>
          <a:solidFill>
            <a:srgbClr val="191E23"/>
          </a:solidFill>
          <a:ln w="22225">
            <a:solidFill>
              <a:srgbClr val="3FE08A"/>
            </a:solidFill>
            <a:prstDash val="dash"/>
          </a:ln>
        </p:spPr>
        <p:txBody>
          <a:bodyPr/>
          <a:lstStyle/>
          <a:p>
            <a:endParaRPr lang="en-SE"/>
          </a:p>
        </p:txBody>
      </p:sp>
      <p:sp>
        <p:nvSpPr>
          <p:cNvPr id="39" name="corner tick">
            <a:extLst>
              <a:ext uri="{C183D7F6-B498-43B3-948B-1728B52AA6E4}">
                <adec:decorative xmlns:adec="http://schemas.microsoft.com/office/drawing/2017/decorative" val="1"/>
              </a:ext>
            </a:extLst>
          </p:cNvPr>
          <p:cNvSpPr/>
          <p:nvPr/>
        </p:nvSpPr>
        <p:spPr>
          <a:xfrm>
            <a:off x="566928" y="1965960"/>
            <a:ext cx="256032" cy="0"/>
          </a:xfrm>
          <a:prstGeom prst="line">
            <a:avLst/>
          </a:prstGeom>
          <a:noFill/>
          <a:ln w="31750">
            <a:solidFill>
              <a:srgbClr val="3FE08A"/>
            </a:solidFill>
            <a:prstDash val="solid"/>
          </a:ln>
        </p:spPr>
        <p:txBody>
          <a:bodyPr/>
          <a:lstStyle/>
          <a:p>
            <a:endParaRPr lang="en-SE"/>
          </a:p>
        </p:txBody>
      </p:sp>
      <p:sp>
        <p:nvSpPr>
          <p:cNvPr id="40" name="corner tick">
            <a:extLst>
              <a:ext uri="{C183D7F6-B498-43B3-948B-1728B52AA6E4}">
                <adec:decorative xmlns:adec="http://schemas.microsoft.com/office/drawing/2017/decorative" val="1"/>
              </a:ext>
            </a:extLst>
          </p:cNvPr>
          <p:cNvSpPr/>
          <p:nvPr/>
        </p:nvSpPr>
        <p:spPr>
          <a:xfrm>
            <a:off x="566928" y="1965960"/>
            <a:ext cx="0" cy="256032"/>
          </a:xfrm>
          <a:prstGeom prst="line">
            <a:avLst/>
          </a:prstGeom>
          <a:noFill/>
          <a:ln w="31750">
            <a:solidFill>
              <a:srgbClr val="3FE08A"/>
            </a:solidFill>
            <a:prstDash val="solid"/>
          </a:ln>
        </p:spPr>
        <p:txBody>
          <a:bodyPr/>
          <a:lstStyle/>
          <a:p>
            <a:endParaRPr lang="en-SE"/>
          </a:p>
        </p:txBody>
      </p:sp>
      <p:sp>
        <p:nvSpPr>
          <p:cNvPr id="41" name="corner tick">
            <a:extLst>
              <a:ext uri="{C183D7F6-B498-43B3-948B-1728B52AA6E4}">
                <adec:decorative xmlns:adec="http://schemas.microsoft.com/office/drawing/2017/decorative" val="1"/>
              </a:ext>
            </a:extLst>
          </p:cNvPr>
          <p:cNvSpPr/>
          <p:nvPr/>
        </p:nvSpPr>
        <p:spPr>
          <a:xfrm>
            <a:off x="6711696" y="1965960"/>
            <a:ext cx="256032" cy="0"/>
          </a:xfrm>
          <a:prstGeom prst="line">
            <a:avLst/>
          </a:prstGeom>
          <a:noFill/>
          <a:ln w="31750">
            <a:solidFill>
              <a:srgbClr val="3FE08A"/>
            </a:solidFill>
            <a:prstDash val="solid"/>
          </a:ln>
        </p:spPr>
        <p:txBody>
          <a:bodyPr/>
          <a:lstStyle/>
          <a:p>
            <a:endParaRPr lang="en-SE"/>
          </a:p>
        </p:txBody>
      </p:sp>
      <p:sp>
        <p:nvSpPr>
          <p:cNvPr id="42" name="corner tick">
            <a:extLst>
              <a:ext uri="{C183D7F6-B498-43B3-948B-1728B52AA6E4}">
                <adec:decorative xmlns:adec="http://schemas.microsoft.com/office/drawing/2017/decorative" val="1"/>
              </a:ext>
            </a:extLst>
          </p:cNvPr>
          <p:cNvSpPr/>
          <p:nvPr/>
        </p:nvSpPr>
        <p:spPr>
          <a:xfrm>
            <a:off x="6967728" y="1965960"/>
            <a:ext cx="0" cy="256032"/>
          </a:xfrm>
          <a:prstGeom prst="line">
            <a:avLst/>
          </a:prstGeom>
          <a:noFill/>
          <a:ln w="31750">
            <a:solidFill>
              <a:srgbClr val="3FE08A"/>
            </a:solidFill>
            <a:prstDash val="solid"/>
          </a:ln>
        </p:spPr>
        <p:txBody>
          <a:bodyPr/>
          <a:lstStyle/>
          <a:p>
            <a:endParaRPr lang="en-SE"/>
          </a:p>
        </p:txBody>
      </p:sp>
      <p:sp>
        <p:nvSpPr>
          <p:cNvPr id="43" name="corner tick">
            <a:extLst>
              <a:ext uri="{C183D7F6-B498-43B3-948B-1728B52AA6E4}">
                <adec:decorative xmlns:adec="http://schemas.microsoft.com/office/drawing/2017/decorative" val="1"/>
              </a:ext>
            </a:extLst>
          </p:cNvPr>
          <p:cNvSpPr/>
          <p:nvPr/>
        </p:nvSpPr>
        <p:spPr>
          <a:xfrm>
            <a:off x="566928" y="5943600"/>
            <a:ext cx="256032" cy="0"/>
          </a:xfrm>
          <a:prstGeom prst="line">
            <a:avLst/>
          </a:prstGeom>
          <a:noFill/>
          <a:ln w="31750">
            <a:solidFill>
              <a:srgbClr val="3FE08A"/>
            </a:solidFill>
            <a:prstDash val="solid"/>
          </a:ln>
        </p:spPr>
        <p:txBody>
          <a:bodyPr/>
          <a:lstStyle/>
          <a:p>
            <a:endParaRPr lang="en-SE"/>
          </a:p>
        </p:txBody>
      </p:sp>
      <p:sp>
        <p:nvSpPr>
          <p:cNvPr id="44" name="corner tick">
            <a:extLst>
              <a:ext uri="{C183D7F6-B498-43B3-948B-1728B52AA6E4}">
                <adec:decorative xmlns:adec="http://schemas.microsoft.com/office/drawing/2017/decorative" val="1"/>
              </a:ext>
            </a:extLst>
          </p:cNvPr>
          <p:cNvSpPr/>
          <p:nvPr/>
        </p:nvSpPr>
        <p:spPr>
          <a:xfrm>
            <a:off x="566928" y="5687568"/>
            <a:ext cx="0" cy="256032"/>
          </a:xfrm>
          <a:prstGeom prst="line">
            <a:avLst/>
          </a:prstGeom>
          <a:noFill/>
          <a:ln w="31750">
            <a:solidFill>
              <a:srgbClr val="3FE08A"/>
            </a:solidFill>
            <a:prstDash val="solid"/>
          </a:ln>
        </p:spPr>
        <p:txBody>
          <a:bodyPr/>
          <a:lstStyle/>
          <a:p>
            <a:endParaRPr lang="en-SE"/>
          </a:p>
        </p:txBody>
      </p:sp>
      <p:sp>
        <p:nvSpPr>
          <p:cNvPr id="45" name="corner tick">
            <a:extLst>
              <a:ext uri="{C183D7F6-B498-43B3-948B-1728B52AA6E4}">
                <adec:decorative xmlns:adec="http://schemas.microsoft.com/office/drawing/2017/decorative" val="1"/>
              </a:ext>
            </a:extLst>
          </p:cNvPr>
          <p:cNvSpPr/>
          <p:nvPr/>
        </p:nvSpPr>
        <p:spPr>
          <a:xfrm>
            <a:off x="6711696" y="5943600"/>
            <a:ext cx="256032" cy="0"/>
          </a:xfrm>
          <a:prstGeom prst="line">
            <a:avLst/>
          </a:prstGeom>
          <a:noFill/>
          <a:ln w="31750">
            <a:solidFill>
              <a:srgbClr val="3FE08A"/>
            </a:solidFill>
            <a:prstDash val="solid"/>
          </a:ln>
        </p:spPr>
        <p:txBody>
          <a:bodyPr/>
          <a:lstStyle/>
          <a:p>
            <a:endParaRPr lang="en-SE"/>
          </a:p>
        </p:txBody>
      </p:sp>
      <p:sp>
        <p:nvSpPr>
          <p:cNvPr id="46" name="corner tick">
            <a:extLst>
              <a:ext uri="{C183D7F6-B498-43B3-948B-1728B52AA6E4}">
                <adec:decorative xmlns:adec="http://schemas.microsoft.com/office/drawing/2017/decorative" val="1"/>
              </a:ext>
            </a:extLst>
          </p:cNvPr>
          <p:cNvSpPr/>
          <p:nvPr/>
        </p:nvSpPr>
        <p:spPr>
          <a:xfrm>
            <a:off x="6967728" y="5687568"/>
            <a:ext cx="0" cy="256032"/>
          </a:xfrm>
          <a:prstGeom prst="line">
            <a:avLst/>
          </a:prstGeom>
          <a:noFill/>
          <a:ln w="31750">
            <a:solidFill>
              <a:srgbClr val="3FE08A"/>
            </a:solidFill>
            <a:prstDash val="solid"/>
          </a:ln>
        </p:spPr>
        <p:txBody>
          <a:bodyPr/>
          <a:lstStyle/>
          <a:p>
            <a:endParaRPr lang="en-SE"/>
          </a:p>
        </p:txBody>
      </p:sp>
      <p:sp>
        <p:nvSpPr>
          <p:cNvPr id="47" name="figure tag background">
            <a:extLst>
              <a:ext uri="{C183D7F6-B498-43B3-948B-1728B52AA6E4}">
                <adec:decorative xmlns:adec="http://schemas.microsoft.com/office/drawing/2017/decorative" val="1"/>
              </a:ext>
            </a:extLst>
          </p:cNvPr>
          <p:cNvSpPr/>
          <p:nvPr/>
        </p:nvSpPr>
        <p:spPr>
          <a:xfrm>
            <a:off x="768096" y="2167128"/>
            <a:ext cx="1783080" cy="274320"/>
          </a:xfrm>
          <a:prstGeom prst="rect">
            <a:avLst/>
          </a:prstGeom>
          <a:solidFill>
            <a:srgbClr val="3FE08A"/>
          </a:solidFill>
          <a:ln w="12700">
            <a:solidFill>
              <a:srgbClr val="333333"/>
            </a:solidFill>
            <a:prstDash val="solid"/>
          </a:ln>
        </p:spPr>
        <p:txBody>
          <a:bodyPr/>
          <a:lstStyle/>
          <a:p>
            <a:endParaRPr lang="en-SE"/>
          </a:p>
        </p:txBody>
      </p:sp>
      <p:sp>
        <p:nvSpPr>
          <p:cNvPr id="48" name="Text 46"/>
          <p:cNvSpPr/>
          <p:nvPr/>
        </p:nvSpPr>
        <p:spPr>
          <a:xfrm>
            <a:off x="768096" y="2167128"/>
            <a:ext cx="1783080" cy="274320"/>
          </a:xfrm>
          <a:prstGeom prst="rect">
            <a:avLst/>
          </a:prstGeom>
          <a:noFill/>
          <a:ln/>
        </p:spPr>
        <p:txBody>
          <a:bodyPr wrap="square" lIns="0" tIns="0" rIns="0" bIns="0" rtlCol="0" anchor="ctr"/>
          <a:lstStyle/>
          <a:p>
            <a:pPr marL="0" indent="0" algn="ctr">
              <a:buNone/>
            </a:pPr>
            <a:r>
              <a:rPr lang="en-US" sz="950" b="1" dirty="0">
                <a:solidFill>
                  <a:srgbClr val="13171B"/>
                </a:solidFill>
                <a:latin typeface="Consolas" pitchFamily="34" charset="0"/>
                <a:ea typeface="Consolas" pitchFamily="34" charset="-122"/>
                <a:cs typeface="Consolas" pitchFamily="34" charset="-120"/>
              </a:rPr>
              <a:t>SCREENSHOT 2</a:t>
            </a:r>
            <a:endParaRPr lang="en-US" sz="950" dirty="0"/>
          </a:p>
        </p:txBody>
      </p:sp>
      <p:sp>
        <p:nvSpPr>
          <p:cNvPr id="49" name="Text 47"/>
          <p:cNvSpPr/>
          <p:nvPr/>
        </p:nvSpPr>
        <p:spPr>
          <a:xfrm>
            <a:off x="886968" y="3451860"/>
            <a:ext cx="5760720" cy="1005840"/>
          </a:xfrm>
          <a:prstGeom prst="rect">
            <a:avLst/>
          </a:prstGeom>
          <a:noFill/>
          <a:ln/>
        </p:spPr>
        <p:txBody>
          <a:bodyPr wrap="square" lIns="0" tIns="0" rIns="0" bIns="0" rtlCol="0" anchor="ctr"/>
          <a:lstStyle/>
          <a:p>
            <a:pPr marL="0" indent="0" algn="ctr">
              <a:lnSpc>
                <a:spcPct val="115000"/>
              </a:lnSpc>
              <a:buNone/>
            </a:pPr>
            <a:r>
              <a:rPr lang="en-US" sz="1200" b="1" dirty="0">
                <a:solidFill>
                  <a:srgbClr val="3FE08A"/>
                </a:solidFill>
                <a:latin typeface="Segoe UI" pitchFamily="34" charset="0"/>
                <a:ea typeface="Segoe UI" pitchFamily="34" charset="-122"/>
                <a:cs typeface="Segoe UI" pitchFamily="34" charset="-120"/>
              </a:rPr>
              <a:t>Capture: </a:t>
            </a:r>
            <a:r>
              <a:rPr lang="en-US" sz="1200" dirty="0">
                <a:solidFill>
                  <a:srgbClr val="AAB7C2"/>
                </a:solidFill>
                <a:latin typeface="Segoe UI" pitchFamily="34" charset="0"/>
                <a:ea typeface="Segoe UI" pitchFamily="34" charset="-122"/>
                <a:cs typeface="Segoe UI" pitchFamily="34" charset="-120"/>
              </a:rPr>
              <a:t>A multi-page symbol list mid-session, with a mix of up and down movers, at least one halted symbol, and the Watchlist toggle visible.</a:t>
            </a:r>
            <a:endParaRPr lang="en-US" sz="1200" dirty="0"/>
          </a:p>
        </p:txBody>
      </p:sp>
      <p:sp>
        <p:nvSpPr>
          <p:cNvPr id="50" name="Text 48"/>
          <p:cNvSpPr/>
          <p:nvPr/>
        </p:nvSpPr>
        <p:spPr>
          <a:xfrm>
            <a:off x="886968" y="5468112"/>
            <a:ext cx="5760720" cy="274320"/>
          </a:xfrm>
          <a:prstGeom prst="rect">
            <a:avLst/>
          </a:prstGeom>
          <a:noFill/>
          <a:ln/>
        </p:spPr>
        <p:txBody>
          <a:bodyPr wrap="square" lIns="0" tIns="0" rIns="0" bIns="0" rtlCol="0" anchor="ctr"/>
          <a:lstStyle/>
          <a:p>
            <a:pPr marL="0" indent="0" algn="ctr">
              <a:buNone/>
            </a:pPr>
            <a:r>
              <a:rPr lang="en-US" sz="900" dirty="0">
                <a:solidFill>
                  <a:srgbClr val="7C8B97"/>
                </a:solidFill>
                <a:latin typeface="Consolas" pitchFamily="34" charset="0"/>
                <a:ea typeface="Consolas" pitchFamily="34" charset="-122"/>
                <a:cs typeface="Consolas" pitchFamily="34" charset="-120"/>
              </a:rPr>
              <a:t>fig-02-overview.png</a:t>
            </a:r>
            <a:endParaRPr lang="en-US" sz="900" dirty="0"/>
          </a:p>
        </p:txBody>
      </p:sp>
      <p:sp>
        <p:nvSpPr>
          <p:cNvPr id="51" name="row marker">
            <a:extLst>
              <a:ext uri="{C183D7F6-B498-43B3-948B-1728B52AA6E4}">
                <adec:decorative xmlns:adec="http://schemas.microsoft.com/office/drawing/2017/decorative" val="1"/>
              </a:ext>
            </a:extLst>
          </p:cNvPr>
          <p:cNvSpPr/>
          <p:nvPr/>
        </p:nvSpPr>
        <p:spPr>
          <a:xfrm>
            <a:off x="7223760" y="2112264"/>
            <a:ext cx="32004" cy="384048"/>
          </a:xfrm>
          <a:prstGeom prst="rect">
            <a:avLst/>
          </a:prstGeom>
          <a:solidFill>
            <a:srgbClr val="3FE08A"/>
          </a:solidFill>
          <a:ln w="12700">
            <a:solidFill>
              <a:srgbClr val="333333"/>
            </a:solidFill>
            <a:prstDash val="solid"/>
          </a:ln>
        </p:spPr>
        <p:txBody>
          <a:bodyPr/>
          <a:lstStyle/>
          <a:p>
            <a:endParaRPr lang="en-SE"/>
          </a:p>
        </p:txBody>
      </p:sp>
      <p:sp>
        <p:nvSpPr>
          <p:cNvPr id="52" name="Text 50"/>
          <p:cNvSpPr/>
          <p:nvPr/>
        </p:nvSpPr>
        <p:spPr>
          <a:xfrm>
            <a:off x="7370064" y="2057400"/>
            <a:ext cx="1051560" cy="310896"/>
          </a:xfrm>
          <a:prstGeom prst="rect">
            <a:avLst/>
          </a:prstGeom>
          <a:noFill/>
          <a:ln/>
        </p:spPr>
        <p:txBody>
          <a:bodyPr wrap="square" lIns="0" tIns="0" rIns="0" bIns="0" rtlCol="0" anchor="ctr"/>
          <a:lstStyle/>
          <a:p>
            <a:pPr marL="0" indent="0">
              <a:buNone/>
            </a:pPr>
            <a:r>
              <a:rPr lang="en-US" sz="1100" b="1" dirty="0">
                <a:solidFill>
                  <a:srgbClr val="3FE08A"/>
                </a:solidFill>
                <a:latin typeface="Consolas" pitchFamily="34" charset="0"/>
                <a:ea typeface="Consolas" pitchFamily="34" charset="-122"/>
                <a:cs typeface="Consolas" pitchFamily="34" charset="-120"/>
              </a:rPr>
              <a:t>01</a:t>
            </a:r>
            <a:endParaRPr lang="en-US" sz="1100" dirty="0"/>
          </a:p>
        </p:txBody>
      </p:sp>
      <p:sp>
        <p:nvSpPr>
          <p:cNvPr id="53" name="Text 51"/>
          <p:cNvSpPr/>
          <p:nvPr/>
        </p:nvSpPr>
        <p:spPr>
          <a:xfrm>
            <a:off x="8430768" y="2039112"/>
            <a:ext cx="2743200" cy="292608"/>
          </a:xfrm>
          <a:prstGeom prst="rect">
            <a:avLst/>
          </a:prstGeom>
          <a:noFill/>
          <a:ln/>
        </p:spPr>
        <p:txBody>
          <a:bodyPr wrap="square" lIns="0" tIns="0" rIns="0" bIns="0" rtlCol="0" anchor="ctr"/>
          <a:lstStyle/>
          <a:p>
            <a:pPr marL="0" indent="0">
              <a:buNone/>
            </a:pPr>
            <a:r>
              <a:rPr lang="en-US" sz="1400" b="1" dirty="0">
                <a:solidFill>
                  <a:srgbClr val="E6EDF3"/>
                </a:solidFill>
                <a:latin typeface="Segoe UI" pitchFamily="34" charset="0"/>
                <a:ea typeface="Segoe UI" pitchFamily="34" charset="-122"/>
                <a:cs typeface="Segoe UI" pitchFamily="34" charset="-120"/>
              </a:rPr>
              <a:t>Every symbol</a:t>
            </a:r>
            <a:endParaRPr lang="en-US" sz="1400" dirty="0"/>
          </a:p>
        </p:txBody>
      </p:sp>
      <p:sp>
        <p:nvSpPr>
          <p:cNvPr id="54" name="Text 52"/>
          <p:cNvSpPr/>
          <p:nvPr/>
        </p:nvSpPr>
        <p:spPr>
          <a:xfrm>
            <a:off x="8430768" y="2313432"/>
            <a:ext cx="2743200" cy="457200"/>
          </a:xfrm>
          <a:prstGeom prst="rect">
            <a:avLst/>
          </a:prstGeom>
          <a:noFill/>
          <a:ln/>
        </p:spPr>
        <p:txBody>
          <a:bodyPr wrap="square" lIns="0" tIns="0" rIns="0" bIns="0" rtlCol="0" anchor="ctr"/>
          <a:lstStyle/>
          <a:p>
            <a:pPr marL="0" indent="0">
              <a:lnSpc>
                <a:spcPct val="105000"/>
              </a:lnSpc>
              <a:buNone/>
            </a:pPr>
            <a:r>
              <a:rPr lang="en-US" sz="1200" dirty="0">
                <a:solidFill>
                  <a:srgbClr val="AAB7C2"/>
                </a:solidFill>
                <a:latin typeface="Segoe UI" pitchFamily="34" charset="0"/>
                <a:ea typeface="Segoe UI" pitchFamily="34" charset="-122"/>
                <a:cs typeface="Segoe UI" pitchFamily="34" charset="-120"/>
              </a:rPr>
              <a:t>One row per tradable instrument, paginated to fit the screen.</a:t>
            </a:r>
            <a:endParaRPr lang="en-US" sz="1200" dirty="0"/>
          </a:p>
        </p:txBody>
      </p:sp>
      <p:sp>
        <p:nvSpPr>
          <p:cNvPr id="55" name="row marker">
            <a:extLst>
              <a:ext uri="{C183D7F6-B498-43B3-948B-1728B52AA6E4}">
                <adec:decorative xmlns:adec="http://schemas.microsoft.com/office/drawing/2017/decorative" val="1"/>
              </a:ext>
            </a:extLst>
          </p:cNvPr>
          <p:cNvSpPr/>
          <p:nvPr/>
        </p:nvSpPr>
        <p:spPr>
          <a:xfrm>
            <a:off x="7223760" y="2862072"/>
            <a:ext cx="32004" cy="384048"/>
          </a:xfrm>
          <a:prstGeom prst="rect">
            <a:avLst/>
          </a:prstGeom>
          <a:solidFill>
            <a:srgbClr val="3FE08A"/>
          </a:solidFill>
          <a:ln w="12700">
            <a:solidFill>
              <a:srgbClr val="333333"/>
            </a:solidFill>
            <a:prstDash val="solid"/>
          </a:ln>
        </p:spPr>
        <p:txBody>
          <a:bodyPr/>
          <a:lstStyle/>
          <a:p>
            <a:endParaRPr lang="en-SE"/>
          </a:p>
        </p:txBody>
      </p:sp>
      <p:sp>
        <p:nvSpPr>
          <p:cNvPr id="56" name="Text 54"/>
          <p:cNvSpPr/>
          <p:nvPr/>
        </p:nvSpPr>
        <p:spPr>
          <a:xfrm>
            <a:off x="7370064" y="2807208"/>
            <a:ext cx="1051560" cy="310896"/>
          </a:xfrm>
          <a:prstGeom prst="rect">
            <a:avLst/>
          </a:prstGeom>
          <a:noFill/>
          <a:ln/>
        </p:spPr>
        <p:txBody>
          <a:bodyPr wrap="square" lIns="0" tIns="0" rIns="0" bIns="0" rtlCol="0" anchor="ctr"/>
          <a:lstStyle/>
          <a:p>
            <a:pPr marL="0" indent="0">
              <a:buNone/>
            </a:pPr>
            <a:r>
              <a:rPr lang="en-US" sz="1100" b="1" dirty="0">
                <a:solidFill>
                  <a:srgbClr val="3FE08A"/>
                </a:solidFill>
                <a:latin typeface="Consolas" pitchFamily="34" charset="0"/>
                <a:ea typeface="Consolas" pitchFamily="34" charset="-122"/>
                <a:cs typeface="Consolas" pitchFamily="34" charset="-120"/>
              </a:rPr>
              <a:t>02</a:t>
            </a:r>
            <a:endParaRPr lang="en-US" sz="1100" dirty="0"/>
          </a:p>
        </p:txBody>
      </p:sp>
      <p:sp>
        <p:nvSpPr>
          <p:cNvPr id="57" name="Text 55"/>
          <p:cNvSpPr/>
          <p:nvPr/>
        </p:nvSpPr>
        <p:spPr>
          <a:xfrm>
            <a:off x="8430768" y="2788920"/>
            <a:ext cx="2743200" cy="292608"/>
          </a:xfrm>
          <a:prstGeom prst="rect">
            <a:avLst/>
          </a:prstGeom>
          <a:noFill/>
          <a:ln/>
        </p:spPr>
        <p:txBody>
          <a:bodyPr wrap="square" lIns="0" tIns="0" rIns="0" bIns="0" rtlCol="0" anchor="ctr"/>
          <a:lstStyle/>
          <a:p>
            <a:pPr marL="0" indent="0">
              <a:buNone/>
            </a:pPr>
            <a:r>
              <a:rPr lang="en-US" sz="1400" b="1" dirty="0">
                <a:solidFill>
                  <a:srgbClr val="E6EDF3"/>
                </a:solidFill>
                <a:latin typeface="Segoe UI" pitchFamily="34" charset="0"/>
                <a:ea typeface="Segoe UI" pitchFamily="34" charset="-122"/>
                <a:cs typeface="Segoe UI" pitchFamily="34" charset="-120"/>
              </a:rPr>
              <a:t>Sortable columns</a:t>
            </a:r>
            <a:endParaRPr lang="en-US" sz="1400" dirty="0"/>
          </a:p>
        </p:txBody>
      </p:sp>
      <p:sp>
        <p:nvSpPr>
          <p:cNvPr id="58" name="Text 56"/>
          <p:cNvSpPr/>
          <p:nvPr/>
        </p:nvSpPr>
        <p:spPr>
          <a:xfrm>
            <a:off x="8430768" y="3063240"/>
            <a:ext cx="2743200" cy="457200"/>
          </a:xfrm>
          <a:prstGeom prst="rect">
            <a:avLst/>
          </a:prstGeom>
          <a:noFill/>
          <a:ln/>
        </p:spPr>
        <p:txBody>
          <a:bodyPr wrap="square" lIns="0" tIns="0" rIns="0" bIns="0" rtlCol="0" anchor="ctr"/>
          <a:lstStyle/>
          <a:p>
            <a:pPr marL="0" indent="0">
              <a:lnSpc>
                <a:spcPct val="105000"/>
              </a:lnSpc>
              <a:buNone/>
            </a:pPr>
            <a:r>
              <a:rPr lang="en-US" sz="1200" dirty="0">
                <a:solidFill>
                  <a:srgbClr val="AAB7C2"/>
                </a:solidFill>
                <a:latin typeface="Segoe UI" pitchFamily="34" charset="0"/>
                <a:ea typeface="Segoe UI" pitchFamily="34" charset="-122"/>
                <a:cs typeface="Segoe UI" pitchFamily="34" charset="-120"/>
              </a:rPr>
              <a:t>Click a heading to reorder the board.</a:t>
            </a:r>
            <a:endParaRPr lang="en-US" sz="1200" dirty="0"/>
          </a:p>
        </p:txBody>
      </p:sp>
      <p:sp>
        <p:nvSpPr>
          <p:cNvPr id="59" name="row marker">
            <a:extLst>
              <a:ext uri="{C183D7F6-B498-43B3-948B-1728B52AA6E4}">
                <adec:decorative xmlns:adec="http://schemas.microsoft.com/office/drawing/2017/decorative" val="1"/>
              </a:ext>
            </a:extLst>
          </p:cNvPr>
          <p:cNvSpPr/>
          <p:nvPr/>
        </p:nvSpPr>
        <p:spPr>
          <a:xfrm>
            <a:off x="7223760" y="3611880"/>
            <a:ext cx="32004" cy="384048"/>
          </a:xfrm>
          <a:prstGeom prst="rect">
            <a:avLst/>
          </a:prstGeom>
          <a:solidFill>
            <a:srgbClr val="3FE08A"/>
          </a:solidFill>
          <a:ln w="12700">
            <a:solidFill>
              <a:srgbClr val="333333"/>
            </a:solidFill>
            <a:prstDash val="solid"/>
          </a:ln>
        </p:spPr>
        <p:txBody>
          <a:bodyPr/>
          <a:lstStyle/>
          <a:p>
            <a:endParaRPr lang="en-SE"/>
          </a:p>
        </p:txBody>
      </p:sp>
      <p:sp>
        <p:nvSpPr>
          <p:cNvPr id="60" name="Text 58"/>
          <p:cNvSpPr/>
          <p:nvPr/>
        </p:nvSpPr>
        <p:spPr>
          <a:xfrm>
            <a:off x="7370064" y="3557016"/>
            <a:ext cx="1051560" cy="310896"/>
          </a:xfrm>
          <a:prstGeom prst="rect">
            <a:avLst/>
          </a:prstGeom>
          <a:noFill/>
          <a:ln/>
        </p:spPr>
        <p:txBody>
          <a:bodyPr wrap="square" lIns="0" tIns="0" rIns="0" bIns="0" rtlCol="0" anchor="ctr"/>
          <a:lstStyle/>
          <a:p>
            <a:pPr marL="0" indent="0">
              <a:buNone/>
            </a:pPr>
            <a:r>
              <a:rPr lang="en-US" sz="1100" b="1" dirty="0">
                <a:solidFill>
                  <a:srgbClr val="3FE08A"/>
                </a:solidFill>
                <a:latin typeface="Consolas" pitchFamily="34" charset="0"/>
                <a:ea typeface="Consolas" pitchFamily="34" charset="-122"/>
                <a:cs typeface="Consolas" pitchFamily="34" charset="-120"/>
              </a:rPr>
              <a:t>03</a:t>
            </a:r>
            <a:endParaRPr lang="en-US" sz="1100" dirty="0"/>
          </a:p>
        </p:txBody>
      </p:sp>
      <p:sp>
        <p:nvSpPr>
          <p:cNvPr id="61" name="Text 59"/>
          <p:cNvSpPr/>
          <p:nvPr/>
        </p:nvSpPr>
        <p:spPr>
          <a:xfrm>
            <a:off x="8430768" y="3538728"/>
            <a:ext cx="2743200" cy="292608"/>
          </a:xfrm>
          <a:prstGeom prst="rect">
            <a:avLst/>
          </a:prstGeom>
          <a:noFill/>
          <a:ln/>
        </p:spPr>
        <p:txBody>
          <a:bodyPr wrap="square" lIns="0" tIns="0" rIns="0" bIns="0" rtlCol="0" anchor="ctr"/>
          <a:lstStyle/>
          <a:p>
            <a:pPr marL="0" indent="0">
              <a:buNone/>
            </a:pPr>
            <a:r>
              <a:rPr lang="en-US" sz="1400" b="1" dirty="0">
                <a:solidFill>
                  <a:srgbClr val="E6EDF3"/>
                </a:solidFill>
                <a:latin typeface="Segoe UI" pitchFamily="34" charset="0"/>
                <a:ea typeface="Segoe UI" pitchFamily="34" charset="-122"/>
                <a:cs typeface="Segoe UI" pitchFamily="34" charset="-120"/>
              </a:rPr>
              <a:t>Type-ahead search</a:t>
            </a:r>
            <a:endParaRPr lang="en-US" sz="1400" dirty="0"/>
          </a:p>
        </p:txBody>
      </p:sp>
      <p:sp>
        <p:nvSpPr>
          <p:cNvPr id="62" name="Text 60"/>
          <p:cNvSpPr/>
          <p:nvPr/>
        </p:nvSpPr>
        <p:spPr>
          <a:xfrm>
            <a:off x="8430768" y="3813048"/>
            <a:ext cx="2743200" cy="457200"/>
          </a:xfrm>
          <a:prstGeom prst="rect">
            <a:avLst/>
          </a:prstGeom>
          <a:noFill/>
          <a:ln/>
        </p:spPr>
        <p:txBody>
          <a:bodyPr wrap="square" lIns="0" tIns="0" rIns="0" bIns="0" rtlCol="0" anchor="ctr"/>
          <a:lstStyle/>
          <a:p>
            <a:pPr marL="0" indent="0">
              <a:lnSpc>
                <a:spcPct val="105000"/>
              </a:lnSpc>
              <a:buNone/>
            </a:pPr>
            <a:r>
              <a:rPr lang="en-US" sz="1200" dirty="0">
                <a:solidFill>
                  <a:srgbClr val="AAB7C2"/>
                </a:solidFill>
                <a:latin typeface="Segoe UI" pitchFamily="34" charset="0"/>
                <a:ea typeface="Segoe UI" pitchFamily="34" charset="-122"/>
                <a:cs typeface="Segoe UI" pitchFamily="34" charset="-120"/>
              </a:rPr>
              <a:t>Filter to the symbol you want as you type.</a:t>
            </a:r>
            <a:endParaRPr lang="en-US" sz="1200" dirty="0"/>
          </a:p>
        </p:txBody>
      </p:sp>
      <p:sp>
        <p:nvSpPr>
          <p:cNvPr id="63" name="row marker">
            <a:extLst>
              <a:ext uri="{C183D7F6-B498-43B3-948B-1728B52AA6E4}">
                <adec:decorative xmlns:adec="http://schemas.microsoft.com/office/drawing/2017/decorative" val="1"/>
              </a:ext>
            </a:extLst>
          </p:cNvPr>
          <p:cNvSpPr/>
          <p:nvPr/>
        </p:nvSpPr>
        <p:spPr>
          <a:xfrm>
            <a:off x="7223760" y="4361688"/>
            <a:ext cx="32004" cy="384048"/>
          </a:xfrm>
          <a:prstGeom prst="rect">
            <a:avLst/>
          </a:prstGeom>
          <a:solidFill>
            <a:srgbClr val="3FE08A"/>
          </a:solidFill>
          <a:ln w="12700">
            <a:solidFill>
              <a:srgbClr val="333333"/>
            </a:solidFill>
            <a:prstDash val="solid"/>
          </a:ln>
        </p:spPr>
        <p:txBody>
          <a:bodyPr/>
          <a:lstStyle/>
          <a:p>
            <a:endParaRPr lang="en-SE"/>
          </a:p>
        </p:txBody>
      </p:sp>
      <p:sp>
        <p:nvSpPr>
          <p:cNvPr id="64" name="Text 62"/>
          <p:cNvSpPr/>
          <p:nvPr/>
        </p:nvSpPr>
        <p:spPr>
          <a:xfrm>
            <a:off x="7370064" y="4306824"/>
            <a:ext cx="1051560" cy="310896"/>
          </a:xfrm>
          <a:prstGeom prst="rect">
            <a:avLst/>
          </a:prstGeom>
          <a:noFill/>
          <a:ln/>
        </p:spPr>
        <p:txBody>
          <a:bodyPr wrap="square" lIns="0" tIns="0" rIns="0" bIns="0" rtlCol="0" anchor="ctr"/>
          <a:lstStyle/>
          <a:p>
            <a:pPr marL="0" indent="0">
              <a:buNone/>
            </a:pPr>
            <a:r>
              <a:rPr lang="en-US" sz="1100" b="1" dirty="0">
                <a:solidFill>
                  <a:srgbClr val="3FE08A"/>
                </a:solidFill>
                <a:latin typeface="Consolas" pitchFamily="34" charset="0"/>
                <a:ea typeface="Consolas" pitchFamily="34" charset="-122"/>
                <a:cs typeface="Consolas" pitchFamily="34" charset="-120"/>
              </a:rPr>
              <a:t>04</a:t>
            </a:r>
            <a:endParaRPr lang="en-US" sz="1100" dirty="0"/>
          </a:p>
        </p:txBody>
      </p:sp>
      <p:sp>
        <p:nvSpPr>
          <p:cNvPr id="65" name="Text 63"/>
          <p:cNvSpPr/>
          <p:nvPr/>
        </p:nvSpPr>
        <p:spPr>
          <a:xfrm>
            <a:off x="8430768" y="4288536"/>
            <a:ext cx="2743200" cy="292608"/>
          </a:xfrm>
          <a:prstGeom prst="rect">
            <a:avLst/>
          </a:prstGeom>
          <a:noFill/>
          <a:ln/>
        </p:spPr>
        <p:txBody>
          <a:bodyPr wrap="square" lIns="0" tIns="0" rIns="0" bIns="0" rtlCol="0" anchor="ctr"/>
          <a:lstStyle/>
          <a:p>
            <a:pPr marL="0" indent="0">
              <a:buNone/>
            </a:pPr>
            <a:r>
              <a:rPr lang="en-US" sz="1400" b="1" dirty="0">
                <a:solidFill>
                  <a:srgbClr val="E6EDF3"/>
                </a:solidFill>
                <a:latin typeface="Segoe UI" pitchFamily="34" charset="0"/>
                <a:ea typeface="Segoe UI" pitchFamily="34" charset="-122"/>
                <a:cs typeface="Segoe UI" pitchFamily="34" charset="-120"/>
              </a:rPr>
              <a:t>Watchlist ☆</a:t>
            </a:r>
            <a:endParaRPr lang="en-US" sz="1400" dirty="0"/>
          </a:p>
        </p:txBody>
      </p:sp>
      <p:sp>
        <p:nvSpPr>
          <p:cNvPr id="66" name="Text 64"/>
          <p:cNvSpPr/>
          <p:nvPr/>
        </p:nvSpPr>
        <p:spPr>
          <a:xfrm>
            <a:off x="8430768" y="4562856"/>
            <a:ext cx="2743200" cy="457200"/>
          </a:xfrm>
          <a:prstGeom prst="rect">
            <a:avLst/>
          </a:prstGeom>
          <a:noFill/>
          <a:ln/>
        </p:spPr>
        <p:txBody>
          <a:bodyPr wrap="square" lIns="0" tIns="0" rIns="0" bIns="0" rtlCol="0" anchor="ctr"/>
          <a:lstStyle/>
          <a:p>
            <a:pPr marL="0" indent="0">
              <a:lnSpc>
                <a:spcPct val="105000"/>
              </a:lnSpc>
              <a:buNone/>
            </a:pPr>
            <a:r>
              <a:rPr lang="en-US" sz="1200" dirty="0">
                <a:solidFill>
                  <a:srgbClr val="AAB7C2"/>
                </a:solidFill>
                <a:latin typeface="Segoe UI" pitchFamily="34" charset="0"/>
                <a:ea typeface="Segoe UI" pitchFamily="34" charset="-122"/>
                <a:cs typeface="Segoe UI" pitchFamily="34" charset="-120"/>
              </a:rPr>
              <a:t>Pin symbols and page through only those.</a:t>
            </a:r>
            <a:endParaRPr lang="en-US" sz="1200" dirty="0"/>
          </a:p>
        </p:txBody>
      </p:sp>
      <p:sp>
        <p:nvSpPr>
          <p:cNvPr id="67" name="row marker">
            <a:extLst>
              <a:ext uri="{C183D7F6-B498-43B3-948B-1728B52AA6E4}">
                <adec:decorative xmlns:adec="http://schemas.microsoft.com/office/drawing/2017/decorative" val="1"/>
              </a:ext>
            </a:extLst>
          </p:cNvPr>
          <p:cNvSpPr/>
          <p:nvPr/>
        </p:nvSpPr>
        <p:spPr>
          <a:xfrm>
            <a:off x="7223760" y="5111496"/>
            <a:ext cx="32004" cy="384048"/>
          </a:xfrm>
          <a:prstGeom prst="rect">
            <a:avLst/>
          </a:prstGeom>
          <a:solidFill>
            <a:srgbClr val="3FE08A"/>
          </a:solidFill>
          <a:ln w="12700">
            <a:solidFill>
              <a:srgbClr val="333333"/>
            </a:solidFill>
            <a:prstDash val="solid"/>
          </a:ln>
        </p:spPr>
        <p:txBody>
          <a:bodyPr/>
          <a:lstStyle/>
          <a:p>
            <a:endParaRPr lang="en-SE"/>
          </a:p>
        </p:txBody>
      </p:sp>
      <p:sp>
        <p:nvSpPr>
          <p:cNvPr id="68" name="Text 66"/>
          <p:cNvSpPr/>
          <p:nvPr/>
        </p:nvSpPr>
        <p:spPr>
          <a:xfrm>
            <a:off x="7370064" y="5056632"/>
            <a:ext cx="1051560" cy="310896"/>
          </a:xfrm>
          <a:prstGeom prst="rect">
            <a:avLst/>
          </a:prstGeom>
          <a:noFill/>
          <a:ln/>
        </p:spPr>
        <p:txBody>
          <a:bodyPr wrap="square" lIns="0" tIns="0" rIns="0" bIns="0" rtlCol="0" anchor="ctr"/>
          <a:lstStyle/>
          <a:p>
            <a:pPr marL="0" indent="0">
              <a:buNone/>
            </a:pPr>
            <a:r>
              <a:rPr lang="en-US" sz="1100" b="1" dirty="0">
                <a:solidFill>
                  <a:srgbClr val="3FE08A"/>
                </a:solidFill>
                <a:latin typeface="Consolas" pitchFamily="34" charset="0"/>
                <a:ea typeface="Consolas" pitchFamily="34" charset="-122"/>
                <a:cs typeface="Consolas" pitchFamily="34" charset="-120"/>
              </a:rPr>
              <a:t>05</a:t>
            </a:r>
            <a:endParaRPr lang="en-US" sz="1100" dirty="0"/>
          </a:p>
        </p:txBody>
      </p:sp>
      <p:sp>
        <p:nvSpPr>
          <p:cNvPr id="69" name="Text 67"/>
          <p:cNvSpPr/>
          <p:nvPr/>
        </p:nvSpPr>
        <p:spPr>
          <a:xfrm>
            <a:off x="8430768" y="5038344"/>
            <a:ext cx="2743200" cy="292608"/>
          </a:xfrm>
          <a:prstGeom prst="rect">
            <a:avLst/>
          </a:prstGeom>
          <a:noFill/>
          <a:ln/>
        </p:spPr>
        <p:txBody>
          <a:bodyPr wrap="square" lIns="0" tIns="0" rIns="0" bIns="0" rtlCol="0" anchor="ctr"/>
          <a:lstStyle/>
          <a:p>
            <a:pPr marL="0" indent="0">
              <a:buNone/>
            </a:pPr>
            <a:r>
              <a:rPr lang="en-US" sz="1400" b="1" dirty="0">
                <a:solidFill>
                  <a:srgbClr val="E6EDF3"/>
                </a:solidFill>
                <a:latin typeface="Segoe UI" pitchFamily="34" charset="0"/>
                <a:ea typeface="Segoe UI" pitchFamily="34" charset="-122"/>
                <a:cs typeface="Segoe UI" pitchFamily="34" charset="-120"/>
              </a:rPr>
              <a:t>Live on every page</a:t>
            </a:r>
            <a:endParaRPr lang="en-US" sz="1400" dirty="0"/>
          </a:p>
        </p:txBody>
      </p:sp>
      <p:sp>
        <p:nvSpPr>
          <p:cNvPr id="70" name="Text 68"/>
          <p:cNvSpPr/>
          <p:nvPr/>
        </p:nvSpPr>
        <p:spPr>
          <a:xfrm>
            <a:off x="8430768" y="5312664"/>
            <a:ext cx="2743200" cy="457200"/>
          </a:xfrm>
          <a:prstGeom prst="rect">
            <a:avLst/>
          </a:prstGeom>
          <a:noFill/>
          <a:ln/>
        </p:spPr>
        <p:txBody>
          <a:bodyPr wrap="square" lIns="0" tIns="0" rIns="0" bIns="0" rtlCol="0" anchor="ctr"/>
          <a:lstStyle/>
          <a:p>
            <a:pPr marL="0" indent="0">
              <a:lnSpc>
                <a:spcPct val="105000"/>
              </a:lnSpc>
              <a:buNone/>
            </a:pPr>
            <a:r>
              <a:rPr lang="en-US" sz="1200" dirty="0">
                <a:solidFill>
                  <a:srgbClr val="AAB7C2"/>
                </a:solidFill>
                <a:latin typeface="Segoe UI" pitchFamily="34" charset="0"/>
                <a:ea typeface="Segoe UI" pitchFamily="34" charset="-122"/>
                <a:cs typeface="Segoe UI" pitchFamily="34" charset="-120"/>
              </a:rPr>
              <a:t>Rows on pages you are not looking at never go stale.</a:t>
            </a:r>
            <a:endParaRPr lang="en-US" sz="1200" dirty="0"/>
          </a:p>
        </p:txBody>
      </p:sp>
      <p:sp>
        <p:nvSpPr>
          <p:cNvPr id="71" name="Text 69"/>
          <p:cNvSpPr/>
          <p:nvPr/>
        </p:nvSpPr>
        <p:spPr>
          <a:xfrm>
            <a:off x="7223760" y="5897880"/>
            <a:ext cx="4768948" cy="320040"/>
          </a:xfrm>
          <a:prstGeom prst="rect">
            <a:avLst/>
          </a:prstGeom>
          <a:noFill/>
          <a:ln/>
        </p:spPr>
        <p:txBody>
          <a:bodyPr wrap="square" lIns="0" tIns="0" rIns="0" bIns="0" rtlCol="0" anchor="ctr"/>
          <a:lstStyle/>
          <a:p>
            <a:pPr marL="0" indent="0">
              <a:buNone/>
            </a:pPr>
            <a:r>
              <a:rPr lang="en-US" sz="1200" i="1" dirty="0">
                <a:solidFill>
                  <a:srgbClr val="7C8B97"/>
                </a:solidFill>
                <a:latin typeface="Segoe UI" pitchFamily="34" charset="0"/>
                <a:ea typeface="Segoe UI" pitchFamily="34" charset="-122"/>
                <a:cs typeface="Segoe UI" pitchFamily="34" charset="-120"/>
              </a:rPr>
              <a:t>Nothing here creates extra load on the exchange — see the next slide for why.</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Overview: auto-paging and the watchlist</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03 · SCREENS</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17</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Two behaviours that surprise beginners the first time they see them.</a:t>
            </a:r>
            <a:endParaRPr lang="en-US" sz="1400" dirty="0"/>
          </a:p>
        </p:txBody>
      </p:sp>
      <p:sp>
        <p:nvSpPr>
          <p:cNvPr id="38" name="panel">
            <a:extLst>
              <a:ext uri="{C183D7F6-B498-43B3-948B-1728B52AA6E4}">
                <adec:decorative xmlns:adec="http://schemas.microsoft.com/office/drawing/2017/decorative" val="1"/>
              </a:ext>
            </a:extLst>
          </p:cNvPr>
          <p:cNvSpPr/>
          <p:nvPr/>
        </p:nvSpPr>
        <p:spPr>
          <a:xfrm>
            <a:off x="566928" y="1965959"/>
            <a:ext cx="5120640" cy="4270717"/>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sz="2000"/>
          </a:p>
        </p:txBody>
      </p:sp>
      <p:sp>
        <p:nvSpPr>
          <p:cNvPr id="39" name="panel accent">
            <a:extLst>
              <a:ext uri="{C183D7F6-B498-43B3-948B-1728B52AA6E4}">
                <adec:decorative xmlns:adec="http://schemas.microsoft.com/office/drawing/2017/decorative" val="1"/>
              </a:ext>
            </a:extLst>
          </p:cNvPr>
          <p:cNvSpPr/>
          <p:nvPr/>
        </p:nvSpPr>
        <p:spPr>
          <a:xfrm>
            <a:off x="566928" y="1965960"/>
            <a:ext cx="50292" cy="4023360"/>
          </a:xfrm>
          <a:prstGeom prst="rect">
            <a:avLst/>
          </a:prstGeom>
          <a:solidFill>
            <a:srgbClr val="3FE08A"/>
          </a:solidFill>
          <a:ln w="12700">
            <a:solidFill>
              <a:srgbClr val="333333"/>
            </a:solidFill>
            <a:prstDash val="solid"/>
          </a:ln>
        </p:spPr>
        <p:txBody>
          <a:bodyPr/>
          <a:lstStyle/>
          <a:p>
            <a:endParaRPr lang="en-SE" sz="2000"/>
          </a:p>
        </p:txBody>
      </p:sp>
      <p:sp>
        <p:nvSpPr>
          <p:cNvPr id="40" name="Text 38"/>
          <p:cNvSpPr/>
          <p:nvPr/>
        </p:nvSpPr>
        <p:spPr>
          <a:xfrm>
            <a:off x="868680" y="2176272"/>
            <a:ext cx="4572000" cy="365760"/>
          </a:xfrm>
          <a:prstGeom prst="rect">
            <a:avLst/>
          </a:prstGeom>
          <a:noFill/>
          <a:ln/>
        </p:spPr>
        <p:txBody>
          <a:bodyPr wrap="square" lIns="0" tIns="0" rIns="0" bIns="0" rtlCol="0" anchor="ctr"/>
          <a:lstStyle/>
          <a:p>
            <a:pPr marL="0" indent="0">
              <a:buNone/>
            </a:pPr>
            <a:r>
              <a:rPr lang="en-US" sz="2000" b="1" dirty="0">
                <a:solidFill>
                  <a:srgbClr val="E6EDF3"/>
                </a:solidFill>
                <a:latin typeface="Segoe UI" pitchFamily="34" charset="0"/>
                <a:ea typeface="Segoe UI" pitchFamily="34" charset="-122"/>
                <a:cs typeface="Segoe UI" pitchFamily="34" charset="-120"/>
              </a:rPr>
              <a:t>Auto-paging</a:t>
            </a:r>
            <a:endParaRPr lang="en-US" sz="2000" dirty="0"/>
          </a:p>
        </p:txBody>
      </p:sp>
      <p:sp>
        <p:nvSpPr>
          <p:cNvPr id="41" name="Text 39"/>
          <p:cNvSpPr/>
          <p:nvPr/>
        </p:nvSpPr>
        <p:spPr>
          <a:xfrm>
            <a:off x="868680" y="2606040"/>
            <a:ext cx="4572000" cy="640080"/>
          </a:xfrm>
          <a:prstGeom prst="rect">
            <a:avLst/>
          </a:prstGeom>
          <a:noFill/>
          <a:ln/>
        </p:spPr>
        <p:txBody>
          <a:bodyPr wrap="square" lIns="0" tIns="0" rIns="0" bIns="0" rtlCol="0" anchor="ctr"/>
          <a:lstStyle/>
          <a:p>
            <a:pPr marL="0" indent="0">
              <a:lnSpc>
                <a:spcPct val="115000"/>
              </a:lnSpc>
              <a:buNone/>
            </a:pPr>
            <a:r>
              <a:rPr lang="en-US" sz="1400" dirty="0">
                <a:solidFill>
                  <a:srgbClr val="AAB7C2"/>
                </a:solidFill>
                <a:latin typeface="Segoe UI" pitchFamily="34" charset="0"/>
                <a:ea typeface="Segoe UI" pitchFamily="34" charset="-122"/>
                <a:cs typeface="Segoe UI" pitchFamily="34" charset="-120"/>
              </a:rPr>
              <a:t>Rows are split into pages sized to fit the screen, so the grid never scrolls — ideal for a display with no mouse.</a:t>
            </a:r>
            <a:endParaRPr lang="en-US" sz="1400" dirty="0"/>
          </a:p>
        </p:txBody>
      </p:sp>
      <p:sp>
        <p:nvSpPr>
          <p:cNvPr id="42" name="Text 40"/>
          <p:cNvSpPr/>
          <p:nvPr/>
        </p:nvSpPr>
        <p:spPr>
          <a:xfrm>
            <a:off x="868680" y="3291840"/>
            <a:ext cx="2743200" cy="274320"/>
          </a:xfrm>
          <a:prstGeom prst="rect">
            <a:avLst/>
          </a:prstGeom>
          <a:noFill/>
          <a:ln/>
        </p:spPr>
        <p:txBody>
          <a:bodyPr wrap="square" lIns="0" tIns="0" rIns="0" bIns="0" rtlCol="0" anchor="ctr"/>
          <a:lstStyle/>
          <a:p>
            <a:pPr marL="0" indent="0">
              <a:buNone/>
            </a:pPr>
            <a:r>
              <a:rPr lang="en-US" sz="1000" kern="0" spc="150" dirty="0">
                <a:solidFill>
                  <a:srgbClr val="7C8B97"/>
                </a:solidFill>
                <a:latin typeface="Consolas" pitchFamily="34" charset="0"/>
                <a:ea typeface="Consolas" pitchFamily="34" charset="-122"/>
                <a:cs typeface="Consolas" pitchFamily="34" charset="-120"/>
              </a:rPr>
              <a:t>DWELL TIME</a:t>
            </a:r>
            <a:endParaRPr lang="en-US" sz="1000" dirty="0"/>
          </a:p>
        </p:txBody>
      </p:sp>
      <p:sp>
        <p:nvSpPr>
          <p:cNvPr id="43" name="badge background">
            <a:extLst>
              <a:ext uri="{C183D7F6-B498-43B3-948B-1728B52AA6E4}">
                <adec:decorative xmlns:adec="http://schemas.microsoft.com/office/drawing/2017/decorative" val="1"/>
              </a:ext>
            </a:extLst>
          </p:cNvPr>
          <p:cNvSpPr/>
          <p:nvPr/>
        </p:nvSpPr>
        <p:spPr>
          <a:xfrm>
            <a:off x="868680" y="3584448"/>
            <a:ext cx="777240" cy="310896"/>
          </a:xfrm>
          <a:prstGeom prst="roundRect">
            <a:avLst>
              <a:gd name="adj" fmla="val 26471"/>
            </a:avLst>
          </a:prstGeom>
          <a:solidFill>
            <a:srgbClr val="122C22"/>
          </a:solidFill>
          <a:ln w="12700">
            <a:solidFill>
              <a:srgbClr val="333333"/>
            </a:solidFill>
            <a:prstDash val="solid"/>
          </a:ln>
        </p:spPr>
        <p:txBody>
          <a:bodyPr/>
          <a:lstStyle/>
          <a:p>
            <a:endParaRPr lang="en-SE" sz="2000"/>
          </a:p>
        </p:txBody>
      </p:sp>
      <p:sp>
        <p:nvSpPr>
          <p:cNvPr id="44" name="Text 42"/>
          <p:cNvSpPr/>
          <p:nvPr/>
        </p:nvSpPr>
        <p:spPr>
          <a:xfrm>
            <a:off x="868680" y="3584448"/>
            <a:ext cx="777240" cy="310896"/>
          </a:xfrm>
          <a:prstGeom prst="rect">
            <a:avLst/>
          </a:prstGeom>
          <a:noFill/>
          <a:ln/>
        </p:spPr>
        <p:txBody>
          <a:bodyPr wrap="square" lIns="0" tIns="0" rIns="0" bIns="0" rtlCol="0" anchor="ctr"/>
          <a:lstStyle/>
          <a:p>
            <a:pPr marL="0" indent="0" algn="ctr">
              <a:buNone/>
            </a:pPr>
            <a:r>
              <a:rPr lang="en-US" sz="1050" b="1" kern="0" spc="80" dirty="0">
                <a:solidFill>
                  <a:srgbClr val="3FE08A"/>
                </a:solidFill>
                <a:latin typeface="Consolas" pitchFamily="34" charset="0"/>
                <a:ea typeface="Consolas" pitchFamily="34" charset="-122"/>
                <a:cs typeface="Consolas" pitchFamily="34" charset="-120"/>
              </a:rPr>
              <a:t>3s</a:t>
            </a:r>
            <a:endParaRPr lang="en-US" sz="1050" dirty="0"/>
          </a:p>
        </p:txBody>
      </p:sp>
      <p:sp>
        <p:nvSpPr>
          <p:cNvPr id="45" name="badge background">
            <a:extLst>
              <a:ext uri="{C183D7F6-B498-43B3-948B-1728B52AA6E4}">
                <adec:decorative xmlns:adec="http://schemas.microsoft.com/office/drawing/2017/decorative" val="1"/>
              </a:ext>
            </a:extLst>
          </p:cNvPr>
          <p:cNvSpPr/>
          <p:nvPr/>
        </p:nvSpPr>
        <p:spPr>
          <a:xfrm>
            <a:off x="1764792" y="3584448"/>
            <a:ext cx="777240" cy="310896"/>
          </a:xfrm>
          <a:prstGeom prst="roundRect">
            <a:avLst>
              <a:gd name="adj" fmla="val 26471"/>
            </a:avLst>
          </a:prstGeom>
          <a:solidFill>
            <a:srgbClr val="122C22"/>
          </a:solidFill>
          <a:ln w="12700">
            <a:solidFill>
              <a:srgbClr val="333333"/>
            </a:solidFill>
            <a:prstDash val="solid"/>
          </a:ln>
        </p:spPr>
        <p:txBody>
          <a:bodyPr/>
          <a:lstStyle/>
          <a:p>
            <a:endParaRPr lang="en-SE" sz="2000"/>
          </a:p>
        </p:txBody>
      </p:sp>
      <p:sp>
        <p:nvSpPr>
          <p:cNvPr id="46" name="Text 44"/>
          <p:cNvSpPr/>
          <p:nvPr/>
        </p:nvSpPr>
        <p:spPr>
          <a:xfrm>
            <a:off x="1764792" y="3584448"/>
            <a:ext cx="777240" cy="310896"/>
          </a:xfrm>
          <a:prstGeom prst="rect">
            <a:avLst/>
          </a:prstGeom>
          <a:noFill/>
          <a:ln/>
        </p:spPr>
        <p:txBody>
          <a:bodyPr wrap="square" lIns="0" tIns="0" rIns="0" bIns="0" rtlCol="0" anchor="ctr"/>
          <a:lstStyle/>
          <a:p>
            <a:pPr marL="0" indent="0" algn="ctr">
              <a:buNone/>
            </a:pPr>
            <a:r>
              <a:rPr lang="en-US" sz="1050" b="1" kern="0" spc="80" dirty="0">
                <a:solidFill>
                  <a:srgbClr val="3FE08A"/>
                </a:solidFill>
                <a:latin typeface="Consolas" pitchFamily="34" charset="0"/>
                <a:ea typeface="Consolas" pitchFamily="34" charset="-122"/>
                <a:cs typeface="Consolas" pitchFamily="34" charset="-120"/>
              </a:rPr>
              <a:t>5s</a:t>
            </a:r>
            <a:endParaRPr lang="en-US" sz="1050" dirty="0"/>
          </a:p>
        </p:txBody>
      </p:sp>
      <p:sp>
        <p:nvSpPr>
          <p:cNvPr id="47" name="badge background">
            <a:extLst>
              <a:ext uri="{C183D7F6-B498-43B3-948B-1728B52AA6E4}">
                <adec:decorative xmlns:adec="http://schemas.microsoft.com/office/drawing/2017/decorative" val="1"/>
              </a:ext>
            </a:extLst>
          </p:cNvPr>
          <p:cNvSpPr/>
          <p:nvPr/>
        </p:nvSpPr>
        <p:spPr>
          <a:xfrm>
            <a:off x="2660904" y="3584448"/>
            <a:ext cx="777240" cy="310896"/>
          </a:xfrm>
          <a:prstGeom prst="roundRect">
            <a:avLst>
              <a:gd name="adj" fmla="val 26471"/>
            </a:avLst>
          </a:prstGeom>
          <a:solidFill>
            <a:srgbClr val="122C22"/>
          </a:solidFill>
          <a:ln w="12700">
            <a:solidFill>
              <a:srgbClr val="333333"/>
            </a:solidFill>
            <a:prstDash val="solid"/>
          </a:ln>
        </p:spPr>
        <p:txBody>
          <a:bodyPr/>
          <a:lstStyle/>
          <a:p>
            <a:endParaRPr lang="en-SE" sz="2000"/>
          </a:p>
        </p:txBody>
      </p:sp>
      <p:sp>
        <p:nvSpPr>
          <p:cNvPr id="48" name="Text 46"/>
          <p:cNvSpPr/>
          <p:nvPr/>
        </p:nvSpPr>
        <p:spPr>
          <a:xfrm>
            <a:off x="2660904" y="3584448"/>
            <a:ext cx="777240" cy="310896"/>
          </a:xfrm>
          <a:prstGeom prst="rect">
            <a:avLst/>
          </a:prstGeom>
          <a:noFill/>
          <a:ln/>
        </p:spPr>
        <p:txBody>
          <a:bodyPr wrap="square" lIns="0" tIns="0" rIns="0" bIns="0" rtlCol="0" anchor="ctr"/>
          <a:lstStyle/>
          <a:p>
            <a:pPr marL="0" indent="0" algn="ctr">
              <a:buNone/>
            </a:pPr>
            <a:r>
              <a:rPr lang="en-US" sz="1050" b="1" kern="0" spc="80" dirty="0">
                <a:solidFill>
                  <a:srgbClr val="3FE08A"/>
                </a:solidFill>
                <a:latin typeface="Consolas" pitchFamily="34" charset="0"/>
                <a:ea typeface="Consolas" pitchFamily="34" charset="-122"/>
                <a:cs typeface="Consolas" pitchFamily="34" charset="-120"/>
              </a:rPr>
              <a:t>8s</a:t>
            </a:r>
            <a:endParaRPr lang="en-US" sz="1050" dirty="0"/>
          </a:p>
        </p:txBody>
      </p:sp>
      <p:sp>
        <p:nvSpPr>
          <p:cNvPr id="49" name="badge background">
            <a:extLst>
              <a:ext uri="{C183D7F6-B498-43B3-948B-1728B52AA6E4}">
                <adec:decorative xmlns:adec="http://schemas.microsoft.com/office/drawing/2017/decorative" val="1"/>
              </a:ext>
            </a:extLst>
          </p:cNvPr>
          <p:cNvSpPr/>
          <p:nvPr/>
        </p:nvSpPr>
        <p:spPr>
          <a:xfrm>
            <a:off x="3557016" y="3584448"/>
            <a:ext cx="777240" cy="310896"/>
          </a:xfrm>
          <a:prstGeom prst="roundRect">
            <a:avLst>
              <a:gd name="adj" fmla="val 26471"/>
            </a:avLst>
          </a:prstGeom>
          <a:solidFill>
            <a:srgbClr val="122C22"/>
          </a:solidFill>
          <a:ln w="12700">
            <a:solidFill>
              <a:srgbClr val="333333"/>
            </a:solidFill>
            <a:prstDash val="solid"/>
          </a:ln>
        </p:spPr>
        <p:txBody>
          <a:bodyPr/>
          <a:lstStyle/>
          <a:p>
            <a:endParaRPr lang="en-SE" sz="2000"/>
          </a:p>
        </p:txBody>
      </p:sp>
      <p:sp>
        <p:nvSpPr>
          <p:cNvPr id="50" name="Text 48"/>
          <p:cNvSpPr/>
          <p:nvPr/>
        </p:nvSpPr>
        <p:spPr>
          <a:xfrm>
            <a:off x="3557016" y="3584448"/>
            <a:ext cx="777240" cy="310896"/>
          </a:xfrm>
          <a:prstGeom prst="rect">
            <a:avLst/>
          </a:prstGeom>
          <a:noFill/>
          <a:ln/>
        </p:spPr>
        <p:txBody>
          <a:bodyPr wrap="square" lIns="0" tIns="0" rIns="0" bIns="0" rtlCol="0" anchor="ctr"/>
          <a:lstStyle/>
          <a:p>
            <a:pPr marL="0" indent="0" algn="ctr">
              <a:buNone/>
            </a:pPr>
            <a:r>
              <a:rPr lang="en-US" sz="1050" b="1" kern="0" spc="80" dirty="0">
                <a:solidFill>
                  <a:srgbClr val="3FE08A"/>
                </a:solidFill>
                <a:latin typeface="Consolas" pitchFamily="34" charset="0"/>
                <a:ea typeface="Consolas" pitchFamily="34" charset="-122"/>
                <a:cs typeface="Consolas" pitchFamily="34" charset="-120"/>
              </a:rPr>
              <a:t>15s</a:t>
            </a:r>
            <a:endParaRPr lang="en-US" sz="1050" dirty="0"/>
          </a:p>
        </p:txBody>
      </p:sp>
      <p:sp>
        <p:nvSpPr>
          <p:cNvPr id="51" name="badge background">
            <a:extLst>
              <a:ext uri="{C183D7F6-B498-43B3-948B-1728B52AA6E4}">
                <adec:decorative xmlns:adec="http://schemas.microsoft.com/office/drawing/2017/decorative" val="1"/>
              </a:ext>
            </a:extLst>
          </p:cNvPr>
          <p:cNvSpPr/>
          <p:nvPr/>
        </p:nvSpPr>
        <p:spPr>
          <a:xfrm>
            <a:off x="4453128" y="3584448"/>
            <a:ext cx="777240" cy="310896"/>
          </a:xfrm>
          <a:prstGeom prst="roundRect">
            <a:avLst>
              <a:gd name="adj" fmla="val 26471"/>
            </a:avLst>
          </a:prstGeom>
          <a:solidFill>
            <a:srgbClr val="122C22"/>
          </a:solidFill>
          <a:ln w="12700">
            <a:solidFill>
              <a:srgbClr val="333333"/>
            </a:solidFill>
            <a:prstDash val="solid"/>
          </a:ln>
        </p:spPr>
        <p:txBody>
          <a:bodyPr/>
          <a:lstStyle/>
          <a:p>
            <a:endParaRPr lang="en-SE" sz="2000"/>
          </a:p>
        </p:txBody>
      </p:sp>
      <p:sp>
        <p:nvSpPr>
          <p:cNvPr id="52" name="Text 50"/>
          <p:cNvSpPr/>
          <p:nvPr/>
        </p:nvSpPr>
        <p:spPr>
          <a:xfrm>
            <a:off x="4453128" y="3584448"/>
            <a:ext cx="777240" cy="310896"/>
          </a:xfrm>
          <a:prstGeom prst="rect">
            <a:avLst/>
          </a:prstGeom>
          <a:noFill/>
          <a:ln/>
        </p:spPr>
        <p:txBody>
          <a:bodyPr wrap="square" lIns="0" tIns="0" rIns="0" bIns="0" rtlCol="0" anchor="ctr"/>
          <a:lstStyle/>
          <a:p>
            <a:pPr marL="0" indent="0" algn="ctr">
              <a:buNone/>
            </a:pPr>
            <a:r>
              <a:rPr lang="en-US" sz="1050" b="1" kern="0" spc="80" dirty="0">
                <a:solidFill>
                  <a:srgbClr val="3FE08A"/>
                </a:solidFill>
                <a:latin typeface="Consolas" pitchFamily="34" charset="0"/>
                <a:ea typeface="Consolas" pitchFamily="34" charset="-122"/>
                <a:cs typeface="Consolas" pitchFamily="34" charset="-120"/>
              </a:rPr>
              <a:t>30s</a:t>
            </a:r>
            <a:endParaRPr lang="en-US" sz="1050" dirty="0"/>
          </a:p>
        </p:txBody>
      </p:sp>
      <p:sp>
        <p:nvSpPr>
          <p:cNvPr id="53" name="Text 51"/>
          <p:cNvSpPr/>
          <p:nvPr/>
        </p:nvSpPr>
        <p:spPr>
          <a:xfrm>
            <a:off x="868680" y="4069080"/>
            <a:ext cx="4572000" cy="1188720"/>
          </a:xfrm>
          <a:prstGeom prst="rect">
            <a:avLst/>
          </a:prstGeom>
          <a:noFill/>
          <a:ln/>
        </p:spPr>
        <p:txBody>
          <a:bodyPr wrap="square" lIns="0" tIns="0" rIns="0" bIns="0" rtlCol="0" anchor="ctr"/>
          <a:lstStyle/>
          <a:p>
            <a:pPr marL="0" indent="0">
              <a:lnSpc>
                <a:spcPct val="115000"/>
              </a:lnSpc>
              <a:buNone/>
            </a:pPr>
            <a:r>
              <a:rPr lang="en-US" sz="1400" dirty="0">
                <a:solidFill>
                  <a:srgbClr val="AAB7C2"/>
                </a:solidFill>
                <a:latin typeface="Segoe UI" pitchFamily="34" charset="0"/>
                <a:ea typeface="Segoe UI" pitchFamily="34" charset="-122"/>
                <a:cs typeface="Segoe UI" pitchFamily="34" charset="-120"/>
              </a:rPr>
              <a:t>Auto-advance suspends automatically when you hover the grid, sort a column, or type in the search box — a board should not slide out from under someone who is reading it. The manual ‹ › and pause controls always keep working.</a:t>
            </a:r>
            <a:endParaRPr lang="en-US" sz="1400" dirty="0"/>
          </a:p>
        </p:txBody>
      </p:sp>
      <p:sp>
        <p:nvSpPr>
          <p:cNvPr id="54" name="badge background">
            <a:extLst>
              <a:ext uri="{C183D7F6-B498-43B3-948B-1728B52AA6E4}">
                <adec:decorative xmlns:adec="http://schemas.microsoft.com/office/drawing/2017/decorative" val="1"/>
              </a:ext>
            </a:extLst>
          </p:cNvPr>
          <p:cNvSpPr/>
          <p:nvPr/>
        </p:nvSpPr>
        <p:spPr>
          <a:xfrm>
            <a:off x="868680" y="5349240"/>
            <a:ext cx="4572000" cy="384048"/>
          </a:xfrm>
          <a:prstGeom prst="roundRect">
            <a:avLst>
              <a:gd name="adj" fmla="val 21429"/>
            </a:avLst>
          </a:prstGeom>
          <a:solidFill>
            <a:srgbClr val="122C22"/>
          </a:solidFill>
          <a:ln w="12700">
            <a:solidFill>
              <a:srgbClr val="333333"/>
            </a:solidFill>
            <a:prstDash val="solid"/>
          </a:ln>
        </p:spPr>
        <p:txBody>
          <a:bodyPr/>
          <a:lstStyle/>
          <a:p>
            <a:endParaRPr lang="en-SE" sz="2000"/>
          </a:p>
        </p:txBody>
      </p:sp>
      <p:sp>
        <p:nvSpPr>
          <p:cNvPr id="55" name="Text 53"/>
          <p:cNvSpPr/>
          <p:nvPr/>
        </p:nvSpPr>
        <p:spPr>
          <a:xfrm>
            <a:off x="868680" y="5349240"/>
            <a:ext cx="4572000" cy="384048"/>
          </a:xfrm>
          <a:prstGeom prst="rect">
            <a:avLst/>
          </a:prstGeom>
          <a:noFill/>
          <a:ln/>
        </p:spPr>
        <p:txBody>
          <a:bodyPr wrap="square" lIns="0" tIns="0" rIns="0" bIns="0" rtlCol="0" anchor="ctr"/>
          <a:lstStyle/>
          <a:p>
            <a:pPr marL="0" indent="0" algn="ctr">
              <a:buNone/>
            </a:pPr>
            <a:r>
              <a:rPr lang="en-US" sz="1050" b="1" kern="0" spc="80" dirty="0">
                <a:solidFill>
                  <a:srgbClr val="3FE08A"/>
                </a:solidFill>
                <a:latin typeface="Consolas" pitchFamily="34" charset="0"/>
                <a:ea typeface="Consolas" pitchFamily="34" charset="-122"/>
                <a:cs typeface="Consolas" pitchFamily="34" charset="-120"/>
              </a:rPr>
              <a:t>HOVER · SORT · SEARCH  →  AUTO-ADVANCE PAUSES</a:t>
            </a:r>
            <a:endParaRPr lang="en-US" sz="1050" dirty="0"/>
          </a:p>
        </p:txBody>
      </p:sp>
      <p:sp>
        <p:nvSpPr>
          <p:cNvPr id="56" name="panel">
            <a:extLst>
              <a:ext uri="{C183D7F6-B498-43B3-948B-1728B52AA6E4}">
                <adec:decorative xmlns:adec="http://schemas.microsoft.com/office/drawing/2017/decorative" val="1"/>
              </a:ext>
            </a:extLst>
          </p:cNvPr>
          <p:cNvSpPr/>
          <p:nvPr/>
        </p:nvSpPr>
        <p:spPr>
          <a:xfrm>
            <a:off x="6053328" y="1965959"/>
            <a:ext cx="5120640" cy="4270717"/>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sz="2000"/>
          </a:p>
        </p:txBody>
      </p:sp>
      <p:sp>
        <p:nvSpPr>
          <p:cNvPr id="57" name="panel accent">
            <a:extLst>
              <a:ext uri="{C183D7F6-B498-43B3-948B-1728B52AA6E4}">
                <adec:decorative xmlns:adec="http://schemas.microsoft.com/office/drawing/2017/decorative" val="1"/>
              </a:ext>
            </a:extLst>
          </p:cNvPr>
          <p:cNvSpPr/>
          <p:nvPr/>
        </p:nvSpPr>
        <p:spPr>
          <a:xfrm>
            <a:off x="6053328" y="1965960"/>
            <a:ext cx="50292" cy="4023360"/>
          </a:xfrm>
          <a:prstGeom prst="rect">
            <a:avLst/>
          </a:prstGeom>
          <a:solidFill>
            <a:srgbClr val="F5A524"/>
          </a:solidFill>
          <a:ln w="12700">
            <a:solidFill>
              <a:srgbClr val="333333"/>
            </a:solidFill>
            <a:prstDash val="solid"/>
          </a:ln>
        </p:spPr>
        <p:txBody>
          <a:bodyPr/>
          <a:lstStyle/>
          <a:p>
            <a:endParaRPr lang="en-SE" sz="2000"/>
          </a:p>
        </p:txBody>
      </p:sp>
      <p:sp>
        <p:nvSpPr>
          <p:cNvPr id="58" name="Text 56"/>
          <p:cNvSpPr/>
          <p:nvPr/>
        </p:nvSpPr>
        <p:spPr>
          <a:xfrm>
            <a:off x="6355080" y="2176272"/>
            <a:ext cx="4572000" cy="365760"/>
          </a:xfrm>
          <a:prstGeom prst="rect">
            <a:avLst/>
          </a:prstGeom>
          <a:noFill/>
          <a:ln/>
        </p:spPr>
        <p:txBody>
          <a:bodyPr wrap="square" lIns="0" tIns="0" rIns="0" bIns="0" rtlCol="0" anchor="ctr"/>
          <a:lstStyle/>
          <a:p>
            <a:pPr marL="0" indent="0">
              <a:buNone/>
            </a:pPr>
            <a:r>
              <a:rPr lang="en-US" sz="2000" b="1" dirty="0">
                <a:solidFill>
                  <a:srgbClr val="E6EDF3"/>
                </a:solidFill>
                <a:latin typeface="Segoe UI" pitchFamily="34" charset="0"/>
                <a:ea typeface="Segoe UI" pitchFamily="34" charset="-122"/>
                <a:cs typeface="Segoe UI" pitchFamily="34" charset="-120"/>
              </a:rPr>
              <a:t>The watchlist</a:t>
            </a:r>
            <a:endParaRPr lang="en-US" sz="2000" dirty="0"/>
          </a:p>
        </p:txBody>
      </p:sp>
      <p:sp>
        <p:nvSpPr>
          <p:cNvPr id="59" name="Text 57"/>
          <p:cNvSpPr/>
          <p:nvPr/>
        </p:nvSpPr>
        <p:spPr>
          <a:xfrm>
            <a:off x="6355080" y="2606040"/>
            <a:ext cx="4572000" cy="914400"/>
          </a:xfrm>
          <a:prstGeom prst="rect">
            <a:avLst/>
          </a:prstGeom>
          <a:noFill/>
          <a:ln/>
        </p:spPr>
        <p:txBody>
          <a:bodyPr wrap="square" lIns="0" tIns="0" rIns="0" bIns="0" rtlCol="0" anchor="ctr"/>
          <a:lstStyle/>
          <a:p>
            <a:pPr marL="0" indent="0">
              <a:lnSpc>
                <a:spcPct val="115000"/>
              </a:lnSpc>
              <a:buNone/>
            </a:pPr>
            <a:r>
              <a:rPr lang="en-US" sz="1400" dirty="0">
                <a:solidFill>
                  <a:srgbClr val="AAB7C2"/>
                </a:solidFill>
                <a:latin typeface="Segoe UI" pitchFamily="34" charset="0"/>
                <a:ea typeface="Segoe UI" pitchFamily="34" charset="-122"/>
                <a:cs typeface="Segoe UI" pitchFamily="34" charset="-120"/>
              </a:rPr>
              <a:t>Click the ☆ next to any symbol to pin it. The All / ☆ Watchlist toggle then switches the grid between paging through every symbol and paging through only your pinned ones.</a:t>
            </a:r>
            <a:endParaRPr lang="en-US" sz="1400" dirty="0"/>
          </a:p>
        </p:txBody>
      </p:sp>
      <p:sp>
        <p:nvSpPr>
          <p:cNvPr id="60" name="callout background">
            <a:extLst>
              <a:ext uri="{C183D7F6-B498-43B3-948B-1728B52AA6E4}">
                <adec:decorative xmlns:adec="http://schemas.microsoft.com/office/drawing/2017/decorative" val="1"/>
              </a:ext>
            </a:extLst>
          </p:cNvPr>
          <p:cNvSpPr/>
          <p:nvPr/>
        </p:nvSpPr>
        <p:spPr>
          <a:xfrm>
            <a:off x="6355080" y="3670495"/>
            <a:ext cx="4572000" cy="914400"/>
          </a:xfrm>
          <a:prstGeom prst="rect">
            <a:avLst/>
          </a:prstGeom>
          <a:solidFill>
            <a:srgbClr val="191E23"/>
          </a:solidFill>
          <a:ln w="12700">
            <a:solidFill>
              <a:srgbClr val="F5A524"/>
            </a:solidFill>
            <a:prstDash val="solid"/>
          </a:ln>
        </p:spPr>
        <p:txBody>
          <a:bodyPr/>
          <a:lstStyle/>
          <a:p>
            <a:endParaRPr lang="en-SE" sz="2000"/>
          </a:p>
        </p:txBody>
      </p:sp>
      <p:sp>
        <p:nvSpPr>
          <p:cNvPr id="61" name="Text 59"/>
          <p:cNvSpPr/>
          <p:nvPr/>
        </p:nvSpPr>
        <p:spPr>
          <a:xfrm>
            <a:off x="6537960" y="3670495"/>
            <a:ext cx="4206240" cy="914400"/>
          </a:xfrm>
          <a:prstGeom prst="rect">
            <a:avLst/>
          </a:prstGeom>
          <a:noFill/>
          <a:ln/>
        </p:spPr>
        <p:txBody>
          <a:bodyPr wrap="square" lIns="0" tIns="0" rIns="0" bIns="0" rtlCol="0" anchor="ctr"/>
          <a:lstStyle/>
          <a:p>
            <a:pPr marL="0" indent="0">
              <a:lnSpc>
                <a:spcPct val="108000"/>
              </a:lnSpc>
              <a:buNone/>
            </a:pPr>
            <a:r>
              <a:rPr lang="en-US" sz="1200" b="1" dirty="0">
                <a:solidFill>
                  <a:srgbClr val="F5A524"/>
                </a:solidFill>
                <a:latin typeface="Segoe UI" pitchFamily="34" charset="0"/>
                <a:ea typeface="Segoe UI" pitchFamily="34" charset="-122"/>
                <a:cs typeface="Segoe UI" pitchFamily="34" charset="-120"/>
              </a:rPr>
              <a:t>Important for operators:  </a:t>
            </a:r>
            <a:r>
              <a:rPr lang="en-US" sz="1200" dirty="0">
                <a:solidFill>
                  <a:srgbClr val="AAB7C2"/>
                </a:solidFill>
                <a:latin typeface="Segoe UI" pitchFamily="34" charset="0"/>
                <a:ea typeface="Segoe UI" pitchFamily="34" charset="-122"/>
                <a:cs typeface="Segoe UI" pitchFamily="34" charset="-120"/>
              </a:rPr>
              <a:t>the watchlist lives only in your browser. There is no server-side watchlist and nothing to log into — so it does not follow you to another machine, and clearing browser data clears it.</a:t>
            </a:r>
            <a:endParaRPr lang="en-US" sz="1200" dirty="0"/>
          </a:p>
        </p:txBody>
      </p:sp>
      <p:sp>
        <p:nvSpPr>
          <p:cNvPr id="62" name="Text 60"/>
          <p:cNvSpPr/>
          <p:nvPr/>
        </p:nvSpPr>
        <p:spPr>
          <a:xfrm>
            <a:off x="6355080" y="4663440"/>
            <a:ext cx="4572000" cy="320040"/>
          </a:xfrm>
          <a:prstGeom prst="rect">
            <a:avLst/>
          </a:prstGeom>
          <a:noFill/>
          <a:ln/>
        </p:spPr>
        <p:txBody>
          <a:bodyPr wrap="square" lIns="0" tIns="0" rIns="0" bIns="0" rtlCol="0" anchor="ctr"/>
          <a:lstStyle/>
          <a:p>
            <a:pPr marL="0" indent="0">
              <a:buNone/>
            </a:pPr>
            <a:r>
              <a:rPr lang="en-US" sz="1600" b="1" dirty="0">
                <a:solidFill>
                  <a:srgbClr val="E6EDF3"/>
                </a:solidFill>
                <a:latin typeface="Segoe UI" pitchFamily="34" charset="0"/>
                <a:ea typeface="Segoe UI" pitchFamily="34" charset="-122"/>
                <a:cs typeface="Segoe UI" pitchFamily="34" charset="-120"/>
              </a:rPr>
              <a:t>Row fading</a:t>
            </a:r>
            <a:endParaRPr lang="en-US" sz="1600" dirty="0"/>
          </a:p>
        </p:txBody>
      </p:sp>
      <p:sp>
        <p:nvSpPr>
          <p:cNvPr id="63" name="Text 61"/>
          <p:cNvSpPr/>
          <p:nvPr/>
        </p:nvSpPr>
        <p:spPr>
          <a:xfrm>
            <a:off x="6355080" y="5010912"/>
            <a:ext cx="4572000" cy="914400"/>
          </a:xfrm>
          <a:prstGeom prst="rect">
            <a:avLst/>
          </a:prstGeom>
          <a:noFill/>
          <a:ln/>
        </p:spPr>
        <p:txBody>
          <a:bodyPr wrap="square" lIns="0" tIns="0" rIns="0" bIns="0" rtlCol="0" anchor="ctr"/>
          <a:lstStyle/>
          <a:p>
            <a:pPr marL="0" indent="0">
              <a:lnSpc>
                <a:spcPct val="112000"/>
              </a:lnSpc>
              <a:buNone/>
            </a:pPr>
            <a:r>
              <a:rPr lang="en-US" sz="1200" dirty="0">
                <a:solidFill>
                  <a:srgbClr val="AAB7C2"/>
                </a:solidFill>
                <a:latin typeface="Segoe UI" pitchFamily="34" charset="0"/>
                <a:ea typeface="Segoe UI" pitchFamily="34" charset="-122"/>
                <a:cs typeface="Segoe UI" pitchFamily="34" charset="-120"/>
              </a:rPr>
              <a:t>A row fades once a symbol has been silent longer than a configurable threshold (1 minute up to 1 hour, or off). The right value depends on your exchange: a busy book and a thin classroom market want very different settings, which is exactly why it is a control and not a hardcoded number.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Overview: when the board changes shape</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03 · SCREENS</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18</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The grid is not always the same grid. Two things rewrite it, and both are telling you something important.</a:t>
            </a:r>
            <a:endParaRPr lang="en-US" sz="1400" dirty="0"/>
          </a:p>
        </p:txBody>
      </p:sp>
      <p:sp>
        <p:nvSpPr>
          <p:cNvPr id="38" name="panel">
            <a:extLst>
              <a:ext uri="{C183D7F6-B498-43B3-948B-1728B52AA6E4}">
                <adec:decorative xmlns:adec="http://schemas.microsoft.com/office/drawing/2017/decorative" val="1"/>
              </a:ext>
            </a:extLst>
          </p:cNvPr>
          <p:cNvSpPr/>
          <p:nvPr/>
        </p:nvSpPr>
        <p:spPr>
          <a:xfrm>
            <a:off x="566928" y="1965960"/>
            <a:ext cx="5120640" cy="214884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39" name="panel accent">
            <a:extLst>
              <a:ext uri="{C183D7F6-B498-43B3-948B-1728B52AA6E4}">
                <adec:decorative xmlns:adec="http://schemas.microsoft.com/office/drawing/2017/decorative" val="1"/>
              </a:ext>
            </a:extLst>
          </p:cNvPr>
          <p:cNvSpPr/>
          <p:nvPr/>
        </p:nvSpPr>
        <p:spPr>
          <a:xfrm>
            <a:off x="566928" y="1965960"/>
            <a:ext cx="50292" cy="2148840"/>
          </a:xfrm>
          <a:prstGeom prst="rect">
            <a:avLst/>
          </a:prstGeom>
          <a:solidFill>
            <a:srgbClr val="F5A524"/>
          </a:solidFill>
          <a:ln w="12700">
            <a:solidFill>
              <a:srgbClr val="333333"/>
            </a:solidFill>
            <a:prstDash val="solid"/>
          </a:ln>
        </p:spPr>
        <p:txBody>
          <a:bodyPr/>
          <a:lstStyle/>
          <a:p>
            <a:endParaRPr lang="en-SE"/>
          </a:p>
        </p:txBody>
      </p:sp>
      <p:sp>
        <p:nvSpPr>
          <p:cNvPr id="40" name="Text 38"/>
          <p:cNvSpPr/>
          <p:nvPr/>
        </p:nvSpPr>
        <p:spPr>
          <a:xfrm>
            <a:off x="868680" y="2176272"/>
            <a:ext cx="4572000" cy="548640"/>
          </a:xfrm>
          <a:prstGeom prst="rect">
            <a:avLst/>
          </a:prstGeom>
          <a:noFill/>
          <a:ln/>
        </p:spPr>
        <p:txBody>
          <a:bodyPr wrap="square" lIns="0" tIns="0" rIns="0" bIns="0" rtlCol="0" anchor="ctr"/>
          <a:lstStyle/>
          <a:p>
            <a:pPr marL="0" indent="0">
              <a:lnSpc>
                <a:spcPct val="105000"/>
              </a:lnSpc>
              <a:buNone/>
            </a:pPr>
            <a:r>
              <a:rPr lang="en-US" sz="1550" b="1" dirty="0">
                <a:solidFill>
                  <a:srgbClr val="E6EDF3"/>
                </a:solidFill>
                <a:latin typeface="Segoe UI" pitchFamily="34" charset="0"/>
                <a:ea typeface="Segoe UI" pitchFamily="34" charset="-122"/>
                <a:cs typeface="Segoe UI" pitchFamily="34" charset="-120"/>
              </a:rPr>
              <a:t>During a call auction, the quote columns change</a:t>
            </a:r>
            <a:endParaRPr lang="en-US" sz="1550" dirty="0"/>
          </a:p>
        </p:txBody>
      </p:sp>
      <p:sp>
        <p:nvSpPr>
          <p:cNvPr id="41" name="column group">
            <a:extLst>
              <a:ext uri="{C183D7F6-B498-43B3-948B-1728B52AA6E4}">
                <adec:decorative xmlns:adec="http://schemas.microsoft.com/office/drawing/2017/decorative" val="1"/>
              </a:ext>
            </a:extLst>
          </p:cNvPr>
          <p:cNvSpPr/>
          <p:nvPr/>
        </p:nvSpPr>
        <p:spPr>
          <a:xfrm>
            <a:off x="868680" y="2788920"/>
            <a:ext cx="1828800" cy="777240"/>
          </a:xfrm>
          <a:prstGeom prst="rect">
            <a:avLst/>
          </a:prstGeom>
          <a:solidFill>
            <a:srgbClr val="191E23"/>
          </a:solidFill>
          <a:ln w="12700">
            <a:solidFill>
              <a:srgbClr val="313B44"/>
            </a:solidFill>
            <a:prstDash val="solid"/>
          </a:ln>
        </p:spPr>
        <p:txBody>
          <a:bodyPr/>
          <a:lstStyle/>
          <a:p>
            <a:endParaRPr lang="en-SE" sz="2000"/>
          </a:p>
        </p:txBody>
      </p:sp>
      <p:sp>
        <p:nvSpPr>
          <p:cNvPr id="42" name="Text 40"/>
          <p:cNvSpPr/>
          <p:nvPr/>
        </p:nvSpPr>
        <p:spPr>
          <a:xfrm>
            <a:off x="868680" y="2788920"/>
            <a:ext cx="1828800" cy="777240"/>
          </a:xfrm>
          <a:prstGeom prst="rect">
            <a:avLst/>
          </a:prstGeom>
          <a:noFill/>
          <a:ln/>
        </p:spPr>
        <p:txBody>
          <a:bodyPr wrap="square" lIns="0" tIns="0" rIns="0" bIns="0" rtlCol="0" anchor="ctr"/>
          <a:lstStyle/>
          <a:p>
            <a:pPr marL="0" indent="0" algn="ctr">
              <a:buNone/>
            </a:pPr>
            <a:r>
              <a:rPr lang="en-US" sz="1400" dirty="0">
                <a:solidFill>
                  <a:srgbClr val="AAB7C2"/>
                </a:solidFill>
                <a:latin typeface="Consolas" pitchFamily="34" charset="0"/>
                <a:ea typeface="Consolas" pitchFamily="34" charset="-122"/>
                <a:cs typeface="Consolas" pitchFamily="34" charset="-120"/>
              </a:rPr>
              <a:t>BID    ASK</a:t>
            </a:r>
            <a:endParaRPr lang="en-US" sz="1400" dirty="0"/>
          </a:p>
        </p:txBody>
      </p:sp>
      <p:sp>
        <p:nvSpPr>
          <p:cNvPr id="43" name="flow arrow">
            <a:extLst>
              <a:ext uri="{C183D7F6-B498-43B3-948B-1728B52AA6E4}">
                <adec:decorative xmlns:adec="http://schemas.microsoft.com/office/drawing/2017/decorative" val="1"/>
              </a:ext>
            </a:extLst>
          </p:cNvPr>
          <p:cNvSpPr/>
          <p:nvPr/>
        </p:nvSpPr>
        <p:spPr>
          <a:xfrm>
            <a:off x="2788920" y="3172968"/>
            <a:ext cx="640080" cy="0"/>
          </a:xfrm>
          <a:prstGeom prst="line">
            <a:avLst/>
          </a:prstGeom>
          <a:noFill/>
          <a:ln w="25400">
            <a:solidFill>
              <a:srgbClr val="F5A524"/>
            </a:solidFill>
            <a:prstDash val="solid"/>
            <a:tailEnd type="triangle"/>
          </a:ln>
        </p:spPr>
        <p:txBody>
          <a:bodyPr/>
          <a:lstStyle/>
          <a:p>
            <a:endParaRPr lang="en-SE"/>
          </a:p>
        </p:txBody>
      </p:sp>
      <p:sp>
        <p:nvSpPr>
          <p:cNvPr id="44" name="column group">
            <a:extLst>
              <a:ext uri="{C183D7F6-B498-43B3-948B-1728B52AA6E4}">
                <adec:decorative xmlns:adec="http://schemas.microsoft.com/office/drawing/2017/decorative" val="1"/>
              </a:ext>
            </a:extLst>
          </p:cNvPr>
          <p:cNvSpPr/>
          <p:nvPr/>
        </p:nvSpPr>
        <p:spPr>
          <a:xfrm>
            <a:off x="3520440" y="2788920"/>
            <a:ext cx="2148840" cy="777240"/>
          </a:xfrm>
          <a:prstGeom prst="rect">
            <a:avLst/>
          </a:prstGeom>
          <a:solidFill>
            <a:srgbClr val="6B4A0F"/>
          </a:solidFill>
          <a:ln w="12700">
            <a:solidFill>
              <a:srgbClr val="F5A524"/>
            </a:solidFill>
            <a:prstDash val="solid"/>
          </a:ln>
        </p:spPr>
        <p:txBody>
          <a:bodyPr/>
          <a:lstStyle/>
          <a:p>
            <a:endParaRPr lang="en-SE"/>
          </a:p>
        </p:txBody>
      </p:sp>
      <p:sp>
        <p:nvSpPr>
          <p:cNvPr id="45" name="Text 43"/>
          <p:cNvSpPr/>
          <p:nvPr/>
        </p:nvSpPr>
        <p:spPr>
          <a:xfrm>
            <a:off x="3520440" y="2788920"/>
            <a:ext cx="2148840" cy="777240"/>
          </a:xfrm>
          <a:prstGeom prst="rect">
            <a:avLst/>
          </a:prstGeom>
          <a:noFill/>
          <a:ln/>
        </p:spPr>
        <p:txBody>
          <a:bodyPr wrap="square" lIns="0" tIns="0" rIns="0" bIns="0" rtlCol="0" anchor="ctr"/>
          <a:lstStyle/>
          <a:p>
            <a:pPr marL="0" indent="0" algn="ctr">
              <a:lnSpc>
                <a:spcPct val="105000"/>
              </a:lnSpc>
              <a:buNone/>
            </a:pPr>
            <a:r>
              <a:rPr lang="en-US" sz="1050" dirty="0">
                <a:solidFill>
                  <a:srgbClr val="F5A524"/>
                </a:solidFill>
                <a:latin typeface="Consolas" pitchFamily="34" charset="0"/>
                <a:ea typeface="Consolas" pitchFamily="34" charset="-122"/>
                <a:cs typeface="Consolas" pitchFamily="34" charset="-120"/>
              </a:rPr>
              <a:t>IND. PRICE / QTY</a:t>
            </a:r>
            <a:endParaRPr lang="en-US" sz="1050" dirty="0"/>
          </a:p>
          <a:p>
            <a:pPr marL="0" indent="0" algn="ctr">
              <a:lnSpc>
                <a:spcPct val="105000"/>
              </a:lnSpc>
              <a:buNone/>
            </a:pPr>
            <a:r>
              <a:rPr lang="en-US" sz="1050" dirty="0">
                <a:solidFill>
                  <a:srgbClr val="F5A524"/>
                </a:solidFill>
                <a:latin typeface="Consolas" pitchFamily="34" charset="0"/>
                <a:ea typeface="Consolas" pitchFamily="34" charset="-122"/>
                <a:cs typeface="Consolas" pitchFamily="34" charset="-120"/>
              </a:rPr>
              <a:t>IMBALANCE</a:t>
            </a:r>
            <a:endParaRPr lang="en-US" sz="1050" dirty="0"/>
          </a:p>
        </p:txBody>
      </p:sp>
      <p:sp>
        <p:nvSpPr>
          <p:cNvPr id="46" name="Text 44"/>
          <p:cNvSpPr/>
          <p:nvPr/>
        </p:nvSpPr>
        <p:spPr>
          <a:xfrm>
            <a:off x="868680" y="3639312"/>
            <a:ext cx="4572000" cy="411480"/>
          </a:xfrm>
          <a:prstGeom prst="rect">
            <a:avLst/>
          </a:prstGeom>
          <a:noFill/>
          <a:ln/>
        </p:spPr>
        <p:txBody>
          <a:bodyPr wrap="square" lIns="0" tIns="0" rIns="0" bIns="0" rtlCol="0" anchor="ctr"/>
          <a:lstStyle/>
          <a:p>
            <a:pPr marL="0" indent="0">
              <a:lnSpc>
                <a:spcPct val="110000"/>
              </a:lnSpc>
              <a:buNone/>
            </a:pPr>
            <a:r>
              <a:rPr lang="en-US" sz="1100" dirty="0">
                <a:solidFill>
                  <a:srgbClr val="AAB7C2"/>
                </a:solidFill>
                <a:latin typeface="Segoe UI" pitchFamily="34" charset="0"/>
                <a:ea typeface="Segoe UI" pitchFamily="34" charset="-122"/>
                <a:cs typeface="Segoe UI" pitchFamily="34" charset="-120"/>
              </a:rPr>
              <a:t>A call auction is a different kind of market, not a display preference — so the grid follows it automatically rather than offering you a toggle.</a:t>
            </a:r>
            <a:endParaRPr lang="en-US" sz="1100" dirty="0"/>
          </a:p>
        </p:txBody>
      </p:sp>
      <p:sp>
        <p:nvSpPr>
          <p:cNvPr id="47" name="panel">
            <a:extLst>
              <a:ext uri="{C183D7F6-B498-43B3-948B-1728B52AA6E4}">
                <adec:decorative xmlns:adec="http://schemas.microsoft.com/office/drawing/2017/decorative" val="1"/>
              </a:ext>
            </a:extLst>
          </p:cNvPr>
          <p:cNvSpPr/>
          <p:nvPr/>
        </p:nvSpPr>
        <p:spPr>
          <a:xfrm>
            <a:off x="6053328" y="1965960"/>
            <a:ext cx="5120640" cy="214884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48" name="panel accent">
            <a:extLst>
              <a:ext uri="{C183D7F6-B498-43B3-948B-1728B52AA6E4}">
                <adec:decorative xmlns:adec="http://schemas.microsoft.com/office/drawing/2017/decorative" val="1"/>
              </a:ext>
            </a:extLst>
          </p:cNvPr>
          <p:cNvSpPr/>
          <p:nvPr/>
        </p:nvSpPr>
        <p:spPr>
          <a:xfrm>
            <a:off x="6053328" y="1965960"/>
            <a:ext cx="50292" cy="2148840"/>
          </a:xfrm>
          <a:prstGeom prst="rect">
            <a:avLst/>
          </a:prstGeom>
          <a:solidFill>
            <a:srgbClr val="EF5B63"/>
          </a:solidFill>
          <a:ln w="12700">
            <a:solidFill>
              <a:srgbClr val="333333"/>
            </a:solidFill>
            <a:prstDash val="solid"/>
          </a:ln>
        </p:spPr>
        <p:txBody>
          <a:bodyPr/>
          <a:lstStyle/>
          <a:p>
            <a:endParaRPr lang="en-SE"/>
          </a:p>
        </p:txBody>
      </p:sp>
      <p:sp>
        <p:nvSpPr>
          <p:cNvPr id="49" name="Text 47"/>
          <p:cNvSpPr/>
          <p:nvPr/>
        </p:nvSpPr>
        <p:spPr>
          <a:xfrm>
            <a:off x="6355080" y="2176272"/>
            <a:ext cx="4572000" cy="365760"/>
          </a:xfrm>
          <a:prstGeom prst="rect">
            <a:avLst/>
          </a:prstGeom>
          <a:noFill/>
          <a:ln/>
        </p:spPr>
        <p:txBody>
          <a:bodyPr wrap="square" lIns="0" tIns="0" rIns="0" bIns="0" rtlCol="0" anchor="ctr"/>
          <a:lstStyle/>
          <a:p>
            <a:pPr marL="0" indent="0">
              <a:buNone/>
            </a:pPr>
            <a:r>
              <a:rPr lang="en-US" sz="1550" b="1" dirty="0">
                <a:solidFill>
                  <a:srgbClr val="E6EDF3"/>
                </a:solidFill>
                <a:latin typeface="Segoe UI" pitchFamily="34" charset="0"/>
                <a:ea typeface="Segoe UI" pitchFamily="34" charset="-122"/>
                <a:cs typeface="Segoe UI" pitchFamily="34" charset="-120"/>
              </a:rPr>
              <a:t>Banners say plainly what is wrong</a:t>
            </a:r>
            <a:endParaRPr lang="en-US" sz="1550" dirty="0"/>
          </a:p>
        </p:txBody>
      </p:sp>
      <p:sp>
        <p:nvSpPr>
          <p:cNvPr id="50" name="Text 48"/>
          <p:cNvSpPr/>
          <p:nvPr/>
        </p:nvSpPr>
        <p:spPr>
          <a:xfrm>
            <a:off x="6355080" y="2606040"/>
            <a:ext cx="4572000" cy="594360"/>
          </a:xfrm>
          <a:prstGeom prst="rect">
            <a:avLst/>
          </a:prstGeom>
          <a:noFill/>
          <a:ln/>
        </p:spPr>
        <p:txBody>
          <a:bodyPr wrap="square" lIns="0" tIns="0" rIns="0" bIns="0" rtlCol="0" anchor="ctr"/>
          <a:lstStyle/>
          <a:p>
            <a:pPr marL="0" indent="0">
              <a:lnSpc>
                <a:spcPct val="110000"/>
              </a:lnSpc>
              <a:buNone/>
            </a:pPr>
            <a:r>
              <a:rPr lang="en-US" sz="1150" dirty="0">
                <a:solidFill>
                  <a:srgbClr val="AAB7C2"/>
                </a:solidFill>
                <a:latin typeface="Segoe UI" pitchFamily="34" charset="0"/>
                <a:ea typeface="Segoe UI" pitchFamily="34" charset="-122"/>
                <a:cs typeface="Segoe UI" pitchFamily="34" charset="-120"/>
              </a:rPr>
              <a:t>The terminal never leaves you to infer a problem from dimmed numbers. It writes the problem across the top of the board in words.</a:t>
            </a:r>
            <a:endParaRPr lang="en-US" sz="1150" dirty="0"/>
          </a:p>
        </p:txBody>
      </p:sp>
      <p:sp>
        <p:nvSpPr>
          <p:cNvPr id="51" name="banner example">
            <a:extLst>
              <a:ext uri="{C183D7F6-B498-43B3-948B-1728B52AA6E4}">
                <adec:decorative xmlns:adec="http://schemas.microsoft.com/office/drawing/2017/decorative" val="1"/>
              </a:ext>
            </a:extLst>
          </p:cNvPr>
          <p:cNvSpPr/>
          <p:nvPr/>
        </p:nvSpPr>
        <p:spPr>
          <a:xfrm>
            <a:off x="6355080" y="3246120"/>
            <a:ext cx="4572000" cy="347472"/>
          </a:xfrm>
          <a:prstGeom prst="rect">
            <a:avLst/>
          </a:prstGeom>
          <a:solidFill>
            <a:srgbClr val="6B4A0F"/>
          </a:solidFill>
          <a:ln w="12700">
            <a:solidFill>
              <a:srgbClr val="F5A524"/>
            </a:solidFill>
            <a:prstDash val="solid"/>
          </a:ln>
        </p:spPr>
        <p:txBody>
          <a:bodyPr/>
          <a:lstStyle/>
          <a:p>
            <a:endParaRPr lang="en-SE"/>
          </a:p>
        </p:txBody>
      </p:sp>
      <p:sp>
        <p:nvSpPr>
          <p:cNvPr id="52" name="Text 50"/>
          <p:cNvSpPr/>
          <p:nvPr/>
        </p:nvSpPr>
        <p:spPr>
          <a:xfrm>
            <a:off x="6492240" y="3246120"/>
            <a:ext cx="4297680" cy="347472"/>
          </a:xfrm>
          <a:prstGeom prst="rect">
            <a:avLst/>
          </a:prstGeom>
          <a:noFill/>
          <a:ln/>
        </p:spPr>
        <p:txBody>
          <a:bodyPr wrap="square" lIns="0" tIns="0" rIns="0" bIns="0" rtlCol="0" anchor="ctr"/>
          <a:lstStyle/>
          <a:p>
            <a:pPr marL="0" indent="0">
              <a:buNone/>
            </a:pPr>
            <a:r>
              <a:rPr lang="en-US" sz="1050" dirty="0">
                <a:solidFill>
                  <a:srgbClr val="F5A524"/>
                </a:solidFill>
                <a:latin typeface="Consolas" pitchFamily="34" charset="0"/>
                <a:ea typeface="Consolas" pitchFamily="34" charset="-122"/>
                <a:cs typeface="Consolas" pitchFamily="34" charset="-120"/>
              </a:rPr>
              <a:t>Market is closed — prices shown are not tradable</a:t>
            </a:r>
            <a:endParaRPr lang="en-US" sz="1050" dirty="0"/>
          </a:p>
        </p:txBody>
      </p:sp>
      <p:sp>
        <p:nvSpPr>
          <p:cNvPr id="53" name="banner example">
            <a:extLst>
              <a:ext uri="{C183D7F6-B498-43B3-948B-1728B52AA6E4}">
                <adec:decorative xmlns:adec="http://schemas.microsoft.com/office/drawing/2017/decorative" val="1"/>
              </a:ext>
            </a:extLst>
          </p:cNvPr>
          <p:cNvSpPr/>
          <p:nvPr/>
        </p:nvSpPr>
        <p:spPr>
          <a:xfrm>
            <a:off x="6355080" y="3657600"/>
            <a:ext cx="4572000" cy="347472"/>
          </a:xfrm>
          <a:prstGeom prst="rect">
            <a:avLst/>
          </a:prstGeom>
          <a:solidFill>
            <a:srgbClr val="6B2226"/>
          </a:solidFill>
          <a:ln w="12700">
            <a:solidFill>
              <a:srgbClr val="EF5B63"/>
            </a:solidFill>
            <a:prstDash val="solid"/>
          </a:ln>
        </p:spPr>
        <p:txBody>
          <a:bodyPr/>
          <a:lstStyle/>
          <a:p>
            <a:endParaRPr lang="en-SE"/>
          </a:p>
        </p:txBody>
      </p:sp>
      <p:sp>
        <p:nvSpPr>
          <p:cNvPr id="54" name="Text 52"/>
          <p:cNvSpPr/>
          <p:nvPr/>
        </p:nvSpPr>
        <p:spPr>
          <a:xfrm>
            <a:off x="6492240" y="3657600"/>
            <a:ext cx="4297680" cy="347472"/>
          </a:xfrm>
          <a:prstGeom prst="rect">
            <a:avLst/>
          </a:prstGeom>
          <a:noFill/>
          <a:ln/>
        </p:spPr>
        <p:txBody>
          <a:bodyPr wrap="square" lIns="0" tIns="0" rIns="0" bIns="0" rtlCol="0" anchor="ctr"/>
          <a:lstStyle/>
          <a:p>
            <a:pPr marL="0" indent="0">
              <a:buNone/>
            </a:pPr>
            <a:r>
              <a:rPr lang="en-US" sz="1050" dirty="0">
                <a:solidFill>
                  <a:srgbClr val="EF5B63"/>
                </a:solidFill>
                <a:latin typeface="Consolas" pitchFamily="34" charset="0"/>
                <a:ea typeface="Consolas" pitchFamily="34" charset="-122"/>
                <a:cs typeface="Consolas" pitchFamily="34" charset="-120"/>
              </a:rPr>
              <a:t>History unavailable — Open / Volume / Turnover blank</a:t>
            </a:r>
            <a:endParaRPr lang="en-US" sz="1050" dirty="0"/>
          </a:p>
        </p:txBody>
      </p:sp>
      <p:sp>
        <p:nvSpPr>
          <p:cNvPr id="55" name="panel">
            <a:extLst>
              <a:ext uri="{C183D7F6-B498-43B3-948B-1728B52AA6E4}">
                <adec:decorative xmlns:adec="http://schemas.microsoft.com/office/drawing/2017/decorative" val="1"/>
              </a:ext>
            </a:extLst>
          </p:cNvPr>
          <p:cNvSpPr/>
          <p:nvPr/>
        </p:nvSpPr>
        <p:spPr>
          <a:xfrm>
            <a:off x="566928" y="4343400"/>
            <a:ext cx="10607040" cy="169164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56" name="panel accent">
            <a:extLst>
              <a:ext uri="{C183D7F6-B498-43B3-948B-1728B52AA6E4}">
                <adec:decorative xmlns:adec="http://schemas.microsoft.com/office/drawing/2017/decorative" val="1"/>
              </a:ext>
            </a:extLst>
          </p:cNvPr>
          <p:cNvSpPr/>
          <p:nvPr/>
        </p:nvSpPr>
        <p:spPr>
          <a:xfrm>
            <a:off x="566928" y="4343400"/>
            <a:ext cx="50292" cy="1691640"/>
          </a:xfrm>
          <a:prstGeom prst="rect">
            <a:avLst/>
          </a:prstGeom>
          <a:solidFill>
            <a:srgbClr val="3FE08A"/>
          </a:solidFill>
          <a:ln w="12700">
            <a:solidFill>
              <a:srgbClr val="333333"/>
            </a:solidFill>
            <a:prstDash val="solid"/>
          </a:ln>
        </p:spPr>
        <p:txBody>
          <a:bodyPr/>
          <a:lstStyle/>
          <a:p>
            <a:endParaRPr lang="en-SE"/>
          </a:p>
        </p:txBody>
      </p:sp>
      <p:sp>
        <p:nvSpPr>
          <p:cNvPr id="57" name="Text 55"/>
          <p:cNvSpPr/>
          <p:nvPr/>
        </p:nvSpPr>
        <p:spPr>
          <a:xfrm>
            <a:off x="868680" y="4526280"/>
            <a:ext cx="5486400" cy="320040"/>
          </a:xfrm>
          <a:prstGeom prst="rect">
            <a:avLst/>
          </a:prstGeom>
          <a:noFill/>
          <a:ln/>
        </p:spPr>
        <p:txBody>
          <a:bodyPr wrap="square" lIns="0" tIns="0" rIns="0" bIns="0" rtlCol="0" anchor="ctr"/>
          <a:lstStyle/>
          <a:p>
            <a:pPr marL="0" indent="0">
              <a:buNone/>
            </a:pPr>
            <a:r>
              <a:rPr lang="en-US" sz="1600" b="1" dirty="0">
                <a:solidFill>
                  <a:srgbClr val="E6EDF3"/>
                </a:solidFill>
                <a:latin typeface="Segoe UI" pitchFamily="34" charset="0"/>
                <a:ea typeface="Segoe UI" pitchFamily="34" charset="-122"/>
                <a:cs typeface="Segoe UI" pitchFamily="34" charset="-120"/>
              </a:rPr>
              <a:t>The three banners you will actually meet</a:t>
            </a:r>
            <a:endParaRPr lang="en-US" sz="1600" dirty="0"/>
          </a:p>
        </p:txBody>
      </p:sp>
      <p:sp>
        <p:nvSpPr>
          <p:cNvPr id="58" name="Text 56"/>
          <p:cNvSpPr/>
          <p:nvPr/>
        </p:nvSpPr>
        <p:spPr>
          <a:xfrm>
            <a:off x="868680" y="4937760"/>
            <a:ext cx="3200400" cy="292608"/>
          </a:xfrm>
          <a:prstGeom prst="rect">
            <a:avLst/>
          </a:prstGeom>
          <a:noFill/>
          <a:ln/>
        </p:spPr>
        <p:txBody>
          <a:bodyPr wrap="square" lIns="0" tIns="0" rIns="0" bIns="0" rtlCol="0" anchor="ctr"/>
          <a:lstStyle/>
          <a:p>
            <a:pPr marL="0" indent="0">
              <a:buNone/>
            </a:pPr>
            <a:r>
              <a:rPr lang="en-US" sz="1400" b="1" dirty="0">
                <a:solidFill>
                  <a:srgbClr val="3FE08A"/>
                </a:solidFill>
                <a:latin typeface="Consolas" pitchFamily="34" charset="0"/>
                <a:ea typeface="Consolas" pitchFamily="34" charset="-122"/>
                <a:cs typeface="Consolas" pitchFamily="34" charset="-120"/>
              </a:rPr>
              <a:t>Not executable</a:t>
            </a:r>
            <a:endParaRPr lang="en-US" sz="1400" dirty="0"/>
          </a:p>
        </p:txBody>
      </p:sp>
      <p:sp>
        <p:nvSpPr>
          <p:cNvPr id="59" name="Text 57"/>
          <p:cNvSpPr/>
          <p:nvPr/>
        </p:nvSpPr>
        <p:spPr>
          <a:xfrm>
            <a:off x="868680" y="5230368"/>
            <a:ext cx="3200400" cy="731520"/>
          </a:xfrm>
          <a:prstGeom prst="rect">
            <a:avLst/>
          </a:prstGeom>
          <a:noFill/>
          <a:ln/>
        </p:spPr>
        <p:txBody>
          <a:bodyPr wrap="square" lIns="0" tIns="0" rIns="0" bIns="0" rtlCol="0" anchor="ctr"/>
          <a:lstStyle/>
          <a:p>
            <a:pPr marL="0" indent="0">
              <a:lnSpc>
                <a:spcPct val="108000"/>
              </a:lnSpc>
              <a:buNone/>
            </a:pPr>
            <a:r>
              <a:rPr lang="en-US" sz="1100" dirty="0">
                <a:solidFill>
                  <a:srgbClr val="AAB7C2"/>
                </a:solidFill>
                <a:latin typeface="Segoe UI" pitchFamily="34" charset="0"/>
                <a:ea typeface="Segoe UI" pitchFamily="34" charset="-122"/>
                <a:cs typeface="Segoe UI" pitchFamily="34" charset="-120"/>
              </a:rPr>
              <a:t>The whole board is outside continuous trading. The prices and volumes shown are still an accurate record — they are just not tradable right now.</a:t>
            </a:r>
            <a:endParaRPr lang="en-US" sz="1100" dirty="0"/>
          </a:p>
        </p:txBody>
      </p:sp>
      <p:sp>
        <p:nvSpPr>
          <p:cNvPr id="60" name="Text 58"/>
          <p:cNvSpPr/>
          <p:nvPr/>
        </p:nvSpPr>
        <p:spPr>
          <a:xfrm>
            <a:off x="4297680" y="4937760"/>
            <a:ext cx="3200400" cy="292608"/>
          </a:xfrm>
          <a:prstGeom prst="rect">
            <a:avLst/>
          </a:prstGeom>
          <a:noFill/>
          <a:ln/>
        </p:spPr>
        <p:txBody>
          <a:bodyPr wrap="square" lIns="0" tIns="0" rIns="0" bIns="0" rtlCol="0" anchor="ctr"/>
          <a:lstStyle/>
          <a:p>
            <a:pPr marL="0" indent="0">
              <a:buNone/>
            </a:pPr>
            <a:r>
              <a:rPr lang="en-US" sz="1400" b="1" dirty="0">
                <a:solidFill>
                  <a:srgbClr val="3FE08A"/>
                </a:solidFill>
                <a:latin typeface="Consolas" pitchFamily="34" charset="0"/>
                <a:ea typeface="Consolas" pitchFamily="34" charset="-122"/>
                <a:cs typeface="Consolas" pitchFamily="34" charset="-120"/>
              </a:rPr>
              <a:t>No previous close</a:t>
            </a:r>
            <a:endParaRPr lang="en-US" sz="1400" dirty="0"/>
          </a:p>
        </p:txBody>
      </p:sp>
      <p:sp>
        <p:nvSpPr>
          <p:cNvPr id="61" name="Text 59"/>
          <p:cNvSpPr/>
          <p:nvPr/>
        </p:nvSpPr>
        <p:spPr>
          <a:xfrm>
            <a:off x="4297680" y="5230368"/>
            <a:ext cx="3200400" cy="731520"/>
          </a:xfrm>
          <a:prstGeom prst="rect">
            <a:avLst/>
          </a:prstGeom>
          <a:noFill/>
          <a:ln/>
        </p:spPr>
        <p:txBody>
          <a:bodyPr wrap="square" lIns="0" tIns="0" rIns="0" bIns="0" rtlCol="0" anchor="ctr"/>
          <a:lstStyle/>
          <a:p>
            <a:pPr marL="0" indent="0">
              <a:lnSpc>
                <a:spcPct val="108000"/>
              </a:lnSpc>
              <a:buNone/>
            </a:pPr>
            <a:r>
              <a:rPr lang="en-US" sz="1100" dirty="0">
                <a:solidFill>
                  <a:srgbClr val="AAB7C2"/>
                </a:solidFill>
                <a:latin typeface="Segoe UI" pitchFamily="34" charset="0"/>
                <a:ea typeface="Segoe UI" pitchFamily="34" charset="-122"/>
                <a:cs typeface="Segoe UI" pitchFamily="34" charset="-120"/>
              </a:rPr>
              <a:t>The previous-close lookup failed. Percentage change falls back to today's open and is marked with a small *.</a:t>
            </a:r>
            <a:endParaRPr lang="en-US" sz="1100" dirty="0"/>
          </a:p>
        </p:txBody>
      </p:sp>
      <p:sp>
        <p:nvSpPr>
          <p:cNvPr id="62" name="Text 60"/>
          <p:cNvSpPr/>
          <p:nvPr/>
        </p:nvSpPr>
        <p:spPr>
          <a:xfrm>
            <a:off x="7726680" y="4937760"/>
            <a:ext cx="3200400" cy="292608"/>
          </a:xfrm>
          <a:prstGeom prst="rect">
            <a:avLst/>
          </a:prstGeom>
          <a:noFill/>
          <a:ln/>
        </p:spPr>
        <p:txBody>
          <a:bodyPr wrap="square" lIns="0" tIns="0" rIns="0" bIns="0" rtlCol="0" anchor="ctr"/>
          <a:lstStyle/>
          <a:p>
            <a:pPr marL="0" indent="0">
              <a:buNone/>
            </a:pPr>
            <a:r>
              <a:rPr lang="en-US" sz="1400" b="1" dirty="0">
                <a:solidFill>
                  <a:srgbClr val="3FE08A"/>
                </a:solidFill>
                <a:latin typeface="Consolas" pitchFamily="34" charset="0"/>
                <a:ea typeface="Consolas" pitchFamily="34" charset="-122"/>
                <a:cs typeface="Consolas" pitchFamily="34" charset="-120"/>
              </a:rPr>
              <a:t>History unreachable</a:t>
            </a:r>
            <a:endParaRPr lang="en-US" sz="1400" dirty="0"/>
          </a:p>
        </p:txBody>
      </p:sp>
      <p:sp>
        <p:nvSpPr>
          <p:cNvPr id="63" name="Text 61"/>
          <p:cNvSpPr/>
          <p:nvPr/>
        </p:nvSpPr>
        <p:spPr>
          <a:xfrm>
            <a:off x="7726680" y="5230368"/>
            <a:ext cx="3200400" cy="731520"/>
          </a:xfrm>
          <a:prstGeom prst="rect">
            <a:avLst/>
          </a:prstGeom>
          <a:noFill/>
          <a:ln/>
        </p:spPr>
        <p:txBody>
          <a:bodyPr wrap="square" lIns="0" tIns="0" rIns="0" bIns="0" rtlCol="0" anchor="ctr"/>
          <a:lstStyle/>
          <a:p>
            <a:pPr marL="0" indent="0">
              <a:lnSpc>
                <a:spcPct val="108000"/>
              </a:lnSpc>
              <a:buNone/>
            </a:pPr>
            <a:r>
              <a:rPr lang="en-US" sz="1100" dirty="0">
                <a:solidFill>
                  <a:srgbClr val="AAB7C2"/>
                </a:solidFill>
                <a:latin typeface="Segoe UI" pitchFamily="34" charset="0"/>
                <a:ea typeface="Segoe UI" pitchFamily="34" charset="-122"/>
                <a:cs typeface="Segoe UI" pitchFamily="34" charset="-120"/>
              </a:rPr>
              <a:t>The history service is down. Open, Volume and Turnover go blank. Live prices are completely unaffected.</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Symbol Detail — the deep dive on one instrument</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03 · SCREENS</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19</a:t>
            </a:r>
            <a:endParaRPr lang="en-US" sz="950" dirty="0"/>
          </a:p>
        </p:txBody>
      </p:sp>
      <p:sp>
        <p:nvSpPr>
          <p:cNvPr id="37" name="Text 35"/>
          <p:cNvSpPr/>
          <p:nvPr/>
        </p:nvSpPr>
        <p:spPr>
          <a:xfrm>
            <a:off x="566928" y="1170432"/>
            <a:ext cx="10701436" cy="566928"/>
          </a:xfrm>
          <a:prstGeom prst="rect">
            <a:avLst/>
          </a:prstGeom>
          <a:noFill/>
          <a:ln/>
        </p:spPr>
        <p:txBody>
          <a:bodyPr wrap="square" lIns="0" tIns="0" rIns="0" bIns="0" rtlCol="0" anchor="t"/>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A chart, a values table, and an optional depth ladder. Large-screen only, by design — there is no mobile layout.</a:t>
            </a:r>
            <a:endParaRPr lang="en-US" sz="1400" dirty="0"/>
          </a:p>
        </p:txBody>
      </p:sp>
      <p:sp>
        <p:nvSpPr>
          <p:cNvPr id="38" name="screenshot placeholder frame">
            <a:extLst>
              <a:ext uri="{C183D7F6-B498-43B3-948B-1728B52AA6E4}">
                <adec:decorative xmlns:adec="http://schemas.microsoft.com/office/drawing/2017/decorative" val="1"/>
              </a:ext>
            </a:extLst>
          </p:cNvPr>
          <p:cNvSpPr/>
          <p:nvPr/>
        </p:nvSpPr>
        <p:spPr>
          <a:xfrm>
            <a:off x="566928" y="1965960"/>
            <a:ext cx="6400800" cy="3977640"/>
          </a:xfrm>
          <a:prstGeom prst="rect">
            <a:avLst/>
          </a:prstGeom>
          <a:solidFill>
            <a:srgbClr val="191E23"/>
          </a:solidFill>
          <a:ln w="22225">
            <a:solidFill>
              <a:srgbClr val="3FE08A"/>
            </a:solidFill>
            <a:prstDash val="dash"/>
          </a:ln>
        </p:spPr>
        <p:txBody>
          <a:bodyPr/>
          <a:lstStyle/>
          <a:p>
            <a:endParaRPr lang="en-SE"/>
          </a:p>
        </p:txBody>
      </p:sp>
      <p:sp>
        <p:nvSpPr>
          <p:cNvPr id="39" name="corner tick">
            <a:extLst>
              <a:ext uri="{C183D7F6-B498-43B3-948B-1728B52AA6E4}">
                <adec:decorative xmlns:adec="http://schemas.microsoft.com/office/drawing/2017/decorative" val="1"/>
              </a:ext>
            </a:extLst>
          </p:cNvPr>
          <p:cNvSpPr/>
          <p:nvPr/>
        </p:nvSpPr>
        <p:spPr>
          <a:xfrm>
            <a:off x="566928" y="1965960"/>
            <a:ext cx="256032" cy="0"/>
          </a:xfrm>
          <a:prstGeom prst="line">
            <a:avLst/>
          </a:prstGeom>
          <a:noFill/>
          <a:ln w="31750">
            <a:solidFill>
              <a:srgbClr val="3FE08A"/>
            </a:solidFill>
            <a:prstDash val="solid"/>
          </a:ln>
        </p:spPr>
        <p:txBody>
          <a:bodyPr/>
          <a:lstStyle/>
          <a:p>
            <a:endParaRPr lang="en-SE"/>
          </a:p>
        </p:txBody>
      </p:sp>
      <p:sp>
        <p:nvSpPr>
          <p:cNvPr id="40" name="corner tick">
            <a:extLst>
              <a:ext uri="{C183D7F6-B498-43B3-948B-1728B52AA6E4}">
                <adec:decorative xmlns:adec="http://schemas.microsoft.com/office/drawing/2017/decorative" val="1"/>
              </a:ext>
            </a:extLst>
          </p:cNvPr>
          <p:cNvSpPr/>
          <p:nvPr/>
        </p:nvSpPr>
        <p:spPr>
          <a:xfrm>
            <a:off x="566928" y="1965960"/>
            <a:ext cx="0" cy="256032"/>
          </a:xfrm>
          <a:prstGeom prst="line">
            <a:avLst/>
          </a:prstGeom>
          <a:noFill/>
          <a:ln w="31750">
            <a:solidFill>
              <a:srgbClr val="3FE08A"/>
            </a:solidFill>
            <a:prstDash val="solid"/>
          </a:ln>
        </p:spPr>
        <p:txBody>
          <a:bodyPr/>
          <a:lstStyle/>
          <a:p>
            <a:endParaRPr lang="en-SE"/>
          </a:p>
        </p:txBody>
      </p:sp>
      <p:sp>
        <p:nvSpPr>
          <p:cNvPr id="41" name="corner tick">
            <a:extLst>
              <a:ext uri="{C183D7F6-B498-43B3-948B-1728B52AA6E4}">
                <adec:decorative xmlns:adec="http://schemas.microsoft.com/office/drawing/2017/decorative" val="1"/>
              </a:ext>
            </a:extLst>
          </p:cNvPr>
          <p:cNvSpPr/>
          <p:nvPr/>
        </p:nvSpPr>
        <p:spPr>
          <a:xfrm>
            <a:off x="6711696" y="1965960"/>
            <a:ext cx="256032" cy="0"/>
          </a:xfrm>
          <a:prstGeom prst="line">
            <a:avLst/>
          </a:prstGeom>
          <a:noFill/>
          <a:ln w="31750">
            <a:solidFill>
              <a:srgbClr val="3FE08A"/>
            </a:solidFill>
            <a:prstDash val="solid"/>
          </a:ln>
        </p:spPr>
        <p:txBody>
          <a:bodyPr/>
          <a:lstStyle/>
          <a:p>
            <a:endParaRPr lang="en-SE"/>
          </a:p>
        </p:txBody>
      </p:sp>
      <p:sp>
        <p:nvSpPr>
          <p:cNvPr id="42" name="corner tick">
            <a:extLst>
              <a:ext uri="{C183D7F6-B498-43B3-948B-1728B52AA6E4}">
                <adec:decorative xmlns:adec="http://schemas.microsoft.com/office/drawing/2017/decorative" val="1"/>
              </a:ext>
            </a:extLst>
          </p:cNvPr>
          <p:cNvSpPr/>
          <p:nvPr/>
        </p:nvSpPr>
        <p:spPr>
          <a:xfrm>
            <a:off x="6967728" y="1965960"/>
            <a:ext cx="0" cy="256032"/>
          </a:xfrm>
          <a:prstGeom prst="line">
            <a:avLst/>
          </a:prstGeom>
          <a:noFill/>
          <a:ln w="31750">
            <a:solidFill>
              <a:srgbClr val="3FE08A"/>
            </a:solidFill>
            <a:prstDash val="solid"/>
          </a:ln>
        </p:spPr>
        <p:txBody>
          <a:bodyPr/>
          <a:lstStyle/>
          <a:p>
            <a:endParaRPr lang="en-SE"/>
          </a:p>
        </p:txBody>
      </p:sp>
      <p:sp>
        <p:nvSpPr>
          <p:cNvPr id="43" name="corner tick">
            <a:extLst>
              <a:ext uri="{C183D7F6-B498-43B3-948B-1728B52AA6E4}">
                <adec:decorative xmlns:adec="http://schemas.microsoft.com/office/drawing/2017/decorative" val="1"/>
              </a:ext>
            </a:extLst>
          </p:cNvPr>
          <p:cNvSpPr/>
          <p:nvPr/>
        </p:nvSpPr>
        <p:spPr>
          <a:xfrm>
            <a:off x="566928" y="5943600"/>
            <a:ext cx="256032" cy="0"/>
          </a:xfrm>
          <a:prstGeom prst="line">
            <a:avLst/>
          </a:prstGeom>
          <a:noFill/>
          <a:ln w="31750">
            <a:solidFill>
              <a:srgbClr val="3FE08A"/>
            </a:solidFill>
            <a:prstDash val="solid"/>
          </a:ln>
        </p:spPr>
        <p:txBody>
          <a:bodyPr/>
          <a:lstStyle/>
          <a:p>
            <a:endParaRPr lang="en-SE"/>
          </a:p>
        </p:txBody>
      </p:sp>
      <p:sp>
        <p:nvSpPr>
          <p:cNvPr id="44" name="corner tick">
            <a:extLst>
              <a:ext uri="{C183D7F6-B498-43B3-948B-1728B52AA6E4}">
                <adec:decorative xmlns:adec="http://schemas.microsoft.com/office/drawing/2017/decorative" val="1"/>
              </a:ext>
            </a:extLst>
          </p:cNvPr>
          <p:cNvSpPr/>
          <p:nvPr/>
        </p:nvSpPr>
        <p:spPr>
          <a:xfrm>
            <a:off x="566928" y="5687568"/>
            <a:ext cx="0" cy="256032"/>
          </a:xfrm>
          <a:prstGeom prst="line">
            <a:avLst/>
          </a:prstGeom>
          <a:noFill/>
          <a:ln w="31750">
            <a:solidFill>
              <a:srgbClr val="3FE08A"/>
            </a:solidFill>
            <a:prstDash val="solid"/>
          </a:ln>
        </p:spPr>
        <p:txBody>
          <a:bodyPr/>
          <a:lstStyle/>
          <a:p>
            <a:endParaRPr lang="en-SE"/>
          </a:p>
        </p:txBody>
      </p:sp>
      <p:sp>
        <p:nvSpPr>
          <p:cNvPr id="45" name="corner tick">
            <a:extLst>
              <a:ext uri="{C183D7F6-B498-43B3-948B-1728B52AA6E4}">
                <adec:decorative xmlns:adec="http://schemas.microsoft.com/office/drawing/2017/decorative" val="1"/>
              </a:ext>
            </a:extLst>
          </p:cNvPr>
          <p:cNvSpPr/>
          <p:nvPr/>
        </p:nvSpPr>
        <p:spPr>
          <a:xfrm>
            <a:off x="6711696" y="5943600"/>
            <a:ext cx="256032" cy="0"/>
          </a:xfrm>
          <a:prstGeom prst="line">
            <a:avLst/>
          </a:prstGeom>
          <a:noFill/>
          <a:ln w="31750">
            <a:solidFill>
              <a:srgbClr val="3FE08A"/>
            </a:solidFill>
            <a:prstDash val="solid"/>
          </a:ln>
        </p:spPr>
        <p:txBody>
          <a:bodyPr/>
          <a:lstStyle/>
          <a:p>
            <a:endParaRPr lang="en-SE"/>
          </a:p>
        </p:txBody>
      </p:sp>
      <p:sp>
        <p:nvSpPr>
          <p:cNvPr id="46" name="corner tick">
            <a:extLst>
              <a:ext uri="{C183D7F6-B498-43B3-948B-1728B52AA6E4}">
                <adec:decorative xmlns:adec="http://schemas.microsoft.com/office/drawing/2017/decorative" val="1"/>
              </a:ext>
            </a:extLst>
          </p:cNvPr>
          <p:cNvSpPr/>
          <p:nvPr/>
        </p:nvSpPr>
        <p:spPr>
          <a:xfrm>
            <a:off x="6967728" y="5687568"/>
            <a:ext cx="0" cy="256032"/>
          </a:xfrm>
          <a:prstGeom prst="line">
            <a:avLst/>
          </a:prstGeom>
          <a:noFill/>
          <a:ln w="31750">
            <a:solidFill>
              <a:srgbClr val="3FE08A"/>
            </a:solidFill>
            <a:prstDash val="solid"/>
          </a:ln>
        </p:spPr>
        <p:txBody>
          <a:bodyPr/>
          <a:lstStyle/>
          <a:p>
            <a:endParaRPr lang="en-SE"/>
          </a:p>
        </p:txBody>
      </p:sp>
      <p:sp>
        <p:nvSpPr>
          <p:cNvPr id="47" name="figure tag background">
            <a:extLst>
              <a:ext uri="{C183D7F6-B498-43B3-948B-1728B52AA6E4}">
                <adec:decorative xmlns:adec="http://schemas.microsoft.com/office/drawing/2017/decorative" val="1"/>
              </a:ext>
            </a:extLst>
          </p:cNvPr>
          <p:cNvSpPr/>
          <p:nvPr/>
        </p:nvSpPr>
        <p:spPr>
          <a:xfrm>
            <a:off x="768096" y="2167128"/>
            <a:ext cx="1783080" cy="274320"/>
          </a:xfrm>
          <a:prstGeom prst="rect">
            <a:avLst/>
          </a:prstGeom>
          <a:solidFill>
            <a:srgbClr val="3FE08A"/>
          </a:solidFill>
          <a:ln w="12700">
            <a:solidFill>
              <a:srgbClr val="333333"/>
            </a:solidFill>
            <a:prstDash val="solid"/>
          </a:ln>
        </p:spPr>
        <p:txBody>
          <a:bodyPr/>
          <a:lstStyle/>
          <a:p>
            <a:endParaRPr lang="en-SE"/>
          </a:p>
        </p:txBody>
      </p:sp>
      <p:sp>
        <p:nvSpPr>
          <p:cNvPr id="48" name="Text 46"/>
          <p:cNvSpPr/>
          <p:nvPr/>
        </p:nvSpPr>
        <p:spPr>
          <a:xfrm>
            <a:off x="768096" y="2167128"/>
            <a:ext cx="1783080" cy="274320"/>
          </a:xfrm>
          <a:prstGeom prst="rect">
            <a:avLst/>
          </a:prstGeom>
          <a:noFill/>
          <a:ln/>
        </p:spPr>
        <p:txBody>
          <a:bodyPr wrap="square" lIns="0" tIns="0" rIns="0" bIns="0" rtlCol="0" anchor="ctr"/>
          <a:lstStyle/>
          <a:p>
            <a:pPr marL="0" indent="0" algn="ctr">
              <a:buNone/>
            </a:pPr>
            <a:r>
              <a:rPr lang="en-US" sz="950" b="1" dirty="0">
                <a:solidFill>
                  <a:srgbClr val="13171B"/>
                </a:solidFill>
                <a:latin typeface="Consolas" pitchFamily="34" charset="0"/>
                <a:ea typeface="Consolas" pitchFamily="34" charset="-122"/>
                <a:cs typeface="Consolas" pitchFamily="34" charset="-120"/>
              </a:rPr>
              <a:t>SCREENSHOT 3</a:t>
            </a:r>
            <a:endParaRPr lang="en-US" sz="950" dirty="0"/>
          </a:p>
        </p:txBody>
      </p:sp>
      <p:sp>
        <p:nvSpPr>
          <p:cNvPr id="49" name="Text 47"/>
          <p:cNvSpPr/>
          <p:nvPr/>
        </p:nvSpPr>
        <p:spPr>
          <a:xfrm>
            <a:off x="886968" y="3451860"/>
            <a:ext cx="5760720" cy="1005840"/>
          </a:xfrm>
          <a:prstGeom prst="rect">
            <a:avLst/>
          </a:prstGeom>
          <a:noFill/>
          <a:ln/>
        </p:spPr>
        <p:txBody>
          <a:bodyPr wrap="square" lIns="0" tIns="0" rIns="0" bIns="0" rtlCol="0" anchor="ctr"/>
          <a:lstStyle/>
          <a:p>
            <a:pPr marL="0" indent="0" algn="ctr">
              <a:lnSpc>
                <a:spcPct val="115000"/>
              </a:lnSpc>
              <a:buNone/>
            </a:pPr>
            <a:r>
              <a:rPr lang="en-US" sz="1200" b="1" dirty="0">
                <a:solidFill>
                  <a:srgbClr val="3FE08A"/>
                </a:solidFill>
                <a:latin typeface="Segoe UI" pitchFamily="34" charset="0"/>
                <a:ea typeface="Segoe UI" pitchFamily="34" charset="-122"/>
                <a:cs typeface="Segoe UI" pitchFamily="34" charset="-120"/>
              </a:rPr>
              <a:t>Capture: </a:t>
            </a:r>
            <a:r>
              <a:rPr lang="en-US" sz="1200" dirty="0">
                <a:solidFill>
                  <a:srgbClr val="AAB7C2"/>
                </a:solidFill>
                <a:latin typeface="Segoe UI" pitchFamily="34" charset="0"/>
                <a:ea typeface="Segoe UI" pitchFamily="34" charset="-122"/>
                <a:cs typeface="Segoe UI" pitchFamily="34" charset="-120"/>
              </a:rPr>
              <a:t>A symbol with visible price history on the 1D or 5D preset, both OHLC and Midpoint series toggled on, and the Values panel showing.</a:t>
            </a:r>
            <a:endParaRPr lang="en-US" sz="1200" dirty="0"/>
          </a:p>
        </p:txBody>
      </p:sp>
      <p:sp>
        <p:nvSpPr>
          <p:cNvPr id="50" name="Text 48"/>
          <p:cNvSpPr/>
          <p:nvPr/>
        </p:nvSpPr>
        <p:spPr>
          <a:xfrm>
            <a:off x="886968" y="5468112"/>
            <a:ext cx="5760720" cy="274320"/>
          </a:xfrm>
          <a:prstGeom prst="rect">
            <a:avLst/>
          </a:prstGeom>
          <a:noFill/>
          <a:ln/>
        </p:spPr>
        <p:txBody>
          <a:bodyPr wrap="square" lIns="0" tIns="0" rIns="0" bIns="0" rtlCol="0" anchor="ctr"/>
          <a:lstStyle/>
          <a:p>
            <a:pPr marL="0" indent="0" algn="ctr">
              <a:buNone/>
            </a:pPr>
            <a:r>
              <a:rPr lang="en-US" sz="900" dirty="0">
                <a:solidFill>
                  <a:srgbClr val="7C8B97"/>
                </a:solidFill>
                <a:latin typeface="Consolas" pitchFamily="34" charset="0"/>
                <a:ea typeface="Consolas" pitchFamily="34" charset="-122"/>
                <a:cs typeface="Consolas" pitchFamily="34" charset="-120"/>
              </a:rPr>
              <a:t>fig-03-symbol-detail.png</a:t>
            </a:r>
            <a:endParaRPr lang="en-US" sz="900" dirty="0"/>
          </a:p>
        </p:txBody>
      </p:sp>
      <p:sp>
        <p:nvSpPr>
          <p:cNvPr id="51" name="row marker">
            <a:extLst>
              <a:ext uri="{C183D7F6-B498-43B3-948B-1728B52AA6E4}">
                <adec:decorative xmlns:adec="http://schemas.microsoft.com/office/drawing/2017/decorative" val="1"/>
              </a:ext>
            </a:extLst>
          </p:cNvPr>
          <p:cNvSpPr/>
          <p:nvPr/>
        </p:nvSpPr>
        <p:spPr>
          <a:xfrm>
            <a:off x="7223760" y="2157984"/>
            <a:ext cx="32004" cy="384048"/>
          </a:xfrm>
          <a:prstGeom prst="rect">
            <a:avLst/>
          </a:prstGeom>
          <a:solidFill>
            <a:srgbClr val="3FE08A"/>
          </a:solidFill>
          <a:ln w="12700">
            <a:solidFill>
              <a:srgbClr val="333333"/>
            </a:solidFill>
            <a:prstDash val="solid"/>
          </a:ln>
        </p:spPr>
        <p:txBody>
          <a:bodyPr/>
          <a:lstStyle/>
          <a:p>
            <a:endParaRPr lang="en-SE"/>
          </a:p>
        </p:txBody>
      </p:sp>
      <p:sp>
        <p:nvSpPr>
          <p:cNvPr id="52" name="Text 50"/>
          <p:cNvSpPr/>
          <p:nvPr/>
        </p:nvSpPr>
        <p:spPr>
          <a:xfrm>
            <a:off x="7370064" y="2103120"/>
            <a:ext cx="1051560" cy="310896"/>
          </a:xfrm>
          <a:prstGeom prst="rect">
            <a:avLst/>
          </a:prstGeom>
          <a:noFill/>
          <a:ln/>
        </p:spPr>
        <p:txBody>
          <a:bodyPr wrap="square" lIns="0" tIns="0" rIns="0" bIns="0" rtlCol="0" anchor="ctr"/>
          <a:lstStyle/>
          <a:p>
            <a:pPr marL="0" indent="0">
              <a:buNone/>
            </a:pPr>
            <a:r>
              <a:rPr lang="en-US" sz="1100" b="1" dirty="0">
                <a:solidFill>
                  <a:srgbClr val="3FE08A"/>
                </a:solidFill>
                <a:latin typeface="Consolas" pitchFamily="34" charset="0"/>
                <a:ea typeface="Consolas" pitchFamily="34" charset="-122"/>
                <a:cs typeface="Consolas" pitchFamily="34" charset="-120"/>
              </a:rPr>
              <a:t>01</a:t>
            </a:r>
            <a:endParaRPr lang="en-US" sz="1100" dirty="0"/>
          </a:p>
        </p:txBody>
      </p:sp>
      <p:sp>
        <p:nvSpPr>
          <p:cNvPr id="53" name="Text 51"/>
          <p:cNvSpPr/>
          <p:nvPr/>
        </p:nvSpPr>
        <p:spPr>
          <a:xfrm>
            <a:off x="8430768" y="2084832"/>
            <a:ext cx="2743200" cy="292608"/>
          </a:xfrm>
          <a:prstGeom prst="rect">
            <a:avLst/>
          </a:prstGeom>
          <a:noFill/>
          <a:ln/>
        </p:spPr>
        <p:txBody>
          <a:bodyPr wrap="square" lIns="0" tIns="0" rIns="0" bIns="0" rtlCol="0" anchor="ctr"/>
          <a:lstStyle/>
          <a:p>
            <a:pPr marL="0" indent="0">
              <a:buNone/>
            </a:pPr>
            <a:r>
              <a:rPr lang="en-US" sz="1400" b="1" dirty="0">
                <a:solidFill>
                  <a:srgbClr val="E6EDF3"/>
                </a:solidFill>
                <a:latin typeface="Segoe UI" pitchFamily="34" charset="0"/>
                <a:ea typeface="Segoe UI" pitchFamily="34" charset="-122"/>
                <a:cs typeface="Segoe UI" pitchFamily="34" charset="-120"/>
              </a:rPr>
              <a:t>Header</a:t>
            </a:r>
            <a:endParaRPr lang="en-US" sz="1400" dirty="0"/>
          </a:p>
        </p:txBody>
      </p:sp>
      <p:sp>
        <p:nvSpPr>
          <p:cNvPr id="54" name="Text 52"/>
          <p:cNvSpPr/>
          <p:nvPr/>
        </p:nvSpPr>
        <p:spPr>
          <a:xfrm>
            <a:off x="8430768" y="2359152"/>
            <a:ext cx="2743200" cy="457200"/>
          </a:xfrm>
          <a:prstGeom prst="rect">
            <a:avLst/>
          </a:prstGeom>
          <a:noFill/>
          <a:ln/>
        </p:spPr>
        <p:txBody>
          <a:bodyPr wrap="square" lIns="0" tIns="0" rIns="0" bIns="0" rtlCol="0" anchor="ctr"/>
          <a:lstStyle/>
          <a:p>
            <a:pPr marL="0" indent="0">
              <a:lnSpc>
                <a:spcPct val="105000"/>
              </a:lnSpc>
              <a:buNone/>
            </a:pPr>
            <a:r>
              <a:rPr lang="en-US" sz="1200" dirty="0">
                <a:solidFill>
                  <a:srgbClr val="AAB7C2"/>
                </a:solidFill>
                <a:latin typeface="Segoe UI" pitchFamily="34" charset="0"/>
                <a:ea typeface="Segoe UI" pitchFamily="34" charset="-122"/>
                <a:cs typeface="Segoe UI" pitchFamily="34" charset="-120"/>
              </a:rPr>
              <a:t>Symbol, session badge, last price, change and % change, today's volume.</a:t>
            </a:r>
            <a:endParaRPr lang="en-US" sz="1200" dirty="0"/>
          </a:p>
        </p:txBody>
      </p:sp>
      <p:sp>
        <p:nvSpPr>
          <p:cNvPr id="55" name="row marker">
            <a:extLst>
              <a:ext uri="{C183D7F6-B498-43B3-948B-1728B52AA6E4}">
                <adec:decorative xmlns:adec="http://schemas.microsoft.com/office/drawing/2017/decorative" val="1"/>
              </a:ext>
            </a:extLst>
          </p:cNvPr>
          <p:cNvSpPr/>
          <p:nvPr/>
        </p:nvSpPr>
        <p:spPr>
          <a:xfrm>
            <a:off x="7223760" y="3026664"/>
            <a:ext cx="32004" cy="384048"/>
          </a:xfrm>
          <a:prstGeom prst="rect">
            <a:avLst/>
          </a:prstGeom>
          <a:solidFill>
            <a:srgbClr val="3FE08A"/>
          </a:solidFill>
          <a:ln w="12700">
            <a:solidFill>
              <a:srgbClr val="333333"/>
            </a:solidFill>
            <a:prstDash val="solid"/>
          </a:ln>
        </p:spPr>
        <p:txBody>
          <a:bodyPr/>
          <a:lstStyle/>
          <a:p>
            <a:endParaRPr lang="en-SE"/>
          </a:p>
        </p:txBody>
      </p:sp>
      <p:sp>
        <p:nvSpPr>
          <p:cNvPr id="56" name="Text 54"/>
          <p:cNvSpPr/>
          <p:nvPr/>
        </p:nvSpPr>
        <p:spPr>
          <a:xfrm>
            <a:off x="7370064" y="2971800"/>
            <a:ext cx="1051560" cy="310896"/>
          </a:xfrm>
          <a:prstGeom prst="rect">
            <a:avLst/>
          </a:prstGeom>
          <a:noFill/>
          <a:ln/>
        </p:spPr>
        <p:txBody>
          <a:bodyPr wrap="square" lIns="0" tIns="0" rIns="0" bIns="0" rtlCol="0" anchor="ctr"/>
          <a:lstStyle/>
          <a:p>
            <a:pPr marL="0" indent="0">
              <a:buNone/>
            </a:pPr>
            <a:r>
              <a:rPr lang="en-US" sz="1100" b="1" dirty="0">
                <a:solidFill>
                  <a:srgbClr val="3FE08A"/>
                </a:solidFill>
                <a:latin typeface="Consolas" pitchFamily="34" charset="0"/>
                <a:ea typeface="Consolas" pitchFamily="34" charset="-122"/>
                <a:cs typeface="Consolas" pitchFamily="34" charset="-120"/>
              </a:rPr>
              <a:t>02</a:t>
            </a:r>
            <a:endParaRPr lang="en-US" sz="1100" dirty="0"/>
          </a:p>
        </p:txBody>
      </p:sp>
      <p:sp>
        <p:nvSpPr>
          <p:cNvPr id="57" name="Text 55"/>
          <p:cNvSpPr/>
          <p:nvPr/>
        </p:nvSpPr>
        <p:spPr>
          <a:xfrm>
            <a:off x="8430768" y="2953512"/>
            <a:ext cx="2743200" cy="292608"/>
          </a:xfrm>
          <a:prstGeom prst="rect">
            <a:avLst/>
          </a:prstGeom>
          <a:noFill/>
          <a:ln/>
        </p:spPr>
        <p:txBody>
          <a:bodyPr wrap="square" lIns="0" tIns="0" rIns="0" bIns="0" rtlCol="0" anchor="ctr"/>
          <a:lstStyle/>
          <a:p>
            <a:pPr marL="0" indent="0">
              <a:buNone/>
            </a:pPr>
            <a:r>
              <a:rPr lang="en-US" sz="1400" b="1" dirty="0">
                <a:solidFill>
                  <a:srgbClr val="E6EDF3"/>
                </a:solidFill>
                <a:latin typeface="Segoe UI" pitchFamily="34" charset="0"/>
                <a:ea typeface="Segoe UI" pitchFamily="34" charset="-122"/>
                <a:cs typeface="Segoe UI" pitchFamily="34" charset="-120"/>
              </a:rPr>
              <a:t>Chart</a:t>
            </a:r>
            <a:endParaRPr lang="en-US" sz="1400" dirty="0"/>
          </a:p>
        </p:txBody>
      </p:sp>
      <p:sp>
        <p:nvSpPr>
          <p:cNvPr id="58" name="Text 56"/>
          <p:cNvSpPr/>
          <p:nvPr/>
        </p:nvSpPr>
        <p:spPr>
          <a:xfrm>
            <a:off x="8430768" y="3227832"/>
            <a:ext cx="2743200" cy="457200"/>
          </a:xfrm>
          <a:prstGeom prst="rect">
            <a:avLst/>
          </a:prstGeom>
          <a:noFill/>
          <a:ln/>
        </p:spPr>
        <p:txBody>
          <a:bodyPr wrap="square" lIns="0" tIns="0" rIns="0" bIns="0" rtlCol="0" anchor="ctr"/>
          <a:lstStyle/>
          <a:p>
            <a:pPr marL="0" indent="0">
              <a:lnSpc>
                <a:spcPct val="105000"/>
              </a:lnSpc>
              <a:buNone/>
            </a:pPr>
            <a:r>
              <a:rPr lang="en-US" sz="1200" dirty="0">
                <a:solidFill>
                  <a:srgbClr val="AAB7C2"/>
                </a:solidFill>
                <a:latin typeface="Segoe UI" pitchFamily="34" charset="0"/>
                <a:ea typeface="Segoe UI" pitchFamily="34" charset="-122"/>
                <a:cs typeface="Segoe UI" pitchFamily="34" charset="-120"/>
              </a:rPr>
              <a:t>Candlesticks and a midpoint line, with time-window presets.</a:t>
            </a:r>
            <a:endParaRPr lang="en-US" sz="1200" dirty="0"/>
          </a:p>
        </p:txBody>
      </p:sp>
      <p:sp>
        <p:nvSpPr>
          <p:cNvPr id="59" name="row marker">
            <a:extLst>
              <a:ext uri="{C183D7F6-B498-43B3-948B-1728B52AA6E4}">
                <adec:decorative xmlns:adec="http://schemas.microsoft.com/office/drawing/2017/decorative" val="1"/>
              </a:ext>
            </a:extLst>
          </p:cNvPr>
          <p:cNvSpPr/>
          <p:nvPr/>
        </p:nvSpPr>
        <p:spPr>
          <a:xfrm>
            <a:off x="7223760" y="3895344"/>
            <a:ext cx="32004" cy="384048"/>
          </a:xfrm>
          <a:prstGeom prst="rect">
            <a:avLst/>
          </a:prstGeom>
          <a:solidFill>
            <a:srgbClr val="3FE08A"/>
          </a:solidFill>
          <a:ln w="12700">
            <a:solidFill>
              <a:srgbClr val="333333"/>
            </a:solidFill>
            <a:prstDash val="solid"/>
          </a:ln>
        </p:spPr>
        <p:txBody>
          <a:bodyPr/>
          <a:lstStyle/>
          <a:p>
            <a:endParaRPr lang="en-SE"/>
          </a:p>
        </p:txBody>
      </p:sp>
      <p:sp>
        <p:nvSpPr>
          <p:cNvPr id="60" name="Text 58"/>
          <p:cNvSpPr/>
          <p:nvPr/>
        </p:nvSpPr>
        <p:spPr>
          <a:xfrm>
            <a:off x="7370064" y="3840480"/>
            <a:ext cx="1051560" cy="310896"/>
          </a:xfrm>
          <a:prstGeom prst="rect">
            <a:avLst/>
          </a:prstGeom>
          <a:noFill/>
          <a:ln/>
        </p:spPr>
        <p:txBody>
          <a:bodyPr wrap="square" lIns="0" tIns="0" rIns="0" bIns="0" rtlCol="0" anchor="ctr"/>
          <a:lstStyle/>
          <a:p>
            <a:pPr marL="0" indent="0">
              <a:buNone/>
            </a:pPr>
            <a:r>
              <a:rPr lang="en-US" sz="1100" b="1" dirty="0">
                <a:solidFill>
                  <a:srgbClr val="3FE08A"/>
                </a:solidFill>
                <a:latin typeface="Consolas" pitchFamily="34" charset="0"/>
                <a:ea typeface="Consolas" pitchFamily="34" charset="-122"/>
                <a:cs typeface="Consolas" pitchFamily="34" charset="-120"/>
              </a:rPr>
              <a:t>03</a:t>
            </a:r>
            <a:endParaRPr lang="en-US" sz="1100" dirty="0"/>
          </a:p>
        </p:txBody>
      </p:sp>
      <p:sp>
        <p:nvSpPr>
          <p:cNvPr id="61" name="Text 59"/>
          <p:cNvSpPr/>
          <p:nvPr/>
        </p:nvSpPr>
        <p:spPr>
          <a:xfrm>
            <a:off x="8430768" y="3822192"/>
            <a:ext cx="2743200" cy="292608"/>
          </a:xfrm>
          <a:prstGeom prst="rect">
            <a:avLst/>
          </a:prstGeom>
          <a:noFill/>
          <a:ln/>
        </p:spPr>
        <p:txBody>
          <a:bodyPr wrap="square" lIns="0" tIns="0" rIns="0" bIns="0" rtlCol="0" anchor="ctr"/>
          <a:lstStyle/>
          <a:p>
            <a:pPr marL="0" indent="0">
              <a:buNone/>
            </a:pPr>
            <a:r>
              <a:rPr lang="en-US" sz="1400" b="1" dirty="0">
                <a:solidFill>
                  <a:srgbClr val="E6EDF3"/>
                </a:solidFill>
                <a:latin typeface="Segoe UI" pitchFamily="34" charset="0"/>
                <a:ea typeface="Segoe UI" pitchFamily="34" charset="-122"/>
                <a:cs typeface="Segoe UI" pitchFamily="34" charset="-120"/>
              </a:rPr>
              <a:t>Context banners</a:t>
            </a:r>
            <a:endParaRPr lang="en-US" sz="1400" dirty="0"/>
          </a:p>
        </p:txBody>
      </p:sp>
      <p:sp>
        <p:nvSpPr>
          <p:cNvPr id="62" name="Text 60"/>
          <p:cNvSpPr/>
          <p:nvPr/>
        </p:nvSpPr>
        <p:spPr>
          <a:xfrm>
            <a:off x="8430768" y="4096512"/>
            <a:ext cx="2743200" cy="457200"/>
          </a:xfrm>
          <a:prstGeom prst="rect">
            <a:avLst/>
          </a:prstGeom>
          <a:noFill/>
          <a:ln/>
        </p:spPr>
        <p:txBody>
          <a:bodyPr wrap="square" lIns="0" tIns="0" rIns="0" bIns="0" rtlCol="0" anchor="ctr"/>
          <a:lstStyle/>
          <a:p>
            <a:pPr marL="0" indent="0">
              <a:lnSpc>
                <a:spcPct val="105000"/>
              </a:lnSpc>
              <a:buNone/>
            </a:pPr>
            <a:r>
              <a:rPr lang="en-US" sz="1200" dirty="0">
                <a:solidFill>
                  <a:srgbClr val="AAB7C2"/>
                </a:solidFill>
                <a:latin typeface="Segoe UI" pitchFamily="34" charset="0"/>
                <a:ea typeface="Segoe UI" pitchFamily="34" charset="-122"/>
                <a:cs typeface="Segoe UI" pitchFamily="34" charset="-120"/>
              </a:rPr>
              <a:t>Auction outcomes and circuit-breaker detail when they apply.</a:t>
            </a:r>
            <a:endParaRPr lang="en-US" sz="1200" dirty="0"/>
          </a:p>
        </p:txBody>
      </p:sp>
      <p:sp>
        <p:nvSpPr>
          <p:cNvPr id="63" name="row marker">
            <a:extLst>
              <a:ext uri="{C183D7F6-B498-43B3-948B-1728B52AA6E4}">
                <adec:decorative xmlns:adec="http://schemas.microsoft.com/office/drawing/2017/decorative" val="1"/>
              </a:ext>
            </a:extLst>
          </p:cNvPr>
          <p:cNvSpPr/>
          <p:nvPr/>
        </p:nvSpPr>
        <p:spPr>
          <a:xfrm>
            <a:off x="7223760" y="4764024"/>
            <a:ext cx="32004" cy="384048"/>
          </a:xfrm>
          <a:prstGeom prst="rect">
            <a:avLst/>
          </a:prstGeom>
          <a:solidFill>
            <a:srgbClr val="3FE08A"/>
          </a:solidFill>
          <a:ln w="12700">
            <a:solidFill>
              <a:srgbClr val="333333"/>
            </a:solidFill>
            <a:prstDash val="solid"/>
          </a:ln>
        </p:spPr>
        <p:txBody>
          <a:bodyPr/>
          <a:lstStyle/>
          <a:p>
            <a:endParaRPr lang="en-SE"/>
          </a:p>
        </p:txBody>
      </p:sp>
      <p:sp>
        <p:nvSpPr>
          <p:cNvPr id="64" name="Text 62"/>
          <p:cNvSpPr/>
          <p:nvPr/>
        </p:nvSpPr>
        <p:spPr>
          <a:xfrm>
            <a:off x="7370064" y="4709160"/>
            <a:ext cx="1051560" cy="310896"/>
          </a:xfrm>
          <a:prstGeom prst="rect">
            <a:avLst/>
          </a:prstGeom>
          <a:noFill/>
          <a:ln/>
        </p:spPr>
        <p:txBody>
          <a:bodyPr wrap="square" lIns="0" tIns="0" rIns="0" bIns="0" rtlCol="0" anchor="ctr"/>
          <a:lstStyle/>
          <a:p>
            <a:pPr marL="0" indent="0">
              <a:buNone/>
            </a:pPr>
            <a:r>
              <a:rPr lang="en-US" sz="1100" b="1" dirty="0">
                <a:solidFill>
                  <a:srgbClr val="3FE08A"/>
                </a:solidFill>
                <a:latin typeface="Consolas" pitchFamily="34" charset="0"/>
                <a:ea typeface="Consolas" pitchFamily="34" charset="-122"/>
                <a:cs typeface="Consolas" pitchFamily="34" charset="-120"/>
              </a:rPr>
              <a:t>04</a:t>
            </a:r>
            <a:endParaRPr lang="en-US" sz="1100" dirty="0"/>
          </a:p>
        </p:txBody>
      </p:sp>
      <p:sp>
        <p:nvSpPr>
          <p:cNvPr id="65" name="Text 63"/>
          <p:cNvSpPr/>
          <p:nvPr/>
        </p:nvSpPr>
        <p:spPr>
          <a:xfrm>
            <a:off x="8430768" y="4690872"/>
            <a:ext cx="2743200" cy="292608"/>
          </a:xfrm>
          <a:prstGeom prst="rect">
            <a:avLst/>
          </a:prstGeom>
          <a:noFill/>
          <a:ln/>
        </p:spPr>
        <p:txBody>
          <a:bodyPr wrap="square" lIns="0" tIns="0" rIns="0" bIns="0" rtlCol="0" anchor="ctr"/>
          <a:lstStyle/>
          <a:p>
            <a:pPr marL="0" indent="0">
              <a:buNone/>
            </a:pPr>
            <a:r>
              <a:rPr lang="en-US" sz="1400" b="1" dirty="0">
                <a:solidFill>
                  <a:srgbClr val="E6EDF3"/>
                </a:solidFill>
                <a:latin typeface="Segoe UI" pitchFamily="34" charset="0"/>
                <a:ea typeface="Segoe UI" pitchFamily="34" charset="-122"/>
                <a:cs typeface="Segoe UI" pitchFamily="34" charset="-120"/>
              </a:rPr>
              <a:t>Values ⇄ Depth</a:t>
            </a:r>
            <a:endParaRPr lang="en-US" sz="1400" dirty="0"/>
          </a:p>
        </p:txBody>
      </p:sp>
      <p:sp>
        <p:nvSpPr>
          <p:cNvPr id="66" name="Text 64"/>
          <p:cNvSpPr/>
          <p:nvPr/>
        </p:nvSpPr>
        <p:spPr>
          <a:xfrm>
            <a:off x="8430768" y="4965192"/>
            <a:ext cx="2743200" cy="457200"/>
          </a:xfrm>
          <a:prstGeom prst="rect">
            <a:avLst/>
          </a:prstGeom>
          <a:noFill/>
          <a:ln/>
        </p:spPr>
        <p:txBody>
          <a:bodyPr wrap="square" lIns="0" tIns="0" rIns="0" bIns="0" rtlCol="0" anchor="ctr"/>
          <a:lstStyle/>
          <a:p>
            <a:pPr marL="0" indent="0">
              <a:lnSpc>
                <a:spcPct val="105000"/>
              </a:lnSpc>
              <a:buNone/>
            </a:pPr>
            <a:r>
              <a:rPr lang="en-US" sz="1200" dirty="0">
                <a:solidFill>
                  <a:srgbClr val="AAB7C2"/>
                </a:solidFill>
                <a:latin typeface="Segoe UI" pitchFamily="34" charset="0"/>
                <a:ea typeface="Segoe UI" pitchFamily="34" charset="-122"/>
                <a:cs typeface="Segoe UI" pitchFamily="34" charset="-120"/>
              </a:rPr>
              <a:t>One toggle swaps the values table for the depth ladder.</a:t>
            </a:r>
            <a:endParaRPr lang="en-US" sz="1200" dirty="0"/>
          </a:p>
        </p:txBody>
      </p:sp>
      <p:sp>
        <p:nvSpPr>
          <p:cNvPr id="67" name="figure note background">
            <a:extLst>
              <a:ext uri="{C183D7F6-B498-43B3-948B-1728B52AA6E4}">
                <adec:decorative xmlns:adec="http://schemas.microsoft.com/office/drawing/2017/decorative" val="1"/>
              </a:ext>
            </a:extLst>
          </p:cNvPr>
          <p:cNvSpPr/>
          <p:nvPr/>
        </p:nvSpPr>
        <p:spPr>
          <a:xfrm>
            <a:off x="7223760" y="5623560"/>
            <a:ext cx="4023360" cy="685800"/>
          </a:xfrm>
          <a:prstGeom prst="rect">
            <a:avLst/>
          </a:prstGeom>
          <a:solidFill>
            <a:srgbClr val="273037"/>
          </a:solidFill>
          <a:ln w="12700">
            <a:solidFill>
              <a:srgbClr val="3FE08A"/>
            </a:solidFill>
            <a:prstDash val="solid"/>
          </a:ln>
        </p:spPr>
        <p:txBody>
          <a:bodyPr/>
          <a:lstStyle/>
          <a:p>
            <a:endParaRPr lang="en-SE"/>
          </a:p>
        </p:txBody>
      </p:sp>
      <p:sp>
        <p:nvSpPr>
          <p:cNvPr id="68" name="Text 66"/>
          <p:cNvSpPr/>
          <p:nvPr/>
        </p:nvSpPr>
        <p:spPr>
          <a:xfrm>
            <a:off x="7360920" y="5623560"/>
            <a:ext cx="3749040" cy="685800"/>
          </a:xfrm>
          <a:prstGeom prst="rect">
            <a:avLst/>
          </a:prstGeom>
          <a:noFill/>
          <a:ln/>
        </p:spPr>
        <p:txBody>
          <a:bodyPr wrap="square" lIns="0" tIns="0" rIns="0" bIns="0" rtlCol="0" anchor="ctr"/>
          <a:lstStyle/>
          <a:p>
            <a:pPr marL="0" indent="0">
              <a:lnSpc>
                <a:spcPct val="105000"/>
              </a:lnSpc>
              <a:buNone/>
            </a:pPr>
            <a:r>
              <a:rPr lang="en-US" sz="1000" b="1" dirty="0">
                <a:solidFill>
                  <a:srgbClr val="3FE08A"/>
                </a:solidFill>
                <a:latin typeface="Segoe UI" pitchFamily="34" charset="0"/>
                <a:ea typeface="Segoe UI" pitchFamily="34" charset="-122"/>
                <a:cs typeface="Segoe UI" pitchFamily="34" charset="-120"/>
              </a:rPr>
              <a:t>SCREENSHOT 3b — </a:t>
            </a:r>
            <a:r>
              <a:rPr lang="en-US" sz="1000" dirty="0">
                <a:solidFill>
                  <a:srgbClr val="AAB7C2"/>
                </a:solidFill>
                <a:latin typeface="Segoe UI" pitchFamily="34" charset="0"/>
                <a:ea typeface="Segoe UI" pitchFamily="34" charset="-122"/>
                <a:cs typeface="Segoe UI" pitchFamily="34" charset="-120"/>
              </a:rPr>
              <a:t>a second capture of the same symbol with the Depth toggle on instead of Values, to show the panel swap.</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Reading the Symbol Detail chart</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03 · SCREENS</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20</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Four things are drawn on top of each other. Learn to separate them by eye.</a:t>
            </a:r>
            <a:endParaRPr lang="en-US" sz="1400" dirty="0"/>
          </a:p>
        </p:txBody>
      </p:sp>
      <p:sp>
        <p:nvSpPr>
          <p:cNvPr id="38" name="chart mock frame">
            <a:extLst>
              <a:ext uri="{C183D7F6-B498-43B3-948B-1728B52AA6E4}">
                <adec:decorative xmlns:adec="http://schemas.microsoft.com/office/drawing/2017/decorative" val="1"/>
              </a:ext>
            </a:extLst>
          </p:cNvPr>
          <p:cNvSpPr/>
          <p:nvPr/>
        </p:nvSpPr>
        <p:spPr>
          <a:xfrm>
            <a:off x="566928" y="1965960"/>
            <a:ext cx="6583680" cy="3657600"/>
          </a:xfrm>
          <a:prstGeom prst="rect">
            <a:avLst/>
          </a:prstGeom>
          <a:solidFill>
            <a:srgbClr val="191E23"/>
          </a:solidFill>
          <a:ln w="12700">
            <a:solidFill>
              <a:srgbClr val="313B44"/>
            </a:solidFill>
            <a:prstDash val="solid"/>
          </a:ln>
        </p:spPr>
        <p:txBody>
          <a:bodyPr/>
          <a:lstStyle/>
          <a:p>
            <a:endParaRPr lang="en-SE"/>
          </a:p>
        </p:txBody>
      </p:sp>
      <p:sp>
        <p:nvSpPr>
          <p:cNvPr id="39" name="chart gridline">
            <a:extLst>
              <a:ext uri="{C183D7F6-B498-43B3-948B-1728B52AA6E4}">
                <adec:decorative xmlns:adec="http://schemas.microsoft.com/office/drawing/2017/decorative" val="1"/>
              </a:ext>
            </a:extLst>
          </p:cNvPr>
          <p:cNvSpPr/>
          <p:nvPr/>
        </p:nvSpPr>
        <p:spPr>
          <a:xfrm>
            <a:off x="566928" y="2697480"/>
            <a:ext cx="6583680" cy="0"/>
          </a:xfrm>
          <a:prstGeom prst="line">
            <a:avLst/>
          </a:prstGeom>
          <a:noFill/>
          <a:ln w="9525">
            <a:solidFill>
              <a:srgbClr val="222A31"/>
            </a:solidFill>
            <a:prstDash val="solid"/>
          </a:ln>
        </p:spPr>
        <p:txBody>
          <a:bodyPr/>
          <a:lstStyle/>
          <a:p>
            <a:endParaRPr lang="en-SE"/>
          </a:p>
        </p:txBody>
      </p:sp>
      <p:sp>
        <p:nvSpPr>
          <p:cNvPr id="40" name="chart gridline">
            <a:extLst>
              <a:ext uri="{C183D7F6-B498-43B3-948B-1728B52AA6E4}">
                <adec:decorative xmlns:adec="http://schemas.microsoft.com/office/drawing/2017/decorative" val="1"/>
              </a:ext>
            </a:extLst>
          </p:cNvPr>
          <p:cNvSpPr/>
          <p:nvPr/>
        </p:nvSpPr>
        <p:spPr>
          <a:xfrm>
            <a:off x="566928" y="3429000"/>
            <a:ext cx="6583680" cy="0"/>
          </a:xfrm>
          <a:prstGeom prst="line">
            <a:avLst/>
          </a:prstGeom>
          <a:noFill/>
          <a:ln w="9525">
            <a:solidFill>
              <a:srgbClr val="222A31"/>
            </a:solidFill>
            <a:prstDash val="solid"/>
          </a:ln>
        </p:spPr>
        <p:txBody>
          <a:bodyPr/>
          <a:lstStyle/>
          <a:p>
            <a:endParaRPr lang="en-SE"/>
          </a:p>
        </p:txBody>
      </p:sp>
      <p:sp>
        <p:nvSpPr>
          <p:cNvPr id="41" name="chart gridline">
            <a:extLst>
              <a:ext uri="{C183D7F6-B498-43B3-948B-1728B52AA6E4}">
                <adec:decorative xmlns:adec="http://schemas.microsoft.com/office/drawing/2017/decorative" val="1"/>
              </a:ext>
            </a:extLst>
          </p:cNvPr>
          <p:cNvSpPr/>
          <p:nvPr/>
        </p:nvSpPr>
        <p:spPr>
          <a:xfrm>
            <a:off x="566928" y="4160520"/>
            <a:ext cx="6583680" cy="0"/>
          </a:xfrm>
          <a:prstGeom prst="line">
            <a:avLst/>
          </a:prstGeom>
          <a:noFill/>
          <a:ln w="9525">
            <a:solidFill>
              <a:srgbClr val="222A31"/>
            </a:solidFill>
            <a:prstDash val="solid"/>
          </a:ln>
        </p:spPr>
        <p:txBody>
          <a:bodyPr/>
          <a:lstStyle/>
          <a:p>
            <a:endParaRPr lang="en-SE"/>
          </a:p>
        </p:txBody>
      </p:sp>
      <p:sp>
        <p:nvSpPr>
          <p:cNvPr id="42" name="chart gridline">
            <a:extLst>
              <a:ext uri="{C183D7F6-B498-43B3-948B-1728B52AA6E4}">
                <adec:decorative xmlns:adec="http://schemas.microsoft.com/office/drawing/2017/decorative" val="1"/>
              </a:ext>
            </a:extLst>
          </p:cNvPr>
          <p:cNvSpPr/>
          <p:nvPr/>
        </p:nvSpPr>
        <p:spPr>
          <a:xfrm>
            <a:off x="566928" y="4892040"/>
            <a:ext cx="6583680" cy="0"/>
          </a:xfrm>
          <a:prstGeom prst="line">
            <a:avLst/>
          </a:prstGeom>
          <a:noFill/>
          <a:ln w="9525">
            <a:solidFill>
              <a:srgbClr val="222A31"/>
            </a:solidFill>
            <a:prstDash val="solid"/>
          </a:ln>
        </p:spPr>
        <p:txBody>
          <a:bodyPr/>
          <a:lstStyle/>
          <a:p>
            <a:endParaRPr lang="en-SE"/>
          </a:p>
        </p:txBody>
      </p:sp>
      <p:sp>
        <p:nvSpPr>
          <p:cNvPr id="43" name="candle wick">
            <a:extLst>
              <a:ext uri="{C183D7F6-B498-43B3-948B-1728B52AA6E4}">
                <adec:decorative xmlns:adec="http://schemas.microsoft.com/office/drawing/2017/decorative" val="1"/>
              </a:ext>
            </a:extLst>
          </p:cNvPr>
          <p:cNvSpPr/>
          <p:nvPr/>
        </p:nvSpPr>
        <p:spPr>
          <a:xfrm>
            <a:off x="987552" y="3747211"/>
            <a:ext cx="0" cy="691286"/>
          </a:xfrm>
          <a:prstGeom prst="line">
            <a:avLst/>
          </a:prstGeom>
          <a:noFill/>
          <a:ln w="12700">
            <a:solidFill>
              <a:srgbClr val="3FE08A"/>
            </a:solidFill>
            <a:prstDash val="solid"/>
          </a:ln>
        </p:spPr>
        <p:txBody>
          <a:bodyPr/>
          <a:lstStyle/>
          <a:p>
            <a:endParaRPr lang="en-SE"/>
          </a:p>
        </p:txBody>
      </p:sp>
      <p:sp>
        <p:nvSpPr>
          <p:cNvPr id="44" name="candlestick body">
            <a:extLst>
              <a:ext uri="{C183D7F6-B498-43B3-948B-1728B52AA6E4}">
                <adec:decorative xmlns:adec="http://schemas.microsoft.com/office/drawing/2017/decorative" val="1"/>
              </a:ext>
            </a:extLst>
          </p:cNvPr>
          <p:cNvSpPr/>
          <p:nvPr/>
        </p:nvSpPr>
        <p:spPr>
          <a:xfrm>
            <a:off x="886968" y="3845966"/>
            <a:ext cx="201168" cy="460858"/>
          </a:xfrm>
          <a:prstGeom prst="rect">
            <a:avLst/>
          </a:prstGeom>
          <a:solidFill>
            <a:srgbClr val="3FE08A"/>
          </a:solidFill>
          <a:ln w="12700">
            <a:solidFill>
              <a:srgbClr val="333333"/>
            </a:solidFill>
            <a:prstDash val="solid"/>
          </a:ln>
        </p:spPr>
        <p:txBody>
          <a:bodyPr/>
          <a:lstStyle/>
          <a:p>
            <a:endParaRPr lang="en-SE"/>
          </a:p>
        </p:txBody>
      </p:sp>
      <p:sp>
        <p:nvSpPr>
          <p:cNvPr id="45" name="candle wick">
            <a:extLst>
              <a:ext uri="{C183D7F6-B498-43B3-948B-1728B52AA6E4}">
                <adec:decorative xmlns:adec="http://schemas.microsoft.com/office/drawing/2017/decorative" val="1"/>
              </a:ext>
            </a:extLst>
          </p:cNvPr>
          <p:cNvSpPr/>
          <p:nvPr/>
        </p:nvSpPr>
        <p:spPr>
          <a:xfrm>
            <a:off x="1444752" y="3549701"/>
            <a:ext cx="0" cy="625450"/>
          </a:xfrm>
          <a:prstGeom prst="line">
            <a:avLst/>
          </a:prstGeom>
          <a:noFill/>
          <a:ln w="12700">
            <a:solidFill>
              <a:srgbClr val="3FE08A"/>
            </a:solidFill>
            <a:prstDash val="solid"/>
          </a:ln>
        </p:spPr>
        <p:txBody>
          <a:bodyPr/>
          <a:lstStyle/>
          <a:p>
            <a:endParaRPr lang="en-SE"/>
          </a:p>
        </p:txBody>
      </p:sp>
      <p:sp>
        <p:nvSpPr>
          <p:cNvPr id="46" name="candlestick body">
            <a:extLst>
              <a:ext uri="{C183D7F6-B498-43B3-948B-1728B52AA6E4}">
                <adec:decorative xmlns:adec="http://schemas.microsoft.com/office/drawing/2017/decorative" val="1"/>
              </a:ext>
            </a:extLst>
          </p:cNvPr>
          <p:cNvSpPr/>
          <p:nvPr/>
        </p:nvSpPr>
        <p:spPr>
          <a:xfrm>
            <a:off x="1344168" y="3648456"/>
            <a:ext cx="201168" cy="395021"/>
          </a:xfrm>
          <a:prstGeom prst="rect">
            <a:avLst/>
          </a:prstGeom>
          <a:solidFill>
            <a:srgbClr val="3FE08A"/>
          </a:solidFill>
          <a:ln w="12700">
            <a:solidFill>
              <a:srgbClr val="333333"/>
            </a:solidFill>
            <a:prstDash val="solid"/>
          </a:ln>
        </p:spPr>
        <p:txBody>
          <a:bodyPr/>
          <a:lstStyle/>
          <a:p>
            <a:endParaRPr lang="en-SE"/>
          </a:p>
        </p:txBody>
      </p:sp>
      <p:sp>
        <p:nvSpPr>
          <p:cNvPr id="47" name="candle wick">
            <a:extLst>
              <a:ext uri="{C183D7F6-B498-43B3-948B-1728B52AA6E4}">
                <adec:decorative xmlns:adec="http://schemas.microsoft.com/office/drawing/2017/decorative" val="1"/>
              </a:ext>
            </a:extLst>
          </p:cNvPr>
          <p:cNvSpPr/>
          <p:nvPr/>
        </p:nvSpPr>
        <p:spPr>
          <a:xfrm>
            <a:off x="1901952" y="3352190"/>
            <a:ext cx="0" cy="625450"/>
          </a:xfrm>
          <a:prstGeom prst="line">
            <a:avLst/>
          </a:prstGeom>
          <a:noFill/>
          <a:ln w="12700">
            <a:solidFill>
              <a:srgbClr val="EF5B63"/>
            </a:solidFill>
            <a:prstDash val="solid"/>
          </a:ln>
        </p:spPr>
        <p:txBody>
          <a:bodyPr/>
          <a:lstStyle/>
          <a:p>
            <a:endParaRPr lang="en-SE"/>
          </a:p>
        </p:txBody>
      </p:sp>
      <p:sp>
        <p:nvSpPr>
          <p:cNvPr id="48" name="candlestick body">
            <a:extLst>
              <a:ext uri="{C183D7F6-B498-43B3-948B-1728B52AA6E4}">
                <adec:decorative xmlns:adec="http://schemas.microsoft.com/office/drawing/2017/decorative" val="1"/>
              </a:ext>
            </a:extLst>
          </p:cNvPr>
          <p:cNvSpPr/>
          <p:nvPr/>
        </p:nvSpPr>
        <p:spPr>
          <a:xfrm>
            <a:off x="1801368" y="3450946"/>
            <a:ext cx="201168" cy="395021"/>
          </a:xfrm>
          <a:prstGeom prst="rect">
            <a:avLst/>
          </a:prstGeom>
          <a:solidFill>
            <a:srgbClr val="EF5B63"/>
          </a:solidFill>
          <a:ln w="12700">
            <a:solidFill>
              <a:srgbClr val="333333"/>
            </a:solidFill>
            <a:prstDash val="solid"/>
          </a:ln>
        </p:spPr>
        <p:txBody>
          <a:bodyPr/>
          <a:lstStyle/>
          <a:p>
            <a:endParaRPr lang="en-SE"/>
          </a:p>
        </p:txBody>
      </p:sp>
      <p:sp>
        <p:nvSpPr>
          <p:cNvPr id="49" name="candle wick">
            <a:extLst>
              <a:ext uri="{C183D7F6-B498-43B3-948B-1728B52AA6E4}">
                <adec:decorative xmlns:adec="http://schemas.microsoft.com/office/drawing/2017/decorative" val="1"/>
              </a:ext>
            </a:extLst>
          </p:cNvPr>
          <p:cNvSpPr/>
          <p:nvPr/>
        </p:nvSpPr>
        <p:spPr>
          <a:xfrm>
            <a:off x="2359152" y="3516782"/>
            <a:ext cx="0" cy="559613"/>
          </a:xfrm>
          <a:prstGeom prst="line">
            <a:avLst/>
          </a:prstGeom>
          <a:noFill/>
          <a:ln w="12700">
            <a:solidFill>
              <a:srgbClr val="3FE08A"/>
            </a:solidFill>
            <a:prstDash val="solid"/>
          </a:ln>
        </p:spPr>
        <p:txBody>
          <a:bodyPr/>
          <a:lstStyle/>
          <a:p>
            <a:endParaRPr lang="en-SE"/>
          </a:p>
        </p:txBody>
      </p:sp>
      <p:sp>
        <p:nvSpPr>
          <p:cNvPr id="50" name="candlestick body">
            <a:extLst>
              <a:ext uri="{C183D7F6-B498-43B3-948B-1728B52AA6E4}">
                <adec:decorative xmlns:adec="http://schemas.microsoft.com/office/drawing/2017/decorative" val="1"/>
              </a:ext>
            </a:extLst>
          </p:cNvPr>
          <p:cNvSpPr/>
          <p:nvPr/>
        </p:nvSpPr>
        <p:spPr>
          <a:xfrm>
            <a:off x="2258568" y="3615538"/>
            <a:ext cx="201168" cy="362102"/>
          </a:xfrm>
          <a:prstGeom prst="rect">
            <a:avLst/>
          </a:prstGeom>
          <a:solidFill>
            <a:srgbClr val="3FE08A"/>
          </a:solidFill>
          <a:ln w="12700">
            <a:solidFill>
              <a:srgbClr val="333333"/>
            </a:solidFill>
            <a:prstDash val="solid"/>
          </a:ln>
        </p:spPr>
        <p:txBody>
          <a:bodyPr/>
          <a:lstStyle/>
          <a:p>
            <a:endParaRPr lang="en-SE"/>
          </a:p>
        </p:txBody>
      </p:sp>
      <p:sp>
        <p:nvSpPr>
          <p:cNvPr id="51" name="candle wick">
            <a:extLst>
              <a:ext uri="{C183D7F6-B498-43B3-948B-1728B52AA6E4}">
                <adec:decorative xmlns:adec="http://schemas.microsoft.com/office/drawing/2017/decorative" val="1"/>
              </a:ext>
            </a:extLst>
          </p:cNvPr>
          <p:cNvSpPr/>
          <p:nvPr/>
        </p:nvSpPr>
        <p:spPr>
          <a:xfrm>
            <a:off x="2816352" y="3154680"/>
            <a:ext cx="0" cy="658368"/>
          </a:xfrm>
          <a:prstGeom prst="line">
            <a:avLst/>
          </a:prstGeom>
          <a:noFill/>
          <a:ln w="12700">
            <a:solidFill>
              <a:srgbClr val="3FE08A"/>
            </a:solidFill>
            <a:prstDash val="solid"/>
          </a:ln>
        </p:spPr>
        <p:txBody>
          <a:bodyPr/>
          <a:lstStyle/>
          <a:p>
            <a:endParaRPr lang="en-SE"/>
          </a:p>
        </p:txBody>
      </p:sp>
      <p:sp>
        <p:nvSpPr>
          <p:cNvPr id="52" name="candlestick body">
            <a:extLst>
              <a:ext uri="{C183D7F6-B498-43B3-948B-1728B52AA6E4}">
                <adec:decorative xmlns:adec="http://schemas.microsoft.com/office/drawing/2017/decorative" val="1"/>
              </a:ext>
            </a:extLst>
          </p:cNvPr>
          <p:cNvSpPr/>
          <p:nvPr/>
        </p:nvSpPr>
        <p:spPr>
          <a:xfrm>
            <a:off x="2715768" y="3253435"/>
            <a:ext cx="201168" cy="460858"/>
          </a:xfrm>
          <a:prstGeom prst="rect">
            <a:avLst/>
          </a:prstGeom>
          <a:solidFill>
            <a:srgbClr val="3FE08A"/>
          </a:solidFill>
          <a:ln w="12700">
            <a:solidFill>
              <a:srgbClr val="333333"/>
            </a:solidFill>
            <a:prstDash val="solid"/>
          </a:ln>
        </p:spPr>
        <p:txBody>
          <a:bodyPr/>
          <a:lstStyle/>
          <a:p>
            <a:endParaRPr lang="en-SE"/>
          </a:p>
        </p:txBody>
      </p:sp>
      <p:sp>
        <p:nvSpPr>
          <p:cNvPr id="53" name="candle wick">
            <a:extLst>
              <a:ext uri="{C183D7F6-B498-43B3-948B-1728B52AA6E4}">
                <adec:decorative xmlns:adec="http://schemas.microsoft.com/office/drawing/2017/decorative" val="1"/>
              </a:ext>
            </a:extLst>
          </p:cNvPr>
          <p:cNvSpPr/>
          <p:nvPr/>
        </p:nvSpPr>
        <p:spPr>
          <a:xfrm>
            <a:off x="3273552" y="3055925"/>
            <a:ext cx="0" cy="559613"/>
          </a:xfrm>
          <a:prstGeom prst="line">
            <a:avLst/>
          </a:prstGeom>
          <a:noFill/>
          <a:ln w="12700">
            <a:solidFill>
              <a:srgbClr val="EF5B63"/>
            </a:solidFill>
            <a:prstDash val="solid"/>
          </a:ln>
        </p:spPr>
        <p:txBody>
          <a:bodyPr/>
          <a:lstStyle/>
          <a:p>
            <a:endParaRPr lang="en-SE"/>
          </a:p>
        </p:txBody>
      </p:sp>
      <p:sp>
        <p:nvSpPr>
          <p:cNvPr id="54" name="candlestick body">
            <a:extLst>
              <a:ext uri="{C183D7F6-B498-43B3-948B-1728B52AA6E4}">
                <adec:decorative xmlns:adec="http://schemas.microsoft.com/office/drawing/2017/decorative" val="1"/>
              </a:ext>
            </a:extLst>
          </p:cNvPr>
          <p:cNvSpPr/>
          <p:nvPr/>
        </p:nvSpPr>
        <p:spPr>
          <a:xfrm>
            <a:off x="3172968" y="3154680"/>
            <a:ext cx="201168" cy="296266"/>
          </a:xfrm>
          <a:prstGeom prst="rect">
            <a:avLst/>
          </a:prstGeom>
          <a:solidFill>
            <a:srgbClr val="EF5B63"/>
          </a:solidFill>
          <a:ln w="12700">
            <a:solidFill>
              <a:srgbClr val="333333"/>
            </a:solidFill>
            <a:prstDash val="solid"/>
          </a:ln>
        </p:spPr>
        <p:txBody>
          <a:bodyPr/>
          <a:lstStyle/>
          <a:p>
            <a:endParaRPr lang="en-SE"/>
          </a:p>
        </p:txBody>
      </p:sp>
      <p:sp>
        <p:nvSpPr>
          <p:cNvPr id="55" name="candle wick">
            <a:extLst>
              <a:ext uri="{C183D7F6-B498-43B3-948B-1728B52AA6E4}">
                <adec:decorative xmlns:adec="http://schemas.microsoft.com/office/drawing/2017/decorative" val="1"/>
              </a:ext>
            </a:extLst>
          </p:cNvPr>
          <p:cNvSpPr/>
          <p:nvPr/>
        </p:nvSpPr>
        <p:spPr>
          <a:xfrm>
            <a:off x="3730752" y="3154680"/>
            <a:ext cx="0" cy="526694"/>
          </a:xfrm>
          <a:prstGeom prst="line">
            <a:avLst/>
          </a:prstGeom>
          <a:noFill/>
          <a:ln w="12700">
            <a:solidFill>
              <a:srgbClr val="3FE08A"/>
            </a:solidFill>
            <a:prstDash val="solid"/>
          </a:ln>
        </p:spPr>
        <p:txBody>
          <a:bodyPr/>
          <a:lstStyle/>
          <a:p>
            <a:endParaRPr lang="en-SE"/>
          </a:p>
        </p:txBody>
      </p:sp>
      <p:sp>
        <p:nvSpPr>
          <p:cNvPr id="56" name="candlestick body">
            <a:extLst>
              <a:ext uri="{C183D7F6-B498-43B3-948B-1728B52AA6E4}">
                <adec:decorative xmlns:adec="http://schemas.microsoft.com/office/drawing/2017/decorative" val="1"/>
              </a:ext>
            </a:extLst>
          </p:cNvPr>
          <p:cNvSpPr/>
          <p:nvPr/>
        </p:nvSpPr>
        <p:spPr>
          <a:xfrm>
            <a:off x="3630168" y="3253435"/>
            <a:ext cx="201168" cy="329184"/>
          </a:xfrm>
          <a:prstGeom prst="rect">
            <a:avLst/>
          </a:prstGeom>
          <a:solidFill>
            <a:srgbClr val="3FE08A"/>
          </a:solidFill>
          <a:ln w="12700">
            <a:solidFill>
              <a:srgbClr val="333333"/>
            </a:solidFill>
            <a:prstDash val="solid"/>
          </a:ln>
        </p:spPr>
        <p:txBody>
          <a:bodyPr/>
          <a:lstStyle/>
          <a:p>
            <a:endParaRPr lang="en-SE"/>
          </a:p>
        </p:txBody>
      </p:sp>
      <p:sp>
        <p:nvSpPr>
          <p:cNvPr id="57" name="candle wick">
            <a:extLst>
              <a:ext uri="{C183D7F6-B498-43B3-948B-1728B52AA6E4}">
                <adec:decorative xmlns:adec="http://schemas.microsoft.com/office/drawing/2017/decorative" val="1"/>
              </a:ext>
            </a:extLst>
          </p:cNvPr>
          <p:cNvSpPr/>
          <p:nvPr/>
        </p:nvSpPr>
        <p:spPr>
          <a:xfrm>
            <a:off x="4187952" y="2858414"/>
            <a:ext cx="0" cy="592531"/>
          </a:xfrm>
          <a:prstGeom prst="line">
            <a:avLst/>
          </a:prstGeom>
          <a:noFill/>
          <a:ln w="12700">
            <a:solidFill>
              <a:srgbClr val="3FE08A"/>
            </a:solidFill>
            <a:prstDash val="solid"/>
          </a:ln>
        </p:spPr>
        <p:txBody>
          <a:bodyPr/>
          <a:lstStyle/>
          <a:p>
            <a:endParaRPr lang="en-SE"/>
          </a:p>
        </p:txBody>
      </p:sp>
      <p:sp>
        <p:nvSpPr>
          <p:cNvPr id="58" name="candlestick body">
            <a:extLst>
              <a:ext uri="{C183D7F6-B498-43B3-948B-1728B52AA6E4}">
                <adec:decorative xmlns:adec="http://schemas.microsoft.com/office/drawing/2017/decorative" val="1"/>
              </a:ext>
            </a:extLst>
          </p:cNvPr>
          <p:cNvSpPr/>
          <p:nvPr/>
        </p:nvSpPr>
        <p:spPr>
          <a:xfrm>
            <a:off x="4087368" y="2957170"/>
            <a:ext cx="201168" cy="395021"/>
          </a:xfrm>
          <a:prstGeom prst="rect">
            <a:avLst/>
          </a:prstGeom>
          <a:solidFill>
            <a:srgbClr val="3FE08A"/>
          </a:solidFill>
          <a:ln w="12700">
            <a:solidFill>
              <a:srgbClr val="333333"/>
            </a:solidFill>
            <a:prstDash val="solid"/>
          </a:ln>
        </p:spPr>
        <p:txBody>
          <a:bodyPr/>
          <a:lstStyle/>
          <a:p>
            <a:endParaRPr lang="en-SE"/>
          </a:p>
        </p:txBody>
      </p:sp>
      <p:sp>
        <p:nvSpPr>
          <p:cNvPr id="59" name="candle wick">
            <a:extLst>
              <a:ext uri="{C183D7F6-B498-43B3-948B-1728B52AA6E4}">
                <adec:decorative xmlns:adec="http://schemas.microsoft.com/office/drawing/2017/decorative" val="1"/>
              </a:ext>
            </a:extLst>
          </p:cNvPr>
          <p:cNvSpPr/>
          <p:nvPr/>
        </p:nvSpPr>
        <p:spPr>
          <a:xfrm>
            <a:off x="4645152" y="2693822"/>
            <a:ext cx="0" cy="559613"/>
          </a:xfrm>
          <a:prstGeom prst="line">
            <a:avLst/>
          </a:prstGeom>
          <a:noFill/>
          <a:ln w="12700">
            <a:solidFill>
              <a:srgbClr val="EF5B63"/>
            </a:solidFill>
            <a:prstDash val="solid"/>
          </a:ln>
        </p:spPr>
        <p:txBody>
          <a:bodyPr/>
          <a:lstStyle/>
          <a:p>
            <a:endParaRPr lang="en-SE"/>
          </a:p>
        </p:txBody>
      </p:sp>
      <p:sp>
        <p:nvSpPr>
          <p:cNvPr id="60" name="candlestick body">
            <a:extLst>
              <a:ext uri="{C183D7F6-B498-43B3-948B-1728B52AA6E4}">
                <adec:decorative xmlns:adec="http://schemas.microsoft.com/office/drawing/2017/decorative" val="1"/>
              </a:ext>
            </a:extLst>
          </p:cNvPr>
          <p:cNvSpPr/>
          <p:nvPr/>
        </p:nvSpPr>
        <p:spPr>
          <a:xfrm>
            <a:off x="4544568" y="2792578"/>
            <a:ext cx="201168" cy="263347"/>
          </a:xfrm>
          <a:prstGeom prst="rect">
            <a:avLst/>
          </a:prstGeom>
          <a:solidFill>
            <a:srgbClr val="EF5B63"/>
          </a:solidFill>
          <a:ln w="12700">
            <a:solidFill>
              <a:srgbClr val="333333"/>
            </a:solidFill>
            <a:prstDash val="solid"/>
          </a:ln>
        </p:spPr>
        <p:txBody>
          <a:bodyPr/>
          <a:lstStyle/>
          <a:p>
            <a:endParaRPr lang="en-SE"/>
          </a:p>
        </p:txBody>
      </p:sp>
      <p:sp>
        <p:nvSpPr>
          <p:cNvPr id="61" name="candle wick">
            <a:extLst>
              <a:ext uri="{C183D7F6-B498-43B3-948B-1728B52AA6E4}">
                <adec:decorative xmlns:adec="http://schemas.microsoft.com/office/drawing/2017/decorative" val="1"/>
              </a:ext>
            </a:extLst>
          </p:cNvPr>
          <p:cNvSpPr/>
          <p:nvPr/>
        </p:nvSpPr>
        <p:spPr>
          <a:xfrm>
            <a:off x="5102352" y="2562149"/>
            <a:ext cx="0" cy="691286"/>
          </a:xfrm>
          <a:prstGeom prst="line">
            <a:avLst/>
          </a:prstGeom>
          <a:noFill/>
          <a:ln w="12700">
            <a:solidFill>
              <a:srgbClr val="3FE08A"/>
            </a:solidFill>
            <a:prstDash val="solid"/>
          </a:ln>
        </p:spPr>
        <p:txBody>
          <a:bodyPr/>
          <a:lstStyle/>
          <a:p>
            <a:endParaRPr lang="en-SE"/>
          </a:p>
        </p:txBody>
      </p:sp>
      <p:sp>
        <p:nvSpPr>
          <p:cNvPr id="62" name="candlestick body">
            <a:extLst>
              <a:ext uri="{C183D7F6-B498-43B3-948B-1728B52AA6E4}">
                <adec:decorative xmlns:adec="http://schemas.microsoft.com/office/drawing/2017/decorative" val="1"/>
              </a:ext>
            </a:extLst>
          </p:cNvPr>
          <p:cNvSpPr/>
          <p:nvPr/>
        </p:nvSpPr>
        <p:spPr>
          <a:xfrm>
            <a:off x="5001768" y="2660904"/>
            <a:ext cx="201168" cy="493776"/>
          </a:xfrm>
          <a:prstGeom prst="rect">
            <a:avLst/>
          </a:prstGeom>
          <a:solidFill>
            <a:srgbClr val="3FE08A"/>
          </a:solidFill>
          <a:ln w="12700">
            <a:solidFill>
              <a:srgbClr val="333333"/>
            </a:solidFill>
            <a:prstDash val="solid"/>
          </a:ln>
        </p:spPr>
        <p:txBody>
          <a:bodyPr/>
          <a:lstStyle/>
          <a:p>
            <a:endParaRPr lang="en-SE"/>
          </a:p>
        </p:txBody>
      </p:sp>
      <p:sp>
        <p:nvSpPr>
          <p:cNvPr id="63" name="candle wick">
            <a:extLst>
              <a:ext uri="{C183D7F6-B498-43B3-948B-1728B52AA6E4}">
                <adec:decorative xmlns:adec="http://schemas.microsoft.com/office/drawing/2017/decorative" val="1"/>
              </a:ext>
            </a:extLst>
          </p:cNvPr>
          <p:cNvSpPr/>
          <p:nvPr/>
        </p:nvSpPr>
        <p:spPr>
          <a:xfrm>
            <a:off x="5559552" y="2364638"/>
            <a:ext cx="0" cy="592531"/>
          </a:xfrm>
          <a:prstGeom prst="line">
            <a:avLst/>
          </a:prstGeom>
          <a:noFill/>
          <a:ln w="12700">
            <a:solidFill>
              <a:srgbClr val="3FE08A"/>
            </a:solidFill>
            <a:prstDash val="solid"/>
          </a:ln>
        </p:spPr>
        <p:txBody>
          <a:bodyPr/>
          <a:lstStyle/>
          <a:p>
            <a:endParaRPr lang="en-SE"/>
          </a:p>
        </p:txBody>
      </p:sp>
      <p:sp>
        <p:nvSpPr>
          <p:cNvPr id="64" name="candlestick body">
            <a:extLst>
              <a:ext uri="{C183D7F6-B498-43B3-948B-1728B52AA6E4}">
                <adec:decorative xmlns:adec="http://schemas.microsoft.com/office/drawing/2017/decorative" val="1"/>
              </a:ext>
            </a:extLst>
          </p:cNvPr>
          <p:cNvSpPr/>
          <p:nvPr/>
        </p:nvSpPr>
        <p:spPr>
          <a:xfrm>
            <a:off x="5458968" y="2463394"/>
            <a:ext cx="201168" cy="395021"/>
          </a:xfrm>
          <a:prstGeom prst="rect">
            <a:avLst/>
          </a:prstGeom>
          <a:solidFill>
            <a:srgbClr val="3FE08A"/>
          </a:solidFill>
          <a:ln w="12700">
            <a:solidFill>
              <a:srgbClr val="333333"/>
            </a:solidFill>
            <a:prstDash val="solid"/>
          </a:ln>
        </p:spPr>
        <p:txBody>
          <a:bodyPr/>
          <a:lstStyle/>
          <a:p>
            <a:endParaRPr lang="en-SE"/>
          </a:p>
        </p:txBody>
      </p:sp>
      <p:sp>
        <p:nvSpPr>
          <p:cNvPr id="65" name="candle wick">
            <a:extLst>
              <a:ext uri="{C183D7F6-B498-43B3-948B-1728B52AA6E4}">
                <adec:decorative xmlns:adec="http://schemas.microsoft.com/office/drawing/2017/decorative" val="1"/>
              </a:ext>
            </a:extLst>
          </p:cNvPr>
          <p:cNvSpPr/>
          <p:nvPr/>
        </p:nvSpPr>
        <p:spPr>
          <a:xfrm>
            <a:off x="6016752" y="2200046"/>
            <a:ext cx="0" cy="592531"/>
          </a:xfrm>
          <a:prstGeom prst="line">
            <a:avLst/>
          </a:prstGeom>
          <a:noFill/>
          <a:ln w="12700">
            <a:solidFill>
              <a:srgbClr val="3FE08A"/>
            </a:solidFill>
            <a:prstDash val="solid"/>
          </a:ln>
        </p:spPr>
        <p:txBody>
          <a:bodyPr/>
          <a:lstStyle/>
          <a:p>
            <a:endParaRPr lang="en-SE"/>
          </a:p>
        </p:txBody>
      </p:sp>
      <p:sp>
        <p:nvSpPr>
          <p:cNvPr id="66" name="candlestick body">
            <a:extLst>
              <a:ext uri="{C183D7F6-B498-43B3-948B-1728B52AA6E4}">
                <adec:decorative xmlns:adec="http://schemas.microsoft.com/office/drawing/2017/decorative" val="1"/>
              </a:ext>
            </a:extLst>
          </p:cNvPr>
          <p:cNvSpPr/>
          <p:nvPr/>
        </p:nvSpPr>
        <p:spPr>
          <a:xfrm>
            <a:off x="5916168" y="2298802"/>
            <a:ext cx="201168" cy="362102"/>
          </a:xfrm>
          <a:prstGeom prst="rect">
            <a:avLst/>
          </a:prstGeom>
          <a:solidFill>
            <a:srgbClr val="3FE08A"/>
          </a:solidFill>
          <a:ln w="12700">
            <a:solidFill>
              <a:srgbClr val="333333"/>
            </a:solidFill>
            <a:prstDash val="solid"/>
          </a:ln>
        </p:spPr>
        <p:txBody>
          <a:bodyPr/>
          <a:lstStyle/>
          <a:p>
            <a:endParaRPr lang="en-SE"/>
          </a:p>
        </p:txBody>
      </p:sp>
      <p:sp>
        <p:nvSpPr>
          <p:cNvPr id="67" name="candle wick">
            <a:extLst>
              <a:ext uri="{C183D7F6-B498-43B3-948B-1728B52AA6E4}">
                <adec:decorative xmlns:adec="http://schemas.microsoft.com/office/drawing/2017/decorative" val="1"/>
              </a:ext>
            </a:extLst>
          </p:cNvPr>
          <p:cNvSpPr/>
          <p:nvPr/>
        </p:nvSpPr>
        <p:spPr>
          <a:xfrm>
            <a:off x="6473952" y="2035454"/>
            <a:ext cx="0" cy="592531"/>
          </a:xfrm>
          <a:prstGeom prst="line">
            <a:avLst/>
          </a:prstGeom>
          <a:noFill/>
          <a:ln w="12700">
            <a:solidFill>
              <a:srgbClr val="EF5B63"/>
            </a:solidFill>
            <a:prstDash val="solid"/>
          </a:ln>
        </p:spPr>
        <p:txBody>
          <a:bodyPr/>
          <a:lstStyle/>
          <a:p>
            <a:endParaRPr lang="en-SE"/>
          </a:p>
        </p:txBody>
      </p:sp>
      <p:sp>
        <p:nvSpPr>
          <p:cNvPr id="68" name="candlestick body">
            <a:extLst>
              <a:ext uri="{C183D7F6-B498-43B3-948B-1728B52AA6E4}">
                <adec:decorative xmlns:adec="http://schemas.microsoft.com/office/drawing/2017/decorative" val="1"/>
              </a:ext>
            </a:extLst>
          </p:cNvPr>
          <p:cNvSpPr/>
          <p:nvPr/>
        </p:nvSpPr>
        <p:spPr>
          <a:xfrm>
            <a:off x="6373368" y="2134210"/>
            <a:ext cx="201168" cy="362102"/>
          </a:xfrm>
          <a:prstGeom prst="rect">
            <a:avLst/>
          </a:prstGeom>
          <a:solidFill>
            <a:srgbClr val="EF5B63"/>
          </a:solidFill>
          <a:ln w="12700">
            <a:solidFill>
              <a:srgbClr val="333333"/>
            </a:solidFill>
            <a:prstDash val="solid"/>
          </a:ln>
        </p:spPr>
        <p:txBody>
          <a:bodyPr/>
          <a:lstStyle/>
          <a:p>
            <a:endParaRPr lang="en-SE"/>
          </a:p>
        </p:txBody>
      </p:sp>
      <p:sp>
        <p:nvSpPr>
          <p:cNvPr id="69" name="midpoint historical segment">
            <a:extLst>
              <a:ext uri="{C183D7F6-B498-43B3-948B-1728B52AA6E4}">
                <adec:decorative xmlns:adec="http://schemas.microsoft.com/office/drawing/2017/decorative" val="1"/>
              </a:ext>
            </a:extLst>
          </p:cNvPr>
          <p:cNvSpPr/>
          <p:nvPr/>
        </p:nvSpPr>
        <p:spPr>
          <a:xfrm flipV="1">
            <a:off x="841248" y="3573475"/>
            <a:ext cx="3108960" cy="502920"/>
          </a:xfrm>
          <a:prstGeom prst="line">
            <a:avLst/>
          </a:prstGeom>
          <a:noFill/>
          <a:ln w="22225">
            <a:solidFill>
              <a:srgbClr val="7C8B97"/>
            </a:solidFill>
            <a:prstDash val="dash"/>
          </a:ln>
        </p:spPr>
        <p:txBody>
          <a:bodyPr/>
          <a:lstStyle/>
          <a:p>
            <a:endParaRPr lang="en-SE"/>
          </a:p>
        </p:txBody>
      </p:sp>
      <p:sp>
        <p:nvSpPr>
          <p:cNvPr id="70" name="midpoint live segment">
            <a:extLst>
              <a:ext uri="{C183D7F6-B498-43B3-948B-1728B52AA6E4}">
                <adec:decorative xmlns:adec="http://schemas.microsoft.com/office/drawing/2017/decorative" val="1"/>
              </a:ext>
            </a:extLst>
          </p:cNvPr>
          <p:cNvSpPr/>
          <p:nvPr/>
        </p:nvSpPr>
        <p:spPr>
          <a:xfrm flipV="1">
            <a:off x="3950208" y="2384755"/>
            <a:ext cx="2651760" cy="868680"/>
          </a:xfrm>
          <a:prstGeom prst="line">
            <a:avLst/>
          </a:prstGeom>
          <a:noFill/>
          <a:ln w="25400">
            <a:solidFill>
              <a:srgbClr val="3FE08A"/>
            </a:solidFill>
            <a:prstDash val="solid"/>
          </a:ln>
        </p:spPr>
        <p:txBody>
          <a:bodyPr/>
          <a:lstStyle/>
          <a:p>
            <a:endParaRPr lang="en-SE"/>
          </a:p>
        </p:txBody>
      </p:sp>
      <p:sp>
        <p:nvSpPr>
          <p:cNvPr id="71" name="previous close line">
            <a:extLst>
              <a:ext uri="{C183D7F6-B498-43B3-948B-1728B52AA6E4}">
                <adec:decorative xmlns:adec="http://schemas.microsoft.com/office/drawing/2017/decorative" val="1"/>
              </a:ext>
            </a:extLst>
          </p:cNvPr>
          <p:cNvSpPr/>
          <p:nvPr/>
        </p:nvSpPr>
        <p:spPr>
          <a:xfrm>
            <a:off x="566928" y="3911803"/>
            <a:ext cx="6583680" cy="0"/>
          </a:xfrm>
          <a:prstGeom prst="line">
            <a:avLst/>
          </a:prstGeom>
          <a:noFill/>
          <a:ln w="15875">
            <a:solidFill>
              <a:srgbClr val="F5A524"/>
            </a:solidFill>
            <a:prstDash val="dash"/>
          </a:ln>
        </p:spPr>
        <p:txBody>
          <a:bodyPr/>
          <a:lstStyle/>
          <a:p>
            <a:endParaRPr lang="en-SE"/>
          </a:p>
        </p:txBody>
      </p:sp>
      <p:sp>
        <p:nvSpPr>
          <p:cNvPr id="72" name="VWAP line">
            <a:extLst>
              <a:ext uri="{C183D7F6-B498-43B3-948B-1728B52AA6E4}">
                <adec:decorative xmlns:adec="http://schemas.microsoft.com/office/drawing/2017/decorative" val="1"/>
              </a:ext>
            </a:extLst>
          </p:cNvPr>
          <p:cNvSpPr/>
          <p:nvPr/>
        </p:nvSpPr>
        <p:spPr>
          <a:xfrm>
            <a:off x="566928" y="3319272"/>
            <a:ext cx="6583680" cy="0"/>
          </a:xfrm>
          <a:prstGeom prst="line">
            <a:avLst/>
          </a:prstGeom>
          <a:noFill/>
          <a:ln w="15875">
            <a:solidFill>
              <a:srgbClr val="8B7BD8"/>
            </a:solidFill>
            <a:prstDash val="lgDash"/>
          </a:ln>
        </p:spPr>
        <p:txBody>
          <a:bodyPr/>
          <a:lstStyle/>
          <a:p>
            <a:endParaRPr lang="en-SE"/>
          </a:p>
        </p:txBody>
      </p:sp>
      <p:sp>
        <p:nvSpPr>
          <p:cNvPr id="73" name="preset chip">
            <a:extLst>
              <a:ext uri="{C183D7F6-B498-43B3-948B-1728B52AA6E4}">
                <adec:decorative xmlns:adec="http://schemas.microsoft.com/office/drawing/2017/decorative" val="1"/>
              </a:ext>
            </a:extLst>
          </p:cNvPr>
          <p:cNvSpPr/>
          <p:nvPr/>
        </p:nvSpPr>
        <p:spPr>
          <a:xfrm>
            <a:off x="713232" y="2093976"/>
            <a:ext cx="594360" cy="256032"/>
          </a:xfrm>
          <a:prstGeom prst="rect">
            <a:avLst/>
          </a:prstGeom>
          <a:solidFill>
            <a:srgbClr val="3FE08A"/>
          </a:solidFill>
          <a:ln w="12700">
            <a:solidFill>
              <a:srgbClr val="333333"/>
            </a:solidFill>
            <a:prstDash val="solid"/>
          </a:ln>
        </p:spPr>
        <p:txBody>
          <a:bodyPr/>
          <a:lstStyle/>
          <a:p>
            <a:endParaRPr lang="en-SE"/>
          </a:p>
        </p:txBody>
      </p:sp>
      <p:sp>
        <p:nvSpPr>
          <p:cNvPr id="74" name="Text 72"/>
          <p:cNvSpPr/>
          <p:nvPr/>
        </p:nvSpPr>
        <p:spPr>
          <a:xfrm>
            <a:off x="713232" y="2093976"/>
            <a:ext cx="594360" cy="256032"/>
          </a:xfrm>
          <a:prstGeom prst="rect">
            <a:avLst/>
          </a:prstGeom>
          <a:noFill/>
          <a:ln/>
        </p:spPr>
        <p:txBody>
          <a:bodyPr wrap="square" lIns="0" tIns="0" rIns="0" bIns="0" rtlCol="0" anchor="ctr"/>
          <a:lstStyle/>
          <a:p>
            <a:pPr marL="0" indent="0" algn="ctr">
              <a:buNone/>
            </a:pPr>
            <a:r>
              <a:rPr lang="en-US" sz="800" b="1" dirty="0">
                <a:solidFill>
                  <a:srgbClr val="13171B"/>
                </a:solidFill>
                <a:latin typeface="Consolas" pitchFamily="34" charset="0"/>
                <a:ea typeface="Consolas" pitchFamily="34" charset="-122"/>
                <a:cs typeface="Consolas" pitchFamily="34" charset="-120"/>
              </a:rPr>
              <a:t>1D</a:t>
            </a:r>
            <a:endParaRPr lang="en-US" sz="800" dirty="0"/>
          </a:p>
        </p:txBody>
      </p:sp>
      <p:sp>
        <p:nvSpPr>
          <p:cNvPr id="75" name="preset chip">
            <a:extLst>
              <a:ext uri="{C183D7F6-B498-43B3-948B-1728B52AA6E4}">
                <adec:decorative xmlns:adec="http://schemas.microsoft.com/office/drawing/2017/decorative" val="1"/>
              </a:ext>
            </a:extLst>
          </p:cNvPr>
          <p:cNvSpPr/>
          <p:nvPr/>
        </p:nvSpPr>
        <p:spPr>
          <a:xfrm>
            <a:off x="1371600" y="2093976"/>
            <a:ext cx="594360" cy="256032"/>
          </a:xfrm>
          <a:prstGeom prst="rect">
            <a:avLst/>
          </a:prstGeom>
          <a:solidFill>
            <a:srgbClr val="273037"/>
          </a:solidFill>
          <a:ln w="12700">
            <a:solidFill>
              <a:srgbClr val="333333"/>
            </a:solidFill>
            <a:prstDash val="solid"/>
          </a:ln>
        </p:spPr>
        <p:txBody>
          <a:bodyPr/>
          <a:lstStyle/>
          <a:p>
            <a:endParaRPr lang="en-SE"/>
          </a:p>
        </p:txBody>
      </p:sp>
      <p:sp>
        <p:nvSpPr>
          <p:cNvPr id="76" name="Text 74"/>
          <p:cNvSpPr/>
          <p:nvPr/>
        </p:nvSpPr>
        <p:spPr>
          <a:xfrm>
            <a:off x="1371600" y="2093976"/>
            <a:ext cx="594360" cy="256032"/>
          </a:xfrm>
          <a:prstGeom prst="rect">
            <a:avLst/>
          </a:prstGeom>
          <a:noFill/>
          <a:ln/>
        </p:spPr>
        <p:txBody>
          <a:bodyPr wrap="square" lIns="0" tIns="0" rIns="0" bIns="0" rtlCol="0" anchor="ctr"/>
          <a:lstStyle/>
          <a:p>
            <a:pPr marL="0" indent="0" algn="ctr">
              <a:buNone/>
            </a:pPr>
            <a:r>
              <a:rPr lang="en-US" sz="800" b="1" dirty="0">
                <a:solidFill>
                  <a:srgbClr val="AAB7C2"/>
                </a:solidFill>
                <a:latin typeface="Consolas" pitchFamily="34" charset="0"/>
                <a:ea typeface="Consolas" pitchFamily="34" charset="-122"/>
                <a:cs typeface="Consolas" pitchFamily="34" charset="-120"/>
              </a:rPr>
              <a:t>5D</a:t>
            </a:r>
            <a:endParaRPr lang="en-US" sz="800" dirty="0"/>
          </a:p>
        </p:txBody>
      </p:sp>
      <p:sp>
        <p:nvSpPr>
          <p:cNvPr id="77" name="preset chip">
            <a:extLst>
              <a:ext uri="{C183D7F6-B498-43B3-948B-1728B52AA6E4}">
                <adec:decorative xmlns:adec="http://schemas.microsoft.com/office/drawing/2017/decorative" val="1"/>
              </a:ext>
            </a:extLst>
          </p:cNvPr>
          <p:cNvSpPr/>
          <p:nvPr/>
        </p:nvSpPr>
        <p:spPr>
          <a:xfrm>
            <a:off x="2029968" y="2093976"/>
            <a:ext cx="594360" cy="256032"/>
          </a:xfrm>
          <a:prstGeom prst="rect">
            <a:avLst/>
          </a:prstGeom>
          <a:solidFill>
            <a:srgbClr val="273037"/>
          </a:solidFill>
          <a:ln w="12700">
            <a:solidFill>
              <a:srgbClr val="333333"/>
            </a:solidFill>
            <a:prstDash val="solid"/>
          </a:ln>
        </p:spPr>
        <p:txBody>
          <a:bodyPr/>
          <a:lstStyle/>
          <a:p>
            <a:endParaRPr lang="en-SE"/>
          </a:p>
        </p:txBody>
      </p:sp>
      <p:sp>
        <p:nvSpPr>
          <p:cNvPr id="78" name="Text 76"/>
          <p:cNvSpPr/>
          <p:nvPr/>
        </p:nvSpPr>
        <p:spPr>
          <a:xfrm>
            <a:off x="2029968" y="2093976"/>
            <a:ext cx="594360" cy="256032"/>
          </a:xfrm>
          <a:prstGeom prst="rect">
            <a:avLst/>
          </a:prstGeom>
          <a:noFill/>
          <a:ln/>
        </p:spPr>
        <p:txBody>
          <a:bodyPr wrap="square" lIns="0" tIns="0" rIns="0" bIns="0" rtlCol="0" anchor="ctr"/>
          <a:lstStyle/>
          <a:p>
            <a:pPr marL="0" indent="0" algn="ctr">
              <a:buNone/>
            </a:pPr>
            <a:r>
              <a:rPr lang="en-US" sz="800" b="1" dirty="0">
                <a:solidFill>
                  <a:srgbClr val="AAB7C2"/>
                </a:solidFill>
                <a:latin typeface="Consolas" pitchFamily="34" charset="0"/>
                <a:ea typeface="Consolas" pitchFamily="34" charset="-122"/>
                <a:cs typeface="Consolas" pitchFamily="34" charset="-120"/>
              </a:rPr>
              <a:t>1M</a:t>
            </a:r>
            <a:endParaRPr lang="en-US" sz="800" dirty="0"/>
          </a:p>
        </p:txBody>
      </p:sp>
      <p:sp>
        <p:nvSpPr>
          <p:cNvPr id="79" name="preset chip">
            <a:extLst>
              <a:ext uri="{C183D7F6-B498-43B3-948B-1728B52AA6E4}">
                <adec:decorative xmlns:adec="http://schemas.microsoft.com/office/drawing/2017/decorative" val="1"/>
              </a:ext>
            </a:extLst>
          </p:cNvPr>
          <p:cNvSpPr/>
          <p:nvPr/>
        </p:nvSpPr>
        <p:spPr>
          <a:xfrm>
            <a:off x="2688336" y="2093976"/>
            <a:ext cx="594360" cy="256032"/>
          </a:xfrm>
          <a:prstGeom prst="rect">
            <a:avLst/>
          </a:prstGeom>
          <a:solidFill>
            <a:srgbClr val="273037"/>
          </a:solidFill>
          <a:ln w="12700">
            <a:solidFill>
              <a:srgbClr val="333333"/>
            </a:solidFill>
            <a:prstDash val="solid"/>
          </a:ln>
        </p:spPr>
        <p:txBody>
          <a:bodyPr/>
          <a:lstStyle/>
          <a:p>
            <a:endParaRPr lang="en-SE"/>
          </a:p>
        </p:txBody>
      </p:sp>
      <p:sp>
        <p:nvSpPr>
          <p:cNvPr id="80" name="Text 78"/>
          <p:cNvSpPr/>
          <p:nvPr/>
        </p:nvSpPr>
        <p:spPr>
          <a:xfrm>
            <a:off x="2688336" y="2093976"/>
            <a:ext cx="594360" cy="256032"/>
          </a:xfrm>
          <a:prstGeom prst="rect">
            <a:avLst/>
          </a:prstGeom>
          <a:noFill/>
          <a:ln/>
        </p:spPr>
        <p:txBody>
          <a:bodyPr wrap="square" lIns="0" tIns="0" rIns="0" bIns="0" rtlCol="0" anchor="ctr"/>
          <a:lstStyle/>
          <a:p>
            <a:pPr marL="0" indent="0" algn="ctr">
              <a:buNone/>
            </a:pPr>
            <a:r>
              <a:rPr lang="en-US" sz="800" b="1" dirty="0">
                <a:solidFill>
                  <a:srgbClr val="AAB7C2"/>
                </a:solidFill>
                <a:latin typeface="Consolas" pitchFamily="34" charset="0"/>
                <a:ea typeface="Consolas" pitchFamily="34" charset="-122"/>
                <a:cs typeface="Consolas" pitchFamily="34" charset="-120"/>
              </a:rPr>
              <a:t>3M</a:t>
            </a:r>
            <a:endParaRPr lang="en-US" sz="800" dirty="0"/>
          </a:p>
        </p:txBody>
      </p:sp>
      <p:sp>
        <p:nvSpPr>
          <p:cNvPr id="81" name="preset chip">
            <a:extLst>
              <a:ext uri="{C183D7F6-B498-43B3-948B-1728B52AA6E4}">
                <adec:decorative xmlns:adec="http://schemas.microsoft.com/office/drawing/2017/decorative" val="1"/>
              </a:ext>
            </a:extLst>
          </p:cNvPr>
          <p:cNvSpPr/>
          <p:nvPr/>
        </p:nvSpPr>
        <p:spPr>
          <a:xfrm>
            <a:off x="3346704" y="2093976"/>
            <a:ext cx="594360" cy="256032"/>
          </a:xfrm>
          <a:prstGeom prst="rect">
            <a:avLst/>
          </a:prstGeom>
          <a:solidFill>
            <a:srgbClr val="273037"/>
          </a:solidFill>
          <a:ln w="12700">
            <a:solidFill>
              <a:srgbClr val="333333"/>
            </a:solidFill>
            <a:prstDash val="solid"/>
          </a:ln>
        </p:spPr>
        <p:txBody>
          <a:bodyPr/>
          <a:lstStyle/>
          <a:p>
            <a:endParaRPr lang="en-SE"/>
          </a:p>
        </p:txBody>
      </p:sp>
      <p:sp>
        <p:nvSpPr>
          <p:cNvPr id="82" name="Text 80"/>
          <p:cNvSpPr/>
          <p:nvPr/>
        </p:nvSpPr>
        <p:spPr>
          <a:xfrm>
            <a:off x="3346704" y="2093976"/>
            <a:ext cx="594360" cy="256032"/>
          </a:xfrm>
          <a:prstGeom prst="rect">
            <a:avLst/>
          </a:prstGeom>
          <a:noFill/>
          <a:ln/>
        </p:spPr>
        <p:txBody>
          <a:bodyPr wrap="square" lIns="0" tIns="0" rIns="0" bIns="0" rtlCol="0" anchor="ctr"/>
          <a:lstStyle/>
          <a:p>
            <a:pPr marL="0" indent="0" algn="ctr">
              <a:buNone/>
            </a:pPr>
            <a:r>
              <a:rPr lang="en-US" sz="800" b="1" dirty="0">
                <a:solidFill>
                  <a:srgbClr val="AAB7C2"/>
                </a:solidFill>
                <a:latin typeface="Consolas" pitchFamily="34" charset="0"/>
                <a:ea typeface="Consolas" pitchFamily="34" charset="-122"/>
                <a:cs typeface="Consolas" pitchFamily="34" charset="-120"/>
              </a:rPr>
              <a:t>YTD</a:t>
            </a:r>
            <a:endParaRPr lang="en-US" sz="800" dirty="0"/>
          </a:p>
        </p:txBody>
      </p:sp>
      <p:sp>
        <p:nvSpPr>
          <p:cNvPr id="83" name="preset chip">
            <a:extLst>
              <a:ext uri="{C183D7F6-B498-43B3-948B-1728B52AA6E4}">
                <adec:decorative xmlns:adec="http://schemas.microsoft.com/office/drawing/2017/decorative" val="1"/>
              </a:ext>
            </a:extLst>
          </p:cNvPr>
          <p:cNvSpPr/>
          <p:nvPr/>
        </p:nvSpPr>
        <p:spPr>
          <a:xfrm>
            <a:off x="4005072" y="2093976"/>
            <a:ext cx="594360" cy="256032"/>
          </a:xfrm>
          <a:prstGeom prst="rect">
            <a:avLst/>
          </a:prstGeom>
          <a:solidFill>
            <a:srgbClr val="273037"/>
          </a:solidFill>
          <a:ln w="12700">
            <a:solidFill>
              <a:srgbClr val="333333"/>
            </a:solidFill>
            <a:prstDash val="solid"/>
          </a:ln>
        </p:spPr>
        <p:txBody>
          <a:bodyPr/>
          <a:lstStyle/>
          <a:p>
            <a:endParaRPr lang="en-SE"/>
          </a:p>
        </p:txBody>
      </p:sp>
      <p:sp>
        <p:nvSpPr>
          <p:cNvPr id="84" name="Text 82"/>
          <p:cNvSpPr/>
          <p:nvPr/>
        </p:nvSpPr>
        <p:spPr>
          <a:xfrm>
            <a:off x="4005072" y="2093976"/>
            <a:ext cx="594360" cy="256032"/>
          </a:xfrm>
          <a:prstGeom prst="rect">
            <a:avLst/>
          </a:prstGeom>
          <a:noFill/>
          <a:ln/>
        </p:spPr>
        <p:txBody>
          <a:bodyPr wrap="square" lIns="0" tIns="0" rIns="0" bIns="0" rtlCol="0" anchor="ctr"/>
          <a:lstStyle/>
          <a:p>
            <a:pPr marL="0" indent="0" algn="ctr">
              <a:buNone/>
            </a:pPr>
            <a:r>
              <a:rPr lang="en-US" sz="800" b="1" dirty="0">
                <a:solidFill>
                  <a:srgbClr val="AAB7C2"/>
                </a:solidFill>
                <a:latin typeface="Consolas" pitchFamily="34" charset="0"/>
                <a:ea typeface="Consolas" pitchFamily="34" charset="-122"/>
                <a:cs typeface="Consolas" pitchFamily="34" charset="-120"/>
              </a:rPr>
              <a:t>All</a:t>
            </a:r>
            <a:endParaRPr lang="en-US" sz="800" dirty="0"/>
          </a:p>
        </p:txBody>
      </p:sp>
      <p:sp>
        <p:nvSpPr>
          <p:cNvPr id="85" name="preset chip">
            <a:extLst>
              <a:ext uri="{C183D7F6-B498-43B3-948B-1728B52AA6E4}">
                <adec:decorative xmlns:adec="http://schemas.microsoft.com/office/drawing/2017/decorative" val="1"/>
              </a:ext>
            </a:extLst>
          </p:cNvPr>
          <p:cNvSpPr/>
          <p:nvPr/>
        </p:nvSpPr>
        <p:spPr>
          <a:xfrm>
            <a:off x="4663440" y="2093976"/>
            <a:ext cx="594360" cy="256032"/>
          </a:xfrm>
          <a:prstGeom prst="rect">
            <a:avLst/>
          </a:prstGeom>
          <a:solidFill>
            <a:srgbClr val="273037"/>
          </a:solidFill>
          <a:ln w="12700">
            <a:solidFill>
              <a:srgbClr val="333333"/>
            </a:solidFill>
            <a:prstDash val="solid"/>
          </a:ln>
        </p:spPr>
        <p:txBody>
          <a:bodyPr/>
          <a:lstStyle/>
          <a:p>
            <a:endParaRPr lang="en-SE"/>
          </a:p>
        </p:txBody>
      </p:sp>
      <p:sp>
        <p:nvSpPr>
          <p:cNvPr id="86" name="Text 84"/>
          <p:cNvSpPr/>
          <p:nvPr/>
        </p:nvSpPr>
        <p:spPr>
          <a:xfrm>
            <a:off x="4663440" y="2093976"/>
            <a:ext cx="594360" cy="256032"/>
          </a:xfrm>
          <a:prstGeom prst="rect">
            <a:avLst/>
          </a:prstGeom>
          <a:noFill/>
          <a:ln/>
        </p:spPr>
        <p:txBody>
          <a:bodyPr wrap="square" lIns="0" tIns="0" rIns="0" bIns="0" rtlCol="0" anchor="ctr"/>
          <a:lstStyle/>
          <a:p>
            <a:pPr marL="0" indent="0" algn="ctr">
              <a:buNone/>
            </a:pPr>
            <a:r>
              <a:rPr lang="en-US" sz="800" b="1" dirty="0">
                <a:solidFill>
                  <a:srgbClr val="AAB7C2"/>
                </a:solidFill>
                <a:latin typeface="Consolas" pitchFamily="34" charset="0"/>
                <a:ea typeface="Consolas" pitchFamily="34" charset="-122"/>
                <a:cs typeface="Consolas" pitchFamily="34" charset="-120"/>
              </a:rPr>
              <a:t>Live</a:t>
            </a:r>
            <a:endParaRPr lang="en-US" sz="800" dirty="0"/>
          </a:p>
        </p:txBody>
      </p:sp>
      <p:sp>
        <p:nvSpPr>
          <p:cNvPr id="87" name="legend swatch">
            <a:extLst>
              <a:ext uri="{C183D7F6-B498-43B3-948B-1728B52AA6E4}">
                <adec:decorative xmlns:adec="http://schemas.microsoft.com/office/drawing/2017/decorative" val="1"/>
              </a:ext>
            </a:extLst>
          </p:cNvPr>
          <p:cNvSpPr/>
          <p:nvPr/>
        </p:nvSpPr>
        <p:spPr>
          <a:xfrm>
            <a:off x="7360920" y="2157984"/>
            <a:ext cx="384048" cy="0"/>
          </a:xfrm>
          <a:prstGeom prst="line">
            <a:avLst/>
          </a:prstGeom>
          <a:noFill/>
          <a:ln w="38100">
            <a:solidFill>
              <a:srgbClr val="3FE08A"/>
            </a:solidFill>
            <a:prstDash val="solid"/>
          </a:ln>
        </p:spPr>
        <p:txBody>
          <a:bodyPr/>
          <a:lstStyle/>
          <a:p>
            <a:endParaRPr lang="en-SE"/>
          </a:p>
        </p:txBody>
      </p:sp>
      <p:sp>
        <p:nvSpPr>
          <p:cNvPr id="88" name="Text 86"/>
          <p:cNvSpPr/>
          <p:nvPr/>
        </p:nvSpPr>
        <p:spPr>
          <a:xfrm>
            <a:off x="7863840" y="2011680"/>
            <a:ext cx="3383280" cy="292608"/>
          </a:xfrm>
          <a:prstGeom prst="rect">
            <a:avLst/>
          </a:prstGeom>
          <a:noFill/>
          <a:ln/>
        </p:spPr>
        <p:txBody>
          <a:bodyPr wrap="square" lIns="0" tIns="0" rIns="0" bIns="0" rtlCol="0" anchor="ctr"/>
          <a:lstStyle/>
          <a:p>
            <a:pPr marL="0" indent="0">
              <a:buNone/>
            </a:pPr>
            <a:r>
              <a:rPr lang="en-US" sz="1300" b="1" dirty="0">
                <a:solidFill>
                  <a:srgbClr val="E6EDF3"/>
                </a:solidFill>
                <a:latin typeface="Segoe UI" pitchFamily="34" charset="0"/>
                <a:ea typeface="Segoe UI" pitchFamily="34" charset="-122"/>
                <a:cs typeface="Segoe UI" pitchFamily="34" charset="-120"/>
              </a:rPr>
              <a:t>OHLC candlesticks</a:t>
            </a:r>
            <a:endParaRPr lang="en-US" sz="1300" dirty="0"/>
          </a:p>
        </p:txBody>
      </p:sp>
      <p:sp>
        <p:nvSpPr>
          <p:cNvPr id="89" name="Text 87"/>
          <p:cNvSpPr/>
          <p:nvPr/>
        </p:nvSpPr>
        <p:spPr>
          <a:xfrm>
            <a:off x="7863840" y="2313432"/>
            <a:ext cx="3383280" cy="685800"/>
          </a:xfrm>
          <a:prstGeom prst="rect">
            <a:avLst/>
          </a:prstGeom>
          <a:noFill/>
          <a:ln/>
        </p:spPr>
        <p:txBody>
          <a:bodyPr wrap="square" lIns="0" tIns="0" rIns="0" bIns="0" rtlCol="0" anchor="ctr"/>
          <a:lstStyle/>
          <a:p>
            <a:pPr marL="0" indent="0">
              <a:lnSpc>
                <a:spcPct val="110000"/>
              </a:lnSpc>
              <a:buNone/>
            </a:pPr>
            <a:r>
              <a:rPr lang="en-US" sz="1050" dirty="0">
                <a:solidFill>
                  <a:srgbClr val="AAB7C2"/>
                </a:solidFill>
                <a:latin typeface="Segoe UI" pitchFamily="34" charset="0"/>
                <a:ea typeface="Segoe UI" pitchFamily="34" charset="-122"/>
                <a:cs typeface="Segoe UI" pitchFamily="34" charset="-120"/>
              </a:rPr>
              <a:t>Built from historical bars, with today's forming bar updated in place from live trade prints.</a:t>
            </a:r>
            <a:endParaRPr lang="en-US" sz="1050" dirty="0"/>
          </a:p>
        </p:txBody>
      </p:sp>
      <p:sp>
        <p:nvSpPr>
          <p:cNvPr id="90" name="legend swatch">
            <a:extLst>
              <a:ext uri="{C183D7F6-B498-43B3-948B-1728B52AA6E4}">
                <adec:decorative xmlns:adec="http://schemas.microsoft.com/office/drawing/2017/decorative" val="1"/>
              </a:ext>
            </a:extLst>
          </p:cNvPr>
          <p:cNvSpPr/>
          <p:nvPr/>
        </p:nvSpPr>
        <p:spPr>
          <a:xfrm>
            <a:off x="7360920" y="3182112"/>
            <a:ext cx="384048" cy="0"/>
          </a:xfrm>
          <a:prstGeom prst="line">
            <a:avLst/>
          </a:prstGeom>
          <a:noFill/>
          <a:ln w="38100">
            <a:solidFill>
              <a:srgbClr val="7C8B97"/>
            </a:solidFill>
            <a:prstDash val="solid"/>
          </a:ln>
        </p:spPr>
        <p:txBody>
          <a:bodyPr/>
          <a:lstStyle/>
          <a:p>
            <a:endParaRPr lang="en-SE"/>
          </a:p>
        </p:txBody>
      </p:sp>
      <p:sp>
        <p:nvSpPr>
          <p:cNvPr id="91" name="Text 89"/>
          <p:cNvSpPr/>
          <p:nvPr/>
        </p:nvSpPr>
        <p:spPr>
          <a:xfrm>
            <a:off x="7863840" y="3035808"/>
            <a:ext cx="3383280" cy="292608"/>
          </a:xfrm>
          <a:prstGeom prst="rect">
            <a:avLst/>
          </a:prstGeom>
          <a:noFill/>
          <a:ln/>
        </p:spPr>
        <p:txBody>
          <a:bodyPr wrap="square" lIns="0" tIns="0" rIns="0" bIns="0" rtlCol="0" anchor="ctr"/>
          <a:lstStyle/>
          <a:p>
            <a:pPr marL="0" indent="0">
              <a:buNone/>
            </a:pPr>
            <a:r>
              <a:rPr lang="en-US" sz="1300" b="1" dirty="0">
                <a:solidFill>
                  <a:srgbClr val="E6EDF3"/>
                </a:solidFill>
                <a:latin typeface="Segoe UI" pitchFamily="34" charset="0"/>
                <a:ea typeface="Segoe UI" pitchFamily="34" charset="-122"/>
                <a:cs typeface="Segoe UI" pitchFamily="34" charset="-120"/>
              </a:rPr>
              <a:t>Midpoint line</a:t>
            </a:r>
            <a:endParaRPr lang="en-US" sz="1300" dirty="0"/>
          </a:p>
        </p:txBody>
      </p:sp>
      <p:sp>
        <p:nvSpPr>
          <p:cNvPr id="92" name="Text 90"/>
          <p:cNvSpPr/>
          <p:nvPr/>
        </p:nvSpPr>
        <p:spPr>
          <a:xfrm>
            <a:off x="7863840" y="3337560"/>
            <a:ext cx="3383280" cy="685800"/>
          </a:xfrm>
          <a:prstGeom prst="rect">
            <a:avLst/>
          </a:prstGeom>
          <a:noFill/>
          <a:ln/>
        </p:spPr>
        <p:txBody>
          <a:bodyPr wrap="square" lIns="0" tIns="0" rIns="0" bIns="0" rtlCol="0" anchor="ctr"/>
          <a:lstStyle/>
          <a:p>
            <a:pPr marL="0" indent="0">
              <a:lnSpc>
                <a:spcPct val="110000"/>
              </a:lnSpc>
              <a:buNone/>
            </a:pPr>
            <a:r>
              <a:rPr lang="en-US" sz="1050" dirty="0">
                <a:solidFill>
                  <a:srgbClr val="AAB7C2"/>
                </a:solidFill>
                <a:latin typeface="Segoe UI" pitchFamily="34" charset="0"/>
                <a:ea typeface="Segoe UI" pitchFamily="34" charset="-122"/>
                <a:cs typeface="Segoe UI" pitchFamily="34" charset="-120"/>
              </a:rPr>
              <a:t>A spliced series: a coarse 15-minute historical segment (drawn muted) giving way to a tick-by-tick live segment.</a:t>
            </a:r>
            <a:endParaRPr lang="en-US" sz="1050" dirty="0"/>
          </a:p>
        </p:txBody>
      </p:sp>
      <p:sp>
        <p:nvSpPr>
          <p:cNvPr id="93" name="legend swatch">
            <a:extLst>
              <a:ext uri="{C183D7F6-B498-43B3-948B-1728B52AA6E4}">
                <adec:decorative xmlns:adec="http://schemas.microsoft.com/office/drawing/2017/decorative" val="1"/>
              </a:ext>
            </a:extLst>
          </p:cNvPr>
          <p:cNvSpPr/>
          <p:nvPr/>
        </p:nvSpPr>
        <p:spPr>
          <a:xfrm>
            <a:off x="7360920" y="4206240"/>
            <a:ext cx="384048" cy="0"/>
          </a:xfrm>
          <a:prstGeom prst="line">
            <a:avLst/>
          </a:prstGeom>
          <a:noFill/>
          <a:ln w="38100">
            <a:solidFill>
              <a:srgbClr val="F5A524"/>
            </a:solidFill>
            <a:prstDash val="solid"/>
          </a:ln>
        </p:spPr>
        <p:txBody>
          <a:bodyPr/>
          <a:lstStyle/>
          <a:p>
            <a:endParaRPr lang="en-SE"/>
          </a:p>
        </p:txBody>
      </p:sp>
      <p:sp>
        <p:nvSpPr>
          <p:cNvPr id="94" name="Text 92"/>
          <p:cNvSpPr/>
          <p:nvPr/>
        </p:nvSpPr>
        <p:spPr>
          <a:xfrm>
            <a:off x="7863840" y="4059936"/>
            <a:ext cx="3383280" cy="292608"/>
          </a:xfrm>
          <a:prstGeom prst="rect">
            <a:avLst/>
          </a:prstGeom>
          <a:noFill/>
          <a:ln/>
        </p:spPr>
        <p:txBody>
          <a:bodyPr wrap="square" lIns="0" tIns="0" rIns="0" bIns="0" rtlCol="0" anchor="ctr"/>
          <a:lstStyle/>
          <a:p>
            <a:pPr marL="0" indent="0">
              <a:buNone/>
            </a:pPr>
            <a:r>
              <a:rPr lang="en-US" sz="1300" b="1" dirty="0">
                <a:solidFill>
                  <a:srgbClr val="E6EDF3"/>
                </a:solidFill>
                <a:latin typeface="Segoe UI" pitchFamily="34" charset="0"/>
                <a:ea typeface="Segoe UI" pitchFamily="34" charset="-122"/>
                <a:cs typeface="Segoe UI" pitchFamily="34" charset="-120"/>
              </a:rPr>
              <a:t>Previous close</a:t>
            </a:r>
            <a:endParaRPr lang="en-US" sz="1300" dirty="0"/>
          </a:p>
        </p:txBody>
      </p:sp>
      <p:sp>
        <p:nvSpPr>
          <p:cNvPr id="95" name="Text 93"/>
          <p:cNvSpPr/>
          <p:nvPr/>
        </p:nvSpPr>
        <p:spPr>
          <a:xfrm>
            <a:off x="7863840" y="4361688"/>
            <a:ext cx="3383280" cy="685800"/>
          </a:xfrm>
          <a:prstGeom prst="rect">
            <a:avLst/>
          </a:prstGeom>
          <a:noFill/>
          <a:ln/>
        </p:spPr>
        <p:txBody>
          <a:bodyPr wrap="square" lIns="0" tIns="0" rIns="0" bIns="0" rtlCol="0" anchor="ctr"/>
          <a:lstStyle/>
          <a:p>
            <a:pPr marL="0" indent="0">
              <a:lnSpc>
                <a:spcPct val="110000"/>
              </a:lnSpc>
              <a:buNone/>
            </a:pPr>
            <a:r>
              <a:rPr lang="en-US" sz="1050" dirty="0">
                <a:solidFill>
                  <a:srgbClr val="AAB7C2"/>
                </a:solidFill>
                <a:latin typeface="Segoe UI" pitchFamily="34" charset="0"/>
                <a:ea typeface="Segoe UI" pitchFamily="34" charset="-122"/>
                <a:cs typeface="Segoe UI" pitchFamily="34" charset="-120"/>
              </a:rPr>
              <a:t>Always drawn as a reference line — it is what change and % change are measured against.</a:t>
            </a:r>
            <a:endParaRPr lang="en-US" sz="1050" dirty="0"/>
          </a:p>
        </p:txBody>
      </p:sp>
      <p:sp>
        <p:nvSpPr>
          <p:cNvPr id="96" name="legend swatch">
            <a:extLst>
              <a:ext uri="{C183D7F6-B498-43B3-948B-1728B52AA6E4}">
                <adec:decorative xmlns:adec="http://schemas.microsoft.com/office/drawing/2017/decorative" val="1"/>
              </a:ext>
            </a:extLst>
          </p:cNvPr>
          <p:cNvSpPr/>
          <p:nvPr/>
        </p:nvSpPr>
        <p:spPr>
          <a:xfrm>
            <a:off x="7360920" y="5230368"/>
            <a:ext cx="384048" cy="0"/>
          </a:xfrm>
          <a:prstGeom prst="line">
            <a:avLst/>
          </a:prstGeom>
          <a:noFill/>
          <a:ln w="38100">
            <a:solidFill>
              <a:srgbClr val="8B7BD8"/>
            </a:solidFill>
            <a:prstDash val="solid"/>
          </a:ln>
        </p:spPr>
        <p:txBody>
          <a:bodyPr/>
          <a:lstStyle/>
          <a:p>
            <a:endParaRPr lang="en-SE"/>
          </a:p>
        </p:txBody>
      </p:sp>
      <p:sp>
        <p:nvSpPr>
          <p:cNvPr id="97" name="Text 95"/>
          <p:cNvSpPr/>
          <p:nvPr/>
        </p:nvSpPr>
        <p:spPr>
          <a:xfrm>
            <a:off x="7863840" y="5084064"/>
            <a:ext cx="3383280" cy="292608"/>
          </a:xfrm>
          <a:prstGeom prst="rect">
            <a:avLst/>
          </a:prstGeom>
          <a:noFill/>
          <a:ln/>
        </p:spPr>
        <p:txBody>
          <a:bodyPr wrap="square" lIns="0" tIns="0" rIns="0" bIns="0" rtlCol="0" anchor="ctr"/>
          <a:lstStyle/>
          <a:p>
            <a:pPr marL="0" indent="0">
              <a:buNone/>
            </a:pPr>
            <a:r>
              <a:rPr lang="en-US" sz="1300" b="1" dirty="0">
                <a:solidFill>
                  <a:srgbClr val="E6EDF3"/>
                </a:solidFill>
                <a:latin typeface="Segoe UI" pitchFamily="34" charset="0"/>
                <a:ea typeface="Segoe UI" pitchFamily="34" charset="-122"/>
                <a:cs typeface="Segoe UI" pitchFamily="34" charset="-120"/>
              </a:rPr>
              <a:t>VWAP</a:t>
            </a:r>
            <a:endParaRPr lang="en-US" sz="1300" dirty="0"/>
          </a:p>
        </p:txBody>
      </p:sp>
      <p:sp>
        <p:nvSpPr>
          <p:cNvPr id="98" name="Text 96"/>
          <p:cNvSpPr/>
          <p:nvPr/>
        </p:nvSpPr>
        <p:spPr>
          <a:xfrm>
            <a:off x="7863840" y="5385816"/>
            <a:ext cx="3383280" cy="685800"/>
          </a:xfrm>
          <a:prstGeom prst="rect">
            <a:avLst/>
          </a:prstGeom>
          <a:noFill/>
          <a:ln/>
        </p:spPr>
        <p:txBody>
          <a:bodyPr wrap="square" lIns="0" tIns="0" rIns="0" bIns="0" rtlCol="0" anchor="ctr"/>
          <a:lstStyle/>
          <a:p>
            <a:pPr marL="0" indent="0">
              <a:lnSpc>
                <a:spcPct val="110000"/>
              </a:lnSpc>
              <a:buNone/>
            </a:pPr>
            <a:r>
              <a:rPr lang="en-US" sz="1050" dirty="0">
                <a:solidFill>
                  <a:srgbClr val="AAB7C2"/>
                </a:solidFill>
                <a:latin typeface="Segoe UI" pitchFamily="34" charset="0"/>
                <a:ea typeface="Segoe UI" pitchFamily="34" charset="-122"/>
                <a:cs typeface="Segoe UI" pitchFamily="34" charset="-120"/>
              </a:rPr>
              <a:t>Appears on the 1D and Live presets only. It is a same-session benchmark, so drawing it across a multi-day view would be meaningless.</a:t>
            </a:r>
            <a:endParaRPr lang="en-US" sz="1050" dirty="0"/>
          </a:p>
        </p:txBody>
      </p:sp>
      <p:sp>
        <p:nvSpPr>
          <p:cNvPr id="99" name="Text 97"/>
          <p:cNvSpPr/>
          <p:nvPr/>
        </p:nvSpPr>
        <p:spPr>
          <a:xfrm>
            <a:off x="566928" y="5760720"/>
            <a:ext cx="6583680" cy="320040"/>
          </a:xfrm>
          <a:prstGeom prst="rect">
            <a:avLst/>
          </a:prstGeom>
          <a:noFill/>
          <a:ln/>
        </p:spPr>
        <p:txBody>
          <a:bodyPr wrap="square" lIns="0" tIns="0" rIns="0" bIns="0" rtlCol="0" anchor="ctr"/>
          <a:lstStyle/>
          <a:p>
            <a:pPr marL="0" indent="0">
              <a:buNone/>
            </a:pPr>
            <a:r>
              <a:rPr lang="en-US" sz="1100" i="1" dirty="0">
                <a:solidFill>
                  <a:srgbClr val="7C8B97"/>
                </a:solidFill>
                <a:latin typeface="Segoe UI" pitchFamily="34" charset="0"/>
                <a:ea typeface="Segoe UI" pitchFamily="34" charset="-122"/>
                <a:cs typeface="Segoe UI" pitchFamily="34" charset="-120"/>
              </a:rPr>
              <a:t>Both series toggle independently, and you can drag-zoom to any free-form window.</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Halts explained: the corridor bar</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03 · SCREENS</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21</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When a symbol is halted, the terminal shows you why it is still halted — not just that it is.</a:t>
            </a:r>
            <a:endParaRPr lang="en-US" sz="1400" dirty="0"/>
          </a:p>
        </p:txBody>
      </p:sp>
      <p:sp>
        <p:nvSpPr>
          <p:cNvPr id="38" name="panel">
            <a:extLst>
              <a:ext uri="{C183D7F6-B498-43B3-948B-1728B52AA6E4}">
                <adec:decorative xmlns:adec="http://schemas.microsoft.com/office/drawing/2017/decorative" val="1"/>
              </a:ext>
            </a:extLst>
          </p:cNvPr>
          <p:cNvSpPr/>
          <p:nvPr/>
        </p:nvSpPr>
        <p:spPr>
          <a:xfrm>
            <a:off x="566928" y="1965960"/>
            <a:ext cx="5852160" cy="402336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39" name="panel accent">
            <a:extLst>
              <a:ext uri="{C183D7F6-B498-43B3-948B-1728B52AA6E4}">
                <adec:decorative xmlns:adec="http://schemas.microsoft.com/office/drawing/2017/decorative" val="1"/>
              </a:ext>
            </a:extLst>
          </p:cNvPr>
          <p:cNvSpPr/>
          <p:nvPr/>
        </p:nvSpPr>
        <p:spPr>
          <a:xfrm>
            <a:off x="566928" y="1965960"/>
            <a:ext cx="50292" cy="4023360"/>
          </a:xfrm>
          <a:prstGeom prst="rect">
            <a:avLst/>
          </a:prstGeom>
          <a:solidFill>
            <a:srgbClr val="EF5B63"/>
          </a:solidFill>
          <a:ln w="12700">
            <a:solidFill>
              <a:srgbClr val="333333"/>
            </a:solidFill>
            <a:prstDash val="solid"/>
          </a:ln>
        </p:spPr>
        <p:txBody>
          <a:bodyPr/>
          <a:lstStyle/>
          <a:p>
            <a:endParaRPr lang="en-SE"/>
          </a:p>
        </p:txBody>
      </p:sp>
      <p:sp>
        <p:nvSpPr>
          <p:cNvPr id="40" name="Text 38"/>
          <p:cNvSpPr/>
          <p:nvPr/>
        </p:nvSpPr>
        <p:spPr>
          <a:xfrm>
            <a:off x="868680" y="2176272"/>
            <a:ext cx="5029200" cy="365760"/>
          </a:xfrm>
          <a:prstGeom prst="rect">
            <a:avLst/>
          </a:prstGeom>
          <a:noFill/>
          <a:ln/>
        </p:spPr>
        <p:txBody>
          <a:bodyPr wrap="square" lIns="0" tIns="0" rIns="0" bIns="0" rtlCol="0" anchor="ctr"/>
          <a:lstStyle/>
          <a:p>
            <a:pPr marL="0" indent="0">
              <a:buNone/>
            </a:pPr>
            <a:r>
              <a:rPr lang="en-US" sz="1700" b="1" dirty="0">
                <a:solidFill>
                  <a:srgbClr val="E6EDF3"/>
                </a:solidFill>
                <a:latin typeface="Segoe UI" pitchFamily="34" charset="0"/>
                <a:ea typeface="Segoe UI" pitchFamily="34" charset="-122"/>
                <a:cs typeface="Segoe UI" pitchFamily="34" charset="-120"/>
              </a:rPr>
              <a:t>Circuit-breaker detail</a:t>
            </a:r>
            <a:endParaRPr lang="en-US" sz="1700" dirty="0"/>
          </a:p>
        </p:txBody>
      </p:sp>
      <p:sp>
        <p:nvSpPr>
          <p:cNvPr id="41" name="Text 39"/>
          <p:cNvSpPr/>
          <p:nvPr/>
        </p:nvSpPr>
        <p:spPr>
          <a:xfrm>
            <a:off x="868680" y="2606040"/>
            <a:ext cx="5303520" cy="685800"/>
          </a:xfrm>
          <a:prstGeom prst="rect">
            <a:avLst/>
          </a:prstGeom>
          <a:noFill/>
          <a:ln/>
        </p:spPr>
        <p:txBody>
          <a:bodyPr wrap="square" lIns="0" tIns="0" rIns="0" bIns="0" rtlCol="0" anchor="ctr"/>
          <a:lstStyle/>
          <a:p>
            <a:pPr marL="0" indent="0">
              <a:lnSpc>
                <a:spcPct val="115000"/>
              </a:lnSpc>
              <a:buNone/>
            </a:pPr>
            <a:r>
              <a:rPr lang="en-US" sz="1200" dirty="0">
                <a:solidFill>
                  <a:srgbClr val="AAB7C2"/>
                </a:solidFill>
                <a:latin typeface="Segoe UI" pitchFamily="34" charset="0"/>
                <a:ea typeface="Segoe UI" pitchFamily="34" charset="-122"/>
                <a:cs typeface="Segoe UI" pitchFamily="34" charset="-120"/>
              </a:rPr>
              <a:t>A halted symbol expands to show its trigger level, the trigger and reference price, and a corridor bar: the price band the symbol is allowed to reopen inside.</a:t>
            </a:r>
            <a:endParaRPr lang="en-US" sz="1200" dirty="0"/>
          </a:p>
        </p:txBody>
      </p:sp>
      <p:sp>
        <p:nvSpPr>
          <p:cNvPr id="42" name="corridor bar track">
            <a:extLst>
              <a:ext uri="{C183D7F6-B498-43B3-948B-1728B52AA6E4}">
                <adec:decorative xmlns:adec="http://schemas.microsoft.com/office/drawing/2017/decorative" val="1"/>
              </a:ext>
            </a:extLst>
          </p:cNvPr>
          <p:cNvSpPr/>
          <p:nvPr/>
        </p:nvSpPr>
        <p:spPr>
          <a:xfrm>
            <a:off x="868680" y="3520440"/>
            <a:ext cx="5303520" cy="457200"/>
          </a:xfrm>
          <a:prstGeom prst="rect">
            <a:avLst/>
          </a:prstGeom>
          <a:solidFill>
            <a:srgbClr val="191E23"/>
          </a:solidFill>
          <a:ln w="12700">
            <a:solidFill>
              <a:srgbClr val="313B44"/>
            </a:solidFill>
            <a:prstDash val="solid"/>
          </a:ln>
        </p:spPr>
        <p:txBody>
          <a:bodyPr/>
          <a:lstStyle/>
          <a:p>
            <a:endParaRPr lang="en-SE"/>
          </a:p>
        </p:txBody>
      </p:sp>
      <p:sp>
        <p:nvSpPr>
          <p:cNvPr id="43" name="permitted reopen band">
            <a:extLst>
              <a:ext uri="{C183D7F6-B498-43B3-948B-1728B52AA6E4}">
                <adec:decorative xmlns:adec="http://schemas.microsoft.com/office/drawing/2017/decorative" val="1"/>
              </a:ext>
            </a:extLst>
          </p:cNvPr>
          <p:cNvSpPr/>
          <p:nvPr/>
        </p:nvSpPr>
        <p:spPr>
          <a:xfrm>
            <a:off x="2194560" y="3520440"/>
            <a:ext cx="2651760" cy="457200"/>
          </a:xfrm>
          <a:prstGeom prst="rect">
            <a:avLst/>
          </a:prstGeom>
          <a:solidFill>
            <a:srgbClr val="122C22"/>
          </a:solidFill>
          <a:ln w="15875">
            <a:solidFill>
              <a:srgbClr val="3FE08A"/>
            </a:solidFill>
            <a:prstDash val="solid"/>
          </a:ln>
        </p:spPr>
        <p:txBody>
          <a:bodyPr/>
          <a:lstStyle/>
          <a:p>
            <a:endParaRPr lang="en-SE"/>
          </a:p>
        </p:txBody>
      </p:sp>
      <p:sp>
        <p:nvSpPr>
          <p:cNvPr id="44" name="Text 42"/>
          <p:cNvSpPr/>
          <p:nvPr/>
        </p:nvSpPr>
        <p:spPr>
          <a:xfrm>
            <a:off x="2194560" y="3520440"/>
            <a:ext cx="2651760" cy="457200"/>
          </a:xfrm>
          <a:prstGeom prst="rect">
            <a:avLst/>
          </a:prstGeom>
          <a:noFill/>
          <a:ln/>
        </p:spPr>
        <p:txBody>
          <a:bodyPr wrap="square" lIns="0" tIns="0" rIns="0" bIns="0" rtlCol="0" anchor="ctr"/>
          <a:lstStyle/>
          <a:p>
            <a:pPr marL="0" indent="0" algn="ctr">
              <a:buNone/>
            </a:pPr>
            <a:r>
              <a:rPr lang="en-US" sz="1000" dirty="0">
                <a:solidFill>
                  <a:srgbClr val="3FE08A"/>
                </a:solidFill>
                <a:latin typeface="Consolas" pitchFamily="34" charset="0"/>
                <a:ea typeface="Consolas" pitchFamily="34" charset="-122"/>
                <a:cs typeface="Consolas" pitchFamily="34" charset="-120"/>
              </a:rPr>
              <a:t>PERMITTED REOPEN BAND</a:t>
            </a:r>
            <a:endParaRPr lang="en-US" sz="1000" dirty="0"/>
          </a:p>
        </p:txBody>
      </p:sp>
      <p:sp>
        <p:nvSpPr>
          <p:cNvPr id="45" name="indicative price marker">
            <a:extLst>
              <a:ext uri="{C183D7F6-B498-43B3-948B-1728B52AA6E4}">
                <adec:decorative xmlns:adec="http://schemas.microsoft.com/office/drawing/2017/decorative" val="1"/>
              </a:ext>
            </a:extLst>
          </p:cNvPr>
          <p:cNvSpPr/>
          <p:nvPr/>
        </p:nvSpPr>
        <p:spPr>
          <a:xfrm>
            <a:off x="5486400" y="3374136"/>
            <a:ext cx="50292" cy="749808"/>
          </a:xfrm>
          <a:prstGeom prst="rect">
            <a:avLst/>
          </a:prstGeom>
          <a:solidFill>
            <a:srgbClr val="EF5B63"/>
          </a:solidFill>
          <a:ln w="12700">
            <a:solidFill>
              <a:srgbClr val="333333"/>
            </a:solidFill>
            <a:prstDash val="solid"/>
          </a:ln>
        </p:spPr>
        <p:txBody>
          <a:bodyPr/>
          <a:lstStyle/>
          <a:p>
            <a:endParaRPr lang="en-SE"/>
          </a:p>
        </p:txBody>
      </p:sp>
      <p:sp>
        <p:nvSpPr>
          <p:cNvPr id="46" name="Text 44"/>
          <p:cNvSpPr/>
          <p:nvPr/>
        </p:nvSpPr>
        <p:spPr>
          <a:xfrm>
            <a:off x="4160520" y="4087368"/>
            <a:ext cx="2011680" cy="274320"/>
          </a:xfrm>
          <a:prstGeom prst="rect">
            <a:avLst/>
          </a:prstGeom>
          <a:noFill/>
          <a:ln/>
        </p:spPr>
        <p:txBody>
          <a:bodyPr wrap="square" lIns="0" tIns="0" rIns="0" bIns="0" rtlCol="0" anchor="ctr"/>
          <a:lstStyle/>
          <a:p>
            <a:pPr marL="0" indent="0" algn="ctr">
              <a:buNone/>
            </a:pPr>
            <a:r>
              <a:rPr lang="en-US" sz="850" dirty="0">
                <a:solidFill>
                  <a:srgbClr val="EF5B63"/>
                </a:solidFill>
                <a:latin typeface="Consolas" pitchFamily="34" charset="0"/>
                <a:ea typeface="Consolas" pitchFamily="34" charset="-122"/>
                <a:cs typeface="Consolas" pitchFamily="34" charset="-120"/>
              </a:rPr>
              <a:t>last indicative price</a:t>
            </a:r>
            <a:endParaRPr lang="en-US" sz="850" dirty="0"/>
          </a:p>
        </p:txBody>
      </p:sp>
      <p:sp>
        <p:nvSpPr>
          <p:cNvPr id="47" name="Text 45"/>
          <p:cNvSpPr/>
          <p:nvPr/>
        </p:nvSpPr>
        <p:spPr>
          <a:xfrm>
            <a:off x="1783080" y="4087368"/>
            <a:ext cx="1463040" cy="274320"/>
          </a:xfrm>
          <a:prstGeom prst="rect">
            <a:avLst/>
          </a:prstGeom>
          <a:noFill/>
          <a:ln/>
        </p:spPr>
        <p:txBody>
          <a:bodyPr wrap="square" lIns="0" tIns="0" rIns="0" bIns="0" rtlCol="0" anchor="ctr"/>
          <a:lstStyle/>
          <a:p>
            <a:pPr marL="0" indent="0" algn="ctr">
              <a:buNone/>
            </a:pPr>
            <a:r>
              <a:rPr lang="en-US" sz="850" dirty="0">
                <a:solidFill>
                  <a:srgbClr val="7C8B97"/>
                </a:solidFill>
                <a:latin typeface="Consolas" pitchFamily="34" charset="0"/>
                <a:ea typeface="Consolas" pitchFamily="34" charset="-122"/>
                <a:cs typeface="Consolas" pitchFamily="34" charset="-120"/>
              </a:rPr>
              <a:t>reference</a:t>
            </a:r>
            <a:endParaRPr lang="en-US" sz="850" dirty="0"/>
          </a:p>
        </p:txBody>
      </p:sp>
      <p:sp>
        <p:nvSpPr>
          <p:cNvPr id="48" name="callout background">
            <a:extLst>
              <a:ext uri="{C183D7F6-B498-43B3-948B-1728B52AA6E4}">
                <adec:decorative xmlns:adec="http://schemas.microsoft.com/office/drawing/2017/decorative" val="1"/>
              </a:ext>
            </a:extLst>
          </p:cNvPr>
          <p:cNvSpPr/>
          <p:nvPr/>
        </p:nvSpPr>
        <p:spPr>
          <a:xfrm>
            <a:off x="868680" y="4526280"/>
            <a:ext cx="5303520" cy="1234440"/>
          </a:xfrm>
          <a:prstGeom prst="rect">
            <a:avLst/>
          </a:prstGeom>
          <a:solidFill>
            <a:srgbClr val="24191B"/>
          </a:solidFill>
          <a:ln w="12700">
            <a:solidFill>
              <a:srgbClr val="EF5B63"/>
            </a:solidFill>
            <a:prstDash val="solid"/>
          </a:ln>
        </p:spPr>
        <p:txBody>
          <a:bodyPr/>
          <a:lstStyle/>
          <a:p>
            <a:endParaRPr lang="en-SE"/>
          </a:p>
        </p:txBody>
      </p:sp>
      <p:sp>
        <p:nvSpPr>
          <p:cNvPr id="49" name="Text 47"/>
          <p:cNvSpPr/>
          <p:nvPr/>
        </p:nvSpPr>
        <p:spPr>
          <a:xfrm>
            <a:off x="1051560" y="4526280"/>
            <a:ext cx="4937760" cy="1234440"/>
          </a:xfrm>
          <a:prstGeom prst="rect">
            <a:avLst/>
          </a:prstGeom>
          <a:noFill/>
          <a:ln/>
        </p:spPr>
        <p:txBody>
          <a:bodyPr wrap="square" lIns="0" tIns="0" rIns="0" bIns="0" rtlCol="0" anchor="ctr"/>
          <a:lstStyle/>
          <a:p>
            <a:pPr marL="0" indent="0">
              <a:lnSpc>
                <a:spcPct val="115000"/>
              </a:lnSpc>
              <a:buNone/>
            </a:pPr>
            <a:r>
              <a:rPr lang="en-US" sz="1200" b="1" dirty="0">
                <a:solidFill>
                  <a:srgbClr val="EF5B63"/>
                </a:solidFill>
                <a:latin typeface="Segoe UI" pitchFamily="34" charset="0"/>
                <a:ea typeface="Segoe UI" pitchFamily="34" charset="-122"/>
                <a:cs typeface="Segoe UI" pitchFamily="34" charset="-120"/>
              </a:rPr>
              <a:t>How to read it:  </a:t>
            </a:r>
            <a:r>
              <a:rPr lang="en-US" sz="1200" dirty="0">
                <a:solidFill>
                  <a:srgbClr val="E6EDF3"/>
                </a:solidFill>
                <a:latin typeface="Segoe UI" pitchFamily="34" charset="0"/>
                <a:ea typeface="Segoe UI" pitchFamily="34" charset="-122"/>
                <a:cs typeface="Segoe UI" pitchFamily="34" charset="-120"/>
              </a:rPr>
              <a:t>if the marker sits outside the band, the symbol cannot reopen at that price — so the call phase was extended rather than printing. That is the visual answer to "why is this still halted?"</a:t>
            </a:r>
            <a:endParaRPr lang="en-US" sz="1200" dirty="0"/>
          </a:p>
        </p:txBody>
      </p:sp>
      <p:sp>
        <p:nvSpPr>
          <p:cNvPr id="50" name="panel">
            <a:extLst>
              <a:ext uri="{C183D7F6-B498-43B3-948B-1728B52AA6E4}">
                <adec:decorative xmlns:adec="http://schemas.microsoft.com/office/drawing/2017/decorative" val="1"/>
              </a:ext>
            </a:extLst>
          </p:cNvPr>
          <p:cNvSpPr/>
          <p:nvPr/>
        </p:nvSpPr>
        <p:spPr>
          <a:xfrm>
            <a:off x="6720840" y="1965960"/>
            <a:ext cx="4453128" cy="402336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51" name="panel accent">
            <a:extLst>
              <a:ext uri="{C183D7F6-B498-43B3-948B-1728B52AA6E4}">
                <adec:decorative xmlns:adec="http://schemas.microsoft.com/office/drawing/2017/decorative" val="1"/>
              </a:ext>
            </a:extLst>
          </p:cNvPr>
          <p:cNvSpPr/>
          <p:nvPr/>
        </p:nvSpPr>
        <p:spPr>
          <a:xfrm>
            <a:off x="6720840" y="1965960"/>
            <a:ext cx="50292" cy="4023360"/>
          </a:xfrm>
          <a:prstGeom prst="rect">
            <a:avLst/>
          </a:prstGeom>
          <a:solidFill>
            <a:srgbClr val="F5A524"/>
          </a:solidFill>
          <a:ln w="12700">
            <a:solidFill>
              <a:srgbClr val="333333"/>
            </a:solidFill>
            <a:prstDash val="solid"/>
          </a:ln>
        </p:spPr>
        <p:txBody>
          <a:bodyPr/>
          <a:lstStyle/>
          <a:p>
            <a:endParaRPr lang="en-SE"/>
          </a:p>
        </p:txBody>
      </p:sp>
      <p:sp>
        <p:nvSpPr>
          <p:cNvPr id="52" name="Text 50"/>
          <p:cNvSpPr/>
          <p:nvPr/>
        </p:nvSpPr>
        <p:spPr>
          <a:xfrm>
            <a:off x="6995160" y="2176272"/>
            <a:ext cx="3931920" cy="594360"/>
          </a:xfrm>
          <a:prstGeom prst="rect">
            <a:avLst/>
          </a:prstGeom>
          <a:noFill/>
          <a:ln/>
        </p:spPr>
        <p:txBody>
          <a:bodyPr wrap="square" lIns="0" tIns="0" rIns="0" bIns="0" rtlCol="0" anchor="ctr"/>
          <a:lstStyle/>
          <a:p>
            <a:pPr marL="0" indent="0">
              <a:lnSpc>
                <a:spcPct val="105000"/>
              </a:lnSpc>
              <a:buNone/>
            </a:pPr>
            <a:r>
              <a:rPr lang="en-US" sz="1600" b="1" dirty="0">
                <a:solidFill>
                  <a:srgbClr val="E6EDF3"/>
                </a:solidFill>
                <a:latin typeface="Segoe UI" pitchFamily="34" charset="0"/>
                <a:ea typeface="Segoe UI" pitchFamily="34" charset="-122"/>
                <a:cs typeface="Segoe UI" pitchFamily="34" charset="-120"/>
              </a:rPr>
              <a:t>Auctions are named, not lumped together</a:t>
            </a:r>
            <a:endParaRPr lang="en-US" sz="1600" dirty="0"/>
          </a:p>
        </p:txBody>
      </p:sp>
      <p:sp>
        <p:nvSpPr>
          <p:cNvPr id="53" name="Text 51"/>
          <p:cNvSpPr/>
          <p:nvPr/>
        </p:nvSpPr>
        <p:spPr>
          <a:xfrm>
            <a:off x="6995160" y="2834640"/>
            <a:ext cx="3931920" cy="868680"/>
          </a:xfrm>
          <a:prstGeom prst="rect">
            <a:avLst/>
          </a:prstGeom>
          <a:noFill/>
          <a:ln/>
        </p:spPr>
        <p:txBody>
          <a:bodyPr wrap="square" lIns="0" tIns="0" rIns="0" bIns="0" rtlCol="0" anchor="ctr"/>
          <a:lstStyle/>
          <a:p>
            <a:pPr marL="0" indent="0">
              <a:lnSpc>
                <a:spcPct val="112000"/>
              </a:lnSpc>
              <a:buNone/>
            </a:pPr>
            <a:r>
              <a:rPr lang="en-US" sz="1150" dirty="0">
                <a:solidFill>
                  <a:srgbClr val="AAB7C2"/>
                </a:solidFill>
                <a:latin typeface="Segoe UI" pitchFamily="34" charset="0"/>
                <a:ea typeface="Segoe UI" pitchFamily="34" charset="-122"/>
                <a:cs typeface="Segoe UI" pitchFamily="34" charset="-120"/>
              </a:rPr>
              <a:t>An auction uncross fills a dismissible banner with the equilibrium price (or "no cross"), the matched quantity, and any residual imbalance. Crucially, it names which kind of auction it was:</a:t>
            </a:r>
            <a:endParaRPr lang="en-US" sz="1150" dirty="0"/>
          </a:p>
        </p:txBody>
      </p:sp>
      <p:sp>
        <p:nvSpPr>
          <p:cNvPr id="54" name="item marker">
            <a:extLst>
              <a:ext uri="{C183D7F6-B498-43B3-948B-1728B52AA6E4}">
                <adec:decorative xmlns:adec="http://schemas.microsoft.com/office/drawing/2017/decorative" val="1"/>
              </a:ext>
            </a:extLst>
          </p:cNvPr>
          <p:cNvSpPr/>
          <p:nvPr/>
        </p:nvSpPr>
        <p:spPr>
          <a:xfrm>
            <a:off x="6995160" y="3831336"/>
            <a:ext cx="32004" cy="566928"/>
          </a:xfrm>
          <a:prstGeom prst="rect">
            <a:avLst/>
          </a:prstGeom>
          <a:solidFill>
            <a:srgbClr val="F5A524"/>
          </a:solidFill>
          <a:ln w="12700">
            <a:solidFill>
              <a:srgbClr val="333333"/>
            </a:solidFill>
            <a:prstDash val="solid"/>
          </a:ln>
        </p:spPr>
        <p:txBody>
          <a:bodyPr/>
          <a:lstStyle/>
          <a:p>
            <a:endParaRPr lang="en-SE" sz="2000"/>
          </a:p>
        </p:txBody>
      </p:sp>
      <p:sp>
        <p:nvSpPr>
          <p:cNvPr id="55" name="Text 53"/>
          <p:cNvSpPr/>
          <p:nvPr/>
        </p:nvSpPr>
        <p:spPr>
          <a:xfrm>
            <a:off x="7178040" y="3794760"/>
            <a:ext cx="3749040" cy="256032"/>
          </a:xfrm>
          <a:prstGeom prst="rect">
            <a:avLst/>
          </a:prstGeom>
          <a:noFill/>
          <a:ln/>
        </p:spPr>
        <p:txBody>
          <a:bodyPr wrap="square" lIns="0" tIns="0" rIns="0" bIns="0" rtlCol="0" anchor="ctr"/>
          <a:lstStyle/>
          <a:p>
            <a:pPr marL="0" indent="0">
              <a:buNone/>
            </a:pPr>
            <a:r>
              <a:rPr lang="en-US" sz="1200" b="1" dirty="0">
                <a:solidFill>
                  <a:srgbClr val="F5A524"/>
                </a:solidFill>
                <a:latin typeface="Consolas" pitchFamily="34" charset="0"/>
                <a:ea typeface="Consolas" pitchFamily="34" charset="-122"/>
                <a:cs typeface="Consolas" pitchFamily="34" charset="-120"/>
              </a:rPr>
              <a:t>Opening / closing</a:t>
            </a:r>
            <a:endParaRPr lang="en-US" sz="1200" dirty="0"/>
          </a:p>
        </p:txBody>
      </p:sp>
      <p:sp>
        <p:nvSpPr>
          <p:cNvPr id="56" name="Text 54"/>
          <p:cNvSpPr/>
          <p:nvPr/>
        </p:nvSpPr>
        <p:spPr>
          <a:xfrm>
            <a:off x="7178040" y="4050792"/>
            <a:ext cx="3749040" cy="411480"/>
          </a:xfrm>
          <a:prstGeom prst="rect">
            <a:avLst/>
          </a:prstGeom>
          <a:noFill/>
          <a:ln/>
        </p:spPr>
        <p:txBody>
          <a:bodyPr wrap="square" lIns="0" tIns="0" rIns="0" bIns="0" rtlCol="0" anchor="ctr"/>
          <a:lstStyle/>
          <a:p>
            <a:pPr marL="0" indent="0">
              <a:lnSpc>
                <a:spcPct val="105000"/>
              </a:lnSpc>
              <a:buNone/>
            </a:pPr>
            <a:r>
              <a:rPr lang="en-US" sz="1100" dirty="0">
                <a:solidFill>
                  <a:srgbClr val="AAB7C2"/>
                </a:solidFill>
                <a:latin typeface="Segoe UI" pitchFamily="34" charset="0"/>
                <a:ea typeface="Segoe UI" pitchFamily="34" charset="-122"/>
                <a:cs typeface="Segoe UI" pitchFamily="34" charset="-120"/>
              </a:rPr>
              <a:t>The scheduled auctions at each end of the session.</a:t>
            </a:r>
            <a:endParaRPr lang="en-US" sz="1100" dirty="0"/>
          </a:p>
        </p:txBody>
      </p:sp>
      <p:sp>
        <p:nvSpPr>
          <p:cNvPr id="57" name="item marker">
            <a:extLst>
              <a:ext uri="{C183D7F6-B498-43B3-948B-1728B52AA6E4}">
                <adec:decorative xmlns:adec="http://schemas.microsoft.com/office/drawing/2017/decorative" val="1"/>
              </a:ext>
            </a:extLst>
          </p:cNvPr>
          <p:cNvSpPr/>
          <p:nvPr/>
        </p:nvSpPr>
        <p:spPr>
          <a:xfrm>
            <a:off x="6995160" y="4544568"/>
            <a:ext cx="32004" cy="566928"/>
          </a:xfrm>
          <a:prstGeom prst="rect">
            <a:avLst/>
          </a:prstGeom>
          <a:solidFill>
            <a:srgbClr val="F5A524"/>
          </a:solidFill>
          <a:ln w="12700">
            <a:solidFill>
              <a:srgbClr val="333333"/>
            </a:solidFill>
            <a:prstDash val="solid"/>
          </a:ln>
        </p:spPr>
        <p:txBody>
          <a:bodyPr/>
          <a:lstStyle/>
          <a:p>
            <a:endParaRPr lang="en-SE" sz="2000"/>
          </a:p>
        </p:txBody>
      </p:sp>
      <p:sp>
        <p:nvSpPr>
          <p:cNvPr id="58" name="Text 56"/>
          <p:cNvSpPr/>
          <p:nvPr/>
        </p:nvSpPr>
        <p:spPr>
          <a:xfrm>
            <a:off x="7178040" y="4507992"/>
            <a:ext cx="3749040" cy="256032"/>
          </a:xfrm>
          <a:prstGeom prst="rect">
            <a:avLst/>
          </a:prstGeom>
          <a:noFill/>
          <a:ln/>
        </p:spPr>
        <p:txBody>
          <a:bodyPr wrap="square" lIns="0" tIns="0" rIns="0" bIns="0" rtlCol="0" anchor="ctr"/>
          <a:lstStyle/>
          <a:p>
            <a:pPr marL="0" indent="0">
              <a:buNone/>
            </a:pPr>
            <a:r>
              <a:rPr lang="en-US" sz="1200" b="1" dirty="0">
                <a:solidFill>
                  <a:srgbClr val="F5A524"/>
                </a:solidFill>
                <a:latin typeface="Consolas" pitchFamily="34" charset="0"/>
                <a:ea typeface="Consolas" pitchFamily="34" charset="-122"/>
                <a:cs typeface="Consolas" pitchFamily="34" charset="-120"/>
              </a:rPr>
              <a:t>Reopening</a:t>
            </a:r>
            <a:endParaRPr lang="en-US" sz="1200" dirty="0"/>
          </a:p>
        </p:txBody>
      </p:sp>
      <p:sp>
        <p:nvSpPr>
          <p:cNvPr id="59" name="Text 57"/>
          <p:cNvSpPr/>
          <p:nvPr/>
        </p:nvSpPr>
        <p:spPr>
          <a:xfrm>
            <a:off x="7178040" y="4764024"/>
            <a:ext cx="3749040" cy="411480"/>
          </a:xfrm>
          <a:prstGeom prst="rect">
            <a:avLst/>
          </a:prstGeom>
          <a:noFill/>
          <a:ln/>
        </p:spPr>
        <p:txBody>
          <a:bodyPr wrap="square" lIns="0" tIns="0" rIns="0" bIns="0" rtlCol="0" anchor="ctr"/>
          <a:lstStyle/>
          <a:p>
            <a:pPr marL="0" indent="0">
              <a:lnSpc>
                <a:spcPct val="105000"/>
              </a:lnSpc>
              <a:buNone/>
            </a:pPr>
            <a:r>
              <a:rPr lang="en-US" sz="1100" dirty="0">
                <a:solidFill>
                  <a:srgbClr val="AAB7C2"/>
                </a:solidFill>
                <a:latin typeface="Segoe UI" pitchFamily="34" charset="0"/>
                <a:ea typeface="Segoe UI" pitchFamily="34" charset="-122"/>
                <a:cs typeface="Segoe UI" pitchFamily="34" charset="-120"/>
              </a:rPr>
              <a:t>Follows a circuit-breaker halt, to restart trading safely.</a:t>
            </a:r>
            <a:endParaRPr lang="en-US" sz="1100" dirty="0"/>
          </a:p>
        </p:txBody>
      </p:sp>
      <p:sp>
        <p:nvSpPr>
          <p:cNvPr id="60" name="item marker">
            <a:extLst>
              <a:ext uri="{C183D7F6-B498-43B3-948B-1728B52AA6E4}">
                <adec:decorative xmlns:adec="http://schemas.microsoft.com/office/drawing/2017/decorative" val="1"/>
              </a:ext>
            </a:extLst>
          </p:cNvPr>
          <p:cNvSpPr/>
          <p:nvPr/>
        </p:nvSpPr>
        <p:spPr>
          <a:xfrm>
            <a:off x="6995160" y="5257800"/>
            <a:ext cx="32004" cy="566928"/>
          </a:xfrm>
          <a:prstGeom prst="rect">
            <a:avLst/>
          </a:prstGeom>
          <a:solidFill>
            <a:srgbClr val="F5A524"/>
          </a:solidFill>
          <a:ln w="12700">
            <a:solidFill>
              <a:srgbClr val="333333"/>
            </a:solidFill>
            <a:prstDash val="solid"/>
          </a:ln>
        </p:spPr>
        <p:txBody>
          <a:bodyPr/>
          <a:lstStyle/>
          <a:p>
            <a:endParaRPr lang="en-SE" sz="2000"/>
          </a:p>
        </p:txBody>
      </p:sp>
      <p:sp>
        <p:nvSpPr>
          <p:cNvPr id="61" name="Text 59"/>
          <p:cNvSpPr/>
          <p:nvPr/>
        </p:nvSpPr>
        <p:spPr>
          <a:xfrm>
            <a:off x="7178040" y="5221224"/>
            <a:ext cx="3749040" cy="256032"/>
          </a:xfrm>
          <a:prstGeom prst="rect">
            <a:avLst/>
          </a:prstGeom>
          <a:noFill/>
          <a:ln/>
        </p:spPr>
        <p:txBody>
          <a:bodyPr wrap="square" lIns="0" tIns="0" rIns="0" bIns="0" rtlCol="0" anchor="ctr"/>
          <a:lstStyle/>
          <a:p>
            <a:pPr marL="0" indent="0">
              <a:buNone/>
            </a:pPr>
            <a:r>
              <a:rPr lang="en-US" sz="1200" b="1" dirty="0">
                <a:solidFill>
                  <a:srgbClr val="F5A524"/>
                </a:solidFill>
                <a:latin typeface="Consolas" pitchFamily="34" charset="0"/>
                <a:ea typeface="Consolas" pitchFamily="34" charset="-122"/>
                <a:cs typeface="Consolas" pitchFamily="34" charset="-120"/>
              </a:rPr>
              <a:t>Startup / recovery</a:t>
            </a:r>
            <a:endParaRPr lang="en-US" sz="1200" dirty="0"/>
          </a:p>
        </p:txBody>
      </p:sp>
      <p:sp>
        <p:nvSpPr>
          <p:cNvPr id="62" name="Text 60"/>
          <p:cNvSpPr/>
          <p:nvPr/>
        </p:nvSpPr>
        <p:spPr>
          <a:xfrm>
            <a:off x="7178040" y="5477256"/>
            <a:ext cx="3749040" cy="411480"/>
          </a:xfrm>
          <a:prstGeom prst="rect">
            <a:avLst/>
          </a:prstGeom>
          <a:noFill/>
          <a:ln/>
        </p:spPr>
        <p:txBody>
          <a:bodyPr wrap="square" lIns="0" tIns="0" rIns="0" bIns="0" rtlCol="0" anchor="ctr"/>
          <a:lstStyle/>
          <a:p>
            <a:pPr marL="0" indent="0">
              <a:lnSpc>
                <a:spcPct val="105000"/>
              </a:lnSpc>
              <a:buNone/>
            </a:pPr>
            <a:r>
              <a:rPr lang="en-US" sz="1100" dirty="0">
                <a:solidFill>
                  <a:srgbClr val="AAB7C2"/>
                </a:solidFill>
                <a:latin typeface="Segoe UI" pitchFamily="34" charset="0"/>
                <a:ea typeface="Segoe UI" pitchFamily="34" charset="-122"/>
                <a:cs typeface="Segoe UI" pitchFamily="34" charset="-120"/>
              </a:rPr>
              <a:t>An uncross performed when the exchange itself starts or recovers.</a:t>
            </a:r>
            <a:endParaRPr lang="en-US" sz="1100" dirty="0"/>
          </a:p>
        </p:txBody>
      </p:sp>
      <p:sp>
        <p:nvSpPr>
          <p:cNvPr id="63" name="Text 61"/>
          <p:cNvSpPr/>
          <p:nvPr/>
        </p:nvSpPr>
        <p:spPr>
          <a:xfrm>
            <a:off x="6995160" y="6053328"/>
            <a:ext cx="3931920" cy="274320"/>
          </a:xfrm>
          <a:prstGeom prst="rect">
            <a:avLst/>
          </a:prstGeom>
          <a:noFill/>
          <a:ln/>
        </p:spPr>
        <p:txBody>
          <a:bodyPr wrap="square" lIns="0" tIns="0" rIns="0" bIns="0" rtlCol="0" anchor="ctr"/>
          <a:lstStyle/>
          <a:p>
            <a:pPr marL="0" indent="0">
              <a:buNone/>
            </a:pPr>
            <a:r>
              <a:rPr lang="en-US" sz="1000" i="1" dirty="0">
                <a:solidFill>
                  <a:srgbClr val="7C8B97"/>
                </a:solidFill>
                <a:latin typeface="Segoe UI" pitchFamily="34" charset="0"/>
                <a:ea typeface="Segoe UI" pitchFamily="34" charset="-122"/>
                <a:cs typeface="Segoe UI" pitchFamily="34" charset="-120"/>
              </a:rPr>
              <a:t>Calling all three "auction uncrossed" would hide the one fact you actually need.</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sz="2400"/>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sz="2400"/>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sz="2400"/>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Values or Depth — and why you must choose</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03 · SCREENS</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22</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The Depth toggle replaces the Values panel rather than showing both. That is deliberate, and it is a cost signal.</a:t>
            </a:r>
            <a:endParaRPr lang="en-US" sz="1400" dirty="0"/>
          </a:p>
        </p:txBody>
      </p:sp>
      <p:sp>
        <p:nvSpPr>
          <p:cNvPr id="38" name="diagram node">
            <a:extLst>
              <a:ext uri="{C183D7F6-B498-43B3-948B-1728B52AA6E4}">
                <adec:decorative xmlns:adec="http://schemas.microsoft.com/office/drawing/2017/decorative" val="1"/>
              </a:ext>
            </a:extLst>
          </p:cNvPr>
          <p:cNvSpPr/>
          <p:nvPr/>
        </p:nvSpPr>
        <p:spPr>
          <a:xfrm>
            <a:off x="1005840" y="2194560"/>
            <a:ext cx="3108960" cy="1554480"/>
          </a:xfrm>
          <a:prstGeom prst="rect">
            <a:avLst/>
          </a:prstGeom>
          <a:solidFill>
            <a:srgbClr val="20272D"/>
          </a:solidFill>
          <a:ln w="19050">
            <a:solidFill>
              <a:srgbClr val="3FE08A"/>
            </a:solidFill>
            <a:prstDash val="solid"/>
          </a:ln>
          <a:effectLst>
            <a:outerShdw blurRad="152400" dist="38100" dir="5400000" algn="bl" rotWithShape="0">
              <a:srgbClr val="000000">
                <a:alpha val="35000"/>
              </a:srgbClr>
            </a:outerShdw>
          </a:effectLst>
        </p:spPr>
        <p:txBody>
          <a:bodyPr/>
          <a:lstStyle/>
          <a:p>
            <a:endParaRPr lang="en-SE" sz="2400"/>
          </a:p>
        </p:txBody>
      </p:sp>
      <p:sp>
        <p:nvSpPr>
          <p:cNvPr id="39" name="Text 37"/>
          <p:cNvSpPr/>
          <p:nvPr/>
        </p:nvSpPr>
        <p:spPr>
          <a:xfrm>
            <a:off x="1115568" y="2340864"/>
            <a:ext cx="2889504" cy="329184"/>
          </a:xfrm>
          <a:prstGeom prst="rect">
            <a:avLst/>
          </a:prstGeom>
          <a:noFill/>
          <a:ln/>
        </p:spPr>
        <p:txBody>
          <a:bodyPr wrap="square" lIns="0" tIns="0" rIns="0" bIns="0" rtlCol="0" anchor="t"/>
          <a:lstStyle/>
          <a:p>
            <a:pPr marL="0" indent="0" algn="ctr">
              <a:buNone/>
            </a:pPr>
            <a:r>
              <a:rPr lang="en-US" sz="1600" b="1" dirty="0">
                <a:solidFill>
                  <a:srgbClr val="E6EDF3"/>
                </a:solidFill>
                <a:latin typeface="Consolas" pitchFamily="34" charset="0"/>
                <a:ea typeface="Consolas" pitchFamily="34" charset="-122"/>
                <a:cs typeface="Consolas" pitchFamily="34" charset="-120"/>
              </a:rPr>
              <a:t>VALUES PANEL</a:t>
            </a:r>
            <a:endParaRPr lang="en-US" sz="1600" dirty="0"/>
          </a:p>
        </p:txBody>
      </p:sp>
      <p:sp>
        <p:nvSpPr>
          <p:cNvPr id="40" name="Text 38"/>
          <p:cNvSpPr/>
          <p:nvPr/>
        </p:nvSpPr>
        <p:spPr>
          <a:xfrm>
            <a:off x="1115568" y="2651760"/>
            <a:ext cx="2889504" cy="1005840"/>
          </a:xfrm>
          <a:prstGeom prst="rect">
            <a:avLst/>
          </a:prstGeom>
          <a:noFill/>
          <a:ln/>
        </p:spPr>
        <p:txBody>
          <a:bodyPr wrap="square" lIns="0" tIns="0" rIns="0" bIns="0" rtlCol="0" anchor="t"/>
          <a:lstStyle/>
          <a:p>
            <a:pPr marL="0" indent="0" algn="ctr">
              <a:lnSpc>
                <a:spcPct val="105000"/>
              </a:lnSpc>
              <a:buNone/>
            </a:pPr>
            <a:r>
              <a:rPr lang="en-US" sz="1100" dirty="0">
                <a:solidFill>
                  <a:srgbClr val="AAB7C2"/>
                </a:solidFill>
                <a:latin typeface="Segoe UI" pitchFamily="34" charset="0"/>
                <a:ea typeface="Segoe UI" pitchFamily="34" charset="-122"/>
                <a:cs typeface="Segoe UI" pitchFamily="34" charset="-120"/>
              </a:rPr>
              <a:t>Today's figures for</a:t>
            </a:r>
            <a:endParaRPr lang="en-US" sz="1100" dirty="0"/>
          </a:p>
          <a:p>
            <a:pPr marL="0" indent="0" algn="ctr">
              <a:lnSpc>
                <a:spcPct val="105000"/>
              </a:lnSpc>
              <a:buNone/>
            </a:pPr>
            <a:r>
              <a:rPr lang="en-US" sz="1100" dirty="0">
                <a:solidFill>
                  <a:srgbClr val="AAB7C2"/>
                </a:solidFill>
                <a:latin typeface="Segoe UI" pitchFamily="34" charset="0"/>
                <a:ea typeface="Segoe UI" pitchFamily="34" charset="-122"/>
                <a:cs typeface="Segoe UI" pitchFamily="34" charset="-120"/>
              </a:rPr>
              <a:t>the symbol</a:t>
            </a:r>
            <a:endParaRPr lang="en-US" sz="1100" dirty="0"/>
          </a:p>
        </p:txBody>
      </p:sp>
      <p:sp>
        <p:nvSpPr>
          <p:cNvPr id="41" name="toggle control">
            <a:extLst>
              <a:ext uri="{C183D7F6-B498-43B3-948B-1728B52AA6E4}">
                <adec:decorative xmlns:adec="http://schemas.microsoft.com/office/drawing/2017/decorative" val="1"/>
              </a:ext>
            </a:extLst>
          </p:cNvPr>
          <p:cNvSpPr/>
          <p:nvPr/>
        </p:nvSpPr>
        <p:spPr>
          <a:xfrm>
            <a:off x="4617720" y="2788920"/>
            <a:ext cx="2926080" cy="384048"/>
          </a:xfrm>
          <a:prstGeom prst="rect">
            <a:avLst/>
          </a:prstGeom>
          <a:solidFill>
            <a:srgbClr val="273037"/>
          </a:solidFill>
          <a:ln w="15875">
            <a:solidFill>
              <a:srgbClr val="F5A524"/>
            </a:solidFill>
            <a:prstDash val="solid"/>
          </a:ln>
        </p:spPr>
        <p:txBody>
          <a:bodyPr/>
          <a:lstStyle/>
          <a:p>
            <a:endParaRPr lang="en-SE" sz="2400"/>
          </a:p>
        </p:txBody>
      </p:sp>
      <p:sp>
        <p:nvSpPr>
          <p:cNvPr id="42" name="Text 40"/>
          <p:cNvSpPr/>
          <p:nvPr/>
        </p:nvSpPr>
        <p:spPr>
          <a:xfrm>
            <a:off x="4617720" y="2788920"/>
            <a:ext cx="2926080" cy="384048"/>
          </a:xfrm>
          <a:prstGeom prst="rect">
            <a:avLst/>
          </a:prstGeom>
          <a:noFill/>
          <a:ln/>
        </p:spPr>
        <p:txBody>
          <a:bodyPr wrap="square" lIns="0" tIns="0" rIns="0" bIns="0" rtlCol="0" anchor="ctr"/>
          <a:lstStyle/>
          <a:p>
            <a:pPr marL="0" indent="0" algn="ctr">
              <a:buNone/>
            </a:pPr>
            <a:r>
              <a:rPr lang="en-US" sz="1400" dirty="0">
                <a:solidFill>
                  <a:srgbClr val="F5A524"/>
                </a:solidFill>
                <a:latin typeface="Consolas" pitchFamily="34" charset="0"/>
                <a:ea typeface="Consolas" pitchFamily="34" charset="-122"/>
                <a:cs typeface="Consolas" pitchFamily="34" charset="-120"/>
              </a:rPr>
              <a:t>☐ Depth  toggle</a:t>
            </a:r>
            <a:endParaRPr lang="en-US" sz="1400" dirty="0"/>
          </a:p>
        </p:txBody>
      </p:sp>
      <p:sp>
        <p:nvSpPr>
          <p:cNvPr id="43" name="swap arrow">
            <a:extLst>
              <a:ext uri="{C183D7F6-B498-43B3-948B-1728B52AA6E4}">
                <adec:decorative xmlns:adec="http://schemas.microsoft.com/office/drawing/2017/decorative" val="1"/>
              </a:ext>
            </a:extLst>
          </p:cNvPr>
          <p:cNvSpPr/>
          <p:nvPr/>
        </p:nvSpPr>
        <p:spPr>
          <a:xfrm>
            <a:off x="4206240" y="2980944"/>
            <a:ext cx="320040" cy="0"/>
          </a:xfrm>
          <a:prstGeom prst="line">
            <a:avLst/>
          </a:prstGeom>
          <a:noFill/>
          <a:ln w="25400">
            <a:solidFill>
              <a:srgbClr val="F5A524"/>
            </a:solidFill>
            <a:prstDash val="solid"/>
            <a:headEnd type="triangle"/>
            <a:tailEnd type="triangle"/>
          </a:ln>
        </p:spPr>
        <p:txBody>
          <a:bodyPr/>
          <a:lstStyle/>
          <a:p>
            <a:endParaRPr lang="en-SE" sz="2400"/>
          </a:p>
        </p:txBody>
      </p:sp>
      <p:sp>
        <p:nvSpPr>
          <p:cNvPr id="44" name="swap arrow">
            <a:extLst>
              <a:ext uri="{C183D7F6-B498-43B3-948B-1728B52AA6E4}">
                <adec:decorative xmlns:adec="http://schemas.microsoft.com/office/drawing/2017/decorative" val="1"/>
              </a:ext>
            </a:extLst>
          </p:cNvPr>
          <p:cNvSpPr/>
          <p:nvPr/>
        </p:nvSpPr>
        <p:spPr>
          <a:xfrm>
            <a:off x="7635240" y="2980944"/>
            <a:ext cx="320040" cy="0"/>
          </a:xfrm>
          <a:prstGeom prst="line">
            <a:avLst/>
          </a:prstGeom>
          <a:noFill/>
          <a:ln w="25400">
            <a:solidFill>
              <a:srgbClr val="F5A524"/>
            </a:solidFill>
            <a:prstDash val="solid"/>
            <a:headEnd type="triangle"/>
            <a:tailEnd type="triangle"/>
          </a:ln>
        </p:spPr>
        <p:txBody>
          <a:bodyPr/>
          <a:lstStyle/>
          <a:p>
            <a:endParaRPr lang="en-SE" sz="2400"/>
          </a:p>
        </p:txBody>
      </p:sp>
      <p:sp>
        <p:nvSpPr>
          <p:cNvPr id="45" name="diagram node">
            <a:extLst>
              <a:ext uri="{C183D7F6-B498-43B3-948B-1728B52AA6E4}">
                <adec:decorative xmlns:adec="http://schemas.microsoft.com/office/drawing/2017/decorative" val="1"/>
              </a:ext>
            </a:extLst>
          </p:cNvPr>
          <p:cNvSpPr/>
          <p:nvPr/>
        </p:nvSpPr>
        <p:spPr>
          <a:xfrm>
            <a:off x="8046720" y="2194560"/>
            <a:ext cx="3108960" cy="1554480"/>
          </a:xfrm>
          <a:prstGeom prst="rect">
            <a:avLst/>
          </a:prstGeom>
          <a:solidFill>
            <a:srgbClr val="20272D"/>
          </a:solidFill>
          <a:ln w="19050">
            <a:solidFill>
              <a:srgbClr val="F5A524"/>
            </a:solidFill>
            <a:prstDash val="solid"/>
          </a:ln>
          <a:effectLst>
            <a:outerShdw blurRad="152400" dist="38100" dir="5400000" algn="bl" rotWithShape="0">
              <a:srgbClr val="000000">
                <a:alpha val="35000"/>
              </a:srgbClr>
            </a:outerShdw>
          </a:effectLst>
        </p:spPr>
        <p:txBody>
          <a:bodyPr/>
          <a:lstStyle/>
          <a:p>
            <a:endParaRPr lang="en-SE" sz="2400"/>
          </a:p>
        </p:txBody>
      </p:sp>
      <p:sp>
        <p:nvSpPr>
          <p:cNvPr id="46" name="Text 44"/>
          <p:cNvSpPr/>
          <p:nvPr/>
        </p:nvSpPr>
        <p:spPr>
          <a:xfrm>
            <a:off x="8156448" y="2340864"/>
            <a:ext cx="2889504" cy="329184"/>
          </a:xfrm>
          <a:prstGeom prst="rect">
            <a:avLst/>
          </a:prstGeom>
          <a:noFill/>
          <a:ln/>
        </p:spPr>
        <p:txBody>
          <a:bodyPr wrap="square" lIns="0" tIns="0" rIns="0" bIns="0" rtlCol="0" anchor="t"/>
          <a:lstStyle/>
          <a:p>
            <a:pPr marL="0" indent="0" algn="ctr">
              <a:buNone/>
            </a:pPr>
            <a:r>
              <a:rPr lang="en-US" sz="1600" b="1" dirty="0">
                <a:solidFill>
                  <a:srgbClr val="E6EDF3"/>
                </a:solidFill>
                <a:latin typeface="Consolas" pitchFamily="34" charset="0"/>
                <a:ea typeface="Consolas" pitchFamily="34" charset="-122"/>
                <a:cs typeface="Consolas" pitchFamily="34" charset="-120"/>
              </a:rPr>
              <a:t>DEPTH LADDER</a:t>
            </a:r>
            <a:endParaRPr lang="en-US" sz="1600" dirty="0"/>
          </a:p>
        </p:txBody>
      </p:sp>
      <p:sp>
        <p:nvSpPr>
          <p:cNvPr id="47" name="Text 45"/>
          <p:cNvSpPr/>
          <p:nvPr/>
        </p:nvSpPr>
        <p:spPr>
          <a:xfrm>
            <a:off x="8156448" y="2651760"/>
            <a:ext cx="2889504" cy="1005840"/>
          </a:xfrm>
          <a:prstGeom prst="rect">
            <a:avLst/>
          </a:prstGeom>
          <a:noFill/>
          <a:ln/>
        </p:spPr>
        <p:txBody>
          <a:bodyPr wrap="square" lIns="0" tIns="0" rIns="0" bIns="0" rtlCol="0" anchor="t"/>
          <a:lstStyle/>
          <a:p>
            <a:pPr marL="0" indent="0" algn="ctr">
              <a:lnSpc>
                <a:spcPct val="105000"/>
              </a:lnSpc>
              <a:buNone/>
            </a:pPr>
            <a:r>
              <a:rPr lang="en-US" sz="1100" dirty="0">
                <a:solidFill>
                  <a:srgbClr val="AAB7C2"/>
                </a:solidFill>
                <a:latin typeface="Segoe UI" pitchFamily="34" charset="0"/>
                <a:ea typeface="Segoe UI" pitchFamily="34" charset="-122"/>
                <a:cs typeface="Segoe UI" pitchFamily="34" charset="-120"/>
              </a:rPr>
              <a:t>Level 2 book for</a:t>
            </a:r>
            <a:endParaRPr lang="en-US" sz="1100" dirty="0"/>
          </a:p>
          <a:p>
            <a:pPr marL="0" indent="0" algn="ctr">
              <a:lnSpc>
                <a:spcPct val="105000"/>
              </a:lnSpc>
              <a:buNone/>
            </a:pPr>
            <a:r>
              <a:rPr lang="en-US" sz="1100" dirty="0">
                <a:solidFill>
                  <a:srgbClr val="AAB7C2"/>
                </a:solidFill>
                <a:latin typeface="Segoe UI" pitchFamily="34" charset="0"/>
                <a:ea typeface="Segoe UI" pitchFamily="34" charset="-122"/>
                <a:cs typeface="Segoe UI" pitchFamily="34" charset="-120"/>
              </a:rPr>
              <a:t>this symbol</a:t>
            </a:r>
            <a:endParaRPr lang="en-US" sz="1100" dirty="0"/>
          </a:p>
        </p:txBody>
      </p:sp>
      <p:sp>
        <p:nvSpPr>
          <p:cNvPr id="48" name="Text 46"/>
          <p:cNvSpPr/>
          <p:nvPr/>
        </p:nvSpPr>
        <p:spPr>
          <a:xfrm>
            <a:off x="4206240" y="3337560"/>
            <a:ext cx="3749040" cy="320040"/>
          </a:xfrm>
          <a:prstGeom prst="rect">
            <a:avLst/>
          </a:prstGeom>
          <a:noFill/>
          <a:ln/>
        </p:spPr>
        <p:txBody>
          <a:bodyPr wrap="square" lIns="0" tIns="0" rIns="0" bIns="0" rtlCol="0" anchor="ctr"/>
          <a:lstStyle/>
          <a:p>
            <a:pPr marL="0" indent="0" algn="ctr">
              <a:buNone/>
            </a:pPr>
            <a:r>
              <a:rPr lang="en-US" sz="1200" i="1" dirty="0">
                <a:solidFill>
                  <a:srgbClr val="7C8B97"/>
                </a:solidFill>
                <a:latin typeface="Segoe UI" pitchFamily="34" charset="0"/>
                <a:ea typeface="Segoe UI" pitchFamily="34" charset="-122"/>
                <a:cs typeface="Segoe UI" pitchFamily="34" charset="-120"/>
              </a:rPr>
              <a:t>The panels swap. You never see both at once.</a:t>
            </a:r>
            <a:endParaRPr lang="en-US" sz="1200" dirty="0"/>
          </a:p>
        </p:txBody>
      </p:sp>
      <p:sp>
        <p:nvSpPr>
          <p:cNvPr id="49" name="panel">
            <a:extLst>
              <a:ext uri="{C183D7F6-B498-43B3-948B-1728B52AA6E4}">
                <adec:decorative xmlns:adec="http://schemas.microsoft.com/office/drawing/2017/decorative" val="1"/>
              </a:ext>
            </a:extLst>
          </p:cNvPr>
          <p:cNvSpPr/>
          <p:nvPr/>
        </p:nvSpPr>
        <p:spPr>
          <a:xfrm>
            <a:off x="566928" y="4023360"/>
            <a:ext cx="5120640" cy="201168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50" name="panel accent">
            <a:extLst>
              <a:ext uri="{C183D7F6-B498-43B3-948B-1728B52AA6E4}">
                <adec:decorative xmlns:adec="http://schemas.microsoft.com/office/drawing/2017/decorative" val="1"/>
              </a:ext>
            </a:extLst>
          </p:cNvPr>
          <p:cNvSpPr/>
          <p:nvPr/>
        </p:nvSpPr>
        <p:spPr>
          <a:xfrm>
            <a:off x="566928" y="4023360"/>
            <a:ext cx="50292" cy="2011680"/>
          </a:xfrm>
          <a:prstGeom prst="rect">
            <a:avLst/>
          </a:prstGeom>
          <a:solidFill>
            <a:srgbClr val="3FE08A"/>
          </a:solidFill>
          <a:ln w="12700">
            <a:solidFill>
              <a:srgbClr val="333333"/>
            </a:solidFill>
            <a:prstDash val="solid"/>
          </a:ln>
        </p:spPr>
        <p:txBody>
          <a:bodyPr/>
          <a:lstStyle/>
          <a:p>
            <a:endParaRPr lang="en-SE"/>
          </a:p>
        </p:txBody>
      </p:sp>
      <p:sp>
        <p:nvSpPr>
          <p:cNvPr id="51" name="Text 49"/>
          <p:cNvSpPr/>
          <p:nvPr/>
        </p:nvSpPr>
        <p:spPr>
          <a:xfrm>
            <a:off x="868680" y="4206240"/>
            <a:ext cx="4572000" cy="320040"/>
          </a:xfrm>
          <a:prstGeom prst="rect">
            <a:avLst/>
          </a:prstGeom>
          <a:noFill/>
          <a:ln/>
        </p:spPr>
        <p:txBody>
          <a:bodyPr wrap="square" lIns="0" tIns="0" rIns="0" bIns="0" rtlCol="0" anchor="ctr"/>
          <a:lstStyle/>
          <a:p>
            <a:pPr marL="0" indent="0">
              <a:buNone/>
            </a:pPr>
            <a:r>
              <a:rPr lang="en-US" b="1" dirty="0">
                <a:solidFill>
                  <a:srgbClr val="3FE08A"/>
                </a:solidFill>
                <a:latin typeface="Segoe UI" pitchFamily="34" charset="0"/>
                <a:ea typeface="Segoe UI" pitchFamily="34" charset="-122"/>
                <a:cs typeface="Segoe UI" pitchFamily="34" charset="-120"/>
              </a:rPr>
              <a:t>Free data</a:t>
            </a:r>
            <a:endParaRPr lang="en-US" dirty="0"/>
          </a:p>
        </p:txBody>
      </p:sp>
      <p:sp>
        <p:nvSpPr>
          <p:cNvPr id="52" name="Text 50"/>
          <p:cNvSpPr/>
          <p:nvPr/>
        </p:nvSpPr>
        <p:spPr>
          <a:xfrm>
            <a:off x="868680" y="4645888"/>
            <a:ext cx="4572000" cy="1188720"/>
          </a:xfrm>
          <a:prstGeom prst="rect">
            <a:avLst/>
          </a:prstGeom>
          <a:noFill/>
          <a:ln/>
        </p:spPr>
        <p:txBody>
          <a:bodyPr wrap="square" lIns="0" tIns="0" rIns="0" bIns="0" rtlCol="0" anchor="t"/>
          <a:lstStyle/>
          <a:p>
            <a:pPr marL="0" indent="0">
              <a:lnSpc>
                <a:spcPct val="115000"/>
              </a:lnSpc>
              <a:buNone/>
            </a:pPr>
            <a:r>
              <a:rPr lang="en-US" sz="1400" dirty="0">
                <a:solidFill>
                  <a:srgbClr val="AAB7C2"/>
                </a:solidFill>
                <a:latin typeface="Segoe UI" pitchFamily="34" charset="0"/>
                <a:ea typeface="Segoe UI" pitchFamily="34" charset="-122"/>
                <a:cs typeface="Segoe UI" pitchFamily="34" charset="-120"/>
              </a:rPr>
              <a:t>The chart's OHLC and Midpoint series reuse data the terminal already receives for every symbol. Turning them on costs the exchange nothing extra.</a:t>
            </a:r>
            <a:endParaRPr lang="en-US" sz="1400" dirty="0"/>
          </a:p>
        </p:txBody>
      </p:sp>
      <p:sp>
        <p:nvSpPr>
          <p:cNvPr id="53" name="panel">
            <a:extLst>
              <a:ext uri="{C183D7F6-B498-43B3-948B-1728B52AA6E4}">
                <adec:decorative xmlns:adec="http://schemas.microsoft.com/office/drawing/2017/decorative" val="1"/>
              </a:ext>
            </a:extLst>
          </p:cNvPr>
          <p:cNvSpPr/>
          <p:nvPr/>
        </p:nvSpPr>
        <p:spPr>
          <a:xfrm>
            <a:off x="6053328" y="4023360"/>
            <a:ext cx="5120640" cy="201168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54" name="panel accent">
            <a:extLst>
              <a:ext uri="{C183D7F6-B498-43B3-948B-1728B52AA6E4}">
                <adec:decorative xmlns:adec="http://schemas.microsoft.com/office/drawing/2017/decorative" val="1"/>
              </a:ext>
            </a:extLst>
          </p:cNvPr>
          <p:cNvSpPr/>
          <p:nvPr/>
        </p:nvSpPr>
        <p:spPr>
          <a:xfrm>
            <a:off x="6053328" y="4023360"/>
            <a:ext cx="50292" cy="2011680"/>
          </a:xfrm>
          <a:prstGeom prst="rect">
            <a:avLst/>
          </a:prstGeom>
          <a:solidFill>
            <a:srgbClr val="F5A524"/>
          </a:solidFill>
          <a:ln w="12700">
            <a:solidFill>
              <a:srgbClr val="333333"/>
            </a:solidFill>
            <a:prstDash val="solid"/>
          </a:ln>
        </p:spPr>
        <p:txBody>
          <a:bodyPr/>
          <a:lstStyle/>
          <a:p>
            <a:endParaRPr lang="en-SE"/>
          </a:p>
        </p:txBody>
      </p:sp>
      <p:sp>
        <p:nvSpPr>
          <p:cNvPr id="55" name="Text 53"/>
          <p:cNvSpPr/>
          <p:nvPr/>
        </p:nvSpPr>
        <p:spPr>
          <a:xfrm>
            <a:off x="6355080" y="4206240"/>
            <a:ext cx="4572000" cy="320040"/>
          </a:xfrm>
          <a:prstGeom prst="rect">
            <a:avLst/>
          </a:prstGeom>
          <a:noFill/>
          <a:ln/>
        </p:spPr>
        <p:txBody>
          <a:bodyPr wrap="square" lIns="0" tIns="0" rIns="0" bIns="0" rtlCol="0" anchor="ctr"/>
          <a:lstStyle/>
          <a:p>
            <a:pPr marL="0" indent="0">
              <a:buNone/>
            </a:pPr>
            <a:r>
              <a:rPr lang="en-US" b="1" dirty="0">
                <a:solidFill>
                  <a:srgbClr val="F5A524"/>
                </a:solidFill>
                <a:latin typeface="Segoe UI" pitchFamily="34" charset="0"/>
                <a:ea typeface="Segoe UI" pitchFamily="34" charset="-122"/>
                <a:cs typeface="Segoe UI" pitchFamily="34" charset="-120"/>
              </a:rPr>
              <a:t>Data with a cost</a:t>
            </a:r>
            <a:endParaRPr lang="en-US" dirty="0"/>
          </a:p>
        </p:txBody>
      </p:sp>
      <p:sp>
        <p:nvSpPr>
          <p:cNvPr id="56" name="Text 54"/>
          <p:cNvSpPr/>
          <p:nvPr/>
        </p:nvSpPr>
        <p:spPr>
          <a:xfrm>
            <a:off x="6355080" y="4645888"/>
            <a:ext cx="4572000" cy="1188720"/>
          </a:xfrm>
          <a:prstGeom prst="rect">
            <a:avLst/>
          </a:prstGeom>
          <a:noFill/>
          <a:ln/>
        </p:spPr>
        <p:txBody>
          <a:bodyPr wrap="square" lIns="0" tIns="0" rIns="0" bIns="0" rtlCol="0" anchor="t"/>
          <a:lstStyle/>
          <a:p>
            <a:pPr marL="0" indent="0">
              <a:lnSpc>
                <a:spcPct val="115000"/>
              </a:lnSpc>
              <a:buNone/>
            </a:pPr>
            <a:r>
              <a:rPr lang="en-US" sz="1400" dirty="0">
                <a:solidFill>
                  <a:srgbClr val="AAB7C2"/>
                </a:solidFill>
                <a:latin typeface="Segoe UI" pitchFamily="34" charset="0"/>
                <a:ea typeface="Segoe UI" pitchFamily="34" charset="-122"/>
                <a:cs typeface="Segoe UI" pitchFamily="34" charset="-120"/>
              </a:rPr>
              <a:t>Turning Depth on makes the terminal open a brand-new, per-symbol subscription upstream. So it is opt-in per viewer — and the visible panel swap is a deliberate reminder that you have just asked for a heavier data stream.</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Depth-of-Book — the Level 2 ladder</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03 · SCREENS</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23</a:t>
            </a:r>
            <a:endParaRPr lang="en-US" sz="950" dirty="0"/>
          </a:p>
        </p:txBody>
      </p:sp>
      <p:sp>
        <p:nvSpPr>
          <p:cNvPr id="37" name="Text 35"/>
          <p:cNvSpPr/>
          <p:nvPr/>
        </p:nvSpPr>
        <p:spPr>
          <a:xfrm>
            <a:off x="566928" y="1170432"/>
            <a:ext cx="6217920" cy="566928"/>
          </a:xfrm>
          <a:prstGeom prst="rect">
            <a:avLst/>
          </a:prstGeom>
          <a:noFill/>
          <a:ln/>
        </p:spPr>
        <p:txBody>
          <a:bodyPr wrap="square" lIns="0" tIns="0" rIns="0" bIns="0" rtlCol="0" anchor="t"/>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Aggregated quantity per price level for the symbol that currently has Depth switched on. It is not its own tab.</a:t>
            </a:r>
            <a:endParaRPr lang="en-US" sz="1400" dirty="0"/>
          </a:p>
        </p:txBody>
      </p:sp>
      <p:sp>
        <p:nvSpPr>
          <p:cNvPr id="38" name="screenshot placeholder frame">
            <a:extLst>
              <a:ext uri="{C183D7F6-B498-43B3-948B-1728B52AA6E4}">
                <adec:decorative xmlns:adec="http://schemas.microsoft.com/office/drawing/2017/decorative" val="1"/>
              </a:ext>
            </a:extLst>
          </p:cNvPr>
          <p:cNvSpPr/>
          <p:nvPr/>
        </p:nvSpPr>
        <p:spPr>
          <a:xfrm>
            <a:off x="566928" y="1965960"/>
            <a:ext cx="6217920" cy="2880360"/>
          </a:xfrm>
          <a:prstGeom prst="rect">
            <a:avLst/>
          </a:prstGeom>
          <a:solidFill>
            <a:srgbClr val="191E23"/>
          </a:solidFill>
          <a:ln w="22225">
            <a:solidFill>
              <a:srgbClr val="3FE08A"/>
            </a:solidFill>
            <a:prstDash val="dash"/>
          </a:ln>
        </p:spPr>
        <p:txBody>
          <a:bodyPr/>
          <a:lstStyle/>
          <a:p>
            <a:endParaRPr lang="en-SE"/>
          </a:p>
        </p:txBody>
      </p:sp>
      <p:sp>
        <p:nvSpPr>
          <p:cNvPr id="39" name="corner tick">
            <a:extLst>
              <a:ext uri="{C183D7F6-B498-43B3-948B-1728B52AA6E4}">
                <adec:decorative xmlns:adec="http://schemas.microsoft.com/office/drawing/2017/decorative" val="1"/>
              </a:ext>
            </a:extLst>
          </p:cNvPr>
          <p:cNvSpPr/>
          <p:nvPr/>
        </p:nvSpPr>
        <p:spPr>
          <a:xfrm>
            <a:off x="566928" y="1965960"/>
            <a:ext cx="256032" cy="0"/>
          </a:xfrm>
          <a:prstGeom prst="line">
            <a:avLst/>
          </a:prstGeom>
          <a:noFill/>
          <a:ln w="31750">
            <a:solidFill>
              <a:srgbClr val="3FE08A"/>
            </a:solidFill>
            <a:prstDash val="solid"/>
          </a:ln>
        </p:spPr>
        <p:txBody>
          <a:bodyPr/>
          <a:lstStyle/>
          <a:p>
            <a:endParaRPr lang="en-SE"/>
          </a:p>
        </p:txBody>
      </p:sp>
      <p:sp>
        <p:nvSpPr>
          <p:cNvPr id="40" name="corner tick">
            <a:extLst>
              <a:ext uri="{C183D7F6-B498-43B3-948B-1728B52AA6E4}">
                <adec:decorative xmlns:adec="http://schemas.microsoft.com/office/drawing/2017/decorative" val="1"/>
              </a:ext>
            </a:extLst>
          </p:cNvPr>
          <p:cNvSpPr/>
          <p:nvPr/>
        </p:nvSpPr>
        <p:spPr>
          <a:xfrm>
            <a:off x="566928" y="1965960"/>
            <a:ext cx="0" cy="256032"/>
          </a:xfrm>
          <a:prstGeom prst="line">
            <a:avLst/>
          </a:prstGeom>
          <a:noFill/>
          <a:ln w="31750">
            <a:solidFill>
              <a:srgbClr val="3FE08A"/>
            </a:solidFill>
            <a:prstDash val="solid"/>
          </a:ln>
        </p:spPr>
        <p:txBody>
          <a:bodyPr/>
          <a:lstStyle/>
          <a:p>
            <a:endParaRPr lang="en-SE"/>
          </a:p>
        </p:txBody>
      </p:sp>
      <p:sp>
        <p:nvSpPr>
          <p:cNvPr id="41" name="corner tick">
            <a:extLst>
              <a:ext uri="{C183D7F6-B498-43B3-948B-1728B52AA6E4}">
                <adec:decorative xmlns:adec="http://schemas.microsoft.com/office/drawing/2017/decorative" val="1"/>
              </a:ext>
            </a:extLst>
          </p:cNvPr>
          <p:cNvSpPr/>
          <p:nvPr/>
        </p:nvSpPr>
        <p:spPr>
          <a:xfrm>
            <a:off x="6528816" y="1965960"/>
            <a:ext cx="256032" cy="0"/>
          </a:xfrm>
          <a:prstGeom prst="line">
            <a:avLst/>
          </a:prstGeom>
          <a:noFill/>
          <a:ln w="31750">
            <a:solidFill>
              <a:srgbClr val="3FE08A"/>
            </a:solidFill>
            <a:prstDash val="solid"/>
          </a:ln>
        </p:spPr>
        <p:txBody>
          <a:bodyPr/>
          <a:lstStyle/>
          <a:p>
            <a:endParaRPr lang="en-SE"/>
          </a:p>
        </p:txBody>
      </p:sp>
      <p:sp>
        <p:nvSpPr>
          <p:cNvPr id="42" name="corner tick">
            <a:extLst>
              <a:ext uri="{C183D7F6-B498-43B3-948B-1728B52AA6E4}">
                <adec:decorative xmlns:adec="http://schemas.microsoft.com/office/drawing/2017/decorative" val="1"/>
              </a:ext>
            </a:extLst>
          </p:cNvPr>
          <p:cNvSpPr/>
          <p:nvPr/>
        </p:nvSpPr>
        <p:spPr>
          <a:xfrm>
            <a:off x="6784848" y="1965960"/>
            <a:ext cx="0" cy="256032"/>
          </a:xfrm>
          <a:prstGeom prst="line">
            <a:avLst/>
          </a:prstGeom>
          <a:noFill/>
          <a:ln w="31750">
            <a:solidFill>
              <a:srgbClr val="3FE08A"/>
            </a:solidFill>
            <a:prstDash val="solid"/>
          </a:ln>
        </p:spPr>
        <p:txBody>
          <a:bodyPr/>
          <a:lstStyle/>
          <a:p>
            <a:endParaRPr lang="en-SE"/>
          </a:p>
        </p:txBody>
      </p:sp>
      <p:sp>
        <p:nvSpPr>
          <p:cNvPr id="43" name="corner tick">
            <a:extLst>
              <a:ext uri="{C183D7F6-B498-43B3-948B-1728B52AA6E4}">
                <adec:decorative xmlns:adec="http://schemas.microsoft.com/office/drawing/2017/decorative" val="1"/>
              </a:ext>
            </a:extLst>
          </p:cNvPr>
          <p:cNvSpPr/>
          <p:nvPr/>
        </p:nvSpPr>
        <p:spPr>
          <a:xfrm>
            <a:off x="566928" y="4846320"/>
            <a:ext cx="256032" cy="0"/>
          </a:xfrm>
          <a:prstGeom prst="line">
            <a:avLst/>
          </a:prstGeom>
          <a:noFill/>
          <a:ln w="31750">
            <a:solidFill>
              <a:srgbClr val="3FE08A"/>
            </a:solidFill>
            <a:prstDash val="solid"/>
          </a:ln>
        </p:spPr>
        <p:txBody>
          <a:bodyPr/>
          <a:lstStyle/>
          <a:p>
            <a:endParaRPr lang="en-SE"/>
          </a:p>
        </p:txBody>
      </p:sp>
      <p:sp>
        <p:nvSpPr>
          <p:cNvPr id="44" name="corner tick">
            <a:extLst>
              <a:ext uri="{C183D7F6-B498-43B3-948B-1728B52AA6E4}">
                <adec:decorative xmlns:adec="http://schemas.microsoft.com/office/drawing/2017/decorative" val="1"/>
              </a:ext>
            </a:extLst>
          </p:cNvPr>
          <p:cNvSpPr/>
          <p:nvPr/>
        </p:nvSpPr>
        <p:spPr>
          <a:xfrm>
            <a:off x="566928" y="4590288"/>
            <a:ext cx="0" cy="256032"/>
          </a:xfrm>
          <a:prstGeom prst="line">
            <a:avLst/>
          </a:prstGeom>
          <a:noFill/>
          <a:ln w="31750">
            <a:solidFill>
              <a:srgbClr val="3FE08A"/>
            </a:solidFill>
            <a:prstDash val="solid"/>
          </a:ln>
        </p:spPr>
        <p:txBody>
          <a:bodyPr/>
          <a:lstStyle/>
          <a:p>
            <a:endParaRPr lang="en-SE"/>
          </a:p>
        </p:txBody>
      </p:sp>
      <p:sp>
        <p:nvSpPr>
          <p:cNvPr id="45" name="corner tick">
            <a:extLst>
              <a:ext uri="{C183D7F6-B498-43B3-948B-1728B52AA6E4}">
                <adec:decorative xmlns:adec="http://schemas.microsoft.com/office/drawing/2017/decorative" val="1"/>
              </a:ext>
            </a:extLst>
          </p:cNvPr>
          <p:cNvSpPr/>
          <p:nvPr/>
        </p:nvSpPr>
        <p:spPr>
          <a:xfrm>
            <a:off x="6528816" y="4846320"/>
            <a:ext cx="256032" cy="0"/>
          </a:xfrm>
          <a:prstGeom prst="line">
            <a:avLst/>
          </a:prstGeom>
          <a:noFill/>
          <a:ln w="31750">
            <a:solidFill>
              <a:srgbClr val="3FE08A"/>
            </a:solidFill>
            <a:prstDash val="solid"/>
          </a:ln>
        </p:spPr>
        <p:txBody>
          <a:bodyPr/>
          <a:lstStyle/>
          <a:p>
            <a:endParaRPr lang="en-SE"/>
          </a:p>
        </p:txBody>
      </p:sp>
      <p:sp>
        <p:nvSpPr>
          <p:cNvPr id="46" name="corner tick">
            <a:extLst>
              <a:ext uri="{C183D7F6-B498-43B3-948B-1728B52AA6E4}">
                <adec:decorative xmlns:adec="http://schemas.microsoft.com/office/drawing/2017/decorative" val="1"/>
              </a:ext>
            </a:extLst>
          </p:cNvPr>
          <p:cNvSpPr/>
          <p:nvPr/>
        </p:nvSpPr>
        <p:spPr>
          <a:xfrm>
            <a:off x="6784848" y="4590288"/>
            <a:ext cx="0" cy="256032"/>
          </a:xfrm>
          <a:prstGeom prst="line">
            <a:avLst/>
          </a:prstGeom>
          <a:noFill/>
          <a:ln w="31750">
            <a:solidFill>
              <a:srgbClr val="3FE08A"/>
            </a:solidFill>
            <a:prstDash val="solid"/>
          </a:ln>
        </p:spPr>
        <p:txBody>
          <a:bodyPr/>
          <a:lstStyle/>
          <a:p>
            <a:endParaRPr lang="en-SE"/>
          </a:p>
        </p:txBody>
      </p:sp>
      <p:sp>
        <p:nvSpPr>
          <p:cNvPr id="47" name="figure tag background">
            <a:extLst>
              <a:ext uri="{C183D7F6-B498-43B3-948B-1728B52AA6E4}">
                <adec:decorative xmlns:adec="http://schemas.microsoft.com/office/drawing/2017/decorative" val="1"/>
              </a:ext>
            </a:extLst>
          </p:cNvPr>
          <p:cNvSpPr/>
          <p:nvPr/>
        </p:nvSpPr>
        <p:spPr>
          <a:xfrm>
            <a:off x="768096" y="2167128"/>
            <a:ext cx="1783080" cy="274320"/>
          </a:xfrm>
          <a:prstGeom prst="rect">
            <a:avLst/>
          </a:prstGeom>
          <a:solidFill>
            <a:srgbClr val="3FE08A"/>
          </a:solidFill>
          <a:ln w="12700">
            <a:solidFill>
              <a:srgbClr val="333333"/>
            </a:solidFill>
            <a:prstDash val="solid"/>
          </a:ln>
        </p:spPr>
        <p:txBody>
          <a:bodyPr/>
          <a:lstStyle/>
          <a:p>
            <a:endParaRPr lang="en-SE"/>
          </a:p>
        </p:txBody>
      </p:sp>
      <p:sp>
        <p:nvSpPr>
          <p:cNvPr id="48" name="Text 46"/>
          <p:cNvSpPr/>
          <p:nvPr/>
        </p:nvSpPr>
        <p:spPr>
          <a:xfrm>
            <a:off x="768096" y="2167128"/>
            <a:ext cx="1783080" cy="274320"/>
          </a:xfrm>
          <a:prstGeom prst="rect">
            <a:avLst/>
          </a:prstGeom>
          <a:noFill/>
          <a:ln/>
        </p:spPr>
        <p:txBody>
          <a:bodyPr wrap="square" lIns="0" tIns="0" rIns="0" bIns="0" rtlCol="0" anchor="ctr"/>
          <a:lstStyle/>
          <a:p>
            <a:pPr marL="0" indent="0" algn="ctr">
              <a:buNone/>
            </a:pPr>
            <a:r>
              <a:rPr lang="en-US" sz="950" b="1" dirty="0">
                <a:solidFill>
                  <a:srgbClr val="13171B"/>
                </a:solidFill>
                <a:latin typeface="Consolas" pitchFamily="34" charset="0"/>
                <a:ea typeface="Consolas" pitchFamily="34" charset="-122"/>
                <a:cs typeface="Consolas" pitchFamily="34" charset="-120"/>
              </a:rPr>
              <a:t>SCREENSHOT 4</a:t>
            </a:r>
            <a:endParaRPr lang="en-US" sz="950" dirty="0"/>
          </a:p>
        </p:txBody>
      </p:sp>
      <p:sp>
        <p:nvSpPr>
          <p:cNvPr id="49" name="Text 47"/>
          <p:cNvSpPr/>
          <p:nvPr/>
        </p:nvSpPr>
        <p:spPr>
          <a:xfrm>
            <a:off x="886968" y="2903220"/>
            <a:ext cx="5577840" cy="1005840"/>
          </a:xfrm>
          <a:prstGeom prst="rect">
            <a:avLst/>
          </a:prstGeom>
          <a:noFill/>
          <a:ln/>
        </p:spPr>
        <p:txBody>
          <a:bodyPr wrap="square" lIns="0" tIns="0" rIns="0" bIns="0" rtlCol="0" anchor="ctr"/>
          <a:lstStyle/>
          <a:p>
            <a:pPr marL="0" indent="0" algn="ctr">
              <a:lnSpc>
                <a:spcPct val="115000"/>
              </a:lnSpc>
              <a:buNone/>
            </a:pPr>
            <a:r>
              <a:rPr lang="en-US" sz="1200" b="1" dirty="0">
                <a:solidFill>
                  <a:srgbClr val="3FE08A"/>
                </a:solidFill>
                <a:latin typeface="Segoe UI" pitchFamily="34" charset="0"/>
                <a:ea typeface="Segoe UI" pitchFamily="34" charset="-122"/>
                <a:cs typeface="Segoe UI" pitchFamily="34" charset="-120"/>
              </a:rPr>
              <a:t>Capture: </a:t>
            </a:r>
            <a:r>
              <a:rPr lang="en-US" sz="1200" dirty="0">
                <a:solidFill>
                  <a:srgbClr val="AAB7C2"/>
                </a:solidFill>
                <a:latin typeface="Segoe UI" pitchFamily="34" charset="0"/>
                <a:ea typeface="Segoe UI" pitchFamily="34" charset="-122"/>
                <a:cs typeface="Segoe UI" pitchFamily="34" charset="-120"/>
              </a:rPr>
              <a:t>A symbol with resting orders on both sides, ideally including at least one row whose distance-from-touch marker is visible.</a:t>
            </a:r>
            <a:endParaRPr lang="en-US" sz="1200" dirty="0"/>
          </a:p>
        </p:txBody>
      </p:sp>
      <p:sp>
        <p:nvSpPr>
          <p:cNvPr id="50" name="Text 48"/>
          <p:cNvSpPr/>
          <p:nvPr/>
        </p:nvSpPr>
        <p:spPr>
          <a:xfrm>
            <a:off x="886968" y="4370832"/>
            <a:ext cx="5577840" cy="274320"/>
          </a:xfrm>
          <a:prstGeom prst="rect">
            <a:avLst/>
          </a:prstGeom>
          <a:noFill/>
          <a:ln/>
        </p:spPr>
        <p:txBody>
          <a:bodyPr wrap="square" lIns="0" tIns="0" rIns="0" bIns="0" rtlCol="0" anchor="ctr"/>
          <a:lstStyle/>
          <a:p>
            <a:pPr marL="0" indent="0" algn="ctr">
              <a:buNone/>
            </a:pPr>
            <a:r>
              <a:rPr lang="en-US" sz="900" dirty="0">
                <a:solidFill>
                  <a:srgbClr val="7C8B97"/>
                </a:solidFill>
                <a:latin typeface="Consolas" pitchFamily="34" charset="0"/>
                <a:ea typeface="Consolas" pitchFamily="34" charset="-122"/>
                <a:cs typeface="Consolas" pitchFamily="34" charset="-120"/>
              </a:rPr>
              <a:t>fig-04-depth-ladder.png</a:t>
            </a:r>
            <a:endParaRPr lang="en-US" sz="900" dirty="0"/>
          </a:p>
        </p:txBody>
      </p:sp>
      <p:sp>
        <p:nvSpPr>
          <p:cNvPr id="51" name="ladder column">
            <a:extLst>
              <a:ext uri="{C183D7F6-B498-43B3-948B-1728B52AA6E4}">
                <adec:decorative xmlns:adec="http://schemas.microsoft.com/office/drawing/2017/decorative" val="1"/>
              </a:ext>
            </a:extLst>
          </p:cNvPr>
          <p:cNvSpPr/>
          <p:nvPr/>
        </p:nvSpPr>
        <p:spPr>
          <a:xfrm>
            <a:off x="566928" y="5102352"/>
            <a:ext cx="722376" cy="402336"/>
          </a:xfrm>
          <a:prstGeom prst="rect">
            <a:avLst/>
          </a:prstGeom>
          <a:solidFill>
            <a:srgbClr val="273037"/>
          </a:solidFill>
          <a:ln w="12700">
            <a:solidFill>
              <a:srgbClr val="313B44"/>
            </a:solidFill>
            <a:prstDash val="solid"/>
          </a:ln>
        </p:spPr>
        <p:txBody>
          <a:bodyPr/>
          <a:lstStyle/>
          <a:p>
            <a:endParaRPr lang="en-SE"/>
          </a:p>
        </p:txBody>
      </p:sp>
      <p:sp>
        <p:nvSpPr>
          <p:cNvPr id="52" name="Text 50"/>
          <p:cNvSpPr/>
          <p:nvPr/>
        </p:nvSpPr>
        <p:spPr>
          <a:xfrm>
            <a:off x="566928" y="5102352"/>
            <a:ext cx="722376" cy="402336"/>
          </a:xfrm>
          <a:prstGeom prst="rect">
            <a:avLst/>
          </a:prstGeom>
          <a:noFill/>
          <a:ln/>
        </p:spPr>
        <p:txBody>
          <a:bodyPr wrap="square" lIns="0" tIns="0" rIns="0" bIns="0" rtlCol="0" anchor="ctr"/>
          <a:lstStyle/>
          <a:p>
            <a:pPr marL="0" indent="0" algn="ctr">
              <a:buNone/>
            </a:pPr>
            <a:r>
              <a:rPr lang="en-US" sz="1000" dirty="0">
                <a:solidFill>
                  <a:srgbClr val="AAB7C2"/>
                </a:solidFill>
                <a:latin typeface="Consolas" pitchFamily="34" charset="0"/>
                <a:ea typeface="Consolas" pitchFamily="34" charset="-122"/>
                <a:cs typeface="Consolas" pitchFamily="34" charset="-120"/>
              </a:rPr>
              <a:t>Cum</a:t>
            </a:r>
            <a:endParaRPr lang="en-US" sz="1000" dirty="0"/>
          </a:p>
        </p:txBody>
      </p:sp>
      <p:sp>
        <p:nvSpPr>
          <p:cNvPr id="53" name="ladder column">
            <a:extLst>
              <a:ext uri="{C183D7F6-B498-43B3-948B-1728B52AA6E4}">
                <adec:decorative xmlns:adec="http://schemas.microsoft.com/office/drawing/2017/decorative" val="1"/>
              </a:ext>
            </a:extLst>
          </p:cNvPr>
          <p:cNvSpPr/>
          <p:nvPr/>
        </p:nvSpPr>
        <p:spPr>
          <a:xfrm>
            <a:off x="1325880" y="5102352"/>
            <a:ext cx="722376" cy="402336"/>
          </a:xfrm>
          <a:prstGeom prst="rect">
            <a:avLst/>
          </a:prstGeom>
          <a:solidFill>
            <a:srgbClr val="273037"/>
          </a:solidFill>
          <a:ln w="12700">
            <a:solidFill>
              <a:srgbClr val="313B44"/>
            </a:solidFill>
            <a:prstDash val="solid"/>
          </a:ln>
        </p:spPr>
        <p:txBody>
          <a:bodyPr/>
          <a:lstStyle/>
          <a:p>
            <a:endParaRPr lang="en-SE"/>
          </a:p>
        </p:txBody>
      </p:sp>
      <p:sp>
        <p:nvSpPr>
          <p:cNvPr id="54" name="Text 52"/>
          <p:cNvSpPr/>
          <p:nvPr/>
        </p:nvSpPr>
        <p:spPr>
          <a:xfrm>
            <a:off x="1325880" y="5102352"/>
            <a:ext cx="722376" cy="402336"/>
          </a:xfrm>
          <a:prstGeom prst="rect">
            <a:avLst/>
          </a:prstGeom>
          <a:noFill/>
          <a:ln/>
        </p:spPr>
        <p:txBody>
          <a:bodyPr wrap="square" lIns="0" tIns="0" rIns="0" bIns="0" rtlCol="0" anchor="ctr"/>
          <a:lstStyle/>
          <a:p>
            <a:pPr marL="0" indent="0" algn="ctr">
              <a:buNone/>
            </a:pPr>
            <a:r>
              <a:rPr lang="en-US" sz="1000" dirty="0">
                <a:solidFill>
                  <a:srgbClr val="AAB7C2"/>
                </a:solidFill>
                <a:latin typeface="Consolas" pitchFamily="34" charset="0"/>
                <a:ea typeface="Consolas" pitchFamily="34" charset="-122"/>
                <a:cs typeface="Consolas" pitchFamily="34" charset="-120"/>
              </a:rPr>
              <a:t>Qty</a:t>
            </a:r>
            <a:endParaRPr lang="en-US" sz="1000" dirty="0"/>
          </a:p>
        </p:txBody>
      </p:sp>
      <p:sp>
        <p:nvSpPr>
          <p:cNvPr id="55" name="ladder column">
            <a:extLst>
              <a:ext uri="{C183D7F6-B498-43B3-948B-1728B52AA6E4}">
                <adec:decorative xmlns:adec="http://schemas.microsoft.com/office/drawing/2017/decorative" val="1"/>
              </a:ext>
            </a:extLst>
          </p:cNvPr>
          <p:cNvSpPr/>
          <p:nvPr/>
        </p:nvSpPr>
        <p:spPr>
          <a:xfrm>
            <a:off x="2084832" y="5102352"/>
            <a:ext cx="722376" cy="402336"/>
          </a:xfrm>
          <a:prstGeom prst="rect">
            <a:avLst/>
          </a:prstGeom>
          <a:solidFill>
            <a:srgbClr val="273037"/>
          </a:solidFill>
          <a:ln w="12700">
            <a:solidFill>
              <a:srgbClr val="313B44"/>
            </a:solidFill>
            <a:prstDash val="solid"/>
          </a:ln>
        </p:spPr>
        <p:txBody>
          <a:bodyPr/>
          <a:lstStyle/>
          <a:p>
            <a:endParaRPr lang="en-SE"/>
          </a:p>
        </p:txBody>
      </p:sp>
      <p:sp>
        <p:nvSpPr>
          <p:cNvPr id="56" name="Text 54"/>
          <p:cNvSpPr/>
          <p:nvPr/>
        </p:nvSpPr>
        <p:spPr>
          <a:xfrm>
            <a:off x="2084832" y="5102352"/>
            <a:ext cx="722376" cy="402336"/>
          </a:xfrm>
          <a:prstGeom prst="rect">
            <a:avLst/>
          </a:prstGeom>
          <a:noFill/>
          <a:ln/>
        </p:spPr>
        <p:txBody>
          <a:bodyPr wrap="square" lIns="0" tIns="0" rIns="0" bIns="0" rtlCol="0" anchor="ctr"/>
          <a:lstStyle/>
          <a:p>
            <a:pPr marL="0" indent="0" algn="ctr">
              <a:buNone/>
            </a:pPr>
            <a:r>
              <a:rPr lang="en-US" sz="1000" dirty="0">
                <a:solidFill>
                  <a:srgbClr val="AAB7C2"/>
                </a:solidFill>
                <a:latin typeface="Consolas" pitchFamily="34" charset="0"/>
                <a:ea typeface="Consolas" pitchFamily="34" charset="-122"/>
                <a:cs typeface="Consolas" pitchFamily="34" charset="-120"/>
              </a:rPr>
              <a:t>#</a:t>
            </a:r>
            <a:endParaRPr lang="en-US" sz="1000" dirty="0"/>
          </a:p>
        </p:txBody>
      </p:sp>
      <p:sp>
        <p:nvSpPr>
          <p:cNvPr id="57" name="ladder column">
            <a:extLst>
              <a:ext uri="{C183D7F6-B498-43B3-948B-1728B52AA6E4}">
                <adec:decorative xmlns:adec="http://schemas.microsoft.com/office/drawing/2017/decorative" val="1"/>
              </a:ext>
            </a:extLst>
          </p:cNvPr>
          <p:cNvSpPr/>
          <p:nvPr/>
        </p:nvSpPr>
        <p:spPr>
          <a:xfrm>
            <a:off x="2843784" y="5102352"/>
            <a:ext cx="722376" cy="402336"/>
          </a:xfrm>
          <a:prstGeom prst="rect">
            <a:avLst/>
          </a:prstGeom>
          <a:solidFill>
            <a:srgbClr val="122C22"/>
          </a:solidFill>
          <a:ln w="12700">
            <a:solidFill>
              <a:srgbClr val="3FE08A"/>
            </a:solidFill>
            <a:prstDash val="solid"/>
          </a:ln>
        </p:spPr>
        <p:txBody>
          <a:bodyPr/>
          <a:lstStyle/>
          <a:p>
            <a:endParaRPr lang="en-SE"/>
          </a:p>
        </p:txBody>
      </p:sp>
      <p:sp>
        <p:nvSpPr>
          <p:cNvPr id="58" name="Text 56"/>
          <p:cNvSpPr/>
          <p:nvPr/>
        </p:nvSpPr>
        <p:spPr>
          <a:xfrm>
            <a:off x="2843784" y="5102352"/>
            <a:ext cx="722376" cy="402336"/>
          </a:xfrm>
          <a:prstGeom prst="rect">
            <a:avLst/>
          </a:prstGeom>
          <a:noFill/>
          <a:ln/>
        </p:spPr>
        <p:txBody>
          <a:bodyPr wrap="square" lIns="0" tIns="0" rIns="0" bIns="0" rtlCol="0" anchor="ctr"/>
          <a:lstStyle/>
          <a:p>
            <a:pPr marL="0" indent="0" algn="ctr">
              <a:buNone/>
            </a:pPr>
            <a:r>
              <a:rPr lang="en-US" sz="1000" b="1" dirty="0">
                <a:solidFill>
                  <a:srgbClr val="3FE08A"/>
                </a:solidFill>
                <a:latin typeface="Consolas" pitchFamily="34" charset="0"/>
                <a:ea typeface="Consolas" pitchFamily="34" charset="-122"/>
                <a:cs typeface="Consolas" pitchFamily="34" charset="-120"/>
              </a:rPr>
              <a:t>Bid</a:t>
            </a:r>
            <a:endParaRPr lang="en-US" sz="1000" dirty="0"/>
          </a:p>
        </p:txBody>
      </p:sp>
      <p:sp>
        <p:nvSpPr>
          <p:cNvPr id="59" name="ladder column">
            <a:extLst>
              <a:ext uri="{C183D7F6-B498-43B3-948B-1728B52AA6E4}">
                <adec:decorative xmlns:adec="http://schemas.microsoft.com/office/drawing/2017/decorative" val="1"/>
              </a:ext>
            </a:extLst>
          </p:cNvPr>
          <p:cNvSpPr/>
          <p:nvPr/>
        </p:nvSpPr>
        <p:spPr>
          <a:xfrm>
            <a:off x="3602736" y="5102352"/>
            <a:ext cx="722376" cy="402336"/>
          </a:xfrm>
          <a:prstGeom prst="rect">
            <a:avLst/>
          </a:prstGeom>
          <a:solidFill>
            <a:srgbClr val="2A1A1C"/>
          </a:solidFill>
          <a:ln w="12700">
            <a:solidFill>
              <a:srgbClr val="EF5B63"/>
            </a:solidFill>
            <a:prstDash val="solid"/>
          </a:ln>
        </p:spPr>
        <p:txBody>
          <a:bodyPr/>
          <a:lstStyle/>
          <a:p>
            <a:endParaRPr lang="en-SE"/>
          </a:p>
        </p:txBody>
      </p:sp>
      <p:sp>
        <p:nvSpPr>
          <p:cNvPr id="60" name="Text 58"/>
          <p:cNvSpPr/>
          <p:nvPr/>
        </p:nvSpPr>
        <p:spPr>
          <a:xfrm>
            <a:off x="3602736" y="5102352"/>
            <a:ext cx="722376" cy="402336"/>
          </a:xfrm>
          <a:prstGeom prst="rect">
            <a:avLst/>
          </a:prstGeom>
          <a:noFill/>
          <a:ln/>
        </p:spPr>
        <p:txBody>
          <a:bodyPr wrap="square" lIns="0" tIns="0" rIns="0" bIns="0" rtlCol="0" anchor="ctr"/>
          <a:lstStyle/>
          <a:p>
            <a:pPr marL="0" indent="0" algn="ctr">
              <a:buNone/>
            </a:pPr>
            <a:r>
              <a:rPr lang="en-US" sz="1000" b="1" dirty="0">
                <a:solidFill>
                  <a:srgbClr val="EF5B63"/>
                </a:solidFill>
                <a:latin typeface="Consolas" pitchFamily="34" charset="0"/>
                <a:ea typeface="Consolas" pitchFamily="34" charset="-122"/>
                <a:cs typeface="Consolas" pitchFamily="34" charset="-120"/>
              </a:rPr>
              <a:t>Ask</a:t>
            </a:r>
            <a:endParaRPr lang="en-US" sz="1000" dirty="0"/>
          </a:p>
        </p:txBody>
      </p:sp>
      <p:sp>
        <p:nvSpPr>
          <p:cNvPr id="61" name="ladder column">
            <a:extLst>
              <a:ext uri="{C183D7F6-B498-43B3-948B-1728B52AA6E4}">
                <adec:decorative xmlns:adec="http://schemas.microsoft.com/office/drawing/2017/decorative" val="1"/>
              </a:ext>
            </a:extLst>
          </p:cNvPr>
          <p:cNvSpPr/>
          <p:nvPr/>
        </p:nvSpPr>
        <p:spPr>
          <a:xfrm>
            <a:off x="4361688" y="5102352"/>
            <a:ext cx="722376" cy="402336"/>
          </a:xfrm>
          <a:prstGeom prst="rect">
            <a:avLst/>
          </a:prstGeom>
          <a:solidFill>
            <a:srgbClr val="273037"/>
          </a:solidFill>
          <a:ln w="12700">
            <a:solidFill>
              <a:srgbClr val="313B44"/>
            </a:solidFill>
            <a:prstDash val="solid"/>
          </a:ln>
        </p:spPr>
        <p:txBody>
          <a:bodyPr/>
          <a:lstStyle/>
          <a:p>
            <a:endParaRPr lang="en-SE"/>
          </a:p>
        </p:txBody>
      </p:sp>
      <p:sp>
        <p:nvSpPr>
          <p:cNvPr id="62" name="Text 60"/>
          <p:cNvSpPr/>
          <p:nvPr/>
        </p:nvSpPr>
        <p:spPr>
          <a:xfrm>
            <a:off x="4361688" y="5102352"/>
            <a:ext cx="722376" cy="402336"/>
          </a:xfrm>
          <a:prstGeom prst="rect">
            <a:avLst/>
          </a:prstGeom>
          <a:noFill/>
          <a:ln/>
        </p:spPr>
        <p:txBody>
          <a:bodyPr wrap="square" lIns="0" tIns="0" rIns="0" bIns="0" rtlCol="0" anchor="ctr"/>
          <a:lstStyle/>
          <a:p>
            <a:pPr marL="0" indent="0" algn="ctr">
              <a:buNone/>
            </a:pPr>
            <a:r>
              <a:rPr lang="en-US" sz="1000" dirty="0">
                <a:solidFill>
                  <a:srgbClr val="AAB7C2"/>
                </a:solidFill>
                <a:latin typeface="Consolas" pitchFamily="34" charset="0"/>
                <a:ea typeface="Consolas" pitchFamily="34" charset="-122"/>
                <a:cs typeface="Consolas" pitchFamily="34" charset="-120"/>
              </a:rPr>
              <a:t>#</a:t>
            </a:r>
            <a:endParaRPr lang="en-US" sz="1000" dirty="0"/>
          </a:p>
        </p:txBody>
      </p:sp>
      <p:sp>
        <p:nvSpPr>
          <p:cNvPr id="63" name="ladder column">
            <a:extLst>
              <a:ext uri="{C183D7F6-B498-43B3-948B-1728B52AA6E4}">
                <adec:decorative xmlns:adec="http://schemas.microsoft.com/office/drawing/2017/decorative" val="1"/>
              </a:ext>
            </a:extLst>
          </p:cNvPr>
          <p:cNvSpPr/>
          <p:nvPr/>
        </p:nvSpPr>
        <p:spPr>
          <a:xfrm>
            <a:off x="5120640" y="5102352"/>
            <a:ext cx="722376" cy="402336"/>
          </a:xfrm>
          <a:prstGeom prst="rect">
            <a:avLst/>
          </a:prstGeom>
          <a:solidFill>
            <a:srgbClr val="273037"/>
          </a:solidFill>
          <a:ln w="12700">
            <a:solidFill>
              <a:srgbClr val="313B44"/>
            </a:solidFill>
            <a:prstDash val="solid"/>
          </a:ln>
        </p:spPr>
        <p:txBody>
          <a:bodyPr/>
          <a:lstStyle/>
          <a:p>
            <a:endParaRPr lang="en-SE"/>
          </a:p>
        </p:txBody>
      </p:sp>
      <p:sp>
        <p:nvSpPr>
          <p:cNvPr id="64" name="Text 62"/>
          <p:cNvSpPr/>
          <p:nvPr/>
        </p:nvSpPr>
        <p:spPr>
          <a:xfrm>
            <a:off x="5120640" y="5102352"/>
            <a:ext cx="722376" cy="402336"/>
          </a:xfrm>
          <a:prstGeom prst="rect">
            <a:avLst/>
          </a:prstGeom>
          <a:noFill/>
          <a:ln/>
        </p:spPr>
        <p:txBody>
          <a:bodyPr wrap="square" lIns="0" tIns="0" rIns="0" bIns="0" rtlCol="0" anchor="ctr"/>
          <a:lstStyle/>
          <a:p>
            <a:pPr marL="0" indent="0" algn="ctr">
              <a:buNone/>
            </a:pPr>
            <a:r>
              <a:rPr lang="en-US" sz="1000" dirty="0">
                <a:solidFill>
                  <a:srgbClr val="AAB7C2"/>
                </a:solidFill>
                <a:latin typeface="Consolas" pitchFamily="34" charset="0"/>
                <a:ea typeface="Consolas" pitchFamily="34" charset="-122"/>
                <a:cs typeface="Consolas" pitchFamily="34" charset="-120"/>
              </a:rPr>
              <a:t>Qty</a:t>
            </a:r>
            <a:endParaRPr lang="en-US" sz="1000" dirty="0"/>
          </a:p>
        </p:txBody>
      </p:sp>
      <p:sp>
        <p:nvSpPr>
          <p:cNvPr id="65" name="ladder column">
            <a:extLst>
              <a:ext uri="{C183D7F6-B498-43B3-948B-1728B52AA6E4}">
                <adec:decorative xmlns:adec="http://schemas.microsoft.com/office/drawing/2017/decorative" val="1"/>
              </a:ext>
            </a:extLst>
          </p:cNvPr>
          <p:cNvSpPr/>
          <p:nvPr/>
        </p:nvSpPr>
        <p:spPr>
          <a:xfrm>
            <a:off x="5879592" y="5102352"/>
            <a:ext cx="722376" cy="402336"/>
          </a:xfrm>
          <a:prstGeom prst="rect">
            <a:avLst/>
          </a:prstGeom>
          <a:solidFill>
            <a:srgbClr val="273037"/>
          </a:solidFill>
          <a:ln w="12700">
            <a:solidFill>
              <a:srgbClr val="313B44"/>
            </a:solidFill>
            <a:prstDash val="solid"/>
          </a:ln>
        </p:spPr>
        <p:txBody>
          <a:bodyPr/>
          <a:lstStyle/>
          <a:p>
            <a:endParaRPr lang="en-SE"/>
          </a:p>
        </p:txBody>
      </p:sp>
      <p:sp>
        <p:nvSpPr>
          <p:cNvPr id="66" name="Text 64"/>
          <p:cNvSpPr/>
          <p:nvPr/>
        </p:nvSpPr>
        <p:spPr>
          <a:xfrm>
            <a:off x="5879592" y="5102352"/>
            <a:ext cx="722376" cy="402336"/>
          </a:xfrm>
          <a:prstGeom prst="rect">
            <a:avLst/>
          </a:prstGeom>
          <a:noFill/>
          <a:ln/>
        </p:spPr>
        <p:txBody>
          <a:bodyPr wrap="square" lIns="0" tIns="0" rIns="0" bIns="0" rtlCol="0" anchor="ctr"/>
          <a:lstStyle/>
          <a:p>
            <a:pPr marL="0" indent="0" algn="ctr">
              <a:buNone/>
            </a:pPr>
            <a:r>
              <a:rPr lang="en-US" sz="1000" dirty="0">
                <a:solidFill>
                  <a:srgbClr val="AAB7C2"/>
                </a:solidFill>
                <a:latin typeface="Consolas" pitchFamily="34" charset="0"/>
                <a:ea typeface="Consolas" pitchFamily="34" charset="-122"/>
                <a:cs typeface="Consolas" pitchFamily="34" charset="-120"/>
              </a:rPr>
              <a:t>Cum</a:t>
            </a:r>
            <a:endParaRPr lang="en-US" sz="1000" dirty="0"/>
          </a:p>
        </p:txBody>
      </p:sp>
      <p:sp>
        <p:nvSpPr>
          <p:cNvPr id="67" name="touch centre line">
            <a:extLst>
              <a:ext uri="{C183D7F6-B498-43B3-948B-1728B52AA6E4}">
                <adec:decorative xmlns:adec="http://schemas.microsoft.com/office/drawing/2017/decorative" val="1"/>
              </a:ext>
            </a:extLst>
          </p:cNvPr>
          <p:cNvSpPr/>
          <p:nvPr/>
        </p:nvSpPr>
        <p:spPr>
          <a:xfrm>
            <a:off x="3602736" y="4974336"/>
            <a:ext cx="0" cy="658368"/>
          </a:xfrm>
          <a:prstGeom prst="line">
            <a:avLst/>
          </a:prstGeom>
          <a:noFill/>
          <a:ln w="25400">
            <a:solidFill>
              <a:srgbClr val="E6EDF3"/>
            </a:solidFill>
            <a:prstDash val="solid"/>
          </a:ln>
        </p:spPr>
        <p:txBody>
          <a:bodyPr/>
          <a:lstStyle/>
          <a:p>
            <a:endParaRPr lang="en-SE"/>
          </a:p>
        </p:txBody>
      </p:sp>
      <p:sp>
        <p:nvSpPr>
          <p:cNvPr id="68" name="Text 66"/>
          <p:cNvSpPr/>
          <p:nvPr/>
        </p:nvSpPr>
        <p:spPr>
          <a:xfrm>
            <a:off x="566928" y="5559552"/>
            <a:ext cx="6217920" cy="457200"/>
          </a:xfrm>
          <a:prstGeom prst="rect">
            <a:avLst/>
          </a:prstGeom>
          <a:noFill/>
          <a:ln/>
        </p:spPr>
        <p:txBody>
          <a:bodyPr wrap="square" lIns="0" tIns="0" rIns="0" bIns="0" rtlCol="0" anchor="ctr"/>
          <a:lstStyle/>
          <a:p>
            <a:pPr marL="0" indent="0" algn="ctr">
              <a:lnSpc>
                <a:spcPct val="105000"/>
              </a:lnSpc>
              <a:buNone/>
            </a:pPr>
            <a:r>
              <a:rPr lang="en-US" sz="1050" i="1" dirty="0">
                <a:solidFill>
                  <a:srgbClr val="7C8B97"/>
                </a:solidFill>
                <a:latin typeface="Segoe UI" pitchFamily="34" charset="0"/>
                <a:ea typeface="Segoe UI" pitchFamily="34" charset="-122"/>
                <a:cs typeface="Segoe UI" pitchFamily="34" charset="-120"/>
              </a:rPr>
              <a:t>the two best prices meet in the middle; cumulative totals sit at the outer edges, where the eye ends up after scanning inward</a:t>
            </a:r>
            <a:endParaRPr lang="en-US" sz="1050" dirty="0"/>
          </a:p>
        </p:txBody>
      </p:sp>
      <p:sp>
        <p:nvSpPr>
          <p:cNvPr id="69" name="panel">
            <a:extLst>
              <a:ext uri="{C183D7F6-B498-43B3-948B-1728B52AA6E4}">
                <adec:decorative xmlns:adec="http://schemas.microsoft.com/office/drawing/2017/decorative" val="1"/>
              </a:ext>
            </a:extLst>
          </p:cNvPr>
          <p:cNvSpPr/>
          <p:nvPr/>
        </p:nvSpPr>
        <p:spPr>
          <a:xfrm>
            <a:off x="6995160" y="2057400"/>
            <a:ext cx="4178808" cy="128016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70" name="panel accent">
            <a:extLst>
              <a:ext uri="{C183D7F6-B498-43B3-948B-1728B52AA6E4}">
                <adec:decorative xmlns:adec="http://schemas.microsoft.com/office/drawing/2017/decorative" val="1"/>
              </a:ext>
            </a:extLst>
          </p:cNvPr>
          <p:cNvSpPr/>
          <p:nvPr/>
        </p:nvSpPr>
        <p:spPr>
          <a:xfrm>
            <a:off x="6995160" y="2057400"/>
            <a:ext cx="50292" cy="1280160"/>
          </a:xfrm>
          <a:prstGeom prst="rect">
            <a:avLst/>
          </a:prstGeom>
          <a:solidFill>
            <a:srgbClr val="3FE08A"/>
          </a:solidFill>
          <a:ln w="12700">
            <a:solidFill>
              <a:srgbClr val="333333"/>
            </a:solidFill>
            <a:prstDash val="solid"/>
          </a:ln>
        </p:spPr>
        <p:txBody>
          <a:bodyPr/>
          <a:lstStyle/>
          <a:p>
            <a:endParaRPr lang="en-SE"/>
          </a:p>
        </p:txBody>
      </p:sp>
      <p:sp>
        <p:nvSpPr>
          <p:cNvPr id="71" name="Text 69"/>
          <p:cNvSpPr/>
          <p:nvPr/>
        </p:nvSpPr>
        <p:spPr>
          <a:xfrm>
            <a:off x="7223760" y="2203704"/>
            <a:ext cx="3749040" cy="292608"/>
          </a:xfrm>
          <a:prstGeom prst="rect">
            <a:avLst/>
          </a:prstGeom>
          <a:noFill/>
          <a:ln/>
        </p:spPr>
        <p:txBody>
          <a:bodyPr wrap="square" lIns="0" tIns="0" rIns="0" bIns="0" rtlCol="0" anchor="ctr"/>
          <a:lstStyle/>
          <a:p>
            <a:pPr marL="0" indent="0">
              <a:buNone/>
            </a:pPr>
            <a:r>
              <a:rPr lang="en-US" sz="1300" b="1" dirty="0">
                <a:solidFill>
                  <a:srgbClr val="E6EDF3"/>
                </a:solidFill>
                <a:latin typeface="Segoe UI" pitchFamily="34" charset="0"/>
                <a:ea typeface="Segoe UI" pitchFamily="34" charset="-122"/>
                <a:cs typeface="Segoe UI" pitchFamily="34" charset="-120"/>
              </a:rPr>
              <a:t>Aggregated, never per-order</a:t>
            </a:r>
            <a:endParaRPr lang="en-US" sz="1300" dirty="0"/>
          </a:p>
        </p:txBody>
      </p:sp>
      <p:sp>
        <p:nvSpPr>
          <p:cNvPr id="72" name="Text 70"/>
          <p:cNvSpPr/>
          <p:nvPr/>
        </p:nvSpPr>
        <p:spPr>
          <a:xfrm>
            <a:off x="7223760" y="2532888"/>
            <a:ext cx="3749040" cy="713232"/>
          </a:xfrm>
          <a:prstGeom prst="rect">
            <a:avLst/>
          </a:prstGeom>
          <a:noFill/>
          <a:ln/>
        </p:spPr>
        <p:txBody>
          <a:bodyPr wrap="square" lIns="0" tIns="0" rIns="0" bIns="0" rtlCol="0" anchor="ctr"/>
          <a:lstStyle/>
          <a:p>
            <a:pPr marL="0" indent="0">
              <a:lnSpc>
                <a:spcPct val="110000"/>
              </a:lnSpc>
              <a:buNone/>
            </a:pPr>
            <a:r>
              <a:rPr lang="en-US" sz="1100" dirty="0">
                <a:solidFill>
                  <a:srgbClr val="AAB7C2"/>
                </a:solidFill>
                <a:latin typeface="Segoe UI" pitchFamily="34" charset="0"/>
                <a:ea typeface="Segoe UI" pitchFamily="34" charset="-122"/>
                <a:cs typeface="Segoe UI" pitchFamily="34" charset="-120"/>
              </a:rPr>
              <a:t>You see total quantity at each price level. Individual order identity is never carried on the feed, at any version.</a:t>
            </a:r>
            <a:endParaRPr lang="en-US" sz="1100" dirty="0"/>
          </a:p>
        </p:txBody>
      </p:sp>
      <p:sp>
        <p:nvSpPr>
          <p:cNvPr id="73" name="panel">
            <a:extLst>
              <a:ext uri="{C183D7F6-B498-43B3-948B-1728B52AA6E4}">
                <adec:decorative xmlns:adec="http://schemas.microsoft.com/office/drawing/2017/decorative" val="1"/>
              </a:ext>
            </a:extLst>
          </p:cNvPr>
          <p:cNvSpPr/>
          <p:nvPr/>
        </p:nvSpPr>
        <p:spPr>
          <a:xfrm>
            <a:off x="6995160" y="3474720"/>
            <a:ext cx="4178808" cy="128016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74" name="panel accent">
            <a:extLst>
              <a:ext uri="{C183D7F6-B498-43B3-948B-1728B52AA6E4}">
                <adec:decorative xmlns:adec="http://schemas.microsoft.com/office/drawing/2017/decorative" val="1"/>
              </a:ext>
            </a:extLst>
          </p:cNvPr>
          <p:cNvSpPr/>
          <p:nvPr/>
        </p:nvSpPr>
        <p:spPr>
          <a:xfrm>
            <a:off x="6995160" y="3474720"/>
            <a:ext cx="50292" cy="1280160"/>
          </a:xfrm>
          <a:prstGeom prst="rect">
            <a:avLst/>
          </a:prstGeom>
          <a:solidFill>
            <a:srgbClr val="3FE08A"/>
          </a:solidFill>
          <a:ln w="12700">
            <a:solidFill>
              <a:srgbClr val="333333"/>
            </a:solidFill>
            <a:prstDash val="solid"/>
          </a:ln>
        </p:spPr>
        <p:txBody>
          <a:bodyPr/>
          <a:lstStyle/>
          <a:p>
            <a:endParaRPr lang="en-SE"/>
          </a:p>
        </p:txBody>
      </p:sp>
      <p:sp>
        <p:nvSpPr>
          <p:cNvPr id="75" name="Text 73"/>
          <p:cNvSpPr/>
          <p:nvPr/>
        </p:nvSpPr>
        <p:spPr>
          <a:xfrm>
            <a:off x="7223760" y="3621024"/>
            <a:ext cx="3749040" cy="292608"/>
          </a:xfrm>
          <a:prstGeom prst="rect">
            <a:avLst/>
          </a:prstGeom>
          <a:noFill/>
          <a:ln/>
        </p:spPr>
        <p:txBody>
          <a:bodyPr wrap="square" lIns="0" tIns="0" rIns="0" bIns="0" rtlCol="0" anchor="ctr"/>
          <a:lstStyle/>
          <a:p>
            <a:pPr marL="0" indent="0">
              <a:buNone/>
            </a:pPr>
            <a:r>
              <a:rPr lang="en-US" sz="1300" b="1" dirty="0">
                <a:solidFill>
                  <a:srgbClr val="E6EDF3"/>
                </a:solidFill>
                <a:latin typeface="Segoe UI" pitchFamily="34" charset="0"/>
                <a:ea typeface="Segoe UI" pitchFamily="34" charset="-122"/>
                <a:cs typeface="Segoe UI" pitchFamily="34" charset="-120"/>
              </a:rPr>
              <a:t>The # column</a:t>
            </a:r>
            <a:endParaRPr lang="en-US" sz="1300" dirty="0"/>
          </a:p>
        </p:txBody>
      </p:sp>
      <p:sp>
        <p:nvSpPr>
          <p:cNvPr id="76" name="Text 74"/>
          <p:cNvSpPr/>
          <p:nvPr/>
        </p:nvSpPr>
        <p:spPr>
          <a:xfrm>
            <a:off x="7223760" y="3950208"/>
            <a:ext cx="3749040" cy="713232"/>
          </a:xfrm>
          <a:prstGeom prst="rect">
            <a:avLst/>
          </a:prstGeom>
          <a:noFill/>
          <a:ln/>
        </p:spPr>
        <p:txBody>
          <a:bodyPr wrap="square" lIns="0" tIns="0" rIns="0" bIns="0" rtlCol="0" anchor="ctr"/>
          <a:lstStyle/>
          <a:p>
            <a:pPr marL="0" indent="0">
              <a:lnSpc>
                <a:spcPct val="110000"/>
              </a:lnSpc>
              <a:buNone/>
            </a:pPr>
            <a:r>
              <a:rPr lang="en-US" sz="1100" dirty="0">
                <a:solidFill>
                  <a:srgbClr val="AAB7C2"/>
                </a:solidFill>
                <a:latin typeface="Segoe UI" pitchFamily="34" charset="0"/>
                <a:ea typeface="Segoe UI" pitchFamily="34" charset="-122"/>
                <a:cs typeface="Segoe UI" pitchFamily="34" charset="-120"/>
              </a:rPr>
              <a:t>How many separate resting orders make up that level. 1,400 units from one order reads very differently from the same 1,400 split across four.</a:t>
            </a:r>
            <a:endParaRPr lang="en-US" sz="1100" dirty="0"/>
          </a:p>
        </p:txBody>
      </p:sp>
      <p:sp>
        <p:nvSpPr>
          <p:cNvPr id="77" name="panel">
            <a:extLst>
              <a:ext uri="{C183D7F6-B498-43B3-948B-1728B52AA6E4}">
                <adec:decorative xmlns:adec="http://schemas.microsoft.com/office/drawing/2017/decorative" val="1"/>
              </a:ext>
            </a:extLst>
          </p:cNvPr>
          <p:cNvSpPr/>
          <p:nvPr/>
        </p:nvSpPr>
        <p:spPr>
          <a:xfrm>
            <a:off x="6995160" y="4892040"/>
            <a:ext cx="4178808" cy="128016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78" name="panel accent">
            <a:extLst>
              <a:ext uri="{C183D7F6-B498-43B3-948B-1728B52AA6E4}">
                <adec:decorative xmlns:adec="http://schemas.microsoft.com/office/drawing/2017/decorative" val="1"/>
              </a:ext>
            </a:extLst>
          </p:cNvPr>
          <p:cNvSpPr/>
          <p:nvPr/>
        </p:nvSpPr>
        <p:spPr>
          <a:xfrm>
            <a:off x="6995160" y="4892040"/>
            <a:ext cx="50292" cy="1280160"/>
          </a:xfrm>
          <a:prstGeom prst="rect">
            <a:avLst/>
          </a:prstGeom>
          <a:solidFill>
            <a:srgbClr val="3FE08A"/>
          </a:solidFill>
          <a:ln w="12700">
            <a:solidFill>
              <a:srgbClr val="333333"/>
            </a:solidFill>
            <a:prstDash val="solid"/>
          </a:ln>
        </p:spPr>
        <p:txBody>
          <a:bodyPr/>
          <a:lstStyle/>
          <a:p>
            <a:endParaRPr lang="en-SE"/>
          </a:p>
        </p:txBody>
      </p:sp>
      <p:sp>
        <p:nvSpPr>
          <p:cNvPr id="79" name="Text 77"/>
          <p:cNvSpPr/>
          <p:nvPr/>
        </p:nvSpPr>
        <p:spPr>
          <a:xfrm>
            <a:off x="7223760" y="5038344"/>
            <a:ext cx="3749040" cy="292608"/>
          </a:xfrm>
          <a:prstGeom prst="rect">
            <a:avLst/>
          </a:prstGeom>
          <a:noFill/>
          <a:ln/>
        </p:spPr>
        <p:txBody>
          <a:bodyPr wrap="square" lIns="0" tIns="0" rIns="0" bIns="0" rtlCol="0" anchor="ctr"/>
          <a:lstStyle/>
          <a:p>
            <a:pPr marL="0" indent="0">
              <a:buNone/>
            </a:pPr>
            <a:r>
              <a:rPr lang="en-US" sz="1300" b="1" dirty="0">
                <a:solidFill>
                  <a:srgbClr val="E6EDF3"/>
                </a:solidFill>
                <a:latin typeface="Segoe UI" pitchFamily="34" charset="0"/>
                <a:ea typeface="Segoe UI" pitchFamily="34" charset="-122"/>
                <a:cs typeface="Segoe UI" pitchFamily="34" charset="-120"/>
              </a:rPr>
              <a:t>Imbalance summary</a:t>
            </a:r>
            <a:endParaRPr lang="en-US" sz="1300" dirty="0"/>
          </a:p>
        </p:txBody>
      </p:sp>
      <p:sp>
        <p:nvSpPr>
          <p:cNvPr id="80" name="Text 78"/>
          <p:cNvSpPr/>
          <p:nvPr/>
        </p:nvSpPr>
        <p:spPr>
          <a:xfrm>
            <a:off x="7223760" y="5367528"/>
            <a:ext cx="3749040" cy="713232"/>
          </a:xfrm>
          <a:prstGeom prst="rect">
            <a:avLst/>
          </a:prstGeom>
          <a:noFill/>
          <a:ln/>
        </p:spPr>
        <p:txBody>
          <a:bodyPr wrap="square" lIns="0" tIns="0" rIns="0" bIns="0" rtlCol="0" anchor="ctr"/>
          <a:lstStyle/>
          <a:p>
            <a:pPr marL="0" indent="0">
              <a:lnSpc>
                <a:spcPct val="110000"/>
              </a:lnSpc>
              <a:buNone/>
            </a:pPr>
            <a:r>
              <a:rPr lang="en-US" sz="1100" dirty="0">
                <a:solidFill>
                  <a:srgbClr val="AAB7C2"/>
                </a:solidFill>
                <a:latin typeface="Segoe UI" pitchFamily="34" charset="0"/>
                <a:ea typeface="Segoe UI" pitchFamily="34" charset="-122"/>
                <a:cs typeface="Segoe UI" pitchFamily="34" charset="-120"/>
              </a:rPr>
              <a:t>Below the ladder, the book's lean is stated as a percentage — "62% bid" — rather than a bid:ask ratio.</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Depth: why the rows are evenly spaced</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03 · SCREENS</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24</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A design decision worth understanding, because it changes how you read the picture.</a:t>
            </a:r>
            <a:endParaRPr lang="en-US" sz="1400" dirty="0"/>
          </a:p>
        </p:txBody>
      </p:sp>
      <p:sp>
        <p:nvSpPr>
          <p:cNvPr id="38" name="panel">
            <a:extLst>
              <a:ext uri="{C183D7F6-B498-43B3-948B-1728B52AA6E4}">
                <adec:decorative xmlns:adec="http://schemas.microsoft.com/office/drawing/2017/decorative" val="1"/>
              </a:ext>
            </a:extLst>
          </p:cNvPr>
          <p:cNvSpPr/>
          <p:nvPr/>
        </p:nvSpPr>
        <p:spPr>
          <a:xfrm>
            <a:off x="566928" y="1965960"/>
            <a:ext cx="5120640" cy="365760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39" name="panel accent">
            <a:extLst>
              <a:ext uri="{C183D7F6-B498-43B3-948B-1728B52AA6E4}">
                <adec:decorative xmlns:adec="http://schemas.microsoft.com/office/drawing/2017/decorative" val="1"/>
              </a:ext>
            </a:extLst>
          </p:cNvPr>
          <p:cNvSpPr/>
          <p:nvPr/>
        </p:nvSpPr>
        <p:spPr>
          <a:xfrm>
            <a:off x="566928" y="1965960"/>
            <a:ext cx="50292" cy="3657600"/>
          </a:xfrm>
          <a:prstGeom prst="rect">
            <a:avLst/>
          </a:prstGeom>
          <a:solidFill>
            <a:srgbClr val="EF5B63"/>
          </a:solidFill>
          <a:ln w="12700">
            <a:solidFill>
              <a:srgbClr val="333333"/>
            </a:solidFill>
            <a:prstDash val="solid"/>
          </a:ln>
        </p:spPr>
        <p:txBody>
          <a:bodyPr/>
          <a:lstStyle/>
          <a:p>
            <a:endParaRPr lang="en-SE"/>
          </a:p>
        </p:txBody>
      </p:sp>
      <p:sp>
        <p:nvSpPr>
          <p:cNvPr id="40" name="Text 38"/>
          <p:cNvSpPr/>
          <p:nvPr/>
        </p:nvSpPr>
        <p:spPr>
          <a:xfrm>
            <a:off x="868680" y="2148840"/>
            <a:ext cx="4572000" cy="320040"/>
          </a:xfrm>
          <a:prstGeom prst="rect">
            <a:avLst/>
          </a:prstGeom>
          <a:noFill/>
          <a:ln/>
        </p:spPr>
        <p:txBody>
          <a:bodyPr wrap="square" lIns="0" tIns="0" rIns="0" bIns="0" rtlCol="0" anchor="ctr"/>
          <a:lstStyle/>
          <a:p>
            <a:pPr marL="0" indent="0">
              <a:buNone/>
            </a:pPr>
            <a:r>
              <a:rPr lang="en-US" sz="1450" b="1" dirty="0">
                <a:solidFill>
                  <a:srgbClr val="E6EDF3"/>
                </a:solidFill>
                <a:latin typeface="Segoe UI" pitchFamily="34" charset="0"/>
                <a:ea typeface="Segoe UI" pitchFamily="34" charset="-122"/>
                <a:cs typeface="Segoe UI" pitchFamily="34" charset="-120"/>
              </a:rPr>
              <a:t>If rows were spaced by price…</a:t>
            </a:r>
            <a:endParaRPr lang="en-US" sz="1450" dirty="0"/>
          </a:p>
        </p:txBody>
      </p:sp>
      <p:sp>
        <p:nvSpPr>
          <p:cNvPr id="41" name="price level row">
            <a:extLst>
              <a:ext uri="{C183D7F6-B498-43B3-948B-1728B52AA6E4}">
                <adec:decorative xmlns:adec="http://schemas.microsoft.com/office/drawing/2017/decorative" val="1"/>
              </a:ext>
            </a:extLst>
          </p:cNvPr>
          <p:cNvSpPr/>
          <p:nvPr/>
        </p:nvSpPr>
        <p:spPr>
          <a:xfrm>
            <a:off x="868680" y="2697480"/>
            <a:ext cx="4572000" cy="77724"/>
          </a:xfrm>
          <a:prstGeom prst="rect">
            <a:avLst/>
          </a:prstGeom>
          <a:solidFill>
            <a:srgbClr val="7C8B97"/>
          </a:solidFill>
          <a:ln w="12700">
            <a:solidFill>
              <a:srgbClr val="333333"/>
            </a:solidFill>
            <a:prstDash val="solid"/>
          </a:ln>
        </p:spPr>
        <p:txBody>
          <a:bodyPr/>
          <a:lstStyle/>
          <a:p>
            <a:endParaRPr lang="en-SE"/>
          </a:p>
        </p:txBody>
      </p:sp>
      <p:sp>
        <p:nvSpPr>
          <p:cNvPr id="42" name="price level row">
            <a:extLst>
              <a:ext uri="{C183D7F6-B498-43B3-948B-1728B52AA6E4}">
                <adec:decorative xmlns:adec="http://schemas.microsoft.com/office/drawing/2017/decorative" val="1"/>
              </a:ext>
            </a:extLst>
          </p:cNvPr>
          <p:cNvSpPr/>
          <p:nvPr/>
        </p:nvSpPr>
        <p:spPr>
          <a:xfrm>
            <a:off x="868680" y="2788920"/>
            <a:ext cx="4572000" cy="77724"/>
          </a:xfrm>
          <a:prstGeom prst="rect">
            <a:avLst/>
          </a:prstGeom>
          <a:solidFill>
            <a:srgbClr val="7C8B97"/>
          </a:solidFill>
          <a:ln w="12700">
            <a:solidFill>
              <a:srgbClr val="333333"/>
            </a:solidFill>
            <a:prstDash val="solid"/>
          </a:ln>
        </p:spPr>
        <p:txBody>
          <a:bodyPr/>
          <a:lstStyle/>
          <a:p>
            <a:endParaRPr lang="en-SE"/>
          </a:p>
        </p:txBody>
      </p:sp>
      <p:sp>
        <p:nvSpPr>
          <p:cNvPr id="43" name="price level row">
            <a:extLst>
              <a:ext uri="{C183D7F6-B498-43B3-948B-1728B52AA6E4}">
                <adec:decorative xmlns:adec="http://schemas.microsoft.com/office/drawing/2017/decorative" val="1"/>
              </a:ext>
            </a:extLst>
          </p:cNvPr>
          <p:cNvSpPr/>
          <p:nvPr/>
        </p:nvSpPr>
        <p:spPr>
          <a:xfrm>
            <a:off x="868680" y="2880360"/>
            <a:ext cx="4572000" cy="77724"/>
          </a:xfrm>
          <a:prstGeom prst="rect">
            <a:avLst/>
          </a:prstGeom>
          <a:solidFill>
            <a:srgbClr val="7C8B97"/>
          </a:solidFill>
          <a:ln w="12700">
            <a:solidFill>
              <a:srgbClr val="333333"/>
            </a:solidFill>
            <a:prstDash val="solid"/>
          </a:ln>
        </p:spPr>
        <p:txBody>
          <a:bodyPr/>
          <a:lstStyle/>
          <a:p>
            <a:endParaRPr lang="en-SE"/>
          </a:p>
        </p:txBody>
      </p:sp>
      <p:sp>
        <p:nvSpPr>
          <p:cNvPr id="44" name="price level row">
            <a:extLst>
              <a:ext uri="{C183D7F6-B498-43B3-948B-1728B52AA6E4}">
                <adec:decorative xmlns:adec="http://schemas.microsoft.com/office/drawing/2017/decorative" val="1"/>
              </a:ext>
            </a:extLst>
          </p:cNvPr>
          <p:cNvSpPr/>
          <p:nvPr/>
        </p:nvSpPr>
        <p:spPr>
          <a:xfrm>
            <a:off x="868680" y="2971800"/>
            <a:ext cx="4572000" cy="77724"/>
          </a:xfrm>
          <a:prstGeom prst="rect">
            <a:avLst/>
          </a:prstGeom>
          <a:solidFill>
            <a:srgbClr val="7C8B97"/>
          </a:solidFill>
          <a:ln w="12700">
            <a:solidFill>
              <a:srgbClr val="333333"/>
            </a:solidFill>
            <a:prstDash val="solid"/>
          </a:ln>
        </p:spPr>
        <p:txBody>
          <a:bodyPr/>
          <a:lstStyle/>
          <a:p>
            <a:endParaRPr lang="en-SE"/>
          </a:p>
        </p:txBody>
      </p:sp>
      <p:sp>
        <p:nvSpPr>
          <p:cNvPr id="45" name="price level row">
            <a:extLst>
              <a:ext uri="{C183D7F6-B498-43B3-948B-1728B52AA6E4}">
                <adec:decorative xmlns:adec="http://schemas.microsoft.com/office/drawing/2017/decorative" val="1"/>
              </a:ext>
            </a:extLst>
          </p:cNvPr>
          <p:cNvSpPr/>
          <p:nvPr/>
        </p:nvSpPr>
        <p:spPr>
          <a:xfrm>
            <a:off x="868680" y="4892040"/>
            <a:ext cx="4572000" cy="77724"/>
          </a:xfrm>
          <a:prstGeom prst="rect">
            <a:avLst/>
          </a:prstGeom>
          <a:solidFill>
            <a:srgbClr val="EF5B63"/>
          </a:solidFill>
          <a:ln w="12700">
            <a:solidFill>
              <a:srgbClr val="333333"/>
            </a:solidFill>
            <a:prstDash val="solid"/>
          </a:ln>
        </p:spPr>
        <p:txBody>
          <a:bodyPr/>
          <a:lstStyle/>
          <a:p>
            <a:endParaRPr lang="en-SE"/>
          </a:p>
        </p:txBody>
      </p:sp>
      <p:sp>
        <p:nvSpPr>
          <p:cNvPr id="46" name="Text 44"/>
          <p:cNvSpPr/>
          <p:nvPr/>
        </p:nvSpPr>
        <p:spPr>
          <a:xfrm>
            <a:off x="868680" y="3154680"/>
            <a:ext cx="4572000" cy="274320"/>
          </a:xfrm>
          <a:prstGeom prst="rect">
            <a:avLst/>
          </a:prstGeom>
          <a:noFill/>
          <a:ln/>
        </p:spPr>
        <p:txBody>
          <a:bodyPr wrap="square" lIns="0" tIns="0" rIns="0" bIns="0" rtlCol="0" anchor="ctr"/>
          <a:lstStyle/>
          <a:p>
            <a:pPr marL="0" indent="0">
              <a:buNone/>
            </a:pPr>
            <a:r>
              <a:rPr lang="en-US" sz="1050" i="1" dirty="0">
                <a:solidFill>
                  <a:srgbClr val="EF5B63"/>
                </a:solidFill>
                <a:latin typeface="Segoe UI" pitchFamily="34" charset="0"/>
                <a:ea typeface="Segoe UI" pitchFamily="34" charset="-122"/>
                <a:cs typeface="Segoe UI" pitchFamily="34" charset="-120"/>
              </a:rPr>
              <a:t>levels collapse into unreadable slivers</a:t>
            </a:r>
            <a:endParaRPr lang="en-US" sz="1050" dirty="0"/>
          </a:p>
        </p:txBody>
      </p:sp>
      <p:sp>
        <p:nvSpPr>
          <p:cNvPr id="47" name="Text 45"/>
          <p:cNvSpPr/>
          <p:nvPr/>
        </p:nvSpPr>
        <p:spPr>
          <a:xfrm>
            <a:off x="868680" y="5074920"/>
            <a:ext cx="4572000" cy="457200"/>
          </a:xfrm>
          <a:prstGeom prst="rect">
            <a:avLst/>
          </a:prstGeom>
          <a:noFill/>
          <a:ln/>
        </p:spPr>
        <p:txBody>
          <a:bodyPr wrap="square" lIns="0" tIns="0" rIns="0" bIns="0" rtlCol="0" anchor="ctr"/>
          <a:lstStyle/>
          <a:p>
            <a:pPr marL="0" indent="0">
              <a:lnSpc>
                <a:spcPct val="110000"/>
              </a:lnSpc>
              <a:buNone/>
            </a:pPr>
            <a:r>
              <a:rPr lang="en-US" sz="1100" dirty="0">
                <a:solidFill>
                  <a:srgbClr val="AAB7C2"/>
                </a:solidFill>
                <a:latin typeface="Segoe UI" pitchFamily="34" charset="0"/>
                <a:ea typeface="Segoe UI" pitchFamily="34" charset="-122"/>
                <a:cs typeface="Segoe UI" pitchFamily="34" charset="-120"/>
              </a:rPr>
              <a:t>…and a distant level would sit metres away from the rest. The board becomes useless the moment one level sits far out.</a:t>
            </a:r>
            <a:endParaRPr lang="en-US" sz="1100" dirty="0"/>
          </a:p>
        </p:txBody>
      </p:sp>
      <p:sp>
        <p:nvSpPr>
          <p:cNvPr id="48" name="panel">
            <a:extLst>
              <a:ext uri="{C183D7F6-B498-43B3-948B-1728B52AA6E4}">
                <adec:decorative xmlns:adec="http://schemas.microsoft.com/office/drawing/2017/decorative" val="1"/>
              </a:ext>
            </a:extLst>
          </p:cNvPr>
          <p:cNvSpPr/>
          <p:nvPr/>
        </p:nvSpPr>
        <p:spPr>
          <a:xfrm>
            <a:off x="6053328" y="1965960"/>
            <a:ext cx="5120640" cy="365760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49" name="panel accent">
            <a:extLst>
              <a:ext uri="{C183D7F6-B498-43B3-948B-1728B52AA6E4}">
                <adec:decorative xmlns:adec="http://schemas.microsoft.com/office/drawing/2017/decorative" val="1"/>
              </a:ext>
            </a:extLst>
          </p:cNvPr>
          <p:cNvSpPr/>
          <p:nvPr/>
        </p:nvSpPr>
        <p:spPr>
          <a:xfrm>
            <a:off x="6053328" y="1965960"/>
            <a:ext cx="50292" cy="3657600"/>
          </a:xfrm>
          <a:prstGeom prst="rect">
            <a:avLst/>
          </a:prstGeom>
          <a:solidFill>
            <a:srgbClr val="3FE08A"/>
          </a:solidFill>
          <a:ln w="12700">
            <a:solidFill>
              <a:srgbClr val="333333"/>
            </a:solidFill>
            <a:prstDash val="solid"/>
          </a:ln>
        </p:spPr>
        <p:txBody>
          <a:bodyPr/>
          <a:lstStyle/>
          <a:p>
            <a:endParaRPr lang="en-SE"/>
          </a:p>
        </p:txBody>
      </p:sp>
      <p:sp>
        <p:nvSpPr>
          <p:cNvPr id="50" name="Text 48"/>
          <p:cNvSpPr/>
          <p:nvPr/>
        </p:nvSpPr>
        <p:spPr>
          <a:xfrm>
            <a:off x="6355080" y="2148840"/>
            <a:ext cx="4572000" cy="320040"/>
          </a:xfrm>
          <a:prstGeom prst="rect">
            <a:avLst/>
          </a:prstGeom>
          <a:noFill/>
          <a:ln/>
        </p:spPr>
        <p:txBody>
          <a:bodyPr wrap="square" lIns="0" tIns="0" rIns="0" bIns="0" rtlCol="0" anchor="ctr"/>
          <a:lstStyle/>
          <a:p>
            <a:pPr marL="0" indent="0">
              <a:buNone/>
            </a:pPr>
            <a:r>
              <a:rPr lang="en-US" sz="1450" b="1" dirty="0">
                <a:solidFill>
                  <a:srgbClr val="E6EDF3"/>
                </a:solidFill>
                <a:latin typeface="Segoe UI" pitchFamily="34" charset="0"/>
                <a:ea typeface="Segoe UI" pitchFamily="34" charset="-122"/>
                <a:cs typeface="Segoe UI" pitchFamily="34" charset="-120"/>
              </a:rPr>
              <a:t>So they are evenly spaced instead</a:t>
            </a:r>
            <a:endParaRPr lang="en-US" sz="1450" dirty="0"/>
          </a:p>
        </p:txBody>
      </p:sp>
      <p:sp>
        <p:nvSpPr>
          <p:cNvPr id="51" name="price level row">
            <a:extLst>
              <a:ext uri="{C183D7F6-B498-43B3-948B-1728B52AA6E4}">
                <adec:decorative xmlns:adec="http://schemas.microsoft.com/office/drawing/2017/decorative" val="1"/>
              </a:ext>
            </a:extLst>
          </p:cNvPr>
          <p:cNvSpPr/>
          <p:nvPr/>
        </p:nvSpPr>
        <p:spPr>
          <a:xfrm>
            <a:off x="6355080" y="2651760"/>
            <a:ext cx="3657600" cy="365760"/>
          </a:xfrm>
          <a:prstGeom prst="rect">
            <a:avLst/>
          </a:prstGeom>
          <a:solidFill>
            <a:srgbClr val="273037"/>
          </a:solidFill>
          <a:ln w="12700">
            <a:solidFill>
              <a:srgbClr val="313B44"/>
            </a:solidFill>
            <a:prstDash val="solid"/>
          </a:ln>
        </p:spPr>
        <p:txBody>
          <a:bodyPr/>
          <a:lstStyle/>
          <a:p>
            <a:endParaRPr lang="en-SE"/>
          </a:p>
        </p:txBody>
      </p:sp>
      <p:sp>
        <p:nvSpPr>
          <p:cNvPr id="52" name="level quantity bar">
            <a:extLst>
              <a:ext uri="{C183D7F6-B498-43B3-948B-1728B52AA6E4}">
                <adec:decorative xmlns:adec="http://schemas.microsoft.com/office/drawing/2017/decorative" val="1"/>
              </a:ext>
            </a:extLst>
          </p:cNvPr>
          <p:cNvSpPr/>
          <p:nvPr/>
        </p:nvSpPr>
        <p:spPr>
          <a:xfrm>
            <a:off x="6355080" y="2651760"/>
            <a:ext cx="3108960" cy="365760"/>
          </a:xfrm>
          <a:prstGeom prst="rect">
            <a:avLst/>
          </a:prstGeom>
          <a:solidFill>
            <a:srgbClr val="1E6E4B"/>
          </a:solidFill>
          <a:ln w="12700">
            <a:solidFill>
              <a:srgbClr val="333333"/>
            </a:solidFill>
            <a:prstDash val="solid"/>
          </a:ln>
        </p:spPr>
        <p:txBody>
          <a:bodyPr/>
          <a:lstStyle/>
          <a:p>
            <a:endParaRPr lang="en-SE"/>
          </a:p>
        </p:txBody>
      </p:sp>
      <p:sp>
        <p:nvSpPr>
          <p:cNvPr id="53" name="Text 51"/>
          <p:cNvSpPr/>
          <p:nvPr/>
        </p:nvSpPr>
        <p:spPr>
          <a:xfrm>
            <a:off x="10104120" y="2651760"/>
            <a:ext cx="822960" cy="365760"/>
          </a:xfrm>
          <a:prstGeom prst="rect">
            <a:avLst/>
          </a:prstGeom>
          <a:noFill/>
          <a:ln/>
        </p:spPr>
        <p:txBody>
          <a:bodyPr wrap="square" lIns="0" tIns="0" rIns="0" bIns="0" rtlCol="0" anchor="ctr"/>
          <a:lstStyle/>
          <a:p>
            <a:pPr marL="0" indent="0" algn="r">
              <a:buNone/>
            </a:pPr>
            <a:r>
              <a:rPr lang="en-US" sz="1000" dirty="0">
                <a:solidFill>
                  <a:srgbClr val="AAB7C2"/>
                </a:solidFill>
                <a:latin typeface="Consolas" pitchFamily="34" charset="0"/>
                <a:ea typeface="Consolas" pitchFamily="34" charset="-122"/>
                <a:cs typeface="Consolas" pitchFamily="34" charset="-120"/>
              </a:rPr>
              <a:t>0.1%</a:t>
            </a:r>
            <a:endParaRPr lang="en-US" sz="1000" dirty="0"/>
          </a:p>
        </p:txBody>
      </p:sp>
      <p:sp>
        <p:nvSpPr>
          <p:cNvPr id="54" name="price level row">
            <a:extLst>
              <a:ext uri="{C183D7F6-B498-43B3-948B-1728B52AA6E4}">
                <adec:decorative xmlns:adec="http://schemas.microsoft.com/office/drawing/2017/decorative" val="1"/>
              </a:ext>
            </a:extLst>
          </p:cNvPr>
          <p:cNvSpPr/>
          <p:nvPr/>
        </p:nvSpPr>
        <p:spPr>
          <a:xfrm>
            <a:off x="6355080" y="3127248"/>
            <a:ext cx="3657600" cy="365760"/>
          </a:xfrm>
          <a:prstGeom prst="rect">
            <a:avLst/>
          </a:prstGeom>
          <a:solidFill>
            <a:srgbClr val="273037"/>
          </a:solidFill>
          <a:ln w="12700">
            <a:solidFill>
              <a:srgbClr val="313B44"/>
            </a:solidFill>
            <a:prstDash val="solid"/>
          </a:ln>
        </p:spPr>
        <p:txBody>
          <a:bodyPr/>
          <a:lstStyle/>
          <a:p>
            <a:endParaRPr lang="en-SE"/>
          </a:p>
        </p:txBody>
      </p:sp>
      <p:sp>
        <p:nvSpPr>
          <p:cNvPr id="55" name="level quantity bar">
            <a:extLst>
              <a:ext uri="{C183D7F6-B498-43B3-948B-1728B52AA6E4}">
                <adec:decorative xmlns:adec="http://schemas.microsoft.com/office/drawing/2017/decorative" val="1"/>
              </a:ext>
            </a:extLst>
          </p:cNvPr>
          <p:cNvSpPr/>
          <p:nvPr/>
        </p:nvSpPr>
        <p:spPr>
          <a:xfrm>
            <a:off x="6355080" y="3127248"/>
            <a:ext cx="2560320" cy="365760"/>
          </a:xfrm>
          <a:prstGeom prst="rect">
            <a:avLst/>
          </a:prstGeom>
          <a:solidFill>
            <a:srgbClr val="1E6E4B"/>
          </a:solidFill>
          <a:ln w="12700">
            <a:solidFill>
              <a:srgbClr val="333333"/>
            </a:solidFill>
            <a:prstDash val="solid"/>
          </a:ln>
        </p:spPr>
        <p:txBody>
          <a:bodyPr/>
          <a:lstStyle/>
          <a:p>
            <a:endParaRPr lang="en-SE"/>
          </a:p>
        </p:txBody>
      </p:sp>
      <p:sp>
        <p:nvSpPr>
          <p:cNvPr id="56" name="Text 54"/>
          <p:cNvSpPr/>
          <p:nvPr/>
        </p:nvSpPr>
        <p:spPr>
          <a:xfrm>
            <a:off x="10104120" y="3127248"/>
            <a:ext cx="822960" cy="365760"/>
          </a:xfrm>
          <a:prstGeom prst="rect">
            <a:avLst/>
          </a:prstGeom>
          <a:noFill/>
          <a:ln/>
        </p:spPr>
        <p:txBody>
          <a:bodyPr wrap="square" lIns="0" tIns="0" rIns="0" bIns="0" rtlCol="0" anchor="ctr"/>
          <a:lstStyle/>
          <a:p>
            <a:pPr marL="0" indent="0" algn="r">
              <a:buNone/>
            </a:pPr>
            <a:r>
              <a:rPr lang="en-US" sz="1000" dirty="0">
                <a:solidFill>
                  <a:srgbClr val="AAB7C2"/>
                </a:solidFill>
                <a:latin typeface="Consolas" pitchFamily="34" charset="0"/>
                <a:ea typeface="Consolas" pitchFamily="34" charset="-122"/>
                <a:cs typeface="Consolas" pitchFamily="34" charset="-120"/>
              </a:rPr>
              <a:t>0.3%</a:t>
            </a:r>
            <a:endParaRPr lang="en-US" sz="1000" dirty="0"/>
          </a:p>
        </p:txBody>
      </p:sp>
      <p:sp>
        <p:nvSpPr>
          <p:cNvPr id="57" name="price level row">
            <a:extLst>
              <a:ext uri="{C183D7F6-B498-43B3-948B-1728B52AA6E4}">
                <adec:decorative xmlns:adec="http://schemas.microsoft.com/office/drawing/2017/decorative" val="1"/>
              </a:ext>
            </a:extLst>
          </p:cNvPr>
          <p:cNvSpPr/>
          <p:nvPr/>
        </p:nvSpPr>
        <p:spPr>
          <a:xfrm>
            <a:off x="6355080" y="3602736"/>
            <a:ext cx="3657600" cy="365760"/>
          </a:xfrm>
          <a:prstGeom prst="rect">
            <a:avLst/>
          </a:prstGeom>
          <a:solidFill>
            <a:srgbClr val="273037"/>
          </a:solidFill>
          <a:ln w="12700">
            <a:solidFill>
              <a:srgbClr val="313B44"/>
            </a:solidFill>
            <a:prstDash val="solid"/>
          </a:ln>
        </p:spPr>
        <p:txBody>
          <a:bodyPr/>
          <a:lstStyle/>
          <a:p>
            <a:endParaRPr lang="en-SE"/>
          </a:p>
        </p:txBody>
      </p:sp>
      <p:sp>
        <p:nvSpPr>
          <p:cNvPr id="58" name="level quantity bar">
            <a:extLst>
              <a:ext uri="{C183D7F6-B498-43B3-948B-1728B52AA6E4}">
                <adec:decorative xmlns:adec="http://schemas.microsoft.com/office/drawing/2017/decorative" val="1"/>
              </a:ext>
            </a:extLst>
          </p:cNvPr>
          <p:cNvSpPr/>
          <p:nvPr/>
        </p:nvSpPr>
        <p:spPr>
          <a:xfrm>
            <a:off x="6355080" y="3602736"/>
            <a:ext cx="2011680" cy="365760"/>
          </a:xfrm>
          <a:prstGeom prst="rect">
            <a:avLst/>
          </a:prstGeom>
          <a:solidFill>
            <a:srgbClr val="1E6E4B"/>
          </a:solidFill>
          <a:ln w="12700">
            <a:solidFill>
              <a:srgbClr val="333333"/>
            </a:solidFill>
            <a:prstDash val="solid"/>
          </a:ln>
        </p:spPr>
        <p:txBody>
          <a:bodyPr/>
          <a:lstStyle/>
          <a:p>
            <a:endParaRPr lang="en-SE"/>
          </a:p>
        </p:txBody>
      </p:sp>
      <p:sp>
        <p:nvSpPr>
          <p:cNvPr id="59" name="Text 57"/>
          <p:cNvSpPr/>
          <p:nvPr/>
        </p:nvSpPr>
        <p:spPr>
          <a:xfrm>
            <a:off x="10104120" y="3602736"/>
            <a:ext cx="822960" cy="365760"/>
          </a:xfrm>
          <a:prstGeom prst="rect">
            <a:avLst/>
          </a:prstGeom>
          <a:noFill/>
          <a:ln/>
        </p:spPr>
        <p:txBody>
          <a:bodyPr wrap="square" lIns="0" tIns="0" rIns="0" bIns="0" rtlCol="0" anchor="ctr"/>
          <a:lstStyle/>
          <a:p>
            <a:pPr marL="0" indent="0" algn="r">
              <a:buNone/>
            </a:pPr>
            <a:r>
              <a:rPr lang="en-US" sz="1000" dirty="0">
                <a:solidFill>
                  <a:srgbClr val="AAB7C2"/>
                </a:solidFill>
                <a:latin typeface="Consolas" pitchFamily="34" charset="0"/>
                <a:ea typeface="Consolas" pitchFamily="34" charset="-122"/>
                <a:cs typeface="Consolas" pitchFamily="34" charset="-120"/>
              </a:rPr>
              <a:t>0.6%</a:t>
            </a:r>
            <a:endParaRPr lang="en-US" sz="1000" dirty="0"/>
          </a:p>
        </p:txBody>
      </p:sp>
      <p:sp>
        <p:nvSpPr>
          <p:cNvPr id="60" name="price level row">
            <a:extLst>
              <a:ext uri="{C183D7F6-B498-43B3-948B-1728B52AA6E4}">
                <adec:decorative xmlns:adec="http://schemas.microsoft.com/office/drawing/2017/decorative" val="1"/>
              </a:ext>
            </a:extLst>
          </p:cNvPr>
          <p:cNvSpPr/>
          <p:nvPr/>
        </p:nvSpPr>
        <p:spPr>
          <a:xfrm>
            <a:off x="6355080" y="4078224"/>
            <a:ext cx="3657600" cy="365760"/>
          </a:xfrm>
          <a:prstGeom prst="rect">
            <a:avLst/>
          </a:prstGeom>
          <a:solidFill>
            <a:srgbClr val="273037"/>
          </a:solidFill>
          <a:ln w="12700">
            <a:solidFill>
              <a:srgbClr val="313B44"/>
            </a:solidFill>
            <a:prstDash val="solid"/>
          </a:ln>
        </p:spPr>
        <p:txBody>
          <a:bodyPr/>
          <a:lstStyle/>
          <a:p>
            <a:endParaRPr lang="en-SE"/>
          </a:p>
        </p:txBody>
      </p:sp>
      <p:sp>
        <p:nvSpPr>
          <p:cNvPr id="61" name="level quantity bar">
            <a:extLst>
              <a:ext uri="{C183D7F6-B498-43B3-948B-1728B52AA6E4}">
                <adec:decorative xmlns:adec="http://schemas.microsoft.com/office/drawing/2017/decorative" val="1"/>
              </a:ext>
            </a:extLst>
          </p:cNvPr>
          <p:cNvSpPr/>
          <p:nvPr/>
        </p:nvSpPr>
        <p:spPr>
          <a:xfrm>
            <a:off x="6355080" y="4078224"/>
            <a:ext cx="1463040" cy="365760"/>
          </a:xfrm>
          <a:prstGeom prst="rect">
            <a:avLst/>
          </a:prstGeom>
          <a:solidFill>
            <a:srgbClr val="1E6E4B"/>
          </a:solidFill>
          <a:ln w="12700">
            <a:solidFill>
              <a:srgbClr val="333333"/>
            </a:solidFill>
            <a:prstDash val="solid"/>
          </a:ln>
        </p:spPr>
        <p:txBody>
          <a:bodyPr/>
          <a:lstStyle/>
          <a:p>
            <a:endParaRPr lang="en-SE"/>
          </a:p>
        </p:txBody>
      </p:sp>
      <p:sp>
        <p:nvSpPr>
          <p:cNvPr id="62" name="Text 60"/>
          <p:cNvSpPr/>
          <p:nvPr/>
        </p:nvSpPr>
        <p:spPr>
          <a:xfrm>
            <a:off x="10104120" y="4078224"/>
            <a:ext cx="822960" cy="365760"/>
          </a:xfrm>
          <a:prstGeom prst="rect">
            <a:avLst/>
          </a:prstGeom>
          <a:noFill/>
          <a:ln/>
        </p:spPr>
        <p:txBody>
          <a:bodyPr wrap="square" lIns="0" tIns="0" rIns="0" bIns="0" rtlCol="0" anchor="ctr"/>
          <a:lstStyle/>
          <a:p>
            <a:pPr marL="0" indent="0" algn="r">
              <a:buNone/>
            </a:pPr>
            <a:r>
              <a:rPr lang="en-US" sz="1000" dirty="0">
                <a:solidFill>
                  <a:srgbClr val="AAB7C2"/>
                </a:solidFill>
                <a:latin typeface="Consolas" pitchFamily="34" charset="0"/>
                <a:ea typeface="Consolas" pitchFamily="34" charset="-122"/>
                <a:cs typeface="Consolas" pitchFamily="34" charset="-120"/>
              </a:rPr>
              <a:t>0.9%</a:t>
            </a:r>
            <a:endParaRPr lang="en-US" sz="1000" dirty="0"/>
          </a:p>
        </p:txBody>
      </p:sp>
      <p:sp>
        <p:nvSpPr>
          <p:cNvPr id="63" name="price level row">
            <a:extLst>
              <a:ext uri="{C183D7F6-B498-43B3-948B-1728B52AA6E4}">
                <adec:decorative xmlns:adec="http://schemas.microsoft.com/office/drawing/2017/decorative" val="1"/>
              </a:ext>
            </a:extLst>
          </p:cNvPr>
          <p:cNvSpPr/>
          <p:nvPr/>
        </p:nvSpPr>
        <p:spPr>
          <a:xfrm>
            <a:off x="6355080" y="4553712"/>
            <a:ext cx="3657600" cy="365760"/>
          </a:xfrm>
          <a:prstGeom prst="rect">
            <a:avLst/>
          </a:prstGeom>
          <a:solidFill>
            <a:srgbClr val="6B4A0F"/>
          </a:solidFill>
          <a:ln w="12700">
            <a:solidFill>
              <a:srgbClr val="F5A524"/>
            </a:solidFill>
            <a:prstDash val="solid"/>
          </a:ln>
        </p:spPr>
        <p:txBody>
          <a:bodyPr/>
          <a:lstStyle/>
          <a:p>
            <a:endParaRPr lang="en-SE"/>
          </a:p>
        </p:txBody>
      </p:sp>
      <p:sp>
        <p:nvSpPr>
          <p:cNvPr id="64" name="level quantity bar">
            <a:extLst>
              <a:ext uri="{C183D7F6-B498-43B3-948B-1728B52AA6E4}">
                <adec:decorative xmlns:adec="http://schemas.microsoft.com/office/drawing/2017/decorative" val="1"/>
              </a:ext>
            </a:extLst>
          </p:cNvPr>
          <p:cNvSpPr/>
          <p:nvPr/>
        </p:nvSpPr>
        <p:spPr>
          <a:xfrm>
            <a:off x="6355080" y="4553712"/>
            <a:ext cx="658368" cy="365760"/>
          </a:xfrm>
          <a:prstGeom prst="rect">
            <a:avLst/>
          </a:prstGeom>
          <a:solidFill>
            <a:srgbClr val="F5A524"/>
          </a:solidFill>
          <a:ln w="12700">
            <a:solidFill>
              <a:srgbClr val="333333"/>
            </a:solidFill>
            <a:prstDash val="solid"/>
          </a:ln>
        </p:spPr>
        <p:txBody>
          <a:bodyPr/>
          <a:lstStyle/>
          <a:p>
            <a:endParaRPr lang="en-SE"/>
          </a:p>
        </p:txBody>
      </p:sp>
      <p:sp>
        <p:nvSpPr>
          <p:cNvPr id="65" name="Text 63"/>
          <p:cNvSpPr/>
          <p:nvPr/>
        </p:nvSpPr>
        <p:spPr>
          <a:xfrm>
            <a:off x="10104120" y="4553712"/>
            <a:ext cx="822960" cy="365760"/>
          </a:xfrm>
          <a:prstGeom prst="rect">
            <a:avLst/>
          </a:prstGeom>
          <a:noFill/>
          <a:ln/>
        </p:spPr>
        <p:txBody>
          <a:bodyPr wrap="square" lIns="0" tIns="0" rIns="0" bIns="0" rtlCol="0" anchor="ctr"/>
          <a:lstStyle/>
          <a:p>
            <a:pPr marL="0" indent="0" algn="r">
              <a:buNone/>
            </a:pPr>
            <a:r>
              <a:rPr lang="en-US" sz="1000" b="1" dirty="0">
                <a:solidFill>
                  <a:srgbClr val="F5A524"/>
                </a:solidFill>
                <a:latin typeface="Consolas" pitchFamily="34" charset="0"/>
                <a:ea typeface="Consolas" pitchFamily="34" charset="-122"/>
                <a:cs typeface="Consolas" pitchFamily="34" charset="-120"/>
              </a:rPr>
              <a:t>4.8%</a:t>
            </a:r>
            <a:endParaRPr lang="en-US" sz="1000" dirty="0"/>
          </a:p>
        </p:txBody>
      </p:sp>
      <p:sp>
        <p:nvSpPr>
          <p:cNvPr id="66" name="Text 64"/>
          <p:cNvSpPr/>
          <p:nvPr/>
        </p:nvSpPr>
        <p:spPr>
          <a:xfrm>
            <a:off x="6355080" y="5074920"/>
            <a:ext cx="4572000" cy="457200"/>
          </a:xfrm>
          <a:prstGeom prst="rect">
            <a:avLst/>
          </a:prstGeom>
          <a:noFill/>
          <a:ln/>
        </p:spPr>
        <p:txBody>
          <a:bodyPr wrap="square" lIns="0" tIns="0" rIns="0" bIns="0" rtlCol="0" anchor="ctr"/>
          <a:lstStyle/>
          <a:p>
            <a:pPr marL="0" indent="0">
              <a:lnSpc>
                <a:spcPct val="110000"/>
              </a:lnSpc>
              <a:buNone/>
            </a:pPr>
            <a:r>
              <a:rPr lang="en-US" sz="1100" dirty="0">
                <a:solidFill>
                  <a:srgbClr val="AAB7C2"/>
                </a:solidFill>
                <a:latin typeface="Segoe UI" pitchFamily="34" charset="0"/>
                <a:ea typeface="Segoe UI" pitchFamily="34" charset="-122"/>
                <a:cs typeface="Segoe UI" pitchFamily="34" charset="-120"/>
              </a:rPr>
              <a:t>Each row carries its actual distance from the touch as a percentage — and an unusually far-out level gets a subtle highlight, so it never reads as "just the next rung down".</a:t>
            </a:r>
            <a:endParaRPr lang="en-US" sz="1100" dirty="0"/>
          </a:p>
        </p:txBody>
      </p:sp>
      <p:sp>
        <p:nvSpPr>
          <p:cNvPr id="67" name="Text 65"/>
          <p:cNvSpPr/>
          <p:nvPr/>
        </p:nvSpPr>
        <p:spPr>
          <a:xfrm>
            <a:off x="566928" y="5760720"/>
            <a:ext cx="10607040" cy="320040"/>
          </a:xfrm>
          <a:prstGeom prst="rect">
            <a:avLst/>
          </a:prstGeom>
          <a:noFill/>
          <a:ln/>
        </p:spPr>
        <p:txBody>
          <a:bodyPr wrap="square" lIns="0" tIns="0" rIns="0" bIns="0" rtlCol="0" anchor="ctr"/>
          <a:lstStyle/>
          <a:p>
            <a:pPr marL="0" indent="0">
              <a:buNone/>
            </a:pPr>
            <a:r>
              <a:rPr lang="en-US" sz="1200" i="1" dirty="0">
                <a:solidFill>
                  <a:srgbClr val="7C8B97"/>
                </a:solidFill>
                <a:latin typeface="Segoe UI" pitchFamily="34" charset="0"/>
                <a:ea typeface="Segoe UI" pitchFamily="34" charset="-122"/>
                <a:cs typeface="Segoe UI" pitchFamily="34" charset="-120"/>
              </a:rPr>
              <a:t>The trade-off is explicit: readability is bought with a number in a column, rather than with geometry you have to squint at.</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Index View — the market as a whole</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03 · SCREENS</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25</a:t>
            </a:r>
            <a:endParaRPr lang="en-US" sz="950" dirty="0"/>
          </a:p>
        </p:txBody>
      </p:sp>
      <p:sp>
        <p:nvSpPr>
          <p:cNvPr id="37" name="Text 35"/>
          <p:cNvSpPr/>
          <p:nvPr/>
        </p:nvSpPr>
        <p:spPr>
          <a:xfrm>
            <a:off x="566928" y="1170432"/>
            <a:ext cx="6217920" cy="566928"/>
          </a:xfrm>
          <a:prstGeom prst="rect">
            <a:avLst/>
          </a:prstGeom>
          <a:noFill/>
          <a:ln/>
        </p:spPr>
        <p:txBody>
          <a:bodyPr wrap="square" lIns="0" tIns="0" rIns="0" bIns="0" rtlCol="0" anchor="t"/>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Headline level plus a historical chart for a configured exchange index.</a:t>
            </a:r>
            <a:endParaRPr lang="en-US" sz="1400" dirty="0"/>
          </a:p>
        </p:txBody>
      </p:sp>
      <p:sp>
        <p:nvSpPr>
          <p:cNvPr id="38" name="screenshot placeholder frame">
            <a:extLst>
              <a:ext uri="{C183D7F6-B498-43B3-948B-1728B52AA6E4}">
                <adec:decorative xmlns:adec="http://schemas.microsoft.com/office/drawing/2017/decorative" val="1"/>
              </a:ext>
            </a:extLst>
          </p:cNvPr>
          <p:cNvSpPr/>
          <p:nvPr/>
        </p:nvSpPr>
        <p:spPr>
          <a:xfrm>
            <a:off x="566928" y="1965960"/>
            <a:ext cx="6217920" cy="3108960"/>
          </a:xfrm>
          <a:prstGeom prst="rect">
            <a:avLst/>
          </a:prstGeom>
          <a:solidFill>
            <a:srgbClr val="191E23"/>
          </a:solidFill>
          <a:ln w="22225">
            <a:solidFill>
              <a:srgbClr val="3FE08A"/>
            </a:solidFill>
            <a:prstDash val="dash"/>
          </a:ln>
        </p:spPr>
        <p:txBody>
          <a:bodyPr/>
          <a:lstStyle/>
          <a:p>
            <a:endParaRPr lang="en-SE"/>
          </a:p>
        </p:txBody>
      </p:sp>
      <p:sp>
        <p:nvSpPr>
          <p:cNvPr id="39" name="corner tick">
            <a:extLst>
              <a:ext uri="{C183D7F6-B498-43B3-948B-1728B52AA6E4}">
                <adec:decorative xmlns:adec="http://schemas.microsoft.com/office/drawing/2017/decorative" val="1"/>
              </a:ext>
            </a:extLst>
          </p:cNvPr>
          <p:cNvSpPr/>
          <p:nvPr/>
        </p:nvSpPr>
        <p:spPr>
          <a:xfrm>
            <a:off x="566928" y="1965960"/>
            <a:ext cx="256032" cy="0"/>
          </a:xfrm>
          <a:prstGeom prst="line">
            <a:avLst/>
          </a:prstGeom>
          <a:noFill/>
          <a:ln w="31750">
            <a:solidFill>
              <a:srgbClr val="3FE08A"/>
            </a:solidFill>
            <a:prstDash val="solid"/>
          </a:ln>
        </p:spPr>
        <p:txBody>
          <a:bodyPr/>
          <a:lstStyle/>
          <a:p>
            <a:endParaRPr lang="en-SE"/>
          </a:p>
        </p:txBody>
      </p:sp>
      <p:sp>
        <p:nvSpPr>
          <p:cNvPr id="40" name="corner tick">
            <a:extLst>
              <a:ext uri="{C183D7F6-B498-43B3-948B-1728B52AA6E4}">
                <adec:decorative xmlns:adec="http://schemas.microsoft.com/office/drawing/2017/decorative" val="1"/>
              </a:ext>
            </a:extLst>
          </p:cNvPr>
          <p:cNvSpPr/>
          <p:nvPr/>
        </p:nvSpPr>
        <p:spPr>
          <a:xfrm>
            <a:off x="566928" y="1965960"/>
            <a:ext cx="0" cy="256032"/>
          </a:xfrm>
          <a:prstGeom prst="line">
            <a:avLst/>
          </a:prstGeom>
          <a:noFill/>
          <a:ln w="31750">
            <a:solidFill>
              <a:srgbClr val="3FE08A"/>
            </a:solidFill>
            <a:prstDash val="solid"/>
          </a:ln>
        </p:spPr>
        <p:txBody>
          <a:bodyPr/>
          <a:lstStyle/>
          <a:p>
            <a:endParaRPr lang="en-SE"/>
          </a:p>
        </p:txBody>
      </p:sp>
      <p:sp>
        <p:nvSpPr>
          <p:cNvPr id="41" name="corner tick">
            <a:extLst>
              <a:ext uri="{C183D7F6-B498-43B3-948B-1728B52AA6E4}">
                <adec:decorative xmlns:adec="http://schemas.microsoft.com/office/drawing/2017/decorative" val="1"/>
              </a:ext>
            </a:extLst>
          </p:cNvPr>
          <p:cNvSpPr/>
          <p:nvPr/>
        </p:nvSpPr>
        <p:spPr>
          <a:xfrm>
            <a:off x="6528816" y="1965960"/>
            <a:ext cx="256032" cy="0"/>
          </a:xfrm>
          <a:prstGeom prst="line">
            <a:avLst/>
          </a:prstGeom>
          <a:noFill/>
          <a:ln w="31750">
            <a:solidFill>
              <a:srgbClr val="3FE08A"/>
            </a:solidFill>
            <a:prstDash val="solid"/>
          </a:ln>
        </p:spPr>
        <p:txBody>
          <a:bodyPr/>
          <a:lstStyle/>
          <a:p>
            <a:endParaRPr lang="en-SE"/>
          </a:p>
        </p:txBody>
      </p:sp>
      <p:sp>
        <p:nvSpPr>
          <p:cNvPr id="42" name="corner tick">
            <a:extLst>
              <a:ext uri="{C183D7F6-B498-43B3-948B-1728B52AA6E4}">
                <adec:decorative xmlns:adec="http://schemas.microsoft.com/office/drawing/2017/decorative" val="1"/>
              </a:ext>
            </a:extLst>
          </p:cNvPr>
          <p:cNvSpPr/>
          <p:nvPr/>
        </p:nvSpPr>
        <p:spPr>
          <a:xfrm>
            <a:off x="6784848" y="1965960"/>
            <a:ext cx="0" cy="256032"/>
          </a:xfrm>
          <a:prstGeom prst="line">
            <a:avLst/>
          </a:prstGeom>
          <a:noFill/>
          <a:ln w="31750">
            <a:solidFill>
              <a:srgbClr val="3FE08A"/>
            </a:solidFill>
            <a:prstDash val="solid"/>
          </a:ln>
        </p:spPr>
        <p:txBody>
          <a:bodyPr/>
          <a:lstStyle/>
          <a:p>
            <a:endParaRPr lang="en-SE"/>
          </a:p>
        </p:txBody>
      </p:sp>
      <p:sp>
        <p:nvSpPr>
          <p:cNvPr id="43" name="corner tick">
            <a:extLst>
              <a:ext uri="{C183D7F6-B498-43B3-948B-1728B52AA6E4}">
                <adec:decorative xmlns:adec="http://schemas.microsoft.com/office/drawing/2017/decorative" val="1"/>
              </a:ext>
            </a:extLst>
          </p:cNvPr>
          <p:cNvSpPr/>
          <p:nvPr/>
        </p:nvSpPr>
        <p:spPr>
          <a:xfrm>
            <a:off x="566928" y="5074920"/>
            <a:ext cx="256032" cy="0"/>
          </a:xfrm>
          <a:prstGeom prst="line">
            <a:avLst/>
          </a:prstGeom>
          <a:noFill/>
          <a:ln w="31750">
            <a:solidFill>
              <a:srgbClr val="3FE08A"/>
            </a:solidFill>
            <a:prstDash val="solid"/>
          </a:ln>
        </p:spPr>
        <p:txBody>
          <a:bodyPr/>
          <a:lstStyle/>
          <a:p>
            <a:endParaRPr lang="en-SE"/>
          </a:p>
        </p:txBody>
      </p:sp>
      <p:sp>
        <p:nvSpPr>
          <p:cNvPr id="44" name="corner tick">
            <a:extLst>
              <a:ext uri="{C183D7F6-B498-43B3-948B-1728B52AA6E4}">
                <adec:decorative xmlns:adec="http://schemas.microsoft.com/office/drawing/2017/decorative" val="1"/>
              </a:ext>
            </a:extLst>
          </p:cNvPr>
          <p:cNvSpPr/>
          <p:nvPr/>
        </p:nvSpPr>
        <p:spPr>
          <a:xfrm>
            <a:off x="566928" y="4818888"/>
            <a:ext cx="0" cy="256032"/>
          </a:xfrm>
          <a:prstGeom prst="line">
            <a:avLst/>
          </a:prstGeom>
          <a:noFill/>
          <a:ln w="31750">
            <a:solidFill>
              <a:srgbClr val="3FE08A"/>
            </a:solidFill>
            <a:prstDash val="solid"/>
          </a:ln>
        </p:spPr>
        <p:txBody>
          <a:bodyPr/>
          <a:lstStyle/>
          <a:p>
            <a:endParaRPr lang="en-SE"/>
          </a:p>
        </p:txBody>
      </p:sp>
      <p:sp>
        <p:nvSpPr>
          <p:cNvPr id="45" name="corner tick">
            <a:extLst>
              <a:ext uri="{C183D7F6-B498-43B3-948B-1728B52AA6E4}">
                <adec:decorative xmlns:adec="http://schemas.microsoft.com/office/drawing/2017/decorative" val="1"/>
              </a:ext>
            </a:extLst>
          </p:cNvPr>
          <p:cNvSpPr/>
          <p:nvPr/>
        </p:nvSpPr>
        <p:spPr>
          <a:xfrm>
            <a:off x="6528816" y="5074920"/>
            <a:ext cx="256032" cy="0"/>
          </a:xfrm>
          <a:prstGeom prst="line">
            <a:avLst/>
          </a:prstGeom>
          <a:noFill/>
          <a:ln w="31750">
            <a:solidFill>
              <a:srgbClr val="3FE08A"/>
            </a:solidFill>
            <a:prstDash val="solid"/>
          </a:ln>
        </p:spPr>
        <p:txBody>
          <a:bodyPr/>
          <a:lstStyle/>
          <a:p>
            <a:endParaRPr lang="en-SE"/>
          </a:p>
        </p:txBody>
      </p:sp>
      <p:sp>
        <p:nvSpPr>
          <p:cNvPr id="46" name="corner tick">
            <a:extLst>
              <a:ext uri="{C183D7F6-B498-43B3-948B-1728B52AA6E4}">
                <adec:decorative xmlns:adec="http://schemas.microsoft.com/office/drawing/2017/decorative" val="1"/>
              </a:ext>
            </a:extLst>
          </p:cNvPr>
          <p:cNvSpPr/>
          <p:nvPr/>
        </p:nvSpPr>
        <p:spPr>
          <a:xfrm>
            <a:off x="6784848" y="4818888"/>
            <a:ext cx="0" cy="256032"/>
          </a:xfrm>
          <a:prstGeom prst="line">
            <a:avLst/>
          </a:prstGeom>
          <a:noFill/>
          <a:ln w="31750">
            <a:solidFill>
              <a:srgbClr val="3FE08A"/>
            </a:solidFill>
            <a:prstDash val="solid"/>
          </a:ln>
        </p:spPr>
        <p:txBody>
          <a:bodyPr/>
          <a:lstStyle/>
          <a:p>
            <a:endParaRPr lang="en-SE"/>
          </a:p>
        </p:txBody>
      </p:sp>
      <p:sp>
        <p:nvSpPr>
          <p:cNvPr id="47" name="figure tag background">
            <a:extLst>
              <a:ext uri="{C183D7F6-B498-43B3-948B-1728B52AA6E4}">
                <adec:decorative xmlns:adec="http://schemas.microsoft.com/office/drawing/2017/decorative" val="1"/>
              </a:ext>
            </a:extLst>
          </p:cNvPr>
          <p:cNvSpPr/>
          <p:nvPr/>
        </p:nvSpPr>
        <p:spPr>
          <a:xfrm>
            <a:off x="768096" y="2167128"/>
            <a:ext cx="1783080" cy="274320"/>
          </a:xfrm>
          <a:prstGeom prst="rect">
            <a:avLst/>
          </a:prstGeom>
          <a:solidFill>
            <a:srgbClr val="3FE08A"/>
          </a:solidFill>
          <a:ln w="12700">
            <a:solidFill>
              <a:srgbClr val="333333"/>
            </a:solidFill>
            <a:prstDash val="solid"/>
          </a:ln>
        </p:spPr>
        <p:txBody>
          <a:bodyPr/>
          <a:lstStyle/>
          <a:p>
            <a:endParaRPr lang="en-SE"/>
          </a:p>
        </p:txBody>
      </p:sp>
      <p:sp>
        <p:nvSpPr>
          <p:cNvPr id="48" name="Text 46"/>
          <p:cNvSpPr/>
          <p:nvPr/>
        </p:nvSpPr>
        <p:spPr>
          <a:xfrm>
            <a:off x="768096" y="2167128"/>
            <a:ext cx="1783080" cy="274320"/>
          </a:xfrm>
          <a:prstGeom prst="rect">
            <a:avLst/>
          </a:prstGeom>
          <a:noFill/>
          <a:ln/>
        </p:spPr>
        <p:txBody>
          <a:bodyPr wrap="square" lIns="0" tIns="0" rIns="0" bIns="0" rtlCol="0" anchor="ctr"/>
          <a:lstStyle/>
          <a:p>
            <a:pPr marL="0" indent="0" algn="ctr">
              <a:buNone/>
            </a:pPr>
            <a:r>
              <a:rPr lang="en-US" sz="950" b="1" dirty="0">
                <a:solidFill>
                  <a:srgbClr val="13171B"/>
                </a:solidFill>
                <a:latin typeface="Consolas" pitchFamily="34" charset="0"/>
                <a:ea typeface="Consolas" pitchFamily="34" charset="-122"/>
                <a:cs typeface="Consolas" pitchFamily="34" charset="-120"/>
              </a:rPr>
              <a:t>SCREENSHOT 5</a:t>
            </a:r>
            <a:endParaRPr lang="en-US" sz="950" dirty="0"/>
          </a:p>
        </p:txBody>
      </p:sp>
      <p:sp>
        <p:nvSpPr>
          <p:cNvPr id="49" name="Text 47"/>
          <p:cNvSpPr/>
          <p:nvPr/>
        </p:nvSpPr>
        <p:spPr>
          <a:xfrm>
            <a:off x="886968" y="3017520"/>
            <a:ext cx="5577840" cy="1005840"/>
          </a:xfrm>
          <a:prstGeom prst="rect">
            <a:avLst/>
          </a:prstGeom>
          <a:noFill/>
          <a:ln/>
        </p:spPr>
        <p:txBody>
          <a:bodyPr wrap="square" lIns="0" tIns="0" rIns="0" bIns="0" rtlCol="0" anchor="ctr"/>
          <a:lstStyle/>
          <a:p>
            <a:pPr marL="0" indent="0" algn="ctr">
              <a:lnSpc>
                <a:spcPct val="115000"/>
              </a:lnSpc>
              <a:buNone/>
            </a:pPr>
            <a:r>
              <a:rPr lang="en-US" sz="1200" b="1" dirty="0">
                <a:solidFill>
                  <a:srgbClr val="3FE08A"/>
                </a:solidFill>
                <a:latin typeface="Segoe UI" pitchFamily="34" charset="0"/>
                <a:ea typeface="Segoe UI" pitchFamily="34" charset="-122"/>
                <a:cs typeface="Segoe UI" pitchFamily="34" charset="-120"/>
              </a:rPr>
              <a:t>Capture: </a:t>
            </a:r>
            <a:r>
              <a:rPr lang="en-US" sz="1200" dirty="0">
                <a:solidFill>
                  <a:srgbClr val="AAB7C2"/>
                </a:solidFill>
                <a:latin typeface="Segoe UI" pitchFamily="34" charset="0"/>
                <a:ea typeface="Segoe UI" pitchFamily="34" charset="-122"/>
                <a:cs typeface="Segoe UI" pitchFamily="34" charset="-120"/>
              </a:rPr>
              <a:t>The chart on a 1M or longer preset so daily-bar rendering is visible, alongside the Open / High / Low panel and the Recent changes strip if any exist.</a:t>
            </a:r>
            <a:endParaRPr lang="en-US" sz="1200" dirty="0"/>
          </a:p>
        </p:txBody>
      </p:sp>
      <p:sp>
        <p:nvSpPr>
          <p:cNvPr id="50" name="Text 48"/>
          <p:cNvSpPr/>
          <p:nvPr/>
        </p:nvSpPr>
        <p:spPr>
          <a:xfrm>
            <a:off x="886968" y="4599432"/>
            <a:ext cx="5577840" cy="274320"/>
          </a:xfrm>
          <a:prstGeom prst="rect">
            <a:avLst/>
          </a:prstGeom>
          <a:noFill/>
          <a:ln/>
        </p:spPr>
        <p:txBody>
          <a:bodyPr wrap="square" lIns="0" tIns="0" rIns="0" bIns="0" rtlCol="0" anchor="ctr"/>
          <a:lstStyle/>
          <a:p>
            <a:pPr marL="0" indent="0" algn="ctr">
              <a:buNone/>
            </a:pPr>
            <a:r>
              <a:rPr lang="en-US" sz="900" dirty="0">
                <a:solidFill>
                  <a:srgbClr val="7C8B97"/>
                </a:solidFill>
                <a:latin typeface="Consolas" pitchFamily="34" charset="0"/>
                <a:ea typeface="Consolas" pitchFamily="34" charset="-122"/>
                <a:cs typeface="Consolas" pitchFamily="34" charset="-120"/>
              </a:rPr>
              <a:t>fig-05-index-view.png</a:t>
            </a:r>
            <a:endParaRPr lang="en-US" sz="900" dirty="0"/>
          </a:p>
        </p:txBody>
      </p:sp>
      <p:sp>
        <p:nvSpPr>
          <p:cNvPr id="51" name="item marker">
            <a:extLst>
              <a:ext uri="{C183D7F6-B498-43B3-948B-1728B52AA6E4}">
                <adec:decorative xmlns:adec="http://schemas.microsoft.com/office/drawing/2017/decorative" val="1"/>
              </a:ext>
            </a:extLst>
          </p:cNvPr>
          <p:cNvSpPr/>
          <p:nvPr/>
        </p:nvSpPr>
        <p:spPr>
          <a:xfrm>
            <a:off x="6995160" y="2093976"/>
            <a:ext cx="32004" cy="868680"/>
          </a:xfrm>
          <a:prstGeom prst="rect">
            <a:avLst/>
          </a:prstGeom>
          <a:solidFill>
            <a:srgbClr val="3FE08A"/>
          </a:solidFill>
          <a:ln w="12700">
            <a:solidFill>
              <a:srgbClr val="333333"/>
            </a:solidFill>
            <a:prstDash val="solid"/>
          </a:ln>
        </p:spPr>
        <p:txBody>
          <a:bodyPr/>
          <a:lstStyle/>
          <a:p>
            <a:endParaRPr lang="en-SE"/>
          </a:p>
        </p:txBody>
      </p:sp>
      <p:sp>
        <p:nvSpPr>
          <p:cNvPr id="52" name="Text 50"/>
          <p:cNvSpPr/>
          <p:nvPr/>
        </p:nvSpPr>
        <p:spPr>
          <a:xfrm>
            <a:off x="7205472" y="2057400"/>
            <a:ext cx="3977640" cy="292608"/>
          </a:xfrm>
          <a:prstGeom prst="rect">
            <a:avLst/>
          </a:prstGeom>
          <a:noFill/>
          <a:ln/>
        </p:spPr>
        <p:txBody>
          <a:bodyPr wrap="square" lIns="0" tIns="0" rIns="0" bIns="0" rtlCol="0" anchor="ctr"/>
          <a:lstStyle/>
          <a:p>
            <a:pPr marL="0" indent="0">
              <a:buNone/>
            </a:pPr>
            <a:r>
              <a:rPr lang="en-US" sz="1250" b="1" dirty="0">
                <a:solidFill>
                  <a:srgbClr val="E6EDF3"/>
                </a:solidFill>
                <a:latin typeface="Segoe UI" pitchFamily="34" charset="0"/>
                <a:ea typeface="Segoe UI" pitchFamily="34" charset="-122"/>
                <a:cs typeface="Segoe UI" pitchFamily="34" charset="-120"/>
              </a:rPr>
              <a:t>The headline is always live</a:t>
            </a:r>
            <a:endParaRPr lang="en-US" sz="1250" dirty="0"/>
          </a:p>
        </p:txBody>
      </p:sp>
      <p:sp>
        <p:nvSpPr>
          <p:cNvPr id="53" name="Text 51"/>
          <p:cNvSpPr/>
          <p:nvPr/>
        </p:nvSpPr>
        <p:spPr>
          <a:xfrm>
            <a:off x="7205472" y="2359152"/>
            <a:ext cx="3977640" cy="685800"/>
          </a:xfrm>
          <a:prstGeom prst="rect">
            <a:avLst/>
          </a:prstGeom>
          <a:noFill/>
          <a:ln/>
        </p:spPr>
        <p:txBody>
          <a:bodyPr wrap="square" lIns="0" tIns="0" rIns="0" bIns="0" rtlCol="0" anchor="ctr"/>
          <a:lstStyle/>
          <a:p>
            <a:pPr marL="0" indent="0">
              <a:lnSpc>
                <a:spcPct val="110000"/>
              </a:lnSpc>
              <a:buNone/>
            </a:pPr>
            <a:r>
              <a:rPr lang="en-US" sz="1050" dirty="0">
                <a:solidFill>
                  <a:srgbClr val="AAB7C2"/>
                </a:solidFill>
                <a:latin typeface="Segoe UI" pitchFamily="34" charset="0"/>
                <a:ea typeface="Segoe UI" pitchFamily="34" charset="-122"/>
                <a:cs typeface="Segoe UI" pitchFamily="34" charset="-120"/>
              </a:rPr>
              <a:t>The level, change and session badge come from the live index stream — never from a historical record for today.</a:t>
            </a:r>
            <a:endParaRPr lang="en-US" sz="1050" dirty="0"/>
          </a:p>
        </p:txBody>
      </p:sp>
      <p:sp>
        <p:nvSpPr>
          <p:cNvPr id="54" name="item marker">
            <a:extLst>
              <a:ext uri="{C183D7F6-B498-43B3-948B-1728B52AA6E4}">
                <adec:decorative xmlns:adec="http://schemas.microsoft.com/office/drawing/2017/decorative" val="1"/>
              </a:ext>
            </a:extLst>
          </p:cNvPr>
          <p:cNvSpPr/>
          <p:nvPr/>
        </p:nvSpPr>
        <p:spPr>
          <a:xfrm>
            <a:off x="6995160" y="3145536"/>
            <a:ext cx="32004" cy="868680"/>
          </a:xfrm>
          <a:prstGeom prst="rect">
            <a:avLst/>
          </a:prstGeom>
          <a:solidFill>
            <a:srgbClr val="F5A524"/>
          </a:solidFill>
          <a:ln w="12700">
            <a:solidFill>
              <a:srgbClr val="333333"/>
            </a:solidFill>
            <a:prstDash val="solid"/>
          </a:ln>
        </p:spPr>
        <p:txBody>
          <a:bodyPr/>
          <a:lstStyle/>
          <a:p>
            <a:endParaRPr lang="en-SE"/>
          </a:p>
        </p:txBody>
      </p:sp>
      <p:sp>
        <p:nvSpPr>
          <p:cNvPr id="55" name="Text 53"/>
          <p:cNvSpPr/>
          <p:nvPr/>
        </p:nvSpPr>
        <p:spPr>
          <a:xfrm>
            <a:off x="7205472" y="3108960"/>
            <a:ext cx="3977640" cy="292608"/>
          </a:xfrm>
          <a:prstGeom prst="rect">
            <a:avLst/>
          </a:prstGeom>
          <a:noFill/>
          <a:ln/>
        </p:spPr>
        <p:txBody>
          <a:bodyPr wrap="square" lIns="0" tIns="0" rIns="0" bIns="0" rtlCol="0" anchor="ctr"/>
          <a:lstStyle/>
          <a:p>
            <a:pPr marL="0" indent="0">
              <a:buNone/>
            </a:pPr>
            <a:r>
              <a:rPr lang="en-US" sz="1250" b="1" dirty="0">
                <a:solidFill>
                  <a:srgbClr val="E6EDF3"/>
                </a:solidFill>
                <a:latin typeface="Segoe UI" pitchFamily="34" charset="0"/>
                <a:ea typeface="Segoe UI" pitchFamily="34" charset="-122"/>
                <a:cs typeface="Segoe UI" pitchFamily="34" charset="-120"/>
              </a:rPr>
              <a:t>Why that matters</a:t>
            </a:r>
            <a:endParaRPr lang="en-US" sz="1250" dirty="0"/>
          </a:p>
        </p:txBody>
      </p:sp>
      <p:sp>
        <p:nvSpPr>
          <p:cNvPr id="56" name="Text 54"/>
          <p:cNvSpPr/>
          <p:nvPr/>
        </p:nvSpPr>
        <p:spPr>
          <a:xfrm>
            <a:off x="7205472" y="3410712"/>
            <a:ext cx="3977640" cy="685800"/>
          </a:xfrm>
          <a:prstGeom prst="rect">
            <a:avLst/>
          </a:prstGeom>
          <a:noFill/>
          <a:ln/>
        </p:spPr>
        <p:txBody>
          <a:bodyPr wrap="square" lIns="0" tIns="0" rIns="0" bIns="0" rtlCol="0" anchor="ctr"/>
          <a:lstStyle/>
          <a:p>
            <a:pPr marL="0" indent="0">
              <a:lnSpc>
                <a:spcPct val="110000"/>
              </a:lnSpc>
              <a:buNone/>
            </a:pPr>
            <a:r>
              <a:rPr lang="en-US" sz="1050" dirty="0">
                <a:solidFill>
                  <a:srgbClr val="AAB7C2"/>
                </a:solidFill>
                <a:latin typeface="Segoe UI" pitchFamily="34" charset="0"/>
                <a:ea typeface="Segoe UI" pitchFamily="34" charset="-122"/>
                <a:cs typeface="Segoe UI" pitchFamily="34" charset="-120"/>
              </a:rPr>
              <a:t>A historical closing level for the current date is only final once the session has closed. Quoting it live would risk showing a figure that is still moving.</a:t>
            </a:r>
            <a:endParaRPr lang="en-US" sz="1050" dirty="0"/>
          </a:p>
        </p:txBody>
      </p:sp>
      <p:sp>
        <p:nvSpPr>
          <p:cNvPr id="57" name="item marker">
            <a:extLst>
              <a:ext uri="{C183D7F6-B498-43B3-948B-1728B52AA6E4}">
                <adec:decorative xmlns:adec="http://schemas.microsoft.com/office/drawing/2017/decorative" val="1"/>
              </a:ext>
            </a:extLst>
          </p:cNvPr>
          <p:cNvSpPr/>
          <p:nvPr/>
        </p:nvSpPr>
        <p:spPr>
          <a:xfrm>
            <a:off x="6995160" y="4197096"/>
            <a:ext cx="32004" cy="868680"/>
          </a:xfrm>
          <a:prstGeom prst="rect">
            <a:avLst/>
          </a:prstGeom>
          <a:solidFill>
            <a:srgbClr val="3FE08A"/>
          </a:solidFill>
          <a:ln w="12700">
            <a:solidFill>
              <a:srgbClr val="333333"/>
            </a:solidFill>
            <a:prstDash val="solid"/>
          </a:ln>
        </p:spPr>
        <p:txBody>
          <a:bodyPr/>
          <a:lstStyle/>
          <a:p>
            <a:endParaRPr lang="en-SE"/>
          </a:p>
        </p:txBody>
      </p:sp>
      <p:sp>
        <p:nvSpPr>
          <p:cNvPr id="58" name="Text 56"/>
          <p:cNvSpPr/>
          <p:nvPr/>
        </p:nvSpPr>
        <p:spPr>
          <a:xfrm>
            <a:off x="7205472" y="4160520"/>
            <a:ext cx="3977640" cy="292608"/>
          </a:xfrm>
          <a:prstGeom prst="rect">
            <a:avLst/>
          </a:prstGeom>
          <a:noFill/>
          <a:ln/>
        </p:spPr>
        <p:txBody>
          <a:bodyPr wrap="square" lIns="0" tIns="0" rIns="0" bIns="0" rtlCol="0" anchor="ctr"/>
          <a:lstStyle/>
          <a:p>
            <a:pPr marL="0" indent="0">
              <a:buNone/>
            </a:pPr>
            <a:r>
              <a:rPr lang="en-US" sz="1250" b="1" dirty="0">
                <a:solidFill>
                  <a:srgbClr val="E6EDF3"/>
                </a:solidFill>
                <a:latin typeface="Segoe UI" pitchFamily="34" charset="0"/>
                <a:ea typeface="Segoe UI" pitchFamily="34" charset="-122"/>
                <a:cs typeface="Segoe UI" pitchFamily="34" charset="-120"/>
              </a:rPr>
              <a:t>Open / High / Low are safe from history</a:t>
            </a:r>
            <a:endParaRPr lang="en-US" sz="1250" dirty="0"/>
          </a:p>
        </p:txBody>
      </p:sp>
      <p:sp>
        <p:nvSpPr>
          <p:cNvPr id="59" name="Text 57"/>
          <p:cNvSpPr/>
          <p:nvPr/>
        </p:nvSpPr>
        <p:spPr>
          <a:xfrm>
            <a:off x="7205472" y="4462272"/>
            <a:ext cx="3977640" cy="685800"/>
          </a:xfrm>
          <a:prstGeom prst="rect">
            <a:avLst/>
          </a:prstGeom>
          <a:noFill/>
          <a:ln/>
        </p:spPr>
        <p:txBody>
          <a:bodyPr wrap="square" lIns="0" tIns="0" rIns="0" bIns="0" rtlCol="0" anchor="ctr"/>
          <a:lstStyle/>
          <a:p>
            <a:pPr marL="0" indent="0">
              <a:lnSpc>
                <a:spcPct val="110000"/>
              </a:lnSpc>
              <a:buNone/>
            </a:pPr>
            <a:r>
              <a:rPr lang="en-US" sz="1050" dirty="0">
                <a:solidFill>
                  <a:srgbClr val="AAB7C2"/>
                </a:solidFill>
                <a:latin typeface="Segoe UI" pitchFamily="34" charset="0"/>
                <a:ea typeface="Segoe UI" pitchFamily="34" charset="-122"/>
                <a:cs typeface="Segoe UI" pitchFamily="34" charset="-120"/>
              </a:rPr>
              <a:t>These are running-so-far values that only get more accurate as the day progresses, so reading them from the history service intraday is fine.</a:t>
            </a:r>
            <a:endParaRPr lang="en-US" sz="1050" dirty="0"/>
          </a:p>
        </p:txBody>
      </p:sp>
      <p:sp>
        <p:nvSpPr>
          <p:cNvPr id="60" name="item marker">
            <a:extLst>
              <a:ext uri="{C183D7F6-B498-43B3-948B-1728B52AA6E4}">
                <adec:decorative xmlns:adec="http://schemas.microsoft.com/office/drawing/2017/decorative" val="1"/>
              </a:ext>
            </a:extLst>
          </p:cNvPr>
          <p:cNvSpPr/>
          <p:nvPr/>
        </p:nvSpPr>
        <p:spPr>
          <a:xfrm>
            <a:off x="6995160" y="5248656"/>
            <a:ext cx="32004" cy="868680"/>
          </a:xfrm>
          <a:prstGeom prst="rect">
            <a:avLst/>
          </a:prstGeom>
          <a:solidFill>
            <a:srgbClr val="3FE08A"/>
          </a:solidFill>
          <a:ln w="12700">
            <a:solidFill>
              <a:srgbClr val="333333"/>
            </a:solidFill>
            <a:prstDash val="solid"/>
          </a:ln>
        </p:spPr>
        <p:txBody>
          <a:bodyPr/>
          <a:lstStyle/>
          <a:p>
            <a:endParaRPr lang="en-SE"/>
          </a:p>
        </p:txBody>
      </p:sp>
      <p:sp>
        <p:nvSpPr>
          <p:cNvPr id="61" name="Text 59"/>
          <p:cNvSpPr/>
          <p:nvPr/>
        </p:nvSpPr>
        <p:spPr>
          <a:xfrm>
            <a:off x="7205472" y="5212080"/>
            <a:ext cx="3977640" cy="292608"/>
          </a:xfrm>
          <a:prstGeom prst="rect">
            <a:avLst/>
          </a:prstGeom>
          <a:noFill/>
          <a:ln/>
        </p:spPr>
        <p:txBody>
          <a:bodyPr wrap="square" lIns="0" tIns="0" rIns="0" bIns="0" rtlCol="0" anchor="ctr"/>
          <a:lstStyle/>
          <a:p>
            <a:pPr marL="0" indent="0">
              <a:buNone/>
            </a:pPr>
            <a:r>
              <a:rPr lang="en-US" sz="1250" b="1" dirty="0">
                <a:solidFill>
                  <a:srgbClr val="E6EDF3"/>
                </a:solidFill>
                <a:latin typeface="Segoe UI" pitchFamily="34" charset="0"/>
                <a:ea typeface="Segoe UI" pitchFamily="34" charset="-122"/>
                <a:cs typeface="Segoe UI" pitchFamily="34" charset="-120"/>
              </a:rPr>
              <a:t>Switching index costs nothing</a:t>
            </a:r>
            <a:endParaRPr lang="en-US" sz="1250" dirty="0"/>
          </a:p>
        </p:txBody>
      </p:sp>
      <p:sp>
        <p:nvSpPr>
          <p:cNvPr id="62" name="Text 60"/>
          <p:cNvSpPr/>
          <p:nvPr/>
        </p:nvSpPr>
        <p:spPr>
          <a:xfrm>
            <a:off x="7205472" y="5513832"/>
            <a:ext cx="3977640" cy="685800"/>
          </a:xfrm>
          <a:prstGeom prst="rect">
            <a:avLst/>
          </a:prstGeom>
          <a:noFill/>
          <a:ln/>
        </p:spPr>
        <p:txBody>
          <a:bodyPr wrap="square" lIns="0" tIns="0" rIns="0" bIns="0" rtlCol="0" anchor="ctr"/>
          <a:lstStyle/>
          <a:p>
            <a:pPr marL="0" indent="0">
              <a:lnSpc>
                <a:spcPct val="110000"/>
              </a:lnSpc>
              <a:buNone/>
            </a:pPr>
            <a:r>
              <a:rPr lang="en-US" sz="1050" dirty="0">
                <a:solidFill>
                  <a:srgbClr val="AAB7C2"/>
                </a:solidFill>
                <a:latin typeface="Segoe UI" pitchFamily="34" charset="0"/>
                <a:ea typeface="Segoe UI" pitchFamily="34" charset="-122"/>
                <a:cs typeface="Segoe UI" pitchFamily="34" charset="-120"/>
              </a:rPr>
              <a:t>The terminal already subscribes to every configured index, whichever one your tab happens to show.</a:t>
            </a:r>
            <a:endParaRPr lang="en-US" sz="1050" dirty="0"/>
          </a:p>
        </p:txBody>
      </p:sp>
      <p:sp>
        <p:nvSpPr>
          <p:cNvPr id="63" name="callout background">
            <a:extLst>
              <a:ext uri="{C183D7F6-B498-43B3-948B-1728B52AA6E4}">
                <adec:decorative xmlns:adec="http://schemas.microsoft.com/office/drawing/2017/decorative" val="1"/>
              </a:ext>
            </a:extLst>
          </p:cNvPr>
          <p:cNvSpPr/>
          <p:nvPr/>
        </p:nvSpPr>
        <p:spPr>
          <a:xfrm>
            <a:off x="566928" y="5257800"/>
            <a:ext cx="6217920" cy="804672"/>
          </a:xfrm>
          <a:prstGeom prst="rect">
            <a:avLst/>
          </a:prstGeom>
          <a:solidFill>
            <a:srgbClr val="273037"/>
          </a:solidFill>
          <a:ln w="12700">
            <a:solidFill>
              <a:srgbClr val="F5A524"/>
            </a:solidFill>
            <a:prstDash val="solid"/>
          </a:ln>
        </p:spPr>
        <p:txBody>
          <a:bodyPr/>
          <a:lstStyle/>
          <a:p>
            <a:endParaRPr lang="en-SE"/>
          </a:p>
        </p:txBody>
      </p:sp>
      <p:sp>
        <p:nvSpPr>
          <p:cNvPr id="64" name="Text 62"/>
          <p:cNvSpPr/>
          <p:nvPr/>
        </p:nvSpPr>
        <p:spPr>
          <a:xfrm>
            <a:off x="777240" y="5257800"/>
            <a:ext cx="5806440" cy="804672"/>
          </a:xfrm>
          <a:prstGeom prst="rect">
            <a:avLst/>
          </a:prstGeom>
          <a:noFill/>
          <a:ln/>
        </p:spPr>
        <p:txBody>
          <a:bodyPr wrap="square" lIns="0" tIns="0" rIns="0" bIns="0" rtlCol="0" anchor="ctr"/>
          <a:lstStyle/>
          <a:p>
            <a:pPr marL="0" indent="0">
              <a:lnSpc>
                <a:spcPct val="108000"/>
              </a:lnSpc>
              <a:buNone/>
            </a:pPr>
            <a:r>
              <a:rPr lang="en-US" sz="1100" b="1" dirty="0">
                <a:solidFill>
                  <a:srgbClr val="F5A524"/>
                </a:solidFill>
                <a:latin typeface="Segoe UI" pitchFamily="34" charset="0"/>
                <a:ea typeface="Segoe UI" pitchFamily="34" charset="-122"/>
                <a:cs typeface="Segoe UI" pitchFamily="34" charset="-120"/>
              </a:rPr>
              <a:t>"This exchange has no index configured" is not an error.  </a:t>
            </a:r>
            <a:r>
              <a:rPr lang="en-US" sz="1100" dirty="0">
                <a:solidFill>
                  <a:srgbClr val="AAB7C2"/>
                </a:solidFill>
                <a:latin typeface="Segoe UI" pitchFamily="34" charset="0"/>
                <a:ea typeface="Segoe UI" pitchFamily="34" charset="-122"/>
                <a:cs typeface="Segoe UI" pitchFamily="34" charset="-120"/>
              </a:rPr>
              <a:t>The tab always exists, so the tab row never shifts between differently-configured classroom exchanges. Set the index configuration if you expect one.</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Trade Tape — every print, newest first</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03 · SCREENS</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26</a:t>
            </a:r>
            <a:endParaRPr lang="en-US" sz="950" dirty="0"/>
          </a:p>
        </p:txBody>
      </p:sp>
      <p:sp>
        <p:nvSpPr>
          <p:cNvPr id="37" name="Text 35"/>
          <p:cNvSpPr/>
          <p:nvPr/>
        </p:nvSpPr>
        <p:spPr>
          <a:xfrm>
            <a:off x="566928" y="1170432"/>
            <a:ext cx="6217920" cy="566928"/>
          </a:xfrm>
          <a:prstGeom prst="rect">
            <a:avLst/>
          </a:prstGeom>
          <a:noFill/>
          <a:ln/>
        </p:spPr>
        <p:txBody>
          <a:bodyPr wrap="square" lIns="0" tIns="0" rIns="0" bIns="0" rtlCol="0" anchor="t"/>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Also called Time &amp; Sales. This is the record of what actually traded, as opposed to what was merely quoted.</a:t>
            </a:r>
            <a:endParaRPr lang="en-US" sz="1400" dirty="0"/>
          </a:p>
        </p:txBody>
      </p:sp>
      <p:sp>
        <p:nvSpPr>
          <p:cNvPr id="38" name="screenshot placeholder frame">
            <a:extLst>
              <a:ext uri="{C183D7F6-B498-43B3-948B-1728B52AA6E4}">
                <adec:decorative xmlns:adec="http://schemas.microsoft.com/office/drawing/2017/decorative" val="1"/>
              </a:ext>
            </a:extLst>
          </p:cNvPr>
          <p:cNvSpPr/>
          <p:nvPr/>
        </p:nvSpPr>
        <p:spPr>
          <a:xfrm>
            <a:off x="566928" y="1965960"/>
            <a:ext cx="6217920" cy="2788920"/>
          </a:xfrm>
          <a:prstGeom prst="rect">
            <a:avLst/>
          </a:prstGeom>
          <a:solidFill>
            <a:srgbClr val="191E23"/>
          </a:solidFill>
          <a:ln w="22225">
            <a:solidFill>
              <a:srgbClr val="3FE08A"/>
            </a:solidFill>
            <a:prstDash val="dash"/>
          </a:ln>
        </p:spPr>
        <p:txBody>
          <a:bodyPr/>
          <a:lstStyle/>
          <a:p>
            <a:endParaRPr lang="en-SE"/>
          </a:p>
        </p:txBody>
      </p:sp>
      <p:sp>
        <p:nvSpPr>
          <p:cNvPr id="39" name="corner tick">
            <a:extLst>
              <a:ext uri="{C183D7F6-B498-43B3-948B-1728B52AA6E4}">
                <adec:decorative xmlns:adec="http://schemas.microsoft.com/office/drawing/2017/decorative" val="1"/>
              </a:ext>
            </a:extLst>
          </p:cNvPr>
          <p:cNvSpPr/>
          <p:nvPr/>
        </p:nvSpPr>
        <p:spPr>
          <a:xfrm>
            <a:off x="566928" y="1965960"/>
            <a:ext cx="256032" cy="0"/>
          </a:xfrm>
          <a:prstGeom prst="line">
            <a:avLst/>
          </a:prstGeom>
          <a:noFill/>
          <a:ln w="31750">
            <a:solidFill>
              <a:srgbClr val="3FE08A"/>
            </a:solidFill>
            <a:prstDash val="solid"/>
          </a:ln>
        </p:spPr>
        <p:txBody>
          <a:bodyPr/>
          <a:lstStyle/>
          <a:p>
            <a:endParaRPr lang="en-SE"/>
          </a:p>
        </p:txBody>
      </p:sp>
      <p:sp>
        <p:nvSpPr>
          <p:cNvPr id="40" name="corner tick">
            <a:extLst>
              <a:ext uri="{C183D7F6-B498-43B3-948B-1728B52AA6E4}">
                <adec:decorative xmlns:adec="http://schemas.microsoft.com/office/drawing/2017/decorative" val="1"/>
              </a:ext>
            </a:extLst>
          </p:cNvPr>
          <p:cNvSpPr/>
          <p:nvPr/>
        </p:nvSpPr>
        <p:spPr>
          <a:xfrm>
            <a:off x="566928" y="1965960"/>
            <a:ext cx="0" cy="256032"/>
          </a:xfrm>
          <a:prstGeom prst="line">
            <a:avLst/>
          </a:prstGeom>
          <a:noFill/>
          <a:ln w="31750">
            <a:solidFill>
              <a:srgbClr val="3FE08A"/>
            </a:solidFill>
            <a:prstDash val="solid"/>
          </a:ln>
        </p:spPr>
        <p:txBody>
          <a:bodyPr/>
          <a:lstStyle/>
          <a:p>
            <a:endParaRPr lang="en-SE"/>
          </a:p>
        </p:txBody>
      </p:sp>
      <p:sp>
        <p:nvSpPr>
          <p:cNvPr id="41" name="corner tick">
            <a:extLst>
              <a:ext uri="{C183D7F6-B498-43B3-948B-1728B52AA6E4}">
                <adec:decorative xmlns:adec="http://schemas.microsoft.com/office/drawing/2017/decorative" val="1"/>
              </a:ext>
            </a:extLst>
          </p:cNvPr>
          <p:cNvSpPr/>
          <p:nvPr/>
        </p:nvSpPr>
        <p:spPr>
          <a:xfrm>
            <a:off x="6528816" y="1965960"/>
            <a:ext cx="256032" cy="0"/>
          </a:xfrm>
          <a:prstGeom prst="line">
            <a:avLst/>
          </a:prstGeom>
          <a:noFill/>
          <a:ln w="31750">
            <a:solidFill>
              <a:srgbClr val="3FE08A"/>
            </a:solidFill>
            <a:prstDash val="solid"/>
          </a:ln>
        </p:spPr>
        <p:txBody>
          <a:bodyPr/>
          <a:lstStyle/>
          <a:p>
            <a:endParaRPr lang="en-SE"/>
          </a:p>
        </p:txBody>
      </p:sp>
      <p:sp>
        <p:nvSpPr>
          <p:cNvPr id="42" name="corner tick">
            <a:extLst>
              <a:ext uri="{C183D7F6-B498-43B3-948B-1728B52AA6E4}">
                <adec:decorative xmlns:adec="http://schemas.microsoft.com/office/drawing/2017/decorative" val="1"/>
              </a:ext>
            </a:extLst>
          </p:cNvPr>
          <p:cNvSpPr/>
          <p:nvPr/>
        </p:nvSpPr>
        <p:spPr>
          <a:xfrm>
            <a:off x="6784848" y="1965960"/>
            <a:ext cx="0" cy="256032"/>
          </a:xfrm>
          <a:prstGeom prst="line">
            <a:avLst/>
          </a:prstGeom>
          <a:noFill/>
          <a:ln w="31750">
            <a:solidFill>
              <a:srgbClr val="3FE08A"/>
            </a:solidFill>
            <a:prstDash val="solid"/>
          </a:ln>
        </p:spPr>
        <p:txBody>
          <a:bodyPr/>
          <a:lstStyle/>
          <a:p>
            <a:endParaRPr lang="en-SE"/>
          </a:p>
        </p:txBody>
      </p:sp>
      <p:sp>
        <p:nvSpPr>
          <p:cNvPr id="43" name="corner tick">
            <a:extLst>
              <a:ext uri="{C183D7F6-B498-43B3-948B-1728B52AA6E4}">
                <adec:decorative xmlns:adec="http://schemas.microsoft.com/office/drawing/2017/decorative" val="1"/>
              </a:ext>
            </a:extLst>
          </p:cNvPr>
          <p:cNvSpPr/>
          <p:nvPr/>
        </p:nvSpPr>
        <p:spPr>
          <a:xfrm>
            <a:off x="566928" y="4754880"/>
            <a:ext cx="256032" cy="0"/>
          </a:xfrm>
          <a:prstGeom prst="line">
            <a:avLst/>
          </a:prstGeom>
          <a:noFill/>
          <a:ln w="31750">
            <a:solidFill>
              <a:srgbClr val="3FE08A"/>
            </a:solidFill>
            <a:prstDash val="solid"/>
          </a:ln>
        </p:spPr>
        <p:txBody>
          <a:bodyPr/>
          <a:lstStyle/>
          <a:p>
            <a:endParaRPr lang="en-SE"/>
          </a:p>
        </p:txBody>
      </p:sp>
      <p:sp>
        <p:nvSpPr>
          <p:cNvPr id="44" name="corner tick">
            <a:extLst>
              <a:ext uri="{C183D7F6-B498-43B3-948B-1728B52AA6E4}">
                <adec:decorative xmlns:adec="http://schemas.microsoft.com/office/drawing/2017/decorative" val="1"/>
              </a:ext>
            </a:extLst>
          </p:cNvPr>
          <p:cNvSpPr/>
          <p:nvPr/>
        </p:nvSpPr>
        <p:spPr>
          <a:xfrm>
            <a:off x="566928" y="4498848"/>
            <a:ext cx="0" cy="256032"/>
          </a:xfrm>
          <a:prstGeom prst="line">
            <a:avLst/>
          </a:prstGeom>
          <a:noFill/>
          <a:ln w="31750">
            <a:solidFill>
              <a:srgbClr val="3FE08A"/>
            </a:solidFill>
            <a:prstDash val="solid"/>
          </a:ln>
        </p:spPr>
        <p:txBody>
          <a:bodyPr/>
          <a:lstStyle/>
          <a:p>
            <a:endParaRPr lang="en-SE"/>
          </a:p>
        </p:txBody>
      </p:sp>
      <p:sp>
        <p:nvSpPr>
          <p:cNvPr id="45" name="corner tick">
            <a:extLst>
              <a:ext uri="{C183D7F6-B498-43B3-948B-1728B52AA6E4}">
                <adec:decorative xmlns:adec="http://schemas.microsoft.com/office/drawing/2017/decorative" val="1"/>
              </a:ext>
            </a:extLst>
          </p:cNvPr>
          <p:cNvSpPr/>
          <p:nvPr/>
        </p:nvSpPr>
        <p:spPr>
          <a:xfrm>
            <a:off x="6528816" y="4754880"/>
            <a:ext cx="256032" cy="0"/>
          </a:xfrm>
          <a:prstGeom prst="line">
            <a:avLst/>
          </a:prstGeom>
          <a:noFill/>
          <a:ln w="31750">
            <a:solidFill>
              <a:srgbClr val="3FE08A"/>
            </a:solidFill>
            <a:prstDash val="solid"/>
          </a:ln>
        </p:spPr>
        <p:txBody>
          <a:bodyPr/>
          <a:lstStyle/>
          <a:p>
            <a:endParaRPr lang="en-SE"/>
          </a:p>
        </p:txBody>
      </p:sp>
      <p:sp>
        <p:nvSpPr>
          <p:cNvPr id="46" name="corner tick">
            <a:extLst>
              <a:ext uri="{C183D7F6-B498-43B3-948B-1728B52AA6E4}">
                <adec:decorative xmlns:adec="http://schemas.microsoft.com/office/drawing/2017/decorative" val="1"/>
              </a:ext>
            </a:extLst>
          </p:cNvPr>
          <p:cNvSpPr/>
          <p:nvPr/>
        </p:nvSpPr>
        <p:spPr>
          <a:xfrm>
            <a:off x="6784848" y="4498848"/>
            <a:ext cx="0" cy="256032"/>
          </a:xfrm>
          <a:prstGeom prst="line">
            <a:avLst/>
          </a:prstGeom>
          <a:noFill/>
          <a:ln w="31750">
            <a:solidFill>
              <a:srgbClr val="3FE08A"/>
            </a:solidFill>
            <a:prstDash val="solid"/>
          </a:ln>
        </p:spPr>
        <p:txBody>
          <a:bodyPr/>
          <a:lstStyle/>
          <a:p>
            <a:endParaRPr lang="en-SE"/>
          </a:p>
        </p:txBody>
      </p:sp>
      <p:sp>
        <p:nvSpPr>
          <p:cNvPr id="47" name="figure tag background">
            <a:extLst>
              <a:ext uri="{C183D7F6-B498-43B3-948B-1728B52AA6E4}">
                <adec:decorative xmlns:adec="http://schemas.microsoft.com/office/drawing/2017/decorative" val="1"/>
              </a:ext>
            </a:extLst>
          </p:cNvPr>
          <p:cNvSpPr/>
          <p:nvPr/>
        </p:nvSpPr>
        <p:spPr>
          <a:xfrm>
            <a:off x="768096" y="2167128"/>
            <a:ext cx="1783080" cy="274320"/>
          </a:xfrm>
          <a:prstGeom prst="rect">
            <a:avLst/>
          </a:prstGeom>
          <a:solidFill>
            <a:srgbClr val="3FE08A"/>
          </a:solidFill>
          <a:ln w="12700">
            <a:solidFill>
              <a:srgbClr val="333333"/>
            </a:solidFill>
            <a:prstDash val="solid"/>
          </a:ln>
        </p:spPr>
        <p:txBody>
          <a:bodyPr/>
          <a:lstStyle/>
          <a:p>
            <a:endParaRPr lang="en-SE"/>
          </a:p>
        </p:txBody>
      </p:sp>
      <p:sp>
        <p:nvSpPr>
          <p:cNvPr id="48" name="Text 46"/>
          <p:cNvSpPr/>
          <p:nvPr/>
        </p:nvSpPr>
        <p:spPr>
          <a:xfrm>
            <a:off x="768096" y="2167128"/>
            <a:ext cx="1783080" cy="274320"/>
          </a:xfrm>
          <a:prstGeom prst="rect">
            <a:avLst/>
          </a:prstGeom>
          <a:noFill/>
          <a:ln/>
        </p:spPr>
        <p:txBody>
          <a:bodyPr wrap="square" lIns="0" tIns="0" rIns="0" bIns="0" rtlCol="0" anchor="ctr"/>
          <a:lstStyle/>
          <a:p>
            <a:pPr marL="0" indent="0" algn="ctr">
              <a:buNone/>
            </a:pPr>
            <a:r>
              <a:rPr lang="en-US" sz="950" b="1" dirty="0">
                <a:solidFill>
                  <a:srgbClr val="13171B"/>
                </a:solidFill>
                <a:latin typeface="Consolas" pitchFamily="34" charset="0"/>
                <a:ea typeface="Consolas" pitchFamily="34" charset="-122"/>
                <a:cs typeface="Consolas" pitchFamily="34" charset="-120"/>
              </a:rPr>
              <a:t>SCREENSHOT 6</a:t>
            </a:r>
            <a:endParaRPr lang="en-US" sz="950" dirty="0"/>
          </a:p>
        </p:txBody>
      </p:sp>
      <p:sp>
        <p:nvSpPr>
          <p:cNvPr id="49" name="Text 47"/>
          <p:cNvSpPr/>
          <p:nvPr/>
        </p:nvSpPr>
        <p:spPr>
          <a:xfrm>
            <a:off x="886968" y="2857500"/>
            <a:ext cx="5577840" cy="1005840"/>
          </a:xfrm>
          <a:prstGeom prst="rect">
            <a:avLst/>
          </a:prstGeom>
          <a:noFill/>
          <a:ln/>
        </p:spPr>
        <p:txBody>
          <a:bodyPr wrap="square" lIns="0" tIns="0" rIns="0" bIns="0" rtlCol="0" anchor="ctr"/>
          <a:lstStyle/>
          <a:p>
            <a:pPr marL="0" indent="0" algn="ctr">
              <a:lnSpc>
                <a:spcPct val="115000"/>
              </a:lnSpc>
              <a:buNone/>
            </a:pPr>
            <a:r>
              <a:rPr lang="en-US" sz="1200" b="1" dirty="0">
                <a:solidFill>
                  <a:srgbClr val="3FE08A"/>
                </a:solidFill>
                <a:latin typeface="Segoe UI" pitchFamily="34" charset="0"/>
                <a:ea typeface="Segoe UI" pitchFamily="34" charset="-122"/>
                <a:cs typeface="Segoe UI" pitchFamily="34" charset="-120"/>
              </a:rPr>
              <a:t>Capture: </a:t>
            </a:r>
            <a:r>
              <a:rPr lang="en-US" sz="1200" dirty="0">
                <a:solidFill>
                  <a:srgbClr val="AAB7C2"/>
                </a:solidFill>
                <a:latin typeface="Segoe UI" pitchFamily="34" charset="0"/>
                <a:ea typeface="Segoe UI" pitchFamily="34" charset="-122"/>
                <a:cs typeface="Segoe UI" pitchFamily="34" charset="-120"/>
              </a:rPr>
              <a:t>The unfiltered tape with prints from several symbols visible.</a:t>
            </a:r>
            <a:endParaRPr lang="en-US" sz="1200" dirty="0"/>
          </a:p>
        </p:txBody>
      </p:sp>
      <p:sp>
        <p:nvSpPr>
          <p:cNvPr id="50" name="Text 48"/>
          <p:cNvSpPr/>
          <p:nvPr/>
        </p:nvSpPr>
        <p:spPr>
          <a:xfrm>
            <a:off x="886968" y="4279392"/>
            <a:ext cx="5577840" cy="274320"/>
          </a:xfrm>
          <a:prstGeom prst="rect">
            <a:avLst/>
          </a:prstGeom>
          <a:noFill/>
          <a:ln/>
        </p:spPr>
        <p:txBody>
          <a:bodyPr wrap="square" lIns="0" tIns="0" rIns="0" bIns="0" rtlCol="0" anchor="ctr"/>
          <a:lstStyle/>
          <a:p>
            <a:pPr marL="0" indent="0" algn="ctr">
              <a:buNone/>
            </a:pPr>
            <a:r>
              <a:rPr lang="en-US" sz="900" dirty="0">
                <a:solidFill>
                  <a:srgbClr val="7C8B97"/>
                </a:solidFill>
                <a:latin typeface="Consolas" pitchFamily="34" charset="0"/>
                <a:ea typeface="Consolas" pitchFamily="34" charset="-122"/>
                <a:cs typeface="Consolas" pitchFamily="34" charset="-120"/>
              </a:rPr>
              <a:t>fig-06-trade-tape.png</a:t>
            </a:r>
            <a:endParaRPr lang="en-US" sz="900" dirty="0"/>
          </a:p>
        </p:txBody>
      </p:sp>
      <p:sp>
        <p:nvSpPr>
          <p:cNvPr id="51" name="tape row">
            <a:extLst>
              <a:ext uri="{C183D7F6-B498-43B3-948B-1728B52AA6E4}">
                <adec:decorative xmlns:adec="http://schemas.microsoft.com/office/drawing/2017/decorative" val="1"/>
              </a:ext>
            </a:extLst>
          </p:cNvPr>
          <p:cNvSpPr/>
          <p:nvPr/>
        </p:nvSpPr>
        <p:spPr>
          <a:xfrm>
            <a:off x="566928" y="4956048"/>
            <a:ext cx="6217920" cy="274320"/>
          </a:xfrm>
          <a:prstGeom prst="rect">
            <a:avLst/>
          </a:prstGeom>
          <a:solidFill>
            <a:srgbClr val="20272D"/>
          </a:solidFill>
          <a:ln w="12700">
            <a:solidFill>
              <a:srgbClr val="333333"/>
            </a:solidFill>
            <a:prstDash val="solid"/>
          </a:ln>
        </p:spPr>
        <p:txBody>
          <a:bodyPr/>
          <a:lstStyle/>
          <a:p>
            <a:endParaRPr lang="en-SE"/>
          </a:p>
        </p:txBody>
      </p:sp>
      <p:sp>
        <p:nvSpPr>
          <p:cNvPr id="52" name="Text 50"/>
          <p:cNvSpPr/>
          <p:nvPr/>
        </p:nvSpPr>
        <p:spPr>
          <a:xfrm>
            <a:off x="713232" y="4956048"/>
            <a:ext cx="1371600" cy="274320"/>
          </a:xfrm>
          <a:prstGeom prst="rect">
            <a:avLst/>
          </a:prstGeom>
          <a:noFill/>
          <a:ln/>
        </p:spPr>
        <p:txBody>
          <a:bodyPr wrap="square" lIns="0" tIns="0" rIns="0" bIns="0" rtlCol="0" anchor="ctr"/>
          <a:lstStyle/>
          <a:p>
            <a:pPr marL="0" indent="0">
              <a:buNone/>
            </a:pPr>
            <a:r>
              <a:rPr lang="en-US" sz="900" dirty="0">
                <a:solidFill>
                  <a:srgbClr val="7C8B97"/>
                </a:solidFill>
                <a:latin typeface="Consolas" pitchFamily="34" charset="0"/>
                <a:ea typeface="Consolas" pitchFamily="34" charset="-122"/>
                <a:cs typeface="Consolas" pitchFamily="34" charset="-120"/>
              </a:rPr>
              <a:t>13:07:22.418</a:t>
            </a:r>
            <a:endParaRPr lang="en-US" sz="900" dirty="0"/>
          </a:p>
        </p:txBody>
      </p:sp>
      <p:sp>
        <p:nvSpPr>
          <p:cNvPr id="53" name="Text 51"/>
          <p:cNvSpPr/>
          <p:nvPr/>
        </p:nvSpPr>
        <p:spPr>
          <a:xfrm>
            <a:off x="2194560" y="4956048"/>
            <a:ext cx="914400" cy="274320"/>
          </a:xfrm>
          <a:prstGeom prst="rect">
            <a:avLst/>
          </a:prstGeom>
          <a:noFill/>
          <a:ln/>
        </p:spPr>
        <p:txBody>
          <a:bodyPr wrap="square" lIns="0" tIns="0" rIns="0" bIns="0" rtlCol="0" anchor="ctr"/>
          <a:lstStyle/>
          <a:p>
            <a:pPr marL="0" indent="0">
              <a:buNone/>
            </a:pPr>
            <a:r>
              <a:rPr lang="en-US" sz="900" dirty="0">
                <a:solidFill>
                  <a:srgbClr val="E6EDF3"/>
                </a:solidFill>
                <a:latin typeface="Consolas" pitchFamily="34" charset="0"/>
                <a:ea typeface="Consolas" pitchFamily="34" charset="-122"/>
                <a:cs typeface="Consolas" pitchFamily="34" charset="-120"/>
              </a:rPr>
              <a:t>AAPL</a:t>
            </a:r>
            <a:endParaRPr lang="en-US" sz="900" dirty="0"/>
          </a:p>
        </p:txBody>
      </p:sp>
      <p:sp>
        <p:nvSpPr>
          <p:cNvPr id="54" name="Text 52"/>
          <p:cNvSpPr/>
          <p:nvPr/>
        </p:nvSpPr>
        <p:spPr>
          <a:xfrm>
            <a:off x="3291840" y="4956048"/>
            <a:ext cx="1097280" cy="274320"/>
          </a:xfrm>
          <a:prstGeom prst="rect">
            <a:avLst/>
          </a:prstGeom>
          <a:noFill/>
          <a:ln/>
        </p:spPr>
        <p:txBody>
          <a:bodyPr wrap="square" lIns="0" tIns="0" rIns="0" bIns="0" rtlCol="0" anchor="ctr"/>
          <a:lstStyle/>
          <a:p>
            <a:pPr marL="0" indent="0" algn="r">
              <a:buNone/>
            </a:pPr>
            <a:r>
              <a:rPr lang="en-US" sz="900" b="1" dirty="0">
                <a:solidFill>
                  <a:srgbClr val="3FE08A"/>
                </a:solidFill>
                <a:latin typeface="Consolas" pitchFamily="34" charset="0"/>
                <a:ea typeface="Consolas" pitchFamily="34" charset="-122"/>
                <a:cs typeface="Consolas" pitchFamily="34" charset="-120"/>
              </a:rPr>
              <a:t>191.24</a:t>
            </a:r>
            <a:endParaRPr lang="en-US" sz="900" dirty="0"/>
          </a:p>
        </p:txBody>
      </p:sp>
      <p:sp>
        <p:nvSpPr>
          <p:cNvPr id="55" name="Text 53"/>
          <p:cNvSpPr/>
          <p:nvPr/>
        </p:nvSpPr>
        <p:spPr>
          <a:xfrm>
            <a:off x="4663440" y="4956048"/>
            <a:ext cx="1097280" cy="274320"/>
          </a:xfrm>
          <a:prstGeom prst="rect">
            <a:avLst/>
          </a:prstGeom>
          <a:noFill/>
          <a:ln/>
        </p:spPr>
        <p:txBody>
          <a:bodyPr wrap="square" lIns="0" tIns="0" rIns="0" bIns="0" rtlCol="0" anchor="ctr"/>
          <a:lstStyle/>
          <a:p>
            <a:pPr marL="0" indent="0" algn="r">
              <a:buNone/>
            </a:pPr>
            <a:r>
              <a:rPr lang="en-US" sz="900" dirty="0">
                <a:solidFill>
                  <a:srgbClr val="AAB7C2"/>
                </a:solidFill>
                <a:latin typeface="Consolas" pitchFamily="34" charset="0"/>
                <a:ea typeface="Consolas" pitchFamily="34" charset="-122"/>
                <a:cs typeface="Consolas" pitchFamily="34" charset="-120"/>
              </a:rPr>
              <a:t>300</a:t>
            </a:r>
            <a:endParaRPr lang="en-US" sz="900" dirty="0"/>
          </a:p>
        </p:txBody>
      </p:sp>
      <p:sp>
        <p:nvSpPr>
          <p:cNvPr id="56" name="tape row">
            <a:extLst>
              <a:ext uri="{C183D7F6-B498-43B3-948B-1728B52AA6E4}">
                <adec:decorative xmlns:adec="http://schemas.microsoft.com/office/drawing/2017/decorative" val="1"/>
              </a:ext>
            </a:extLst>
          </p:cNvPr>
          <p:cNvSpPr/>
          <p:nvPr/>
        </p:nvSpPr>
        <p:spPr>
          <a:xfrm>
            <a:off x="566928" y="5266944"/>
            <a:ext cx="6217920" cy="274320"/>
          </a:xfrm>
          <a:prstGeom prst="rect">
            <a:avLst/>
          </a:prstGeom>
          <a:solidFill>
            <a:srgbClr val="191E23"/>
          </a:solidFill>
          <a:ln w="12700">
            <a:solidFill>
              <a:srgbClr val="333333"/>
            </a:solidFill>
            <a:prstDash val="solid"/>
          </a:ln>
        </p:spPr>
        <p:txBody>
          <a:bodyPr/>
          <a:lstStyle/>
          <a:p>
            <a:endParaRPr lang="en-SE"/>
          </a:p>
        </p:txBody>
      </p:sp>
      <p:sp>
        <p:nvSpPr>
          <p:cNvPr id="57" name="Text 55"/>
          <p:cNvSpPr/>
          <p:nvPr/>
        </p:nvSpPr>
        <p:spPr>
          <a:xfrm>
            <a:off x="713232" y="5266944"/>
            <a:ext cx="1371600" cy="274320"/>
          </a:xfrm>
          <a:prstGeom prst="rect">
            <a:avLst/>
          </a:prstGeom>
          <a:noFill/>
          <a:ln/>
        </p:spPr>
        <p:txBody>
          <a:bodyPr wrap="square" lIns="0" tIns="0" rIns="0" bIns="0" rtlCol="0" anchor="ctr"/>
          <a:lstStyle/>
          <a:p>
            <a:pPr marL="0" indent="0">
              <a:buNone/>
            </a:pPr>
            <a:r>
              <a:rPr lang="en-US" sz="900" dirty="0">
                <a:solidFill>
                  <a:srgbClr val="7C8B97"/>
                </a:solidFill>
                <a:latin typeface="Consolas" pitchFamily="34" charset="0"/>
                <a:ea typeface="Consolas" pitchFamily="34" charset="-122"/>
                <a:cs typeface="Consolas" pitchFamily="34" charset="-120"/>
              </a:rPr>
              <a:t>13:07:22.106</a:t>
            </a:r>
            <a:endParaRPr lang="en-US" sz="900" dirty="0"/>
          </a:p>
        </p:txBody>
      </p:sp>
      <p:sp>
        <p:nvSpPr>
          <p:cNvPr id="58" name="Text 56"/>
          <p:cNvSpPr/>
          <p:nvPr/>
        </p:nvSpPr>
        <p:spPr>
          <a:xfrm>
            <a:off x="2194560" y="5266944"/>
            <a:ext cx="914400" cy="274320"/>
          </a:xfrm>
          <a:prstGeom prst="rect">
            <a:avLst/>
          </a:prstGeom>
          <a:noFill/>
          <a:ln/>
        </p:spPr>
        <p:txBody>
          <a:bodyPr wrap="square" lIns="0" tIns="0" rIns="0" bIns="0" rtlCol="0" anchor="ctr"/>
          <a:lstStyle/>
          <a:p>
            <a:pPr marL="0" indent="0">
              <a:buNone/>
            </a:pPr>
            <a:r>
              <a:rPr lang="en-US" sz="900" dirty="0">
                <a:solidFill>
                  <a:srgbClr val="E6EDF3"/>
                </a:solidFill>
                <a:latin typeface="Consolas" pitchFamily="34" charset="0"/>
                <a:ea typeface="Consolas" pitchFamily="34" charset="-122"/>
                <a:cs typeface="Consolas" pitchFamily="34" charset="-120"/>
              </a:rPr>
              <a:t>MSFT</a:t>
            </a:r>
            <a:endParaRPr lang="en-US" sz="900" dirty="0"/>
          </a:p>
        </p:txBody>
      </p:sp>
      <p:sp>
        <p:nvSpPr>
          <p:cNvPr id="59" name="Text 57"/>
          <p:cNvSpPr/>
          <p:nvPr/>
        </p:nvSpPr>
        <p:spPr>
          <a:xfrm>
            <a:off x="3291840" y="5266944"/>
            <a:ext cx="1097280" cy="274320"/>
          </a:xfrm>
          <a:prstGeom prst="rect">
            <a:avLst/>
          </a:prstGeom>
          <a:noFill/>
          <a:ln/>
        </p:spPr>
        <p:txBody>
          <a:bodyPr wrap="square" lIns="0" tIns="0" rIns="0" bIns="0" rtlCol="0" anchor="ctr"/>
          <a:lstStyle/>
          <a:p>
            <a:pPr marL="0" indent="0" algn="r">
              <a:buNone/>
            </a:pPr>
            <a:r>
              <a:rPr lang="en-US" sz="900" b="1" dirty="0">
                <a:solidFill>
                  <a:srgbClr val="EF5B63"/>
                </a:solidFill>
                <a:latin typeface="Consolas" pitchFamily="34" charset="0"/>
                <a:ea typeface="Consolas" pitchFamily="34" charset="-122"/>
                <a:cs typeface="Consolas" pitchFamily="34" charset="-120"/>
              </a:rPr>
              <a:t>402.10</a:t>
            </a:r>
            <a:endParaRPr lang="en-US" sz="900" dirty="0"/>
          </a:p>
        </p:txBody>
      </p:sp>
      <p:sp>
        <p:nvSpPr>
          <p:cNvPr id="60" name="Text 58"/>
          <p:cNvSpPr/>
          <p:nvPr/>
        </p:nvSpPr>
        <p:spPr>
          <a:xfrm>
            <a:off x="4663440" y="5266944"/>
            <a:ext cx="1097280" cy="274320"/>
          </a:xfrm>
          <a:prstGeom prst="rect">
            <a:avLst/>
          </a:prstGeom>
          <a:noFill/>
          <a:ln/>
        </p:spPr>
        <p:txBody>
          <a:bodyPr wrap="square" lIns="0" tIns="0" rIns="0" bIns="0" rtlCol="0" anchor="ctr"/>
          <a:lstStyle/>
          <a:p>
            <a:pPr marL="0" indent="0" algn="r">
              <a:buNone/>
            </a:pPr>
            <a:r>
              <a:rPr lang="en-US" sz="900" dirty="0">
                <a:solidFill>
                  <a:srgbClr val="AAB7C2"/>
                </a:solidFill>
                <a:latin typeface="Consolas" pitchFamily="34" charset="0"/>
                <a:ea typeface="Consolas" pitchFamily="34" charset="-122"/>
                <a:cs typeface="Consolas" pitchFamily="34" charset="-120"/>
              </a:rPr>
              <a:t>150</a:t>
            </a:r>
            <a:endParaRPr lang="en-US" sz="900" dirty="0"/>
          </a:p>
        </p:txBody>
      </p:sp>
      <p:sp>
        <p:nvSpPr>
          <p:cNvPr id="61" name="tape row">
            <a:extLst>
              <a:ext uri="{C183D7F6-B498-43B3-948B-1728B52AA6E4}">
                <adec:decorative xmlns:adec="http://schemas.microsoft.com/office/drawing/2017/decorative" val="1"/>
              </a:ext>
            </a:extLst>
          </p:cNvPr>
          <p:cNvSpPr/>
          <p:nvPr/>
        </p:nvSpPr>
        <p:spPr>
          <a:xfrm>
            <a:off x="566928" y="5577840"/>
            <a:ext cx="6217920" cy="274320"/>
          </a:xfrm>
          <a:prstGeom prst="rect">
            <a:avLst/>
          </a:prstGeom>
          <a:solidFill>
            <a:srgbClr val="20272D"/>
          </a:solidFill>
          <a:ln w="12700">
            <a:solidFill>
              <a:srgbClr val="333333"/>
            </a:solidFill>
            <a:prstDash val="solid"/>
          </a:ln>
        </p:spPr>
        <p:txBody>
          <a:bodyPr/>
          <a:lstStyle/>
          <a:p>
            <a:endParaRPr lang="en-SE"/>
          </a:p>
        </p:txBody>
      </p:sp>
      <p:sp>
        <p:nvSpPr>
          <p:cNvPr id="62" name="Text 60"/>
          <p:cNvSpPr/>
          <p:nvPr/>
        </p:nvSpPr>
        <p:spPr>
          <a:xfrm>
            <a:off x="713232" y="5577840"/>
            <a:ext cx="1371600" cy="274320"/>
          </a:xfrm>
          <a:prstGeom prst="rect">
            <a:avLst/>
          </a:prstGeom>
          <a:noFill/>
          <a:ln/>
        </p:spPr>
        <p:txBody>
          <a:bodyPr wrap="square" lIns="0" tIns="0" rIns="0" bIns="0" rtlCol="0" anchor="ctr"/>
          <a:lstStyle/>
          <a:p>
            <a:pPr marL="0" indent="0">
              <a:buNone/>
            </a:pPr>
            <a:r>
              <a:rPr lang="en-US" sz="900" dirty="0">
                <a:solidFill>
                  <a:srgbClr val="7C8B97"/>
                </a:solidFill>
                <a:latin typeface="Consolas" pitchFamily="34" charset="0"/>
                <a:ea typeface="Consolas" pitchFamily="34" charset="-122"/>
                <a:cs typeface="Consolas" pitchFamily="34" charset="-120"/>
              </a:rPr>
              <a:t>13:07:21.884</a:t>
            </a:r>
            <a:endParaRPr lang="en-US" sz="900" dirty="0"/>
          </a:p>
        </p:txBody>
      </p:sp>
      <p:sp>
        <p:nvSpPr>
          <p:cNvPr id="63" name="Text 61"/>
          <p:cNvSpPr/>
          <p:nvPr/>
        </p:nvSpPr>
        <p:spPr>
          <a:xfrm>
            <a:off x="2194560" y="5577840"/>
            <a:ext cx="914400" cy="274320"/>
          </a:xfrm>
          <a:prstGeom prst="rect">
            <a:avLst/>
          </a:prstGeom>
          <a:noFill/>
          <a:ln/>
        </p:spPr>
        <p:txBody>
          <a:bodyPr wrap="square" lIns="0" tIns="0" rIns="0" bIns="0" rtlCol="0" anchor="ctr"/>
          <a:lstStyle/>
          <a:p>
            <a:pPr marL="0" indent="0">
              <a:buNone/>
            </a:pPr>
            <a:r>
              <a:rPr lang="en-US" sz="900" dirty="0">
                <a:solidFill>
                  <a:srgbClr val="E6EDF3"/>
                </a:solidFill>
                <a:latin typeface="Consolas" pitchFamily="34" charset="0"/>
                <a:ea typeface="Consolas" pitchFamily="34" charset="-122"/>
                <a:cs typeface="Consolas" pitchFamily="34" charset="-120"/>
              </a:rPr>
              <a:t>AAPL</a:t>
            </a:r>
            <a:endParaRPr lang="en-US" sz="900" dirty="0"/>
          </a:p>
        </p:txBody>
      </p:sp>
      <p:sp>
        <p:nvSpPr>
          <p:cNvPr id="64" name="Text 62"/>
          <p:cNvSpPr/>
          <p:nvPr/>
        </p:nvSpPr>
        <p:spPr>
          <a:xfrm>
            <a:off x="3291840" y="5577840"/>
            <a:ext cx="1097280" cy="274320"/>
          </a:xfrm>
          <a:prstGeom prst="rect">
            <a:avLst/>
          </a:prstGeom>
          <a:noFill/>
          <a:ln/>
        </p:spPr>
        <p:txBody>
          <a:bodyPr wrap="square" lIns="0" tIns="0" rIns="0" bIns="0" rtlCol="0" anchor="ctr"/>
          <a:lstStyle/>
          <a:p>
            <a:pPr marL="0" indent="0" algn="r">
              <a:buNone/>
            </a:pPr>
            <a:r>
              <a:rPr lang="en-US" sz="900" b="1" dirty="0">
                <a:solidFill>
                  <a:srgbClr val="EF5B63"/>
                </a:solidFill>
                <a:latin typeface="Consolas" pitchFamily="34" charset="0"/>
                <a:ea typeface="Consolas" pitchFamily="34" charset="-122"/>
                <a:cs typeface="Consolas" pitchFamily="34" charset="-120"/>
              </a:rPr>
              <a:t>191.22</a:t>
            </a:r>
            <a:endParaRPr lang="en-US" sz="900" dirty="0"/>
          </a:p>
        </p:txBody>
      </p:sp>
      <p:sp>
        <p:nvSpPr>
          <p:cNvPr id="65" name="Text 63"/>
          <p:cNvSpPr/>
          <p:nvPr/>
        </p:nvSpPr>
        <p:spPr>
          <a:xfrm>
            <a:off x="4663440" y="5577840"/>
            <a:ext cx="1097280" cy="274320"/>
          </a:xfrm>
          <a:prstGeom prst="rect">
            <a:avLst/>
          </a:prstGeom>
          <a:noFill/>
          <a:ln/>
        </p:spPr>
        <p:txBody>
          <a:bodyPr wrap="square" lIns="0" tIns="0" rIns="0" bIns="0" rtlCol="0" anchor="ctr"/>
          <a:lstStyle/>
          <a:p>
            <a:pPr marL="0" indent="0" algn="r">
              <a:buNone/>
            </a:pPr>
            <a:r>
              <a:rPr lang="en-US" sz="900" dirty="0">
                <a:solidFill>
                  <a:srgbClr val="AAB7C2"/>
                </a:solidFill>
                <a:latin typeface="Consolas" pitchFamily="34" charset="0"/>
                <a:ea typeface="Consolas" pitchFamily="34" charset="-122"/>
                <a:cs typeface="Consolas" pitchFamily="34" charset="-120"/>
              </a:rPr>
              <a:t>1,200</a:t>
            </a:r>
            <a:endParaRPr lang="en-US" sz="900" dirty="0"/>
          </a:p>
        </p:txBody>
      </p:sp>
      <p:sp>
        <p:nvSpPr>
          <p:cNvPr id="66" name="tape row">
            <a:extLst>
              <a:ext uri="{C183D7F6-B498-43B3-948B-1728B52AA6E4}">
                <adec:decorative xmlns:adec="http://schemas.microsoft.com/office/drawing/2017/decorative" val="1"/>
              </a:ext>
            </a:extLst>
          </p:cNvPr>
          <p:cNvSpPr/>
          <p:nvPr/>
        </p:nvSpPr>
        <p:spPr>
          <a:xfrm>
            <a:off x="566928" y="5888736"/>
            <a:ext cx="6217920" cy="274320"/>
          </a:xfrm>
          <a:prstGeom prst="rect">
            <a:avLst/>
          </a:prstGeom>
          <a:solidFill>
            <a:srgbClr val="191E23"/>
          </a:solidFill>
          <a:ln w="12700">
            <a:solidFill>
              <a:srgbClr val="333333"/>
            </a:solidFill>
            <a:prstDash val="solid"/>
          </a:ln>
        </p:spPr>
        <p:txBody>
          <a:bodyPr/>
          <a:lstStyle/>
          <a:p>
            <a:endParaRPr lang="en-SE"/>
          </a:p>
        </p:txBody>
      </p:sp>
      <p:sp>
        <p:nvSpPr>
          <p:cNvPr id="67" name="Text 65"/>
          <p:cNvSpPr/>
          <p:nvPr/>
        </p:nvSpPr>
        <p:spPr>
          <a:xfrm>
            <a:off x="713232" y="5888736"/>
            <a:ext cx="1371600" cy="274320"/>
          </a:xfrm>
          <a:prstGeom prst="rect">
            <a:avLst/>
          </a:prstGeom>
          <a:noFill/>
          <a:ln/>
        </p:spPr>
        <p:txBody>
          <a:bodyPr wrap="square" lIns="0" tIns="0" rIns="0" bIns="0" rtlCol="0" anchor="ctr"/>
          <a:lstStyle/>
          <a:p>
            <a:pPr marL="0" indent="0">
              <a:buNone/>
            </a:pPr>
            <a:r>
              <a:rPr lang="en-US" sz="900" dirty="0">
                <a:solidFill>
                  <a:srgbClr val="7C8B97"/>
                </a:solidFill>
                <a:latin typeface="Consolas" pitchFamily="34" charset="0"/>
                <a:ea typeface="Consolas" pitchFamily="34" charset="-122"/>
                <a:cs typeface="Consolas" pitchFamily="34" charset="-120"/>
              </a:rPr>
              <a:t>13:07:21.550</a:t>
            </a:r>
            <a:endParaRPr lang="en-US" sz="900" dirty="0"/>
          </a:p>
        </p:txBody>
      </p:sp>
      <p:sp>
        <p:nvSpPr>
          <p:cNvPr id="68" name="Text 66"/>
          <p:cNvSpPr/>
          <p:nvPr/>
        </p:nvSpPr>
        <p:spPr>
          <a:xfrm>
            <a:off x="2194560" y="5888736"/>
            <a:ext cx="914400" cy="274320"/>
          </a:xfrm>
          <a:prstGeom prst="rect">
            <a:avLst/>
          </a:prstGeom>
          <a:noFill/>
          <a:ln/>
        </p:spPr>
        <p:txBody>
          <a:bodyPr wrap="square" lIns="0" tIns="0" rIns="0" bIns="0" rtlCol="0" anchor="ctr"/>
          <a:lstStyle/>
          <a:p>
            <a:pPr marL="0" indent="0">
              <a:buNone/>
            </a:pPr>
            <a:r>
              <a:rPr lang="en-US" sz="900" dirty="0">
                <a:solidFill>
                  <a:srgbClr val="E6EDF3"/>
                </a:solidFill>
                <a:latin typeface="Consolas" pitchFamily="34" charset="0"/>
                <a:ea typeface="Consolas" pitchFamily="34" charset="-122"/>
                <a:cs typeface="Consolas" pitchFamily="34" charset="-120"/>
              </a:rPr>
              <a:t>NVDA</a:t>
            </a:r>
            <a:endParaRPr lang="en-US" sz="900" dirty="0"/>
          </a:p>
        </p:txBody>
      </p:sp>
      <p:sp>
        <p:nvSpPr>
          <p:cNvPr id="69" name="Text 67"/>
          <p:cNvSpPr/>
          <p:nvPr/>
        </p:nvSpPr>
        <p:spPr>
          <a:xfrm>
            <a:off x="3291840" y="5888736"/>
            <a:ext cx="1097280" cy="274320"/>
          </a:xfrm>
          <a:prstGeom prst="rect">
            <a:avLst/>
          </a:prstGeom>
          <a:noFill/>
          <a:ln/>
        </p:spPr>
        <p:txBody>
          <a:bodyPr wrap="square" lIns="0" tIns="0" rIns="0" bIns="0" rtlCol="0" anchor="ctr"/>
          <a:lstStyle/>
          <a:p>
            <a:pPr marL="0" indent="0" algn="r">
              <a:buNone/>
            </a:pPr>
            <a:r>
              <a:rPr lang="en-US" sz="900" b="1" dirty="0">
                <a:solidFill>
                  <a:srgbClr val="3FE08A"/>
                </a:solidFill>
                <a:latin typeface="Consolas" pitchFamily="34" charset="0"/>
                <a:ea typeface="Consolas" pitchFamily="34" charset="-122"/>
                <a:cs typeface="Consolas" pitchFamily="34" charset="-120"/>
              </a:rPr>
              <a:t>884.75</a:t>
            </a:r>
            <a:endParaRPr lang="en-US" sz="900" dirty="0"/>
          </a:p>
        </p:txBody>
      </p:sp>
      <p:sp>
        <p:nvSpPr>
          <p:cNvPr id="70" name="Text 68"/>
          <p:cNvSpPr/>
          <p:nvPr/>
        </p:nvSpPr>
        <p:spPr>
          <a:xfrm>
            <a:off x="4663440" y="5888736"/>
            <a:ext cx="1097280" cy="274320"/>
          </a:xfrm>
          <a:prstGeom prst="rect">
            <a:avLst/>
          </a:prstGeom>
          <a:noFill/>
          <a:ln/>
        </p:spPr>
        <p:txBody>
          <a:bodyPr wrap="square" lIns="0" tIns="0" rIns="0" bIns="0" rtlCol="0" anchor="ctr"/>
          <a:lstStyle/>
          <a:p>
            <a:pPr marL="0" indent="0" algn="r">
              <a:buNone/>
            </a:pPr>
            <a:r>
              <a:rPr lang="en-US" sz="900" dirty="0">
                <a:solidFill>
                  <a:srgbClr val="AAB7C2"/>
                </a:solidFill>
                <a:latin typeface="Consolas" pitchFamily="34" charset="0"/>
                <a:ea typeface="Consolas" pitchFamily="34" charset="-122"/>
                <a:cs typeface="Consolas" pitchFamily="34" charset="-120"/>
              </a:rPr>
              <a:t>80</a:t>
            </a:r>
            <a:endParaRPr lang="en-US" sz="900" dirty="0"/>
          </a:p>
        </p:txBody>
      </p:sp>
      <p:sp>
        <p:nvSpPr>
          <p:cNvPr id="71" name="panel">
            <a:extLst>
              <a:ext uri="{C183D7F6-B498-43B3-948B-1728B52AA6E4}">
                <adec:decorative xmlns:adec="http://schemas.microsoft.com/office/drawing/2017/decorative" val="1"/>
              </a:ext>
            </a:extLst>
          </p:cNvPr>
          <p:cNvSpPr/>
          <p:nvPr/>
        </p:nvSpPr>
        <p:spPr>
          <a:xfrm>
            <a:off x="6995160" y="2057400"/>
            <a:ext cx="4178808" cy="128016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72" name="panel accent">
            <a:extLst>
              <a:ext uri="{C183D7F6-B498-43B3-948B-1728B52AA6E4}">
                <adec:decorative xmlns:adec="http://schemas.microsoft.com/office/drawing/2017/decorative" val="1"/>
              </a:ext>
            </a:extLst>
          </p:cNvPr>
          <p:cNvSpPr/>
          <p:nvPr/>
        </p:nvSpPr>
        <p:spPr>
          <a:xfrm>
            <a:off x="6995160" y="2057400"/>
            <a:ext cx="50292" cy="1280160"/>
          </a:xfrm>
          <a:prstGeom prst="rect">
            <a:avLst/>
          </a:prstGeom>
          <a:solidFill>
            <a:srgbClr val="3FE08A"/>
          </a:solidFill>
          <a:ln w="12700">
            <a:solidFill>
              <a:srgbClr val="333333"/>
            </a:solidFill>
            <a:prstDash val="solid"/>
          </a:ln>
        </p:spPr>
        <p:txBody>
          <a:bodyPr/>
          <a:lstStyle/>
          <a:p>
            <a:endParaRPr lang="en-SE"/>
          </a:p>
        </p:txBody>
      </p:sp>
      <p:sp>
        <p:nvSpPr>
          <p:cNvPr id="73" name="Text 71"/>
          <p:cNvSpPr/>
          <p:nvPr/>
        </p:nvSpPr>
        <p:spPr>
          <a:xfrm>
            <a:off x="7223760" y="2203704"/>
            <a:ext cx="3749040" cy="292608"/>
          </a:xfrm>
          <a:prstGeom prst="rect">
            <a:avLst/>
          </a:prstGeom>
          <a:noFill/>
          <a:ln/>
        </p:spPr>
        <p:txBody>
          <a:bodyPr wrap="square" lIns="0" tIns="0" rIns="0" bIns="0" rtlCol="0" anchor="ctr"/>
          <a:lstStyle/>
          <a:p>
            <a:pPr marL="0" indent="0">
              <a:buNone/>
            </a:pPr>
            <a:r>
              <a:rPr lang="en-US" sz="1300" b="1" dirty="0">
                <a:solidFill>
                  <a:srgbClr val="E6EDF3"/>
                </a:solidFill>
                <a:latin typeface="Segoe UI" pitchFamily="34" charset="0"/>
                <a:ea typeface="Segoe UI" pitchFamily="34" charset="-122"/>
                <a:cs typeface="Segoe UI" pitchFamily="34" charset="-120"/>
              </a:rPr>
              <a:t>Filter by symbol</a:t>
            </a:r>
            <a:endParaRPr lang="en-US" sz="1300" dirty="0"/>
          </a:p>
        </p:txBody>
      </p:sp>
      <p:sp>
        <p:nvSpPr>
          <p:cNvPr id="74" name="Text 72"/>
          <p:cNvSpPr/>
          <p:nvPr/>
        </p:nvSpPr>
        <p:spPr>
          <a:xfrm>
            <a:off x="7223760" y="2532888"/>
            <a:ext cx="3749040" cy="731520"/>
          </a:xfrm>
          <a:prstGeom prst="rect">
            <a:avLst/>
          </a:prstGeom>
          <a:noFill/>
          <a:ln/>
        </p:spPr>
        <p:txBody>
          <a:bodyPr wrap="square" lIns="0" tIns="0" rIns="0" bIns="0" rtlCol="0" anchor="ctr"/>
          <a:lstStyle/>
          <a:p>
            <a:pPr marL="0" indent="0">
              <a:lnSpc>
                <a:spcPct val="110000"/>
              </a:lnSpc>
              <a:buNone/>
            </a:pPr>
            <a:r>
              <a:rPr lang="en-US" sz="1050" dirty="0">
                <a:solidFill>
                  <a:srgbClr val="AAB7C2"/>
                </a:solidFill>
                <a:latin typeface="Segoe UI" pitchFamily="34" charset="0"/>
                <a:ea typeface="Segoe UI" pitchFamily="34" charset="-122"/>
                <a:cs typeface="Segoe UI" pitchFamily="34" charset="-120"/>
              </a:rPr>
              <a:t>The filter narrows what is displayed. Every symbol's prints are already arriving underneath, so switching the filter is instant and costs nothing.</a:t>
            </a:r>
            <a:endParaRPr lang="en-US" sz="1050" dirty="0"/>
          </a:p>
        </p:txBody>
      </p:sp>
      <p:sp>
        <p:nvSpPr>
          <p:cNvPr id="75" name="panel">
            <a:extLst>
              <a:ext uri="{C183D7F6-B498-43B3-948B-1728B52AA6E4}">
                <adec:decorative xmlns:adec="http://schemas.microsoft.com/office/drawing/2017/decorative" val="1"/>
              </a:ext>
            </a:extLst>
          </p:cNvPr>
          <p:cNvSpPr/>
          <p:nvPr/>
        </p:nvSpPr>
        <p:spPr>
          <a:xfrm>
            <a:off x="6995160" y="3474720"/>
            <a:ext cx="4178808" cy="128016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76" name="panel accent">
            <a:extLst>
              <a:ext uri="{C183D7F6-B498-43B3-948B-1728B52AA6E4}">
                <adec:decorative xmlns:adec="http://schemas.microsoft.com/office/drawing/2017/decorative" val="1"/>
              </a:ext>
            </a:extLst>
          </p:cNvPr>
          <p:cNvSpPr/>
          <p:nvPr/>
        </p:nvSpPr>
        <p:spPr>
          <a:xfrm>
            <a:off x="6995160" y="3474720"/>
            <a:ext cx="50292" cy="1280160"/>
          </a:xfrm>
          <a:prstGeom prst="rect">
            <a:avLst/>
          </a:prstGeom>
          <a:solidFill>
            <a:srgbClr val="3FE08A"/>
          </a:solidFill>
          <a:ln w="12700">
            <a:solidFill>
              <a:srgbClr val="333333"/>
            </a:solidFill>
            <a:prstDash val="solid"/>
          </a:ln>
        </p:spPr>
        <p:txBody>
          <a:bodyPr/>
          <a:lstStyle/>
          <a:p>
            <a:endParaRPr lang="en-SE"/>
          </a:p>
        </p:txBody>
      </p:sp>
      <p:sp>
        <p:nvSpPr>
          <p:cNvPr id="77" name="Text 75"/>
          <p:cNvSpPr/>
          <p:nvPr/>
        </p:nvSpPr>
        <p:spPr>
          <a:xfrm>
            <a:off x="7223760" y="3621024"/>
            <a:ext cx="3749040" cy="292608"/>
          </a:xfrm>
          <a:prstGeom prst="rect">
            <a:avLst/>
          </a:prstGeom>
          <a:noFill/>
          <a:ln/>
        </p:spPr>
        <p:txBody>
          <a:bodyPr wrap="square" lIns="0" tIns="0" rIns="0" bIns="0" rtlCol="0" anchor="ctr"/>
          <a:lstStyle/>
          <a:p>
            <a:pPr marL="0" indent="0">
              <a:buNone/>
            </a:pPr>
            <a:r>
              <a:rPr lang="en-US" sz="1300" b="1" dirty="0">
                <a:solidFill>
                  <a:srgbClr val="E6EDF3"/>
                </a:solidFill>
                <a:latin typeface="Segoe UI" pitchFamily="34" charset="0"/>
                <a:ea typeface="Segoe UI" pitchFamily="34" charset="-122"/>
                <a:cs typeface="Segoe UI" pitchFamily="34" charset="-120"/>
              </a:rPr>
              <a:t>Pause and Resume</a:t>
            </a:r>
            <a:endParaRPr lang="en-US" sz="1300" dirty="0"/>
          </a:p>
        </p:txBody>
      </p:sp>
      <p:sp>
        <p:nvSpPr>
          <p:cNvPr id="78" name="Text 76"/>
          <p:cNvSpPr/>
          <p:nvPr/>
        </p:nvSpPr>
        <p:spPr>
          <a:xfrm>
            <a:off x="7223760" y="3950208"/>
            <a:ext cx="3749040" cy="731520"/>
          </a:xfrm>
          <a:prstGeom prst="rect">
            <a:avLst/>
          </a:prstGeom>
          <a:noFill/>
          <a:ln/>
        </p:spPr>
        <p:txBody>
          <a:bodyPr wrap="square" lIns="0" tIns="0" rIns="0" bIns="0" rtlCol="0" anchor="ctr"/>
          <a:lstStyle/>
          <a:p>
            <a:pPr marL="0" indent="0">
              <a:lnSpc>
                <a:spcPct val="110000"/>
              </a:lnSpc>
              <a:buNone/>
            </a:pPr>
            <a:r>
              <a:rPr lang="en-US" sz="1050" dirty="0">
                <a:solidFill>
                  <a:srgbClr val="AAB7C2"/>
                </a:solidFill>
                <a:latin typeface="Segoe UI" pitchFamily="34" charset="0"/>
                <a:ea typeface="Segoe UI" pitchFamily="34" charset="-122"/>
                <a:cs typeface="Segoe UI" pitchFamily="34" charset="-120"/>
              </a:rPr>
              <a:t>Pause freezes the visible rows without losing anything — the tape keeps recording underneath. Resume shows the current state, not a gap where the pause was.</a:t>
            </a:r>
            <a:endParaRPr lang="en-US" sz="1050" dirty="0"/>
          </a:p>
        </p:txBody>
      </p:sp>
      <p:sp>
        <p:nvSpPr>
          <p:cNvPr id="79" name="panel">
            <a:extLst>
              <a:ext uri="{C183D7F6-B498-43B3-948B-1728B52AA6E4}">
                <adec:decorative xmlns:adec="http://schemas.microsoft.com/office/drawing/2017/decorative" val="1"/>
              </a:ext>
            </a:extLst>
          </p:cNvPr>
          <p:cNvSpPr/>
          <p:nvPr/>
        </p:nvSpPr>
        <p:spPr>
          <a:xfrm>
            <a:off x="6995160" y="4892040"/>
            <a:ext cx="4178808" cy="128016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80" name="panel accent">
            <a:extLst>
              <a:ext uri="{C183D7F6-B498-43B3-948B-1728B52AA6E4}">
                <adec:decorative xmlns:adec="http://schemas.microsoft.com/office/drawing/2017/decorative" val="1"/>
              </a:ext>
            </a:extLst>
          </p:cNvPr>
          <p:cNvSpPr/>
          <p:nvPr/>
        </p:nvSpPr>
        <p:spPr>
          <a:xfrm>
            <a:off x="6995160" y="4892040"/>
            <a:ext cx="50292" cy="1280160"/>
          </a:xfrm>
          <a:prstGeom prst="rect">
            <a:avLst/>
          </a:prstGeom>
          <a:solidFill>
            <a:srgbClr val="F5A524"/>
          </a:solidFill>
          <a:ln w="12700">
            <a:solidFill>
              <a:srgbClr val="333333"/>
            </a:solidFill>
            <a:prstDash val="solid"/>
          </a:ln>
        </p:spPr>
        <p:txBody>
          <a:bodyPr/>
          <a:lstStyle/>
          <a:p>
            <a:endParaRPr lang="en-SE"/>
          </a:p>
        </p:txBody>
      </p:sp>
      <p:sp>
        <p:nvSpPr>
          <p:cNvPr id="81" name="Text 79"/>
          <p:cNvSpPr/>
          <p:nvPr/>
        </p:nvSpPr>
        <p:spPr>
          <a:xfrm>
            <a:off x="7223760" y="5038344"/>
            <a:ext cx="3749040" cy="292608"/>
          </a:xfrm>
          <a:prstGeom prst="rect">
            <a:avLst/>
          </a:prstGeom>
          <a:noFill/>
          <a:ln/>
        </p:spPr>
        <p:txBody>
          <a:bodyPr wrap="square" lIns="0" tIns="0" rIns="0" bIns="0" rtlCol="0" anchor="ctr"/>
          <a:lstStyle/>
          <a:p>
            <a:pPr marL="0" indent="0">
              <a:buNone/>
            </a:pPr>
            <a:r>
              <a:rPr lang="en-US" sz="1300" b="1" dirty="0">
                <a:solidFill>
                  <a:srgbClr val="E6EDF3"/>
                </a:solidFill>
                <a:latin typeface="Segoe UI" pitchFamily="34" charset="0"/>
                <a:ea typeface="Segoe UI" pitchFamily="34" charset="-122"/>
                <a:cs typeface="Segoe UI" pitchFamily="34" charset="-120"/>
              </a:rPr>
              <a:t>Gap markers</a:t>
            </a:r>
            <a:endParaRPr lang="en-US" sz="1300" dirty="0"/>
          </a:p>
        </p:txBody>
      </p:sp>
      <p:sp>
        <p:nvSpPr>
          <p:cNvPr id="82" name="Text 80"/>
          <p:cNvSpPr/>
          <p:nvPr/>
        </p:nvSpPr>
        <p:spPr>
          <a:xfrm>
            <a:off x="7223760" y="5367528"/>
            <a:ext cx="3749040" cy="731520"/>
          </a:xfrm>
          <a:prstGeom prst="rect">
            <a:avLst/>
          </a:prstGeom>
          <a:noFill/>
          <a:ln/>
        </p:spPr>
        <p:txBody>
          <a:bodyPr wrap="square" lIns="0" tIns="0" rIns="0" bIns="0" rtlCol="0" anchor="ctr"/>
          <a:lstStyle/>
          <a:p>
            <a:pPr marL="0" indent="0">
              <a:lnSpc>
                <a:spcPct val="110000"/>
              </a:lnSpc>
              <a:buNone/>
            </a:pPr>
            <a:r>
              <a:rPr lang="en-US" sz="1050" dirty="0">
                <a:solidFill>
                  <a:srgbClr val="AAB7C2"/>
                </a:solidFill>
                <a:latin typeface="Segoe UI" pitchFamily="34" charset="0"/>
                <a:ea typeface="Segoe UI" pitchFamily="34" charset="-122"/>
                <a:cs typeface="Segoe UI" pitchFamily="34" charset="-120"/>
              </a:rPr>
              <a:t>If prints were genuinely missed, the tape says so, in place. See the next slide — this is the single most important idea in the whole terminal.</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Movers — three rankings of the same data</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03 · SCREENS</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27</a:t>
            </a:r>
            <a:endParaRPr lang="en-US" sz="950" dirty="0"/>
          </a:p>
        </p:txBody>
      </p:sp>
      <p:sp>
        <p:nvSpPr>
          <p:cNvPr id="37" name="Text 35"/>
          <p:cNvSpPr/>
          <p:nvPr/>
        </p:nvSpPr>
        <p:spPr>
          <a:xfrm>
            <a:off x="566928" y="1170432"/>
            <a:ext cx="6035040" cy="566928"/>
          </a:xfrm>
          <a:prstGeom prst="rect">
            <a:avLst/>
          </a:prstGeom>
          <a:noFill/>
          <a:ln/>
        </p:spPr>
        <p:txBody>
          <a:bodyPr wrap="square" lIns="0" tIns="0" rIns="0" bIns="0" rtlCol="0" anchor="t"/>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No new data is fetched here. Movers simply ranks what the Overview board has already computed.</a:t>
            </a:r>
            <a:endParaRPr lang="en-US" sz="1400" dirty="0"/>
          </a:p>
        </p:txBody>
      </p:sp>
      <p:sp>
        <p:nvSpPr>
          <p:cNvPr id="38" name="screenshot placeholder frame">
            <a:extLst>
              <a:ext uri="{C183D7F6-B498-43B3-948B-1728B52AA6E4}">
                <adec:decorative xmlns:adec="http://schemas.microsoft.com/office/drawing/2017/decorative" val="1"/>
              </a:ext>
            </a:extLst>
          </p:cNvPr>
          <p:cNvSpPr/>
          <p:nvPr/>
        </p:nvSpPr>
        <p:spPr>
          <a:xfrm>
            <a:off x="566928" y="1790470"/>
            <a:ext cx="6035040" cy="2286000"/>
          </a:xfrm>
          <a:prstGeom prst="rect">
            <a:avLst/>
          </a:prstGeom>
          <a:solidFill>
            <a:srgbClr val="191E23"/>
          </a:solidFill>
          <a:ln w="22225">
            <a:solidFill>
              <a:srgbClr val="3FE08A"/>
            </a:solidFill>
            <a:prstDash val="dash"/>
          </a:ln>
        </p:spPr>
        <p:txBody>
          <a:bodyPr/>
          <a:lstStyle/>
          <a:p>
            <a:endParaRPr lang="en-SE"/>
          </a:p>
        </p:txBody>
      </p:sp>
      <p:sp>
        <p:nvSpPr>
          <p:cNvPr id="39" name="corner tick">
            <a:extLst>
              <a:ext uri="{C183D7F6-B498-43B3-948B-1728B52AA6E4}">
                <adec:decorative xmlns:adec="http://schemas.microsoft.com/office/drawing/2017/decorative" val="1"/>
              </a:ext>
            </a:extLst>
          </p:cNvPr>
          <p:cNvSpPr/>
          <p:nvPr/>
        </p:nvSpPr>
        <p:spPr>
          <a:xfrm>
            <a:off x="566928" y="1790470"/>
            <a:ext cx="256032" cy="0"/>
          </a:xfrm>
          <a:prstGeom prst="line">
            <a:avLst/>
          </a:prstGeom>
          <a:noFill/>
          <a:ln w="31750">
            <a:solidFill>
              <a:srgbClr val="3FE08A"/>
            </a:solidFill>
            <a:prstDash val="solid"/>
          </a:ln>
        </p:spPr>
        <p:txBody>
          <a:bodyPr/>
          <a:lstStyle/>
          <a:p>
            <a:endParaRPr lang="en-SE"/>
          </a:p>
        </p:txBody>
      </p:sp>
      <p:sp>
        <p:nvSpPr>
          <p:cNvPr id="40" name="corner tick">
            <a:extLst>
              <a:ext uri="{C183D7F6-B498-43B3-948B-1728B52AA6E4}">
                <adec:decorative xmlns:adec="http://schemas.microsoft.com/office/drawing/2017/decorative" val="1"/>
              </a:ext>
            </a:extLst>
          </p:cNvPr>
          <p:cNvSpPr/>
          <p:nvPr/>
        </p:nvSpPr>
        <p:spPr>
          <a:xfrm>
            <a:off x="566928" y="1790470"/>
            <a:ext cx="0" cy="256032"/>
          </a:xfrm>
          <a:prstGeom prst="line">
            <a:avLst/>
          </a:prstGeom>
          <a:noFill/>
          <a:ln w="31750">
            <a:solidFill>
              <a:srgbClr val="3FE08A"/>
            </a:solidFill>
            <a:prstDash val="solid"/>
          </a:ln>
        </p:spPr>
        <p:txBody>
          <a:bodyPr/>
          <a:lstStyle/>
          <a:p>
            <a:endParaRPr lang="en-SE"/>
          </a:p>
        </p:txBody>
      </p:sp>
      <p:sp>
        <p:nvSpPr>
          <p:cNvPr id="41" name="corner tick">
            <a:extLst>
              <a:ext uri="{C183D7F6-B498-43B3-948B-1728B52AA6E4}">
                <adec:decorative xmlns:adec="http://schemas.microsoft.com/office/drawing/2017/decorative" val="1"/>
              </a:ext>
            </a:extLst>
          </p:cNvPr>
          <p:cNvSpPr/>
          <p:nvPr/>
        </p:nvSpPr>
        <p:spPr>
          <a:xfrm>
            <a:off x="6345936" y="1790470"/>
            <a:ext cx="256032" cy="0"/>
          </a:xfrm>
          <a:prstGeom prst="line">
            <a:avLst/>
          </a:prstGeom>
          <a:noFill/>
          <a:ln w="31750">
            <a:solidFill>
              <a:srgbClr val="3FE08A"/>
            </a:solidFill>
            <a:prstDash val="solid"/>
          </a:ln>
        </p:spPr>
        <p:txBody>
          <a:bodyPr/>
          <a:lstStyle/>
          <a:p>
            <a:endParaRPr lang="en-SE"/>
          </a:p>
        </p:txBody>
      </p:sp>
      <p:sp>
        <p:nvSpPr>
          <p:cNvPr id="42" name="corner tick">
            <a:extLst>
              <a:ext uri="{C183D7F6-B498-43B3-948B-1728B52AA6E4}">
                <adec:decorative xmlns:adec="http://schemas.microsoft.com/office/drawing/2017/decorative" val="1"/>
              </a:ext>
            </a:extLst>
          </p:cNvPr>
          <p:cNvSpPr/>
          <p:nvPr/>
        </p:nvSpPr>
        <p:spPr>
          <a:xfrm>
            <a:off x="6601968" y="1790470"/>
            <a:ext cx="0" cy="256032"/>
          </a:xfrm>
          <a:prstGeom prst="line">
            <a:avLst/>
          </a:prstGeom>
          <a:noFill/>
          <a:ln w="31750">
            <a:solidFill>
              <a:srgbClr val="3FE08A"/>
            </a:solidFill>
            <a:prstDash val="solid"/>
          </a:ln>
        </p:spPr>
        <p:txBody>
          <a:bodyPr/>
          <a:lstStyle/>
          <a:p>
            <a:endParaRPr lang="en-SE"/>
          </a:p>
        </p:txBody>
      </p:sp>
      <p:sp>
        <p:nvSpPr>
          <p:cNvPr id="43" name="corner tick">
            <a:extLst>
              <a:ext uri="{C183D7F6-B498-43B3-948B-1728B52AA6E4}">
                <adec:decorative xmlns:adec="http://schemas.microsoft.com/office/drawing/2017/decorative" val="1"/>
              </a:ext>
            </a:extLst>
          </p:cNvPr>
          <p:cNvSpPr/>
          <p:nvPr/>
        </p:nvSpPr>
        <p:spPr>
          <a:xfrm>
            <a:off x="566928" y="4076470"/>
            <a:ext cx="256032" cy="0"/>
          </a:xfrm>
          <a:prstGeom prst="line">
            <a:avLst/>
          </a:prstGeom>
          <a:noFill/>
          <a:ln w="31750">
            <a:solidFill>
              <a:srgbClr val="3FE08A"/>
            </a:solidFill>
            <a:prstDash val="solid"/>
          </a:ln>
        </p:spPr>
        <p:txBody>
          <a:bodyPr/>
          <a:lstStyle/>
          <a:p>
            <a:endParaRPr lang="en-SE"/>
          </a:p>
        </p:txBody>
      </p:sp>
      <p:sp>
        <p:nvSpPr>
          <p:cNvPr id="44" name="corner tick">
            <a:extLst>
              <a:ext uri="{C183D7F6-B498-43B3-948B-1728B52AA6E4}">
                <adec:decorative xmlns:adec="http://schemas.microsoft.com/office/drawing/2017/decorative" val="1"/>
              </a:ext>
            </a:extLst>
          </p:cNvPr>
          <p:cNvSpPr/>
          <p:nvPr/>
        </p:nvSpPr>
        <p:spPr>
          <a:xfrm>
            <a:off x="566928" y="3820438"/>
            <a:ext cx="0" cy="256032"/>
          </a:xfrm>
          <a:prstGeom prst="line">
            <a:avLst/>
          </a:prstGeom>
          <a:noFill/>
          <a:ln w="31750">
            <a:solidFill>
              <a:srgbClr val="3FE08A"/>
            </a:solidFill>
            <a:prstDash val="solid"/>
          </a:ln>
        </p:spPr>
        <p:txBody>
          <a:bodyPr/>
          <a:lstStyle/>
          <a:p>
            <a:endParaRPr lang="en-SE"/>
          </a:p>
        </p:txBody>
      </p:sp>
      <p:sp>
        <p:nvSpPr>
          <p:cNvPr id="45" name="corner tick">
            <a:extLst>
              <a:ext uri="{C183D7F6-B498-43B3-948B-1728B52AA6E4}">
                <adec:decorative xmlns:adec="http://schemas.microsoft.com/office/drawing/2017/decorative" val="1"/>
              </a:ext>
            </a:extLst>
          </p:cNvPr>
          <p:cNvSpPr/>
          <p:nvPr/>
        </p:nvSpPr>
        <p:spPr>
          <a:xfrm>
            <a:off x="6345936" y="4076470"/>
            <a:ext cx="256032" cy="0"/>
          </a:xfrm>
          <a:prstGeom prst="line">
            <a:avLst/>
          </a:prstGeom>
          <a:noFill/>
          <a:ln w="31750">
            <a:solidFill>
              <a:srgbClr val="3FE08A"/>
            </a:solidFill>
            <a:prstDash val="solid"/>
          </a:ln>
        </p:spPr>
        <p:txBody>
          <a:bodyPr/>
          <a:lstStyle/>
          <a:p>
            <a:endParaRPr lang="en-SE"/>
          </a:p>
        </p:txBody>
      </p:sp>
      <p:sp>
        <p:nvSpPr>
          <p:cNvPr id="46" name="corner tick">
            <a:extLst>
              <a:ext uri="{C183D7F6-B498-43B3-948B-1728B52AA6E4}">
                <adec:decorative xmlns:adec="http://schemas.microsoft.com/office/drawing/2017/decorative" val="1"/>
              </a:ext>
            </a:extLst>
          </p:cNvPr>
          <p:cNvSpPr/>
          <p:nvPr/>
        </p:nvSpPr>
        <p:spPr>
          <a:xfrm>
            <a:off x="6601968" y="3820438"/>
            <a:ext cx="0" cy="256032"/>
          </a:xfrm>
          <a:prstGeom prst="line">
            <a:avLst/>
          </a:prstGeom>
          <a:noFill/>
          <a:ln w="31750">
            <a:solidFill>
              <a:srgbClr val="3FE08A"/>
            </a:solidFill>
            <a:prstDash val="solid"/>
          </a:ln>
        </p:spPr>
        <p:txBody>
          <a:bodyPr/>
          <a:lstStyle/>
          <a:p>
            <a:endParaRPr lang="en-SE"/>
          </a:p>
        </p:txBody>
      </p:sp>
      <p:sp>
        <p:nvSpPr>
          <p:cNvPr id="47" name="figure tag background">
            <a:extLst>
              <a:ext uri="{C183D7F6-B498-43B3-948B-1728B52AA6E4}">
                <adec:decorative xmlns:adec="http://schemas.microsoft.com/office/drawing/2017/decorative" val="1"/>
              </a:ext>
            </a:extLst>
          </p:cNvPr>
          <p:cNvSpPr/>
          <p:nvPr/>
        </p:nvSpPr>
        <p:spPr>
          <a:xfrm>
            <a:off x="768096" y="1991638"/>
            <a:ext cx="1783080" cy="274320"/>
          </a:xfrm>
          <a:prstGeom prst="rect">
            <a:avLst/>
          </a:prstGeom>
          <a:solidFill>
            <a:srgbClr val="3FE08A"/>
          </a:solidFill>
          <a:ln w="12700">
            <a:solidFill>
              <a:srgbClr val="333333"/>
            </a:solidFill>
            <a:prstDash val="solid"/>
          </a:ln>
        </p:spPr>
        <p:txBody>
          <a:bodyPr/>
          <a:lstStyle/>
          <a:p>
            <a:endParaRPr lang="en-SE"/>
          </a:p>
        </p:txBody>
      </p:sp>
      <p:sp>
        <p:nvSpPr>
          <p:cNvPr id="48" name="Text 46"/>
          <p:cNvSpPr/>
          <p:nvPr/>
        </p:nvSpPr>
        <p:spPr>
          <a:xfrm>
            <a:off x="768096" y="1991638"/>
            <a:ext cx="1783080" cy="274320"/>
          </a:xfrm>
          <a:prstGeom prst="rect">
            <a:avLst/>
          </a:prstGeom>
          <a:noFill/>
          <a:ln/>
        </p:spPr>
        <p:txBody>
          <a:bodyPr wrap="square" lIns="0" tIns="0" rIns="0" bIns="0" rtlCol="0" anchor="ctr"/>
          <a:lstStyle/>
          <a:p>
            <a:pPr marL="0" indent="0" algn="ctr">
              <a:buNone/>
            </a:pPr>
            <a:r>
              <a:rPr lang="en-US" sz="950" b="1" dirty="0">
                <a:solidFill>
                  <a:srgbClr val="13171B"/>
                </a:solidFill>
                <a:latin typeface="Consolas" pitchFamily="34" charset="0"/>
                <a:ea typeface="Consolas" pitchFamily="34" charset="-122"/>
                <a:cs typeface="Consolas" pitchFamily="34" charset="-120"/>
              </a:rPr>
              <a:t>SCREENSHOT 7</a:t>
            </a:r>
            <a:endParaRPr lang="en-US" sz="950" dirty="0"/>
          </a:p>
        </p:txBody>
      </p:sp>
      <p:sp>
        <p:nvSpPr>
          <p:cNvPr id="49" name="Text 47"/>
          <p:cNvSpPr/>
          <p:nvPr/>
        </p:nvSpPr>
        <p:spPr>
          <a:xfrm>
            <a:off x="886968" y="2430550"/>
            <a:ext cx="5394960" cy="1005840"/>
          </a:xfrm>
          <a:prstGeom prst="rect">
            <a:avLst/>
          </a:prstGeom>
          <a:noFill/>
          <a:ln/>
        </p:spPr>
        <p:txBody>
          <a:bodyPr wrap="square" lIns="0" tIns="0" rIns="0" bIns="0" rtlCol="0" anchor="ctr"/>
          <a:lstStyle/>
          <a:p>
            <a:pPr marL="0" indent="0" algn="ctr">
              <a:lnSpc>
                <a:spcPct val="115000"/>
              </a:lnSpc>
              <a:buNone/>
            </a:pPr>
            <a:r>
              <a:rPr lang="en-US" sz="1200" b="1" dirty="0">
                <a:solidFill>
                  <a:srgbClr val="3FE08A"/>
                </a:solidFill>
                <a:latin typeface="Segoe UI" pitchFamily="34" charset="0"/>
                <a:ea typeface="Segoe UI" pitchFamily="34" charset="-122"/>
                <a:cs typeface="Segoe UI" pitchFamily="34" charset="-120"/>
              </a:rPr>
              <a:t>Capture: </a:t>
            </a:r>
            <a:r>
              <a:rPr lang="en-US" sz="1200" dirty="0">
                <a:solidFill>
                  <a:srgbClr val="AAB7C2"/>
                </a:solidFill>
                <a:latin typeface="Segoe UI" pitchFamily="34" charset="0"/>
                <a:ea typeface="Segoe UI" pitchFamily="34" charset="-122"/>
                <a:cs typeface="Segoe UI" pitchFamily="34" charset="-120"/>
              </a:rPr>
              <a:t>The Gainers tab with several bars of clearly different lengths visible.</a:t>
            </a:r>
            <a:endParaRPr lang="en-US" sz="1200" dirty="0"/>
          </a:p>
        </p:txBody>
      </p:sp>
      <p:sp>
        <p:nvSpPr>
          <p:cNvPr id="50" name="Text 48"/>
          <p:cNvSpPr/>
          <p:nvPr/>
        </p:nvSpPr>
        <p:spPr>
          <a:xfrm>
            <a:off x="886968" y="3600982"/>
            <a:ext cx="5394960" cy="274320"/>
          </a:xfrm>
          <a:prstGeom prst="rect">
            <a:avLst/>
          </a:prstGeom>
          <a:noFill/>
          <a:ln/>
        </p:spPr>
        <p:txBody>
          <a:bodyPr wrap="square" lIns="0" tIns="0" rIns="0" bIns="0" rtlCol="0" anchor="ctr"/>
          <a:lstStyle/>
          <a:p>
            <a:pPr marL="0" indent="0" algn="ctr">
              <a:buNone/>
            </a:pPr>
            <a:r>
              <a:rPr lang="en-US" sz="900" dirty="0">
                <a:solidFill>
                  <a:srgbClr val="7C8B97"/>
                </a:solidFill>
                <a:latin typeface="Consolas" pitchFamily="34" charset="0"/>
                <a:ea typeface="Consolas" pitchFamily="34" charset="-122"/>
                <a:cs typeface="Consolas" pitchFamily="34" charset="-120"/>
              </a:rPr>
              <a:t>fig-07-movers.png</a:t>
            </a:r>
            <a:endParaRPr lang="en-US" sz="900" dirty="0"/>
          </a:p>
        </p:txBody>
      </p:sp>
      <p:sp>
        <p:nvSpPr>
          <p:cNvPr id="51" name="Text 49"/>
          <p:cNvSpPr/>
          <p:nvPr/>
        </p:nvSpPr>
        <p:spPr>
          <a:xfrm>
            <a:off x="566928" y="4305070"/>
            <a:ext cx="868680" cy="329184"/>
          </a:xfrm>
          <a:prstGeom prst="rect">
            <a:avLst/>
          </a:prstGeom>
          <a:noFill/>
          <a:ln/>
        </p:spPr>
        <p:txBody>
          <a:bodyPr wrap="square" lIns="0" tIns="0" rIns="0" bIns="0" rtlCol="0" anchor="ctr"/>
          <a:lstStyle/>
          <a:p>
            <a:pPr marL="0" indent="0">
              <a:buNone/>
            </a:pPr>
            <a:r>
              <a:rPr lang="en-US" sz="1000" dirty="0">
                <a:solidFill>
                  <a:srgbClr val="E6EDF3"/>
                </a:solidFill>
                <a:latin typeface="Consolas" pitchFamily="34" charset="0"/>
                <a:ea typeface="Consolas" pitchFamily="34" charset="-122"/>
                <a:cs typeface="Consolas" pitchFamily="34" charset="-120"/>
              </a:rPr>
              <a:t>NVDA</a:t>
            </a:r>
            <a:endParaRPr lang="en-US" sz="1000" dirty="0"/>
          </a:p>
        </p:txBody>
      </p:sp>
      <p:sp>
        <p:nvSpPr>
          <p:cNvPr id="52" name="bar track">
            <a:extLst>
              <a:ext uri="{C183D7F6-B498-43B3-948B-1728B52AA6E4}">
                <adec:decorative xmlns:adec="http://schemas.microsoft.com/office/drawing/2017/decorative" val="1"/>
              </a:ext>
            </a:extLst>
          </p:cNvPr>
          <p:cNvSpPr/>
          <p:nvPr/>
        </p:nvSpPr>
        <p:spPr>
          <a:xfrm>
            <a:off x="1508760" y="4341646"/>
            <a:ext cx="3977640" cy="256032"/>
          </a:xfrm>
          <a:prstGeom prst="rect">
            <a:avLst/>
          </a:prstGeom>
          <a:solidFill>
            <a:srgbClr val="273037"/>
          </a:solidFill>
          <a:ln w="12700">
            <a:solidFill>
              <a:srgbClr val="333333"/>
            </a:solidFill>
            <a:prstDash val="solid"/>
          </a:ln>
        </p:spPr>
        <p:txBody>
          <a:bodyPr/>
          <a:lstStyle/>
          <a:p>
            <a:endParaRPr lang="en-SE"/>
          </a:p>
        </p:txBody>
      </p:sp>
      <p:sp>
        <p:nvSpPr>
          <p:cNvPr id="53" name="ranking bar">
            <a:extLst>
              <a:ext uri="{C183D7F6-B498-43B3-948B-1728B52AA6E4}">
                <adec:decorative xmlns:adec="http://schemas.microsoft.com/office/drawing/2017/decorative" val="1"/>
              </a:ext>
            </a:extLst>
          </p:cNvPr>
          <p:cNvSpPr/>
          <p:nvPr/>
        </p:nvSpPr>
        <p:spPr>
          <a:xfrm>
            <a:off x="1508760" y="4341646"/>
            <a:ext cx="3659429" cy="256032"/>
          </a:xfrm>
          <a:prstGeom prst="rect">
            <a:avLst/>
          </a:prstGeom>
          <a:solidFill>
            <a:srgbClr val="3FE08A"/>
          </a:solidFill>
          <a:ln w="12700">
            <a:solidFill>
              <a:srgbClr val="333333"/>
            </a:solidFill>
            <a:prstDash val="solid"/>
          </a:ln>
        </p:spPr>
        <p:txBody>
          <a:bodyPr/>
          <a:lstStyle/>
          <a:p>
            <a:endParaRPr lang="en-SE"/>
          </a:p>
        </p:txBody>
      </p:sp>
      <p:sp>
        <p:nvSpPr>
          <p:cNvPr id="54" name="Text 52"/>
          <p:cNvSpPr/>
          <p:nvPr/>
        </p:nvSpPr>
        <p:spPr>
          <a:xfrm>
            <a:off x="5577840" y="4305070"/>
            <a:ext cx="1005840" cy="329184"/>
          </a:xfrm>
          <a:prstGeom prst="rect">
            <a:avLst/>
          </a:prstGeom>
          <a:noFill/>
          <a:ln/>
        </p:spPr>
        <p:txBody>
          <a:bodyPr wrap="square" lIns="0" tIns="0" rIns="0" bIns="0" rtlCol="0" anchor="ctr"/>
          <a:lstStyle/>
          <a:p>
            <a:pPr marL="0" indent="0">
              <a:buNone/>
            </a:pPr>
            <a:r>
              <a:rPr lang="en-US" sz="1000" b="1" dirty="0">
                <a:solidFill>
                  <a:srgbClr val="3FE08A"/>
                </a:solidFill>
                <a:latin typeface="Consolas" pitchFamily="34" charset="0"/>
                <a:ea typeface="Consolas" pitchFamily="34" charset="-122"/>
                <a:cs typeface="Consolas" pitchFamily="34" charset="-120"/>
              </a:rPr>
              <a:t>5.89%</a:t>
            </a:r>
            <a:endParaRPr lang="en-US" sz="1000" dirty="0"/>
          </a:p>
        </p:txBody>
      </p:sp>
      <p:sp>
        <p:nvSpPr>
          <p:cNvPr id="55" name="Text 53"/>
          <p:cNvSpPr/>
          <p:nvPr/>
        </p:nvSpPr>
        <p:spPr>
          <a:xfrm>
            <a:off x="566928" y="4725694"/>
            <a:ext cx="868680" cy="329184"/>
          </a:xfrm>
          <a:prstGeom prst="rect">
            <a:avLst/>
          </a:prstGeom>
          <a:noFill/>
          <a:ln/>
        </p:spPr>
        <p:txBody>
          <a:bodyPr wrap="square" lIns="0" tIns="0" rIns="0" bIns="0" rtlCol="0" anchor="ctr"/>
          <a:lstStyle/>
          <a:p>
            <a:pPr marL="0" indent="0">
              <a:buNone/>
            </a:pPr>
            <a:r>
              <a:rPr lang="en-US" sz="1000" dirty="0">
                <a:solidFill>
                  <a:srgbClr val="E6EDF3"/>
                </a:solidFill>
                <a:latin typeface="Consolas" pitchFamily="34" charset="0"/>
                <a:ea typeface="Consolas" pitchFamily="34" charset="-122"/>
                <a:cs typeface="Consolas" pitchFamily="34" charset="-120"/>
              </a:rPr>
              <a:t>AAPL</a:t>
            </a:r>
            <a:endParaRPr lang="en-US" sz="1000" dirty="0"/>
          </a:p>
        </p:txBody>
      </p:sp>
      <p:sp>
        <p:nvSpPr>
          <p:cNvPr id="56" name="bar track">
            <a:extLst>
              <a:ext uri="{C183D7F6-B498-43B3-948B-1728B52AA6E4}">
                <adec:decorative xmlns:adec="http://schemas.microsoft.com/office/drawing/2017/decorative" val="1"/>
              </a:ext>
            </a:extLst>
          </p:cNvPr>
          <p:cNvSpPr/>
          <p:nvPr/>
        </p:nvSpPr>
        <p:spPr>
          <a:xfrm>
            <a:off x="1508760" y="4762270"/>
            <a:ext cx="3977640" cy="256032"/>
          </a:xfrm>
          <a:prstGeom prst="rect">
            <a:avLst/>
          </a:prstGeom>
          <a:solidFill>
            <a:srgbClr val="273037"/>
          </a:solidFill>
          <a:ln w="12700">
            <a:solidFill>
              <a:srgbClr val="333333"/>
            </a:solidFill>
            <a:prstDash val="solid"/>
          </a:ln>
        </p:spPr>
        <p:txBody>
          <a:bodyPr/>
          <a:lstStyle/>
          <a:p>
            <a:endParaRPr lang="en-SE"/>
          </a:p>
        </p:txBody>
      </p:sp>
      <p:sp>
        <p:nvSpPr>
          <p:cNvPr id="57" name="ranking bar">
            <a:extLst>
              <a:ext uri="{C183D7F6-B498-43B3-948B-1728B52AA6E4}">
                <adec:decorative xmlns:adec="http://schemas.microsoft.com/office/drawing/2017/decorative" val="1"/>
              </a:ext>
            </a:extLst>
          </p:cNvPr>
          <p:cNvSpPr/>
          <p:nvPr/>
        </p:nvSpPr>
        <p:spPr>
          <a:xfrm>
            <a:off x="1508760" y="4762270"/>
            <a:ext cx="2824124" cy="256032"/>
          </a:xfrm>
          <a:prstGeom prst="rect">
            <a:avLst/>
          </a:prstGeom>
          <a:solidFill>
            <a:srgbClr val="3FE08A"/>
          </a:solidFill>
          <a:ln w="12700">
            <a:solidFill>
              <a:srgbClr val="333333"/>
            </a:solidFill>
            <a:prstDash val="solid"/>
          </a:ln>
        </p:spPr>
        <p:txBody>
          <a:bodyPr/>
          <a:lstStyle/>
          <a:p>
            <a:endParaRPr lang="en-SE"/>
          </a:p>
        </p:txBody>
      </p:sp>
      <p:sp>
        <p:nvSpPr>
          <p:cNvPr id="58" name="Text 56"/>
          <p:cNvSpPr/>
          <p:nvPr/>
        </p:nvSpPr>
        <p:spPr>
          <a:xfrm>
            <a:off x="5577840" y="4725694"/>
            <a:ext cx="1005840" cy="329184"/>
          </a:xfrm>
          <a:prstGeom prst="rect">
            <a:avLst/>
          </a:prstGeom>
          <a:noFill/>
          <a:ln/>
        </p:spPr>
        <p:txBody>
          <a:bodyPr wrap="square" lIns="0" tIns="0" rIns="0" bIns="0" rtlCol="0" anchor="ctr"/>
          <a:lstStyle/>
          <a:p>
            <a:pPr marL="0" indent="0">
              <a:buNone/>
            </a:pPr>
            <a:r>
              <a:rPr lang="en-US" sz="1000" b="1" dirty="0">
                <a:solidFill>
                  <a:srgbClr val="3FE08A"/>
                </a:solidFill>
                <a:latin typeface="Consolas" pitchFamily="34" charset="0"/>
                <a:ea typeface="Consolas" pitchFamily="34" charset="-122"/>
                <a:cs typeface="Consolas" pitchFamily="34" charset="-120"/>
              </a:rPr>
              <a:t>4.54%</a:t>
            </a:r>
            <a:endParaRPr lang="en-US" sz="1000" dirty="0"/>
          </a:p>
        </p:txBody>
      </p:sp>
      <p:sp>
        <p:nvSpPr>
          <p:cNvPr id="59" name="Text 57"/>
          <p:cNvSpPr/>
          <p:nvPr/>
        </p:nvSpPr>
        <p:spPr>
          <a:xfrm>
            <a:off x="566928" y="5146318"/>
            <a:ext cx="868680" cy="329184"/>
          </a:xfrm>
          <a:prstGeom prst="rect">
            <a:avLst/>
          </a:prstGeom>
          <a:noFill/>
          <a:ln/>
        </p:spPr>
        <p:txBody>
          <a:bodyPr wrap="square" lIns="0" tIns="0" rIns="0" bIns="0" rtlCol="0" anchor="ctr"/>
          <a:lstStyle/>
          <a:p>
            <a:pPr marL="0" indent="0">
              <a:buNone/>
            </a:pPr>
            <a:r>
              <a:rPr lang="en-US" sz="1000" dirty="0">
                <a:solidFill>
                  <a:srgbClr val="E6EDF3"/>
                </a:solidFill>
                <a:latin typeface="Consolas" pitchFamily="34" charset="0"/>
                <a:ea typeface="Consolas" pitchFamily="34" charset="-122"/>
                <a:cs typeface="Consolas" pitchFamily="34" charset="-120"/>
              </a:rPr>
              <a:t>MSFT</a:t>
            </a:r>
            <a:endParaRPr lang="en-US" sz="1000" dirty="0"/>
          </a:p>
        </p:txBody>
      </p:sp>
      <p:sp>
        <p:nvSpPr>
          <p:cNvPr id="60" name="bar track">
            <a:extLst>
              <a:ext uri="{C183D7F6-B498-43B3-948B-1728B52AA6E4}">
                <adec:decorative xmlns:adec="http://schemas.microsoft.com/office/drawing/2017/decorative" val="1"/>
              </a:ext>
            </a:extLst>
          </p:cNvPr>
          <p:cNvSpPr/>
          <p:nvPr/>
        </p:nvSpPr>
        <p:spPr>
          <a:xfrm>
            <a:off x="1508760" y="5182894"/>
            <a:ext cx="3977640" cy="256032"/>
          </a:xfrm>
          <a:prstGeom prst="rect">
            <a:avLst/>
          </a:prstGeom>
          <a:solidFill>
            <a:srgbClr val="273037"/>
          </a:solidFill>
          <a:ln w="12700">
            <a:solidFill>
              <a:srgbClr val="333333"/>
            </a:solidFill>
            <a:prstDash val="solid"/>
          </a:ln>
        </p:spPr>
        <p:txBody>
          <a:bodyPr/>
          <a:lstStyle/>
          <a:p>
            <a:endParaRPr lang="en-SE"/>
          </a:p>
        </p:txBody>
      </p:sp>
      <p:sp>
        <p:nvSpPr>
          <p:cNvPr id="61" name="ranking bar">
            <a:extLst>
              <a:ext uri="{C183D7F6-B498-43B3-948B-1728B52AA6E4}">
                <adec:decorative xmlns:adec="http://schemas.microsoft.com/office/drawing/2017/decorative" val="1"/>
              </a:ext>
            </a:extLst>
          </p:cNvPr>
          <p:cNvSpPr/>
          <p:nvPr/>
        </p:nvSpPr>
        <p:spPr>
          <a:xfrm>
            <a:off x="1508760" y="5182894"/>
            <a:ext cx="1909267" cy="256032"/>
          </a:xfrm>
          <a:prstGeom prst="rect">
            <a:avLst/>
          </a:prstGeom>
          <a:solidFill>
            <a:srgbClr val="3FE08A"/>
          </a:solidFill>
          <a:ln w="12700">
            <a:solidFill>
              <a:srgbClr val="333333"/>
            </a:solidFill>
            <a:prstDash val="solid"/>
          </a:ln>
        </p:spPr>
        <p:txBody>
          <a:bodyPr/>
          <a:lstStyle/>
          <a:p>
            <a:endParaRPr lang="en-SE"/>
          </a:p>
        </p:txBody>
      </p:sp>
      <p:sp>
        <p:nvSpPr>
          <p:cNvPr id="62" name="Text 60"/>
          <p:cNvSpPr/>
          <p:nvPr/>
        </p:nvSpPr>
        <p:spPr>
          <a:xfrm>
            <a:off x="5577840" y="5146318"/>
            <a:ext cx="1005840" cy="329184"/>
          </a:xfrm>
          <a:prstGeom prst="rect">
            <a:avLst/>
          </a:prstGeom>
          <a:noFill/>
          <a:ln/>
        </p:spPr>
        <p:txBody>
          <a:bodyPr wrap="square" lIns="0" tIns="0" rIns="0" bIns="0" rtlCol="0" anchor="ctr"/>
          <a:lstStyle/>
          <a:p>
            <a:pPr marL="0" indent="0">
              <a:buNone/>
            </a:pPr>
            <a:r>
              <a:rPr lang="en-US" sz="1000" b="1" dirty="0">
                <a:solidFill>
                  <a:srgbClr val="3FE08A"/>
                </a:solidFill>
                <a:latin typeface="Consolas" pitchFamily="34" charset="0"/>
                <a:ea typeface="Consolas" pitchFamily="34" charset="-122"/>
                <a:cs typeface="Consolas" pitchFamily="34" charset="-120"/>
              </a:rPr>
              <a:t>3.07%</a:t>
            </a:r>
            <a:endParaRPr lang="en-US" sz="1000" dirty="0"/>
          </a:p>
        </p:txBody>
      </p:sp>
      <p:sp>
        <p:nvSpPr>
          <p:cNvPr id="63" name="Text 61"/>
          <p:cNvSpPr/>
          <p:nvPr/>
        </p:nvSpPr>
        <p:spPr>
          <a:xfrm>
            <a:off x="566928" y="5566942"/>
            <a:ext cx="868680" cy="329184"/>
          </a:xfrm>
          <a:prstGeom prst="rect">
            <a:avLst/>
          </a:prstGeom>
          <a:noFill/>
          <a:ln/>
        </p:spPr>
        <p:txBody>
          <a:bodyPr wrap="square" lIns="0" tIns="0" rIns="0" bIns="0" rtlCol="0" anchor="ctr"/>
          <a:lstStyle/>
          <a:p>
            <a:pPr marL="0" indent="0">
              <a:buNone/>
            </a:pPr>
            <a:r>
              <a:rPr lang="en-US" sz="1000" dirty="0">
                <a:solidFill>
                  <a:srgbClr val="E6EDF3"/>
                </a:solidFill>
                <a:latin typeface="Consolas" pitchFamily="34" charset="0"/>
                <a:ea typeface="Consolas" pitchFamily="34" charset="-122"/>
                <a:cs typeface="Consolas" pitchFamily="34" charset="-120"/>
              </a:rPr>
              <a:t>TSLA</a:t>
            </a:r>
            <a:endParaRPr lang="en-US" sz="1000" dirty="0"/>
          </a:p>
        </p:txBody>
      </p:sp>
      <p:sp>
        <p:nvSpPr>
          <p:cNvPr id="64" name="bar track">
            <a:extLst>
              <a:ext uri="{C183D7F6-B498-43B3-948B-1728B52AA6E4}">
                <adec:decorative xmlns:adec="http://schemas.microsoft.com/office/drawing/2017/decorative" val="1"/>
              </a:ext>
            </a:extLst>
          </p:cNvPr>
          <p:cNvSpPr/>
          <p:nvPr/>
        </p:nvSpPr>
        <p:spPr>
          <a:xfrm>
            <a:off x="1508760" y="5603518"/>
            <a:ext cx="3977640" cy="256032"/>
          </a:xfrm>
          <a:prstGeom prst="rect">
            <a:avLst/>
          </a:prstGeom>
          <a:solidFill>
            <a:srgbClr val="273037"/>
          </a:solidFill>
          <a:ln w="12700">
            <a:solidFill>
              <a:srgbClr val="333333"/>
            </a:solidFill>
            <a:prstDash val="solid"/>
          </a:ln>
        </p:spPr>
        <p:txBody>
          <a:bodyPr/>
          <a:lstStyle/>
          <a:p>
            <a:endParaRPr lang="en-SE"/>
          </a:p>
        </p:txBody>
      </p:sp>
      <p:sp>
        <p:nvSpPr>
          <p:cNvPr id="65" name="ranking bar">
            <a:extLst>
              <a:ext uri="{C183D7F6-B498-43B3-948B-1728B52AA6E4}">
                <adec:decorative xmlns:adec="http://schemas.microsoft.com/office/drawing/2017/decorative" val="1"/>
              </a:ext>
            </a:extLst>
          </p:cNvPr>
          <p:cNvSpPr/>
          <p:nvPr/>
        </p:nvSpPr>
        <p:spPr>
          <a:xfrm>
            <a:off x="1508760" y="5603518"/>
            <a:ext cx="1193292" cy="256032"/>
          </a:xfrm>
          <a:prstGeom prst="rect">
            <a:avLst/>
          </a:prstGeom>
          <a:solidFill>
            <a:srgbClr val="3FE08A"/>
          </a:solidFill>
          <a:ln w="12700">
            <a:solidFill>
              <a:srgbClr val="333333"/>
            </a:solidFill>
            <a:prstDash val="solid"/>
          </a:ln>
        </p:spPr>
        <p:txBody>
          <a:bodyPr/>
          <a:lstStyle/>
          <a:p>
            <a:endParaRPr lang="en-SE"/>
          </a:p>
        </p:txBody>
      </p:sp>
      <p:sp>
        <p:nvSpPr>
          <p:cNvPr id="66" name="Text 64"/>
          <p:cNvSpPr/>
          <p:nvPr/>
        </p:nvSpPr>
        <p:spPr>
          <a:xfrm>
            <a:off x="5577840" y="5566942"/>
            <a:ext cx="1005840" cy="329184"/>
          </a:xfrm>
          <a:prstGeom prst="rect">
            <a:avLst/>
          </a:prstGeom>
          <a:noFill/>
          <a:ln/>
        </p:spPr>
        <p:txBody>
          <a:bodyPr wrap="square" lIns="0" tIns="0" rIns="0" bIns="0" rtlCol="0" anchor="ctr"/>
          <a:lstStyle/>
          <a:p>
            <a:pPr marL="0" indent="0">
              <a:buNone/>
            </a:pPr>
            <a:r>
              <a:rPr lang="en-US" sz="1000" b="1" dirty="0">
                <a:solidFill>
                  <a:srgbClr val="3FE08A"/>
                </a:solidFill>
                <a:latin typeface="Consolas" pitchFamily="34" charset="0"/>
                <a:ea typeface="Consolas" pitchFamily="34" charset="-122"/>
                <a:cs typeface="Consolas" pitchFamily="34" charset="-120"/>
              </a:rPr>
              <a:t>1.92%</a:t>
            </a:r>
            <a:endParaRPr lang="en-US" sz="1000" dirty="0"/>
          </a:p>
        </p:txBody>
      </p:sp>
      <p:sp>
        <p:nvSpPr>
          <p:cNvPr id="67" name="Text 65"/>
          <p:cNvSpPr/>
          <p:nvPr/>
        </p:nvSpPr>
        <p:spPr>
          <a:xfrm>
            <a:off x="566928" y="6005946"/>
            <a:ext cx="6035040" cy="274320"/>
          </a:xfrm>
          <a:prstGeom prst="rect">
            <a:avLst/>
          </a:prstGeom>
          <a:noFill/>
          <a:ln/>
        </p:spPr>
        <p:txBody>
          <a:bodyPr wrap="square" lIns="0" tIns="0" rIns="0" bIns="0" rtlCol="0" anchor="ctr"/>
          <a:lstStyle/>
          <a:p>
            <a:pPr marL="0" indent="0">
              <a:buNone/>
            </a:pPr>
            <a:r>
              <a:rPr lang="en-US" sz="1200" i="1" dirty="0">
                <a:solidFill>
                  <a:srgbClr val="7C8B97"/>
                </a:solidFill>
                <a:latin typeface="Segoe UI" pitchFamily="34" charset="0"/>
                <a:ea typeface="Segoe UI" pitchFamily="34" charset="-122"/>
                <a:cs typeface="Segoe UI" pitchFamily="34" charset="-120"/>
              </a:rPr>
              <a:t>Each bar is scaled against the largest value currently on that tab — so bar length is relative, not absolute.</a:t>
            </a:r>
            <a:endParaRPr lang="en-US" sz="1200" dirty="0"/>
          </a:p>
        </p:txBody>
      </p:sp>
      <p:sp>
        <p:nvSpPr>
          <p:cNvPr id="68" name="panel">
            <a:extLst>
              <a:ext uri="{C183D7F6-B498-43B3-948B-1728B52AA6E4}">
                <adec:decorative xmlns:adec="http://schemas.microsoft.com/office/drawing/2017/decorative" val="1"/>
              </a:ext>
            </a:extLst>
          </p:cNvPr>
          <p:cNvSpPr/>
          <p:nvPr/>
        </p:nvSpPr>
        <p:spPr>
          <a:xfrm>
            <a:off x="6812280" y="1771075"/>
            <a:ext cx="4361688" cy="128016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69" name="panel accent">
            <a:extLst>
              <a:ext uri="{C183D7F6-B498-43B3-948B-1728B52AA6E4}">
                <adec:decorative xmlns:adec="http://schemas.microsoft.com/office/drawing/2017/decorative" val="1"/>
              </a:ext>
            </a:extLst>
          </p:cNvPr>
          <p:cNvSpPr/>
          <p:nvPr/>
        </p:nvSpPr>
        <p:spPr>
          <a:xfrm>
            <a:off x="6812280" y="1771075"/>
            <a:ext cx="50292" cy="1280160"/>
          </a:xfrm>
          <a:prstGeom prst="rect">
            <a:avLst/>
          </a:prstGeom>
          <a:solidFill>
            <a:srgbClr val="3FE08A"/>
          </a:solidFill>
          <a:ln w="12700">
            <a:solidFill>
              <a:srgbClr val="333333"/>
            </a:solidFill>
            <a:prstDash val="solid"/>
          </a:ln>
        </p:spPr>
        <p:txBody>
          <a:bodyPr/>
          <a:lstStyle/>
          <a:p>
            <a:endParaRPr lang="en-SE"/>
          </a:p>
        </p:txBody>
      </p:sp>
      <p:sp>
        <p:nvSpPr>
          <p:cNvPr id="70" name="Text 68"/>
          <p:cNvSpPr/>
          <p:nvPr/>
        </p:nvSpPr>
        <p:spPr>
          <a:xfrm>
            <a:off x="7059168" y="1917379"/>
            <a:ext cx="3931920" cy="292608"/>
          </a:xfrm>
          <a:prstGeom prst="rect">
            <a:avLst/>
          </a:prstGeom>
          <a:noFill/>
          <a:ln/>
        </p:spPr>
        <p:txBody>
          <a:bodyPr wrap="square" lIns="0" tIns="0" rIns="0" bIns="0" rtlCol="0" anchor="ctr"/>
          <a:lstStyle/>
          <a:p>
            <a:pPr marL="0" indent="0">
              <a:buNone/>
            </a:pPr>
            <a:r>
              <a:rPr lang="en-US" sz="1600" b="1" kern="0" spc="120" dirty="0">
                <a:solidFill>
                  <a:srgbClr val="3FE08A"/>
                </a:solidFill>
                <a:latin typeface="Consolas" pitchFamily="34" charset="0"/>
                <a:ea typeface="Consolas" pitchFamily="34" charset="-122"/>
                <a:cs typeface="Consolas" pitchFamily="34" charset="-120"/>
              </a:rPr>
              <a:t>GAINERS</a:t>
            </a:r>
            <a:endParaRPr lang="en-US" sz="1600" dirty="0"/>
          </a:p>
        </p:txBody>
      </p:sp>
      <p:sp>
        <p:nvSpPr>
          <p:cNvPr id="71" name="Text 69"/>
          <p:cNvSpPr/>
          <p:nvPr/>
        </p:nvSpPr>
        <p:spPr>
          <a:xfrm>
            <a:off x="7059168" y="2246563"/>
            <a:ext cx="3931920" cy="731520"/>
          </a:xfrm>
          <a:prstGeom prst="rect">
            <a:avLst/>
          </a:prstGeom>
          <a:noFill/>
          <a:ln/>
        </p:spPr>
        <p:txBody>
          <a:bodyPr wrap="square" lIns="0" tIns="0" rIns="0" bIns="0" rtlCol="0" anchor="ctr"/>
          <a:lstStyle/>
          <a:p>
            <a:pPr marL="0" indent="0">
              <a:lnSpc>
                <a:spcPct val="110000"/>
              </a:lnSpc>
              <a:buNone/>
            </a:pPr>
            <a:r>
              <a:rPr lang="en-US" sz="1200" dirty="0">
                <a:solidFill>
                  <a:srgbClr val="AAB7C2"/>
                </a:solidFill>
                <a:latin typeface="Segoe UI" pitchFamily="34" charset="0"/>
                <a:ea typeface="Segoe UI" pitchFamily="34" charset="-122"/>
                <a:cs typeface="Segoe UI" pitchFamily="34" charset="-120"/>
              </a:rPr>
              <a:t>Ranked by percentage change up from the previous close.</a:t>
            </a:r>
            <a:endParaRPr lang="en-US" sz="1200" dirty="0"/>
          </a:p>
        </p:txBody>
      </p:sp>
      <p:sp>
        <p:nvSpPr>
          <p:cNvPr id="72" name="panel">
            <a:extLst>
              <a:ext uri="{C183D7F6-B498-43B3-948B-1728B52AA6E4}">
                <adec:decorative xmlns:adec="http://schemas.microsoft.com/office/drawing/2017/decorative" val="1"/>
              </a:ext>
            </a:extLst>
          </p:cNvPr>
          <p:cNvSpPr/>
          <p:nvPr/>
        </p:nvSpPr>
        <p:spPr>
          <a:xfrm>
            <a:off x="6812280" y="3188395"/>
            <a:ext cx="4361688" cy="128016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73" name="panel accent">
            <a:extLst>
              <a:ext uri="{C183D7F6-B498-43B3-948B-1728B52AA6E4}">
                <adec:decorative xmlns:adec="http://schemas.microsoft.com/office/drawing/2017/decorative" val="1"/>
              </a:ext>
            </a:extLst>
          </p:cNvPr>
          <p:cNvSpPr/>
          <p:nvPr/>
        </p:nvSpPr>
        <p:spPr>
          <a:xfrm>
            <a:off x="6812280" y="3188395"/>
            <a:ext cx="50292" cy="1280160"/>
          </a:xfrm>
          <a:prstGeom prst="rect">
            <a:avLst/>
          </a:prstGeom>
          <a:solidFill>
            <a:srgbClr val="EF5B63"/>
          </a:solidFill>
          <a:ln w="12700">
            <a:solidFill>
              <a:srgbClr val="333333"/>
            </a:solidFill>
            <a:prstDash val="solid"/>
          </a:ln>
        </p:spPr>
        <p:txBody>
          <a:bodyPr/>
          <a:lstStyle/>
          <a:p>
            <a:endParaRPr lang="en-SE"/>
          </a:p>
        </p:txBody>
      </p:sp>
      <p:sp>
        <p:nvSpPr>
          <p:cNvPr id="74" name="Text 72"/>
          <p:cNvSpPr/>
          <p:nvPr/>
        </p:nvSpPr>
        <p:spPr>
          <a:xfrm>
            <a:off x="7059168" y="3334699"/>
            <a:ext cx="3931920" cy="292608"/>
          </a:xfrm>
          <a:prstGeom prst="rect">
            <a:avLst/>
          </a:prstGeom>
          <a:noFill/>
          <a:ln/>
        </p:spPr>
        <p:txBody>
          <a:bodyPr wrap="square" lIns="0" tIns="0" rIns="0" bIns="0" rtlCol="0" anchor="ctr"/>
          <a:lstStyle/>
          <a:p>
            <a:pPr marL="0" indent="0">
              <a:buNone/>
            </a:pPr>
            <a:r>
              <a:rPr lang="en-US" sz="1600" b="1" kern="0" spc="120" dirty="0">
                <a:solidFill>
                  <a:srgbClr val="EF5B63"/>
                </a:solidFill>
                <a:latin typeface="Consolas" pitchFamily="34" charset="0"/>
                <a:ea typeface="Consolas" pitchFamily="34" charset="-122"/>
                <a:cs typeface="Consolas" pitchFamily="34" charset="-120"/>
              </a:rPr>
              <a:t>LOSERS</a:t>
            </a:r>
            <a:endParaRPr lang="en-US" sz="1600" dirty="0"/>
          </a:p>
        </p:txBody>
      </p:sp>
      <p:sp>
        <p:nvSpPr>
          <p:cNvPr id="75" name="Text 73"/>
          <p:cNvSpPr/>
          <p:nvPr/>
        </p:nvSpPr>
        <p:spPr>
          <a:xfrm>
            <a:off x="7059168" y="3663883"/>
            <a:ext cx="3931920" cy="731520"/>
          </a:xfrm>
          <a:prstGeom prst="rect">
            <a:avLst/>
          </a:prstGeom>
          <a:noFill/>
          <a:ln/>
        </p:spPr>
        <p:txBody>
          <a:bodyPr wrap="square" lIns="0" tIns="0" rIns="0" bIns="0" rtlCol="0" anchor="ctr"/>
          <a:lstStyle/>
          <a:p>
            <a:pPr marL="0" indent="0">
              <a:lnSpc>
                <a:spcPct val="110000"/>
              </a:lnSpc>
              <a:buNone/>
            </a:pPr>
            <a:r>
              <a:rPr lang="en-US" sz="1200" dirty="0">
                <a:solidFill>
                  <a:srgbClr val="AAB7C2"/>
                </a:solidFill>
                <a:latin typeface="Segoe UI" pitchFamily="34" charset="0"/>
                <a:ea typeface="Segoe UI" pitchFamily="34" charset="-122"/>
                <a:cs typeface="Segoe UI" pitchFamily="34" charset="-120"/>
              </a:rPr>
              <a:t>Ranked by percentage change down from the previous close.</a:t>
            </a:r>
            <a:endParaRPr lang="en-US" sz="1200" dirty="0"/>
          </a:p>
        </p:txBody>
      </p:sp>
      <p:sp>
        <p:nvSpPr>
          <p:cNvPr id="76" name="panel">
            <a:extLst>
              <a:ext uri="{C183D7F6-B498-43B3-948B-1728B52AA6E4}">
                <adec:decorative xmlns:adec="http://schemas.microsoft.com/office/drawing/2017/decorative" val="1"/>
              </a:ext>
            </a:extLst>
          </p:cNvPr>
          <p:cNvSpPr/>
          <p:nvPr/>
        </p:nvSpPr>
        <p:spPr>
          <a:xfrm>
            <a:off x="6812280" y="4605715"/>
            <a:ext cx="4361688" cy="128016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77" name="panel accent">
            <a:extLst>
              <a:ext uri="{C183D7F6-B498-43B3-948B-1728B52AA6E4}">
                <adec:decorative xmlns:adec="http://schemas.microsoft.com/office/drawing/2017/decorative" val="1"/>
              </a:ext>
            </a:extLst>
          </p:cNvPr>
          <p:cNvSpPr/>
          <p:nvPr/>
        </p:nvSpPr>
        <p:spPr>
          <a:xfrm>
            <a:off x="6812280" y="4605715"/>
            <a:ext cx="50292" cy="1280160"/>
          </a:xfrm>
          <a:prstGeom prst="rect">
            <a:avLst/>
          </a:prstGeom>
          <a:solidFill>
            <a:srgbClr val="F5A524"/>
          </a:solidFill>
          <a:ln w="12700">
            <a:solidFill>
              <a:srgbClr val="333333"/>
            </a:solidFill>
            <a:prstDash val="solid"/>
          </a:ln>
        </p:spPr>
        <p:txBody>
          <a:bodyPr/>
          <a:lstStyle/>
          <a:p>
            <a:endParaRPr lang="en-SE"/>
          </a:p>
        </p:txBody>
      </p:sp>
      <p:sp>
        <p:nvSpPr>
          <p:cNvPr id="78" name="Text 76"/>
          <p:cNvSpPr/>
          <p:nvPr/>
        </p:nvSpPr>
        <p:spPr>
          <a:xfrm>
            <a:off x="7059168" y="4752019"/>
            <a:ext cx="3931920" cy="292608"/>
          </a:xfrm>
          <a:prstGeom prst="rect">
            <a:avLst/>
          </a:prstGeom>
          <a:noFill/>
          <a:ln/>
        </p:spPr>
        <p:txBody>
          <a:bodyPr wrap="square" lIns="0" tIns="0" rIns="0" bIns="0" rtlCol="0" anchor="ctr"/>
          <a:lstStyle/>
          <a:p>
            <a:pPr marL="0" indent="0">
              <a:buNone/>
            </a:pPr>
            <a:r>
              <a:rPr lang="en-US" sz="1600" b="1" kern="0" spc="120" dirty="0">
                <a:solidFill>
                  <a:srgbClr val="F5A524"/>
                </a:solidFill>
                <a:latin typeface="Consolas" pitchFamily="34" charset="0"/>
                <a:ea typeface="Consolas" pitchFamily="34" charset="-122"/>
                <a:cs typeface="Consolas" pitchFamily="34" charset="-120"/>
              </a:rPr>
              <a:t>ACTIVE</a:t>
            </a:r>
            <a:endParaRPr lang="en-US" sz="1600" dirty="0"/>
          </a:p>
        </p:txBody>
      </p:sp>
      <p:sp>
        <p:nvSpPr>
          <p:cNvPr id="79" name="Text 77"/>
          <p:cNvSpPr/>
          <p:nvPr/>
        </p:nvSpPr>
        <p:spPr>
          <a:xfrm>
            <a:off x="7059168" y="5081203"/>
            <a:ext cx="3931920" cy="731520"/>
          </a:xfrm>
          <a:prstGeom prst="rect">
            <a:avLst/>
          </a:prstGeom>
          <a:noFill/>
          <a:ln/>
        </p:spPr>
        <p:txBody>
          <a:bodyPr wrap="square" lIns="0" tIns="0" rIns="0" bIns="0" rtlCol="0" anchor="ctr"/>
          <a:lstStyle/>
          <a:p>
            <a:pPr marL="0" indent="0">
              <a:lnSpc>
                <a:spcPct val="110000"/>
              </a:lnSpc>
              <a:buNone/>
            </a:pPr>
            <a:r>
              <a:rPr lang="en-US" sz="1200" dirty="0">
                <a:solidFill>
                  <a:srgbClr val="AAB7C2"/>
                </a:solidFill>
                <a:latin typeface="Segoe UI" pitchFamily="34" charset="0"/>
                <a:ea typeface="Segoe UI" pitchFamily="34" charset="-122"/>
                <a:cs typeface="Segoe UI" pitchFamily="34" charset="-120"/>
              </a:rPr>
              <a:t>Ranked by session turnover — the value traded, not the number of units. A common third view on real market boards, and the honest answer to "where is the money going?"</a:t>
            </a:r>
            <a:endParaRPr lang="en-US" sz="1200" dirty="0"/>
          </a:p>
        </p:txBody>
      </p:sp>
      <p:sp>
        <p:nvSpPr>
          <p:cNvPr id="80" name="Text 78"/>
          <p:cNvSpPr/>
          <p:nvPr/>
        </p:nvSpPr>
        <p:spPr>
          <a:xfrm>
            <a:off x="6812279" y="6098310"/>
            <a:ext cx="5130339" cy="274320"/>
          </a:xfrm>
          <a:prstGeom prst="rect">
            <a:avLst/>
          </a:prstGeom>
          <a:noFill/>
          <a:ln/>
        </p:spPr>
        <p:txBody>
          <a:bodyPr wrap="square" lIns="0" tIns="0" rIns="0" bIns="0" rtlCol="0" anchor="ctr"/>
          <a:lstStyle/>
          <a:p>
            <a:pPr marL="0" indent="0">
              <a:buNone/>
            </a:pPr>
            <a:r>
              <a:rPr lang="en-US" sz="1100" i="1" dirty="0">
                <a:solidFill>
                  <a:srgbClr val="7C8B97"/>
                </a:solidFill>
                <a:latin typeface="Segoe UI" pitchFamily="34" charset="0"/>
                <a:ea typeface="Segoe UI" pitchFamily="34" charset="-122"/>
                <a:cs typeface="Segoe UI" pitchFamily="34" charset="-120"/>
              </a:rPr>
              <a:t>Gainers and Losers fall back to today's open — labelled as such — when no previous close is available.</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Session &amp; Halt Status Board</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03 · SCREENS</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28</a:t>
            </a:r>
            <a:endParaRPr lang="en-US" sz="950" dirty="0"/>
          </a:p>
        </p:txBody>
      </p:sp>
      <p:sp>
        <p:nvSpPr>
          <p:cNvPr id="37" name="Text 35"/>
          <p:cNvSpPr/>
          <p:nvPr/>
        </p:nvSpPr>
        <p:spPr>
          <a:xfrm>
            <a:off x="566928" y="1170432"/>
            <a:ext cx="6035040" cy="566928"/>
          </a:xfrm>
          <a:prstGeom prst="rect">
            <a:avLst/>
          </a:prstGeom>
          <a:noFill/>
          <a:ln/>
        </p:spPr>
        <p:txBody>
          <a:bodyPr wrap="square" lIns="0" tIns="0" rIns="0" bIns="0" rtlCol="0" anchor="t"/>
          <a:lstStyle/>
          <a:p>
            <a:pPr marL="0" indent="0">
              <a:lnSpc>
                <a:spcPct val="110000"/>
              </a:lnSpc>
              <a:buNone/>
            </a:pPr>
            <a:r>
              <a:rPr lang="en-US" sz="1600" dirty="0">
                <a:solidFill>
                  <a:srgbClr val="AAB7C2"/>
                </a:solidFill>
                <a:latin typeface="Segoe UI" pitchFamily="34" charset="0"/>
                <a:ea typeface="Segoe UI" pitchFamily="34" charset="-122"/>
                <a:cs typeface="Segoe UI" pitchFamily="34" charset="-120"/>
              </a:rPr>
              <a:t>Three panels in one view — the operator's situation board when something unusual is happening.</a:t>
            </a:r>
            <a:endParaRPr lang="en-US" sz="1600" dirty="0"/>
          </a:p>
        </p:txBody>
      </p:sp>
      <p:sp>
        <p:nvSpPr>
          <p:cNvPr id="38" name="screenshot placeholder frame">
            <a:extLst>
              <a:ext uri="{C183D7F6-B498-43B3-948B-1728B52AA6E4}">
                <adec:decorative xmlns:adec="http://schemas.microsoft.com/office/drawing/2017/decorative" val="1"/>
              </a:ext>
            </a:extLst>
          </p:cNvPr>
          <p:cNvSpPr/>
          <p:nvPr/>
        </p:nvSpPr>
        <p:spPr>
          <a:xfrm>
            <a:off x="566928" y="1965960"/>
            <a:ext cx="6035040" cy="3017520"/>
          </a:xfrm>
          <a:prstGeom prst="rect">
            <a:avLst/>
          </a:prstGeom>
          <a:solidFill>
            <a:srgbClr val="191E23"/>
          </a:solidFill>
          <a:ln w="22225">
            <a:solidFill>
              <a:srgbClr val="3FE08A"/>
            </a:solidFill>
            <a:prstDash val="dash"/>
          </a:ln>
        </p:spPr>
        <p:txBody>
          <a:bodyPr/>
          <a:lstStyle/>
          <a:p>
            <a:endParaRPr lang="en-SE"/>
          </a:p>
        </p:txBody>
      </p:sp>
      <p:sp>
        <p:nvSpPr>
          <p:cNvPr id="39" name="corner tick">
            <a:extLst>
              <a:ext uri="{C183D7F6-B498-43B3-948B-1728B52AA6E4}">
                <adec:decorative xmlns:adec="http://schemas.microsoft.com/office/drawing/2017/decorative" val="1"/>
              </a:ext>
            </a:extLst>
          </p:cNvPr>
          <p:cNvSpPr/>
          <p:nvPr/>
        </p:nvSpPr>
        <p:spPr>
          <a:xfrm>
            <a:off x="566928" y="1965960"/>
            <a:ext cx="256032" cy="0"/>
          </a:xfrm>
          <a:prstGeom prst="line">
            <a:avLst/>
          </a:prstGeom>
          <a:noFill/>
          <a:ln w="31750">
            <a:solidFill>
              <a:srgbClr val="3FE08A"/>
            </a:solidFill>
            <a:prstDash val="solid"/>
          </a:ln>
        </p:spPr>
        <p:txBody>
          <a:bodyPr/>
          <a:lstStyle/>
          <a:p>
            <a:endParaRPr lang="en-SE"/>
          </a:p>
        </p:txBody>
      </p:sp>
      <p:sp>
        <p:nvSpPr>
          <p:cNvPr id="40" name="corner tick">
            <a:extLst>
              <a:ext uri="{C183D7F6-B498-43B3-948B-1728B52AA6E4}">
                <adec:decorative xmlns:adec="http://schemas.microsoft.com/office/drawing/2017/decorative" val="1"/>
              </a:ext>
            </a:extLst>
          </p:cNvPr>
          <p:cNvSpPr/>
          <p:nvPr/>
        </p:nvSpPr>
        <p:spPr>
          <a:xfrm>
            <a:off x="566928" y="1965960"/>
            <a:ext cx="0" cy="256032"/>
          </a:xfrm>
          <a:prstGeom prst="line">
            <a:avLst/>
          </a:prstGeom>
          <a:noFill/>
          <a:ln w="31750">
            <a:solidFill>
              <a:srgbClr val="3FE08A"/>
            </a:solidFill>
            <a:prstDash val="solid"/>
          </a:ln>
        </p:spPr>
        <p:txBody>
          <a:bodyPr/>
          <a:lstStyle/>
          <a:p>
            <a:endParaRPr lang="en-SE"/>
          </a:p>
        </p:txBody>
      </p:sp>
      <p:sp>
        <p:nvSpPr>
          <p:cNvPr id="41" name="corner tick">
            <a:extLst>
              <a:ext uri="{C183D7F6-B498-43B3-948B-1728B52AA6E4}">
                <adec:decorative xmlns:adec="http://schemas.microsoft.com/office/drawing/2017/decorative" val="1"/>
              </a:ext>
            </a:extLst>
          </p:cNvPr>
          <p:cNvSpPr/>
          <p:nvPr/>
        </p:nvSpPr>
        <p:spPr>
          <a:xfrm>
            <a:off x="6345936" y="1965960"/>
            <a:ext cx="256032" cy="0"/>
          </a:xfrm>
          <a:prstGeom prst="line">
            <a:avLst/>
          </a:prstGeom>
          <a:noFill/>
          <a:ln w="31750">
            <a:solidFill>
              <a:srgbClr val="3FE08A"/>
            </a:solidFill>
            <a:prstDash val="solid"/>
          </a:ln>
        </p:spPr>
        <p:txBody>
          <a:bodyPr/>
          <a:lstStyle/>
          <a:p>
            <a:endParaRPr lang="en-SE"/>
          </a:p>
        </p:txBody>
      </p:sp>
      <p:sp>
        <p:nvSpPr>
          <p:cNvPr id="42" name="corner tick">
            <a:extLst>
              <a:ext uri="{C183D7F6-B498-43B3-948B-1728B52AA6E4}">
                <adec:decorative xmlns:adec="http://schemas.microsoft.com/office/drawing/2017/decorative" val="1"/>
              </a:ext>
            </a:extLst>
          </p:cNvPr>
          <p:cNvSpPr/>
          <p:nvPr/>
        </p:nvSpPr>
        <p:spPr>
          <a:xfrm>
            <a:off x="6601968" y="1965960"/>
            <a:ext cx="0" cy="256032"/>
          </a:xfrm>
          <a:prstGeom prst="line">
            <a:avLst/>
          </a:prstGeom>
          <a:noFill/>
          <a:ln w="31750">
            <a:solidFill>
              <a:srgbClr val="3FE08A"/>
            </a:solidFill>
            <a:prstDash val="solid"/>
          </a:ln>
        </p:spPr>
        <p:txBody>
          <a:bodyPr/>
          <a:lstStyle/>
          <a:p>
            <a:endParaRPr lang="en-SE"/>
          </a:p>
        </p:txBody>
      </p:sp>
      <p:sp>
        <p:nvSpPr>
          <p:cNvPr id="43" name="corner tick">
            <a:extLst>
              <a:ext uri="{C183D7F6-B498-43B3-948B-1728B52AA6E4}">
                <adec:decorative xmlns:adec="http://schemas.microsoft.com/office/drawing/2017/decorative" val="1"/>
              </a:ext>
            </a:extLst>
          </p:cNvPr>
          <p:cNvSpPr/>
          <p:nvPr/>
        </p:nvSpPr>
        <p:spPr>
          <a:xfrm>
            <a:off x="566928" y="4983480"/>
            <a:ext cx="256032" cy="0"/>
          </a:xfrm>
          <a:prstGeom prst="line">
            <a:avLst/>
          </a:prstGeom>
          <a:noFill/>
          <a:ln w="31750">
            <a:solidFill>
              <a:srgbClr val="3FE08A"/>
            </a:solidFill>
            <a:prstDash val="solid"/>
          </a:ln>
        </p:spPr>
        <p:txBody>
          <a:bodyPr/>
          <a:lstStyle/>
          <a:p>
            <a:endParaRPr lang="en-SE"/>
          </a:p>
        </p:txBody>
      </p:sp>
      <p:sp>
        <p:nvSpPr>
          <p:cNvPr id="44" name="corner tick">
            <a:extLst>
              <a:ext uri="{C183D7F6-B498-43B3-948B-1728B52AA6E4}">
                <adec:decorative xmlns:adec="http://schemas.microsoft.com/office/drawing/2017/decorative" val="1"/>
              </a:ext>
            </a:extLst>
          </p:cNvPr>
          <p:cNvSpPr/>
          <p:nvPr/>
        </p:nvSpPr>
        <p:spPr>
          <a:xfrm>
            <a:off x="566928" y="4727448"/>
            <a:ext cx="0" cy="256032"/>
          </a:xfrm>
          <a:prstGeom prst="line">
            <a:avLst/>
          </a:prstGeom>
          <a:noFill/>
          <a:ln w="31750">
            <a:solidFill>
              <a:srgbClr val="3FE08A"/>
            </a:solidFill>
            <a:prstDash val="solid"/>
          </a:ln>
        </p:spPr>
        <p:txBody>
          <a:bodyPr/>
          <a:lstStyle/>
          <a:p>
            <a:endParaRPr lang="en-SE"/>
          </a:p>
        </p:txBody>
      </p:sp>
      <p:sp>
        <p:nvSpPr>
          <p:cNvPr id="45" name="corner tick">
            <a:extLst>
              <a:ext uri="{C183D7F6-B498-43B3-948B-1728B52AA6E4}">
                <adec:decorative xmlns:adec="http://schemas.microsoft.com/office/drawing/2017/decorative" val="1"/>
              </a:ext>
            </a:extLst>
          </p:cNvPr>
          <p:cNvSpPr/>
          <p:nvPr/>
        </p:nvSpPr>
        <p:spPr>
          <a:xfrm>
            <a:off x="6345936" y="4983480"/>
            <a:ext cx="256032" cy="0"/>
          </a:xfrm>
          <a:prstGeom prst="line">
            <a:avLst/>
          </a:prstGeom>
          <a:noFill/>
          <a:ln w="31750">
            <a:solidFill>
              <a:srgbClr val="3FE08A"/>
            </a:solidFill>
            <a:prstDash val="solid"/>
          </a:ln>
        </p:spPr>
        <p:txBody>
          <a:bodyPr/>
          <a:lstStyle/>
          <a:p>
            <a:endParaRPr lang="en-SE"/>
          </a:p>
        </p:txBody>
      </p:sp>
      <p:sp>
        <p:nvSpPr>
          <p:cNvPr id="46" name="corner tick">
            <a:extLst>
              <a:ext uri="{C183D7F6-B498-43B3-948B-1728B52AA6E4}">
                <adec:decorative xmlns:adec="http://schemas.microsoft.com/office/drawing/2017/decorative" val="1"/>
              </a:ext>
            </a:extLst>
          </p:cNvPr>
          <p:cNvSpPr/>
          <p:nvPr/>
        </p:nvSpPr>
        <p:spPr>
          <a:xfrm>
            <a:off x="6601968" y="4727448"/>
            <a:ext cx="0" cy="256032"/>
          </a:xfrm>
          <a:prstGeom prst="line">
            <a:avLst/>
          </a:prstGeom>
          <a:noFill/>
          <a:ln w="31750">
            <a:solidFill>
              <a:srgbClr val="3FE08A"/>
            </a:solidFill>
            <a:prstDash val="solid"/>
          </a:ln>
        </p:spPr>
        <p:txBody>
          <a:bodyPr/>
          <a:lstStyle/>
          <a:p>
            <a:endParaRPr lang="en-SE"/>
          </a:p>
        </p:txBody>
      </p:sp>
      <p:sp>
        <p:nvSpPr>
          <p:cNvPr id="47" name="figure tag background">
            <a:extLst>
              <a:ext uri="{C183D7F6-B498-43B3-948B-1728B52AA6E4}">
                <adec:decorative xmlns:adec="http://schemas.microsoft.com/office/drawing/2017/decorative" val="1"/>
              </a:ext>
            </a:extLst>
          </p:cNvPr>
          <p:cNvSpPr/>
          <p:nvPr/>
        </p:nvSpPr>
        <p:spPr>
          <a:xfrm>
            <a:off x="768096" y="2167128"/>
            <a:ext cx="1783080" cy="274320"/>
          </a:xfrm>
          <a:prstGeom prst="rect">
            <a:avLst/>
          </a:prstGeom>
          <a:solidFill>
            <a:srgbClr val="3FE08A"/>
          </a:solidFill>
          <a:ln w="12700">
            <a:solidFill>
              <a:srgbClr val="333333"/>
            </a:solidFill>
            <a:prstDash val="solid"/>
          </a:ln>
        </p:spPr>
        <p:txBody>
          <a:bodyPr/>
          <a:lstStyle/>
          <a:p>
            <a:endParaRPr lang="en-SE"/>
          </a:p>
        </p:txBody>
      </p:sp>
      <p:sp>
        <p:nvSpPr>
          <p:cNvPr id="48" name="Text 46"/>
          <p:cNvSpPr/>
          <p:nvPr/>
        </p:nvSpPr>
        <p:spPr>
          <a:xfrm>
            <a:off x="768096" y="2167128"/>
            <a:ext cx="1783080" cy="274320"/>
          </a:xfrm>
          <a:prstGeom prst="rect">
            <a:avLst/>
          </a:prstGeom>
          <a:noFill/>
          <a:ln/>
        </p:spPr>
        <p:txBody>
          <a:bodyPr wrap="square" lIns="0" tIns="0" rIns="0" bIns="0" rtlCol="0" anchor="ctr"/>
          <a:lstStyle/>
          <a:p>
            <a:pPr marL="0" indent="0" algn="ctr">
              <a:buNone/>
            </a:pPr>
            <a:r>
              <a:rPr lang="en-US" sz="950" b="1" dirty="0">
                <a:solidFill>
                  <a:srgbClr val="13171B"/>
                </a:solidFill>
                <a:latin typeface="Consolas" pitchFamily="34" charset="0"/>
                <a:ea typeface="Consolas" pitchFamily="34" charset="-122"/>
                <a:cs typeface="Consolas" pitchFamily="34" charset="-120"/>
              </a:rPr>
              <a:t>SCREENSHOT 8</a:t>
            </a:r>
            <a:endParaRPr lang="en-US" sz="950" dirty="0"/>
          </a:p>
        </p:txBody>
      </p:sp>
      <p:sp>
        <p:nvSpPr>
          <p:cNvPr id="49" name="Text 47"/>
          <p:cNvSpPr/>
          <p:nvPr/>
        </p:nvSpPr>
        <p:spPr>
          <a:xfrm>
            <a:off x="886968" y="2971800"/>
            <a:ext cx="5394960" cy="1005840"/>
          </a:xfrm>
          <a:prstGeom prst="rect">
            <a:avLst/>
          </a:prstGeom>
          <a:noFill/>
          <a:ln/>
        </p:spPr>
        <p:txBody>
          <a:bodyPr wrap="square" lIns="0" tIns="0" rIns="0" bIns="0" rtlCol="0" anchor="ctr"/>
          <a:lstStyle/>
          <a:p>
            <a:pPr marL="0" indent="0" algn="ctr">
              <a:lnSpc>
                <a:spcPct val="115000"/>
              </a:lnSpc>
              <a:buNone/>
            </a:pPr>
            <a:r>
              <a:rPr lang="en-US" sz="1200" b="1" dirty="0">
                <a:solidFill>
                  <a:srgbClr val="3FE08A"/>
                </a:solidFill>
                <a:latin typeface="Segoe UI" pitchFamily="34" charset="0"/>
                <a:ea typeface="Segoe UI" pitchFamily="34" charset="-122"/>
                <a:cs typeface="Segoe UI" pitchFamily="34" charset="-120"/>
              </a:rPr>
              <a:t>Capture: </a:t>
            </a:r>
            <a:r>
              <a:rPr lang="en-US" sz="1200" dirty="0">
                <a:solidFill>
                  <a:srgbClr val="AAB7C2"/>
                </a:solidFill>
                <a:latin typeface="Segoe UI" pitchFamily="34" charset="0"/>
                <a:ea typeface="Segoe UI" pitchFamily="34" charset="-122"/>
                <a:cs typeface="Segoe UI" pitchFamily="34" charset="-120"/>
              </a:rPr>
              <a:t>A state with at least one active halt and one completed auction result, so both tables have content.</a:t>
            </a:r>
            <a:endParaRPr lang="en-US" sz="1200" dirty="0"/>
          </a:p>
        </p:txBody>
      </p:sp>
      <p:sp>
        <p:nvSpPr>
          <p:cNvPr id="50" name="Text 48"/>
          <p:cNvSpPr/>
          <p:nvPr/>
        </p:nvSpPr>
        <p:spPr>
          <a:xfrm>
            <a:off x="886968" y="4507992"/>
            <a:ext cx="5394960" cy="274320"/>
          </a:xfrm>
          <a:prstGeom prst="rect">
            <a:avLst/>
          </a:prstGeom>
          <a:noFill/>
          <a:ln/>
        </p:spPr>
        <p:txBody>
          <a:bodyPr wrap="square" lIns="0" tIns="0" rIns="0" bIns="0" rtlCol="0" anchor="ctr"/>
          <a:lstStyle/>
          <a:p>
            <a:pPr marL="0" indent="0" algn="ctr">
              <a:buNone/>
            </a:pPr>
            <a:r>
              <a:rPr lang="en-US" sz="900" dirty="0">
                <a:solidFill>
                  <a:srgbClr val="7C8B97"/>
                </a:solidFill>
                <a:latin typeface="Consolas" pitchFamily="34" charset="0"/>
                <a:ea typeface="Consolas" pitchFamily="34" charset="-122"/>
                <a:cs typeface="Consolas" pitchFamily="34" charset="-120"/>
              </a:rPr>
              <a:t>fig-08-session-board.png</a:t>
            </a:r>
            <a:endParaRPr lang="en-US" sz="900" dirty="0"/>
          </a:p>
        </p:txBody>
      </p:sp>
      <p:sp>
        <p:nvSpPr>
          <p:cNvPr id="51" name="panel">
            <a:extLst>
              <a:ext uri="{C183D7F6-B498-43B3-948B-1728B52AA6E4}">
                <adec:decorative xmlns:adec="http://schemas.microsoft.com/office/drawing/2017/decorative" val="1"/>
              </a:ext>
            </a:extLst>
          </p:cNvPr>
          <p:cNvSpPr/>
          <p:nvPr/>
        </p:nvSpPr>
        <p:spPr>
          <a:xfrm>
            <a:off x="6812280" y="1152237"/>
            <a:ext cx="4361688" cy="1170432"/>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52" name="panel accent">
            <a:extLst>
              <a:ext uri="{C183D7F6-B498-43B3-948B-1728B52AA6E4}">
                <adec:decorative xmlns:adec="http://schemas.microsoft.com/office/drawing/2017/decorative" val="1"/>
              </a:ext>
            </a:extLst>
          </p:cNvPr>
          <p:cNvSpPr/>
          <p:nvPr/>
        </p:nvSpPr>
        <p:spPr>
          <a:xfrm>
            <a:off x="6812280" y="1152237"/>
            <a:ext cx="50292" cy="1170432"/>
          </a:xfrm>
          <a:prstGeom prst="rect">
            <a:avLst/>
          </a:prstGeom>
          <a:solidFill>
            <a:srgbClr val="3FE08A"/>
          </a:solidFill>
          <a:ln w="12700">
            <a:solidFill>
              <a:srgbClr val="333333"/>
            </a:solidFill>
            <a:prstDash val="solid"/>
          </a:ln>
        </p:spPr>
        <p:txBody>
          <a:bodyPr/>
          <a:lstStyle/>
          <a:p>
            <a:endParaRPr lang="en-SE"/>
          </a:p>
        </p:txBody>
      </p:sp>
      <p:sp>
        <p:nvSpPr>
          <p:cNvPr id="53" name="Text 51"/>
          <p:cNvSpPr/>
          <p:nvPr/>
        </p:nvSpPr>
        <p:spPr>
          <a:xfrm>
            <a:off x="7059168" y="1280253"/>
            <a:ext cx="3931920" cy="292608"/>
          </a:xfrm>
          <a:prstGeom prst="rect">
            <a:avLst/>
          </a:prstGeom>
          <a:noFill/>
          <a:ln/>
        </p:spPr>
        <p:txBody>
          <a:bodyPr wrap="square" lIns="0" tIns="0" rIns="0" bIns="0" rtlCol="0" anchor="ctr"/>
          <a:lstStyle/>
          <a:p>
            <a:pPr marL="0" indent="0">
              <a:buNone/>
            </a:pPr>
            <a:r>
              <a:rPr lang="en-US" sz="1400" b="1" dirty="0">
                <a:solidFill>
                  <a:srgbClr val="E6EDF3"/>
                </a:solidFill>
                <a:latin typeface="Segoe UI" pitchFamily="34" charset="0"/>
                <a:ea typeface="Segoe UI" pitchFamily="34" charset="-122"/>
                <a:cs typeface="Segoe UI" pitchFamily="34" charset="-120"/>
              </a:rPr>
              <a:t>Session phase</a:t>
            </a:r>
            <a:endParaRPr lang="en-US" sz="1400" dirty="0"/>
          </a:p>
        </p:txBody>
      </p:sp>
      <p:sp>
        <p:nvSpPr>
          <p:cNvPr id="54" name="Text 52"/>
          <p:cNvSpPr/>
          <p:nvPr/>
        </p:nvSpPr>
        <p:spPr>
          <a:xfrm>
            <a:off x="7059168" y="1618857"/>
            <a:ext cx="3931920" cy="658368"/>
          </a:xfrm>
          <a:prstGeom prst="rect">
            <a:avLst/>
          </a:prstGeom>
          <a:noFill/>
          <a:ln/>
        </p:spPr>
        <p:txBody>
          <a:bodyPr wrap="square" lIns="0" tIns="0" rIns="0" bIns="0" rtlCol="0" anchor="ctr"/>
          <a:lstStyle/>
          <a:p>
            <a:pPr marL="0" indent="0">
              <a:lnSpc>
                <a:spcPct val="110000"/>
              </a:lnSpc>
              <a:buNone/>
            </a:pPr>
            <a:r>
              <a:rPr lang="en-US" sz="1200" dirty="0">
                <a:solidFill>
                  <a:srgbClr val="AAB7C2"/>
                </a:solidFill>
                <a:latin typeface="Segoe UI" pitchFamily="34" charset="0"/>
                <a:ea typeface="Segoe UI" pitchFamily="34" charset="-122"/>
                <a:cs typeface="Segoe UI" pitchFamily="34" charset="-120"/>
              </a:rPr>
              <a:t>The exchange-wide phase, stated plainly.</a:t>
            </a:r>
            <a:endParaRPr lang="en-US" sz="1200" dirty="0"/>
          </a:p>
        </p:txBody>
      </p:sp>
      <p:sp>
        <p:nvSpPr>
          <p:cNvPr id="55" name="panel">
            <a:extLst>
              <a:ext uri="{C183D7F6-B498-43B3-948B-1728B52AA6E4}">
                <adec:decorative xmlns:adec="http://schemas.microsoft.com/office/drawing/2017/decorative" val="1"/>
              </a:ext>
            </a:extLst>
          </p:cNvPr>
          <p:cNvSpPr/>
          <p:nvPr/>
        </p:nvSpPr>
        <p:spPr>
          <a:xfrm>
            <a:off x="6812280" y="2450685"/>
            <a:ext cx="4361688" cy="1170432"/>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56" name="panel accent">
            <a:extLst>
              <a:ext uri="{C183D7F6-B498-43B3-948B-1728B52AA6E4}">
                <adec:decorative xmlns:adec="http://schemas.microsoft.com/office/drawing/2017/decorative" val="1"/>
              </a:ext>
            </a:extLst>
          </p:cNvPr>
          <p:cNvSpPr/>
          <p:nvPr/>
        </p:nvSpPr>
        <p:spPr>
          <a:xfrm>
            <a:off x="6812280" y="2450685"/>
            <a:ext cx="50292" cy="1170432"/>
          </a:xfrm>
          <a:prstGeom prst="rect">
            <a:avLst/>
          </a:prstGeom>
          <a:solidFill>
            <a:srgbClr val="EF5B63"/>
          </a:solidFill>
          <a:ln w="12700">
            <a:solidFill>
              <a:srgbClr val="333333"/>
            </a:solidFill>
            <a:prstDash val="solid"/>
          </a:ln>
        </p:spPr>
        <p:txBody>
          <a:bodyPr/>
          <a:lstStyle/>
          <a:p>
            <a:endParaRPr lang="en-SE"/>
          </a:p>
        </p:txBody>
      </p:sp>
      <p:sp>
        <p:nvSpPr>
          <p:cNvPr id="57" name="Text 55"/>
          <p:cNvSpPr/>
          <p:nvPr/>
        </p:nvSpPr>
        <p:spPr>
          <a:xfrm>
            <a:off x="7059168" y="2578701"/>
            <a:ext cx="3931920" cy="292608"/>
          </a:xfrm>
          <a:prstGeom prst="rect">
            <a:avLst/>
          </a:prstGeom>
          <a:noFill/>
          <a:ln/>
        </p:spPr>
        <p:txBody>
          <a:bodyPr wrap="square" lIns="0" tIns="0" rIns="0" bIns="0" rtlCol="0" anchor="ctr"/>
          <a:lstStyle/>
          <a:p>
            <a:pPr marL="0" indent="0">
              <a:buNone/>
            </a:pPr>
            <a:r>
              <a:rPr lang="en-US" sz="1400" b="1" dirty="0">
                <a:solidFill>
                  <a:srgbClr val="E6EDF3"/>
                </a:solidFill>
                <a:latin typeface="Segoe UI" pitchFamily="34" charset="0"/>
                <a:ea typeface="Segoe UI" pitchFamily="34" charset="-122"/>
                <a:cs typeface="Segoe UI" pitchFamily="34" charset="-120"/>
              </a:rPr>
              <a:t>Active halts</a:t>
            </a:r>
            <a:endParaRPr lang="en-US" sz="1400" dirty="0"/>
          </a:p>
        </p:txBody>
      </p:sp>
      <p:sp>
        <p:nvSpPr>
          <p:cNvPr id="58" name="Text 56"/>
          <p:cNvSpPr/>
          <p:nvPr/>
        </p:nvSpPr>
        <p:spPr>
          <a:xfrm>
            <a:off x="7059168" y="2917305"/>
            <a:ext cx="3931920" cy="658368"/>
          </a:xfrm>
          <a:prstGeom prst="rect">
            <a:avLst/>
          </a:prstGeom>
          <a:noFill/>
          <a:ln/>
        </p:spPr>
        <p:txBody>
          <a:bodyPr wrap="square" lIns="0" tIns="0" rIns="0" bIns="0" rtlCol="0" anchor="ctr"/>
          <a:lstStyle/>
          <a:p>
            <a:pPr marL="0" indent="0">
              <a:lnSpc>
                <a:spcPct val="110000"/>
              </a:lnSpc>
              <a:buNone/>
            </a:pPr>
            <a:r>
              <a:rPr lang="en-US" sz="1200" dirty="0">
                <a:solidFill>
                  <a:srgbClr val="AAB7C2"/>
                </a:solidFill>
                <a:latin typeface="Segoe UI" pitchFamily="34" charset="0"/>
                <a:ea typeface="Segoe UI" pitchFamily="34" charset="-122"/>
                <a:cs typeface="Segoe UI" pitchFamily="34" charset="-120"/>
              </a:rPr>
              <a:t>Per halted symbol: circuit-breaker level, trigger and reference price, how and when it resumes, and how long it has been halted so far.</a:t>
            </a:r>
            <a:endParaRPr lang="en-US" sz="1200" dirty="0"/>
          </a:p>
        </p:txBody>
      </p:sp>
      <p:sp>
        <p:nvSpPr>
          <p:cNvPr id="59" name="panel">
            <a:extLst>
              <a:ext uri="{C183D7F6-B498-43B3-948B-1728B52AA6E4}">
                <adec:decorative xmlns:adec="http://schemas.microsoft.com/office/drawing/2017/decorative" val="1"/>
              </a:ext>
            </a:extLst>
          </p:cNvPr>
          <p:cNvSpPr/>
          <p:nvPr/>
        </p:nvSpPr>
        <p:spPr>
          <a:xfrm>
            <a:off x="6812280" y="3758369"/>
            <a:ext cx="4361688" cy="1170432"/>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60" name="panel accent">
            <a:extLst>
              <a:ext uri="{C183D7F6-B498-43B3-948B-1728B52AA6E4}">
                <adec:decorative xmlns:adec="http://schemas.microsoft.com/office/drawing/2017/decorative" val="1"/>
              </a:ext>
            </a:extLst>
          </p:cNvPr>
          <p:cNvSpPr/>
          <p:nvPr/>
        </p:nvSpPr>
        <p:spPr>
          <a:xfrm>
            <a:off x="6812280" y="3758369"/>
            <a:ext cx="50292" cy="1170432"/>
          </a:xfrm>
          <a:prstGeom prst="rect">
            <a:avLst/>
          </a:prstGeom>
          <a:solidFill>
            <a:srgbClr val="F5A524"/>
          </a:solidFill>
          <a:ln w="12700">
            <a:solidFill>
              <a:srgbClr val="333333"/>
            </a:solidFill>
            <a:prstDash val="solid"/>
          </a:ln>
        </p:spPr>
        <p:txBody>
          <a:bodyPr/>
          <a:lstStyle/>
          <a:p>
            <a:endParaRPr lang="en-SE"/>
          </a:p>
        </p:txBody>
      </p:sp>
      <p:sp>
        <p:nvSpPr>
          <p:cNvPr id="61" name="Text 59"/>
          <p:cNvSpPr/>
          <p:nvPr/>
        </p:nvSpPr>
        <p:spPr>
          <a:xfrm>
            <a:off x="7059168" y="3877149"/>
            <a:ext cx="3931920" cy="292608"/>
          </a:xfrm>
          <a:prstGeom prst="rect">
            <a:avLst/>
          </a:prstGeom>
          <a:noFill/>
          <a:ln/>
        </p:spPr>
        <p:txBody>
          <a:bodyPr wrap="square" lIns="0" tIns="0" rIns="0" bIns="0" rtlCol="0" anchor="ctr"/>
          <a:lstStyle/>
          <a:p>
            <a:pPr marL="0" indent="0">
              <a:buNone/>
            </a:pPr>
            <a:r>
              <a:rPr lang="en-US" sz="1400" b="1" dirty="0">
                <a:solidFill>
                  <a:srgbClr val="E6EDF3"/>
                </a:solidFill>
                <a:latin typeface="Segoe UI" pitchFamily="34" charset="0"/>
                <a:ea typeface="Segoe UI" pitchFamily="34" charset="-122"/>
                <a:cs typeface="Segoe UI" pitchFamily="34" charset="-120"/>
              </a:rPr>
              <a:t>Recent auction results</a:t>
            </a:r>
            <a:endParaRPr lang="en-US" sz="1400" dirty="0"/>
          </a:p>
        </p:txBody>
      </p:sp>
      <p:sp>
        <p:nvSpPr>
          <p:cNvPr id="62" name="Text 60"/>
          <p:cNvSpPr/>
          <p:nvPr/>
        </p:nvSpPr>
        <p:spPr>
          <a:xfrm>
            <a:off x="7059168" y="4224989"/>
            <a:ext cx="3931920" cy="658368"/>
          </a:xfrm>
          <a:prstGeom prst="rect">
            <a:avLst/>
          </a:prstGeom>
          <a:noFill/>
          <a:ln/>
        </p:spPr>
        <p:txBody>
          <a:bodyPr wrap="square" lIns="0" tIns="0" rIns="0" bIns="0" rtlCol="0" anchor="ctr"/>
          <a:lstStyle/>
          <a:p>
            <a:pPr marL="0" indent="0">
              <a:lnSpc>
                <a:spcPct val="110000"/>
              </a:lnSpc>
              <a:buNone/>
            </a:pPr>
            <a:r>
              <a:rPr lang="en-US" sz="1200" dirty="0">
                <a:solidFill>
                  <a:srgbClr val="AAB7C2"/>
                </a:solidFill>
                <a:latin typeface="Segoe UI" pitchFamily="34" charset="0"/>
                <a:ea typeface="Segoe UI" pitchFamily="34" charset="-122"/>
                <a:cs typeface="Segoe UI" pitchFamily="34" charset="-120"/>
              </a:rPr>
              <a:t>Every auction uncross seen since you opened the tab.</a:t>
            </a:r>
            <a:endParaRPr lang="en-US" sz="1200" dirty="0"/>
          </a:p>
        </p:txBody>
      </p:sp>
      <p:sp>
        <p:nvSpPr>
          <p:cNvPr id="63" name="callout background">
            <a:extLst>
              <a:ext uri="{C183D7F6-B498-43B3-948B-1728B52AA6E4}">
                <adec:decorative xmlns:adec="http://schemas.microsoft.com/office/drawing/2017/decorative" val="1"/>
              </a:ext>
            </a:extLst>
          </p:cNvPr>
          <p:cNvSpPr/>
          <p:nvPr/>
        </p:nvSpPr>
        <p:spPr>
          <a:xfrm>
            <a:off x="566928" y="5166360"/>
            <a:ext cx="10607040" cy="1143000"/>
          </a:xfrm>
          <a:prstGeom prst="rect">
            <a:avLst/>
          </a:prstGeom>
          <a:solidFill>
            <a:srgbClr val="273037"/>
          </a:solidFill>
          <a:ln w="12700">
            <a:solidFill>
              <a:srgbClr val="F5A524"/>
            </a:solidFill>
            <a:prstDash val="solid"/>
          </a:ln>
        </p:spPr>
        <p:txBody>
          <a:bodyPr/>
          <a:lstStyle/>
          <a:p>
            <a:endParaRPr lang="en-SE"/>
          </a:p>
        </p:txBody>
      </p:sp>
      <p:sp>
        <p:nvSpPr>
          <p:cNvPr id="64" name="Text 62"/>
          <p:cNvSpPr/>
          <p:nvPr/>
        </p:nvSpPr>
        <p:spPr>
          <a:xfrm>
            <a:off x="822960" y="5285232"/>
            <a:ext cx="5486400" cy="274320"/>
          </a:xfrm>
          <a:prstGeom prst="rect">
            <a:avLst/>
          </a:prstGeom>
          <a:noFill/>
          <a:ln/>
        </p:spPr>
        <p:txBody>
          <a:bodyPr wrap="square" lIns="0" tIns="0" rIns="0" bIns="0" rtlCol="0" anchor="ctr"/>
          <a:lstStyle/>
          <a:p>
            <a:pPr marL="0" indent="0">
              <a:buNone/>
            </a:pPr>
            <a:r>
              <a:rPr lang="en-US" sz="1400" b="1" dirty="0">
                <a:solidFill>
                  <a:srgbClr val="F5A524"/>
                </a:solidFill>
                <a:latin typeface="Segoe UI" pitchFamily="34" charset="0"/>
                <a:ea typeface="Segoe UI" pitchFamily="34" charset="-122"/>
                <a:cs typeface="Segoe UI" pitchFamily="34" charset="-120"/>
              </a:rPr>
              <a:t>Two things a beginner should know about this board</a:t>
            </a:r>
            <a:endParaRPr lang="en-US" sz="1400" dirty="0"/>
          </a:p>
        </p:txBody>
      </p:sp>
      <p:sp>
        <p:nvSpPr>
          <p:cNvPr id="65" name="Text 63"/>
          <p:cNvSpPr/>
          <p:nvPr/>
        </p:nvSpPr>
        <p:spPr>
          <a:xfrm>
            <a:off x="822960" y="5596128"/>
            <a:ext cx="4937760" cy="640080"/>
          </a:xfrm>
          <a:prstGeom prst="rect">
            <a:avLst/>
          </a:prstGeom>
          <a:noFill/>
          <a:ln/>
        </p:spPr>
        <p:txBody>
          <a:bodyPr wrap="square" lIns="0" tIns="0" rIns="0" bIns="0" rtlCol="0" anchor="ctr"/>
          <a:lstStyle/>
          <a:p>
            <a:pPr marL="0" indent="0">
              <a:lnSpc>
                <a:spcPct val="110000"/>
              </a:lnSpc>
              <a:buNone/>
            </a:pPr>
            <a:r>
              <a:rPr lang="en-US" sz="1200" dirty="0">
                <a:solidFill>
                  <a:srgbClr val="AAB7C2"/>
                </a:solidFill>
                <a:latin typeface="Segoe UI" pitchFamily="34" charset="0"/>
                <a:ea typeface="Segoe UI" pitchFamily="34" charset="-122"/>
                <a:cs typeface="Segoe UI" pitchFamily="34" charset="-120"/>
              </a:rPr>
              <a:t>Blank trigger and reference prices mean an operator-initiated halt — that kind of halt simply carries neither, so blank is correct, not missing.</a:t>
            </a:r>
            <a:endParaRPr lang="en-US" sz="1200" dirty="0"/>
          </a:p>
        </p:txBody>
      </p:sp>
      <p:sp>
        <p:nvSpPr>
          <p:cNvPr id="66" name="Text 64"/>
          <p:cNvSpPr/>
          <p:nvPr/>
        </p:nvSpPr>
        <p:spPr>
          <a:xfrm>
            <a:off x="5989320" y="5596128"/>
            <a:ext cx="4937760" cy="640080"/>
          </a:xfrm>
          <a:prstGeom prst="rect">
            <a:avLst/>
          </a:prstGeom>
          <a:noFill/>
          <a:ln/>
        </p:spPr>
        <p:txBody>
          <a:bodyPr wrap="square" lIns="0" tIns="0" rIns="0" bIns="0" rtlCol="0" anchor="ctr"/>
          <a:lstStyle/>
          <a:p>
            <a:pPr marL="0" indent="0">
              <a:lnSpc>
                <a:spcPct val="110000"/>
              </a:lnSpc>
              <a:buNone/>
            </a:pPr>
            <a:r>
              <a:rPr lang="en-US" sz="1200" dirty="0">
                <a:solidFill>
                  <a:srgbClr val="AAB7C2"/>
                </a:solidFill>
                <a:latin typeface="Segoe UI" pitchFamily="34" charset="0"/>
                <a:ea typeface="Segoe UI" pitchFamily="34" charset="-122"/>
                <a:cs typeface="Segoe UI" pitchFamily="34" charset="-120"/>
              </a:rPr>
              <a:t>Recent auction results is a session-scoped list held in your browser since you opened the tab — not a durable audit trail. Close the tab and it is gone.</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side band">
            <a:extLst>
              <a:ext uri="{C183D7F6-B498-43B3-948B-1728B52AA6E4}">
                <adec:decorative xmlns:adec="http://schemas.microsoft.com/office/drawing/2017/decorative" val="1"/>
              </a:ext>
            </a:extLst>
          </p:cNvPr>
          <p:cNvSpPr/>
          <p:nvPr/>
        </p:nvSpPr>
        <p:spPr>
          <a:xfrm>
            <a:off x="0" y="0"/>
            <a:ext cx="384048" cy="6858000"/>
          </a:xfrm>
          <a:prstGeom prst="rect">
            <a:avLst/>
          </a:prstGeom>
          <a:solidFill>
            <a:srgbClr val="122C22"/>
          </a:solidFill>
          <a:ln w="12700">
            <a:solidFill>
              <a:srgbClr val="333333"/>
            </a:solidFill>
            <a:prstDash val="solid"/>
          </a:ln>
        </p:spPr>
        <p:txBody>
          <a:bodyPr/>
          <a:lstStyle/>
          <a:p>
            <a:endParaRPr lang="en-SE"/>
          </a:p>
        </p:txBody>
      </p:sp>
      <p:sp>
        <p:nvSpPr>
          <p:cNvPr id="29" name="side accent">
            <a:extLst>
              <a:ext uri="{C183D7F6-B498-43B3-948B-1728B52AA6E4}">
                <adec:decorative xmlns:adec="http://schemas.microsoft.com/office/drawing/2017/decorative" val="1"/>
              </a:ext>
            </a:extLst>
          </p:cNvPr>
          <p:cNvSpPr/>
          <p:nvPr/>
        </p:nvSpPr>
        <p:spPr>
          <a:xfrm>
            <a:off x="384048" y="0"/>
            <a:ext cx="45720" cy="6858000"/>
          </a:xfrm>
          <a:prstGeom prst="rect">
            <a:avLst/>
          </a:prstGeom>
          <a:solidFill>
            <a:srgbClr val="3FE08A"/>
          </a:solidFill>
          <a:ln w="12700">
            <a:solidFill>
              <a:srgbClr val="333333"/>
            </a:solidFill>
            <a:prstDash val="solid"/>
          </a:ln>
        </p:spPr>
        <p:txBody>
          <a:bodyPr/>
          <a:lstStyle/>
          <a:p>
            <a:endParaRPr lang="en-SE"/>
          </a:p>
        </p:txBody>
      </p:sp>
      <p:sp>
        <p:nvSpPr>
          <p:cNvPr id="30" name="Text 28"/>
          <p:cNvSpPr/>
          <p:nvPr/>
        </p:nvSpPr>
        <p:spPr>
          <a:xfrm>
            <a:off x="1280160" y="1691640"/>
            <a:ext cx="3657600" cy="1371600"/>
          </a:xfrm>
          <a:prstGeom prst="rect">
            <a:avLst/>
          </a:prstGeom>
          <a:noFill/>
          <a:ln/>
        </p:spPr>
        <p:txBody>
          <a:bodyPr wrap="square" lIns="0" tIns="0" rIns="0" bIns="0" rtlCol="0" anchor="ctr"/>
          <a:lstStyle/>
          <a:p>
            <a:pPr marL="0" indent="0">
              <a:buNone/>
            </a:pPr>
            <a:r>
              <a:rPr lang="en-US" sz="8400" b="1" dirty="0">
                <a:solidFill>
                  <a:srgbClr val="1E6E4B"/>
                </a:solidFill>
                <a:latin typeface="Consolas" pitchFamily="34" charset="0"/>
                <a:ea typeface="Consolas" pitchFamily="34" charset="-122"/>
                <a:cs typeface="Consolas" pitchFamily="34" charset="-120"/>
              </a:rPr>
              <a:t>04</a:t>
            </a:r>
            <a:endParaRPr lang="en-US" sz="8400" dirty="0"/>
          </a:p>
        </p:txBody>
      </p:sp>
      <p:sp>
        <p:nvSpPr>
          <p:cNvPr id="31" name="Text 0"/>
          <p:cNvSpPr>
            <a:spLocks noGrp="1"/>
          </p:cNvSpPr>
          <p:nvPr>
            <p:ph type="title" idx="100" hasCustomPrompt="1"/>
          </p:nvPr>
        </p:nvSpPr>
        <p:spPr>
          <a:xfrm>
            <a:off x="1371600" y="2788920"/>
            <a:ext cx="9418320" cy="1005840"/>
          </a:xfrm>
          <a:prstGeom prst="rect">
            <a:avLst/>
          </a:prstGeom>
          <a:noFill/>
          <a:ln/>
        </p:spPr>
        <p:txBody>
          <a:bodyPr wrap="square" lIns="0" tIns="0" rIns="0" bIns="0" rtlCol="0" anchor="ctr"/>
          <a:lstStyle/>
          <a:p>
            <a:pPr marL="0" indent="0">
              <a:buNone/>
            </a:pPr>
            <a:r>
              <a:rPr lang="en-US" sz="3600" b="1" dirty="0">
                <a:solidFill>
                  <a:srgbClr val="E6EDF3"/>
                </a:solidFill>
                <a:latin typeface="Segoe UI" pitchFamily="34" charset="0"/>
                <a:ea typeface="Segoe UI" pitchFamily="34" charset="-122"/>
                <a:cs typeface="Segoe UI" pitchFamily="34" charset="-120"/>
              </a:rPr>
              <a:t>Reading an information-dense screen</a:t>
            </a:r>
            <a:endParaRPr lang="en-US" sz="3600" dirty="0"/>
          </a:p>
        </p:txBody>
      </p:sp>
      <p:sp>
        <p:nvSpPr>
          <p:cNvPr id="32" name="Text 30"/>
          <p:cNvSpPr/>
          <p:nvPr/>
        </p:nvSpPr>
        <p:spPr>
          <a:xfrm>
            <a:off x="1371600" y="3931920"/>
            <a:ext cx="8778240" cy="822960"/>
          </a:xfrm>
          <a:prstGeom prst="rect">
            <a:avLst/>
          </a:prstGeom>
          <a:noFill/>
          <a:ln/>
        </p:spPr>
        <p:txBody>
          <a:bodyPr wrap="square" lIns="0" tIns="0" rIns="0" bIns="0" rtlCol="0" anchor="t"/>
          <a:lstStyle/>
          <a:p>
            <a:pPr marL="0" indent="0">
              <a:lnSpc>
                <a:spcPct val="115000"/>
              </a:lnSpc>
              <a:buNone/>
            </a:pPr>
            <a:r>
              <a:rPr lang="en-US" sz="1450" dirty="0">
                <a:solidFill>
                  <a:srgbClr val="AAB7C2"/>
                </a:solidFill>
                <a:latin typeface="Segoe UI" pitchFamily="34" charset="0"/>
                <a:ea typeface="Segoe UI" pitchFamily="34" charset="-122"/>
                <a:cs typeface="Segoe UI" pitchFamily="34" charset="-120"/>
              </a:rPr>
              <a:t>The screens are dense on purpose. Here is where a beginner most often misreads them.</a:t>
            </a:r>
            <a:endParaRPr lang="en-US" sz="1450" dirty="0"/>
          </a:p>
        </p:txBody>
      </p:sp>
      <p:sp>
        <p:nvSpPr>
          <p:cNvPr id="33" name="ticker bar">
            <a:extLst>
              <a:ext uri="{C183D7F6-B498-43B3-948B-1728B52AA6E4}">
                <adec:decorative xmlns:adec="http://schemas.microsoft.com/office/drawing/2017/decorative" val="1"/>
              </a:ext>
            </a:extLst>
          </p:cNvPr>
          <p:cNvSpPr/>
          <p:nvPr/>
        </p:nvSpPr>
        <p:spPr>
          <a:xfrm>
            <a:off x="1371600" y="5532120"/>
            <a:ext cx="164592" cy="137160"/>
          </a:xfrm>
          <a:prstGeom prst="rect">
            <a:avLst/>
          </a:prstGeom>
          <a:solidFill>
            <a:srgbClr val="1E6E4B"/>
          </a:solidFill>
          <a:ln w="12700">
            <a:solidFill>
              <a:srgbClr val="333333"/>
            </a:solidFill>
            <a:prstDash val="solid"/>
          </a:ln>
        </p:spPr>
        <p:txBody>
          <a:bodyPr/>
          <a:lstStyle/>
          <a:p>
            <a:endParaRPr lang="en-SE"/>
          </a:p>
        </p:txBody>
      </p:sp>
      <p:sp>
        <p:nvSpPr>
          <p:cNvPr id="34" name="ticker bar">
            <a:extLst>
              <a:ext uri="{C183D7F6-B498-43B3-948B-1728B52AA6E4}">
                <adec:decorative xmlns:adec="http://schemas.microsoft.com/office/drawing/2017/decorative" val="1"/>
              </a:ext>
            </a:extLst>
          </p:cNvPr>
          <p:cNvSpPr/>
          <p:nvPr/>
        </p:nvSpPr>
        <p:spPr>
          <a:xfrm>
            <a:off x="1682496" y="5367528"/>
            <a:ext cx="164592" cy="301752"/>
          </a:xfrm>
          <a:prstGeom prst="rect">
            <a:avLst/>
          </a:prstGeom>
          <a:solidFill>
            <a:srgbClr val="1E6E4B"/>
          </a:solidFill>
          <a:ln w="12700">
            <a:solidFill>
              <a:srgbClr val="333333"/>
            </a:solidFill>
            <a:prstDash val="solid"/>
          </a:ln>
        </p:spPr>
        <p:txBody>
          <a:bodyPr/>
          <a:lstStyle/>
          <a:p>
            <a:endParaRPr lang="en-SE"/>
          </a:p>
        </p:txBody>
      </p:sp>
      <p:sp>
        <p:nvSpPr>
          <p:cNvPr id="35" name="ticker bar">
            <a:extLst>
              <a:ext uri="{C183D7F6-B498-43B3-948B-1728B52AA6E4}">
                <adec:decorative xmlns:adec="http://schemas.microsoft.com/office/drawing/2017/decorative" val="1"/>
              </a:ext>
            </a:extLst>
          </p:cNvPr>
          <p:cNvSpPr/>
          <p:nvPr/>
        </p:nvSpPr>
        <p:spPr>
          <a:xfrm>
            <a:off x="1993392" y="5449824"/>
            <a:ext cx="164592" cy="219456"/>
          </a:xfrm>
          <a:prstGeom prst="rect">
            <a:avLst/>
          </a:prstGeom>
          <a:solidFill>
            <a:srgbClr val="1E6E4B"/>
          </a:solidFill>
          <a:ln w="12700">
            <a:solidFill>
              <a:srgbClr val="333333"/>
            </a:solidFill>
            <a:prstDash val="solid"/>
          </a:ln>
        </p:spPr>
        <p:txBody>
          <a:bodyPr/>
          <a:lstStyle/>
          <a:p>
            <a:endParaRPr lang="en-SE"/>
          </a:p>
        </p:txBody>
      </p:sp>
      <p:sp>
        <p:nvSpPr>
          <p:cNvPr id="36" name="ticker bar">
            <a:extLst>
              <a:ext uri="{C183D7F6-B498-43B3-948B-1728B52AA6E4}">
                <adec:decorative xmlns:adec="http://schemas.microsoft.com/office/drawing/2017/decorative" val="1"/>
              </a:ext>
            </a:extLst>
          </p:cNvPr>
          <p:cNvSpPr/>
          <p:nvPr/>
        </p:nvSpPr>
        <p:spPr>
          <a:xfrm>
            <a:off x="2304288" y="5230368"/>
            <a:ext cx="164592" cy="438912"/>
          </a:xfrm>
          <a:prstGeom prst="rect">
            <a:avLst/>
          </a:prstGeom>
          <a:solidFill>
            <a:srgbClr val="1E6E4B"/>
          </a:solidFill>
          <a:ln w="12700">
            <a:solidFill>
              <a:srgbClr val="333333"/>
            </a:solidFill>
            <a:prstDash val="solid"/>
          </a:ln>
        </p:spPr>
        <p:txBody>
          <a:bodyPr/>
          <a:lstStyle/>
          <a:p>
            <a:endParaRPr lang="en-SE"/>
          </a:p>
        </p:txBody>
      </p:sp>
      <p:sp>
        <p:nvSpPr>
          <p:cNvPr id="37" name="ticker bar">
            <a:extLst>
              <a:ext uri="{C183D7F6-B498-43B3-948B-1728B52AA6E4}">
                <adec:decorative xmlns:adec="http://schemas.microsoft.com/office/drawing/2017/decorative" val="1"/>
              </a:ext>
            </a:extLst>
          </p:cNvPr>
          <p:cNvSpPr/>
          <p:nvPr/>
        </p:nvSpPr>
        <p:spPr>
          <a:xfrm>
            <a:off x="2615184" y="5340096"/>
            <a:ext cx="164592" cy="329184"/>
          </a:xfrm>
          <a:prstGeom prst="rect">
            <a:avLst/>
          </a:prstGeom>
          <a:solidFill>
            <a:srgbClr val="1E6E4B"/>
          </a:solidFill>
          <a:ln w="12700">
            <a:solidFill>
              <a:srgbClr val="333333"/>
            </a:solidFill>
            <a:prstDash val="solid"/>
          </a:ln>
        </p:spPr>
        <p:txBody>
          <a:bodyPr/>
          <a:lstStyle/>
          <a:p>
            <a:endParaRPr lang="en-SE"/>
          </a:p>
        </p:txBody>
      </p:sp>
      <p:sp>
        <p:nvSpPr>
          <p:cNvPr id="38" name="ticker bar">
            <a:extLst>
              <a:ext uri="{C183D7F6-B498-43B3-948B-1728B52AA6E4}">
                <adec:decorative xmlns:adec="http://schemas.microsoft.com/office/drawing/2017/decorative" val="1"/>
              </a:ext>
            </a:extLst>
          </p:cNvPr>
          <p:cNvSpPr/>
          <p:nvPr/>
        </p:nvSpPr>
        <p:spPr>
          <a:xfrm>
            <a:off x="2926080" y="5120640"/>
            <a:ext cx="164592" cy="548640"/>
          </a:xfrm>
          <a:prstGeom prst="rect">
            <a:avLst/>
          </a:prstGeom>
          <a:solidFill>
            <a:srgbClr val="1E6E4B"/>
          </a:solidFill>
          <a:ln w="12700">
            <a:solidFill>
              <a:srgbClr val="333333"/>
            </a:solidFill>
            <a:prstDash val="solid"/>
          </a:ln>
        </p:spPr>
        <p:txBody>
          <a:bodyPr/>
          <a:lstStyle/>
          <a:p>
            <a:endParaRPr lang="en-SE"/>
          </a:p>
        </p:txBody>
      </p:sp>
      <p:sp>
        <p:nvSpPr>
          <p:cNvPr id="39" name="ticker bar">
            <a:extLst>
              <a:ext uri="{C183D7F6-B498-43B3-948B-1728B52AA6E4}">
                <adec:decorative xmlns:adec="http://schemas.microsoft.com/office/drawing/2017/decorative" val="1"/>
              </a:ext>
            </a:extLst>
          </p:cNvPr>
          <p:cNvSpPr/>
          <p:nvPr/>
        </p:nvSpPr>
        <p:spPr>
          <a:xfrm>
            <a:off x="3236976" y="5257800"/>
            <a:ext cx="164592" cy="411480"/>
          </a:xfrm>
          <a:prstGeom prst="rect">
            <a:avLst/>
          </a:prstGeom>
          <a:solidFill>
            <a:srgbClr val="1E6E4B"/>
          </a:solidFill>
          <a:ln w="12700">
            <a:solidFill>
              <a:srgbClr val="333333"/>
            </a:solidFill>
            <a:prstDash val="solid"/>
          </a:ln>
        </p:spPr>
        <p:txBody>
          <a:bodyPr/>
          <a:lstStyle/>
          <a:p>
            <a:endParaRPr lang="en-SE"/>
          </a:p>
        </p:txBody>
      </p:sp>
      <p:sp>
        <p:nvSpPr>
          <p:cNvPr id="40" name="ticker bar">
            <a:extLst>
              <a:ext uri="{C183D7F6-B498-43B3-948B-1728B52AA6E4}">
                <adec:decorative xmlns:adec="http://schemas.microsoft.com/office/drawing/2017/decorative" val="1"/>
              </a:ext>
            </a:extLst>
          </p:cNvPr>
          <p:cNvSpPr/>
          <p:nvPr/>
        </p:nvSpPr>
        <p:spPr>
          <a:xfrm>
            <a:off x="3547872" y="5010912"/>
            <a:ext cx="164592" cy="658368"/>
          </a:xfrm>
          <a:prstGeom prst="rect">
            <a:avLst/>
          </a:prstGeom>
          <a:solidFill>
            <a:srgbClr val="3FE08A"/>
          </a:solidFill>
          <a:ln w="12700">
            <a:solidFill>
              <a:srgbClr val="333333"/>
            </a:solidFill>
            <a:prstDash val="solid"/>
          </a:ln>
        </p:spPr>
        <p:txBody>
          <a:bodyPr/>
          <a:lstStyle/>
          <a:p>
            <a:endParaRPr lang="en-SE"/>
          </a:p>
        </p:txBody>
      </p:sp>
      <p:sp>
        <p:nvSpPr>
          <p:cNvPr id="41" name="ticker bar">
            <a:extLst>
              <a:ext uri="{C183D7F6-B498-43B3-948B-1728B52AA6E4}">
                <adec:decorative xmlns:adec="http://schemas.microsoft.com/office/drawing/2017/decorative" val="1"/>
              </a:ext>
            </a:extLst>
          </p:cNvPr>
          <p:cNvSpPr/>
          <p:nvPr/>
        </p:nvSpPr>
        <p:spPr>
          <a:xfrm>
            <a:off x="3858768" y="5148072"/>
            <a:ext cx="164592" cy="521208"/>
          </a:xfrm>
          <a:prstGeom prst="rect">
            <a:avLst/>
          </a:prstGeom>
          <a:solidFill>
            <a:srgbClr val="3FE08A"/>
          </a:solidFill>
          <a:ln w="12700">
            <a:solidFill>
              <a:srgbClr val="333333"/>
            </a:solidFill>
            <a:prstDash val="solid"/>
          </a:ln>
        </p:spPr>
        <p:txBody>
          <a:bodyPr/>
          <a:lstStyle/>
          <a:p>
            <a:endParaRPr lang="en-SE"/>
          </a:p>
        </p:txBody>
      </p:sp>
      <p:sp>
        <p:nvSpPr>
          <p:cNvPr id="42" name="ticker bar">
            <a:extLst>
              <a:ext uri="{C183D7F6-B498-43B3-948B-1728B52AA6E4}">
                <adec:decorative xmlns:adec="http://schemas.microsoft.com/office/drawing/2017/decorative" val="1"/>
              </a:ext>
            </a:extLst>
          </p:cNvPr>
          <p:cNvSpPr/>
          <p:nvPr/>
        </p:nvSpPr>
        <p:spPr>
          <a:xfrm>
            <a:off x="4169664" y="4928616"/>
            <a:ext cx="164592" cy="740664"/>
          </a:xfrm>
          <a:prstGeom prst="rect">
            <a:avLst/>
          </a:prstGeom>
          <a:solidFill>
            <a:srgbClr val="3FE08A"/>
          </a:solidFill>
          <a:ln w="12700">
            <a:solidFill>
              <a:srgbClr val="333333"/>
            </a:solidFill>
            <a:prstDash val="solid"/>
          </a:ln>
        </p:spPr>
        <p:txBody>
          <a:bodyPr/>
          <a:lstStyle/>
          <a:p>
            <a:endParaRPr lang="en-SE"/>
          </a:p>
        </p:txBody>
      </p:sp>
      <p:sp>
        <p:nvSpPr>
          <p:cNvPr id="43"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44"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45" name="Text 43"/>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46" name="Text 44"/>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47" name="Text 45"/>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29</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Six things to watch out for</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04 · READING THE SCREENS</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30</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Each of these is a case where the screen is telling the truth, but the obvious reading of it is wrong.</a:t>
            </a:r>
            <a:endParaRPr lang="en-US" sz="1400" dirty="0"/>
          </a:p>
        </p:txBody>
      </p:sp>
      <p:sp>
        <p:nvSpPr>
          <p:cNvPr id="38" name="panel">
            <a:extLst>
              <a:ext uri="{C183D7F6-B498-43B3-948B-1728B52AA6E4}">
                <adec:decorative xmlns:adec="http://schemas.microsoft.com/office/drawing/2017/decorative" val="1"/>
              </a:ext>
            </a:extLst>
          </p:cNvPr>
          <p:cNvSpPr/>
          <p:nvPr/>
        </p:nvSpPr>
        <p:spPr>
          <a:xfrm>
            <a:off x="566928" y="1874520"/>
            <a:ext cx="3474720" cy="201168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sz="2400"/>
          </a:p>
        </p:txBody>
      </p:sp>
      <p:sp>
        <p:nvSpPr>
          <p:cNvPr id="39" name="panel accent">
            <a:extLst>
              <a:ext uri="{C183D7F6-B498-43B3-948B-1728B52AA6E4}">
                <adec:decorative xmlns:adec="http://schemas.microsoft.com/office/drawing/2017/decorative" val="1"/>
              </a:ext>
            </a:extLst>
          </p:cNvPr>
          <p:cNvSpPr/>
          <p:nvPr/>
        </p:nvSpPr>
        <p:spPr>
          <a:xfrm>
            <a:off x="566928" y="1874520"/>
            <a:ext cx="3474720" cy="50292"/>
          </a:xfrm>
          <a:prstGeom prst="rect">
            <a:avLst/>
          </a:prstGeom>
          <a:solidFill>
            <a:srgbClr val="F5A524"/>
          </a:solidFill>
          <a:ln w="12700">
            <a:solidFill>
              <a:srgbClr val="333333"/>
            </a:solidFill>
            <a:prstDash val="solid"/>
          </a:ln>
        </p:spPr>
        <p:txBody>
          <a:bodyPr/>
          <a:lstStyle/>
          <a:p>
            <a:endParaRPr lang="en-SE" sz="2400"/>
          </a:p>
        </p:txBody>
      </p:sp>
      <p:sp>
        <p:nvSpPr>
          <p:cNvPr id="40" name="number badge background">
            <a:extLst>
              <a:ext uri="{C183D7F6-B498-43B3-948B-1728B52AA6E4}">
                <adec:decorative xmlns:adec="http://schemas.microsoft.com/office/drawing/2017/decorative" val="1"/>
              </a:ext>
            </a:extLst>
          </p:cNvPr>
          <p:cNvSpPr/>
          <p:nvPr/>
        </p:nvSpPr>
        <p:spPr>
          <a:xfrm>
            <a:off x="804672" y="2130552"/>
            <a:ext cx="365760" cy="365760"/>
          </a:xfrm>
          <a:prstGeom prst="ellipse">
            <a:avLst/>
          </a:prstGeom>
          <a:solidFill>
            <a:srgbClr val="6B4A0F"/>
          </a:solidFill>
          <a:ln w="12700">
            <a:solidFill>
              <a:srgbClr val="333333"/>
            </a:solidFill>
            <a:prstDash val="solid"/>
          </a:ln>
        </p:spPr>
        <p:txBody>
          <a:bodyPr/>
          <a:lstStyle/>
          <a:p>
            <a:endParaRPr lang="en-SE" sz="2400"/>
          </a:p>
        </p:txBody>
      </p:sp>
      <p:sp>
        <p:nvSpPr>
          <p:cNvPr id="41" name="Text 39"/>
          <p:cNvSpPr/>
          <p:nvPr/>
        </p:nvSpPr>
        <p:spPr>
          <a:xfrm>
            <a:off x="804672" y="2130552"/>
            <a:ext cx="365760" cy="365760"/>
          </a:xfrm>
          <a:prstGeom prst="rect">
            <a:avLst/>
          </a:prstGeom>
          <a:noFill/>
          <a:ln/>
        </p:spPr>
        <p:txBody>
          <a:bodyPr wrap="square" lIns="0" tIns="0" rIns="0" bIns="0" rtlCol="0" anchor="ctr"/>
          <a:lstStyle/>
          <a:p>
            <a:pPr marL="0" indent="0" algn="ctr">
              <a:buNone/>
            </a:pPr>
            <a:r>
              <a:rPr lang="en-US" sz="2400" b="1" dirty="0">
                <a:solidFill>
                  <a:srgbClr val="F5A524"/>
                </a:solidFill>
                <a:latin typeface="Consolas" pitchFamily="34" charset="0"/>
                <a:ea typeface="Consolas" pitchFamily="34" charset="-122"/>
                <a:cs typeface="Consolas" pitchFamily="34" charset="-120"/>
              </a:rPr>
              <a:t>1</a:t>
            </a:r>
            <a:endParaRPr lang="en-US" sz="2400" dirty="0"/>
          </a:p>
        </p:txBody>
      </p:sp>
      <p:sp>
        <p:nvSpPr>
          <p:cNvPr id="42" name="Text 40"/>
          <p:cNvSpPr/>
          <p:nvPr/>
        </p:nvSpPr>
        <p:spPr>
          <a:xfrm>
            <a:off x="1280160" y="2112264"/>
            <a:ext cx="2514600" cy="502920"/>
          </a:xfrm>
          <a:prstGeom prst="rect">
            <a:avLst/>
          </a:prstGeom>
          <a:noFill/>
          <a:ln/>
        </p:spPr>
        <p:txBody>
          <a:bodyPr wrap="square" lIns="0" tIns="0" rIns="0" bIns="0" rtlCol="0" anchor="ctr"/>
          <a:lstStyle/>
          <a:p>
            <a:pPr marL="0" indent="0">
              <a:lnSpc>
                <a:spcPct val="105000"/>
              </a:lnSpc>
              <a:buNone/>
            </a:pPr>
            <a:r>
              <a:rPr lang="en-US" sz="1600" b="1" dirty="0">
                <a:solidFill>
                  <a:srgbClr val="E6EDF3"/>
                </a:solidFill>
                <a:latin typeface="Segoe UI" pitchFamily="34" charset="0"/>
                <a:ea typeface="Segoe UI" pitchFamily="34" charset="-122"/>
                <a:cs typeface="Segoe UI" pitchFamily="34" charset="-120"/>
              </a:rPr>
              <a:t>No badge is good news</a:t>
            </a:r>
            <a:endParaRPr lang="en-US" sz="1600" dirty="0"/>
          </a:p>
        </p:txBody>
      </p:sp>
      <p:sp>
        <p:nvSpPr>
          <p:cNvPr id="43" name="Text 41"/>
          <p:cNvSpPr/>
          <p:nvPr/>
        </p:nvSpPr>
        <p:spPr>
          <a:xfrm>
            <a:off x="804672" y="2715768"/>
            <a:ext cx="3017520" cy="1051560"/>
          </a:xfrm>
          <a:prstGeom prst="rect">
            <a:avLst/>
          </a:prstGeom>
          <a:noFill/>
          <a:ln/>
        </p:spPr>
        <p:txBody>
          <a:bodyPr wrap="square" lIns="0" tIns="0" rIns="0" bIns="0" rtlCol="0" anchor="ctr"/>
          <a:lstStyle/>
          <a:p>
            <a:pPr marL="0" indent="0">
              <a:lnSpc>
                <a:spcPct val="112000"/>
              </a:lnSpc>
              <a:buNone/>
            </a:pPr>
            <a:r>
              <a:rPr lang="en-US" sz="1200" dirty="0">
                <a:solidFill>
                  <a:srgbClr val="AAB7C2"/>
                </a:solidFill>
                <a:latin typeface="Segoe UI" pitchFamily="34" charset="0"/>
                <a:ea typeface="Segoe UI" pitchFamily="34" charset="-122"/>
                <a:cs typeface="Segoe UI" pitchFamily="34" charset="-120"/>
              </a:rPr>
              <a:t>During normal continuous trading the status strip shows no phase badge at all. Absence of a badge is the "everything is normal" signal — do not read it as missing information.</a:t>
            </a:r>
            <a:endParaRPr lang="en-US" sz="1200" dirty="0"/>
          </a:p>
        </p:txBody>
      </p:sp>
      <p:sp>
        <p:nvSpPr>
          <p:cNvPr id="44" name="panel">
            <a:extLst>
              <a:ext uri="{C183D7F6-B498-43B3-948B-1728B52AA6E4}">
                <adec:decorative xmlns:adec="http://schemas.microsoft.com/office/drawing/2017/decorative" val="1"/>
              </a:ext>
            </a:extLst>
          </p:cNvPr>
          <p:cNvSpPr/>
          <p:nvPr/>
        </p:nvSpPr>
        <p:spPr>
          <a:xfrm>
            <a:off x="4279392" y="1874520"/>
            <a:ext cx="3474720" cy="201168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sz="2400"/>
          </a:p>
        </p:txBody>
      </p:sp>
      <p:sp>
        <p:nvSpPr>
          <p:cNvPr id="45" name="panel accent">
            <a:extLst>
              <a:ext uri="{C183D7F6-B498-43B3-948B-1728B52AA6E4}">
                <adec:decorative xmlns:adec="http://schemas.microsoft.com/office/drawing/2017/decorative" val="1"/>
              </a:ext>
            </a:extLst>
          </p:cNvPr>
          <p:cNvSpPr/>
          <p:nvPr/>
        </p:nvSpPr>
        <p:spPr>
          <a:xfrm>
            <a:off x="4279392" y="1874520"/>
            <a:ext cx="3474720" cy="50292"/>
          </a:xfrm>
          <a:prstGeom prst="rect">
            <a:avLst/>
          </a:prstGeom>
          <a:solidFill>
            <a:srgbClr val="F5A524"/>
          </a:solidFill>
          <a:ln w="12700">
            <a:solidFill>
              <a:srgbClr val="333333"/>
            </a:solidFill>
            <a:prstDash val="solid"/>
          </a:ln>
        </p:spPr>
        <p:txBody>
          <a:bodyPr/>
          <a:lstStyle/>
          <a:p>
            <a:endParaRPr lang="en-SE" sz="2400"/>
          </a:p>
        </p:txBody>
      </p:sp>
      <p:sp>
        <p:nvSpPr>
          <p:cNvPr id="46" name="number badge background">
            <a:extLst>
              <a:ext uri="{C183D7F6-B498-43B3-948B-1728B52AA6E4}">
                <adec:decorative xmlns:adec="http://schemas.microsoft.com/office/drawing/2017/decorative" val="1"/>
              </a:ext>
            </a:extLst>
          </p:cNvPr>
          <p:cNvSpPr/>
          <p:nvPr/>
        </p:nvSpPr>
        <p:spPr>
          <a:xfrm>
            <a:off x="4517136" y="2130552"/>
            <a:ext cx="365760" cy="365760"/>
          </a:xfrm>
          <a:prstGeom prst="ellipse">
            <a:avLst/>
          </a:prstGeom>
          <a:solidFill>
            <a:srgbClr val="6B4A0F"/>
          </a:solidFill>
          <a:ln w="12700">
            <a:solidFill>
              <a:srgbClr val="333333"/>
            </a:solidFill>
            <a:prstDash val="solid"/>
          </a:ln>
        </p:spPr>
        <p:txBody>
          <a:bodyPr/>
          <a:lstStyle/>
          <a:p>
            <a:endParaRPr lang="en-SE" sz="2400"/>
          </a:p>
        </p:txBody>
      </p:sp>
      <p:sp>
        <p:nvSpPr>
          <p:cNvPr id="47" name="Text 45"/>
          <p:cNvSpPr/>
          <p:nvPr/>
        </p:nvSpPr>
        <p:spPr>
          <a:xfrm>
            <a:off x="4517136" y="2130552"/>
            <a:ext cx="365760" cy="365760"/>
          </a:xfrm>
          <a:prstGeom prst="rect">
            <a:avLst/>
          </a:prstGeom>
          <a:noFill/>
          <a:ln/>
        </p:spPr>
        <p:txBody>
          <a:bodyPr wrap="square" lIns="0" tIns="0" rIns="0" bIns="0" rtlCol="0" anchor="ctr"/>
          <a:lstStyle/>
          <a:p>
            <a:pPr marL="0" indent="0" algn="ctr">
              <a:buNone/>
            </a:pPr>
            <a:r>
              <a:rPr lang="en-US" sz="2400" b="1" dirty="0">
                <a:solidFill>
                  <a:srgbClr val="F5A524"/>
                </a:solidFill>
                <a:latin typeface="Consolas" pitchFamily="34" charset="0"/>
                <a:ea typeface="Consolas" pitchFamily="34" charset="-122"/>
                <a:cs typeface="Consolas" pitchFamily="34" charset="-120"/>
              </a:rPr>
              <a:t>2</a:t>
            </a:r>
            <a:endParaRPr lang="en-US" sz="2400" dirty="0"/>
          </a:p>
        </p:txBody>
      </p:sp>
      <p:sp>
        <p:nvSpPr>
          <p:cNvPr id="48" name="Text 46"/>
          <p:cNvSpPr/>
          <p:nvPr/>
        </p:nvSpPr>
        <p:spPr>
          <a:xfrm>
            <a:off x="4992624" y="2112264"/>
            <a:ext cx="2514600" cy="502920"/>
          </a:xfrm>
          <a:prstGeom prst="rect">
            <a:avLst/>
          </a:prstGeom>
          <a:noFill/>
          <a:ln/>
        </p:spPr>
        <p:txBody>
          <a:bodyPr wrap="square" lIns="0" tIns="0" rIns="0" bIns="0" rtlCol="0" anchor="ctr"/>
          <a:lstStyle/>
          <a:p>
            <a:pPr marL="0" indent="0">
              <a:lnSpc>
                <a:spcPct val="105000"/>
              </a:lnSpc>
              <a:buNone/>
            </a:pPr>
            <a:r>
              <a:rPr lang="en-US" sz="1600" b="1" dirty="0">
                <a:solidFill>
                  <a:srgbClr val="E6EDF3"/>
                </a:solidFill>
                <a:latin typeface="Segoe UI" pitchFamily="34" charset="0"/>
                <a:ea typeface="Segoe UI" pitchFamily="34" charset="-122"/>
                <a:cs typeface="Segoe UI" pitchFamily="34" charset="-120"/>
              </a:rPr>
              <a:t>Connected ≠ flowing</a:t>
            </a:r>
            <a:endParaRPr lang="en-US" sz="1600" dirty="0"/>
          </a:p>
        </p:txBody>
      </p:sp>
      <p:sp>
        <p:nvSpPr>
          <p:cNvPr id="49" name="Text 47"/>
          <p:cNvSpPr/>
          <p:nvPr/>
        </p:nvSpPr>
        <p:spPr>
          <a:xfrm>
            <a:off x="4517136" y="2715768"/>
            <a:ext cx="3017520" cy="1051560"/>
          </a:xfrm>
          <a:prstGeom prst="rect">
            <a:avLst/>
          </a:prstGeom>
          <a:noFill/>
          <a:ln/>
        </p:spPr>
        <p:txBody>
          <a:bodyPr wrap="square" lIns="0" tIns="0" rIns="0" bIns="0" rtlCol="0" anchor="ctr"/>
          <a:lstStyle/>
          <a:p>
            <a:pPr marL="0" indent="0">
              <a:lnSpc>
                <a:spcPct val="112000"/>
              </a:lnSpc>
              <a:buNone/>
            </a:pPr>
            <a:r>
              <a:rPr lang="en-US" sz="1200" dirty="0">
                <a:solidFill>
                  <a:srgbClr val="AAB7C2"/>
                </a:solidFill>
                <a:latin typeface="Segoe UI" pitchFamily="34" charset="0"/>
                <a:ea typeface="Segoe UI" pitchFamily="34" charset="-122"/>
                <a:cs typeface="Segoe UI" pitchFamily="34" charset="-120"/>
              </a:rPr>
              <a:t>A healthy connection with a climbing tick age means the feed has gone silent behind an open pipe. Read both numbers together, every time.</a:t>
            </a:r>
            <a:endParaRPr lang="en-US" sz="1200" dirty="0"/>
          </a:p>
        </p:txBody>
      </p:sp>
      <p:sp>
        <p:nvSpPr>
          <p:cNvPr id="50" name="panel">
            <a:extLst>
              <a:ext uri="{C183D7F6-B498-43B3-948B-1728B52AA6E4}">
                <adec:decorative xmlns:adec="http://schemas.microsoft.com/office/drawing/2017/decorative" val="1"/>
              </a:ext>
            </a:extLst>
          </p:cNvPr>
          <p:cNvSpPr/>
          <p:nvPr/>
        </p:nvSpPr>
        <p:spPr>
          <a:xfrm>
            <a:off x="7991856" y="1874520"/>
            <a:ext cx="3474720" cy="201168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sz="2400"/>
          </a:p>
        </p:txBody>
      </p:sp>
      <p:sp>
        <p:nvSpPr>
          <p:cNvPr id="51" name="panel accent">
            <a:extLst>
              <a:ext uri="{C183D7F6-B498-43B3-948B-1728B52AA6E4}">
                <adec:decorative xmlns:adec="http://schemas.microsoft.com/office/drawing/2017/decorative" val="1"/>
              </a:ext>
            </a:extLst>
          </p:cNvPr>
          <p:cNvSpPr/>
          <p:nvPr/>
        </p:nvSpPr>
        <p:spPr>
          <a:xfrm>
            <a:off x="7991856" y="1874520"/>
            <a:ext cx="3474720" cy="50292"/>
          </a:xfrm>
          <a:prstGeom prst="rect">
            <a:avLst/>
          </a:prstGeom>
          <a:solidFill>
            <a:srgbClr val="F5A524"/>
          </a:solidFill>
          <a:ln w="12700">
            <a:solidFill>
              <a:srgbClr val="333333"/>
            </a:solidFill>
            <a:prstDash val="solid"/>
          </a:ln>
        </p:spPr>
        <p:txBody>
          <a:bodyPr/>
          <a:lstStyle/>
          <a:p>
            <a:endParaRPr lang="en-SE" sz="2400"/>
          </a:p>
        </p:txBody>
      </p:sp>
      <p:sp>
        <p:nvSpPr>
          <p:cNvPr id="52" name="number badge background">
            <a:extLst>
              <a:ext uri="{C183D7F6-B498-43B3-948B-1728B52AA6E4}">
                <adec:decorative xmlns:adec="http://schemas.microsoft.com/office/drawing/2017/decorative" val="1"/>
              </a:ext>
            </a:extLst>
          </p:cNvPr>
          <p:cNvSpPr/>
          <p:nvPr/>
        </p:nvSpPr>
        <p:spPr>
          <a:xfrm>
            <a:off x="8229600" y="2130552"/>
            <a:ext cx="365760" cy="365760"/>
          </a:xfrm>
          <a:prstGeom prst="ellipse">
            <a:avLst/>
          </a:prstGeom>
          <a:solidFill>
            <a:srgbClr val="6B4A0F"/>
          </a:solidFill>
          <a:ln w="12700">
            <a:solidFill>
              <a:srgbClr val="333333"/>
            </a:solidFill>
            <a:prstDash val="solid"/>
          </a:ln>
        </p:spPr>
        <p:txBody>
          <a:bodyPr/>
          <a:lstStyle/>
          <a:p>
            <a:endParaRPr lang="en-SE" sz="2400"/>
          </a:p>
        </p:txBody>
      </p:sp>
      <p:sp>
        <p:nvSpPr>
          <p:cNvPr id="53" name="Text 51"/>
          <p:cNvSpPr/>
          <p:nvPr/>
        </p:nvSpPr>
        <p:spPr>
          <a:xfrm>
            <a:off x="8229600" y="2130552"/>
            <a:ext cx="365760" cy="365760"/>
          </a:xfrm>
          <a:prstGeom prst="rect">
            <a:avLst/>
          </a:prstGeom>
          <a:noFill/>
          <a:ln/>
        </p:spPr>
        <p:txBody>
          <a:bodyPr wrap="square" lIns="0" tIns="0" rIns="0" bIns="0" rtlCol="0" anchor="ctr"/>
          <a:lstStyle/>
          <a:p>
            <a:pPr marL="0" indent="0" algn="ctr">
              <a:buNone/>
            </a:pPr>
            <a:r>
              <a:rPr lang="en-US" sz="2400" b="1" dirty="0">
                <a:solidFill>
                  <a:srgbClr val="F5A524"/>
                </a:solidFill>
                <a:latin typeface="Consolas" pitchFamily="34" charset="0"/>
                <a:ea typeface="Consolas" pitchFamily="34" charset="-122"/>
                <a:cs typeface="Consolas" pitchFamily="34" charset="-120"/>
              </a:rPr>
              <a:t>3</a:t>
            </a:r>
            <a:endParaRPr lang="en-US" sz="2400" dirty="0"/>
          </a:p>
        </p:txBody>
      </p:sp>
      <p:sp>
        <p:nvSpPr>
          <p:cNvPr id="54" name="Text 52"/>
          <p:cNvSpPr/>
          <p:nvPr/>
        </p:nvSpPr>
        <p:spPr>
          <a:xfrm>
            <a:off x="8705088" y="2112264"/>
            <a:ext cx="2514600" cy="502920"/>
          </a:xfrm>
          <a:prstGeom prst="rect">
            <a:avLst/>
          </a:prstGeom>
          <a:noFill/>
          <a:ln/>
        </p:spPr>
        <p:txBody>
          <a:bodyPr wrap="square" lIns="0" tIns="0" rIns="0" bIns="0" rtlCol="0" anchor="ctr"/>
          <a:lstStyle/>
          <a:p>
            <a:pPr marL="0" indent="0">
              <a:lnSpc>
                <a:spcPct val="105000"/>
              </a:lnSpc>
              <a:buNone/>
            </a:pPr>
            <a:r>
              <a:rPr lang="en-US" sz="1600" b="1" dirty="0">
                <a:solidFill>
                  <a:srgbClr val="E6EDF3"/>
                </a:solidFill>
                <a:latin typeface="Segoe UI" pitchFamily="34" charset="0"/>
                <a:ea typeface="Segoe UI" pitchFamily="34" charset="-122"/>
                <a:cs typeface="Segoe UI" pitchFamily="34" charset="-120"/>
              </a:rPr>
              <a:t>A faded row is stale, not broken</a:t>
            </a:r>
            <a:endParaRPr lang="en-US" sz="1600" dirty="0"/>
          </a:p>
        </p:txBody>
      </p:sp>
      <p:sp>
        <p:nvSpPr>
          <p:cNvPr id="55" name="Text 53"/>
          <p:cNvSpPr/>
          <p:nvPr/>
        </p:nvSpPr>
        <p:spPr>
          <a:xfrm>
            <a:off x="8229600" y="2715768"/>
            <a:ext cx="3017520" cy="1051560"/>
          </a:xfrm>
          <a:prstGeom prst="rect">
            <a:avLst/>
          </a:prstGeom>
          <a:noFill/>
          <a:ln/>
        </p:spPr>
        <p:txBody>
          <a:bodyPr wrap="square" lIns="0" tIns="0" rIns="0" bIns="0" rtlCol="0" anchor="ctr"/>
          <a:lstStyle/>
          <a:p>
            <a:pPr marL="0" indent="0">
              <a:lnSpc>
                <a:spcPct val="112000"/>
              </a:lnSpc>
              <a:buNone/>
            </a:pPr>
            <a:r>
              <a:rPr lang="en-US" sz="1200" dirty="0">
                <a:solidFill>
                  <a:srgbClr val="AAB7C2"/>
                </a:solidFill>
                <a:latin typeface="Segoe UI" pitchFamily="34" charset="0"/>
                <a:ea typeface="Segoe UI" pitchFamily="34" charset="-122"/>
                <a:cs typeface="Segoe UI" pitchFamily="34" charset="-120"/>
              </a:rPr>
              <a:t>Fading means that symbol has simply not traded or quoted within your configured silence threshold. On a thin classroom market this is normal.</a:t>
            </a:r>
            <a:endParaRPr lang="en-US" sz="1200" dirty="0"/>
          </a:p>
        </p:txBody>
      </p:sp>
      <p:sp>
        <p:nvSpPr>
          <p:cNvPr id="56" name="panel">
            <a:extLst>
              <a:ext uri="{C183D7F6-B498-43B3-948B-1728B52AA6E4}">
                <adec:decorative xmlns:adec="http://schemas.microsoft.com/office/drawing/2017/decorative" val="1"/>
              </a:ext>
            </a:extLst>
          </p:cNvPr>
          <p:cNvSpPr/>
          <p:nvPr/>
        </p:nvSpPr>
        <p:spPr>
          <a:xfrm>
            <a:off x="566928" y="4114800"/>
            <a:ext cx="3474720" cy="201168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sz="2400"/>
          </a:p>
        </p:txBody>
      </p:sp>
      <p:sp>
        <p:nvSpPr>
          <p:cNvPr id="57" name="panel accent">
            <a:extLst>
              <a:ext uri="{C183D7F6-B498-43B3-948B-1728B52AA6E4}">
                <adec:decorative xmlns:adec="http://schemas.microsoft.com/office/drawing/2017/decorative" val="1"/>
              </a:ext>
            </a:extLst>
          </p:cNvPr>
          <p:cNvSpPr/>
          <p:nvPr/>
        </p:nvSpPr>
        <p:spPr>
          <a:xfrm>
            <a:off x="566928" y="4114800"/>
            <a:ext cx="3474720" cy="50292"/>
          </a:xfrm>
          <a:prstGeom prst="rect">
            <a:avLst/>
          </a:prstGeom>
          <a:solidFill>
            <a:srgbClr val="F5A524"/>
          </a:solidFill>
          <a:ln w="12700">
            <a:solidFill>
              <a:srgbClr val="333333"/>
            </a:solidFill>
            <a:prstDash val="solid"/>
          </a:ln>
        </p:spPr>
        <p:txBody>
          <a:bodyPr/>
          <a:lstStyle/>
          <a:p>
            <a:endParaRPr lang="en-SE" sz="2400"/>
          </a:p>
        </p:txBody>
      </p:sp>
      <p:sp>
        <p:nvSpPr>
          <p:cNvPr id="58" name="number badge background">
            <a:extLst>
              <a:ext uri="{C183D7F6-B498-43B3-948B-1728B52AA6E4}">
                <adec:decorative xmlns:adec="http://schemas.microsoft.com/office/drawing/2017/decorative" val="1"/>
              </a:ext>
            </a:extLst>
          </p:cNvPr>
          <p:cNvSpPr/>
          <p:nvPr/>
        </p:nvSpPr>
        <p:spPr>
          <a:xfrm>
            <a:off x="804672" y="4370832"/>
            <a:ext cx="365760" cy="365760"/>
          </a:xfrm>
          <a:prstGeom prst="ellipse">
            <a:avLst/>
          </a:prstGeom>
          <a:solidFill>
            <a:srgbClr val="6B4A0F"/>
          </a:solidFill>
          <a:ln w="12700">
            <a:solidFill>
              <a:srgbClr val="333333"/>
            </a:solidFill>
            <a:prstDash val="solid"/>
          </a:ln>
        </p:spPr>
        <p:txBody>
          <a:bodyPr/>
          <a:lstStyle/>
          <a:p>
            <a:endParaRPr lang="en-SE" sz="2400"/>
          </a:p>
        </p:txBody>
      </p:sp>
      <p:sp>
        <p:nvSpPr>
          <p:cNvPr id="59" name="Text 57"/>
          <p:cNvSpPr/>
          <p:nvPr/>
        </p:nvSpPr>
        <p:spPr>
          <a:xfrm>
            <a:off x="804672" y="4370832"/>
            <a:ext cx="365760" cy="365760"/>
          </a:xfrm>
          <a:prstGeom prst="rect">
            <a:avLst/>
          </a:prstGeom>
          <a:noFill/>
          <a:ln/>
        </p:spPr>
        <p:txBody>
          <a:bodyPr wrap="square" lIns="0" tIns="0" rIns="0" bIns="0" rtlCol="0" anchor="ctr"/>
          <a:lstStyle/>
          <a:p>
            <a:pPr marL="0" indent="0" algn="ctr">
              <a:buNone/>
            </a:pPr>
            <a:r>
              <a:rPr lang="en-US" sz="2400" b="1" dirty="0">
                <a:solidFill>
                  <a:srgbClr val="F5A524"/>
                </a:solidFill>
                <a:latin typeface="Consolas" pitchFamily="34" charset="0"/>
                <a:ea typeface="Consolas" pitchFamily="34" charset="-122"/>
                <a:cs typeface="Consolas" pitchFamily="34" charset="-120"/>
              </a:rPr>
              <a:t>4</a:t>
            </a:r>
            <a:endParaRPr lang="en-US" sz="2400" dirty="0"/>
          </a:p>
        </p:txBody>
      </p:sp>
      <p:sp>
        <p:nvSpPr>
          <p:cNvPr id="60" name="Text 58"/>
          <p:cNvSpPr/>
          <p:nvPr/>
        </p:nvSpPr>
        <p:spPr>
          <a:xfrm>
            <a:off x="1280160" y="4352544"/>
            <a:ext cx="2514600" cy="502920"/>
          </a:xfrm>
          <a:prstGeom prst="rect">
            <a:avLst/>
          </a:prstGeom>
          <a:noFill/>
          <a:ln/>
        </p:spPr>
        <p:txBody>
          <a:bodyPr wrap="square" lIns="0" tIns="0" rIns="0" bIns="0" rtlCol="0" anchor="ctr"/>
          <a:lstStyle/>
          <a:p>
            <a:pPr marL="0" indent="0">
              <a:lnSpc>
                <a:spcPct val="105000"/>
              </a:lnSpc>
              <a:buNone/>
            </a:pPr>
            <a:r>
              <a:rPr lang="en-US" sz="1600" b="1" dirty="0">
                <a:solidFill>
                  <a:srgbClr val="E6EDF3"/>
                </a:solidFill>
                <a:latin typeface="Segoe UI" pitchFamily="34" charset="0"/>
                <a:ea typeface="Segoe UI" pitchFamily="34" charset="-122"/>
                <a:cs typeface="Segoe UI" pitchFamily="34" charset="-120"/>
              </a:rPr>
              <a:t>The little asterisk changes the meaning</a:t>
            </a:r>
            <a:endParaRPr lang="en-US" sz="1600" dirty="0"/>
          </a:p>
        </p:txBody>
      </p:sp>
      <p:sp>
        <p:nvSpPr>
          <p:cNvPr id="61" name="Text 59"/>
          <p:cNvSpPr/>
          <p:nvPr/>
        </p:nvSpPr>
        <p:spPr>
          <a:xfrm>
            <a:off x="804672" y="4956048"/>
            <a:ext cx="3017520" cy="1051560"/>
          </a:xfrm>
          <a:prstGeom prst="rect">
            <a:avLst/>
          </a:prstGeom>
          <a:noFill/>
          <a:ln/>
        </p:spPr>
        <p:txBody>
          <a:bodyPr wrap="square" lIns="0" tIns="0" rIns="0" bIns="0" rtlCol="0" anchor="ctr"/>
          <a:lstStyle/>
          <a:p>
            <a:pPr marL="0" indent="0">
              <a:lnSpc>
                <a:spcPct val="112000"/>
              </a:lnSpc>
              <a:buNone/>
            </a:pPr>
            <a:r>
              <a:rPr lang="en-US" sz="1200" dirty="0">
                <a:solidFill>
                  <a:srgbClr val="AAB7C2"/>
                </a:solidFill>
                <a:latin typeface="Segoe UI" pitchFamily="34" charset="0"/>
                <a:ea typeface="Segoe UI" pitchFamily="34" charset="-122"/>
                <a:cs typeface="Segoe UI" pitchFamily="34" charset="-120"/>
              </a:rPr>
              <a:t>A * on percentage change means it is measured from today's open, not the previous close. Two symbols on the same board can be quoting against different baselines.</a:t>
            </a:r>
            <a:endParaRPr lang="en-US" sz="1200" dirty="0"/>
          </a:p>
        </p:txBody>
      </p:sp>
      <p:sp>
        <p:nvSpPr>
          <p:cNvPr id="62" name="panel">
            <a:extLst>
              <a:ext uri="{C183D7F6-B498-43B3-948B-1728B52AA6E4}">
                <adec:decorative xmlns:adec="http://schemas.microsoft.com/office/drawing/2017/decorative" val="1"/>
              </a:ext>
            </a:extLst>
          </p:cNvPr>
          <p:cNvSpPr/>
          <p:nvPr/>
        </p:nvSpPr>
        <p:spPr>
          <a:xfrm>
            <a:off x="4279392" y="4114800"/>
            <a:ext cx="3474720" cy="201168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sz="2400"/>
          </a:p>
        </p:txBody>
      </p:sp>
      <p:sp>
        <p:nvSpPr>
          <p:cNvPr id="63" name="panel accent">
            <a:extLst>
              <a:ext uri="{C183D7F6-B498-43B3-948B-1728B52AA6E4}">
                <adec:decorative xmlns:adec="http://schemas.microsoft.com/office/drawing/2017/decorative" val="1"/>
              </a:ext>
            </a:extLst>
          </p:cNvPr>
          <p:cNvSpPr/>
          <p:nvPr/>
        </p:nvSpPr>
        <p:spPr>
          <a:xfrm>
            <a:off x="4279392" y="4114800"/>
            <a:ext cx="3474720" cy="50292"/>
          </a:xfrm>
          <a:prstGeom prst="rect">
            <a:avLst/>
          </a:prstGeom>
          <a:solidFill>
            <a:srgbClr val="F5A524"/>
          </a:solidFill>
          <a:ln w="12700">
            <a:solidFill>
              <a:srgbClr val="333333"/>
            </a:solidFill>
            <a:prstDash val="solid"/>
          </a:ln>
        </p:spPr>
        <p:txBody>
          <a:bodyPr/>
          <a:lstStyle/>
          <a:p>
            <a:endParaRPr lang="en-SE" sz="2400"/>
          </a:p>
        </p:txBody>
      </p:sp>
      <p:sp>
        <p:nvSpPr>
          <p:cNvPr id="64" name="number badge background">
            <a:extLst>
              <a:ext uri="{C183D7F6-B498-43B3-948B-1728B52AA6E4}">
                <adec:decorative xmlns:adec="http://schemas.microsoft.com/office/drawing/2017/decorative" val="1"/>
              </a:ext>
            </a:extLst>
          </p:cNvPr>
          <p:cNvSpPr/>
          <p:nvPr/>
        </p:nvSpPr>
        <p:spPr>
          <a:xfrm>
            <a:off x="4517136" y="4370832"/>
            <a:ext cx="365760" cy="365760"/>
          </a:xfrm>
          <a:prstGeom prst="ellipse">
            <a:avLst/>
          </a:prstGeom>
          <a:solidFill>
            <a:srgbClr val="6B4A0F"/>
          </a:solidFill>
          <a:ln w="12700">
            <a:solidFill>
              <a:srgbClr val="333333"/>
            </a:solidFill>
            <a:prstDash val="solid"/>
          </a:ln>
        </p:spPr>
        <p:txBody>
          <a:bodyPr/>
          <a:lstStyle/>
          <a:p>
            <a:endParaRPr lang="en-SE" sz="2400"/>
          </a:p>
        </p:txBody>
      </p:sp>
      <p:sp>
        <p:nvSpPr>
          <p:cNvPr id="65" name="Text 63"/>
          <p:cNvSpPr/>
          <p:nvPr/>
        </p:nvSpPr>
        <p:spPr>
          <a:xfrm>
            <a:off x="4517136" y="4370832"/>
            <a:ext cx="365760" cy="365760"/>
          </a:xfrm>
          <a:prstGeom prst="rect">
            <a:avLst/>
          </a:prstGeom>
          <a:noFill/>
          <a:ln/>
        </p:spPr>
        <p:txBody>
          <a:bodyPr wrap="square" lIns="0" tIns="0" rIns="0" bIns="0" rtlCol="0" anchor="ctr"/>
          <a:lstStyle/>
          <a:p>
            <a:pPr marL="0" indent="0" algn="ctr">
              <a:buNone/>
            </a:pPr>
            <a:r>
              <a:rPr lang="en-US" sz="2400" b="1" dirty="0">
                <a:solidFill>
                  <a:srgbClr val="F5A524"/>
                </a:solidFill>
                <a:latin typeface="Consolas" pitchFamily="34" charset="0"/>
                <a:ea typeface="Consolas" pitchFamily="34" charset="-122"/>
                <a:cs typeface="Consolas" pitchFamily="34" charset="-120"/>
              </a:rPr>
              <a:t>5</a:t>
            </a:r>
            <a:endParaRPr lang="en-US" sz="2400" dirty="0"/>
          </a:p>
        </p:txBody>
      </p:sp>
      <p:sp>
        <p:nvSpPr>
          <p:cNvPr id="66" name="Text 64"/>
          <p:cNvSpPr/>
          <p:nvPr/>
        </p:nvSpPr>
        <p:spPr>
          <a:xfrm>
            <a:off x="4992624" y="4352544"/>
            <a:ext cx="2514600" cy="502920"/>
          </a:xfrm>
          <a:prstGeom prst="rect">
            <a:avLst/>
          </a:prstGeom>
          <a:noFill/>
          <a:ln/>
        </p:spPr>
        <p:txBody>
          <a:bodyPr wrap="square" lIns="0" tIns="0" rIns="0" bIns="0" rtlCol="0" anchor="ctr"/>
          <a:lstStyle/>
          <a:p>
            <a:pPr marL="0" indent="0">
              <a:lnSpc>
                <a:spcPct val="105000"/>
              </a:lnSpc>
              <a:buNone/>
            </a:pPr>
            <a:r>
              <a:rPr lang="en-US" sz="1600" b="1" dirty="0">
                <a:solidFill>
                  <a:srgbClr val="E6EDF3"/>
                </a:solidFill>
                <a:latin typeface="Segoe UI" pitchFamily="34" charset="0"/>
                <a:ea typeface="Segoe UI" pitchFamily="34" charset="-122"/>
                <a:cs typeface="Segoe UI" pitchFamily="34" charset="-120"/>
              </a:rPr>
              <a:t>Bar length is relative</a:t>
            </a:r>
            <a:endParaRPr lang="en-US" sz="1600" dirty="0"/>
          </a:p>
        </p:txBody>
      </p:sp>
      <p:sp>
        <p:nvSpPr>
          <p:cNvPr id="67" name="Text 65"/>
          <p:cNvSpPr/>
          <p:nvPr/>
        </p:nvSpPr>
        <p:spPr>
          <a:xfrm>
            <a:off x="4517136" y="4956048"/>
            <a:ext cx="3017520" cy="1051560"/>
          </a:xfrm>
          <a:prstGeom prst="rect">
            <a:avLst/>
          </a:prstGeom>
          <a:noFill/>
          <a:ln/>
        </p:spPr>
        <p:txBody>
          <a:bodyPr wrap="square" lIns="0" tIns="0" rIns="0" bIns="0" rtlCol="0" anchor="ctr"/>
          <a:lstStyle/>
          <a:p>
            <a:pPr marL="0" indent="0">
              <a:lnSpc>
                <a:spcPct val="112000"/>
              </a:lnSpc>
              <a:buNone/>
            </a:pPr>
            <a:r>
              <a:rPr lang="en-US" sz="1200" dirty="0">
                <a:solidFill>
                  <a:srgbClr val="AAB7C2"/>
                </a:solidFill>
                <a:latin typeface="Segoe UI" pitchFamily="34" charset="0"/>
                <a:ea typeface="Segoe UI" pitchFamily="34" charset="-122"/>
                <a:cs typeface="Segoe UI" pitchFamily="34" charset="-120"/>
              </a:rPr>
              <a:t>On Movers, every bar is scaled to the largest value on that tab. A long bar on a quiet day may be a very small move.</a:t>
            </a:r>
            <a:endParaRPr lang="en-US" sz="1200" dirty="0"/>
          </a:p>
        </p:txBody>
      </p:sp>
      <p:sp>
        <p:nvSpPr>
          <p:cNvPr id="68" name="panel">
            <a:extLst>
              <a:ext uri="{C183D7F6-B498-43B3-948B-1728B52AA6E4}">
                <adec:decorative xmlns:adec="http://schemas.microsoft.com/office/drawing/2017/decorative" val="1"/>
              </a:ext>
            </a:extLst>
          </p:cNvPr>
          <p:cNvSpPr/>
          <p:nvPr/>
        </p:nvSpPr>
        <p:spPr>
          <a:xfrm>
            <a:off x="7991856" y="4114800"/>
            <a:ext cx="3474720" cy="201168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sz="2400"/>
          </a:p>
        </p:txBody>
      </p:sp>
      <p:sp>
        <p:nvSpPr>
          <p:cNvPr id="69" name="panel accent">
            <a:extLst>
              <a:ext uri="{C183D7F6-B498-43B3-948B-1728B52AA6E4}">
                <adec:decorative xmlns:adec="http://schemas.microsoft.com/office/drawing/2017/decorative" val="1"/>
              </a:ext>
            </a:extLst>
          </p:cNvPr>
          <p:cNvSpPr/>
          <p:nvPr/>
        </p:nvSpPr>
        <p:spPr>
          <a:xfrm>
            <a:off x="7991856" y="4114800"/>
            <a:ext cx="3474720" cy="50292"/>
          </a:xfrm>
          <a:prstGeom prst="rect">
            <a:avLst/>
          </a:prstGeom>
          <a:solidFill>
            <a:srgbClr val="F5A524"/>
          </a:solidFill>
          <a:ln w="12700">
            <a:solidFill>
              <a:srgbClr val="333333"/>
            </a:solidFill>
            <a:prstDash val="solid"/>
          </a:ln>
        </p:spPr>
        <p:txBody>
          <a:bodyPr/>
          <a:lstStyle/>
          <a:p>
            <a:endParaRPr lang="en-SE" sz="2400"/>
          </a:p>
        </p:txBody>
      </p:sp>
      <p:sp>
        <p:nvSpPr>
          <p:cNvPr id="70" name="number badge background">
            <a:extLst>
              <a:ext uri="{C183D7F6-B498-43B3-948B-1728B52AA6E4}">
                <adec:decorative xmlns:adec="http://schemas.microsoft.com/office/drawing/2017/decorative" val="1"/>
              </a:ext>
            </a:extLst>
          </p:cNvPr>
          <p:cNvSpPr/>
          <p:nvPr/>
        </p:nvSpPr>
        <p:spPr>
          <a:xfrm>
            <a:off x="8229600" y="4370832"/>
            <a:ext cx="365760" cy="365760"/>
          </a:xfrm>
          <a:prstGeom prst="ellipse">
            <a:avLst/>
          </a:prstGeom>
          <a:solidFill>
            <a:srgbClr val="6B4A0F"/>
          </a:solidFill>
          <a:ln w="12700">
            <a:solidFill>
              <a:srgbClr val="333333"/>
            </a:solidFill>
            <a:prstDash val="solid"/>
          </a:ln>
        </p:spPr>
        <p:txBody>
          <a:bodyPr/>
          <a:lstStyle/>
          <a:p>
            <a:endParaRPr lang="en-SE" sz="2400"/>
          </a:p>
        </p:txBody>
      </p:sp>
      <p:sp>
        <p:nvSpPr>
          <p:cNvPr id="71" name="Text 69"/>
          <p:cNvSpPr/>
          <p:nvPr/>
        </p:nvSpPr>
        <p:spPr>
          <a:xfrm>
            <a:off x="8229600" y="4370832"/>
            <a:ext cx="365760" cy="365760"/>
          </a:xfrm>
          <a:prstGeom prst="rect">
            <a:avLst/>
          </a:prstGeom>
          <a:noFill/>
          <a:ln/>
        </p:spPr>
        <p:txBody>
          <a:bodyPr wrap="square" lIns="0" tIns="0" rIns="0" bIns="0" rtlCol="0" anchor="ctr"/>
          <a:lstStyle/>
          <a:p>
            <a:pPr marL="0" indent="0" algn="ctr">
              <a:buNone/>
            </a:pPr>
            <a:r>
              <a:rPr lang="en-US" sz="2400" b="1" dirty="0">
                <a:solidFill>
                  <a:srgbClr val="F5A524"/>
                </a:solidFill>
                <a:latin typeface="Consolas" pitchFamily="34" charset="0"/>
                <a:ea typeface="Consolas" pitchFamily="34" charset="-122"/>
                <a:cs typeface="Consolas" pitchFamily="34" charset="-120"/>
              </a:rPr>
              <a:t>6</a:t>
            </a:r>
            <a:endParaRPr lang="en-US" sz="2400" dirty="0"/>
          </a:p>
        </p:txBody>
      </p:sp>
      <p:sp>
        <p:nvSpPr>
          <p:cNvPr id="72" name="Text 70"/>
          <p:cNvSpPr/>
          <p:nvPr/>
        </p:nvSpPr>
        <p:spPr>
          <a:xfrm>
            <a:off x="8705088" y="4352544"/>
            <a:ext cx="2514600" cy="502920"/>
          </a:xfrm>
          <a:prstGeom prst="rect">
            <a:avLst/>
          </a:prstGeom>
          <a:noFill/>
          <a:ln/>
        </p:spPr>
        <p:txBody>
          <a:bodyPr wrap="square" lIns="0" tIns="0" rIns="0" bIns="0" rtlCol="0" anchor="ctr"/>
          <a:lstStyle/>
          <a:p>
            <a:pPr marL="0" indent="0">
              <a:lnSpc>
                <a:spcPct val="105000"/>
              </a:lnSpc>
              <a:buNone/>
            </a:pPr>
            <a:r>
              <a:rPr lang="en-US" sz="1600" b="1" dirty="0">
                <a:solidFill>
                  <a:srgbClr val="E6EDF3"/>
                </a:solidFill>
                <a:latin typeface="Segoe UI" pitchFamily="34" charset="0"/>
                <a:ea typeface="Segoe UI" pitchFamily="34" charset="-122"/>
                <a:cs typeface="Segoe UI" pitchFamily="34" charset="-120"/>
              </a:rPr>
              <a:t>Ladder spacing is not price distance</a:t>
            </a:r>
            <a:endParaRPr lang="en-US" sz="1600" dirty="0"/>
          </a:p>
        </p:txBody>
      </p:sp>
      <p:sp>
        <p:nvSpPr>
          <p:cNvPr id="73" name="Text 71"/>
          <p:cNvSpPr/>
          <p:nvPr/>
        </p:nvSpPr>
        <p:spPr>
          <a:xfrm>
            <a:off x="8229600" y="4956048"/>
            <a:ext cx="3017520" cy="1051560"/>
          </a:xfrm>
          <a:prstGeom prst="rect">
            <a:avLst/>
          </a:prstGeom>
          <a:noFill/>
          <a:ln/>
        </p:spPr>
        <p:txBody>
          <a:bodyPr wrap="square" lIns="0" tIns="0" rIns="0" bIns="0" rtlCol="0" anchor="ctr"/>
          <a:lstStyle/>
          <a:p>
            <a:pPr marL="0" indent="0">
              <a:lnSpc>
                <a:spcPct val="112000"/>
              </a:lnSpc>
              <a:buNone/>
            </a:pPr>
            <a:r>
              <a:rPr lang="en-US" sz="1200" dirty="0">
                <a:solidFill>
                  <a:srgbClr val="AAB7C2"/>
                </a:solidFill>
                <a:latin typeface="Segoe UI" pitchFamily="34" charset="0"/>
                <a:ea typeface="Segoe UI" pitchFamily="34" charset="-122"/>
                <a:cs typeface="Segoe UI" pitchFamily="34" charset="-120"/>
              </a:rPr>
              <a:t>Depth rows are evenly spaced. The percentage figure beside each row is the real distance from the touch — trust the number, not the geometry.</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Set density to match the room, not your taste</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04 · READING THE SCREENS</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31</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600" dirty="0">
                <a:solidFill>
                  <a:srgbClr val="AAB7C2"/>
                </a:solidFill>
                <a:latin typeface="Segoe UI" pitchFamily="34" charset="0"/>
                <a:ea typeface="Segoe UI" pitchFamily="34" charset="-122"/>
                <a:cs typeface="Segoe UI" pitchFamily="34" charset="-120"/>
              </a:rPr>
              <a:t>Density is the single control that decides whether a dense screen is readable or not. Choose it for the viewing distance.</a:t>
            </a:r>
            <a:endParaRPr lang="en-US" sz="1600" dirty="0"/>
          </a:p>
        </p:txBody>
      </p:sp>
      <p:sp>
        <p:nvSpPr>
          <p:cNvPr id="38" name="panel">
            <a:extLst>
              <a:ext uri="{C183D7F6-B498-43B3-948B-1728B52AA6E4}">
                <adec:decorative xmlns:adec="http://schemas.microsoft.com/office/drawing/2017/decorative" val="1"/>
              </a:ext>
            </a:extLst>
          </p:cNvPr>
          <p:cNvSpPr/>
          <p:nvPr/>
        </p:nvSpPr>
        <p:spPr>
          <a:xfrm>
            <a:off x="566928" y="1920240"/>
            <a:ext cx="3474720" cy="320040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39" name="panel accent">
            <a:extLst>
              <a:ext uri="{C183D7F6-B498-43B3-948B-1728B52AA6E4}">
                <adec:decorative xmlns:adec="http://schemas.microsoft.com/office/drawing/2017/decorative" val="1"/>
              </a:ext>
            </a:extLst>
          </p:cNvPr>
          <p:cNvSpPr/>
          <p:nvPr/>
        </p:nvSpPr>
        <p:spPr>
          <a:xfrm>
            <a:off x="566928" y="1920240"/>
            <a:ext cx="3474720" cy="50292"/>
          </a:xfrm>
          <a:prstGeom prst="rect">
            <a:avLst/>
          </a:prstGeom>
          <a:solidFill>
            <a:srgbClr val="3FE08A"/>
          </a:solidFill>
          <a:ln w="12700">
            <a:solidFill>
              <a:srgbClr val="333333"/>
            </a:solidFill>
            <a:prstDash val="solid"/>
          </a:ln>
        </p:spPr>
        <p:txBody>
          <a:bodyPr/>
          <a:lstStyle/>
          <a:p>
            <a:endParaRPr lang="en-SE"/>
          </a:p>
        </p:txBody>
      </p:sp>
      <p:sp>
        <p:nvSpPr>
          <p:cNvPr id="40" name="Text 38"/>
          <p:cNvSpPr/>
          <p:nvPr/>
        </p:nvSpPr>
        <p:spPr>
          <a:xfrm>
            <a:off x="822960" y="2176272"/>
            <a:ext cx="2926080" cy="365760"/>
          </a:xfrm>
          <a:prstGeom prst="rect">
            <a:avLst/>
          </a:prstGeom>
          <a:noFill/>
          <a:ln/>
        </p:spPr>
        <p:txBody>
          <a:bodyPr wrap="square" lIns="0" tIns="0" rIns="0" bIns="0" rtlCol="0" anchor="ctr"/>
          <a:lstStyle/>
          <a:p>
            <a:pPr marL="0" indent="0">
              <a:buNone/>
            </a:pPr>
            <a:r>
              <a:rPr lang="en-US" sz="1500" b="1" kern="0" spc="150" dirty="0">
                <a:solidFill>
                  <a:srgbClr val="3FE08A"/>
                </a:solidFill>
                <a:latin typeface="Consolas" pitchFamily="34" charset="0"/>
                <a:ea typeface="Consolas" pitchFamily="34" charset="-122"/>
                <a:cs typeface="Consolas" pitchFamily="34" charset="-120"/>
              </a:rPr>
              <a:t>LOBBY</a:t>
            </a:r>
            <a:endParaRPr lang="en-US" sz="1500" dirty="0"/>
          </a:p>
        </p:txBody>
      </p:sp>
      <p:sp>
        <p:nvSpPr>
          <p:cNvPr id="41" name="Text 39"/>
          <p:cNvSpPr/>
          <p:nvPr/>
        </p:nvSpPr>
        <p:spPr>
          <a:xfrm>
            <a:off x="822960" y="2560320"/>
            <a:ext cx="2926080" cy="292608"/>
          </a:xfrm>
          <a:prstGeom prst="rect">
            <a:avLst/>
          </a:prstGeom>
          <a:noFill/>
          <a:ln/>
        </p:spPr>
        <p:txBody>
          <a:bodyPr wrap="square" lIns="0" tIns="0" rIns="0" bIns="0" rtlCol="0" anchor="ctr"/>
          <a:lstStyle/>
          <a:p>
            <a:pPr marL="0" indent="0">
              <a:buNone/>
            </a:pPr>
            <a:r>
              <a:rPr lang="en-US" sz="1200" i="1" dirty="0">
                <a:solidFill>
                  <a:srgbClr val="AAB7C2"/>
                </a:solidFill>
                <a:latin typeface="Segoe UI" pitchFamily="34" charset="0"/>
                <a:ea typeface="Segoe UI" pitchFamily="34" charset="-122"/>
                <a:cs typeface="Segoe UI" pitchFamily="34" charset="-120"/>
              </a:rPr>
              <a:t>Across a room</a:t>
            </a:r>
            <a:endParaRPr lang="en-US" sz="1200" dirty="0"/>
          </a:p>
        </p:txBody>
      </p:sp>
      <p:sp>
        <p:nvSpPr>
          <p:cNvPr id="42" name="density preview row">
            <a:extLst>
              <a:ext uri="{C183D7F6-B498-43B3-948B-1728B52AA6E4}">
                <adec:decorative xmlns:adec="http://schemas.microsoft.com/office/drawing/2017/decorative" val="1"/>
              </a:ext>
            </a:extLst>
          </p:cNvPr>
          <p:cNvSpPr/>
          <p:nvPr/>
        </p:nvSpPr>
        <p:spPr>
          <a:xfrm>
            <a:off x="822960" y="2971800"/>
            <a:ext cx="2926080" cy="170078"/>
          </a:xfrm>
          <a:prstGeom prst="rect">
            <a:avLst/>
          </a:prstGeom>
          <a:solidFill>
            <a:srgbClr val="191E23"/>
          </a:solidFill>
          <a:ln w="12700">
            <a:solidFill>
              <a:srgbClr val="333333"/>
            </a:solidFill>
            <a:prstDash val="solid"/>
          </a:ln>
        </p:spPr>
        <p:txBody>
          <a:bodyPr/>
          <a:lstStyle/>
          <a:p>
            <a:endParaRPr lang="en-SE"/>
          </a:p>
        </p:txBody>
      </p:sp>
      <p:sp>
        <p:nvSpPr>
          <p:cNvPr id="43" name="density preview row">
            <a:extLst>
              <a:ext uri="{C183D7F6-B498-43B3-948B-1728B52AA6E4}">
                <adec:decorative xmlns:adec="http://schemas.microsoft.com/office/drawing/2017/decorative" val="1"/>
              </a:ext>
            </a:extLst>
          </p:cNvPr>
          <p:cNvSpPr/>
          <p:nvPr/>
        </p:nvSpPr>
        <p:spPr>
          <a:xfrm>
            <a:off x="822960" y="3255264"/>
            <a:ext cx="2926080" cy="170078"/>
          </a:xfrm>
          <a:prstGeom prst="rect">
            <a:avLst/>
          </a:prstGeom>
          <a:solidFill>
            <a:srgbClr val="273037"/>
          </a:solidFill>
          <a:ln w="12700">
            <a:solidFill>
              <a:srgbClr val="333333"/>
            </a:solidFill>
            <a:prstDash val="solid"/>
          </a:ln>
        </p:spPr>
        <p:txBody>
          <a:bodyPr/>
          <a:lstStyle/>
          <a:p>
            <a:endParaRPr lang="en-SE"/>
          </a:p>
        </p:txBody>
      </p:sp>
      <p:sp>
        <p:nvSpPr>
          <p:cNvPr id="44" name="density preview row">
            <a:extLst>
              <a:ext uri="{C183D7F6-B498-43B3-948B-1728B52AA6E4}">
                <adec:decorative xmlns:adec="http://schemas.microsoft.com/office/drawing/2017/decorative" val="1"/>
              </a:ext>
            </a:extLst>
          </p:cNvPr>
          <p:cNvSpPr/>
          <p:nvPr/>
        </p:nvSpPr>
        <p:spPr>
          <a:xfrm>
            <a:off x="822960" y="3538728"/>
            <a:ext cx="2926080" cy="170078"/>
          </a:xfrm>
          <a:prstGeom prst="rect">
            <a:avLst/>
          </a:prstGeom>
          <a:solidFill>
            <a:srgbClr val="191E23"/>
          </a:solidFill>
          <a:ln w="12700">
            <a:solidFill>
              <a:srgbClr val="333333"/>
            </a:solidFill>
            <a:prstDash val="solid"/>
          </a:ln>
        </p:spPr>
        <p:txBody>
          <a:bodyPr/>
          <a:lstStyle/>
          <a:p>
            <a:endParaRPr lang="en-SE"/>
          </a:p>
        </p:txBody>
      </p:sp>
      <p:sp>
        <p:nvSpPr>
          <p:cNvPr id="45" name="density preview row">
            <a:extLst>
              <a:ext uri="{C183D7F6-B498-43B3-948B-1728B52AA6E4}">
                <adec:decorative xmlns:adec="http://schemas.microsoft.com/office/drawing/2017/decorative" val="1"/>
              </a:ext>
            </a:extLst>
          </p:cNvPr>
          <p:cNvSpPr/>
          <p:nvPr/>
        </p:nvSpPr>
        <p:spPr>
          <a:xfrm>
            <a:off x="822960" y="3822192"/>
            <a:ext cx="2926080" cy="170078"/>
          </a:xfrm>
          <a:prstGeom prst="rect">
            <a:avLst/>
          </a:prstGeom>
          <a:solidFill>
            <a:srgbClr val="273037"/>
          </a:solidFill>
          <a:ln w="12700">
            <a:solidFill>
              <a:srgbClr val="333333"/>
            </a:solidFill>
            <a:prstDash val="solid"/>
          </a:ln>
        </p:spPr>
        <p:txBody>
          <a:bodyPr/>
          <a:lstStyle/>
          <a:p>
            <a:endParaRPr lang="en-SE"/>
          </a:p>
        </p:txBody>
      </p:sp>
      <p:sp>
        <p:nvSpPr>
          <p:cNvPr id="46" name="density preview row">
            <a:extLst>
              <a:ext uri="{C183D7F6-B498-43B3-948B-1728B52AA6E4}">
                <adec:decorative xmlns:adec="http://schemas.microsoft.com/office/drawing/2017/decorative" val="1"/>
              </a:ext>
            </a:extLst>
          </p:cNvPr>
          <p:cNvSpPr/>
          <p:nvPr/>
        </p:nvSpPr>
        <p:spPr>
          <a:xfrm>
            <a:off x="822960" y="4105656"/>
            <a:ext cx="2926080" cy="170078"/>
          </a:xfrm>
          <a:prstGeom prst="rect">
            <a:avLst/>
          </a:prstGeom>
          <a:solidFill>
            <a:srgbClr val="191E23"/>
          </a:solidFill>
          <a:ln w="12700">
            <a:solidFill>
              <a:srgbClr val="333333"/>
            </a:solidFill>
            <a:prstDash val="solid"/>
          </a:ln>
        </p:spPr>
        <p:txBody>
          <a:bodyPr/>
          <a:lstStyle/>
          <a:p>
            <a:endParaRPr lang="en-SE"/>
          </a:p>
        </p:txBody>
      </p:sp>
      <p:sp>
        <p:nvSpPr>
          <p:cNvPr id="47" name="Text 45"/>
          <p:cNvSpPr/>
          <p:nvPr/>
        </p:nvSpPr>
        <p:spPr>
          <a:xfrm>
            <a:off x="822960" y="4526280"/>
            <a:ext cx="2926080" cy="548640"/>
          </a:xfrm>
          <a:prstGeom prst="rect">
            <a:avLst/>
          </a:prstGeom>
          <a:noFill/>
          <a:ln/>
        </p:spPr>
        <p:txBody>
          <a:bodyPr wrap="square" lIns="0" tIns="0" rIns="0" bIns="0" rtlCol="0" anchor="ctr"/>
          <a:lstStyle/>
          <a:p>
            <a:pPr marL="0" indent="0">
              <a:lnSpc>
                <a:spcPct val="112000"/>
              </a:lnSpc>
              <a:buNone/>
            </a:pPr>
            <a:r>
              <a:rPr lang="en-US" sz="1100" dirty="0">
                <a:solidFill>
                  <a:srgbClr val="AAB7C2"/>
                </a:solidFill>
                <a:latin typeface="Segoe UI" pitchFamily="34" charset="0"/>
                <a:ea typeface="Segoe UI" pitchFamily="34" charset="-122"/>
                <a:cs typeface="Segoe UI" pitchFamily="34" charset="-120"/>
              </a:rPr>
              <a:t>Largest type, fewest rows per page, and the longest page dwell so a passer-by can actually finish reading a page before it turns.</a:t>
            </a:r>
            <a:endParaRPr lang="en-US" sz="1100" dirty="0"/>
          </a:p>
        </p:txBody>
      </p:sp>
      <p:sp>
        <p:nvSpPr>
          <p:cNvPr id="48" name="panel">
            <a:extLst>
              <a:ext uri="{C183D7F6-B498-43B3-948B-1728B52AA6E4}">
                <adec:decorative xmlns:adec="http://schemas.microsoft.com/office/drawing/2017/decorative" val="1"/>
              </a:ext>
            </a:extLst>
          </p:cNvPr>
          <p:cNvSpPr/>
          <p:nvPr/>
        </p:nvSpPr>
        <p:spPr>
          <a:xfrm>
            <a:off x="4279392" y="1920240"/>
            <a:ext cx="3474720" cy="320040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49" name="panel accent">
            <a:extLst>
              <a:ext uri="{C183D7F6-B498-43B3-948B-1728B52AA6E4}">
                <adec:decorative xmlns:adec="http://schemas.microsoft.com/office/drawing/2017/decorative" val="1"/>
              </a:ext>
            </a:extLst>
          </p:cNvPr>
          <p:cNvSpPr/>
          <p:nvPr/>
        </p:nvSpPr>
        <p:spPr>
          <a:xfrm>
            <a:off x="4279392" y="1920240"/>
            <a:ext cx="3474720" cy="50292"/>
          </a:xfrm>
          <a:prstGeom prst="rect">
            <a:avLst/>
          </a:prstGeom>
          <a:solidFill>
            <a:srgbClr val="F5A524"/>
          </a:solidFill>
          <a:ln w="12700">
            <a:solidFill>
              <a:srgbClr val="333333"/>
            </a:solidFill>
            <a:prstDash val="solid"/>
          </a:ln>
        </p:spPr>
        <p:txBody>
          <a:bodyPr/>
          <a:lstStyle/>
          <a:p>
            <a:endParaRPr lang="en-SE"/>
          </a:p>
        </p:txBody>
      </p:sp>
      <p:sp>
        <p:nvSpPr>
          <p:cNvPr id="50" name="Text 48"/>
          <p:cNvSpPr/>
          <p:nvPr/>
        </p:nvSpPr>
        <p:spPr>
          <a:xfrm>
            <a:off x="4535424" y="2176272"/>
            <a:ext cx="2926080" cy="365760"/>
          </a:xfrm>
          <a:prstGeom prst="rect">
            <a:avLst/>
          </a:prstGeom>
          <a:noFill/>
          <a:ln/>
        </p:spPr>
        <p:txBody>
          <a:bodyPr wrap="square" lIns="0" tIns="0" rIns="0" bIns="0" rtlCol="0" anchor="ctr"/>
          <a:lstStyle/>
          <a:p>
            <a:pPr marL="0" indent="0">
              <a:buNone/>
            </a:pPr>
            <a:r>
              <a:rPr lang="en-US" sz="1500" b="1" kern="0" spc="150" dirty="0">
                <a:solidFill>
                  <a:srgbClr val="F5A524"/>
                </a:solidFill>
                <a:latin typeface="Consolas" pitchFamily="34" charset="0"/>
                <a:ea typeface="Consolas" pitchFamily="34" charset="-122"/>
                <a:cs typeface="Consolas" pitchFamily="34" charset="-120"/>
              </a:rPr>
              <a:t>STANDARD</a:t>
            </a:r>
            <a:endParaRPr lang="en-US" sz="1500" dirty="0"/>
          </a:p>
        </p:txBody>
      </p:sp>
      <p:sp>
        <p:nvSpPr>
          <p:cNvPr id="51" name="Text 49"/>
          <p:cNvSpPr/>
          <p:nvPr/>
        </p:nvSpPr>
        <p:spPr>
          <a:xfrm>
            <a:off x="4535424" y="2560320"/>
            <a:ext cx="2926080" cy="292608"/>
          </a:xfrm>
          <a:prstGeom prst="rect">
            <a:avLst/>
          </a:prstGeom>
          <a:noFill/>
          <a:ln/>
        </p:spPr>
        <p:txBody>
          <a:bodyPr wrap="square" lIns="0" tIns="0" rIns="0" bIns="0" rtlCol="0" anchor="ctr"/>
          <a:lstStyle/>
          <a:p>
            <a:pPr marL="0" indent="0">
              <a:buNone/>
            </a:pPr>
            <a:r>
              <a:rPr lang="en-US" sz="1200" i="1" dirty="0">
                <a:solidFill>
                  <a:srgbClr val="AAB7C2"/>
                </a:solidFill>
                <a:latin typeface="Segoe UI" pitchFamily="34" charset="0"/>
                <a:ea typeface="Segoe UI" pitchFamily="34" charset="-122"/>
                <a:cs typeface="Segoe UI" pitchFamily="34" charset="-120"/>
              </a:rPr>
              <a:t>Normal desk use</a:t>
            </a:r>
            <a:endParaRPr lang="en-US" sz="1200" dirty="0"/>
          </a:p>
        </p:txBody>
      </p:sp>
      <p:sp>
        <p:nvSpPr>
          <p:cNvPr id="52" name="density preview row">
            <a:extLst>
              <a:ext uri="{C183D7F6-B498-43B3-948B-1728B52AA6E4}">
                <adec:decorative xmlns:adec="http://schemas.microsoft.com/office/drawing/2017/decorative" val="1"/>
              </a:ext>
            </a:extLst>
          </p:cNvPr>
          <p:cNvSpPr/>
          <p:nvPr/>
        </p:nvSpPr>
        <p:spPr>
          <a:xfrm>
            <a:off x="4535424" y="2971800"/>
            <a:ext cx="2926080" cy="94488"/>
          </a:xfrm>
          <a:prstGeom prst="rect">
            <a:avLst/>
          </a:prstGeom>
          <a:solidFill>
            <a:srgbClr val="191E23"/>
          </a:solidFill>
          <a:ln w="12700">
            <a:solidFill>
              <a:srgbClr val="333333"/>
            </a:solidFill>
            <a:prstDash val="solid"/>
          </a:ln>
        </p:spPr>
        <p:txBody>
          <a:bodyPr/>
          <a:lstStyle/>
          <a:p>
            <a:endParaRPr lang="en-SE"/>
          </a:p>
        </p:txBody>
      </p:sp>
      <p:sp>
        <p:nvSpPr>
          <p:cNvPr id="53" name="density preview row">
            <a:extLst>
              <a:ext uri="{C183D7F6-B498-43B3-948B-1728B52AA6E4}">
                <adec:decorative xmlns:adec="http://schemas.microsoft.com/office/drawing/2017/decorative" val="1"/>
              </a:ext>
            </a:extLst>
          </p:cNvPr>
          <p:cNvSpPr/>
          <p:nvPr/>
        </p:nvSpPr>
        <p:spPr>
          <a:xfrm>
            <a:off x="4535424" y="3129280"/>
            <a:ext cx="2926080" cy="94488"/>
          </a:xfrm>
          <a:prstGeom prst="rect">
            <a:avLst/>
          </a:prstGeom>
          <a:solidFill>
            <a:srgbClr val="273037"/>
          </a:solidFill>
          <a:ln w="12700">
            <a:solidFill>
              <a:srgbClr val="333333"/>
            </a:solidFill>
            <a:prstDash val="solid"/>
          </a:ln>
        </p:spPr>
        <p:txBody>
          <a:bodyPr/>
          <a:lstStyle/>
          <a:p>
            <a:endParaRPr lang="en-SE"/>
          </a:p>
        </p:txBody>
      </p:sp>
      <p:sp>
        <p:nvSpPr>
          <p:cNvPr id="54" name="density preview row">
            <a:extLst>
              <a:ext uri="{C183D7F6-B498-43B3-948B-1728B52AA6E4}">
                <adec:decorative xmlns:adec="http://schemas.microsoft.com/office/drawing/2017/decorative" val="1"/>
              </a:ext>
            </a:extLst>
          </p:cNvPr>
          <p:cNvSpPr/>
          <p:nvPr/>
        </p:nvSpPr>
        <p:spPr>
          <a:xfrm>
            <a:off x="4535424" y="3286760"/>
            <a:ext cx="2926080" cy="94488"/>
          </a:xfrm>
          <a:prstGeom prst="rect">
            <a:avLst/>
          </a:prstGeom>
          <a:solidFill>
            <a:srgbClr val="191E23"/>
          </a:solidFill>
          <a:ln w="12700">
            <a:solidFill>
              <a:srgbClr val="333333"/>
            </a:solidFill>
            <a:prstDash val="solid"/>
          </a:ln>
        </p:spPr>
        <p:txBody>
          <a:bodyPr/>
          <a:lstStyle/>
          <a:p>
            <a:endParaRPr lang="en-SE"/>
          </a:p>
        </p:txBody>
      </p:sp>
      <p:sp>
        <p:nvSpPr>
          <p:cNvPr id="55" name="density preview row">
            <a:extLst>
              <a:ext uri="{C183D7F6-B498-43B3-948B-1728B52AA6E4}">
                <adec:decorative xmlns:adec="http://schemas.microsoft.com/office/drawing/2017/decorative" val="1"/>
              </a:ext>
            </a:extLst>
          </p:cNvPr>
          <p:cNvSpPr/>
          <p:nvPr/>
        </p:nvSpPr>
        <p:spPr>
          <a:xfrm>
            <a:off x="4535424" y="3444240"/>
            <a:ext cx="2926080" cy="94488"/>
          </a:xfrm>
          <a:prstGeom prst="rect">
            <a:avLst/>
          </a:prstGeom>
          <a:solidFill>
            <a:srgbClr val="273037"/>
          </a:solidFill>
          <a:ln w="12700">
            <a:solidFill>
              <a:srgbClr val="333333"/>
            </a:solidFill>
            <a:prstDash val="solid"/>
          </a:ln>
        </p:spPr>
        <p:txBody>
          <a:bodyPr/>
          <a:lstStyle/>
          <a:p>
            <a:endParaRPr lang="en-SE"/>
          </a:p>
        </p:txBody>
      </p:sp>
      <p:sp>
        <p:nvSpPr>
          <p:cNvPr id="56" name="density preview row">
            <a:extLst>
              <a:ext uri="{C183D7F6-B498-43B3-948B-1728B52AA6E4}">
                <adec:decorative xmlns:adec="http://schemas.microsoft.com/office/drawing/2017/decorative" val="1"/>
              </a:ext>
            </a:extLst>
          </p:cNvPr>
          <p:cNvSpPr/>
          <p:nvPr/>
        </p:nvSpPr>
        <p:spPr>
          <a:xfrm>
            <a:off x="4535424" y="3601720"/>
            <a:ext cx="2926080" cy="94488"/>
          </a:xfrm>
          <a:prstGeom prst="rect">
            <a:avLst/>
          </a:prstGeom>
          <a:solidFill>
            <a:srgbClr val="191E23"/>
          </a:solidFill>
          <a:ln w="12700">
            <a:solidFill>
              <a:srgbClr val="333333"/>
            </a:solidFill>
            <a:prstDash val="solid"/>
          </a:ln>
        </p:spPr>
        <p:txBody>
          <a:bodyPr/>
          <a:lstStyle/>
          <a:p>
            <a:endParaRPr lang="en-SE"/>
          </a:p>
        </p:txBody>
      </p:sp>
      <p:sp>
        <p:nvSpPr>
          <p:cNvPr id="57" name="density preview row">
            <a:extLst>
              <a:ext uri="{C183D7F6-B498-43B3-948B-1728B52AA6E4}">
                <adec:decorative xmlns:adec="http://schemas.microsoft.com/office/drawing/2017/decorative" val="1"/>
              </a:ext>
            </a:extLst>
          </p:cNvPr>
          <p:cNvSpPr/>
          <p:nvPr/>
        </p:nvSpPr>
        <p:spPr>
          <a:xfrm>
            <a:off x="4535424" y="3759200"/>
            <a:ext cx="2926080" cy="94488"/>
          </a:xfrm>
          <a:prstGeom prst="rect">
            <a:avLst/>
          </a:prstGeom>
          <a:solidFill>
            <a:srgbClr val="273037"/>
          </a:solidFill>
          <a:ln w="12700">
            <a:solidFill>
              <a:srgbClr val="333333"/>
            </a:solidFill>
            <a:prstDash val="solid"/>
          </a:ln>
        </p:spPr>
        <p:txBody>
          <a:bodyPr/>
          <a:lstStyle/>
          <a:p>
            <a:endParaRPr lang="en-SE"/>
          </a:p>
        </p:txBody>
      </p:sp>
      <p:sp>
        <p:nvSpPr>
          <p:cNvPr id="58" name="density preview row">
            <a:extLst>
              <a:ext uri="{C183D7F6-B498-43B3-948B-1728B52AA6E4}">
                <adec:decorative xmlns:adec="http://schemas.microsoft.com/office/drawing/2017/decorative" val="1"/>
              </a:ext>
            </a:extLst>
          </p:cNvPr>
          <p:cNvSpPr/>
          <p:nvPr/>
        </p:nvSpPr>
        <p:spPr>
          <a:xfrm>
            <a:off x="4535424" y="3916680"/>
            <a:ext cx="2926080" cy="94488"/>
          </a:xfrm>
          <a:prstGeom prst="rect">
            <a:avLst/>
          </a:prstGeom>
          <a:solidFill>
            <a:srgbClr val="191E23"/>
          </a:solidFill>
          <a:ln w="12700">
            <a:solidFill>
              <a:srgbClr val="333333"/>
            </a:solidFill>
            <a:prstDash val="solid"/>
          </a:ln>
        </p:spPr>
        <p:txBody>
          <a:bodyPr/>
          <a:lstStyle/>
          <a:p>
            <a:endParaRPr lang="en-SE"/>
          </a:p>
        </p:txBody>
      </p:sp>
      <p:sp>
        <p:nvSpPr>
          <p:cNvPr id="59" name="density preview row">
            <a:extLst>
              <a:ext uri="{C183D7F6-B498-43B3-948B-1728B52AA6E4}">
                <adec:decorative xmlns:adec="http://schemas.microsoft.com/office/drawing/2017/decorative" val="1"/>
              </a:ext>
            </a:extLst>
          </p:cNvPr>
          <p:cNvSpPr/>
          <p:nvPr/>
        </p:nvSpPr>
        <p:spPr>
          <a:xfrm>
            <a:off x="4535424" y="4074160"/>
            <a:ext cx="2926080" cy="94488"/>
          </a:xfrm>
          <a:prstGeom prst="rect">
            <a:avLst/>
          </a:prstGeom>
          <a:solidFill>
            <a:srgbClr val="273037"/>
          </a:solidFill>
          <a:ln w="12700">
            <a:solidFill>
              <a:srgbClr val="333333"/>
            </a:solidFill>
            <a:prstDash val="solid"/>
          </a:ln>
        </p:spPr>
        <p:txBody>
          <a:bodyPr/>
          <a:lstStyle/>
          <a:p>
            <a:endParaRPr lang="en-SE"/>
          </a:p>
        </p:txBody>
      </p:sp>
      <p:sp>
        <p:nvSpPr>
          <p:cNvPr id="60" name="density preview row">
            <a:extLst>
              <a:ext uri="{C183D7F6-B498-43B3-948B-1728B52AA6E4}">
                <adec:decorative xmlns:adec="http://schemas.microsoft.com/office/drawing/2017/decorative" val="1"/>
              </a:ext>
            </a:extLst>
          </p:cNvPr>
          <p:cNvSpPr/>
          <p:nvPr/>
        </p:nvSpPr>
        <p:spPr>
          <a:xfrm>
            <a:off x="4535424" y="4231640"/>
            <a:ext cx="2926080" cy="94488"/>
          </a:xfrm>
          <a:prstGeom prst="rect">
            <a:avLst/>
          </a:prstGeom>
          <a:solidFill>
            <a:srgbClr val="191E23"/>
          </a:solidFill>
          <a:ln w="12700">
            <a:solidFill>
              <a:srgbClr val="333333"/>
            </a:solidFill>
            <a:prstDash val="solid"/>
          </a:ln>
        </p:spPr>
        <p:txBody>
          <a:bodyPr/>
          <a:lstStyle/>
          <a:p>
            <a:endParaRPr lang="en-SE"/>
          </a:p>
        </p:txBody>
      </p:sp>
      <p:sp>
        <p:nvSpPr>
          <p:cNvPr id="61" name="Text 59"/>
          <p:cNvSpPr/>
          <p:nvPr/>
        </p:nvSpPr>
        <p:spPr>
          <a:xfrm>
            <a:off x="4535424" y="4526280"/>
            <a:ext cx="2926080" cy="548640"/>
          </a:xfrm>
          <a:prstGeom prst="rect">
            <a:avLst/>
          </a:prstGeom>
          <a:noFill/>
          <a:ln/>
        </p:spPr>
        <p:txBody>
          <a:bodyPr wrap="square" lIns="0" tIns="0" rIns="0" bIns="0" rtlCol="0" anchor="ctr"/>
          <a:lstStyle/>
          <a:p>
            <a:pPr marL="0" indent="0">
              <a:lnSpc>
                <a:spcPct val="112000"/>
              </a:lnSpc>
              <a:buNone/>
            </a:pPr>
            <a:r>
              <a:rPr lang="en-US" sz="1100" dirty="0">
                <a:solidFill>
                  <a:srgbClr val="AAB7C2"/>
                </a:solidFill>
                <a:latin typeface="Segoe UI" pitchFamily="34" charset="0"/>
                <a:ea typeface="Segoe UI" pitchFamily="34" charset="-122"/>
                <a:cs typeface="Segoe UI" pitchFamily="34" charset="-120"/>
              </a:rPr>
              <a:t>The balanced default, and what every new browser or profile starts on.</a:t>
            </a:r>
            <a:endParaRPr lang="en-US" sz="1100" dirty="0"/>
          </a:p>
        </p:txBody>
      </p:sp>
      <p:sp>
        <p:nvSpPr>
          <p:cNvPr id="62" name="panel">
            <a:extLst>
              <a:ext uri="{C183D7F6-B498-43B3-948B-1728B52AA6E4}">
                <adec:decorative xmlns:adec="http://schemas.microsoft.com/office/drawing/2017/decorative" val="1"/>
              </a:ext>
            </a:extLst>
          </p:cNvPr>
          <p:cNvSpPr/>
          <p:nvPr/>
        </p:nvSpPr>
        <p:spPr>
          <a:xfrm>
            <a:off x="7991856" y="1920240"/>
            <a:ext cx="3474720" cy="320040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63" name="panel accent">
            <a:extLst>
              <a:ext uri="{C183D7F6-B498-43B3-948B-1728B52AA6E4}">
                <adec:decorative xmlns:adec="http://schemas.microsoft.com/office/drawing/2017/decorative" val="1"/>
              </a:ext>
            </a:extLst>
          </p:cNvPr>
          <p:cNvSpPr/>
          <p:nvPr/>
        </p:nvSpPr>
        <p:spPr>
          <a:xfrm>
            <a:off x="7991856" y="1920240"/>
            <a:ext cx="3474720" cy="50292"/>
          </a:xfrm>
          <a:prstGeom prst="rect">
            <a:avLst/>
          </a:prstGeom>
          <a:solidFill>
            <a:srgbClr val="EF5B63"/>
          </a:solidFill>
          <a:ln w="12700">
            <a:solidFill>
              <a:srgbClr val="333333"/>
            </a:solidFill>
            <a:prstDash val="solid"/>
          </a:ln>
        </p:spPr>
        <p:txBody>
          <a:bodyPr/>
          <a:lstStyle/>
          <a:p>
            <a:endParaRPr lang="en-SE"/>
          </a:p>
        </p:txBody>
      </p:sp>
      <p:sp>
        <p:nvSpPr>
          <p:cNvPr id="64" name="Text 62"/>
          <p:cNvSpPr/>
          <p:nvPr/>
        </p:nvSpPr>
        <p:spPr>
          <a:xfrm>
            <a:off x="8247888" y="2176272"/>
            <a:ext cx="2926080" cy="365760"/>
          </a:xfrm>
          <a:prstGeom prst="rect">
            <a:avLst/>
          </a:prstGeom>
          <a:noFill/>
          <a:ln/>
        </p:spPr>
        <p:txBody>
          <a:bodyPr wrap="square" lIns="0" tIns="0" rIns="0" bIns="0" rtlCol="0" anchor="ctr"/>
          <a:lstStyle/>
          <a:p>
            <a:pPr marL="0" indent="0">
              <a:buNone/>
            </a:pPr>
            <a:r>
              <a:rPr lang="en-US" sz="1500" b="1" kern="0" spc="150" dirty="0">
                <a:solidFill>
                  <a:srgbClr val="EF5B63"/>
                </a:solidFill>
                <a:latin typeface="Consolas" pitchFamily="34" charset="0"/>
                <a:ea typeface="Consolas" pitchFamily="34" charset="-122"/>
                <a:cs typeface="Consolas" pitchFamily="34" charset="-120"/>
              </a:rPr>
              <a:t>DENSE</a:t>
            </a:r>
            <a:endParaRPr lang="en-US" sz="1500" dirty="0"/>
          </a:p>
        </p:txBody>
      </p:sp>
      <p:sp>
        <p:nvSpPr>
          <p:cNvPr id="65" name="Text 63"/>
          <p:cNvSpPr/>
          <p:nvPr/>
        </p:nvSpPr>
        <p:spPr>
          <a:xfrm>
            <a:off x="8247888" y="2560320"/>
            <a:ext cx="2926080" cy="292608"/>
          </a:xfrm>
          <a:prstGeom prst="rect">
            <a:avLst/>
          </a:prstGeom>
          <a:noFill/>
          <a:ln/>
        </p:spPr>
        <p:txBody>
          <a:bodyPr wrap="square" lIns="0" tIns="0" rIns="0" bIns="0" rtlCol="0" anchor="ctr"/>
          <a:lstStyle/>
          <a:p>
            <a:pPr marL="0" indent="0">
              <a:buNone/>
            </a:pPr>
            <a:r>
              <a:rPr lang="en-US" sz="1200" i="1" dirty="0">
                <a:solidFill>
                  <a:srgbClr val="AAB7C2"/>
                </a:solidFill>
                <a:latin typeface="Segoe UI" pitchFamily="34" charset="0"/>
                <a:ea typeface="Segoe UI" pitchFamily="34" charset="-122"/>
                <a:cs typeface="Segoe UI" pitchFamily="34" charset="-120"/>
              </a:rPr>
              <a:t>Close focus</a:t>
            </a:r>
            <a:endParaRPr lang="en-US" sz="1200" dirty="0"/>
          </a:p>
        </p:txBody>
      </p:sp>
      <p:sp>
        <p:nvSpPr>
          <p:cNvPr id="66" name="density preview row">
            <a:extLst>
              <a:ext uri="{C183D7F6-B498-43B3-948B-1728B52AA6E4}">
                <adec:decorative xmlns:adec="http://schemas.microsoft.com/office/drawing/2017/decorative" val="1"/>
              </a:ext>
            </a:extLst>
          </p:cNvPr>
          <p:cNvSpPr/>
          <p:nvPr/>
        </p:nvSpPr>
        <p:spPr>
          <a:xfrm>
            <a:off x="8247888" y="2971800"/>
            <a:ext cx="2926080" cy="56693"/>
          </a:xfrm>
          <a:prstGeom prst="rect">
            <a:avLst/>
          </a:prstGeom>
          <a:solidFill>
            <a:srgbClr val="191E23"/>
          </a:solidFill>
          <a:ln w="12700">
            <a:solidFill>
              <a:srgbClr val="333333"/>
            </a:solidFill>
            <a:prstDash val="solid"/>
          </a:ln>
        </p:spPr>
        <p:txBody>
          <a:bodyPr/>
          <a:lstStyle/>
          <a:p>
            <a:endParaRPr lang="en-SE"/>
          </a:p>
        </p:txBody>
      </p:sp>
      <p:sp>
        <p:nvSpPr>
          <p:cNvPr id="67" name="density preview row">
            <a:extLst>
              <a:ext uri="{C183D7F6-B498-43B3-948B-1728B52AA6E4}">
                <adec:decorative xmlns:adec="http://schemas.microsoft.com/office/drawing/2017/decorative" val="1"/>
              </a:ext>
            </a:extLst>
          </p:cNvPr>
          <p:cNvSpPr/>
          <p:nvPr/>
        </p:nvSpPr>
        <p:spPr>
          <a:xfrm>
            <a:off x="8247888" y="3066288"/>
            <a:ext cx="2926080" cy="56693"/>
          </a:xfrm>
          <a:prstGeom prst="rect">
            <a:avLst/>
          </a:prstGeom>
          <a:solidFill>
            <a:srgbClr val="273037"/>
          </a:solidFill>
          <a:ln w="12700">
            <a:solidFill>
              <a:srgbClr val="333333"/>
            </a:solidFill>
            <a:prstDash val="solid"/>
          </a:ln>
        </p:spPr>
        <p:txBody>
          <a:bodyPr/>
          <a:lstStyle/>
          <a:p>
            <a:endParaRPr lang="en-SE"/>
          </a:p>
        </p:txBody>
      </p:sp>
      <p:sp>
        <p:nvSpPr>
          <p:cNvPr id="68" name="density preview row">
            <a:extLst>
              <a:ext uri="{C183D7F6-B498-43B3-948B-1728B52AA6E4}">
                <adec:decorative xmlns:adec="http://schemas.microsoft.com/office/drawing/2017/decorative" val="1"/>
              </a:ext>
            </a:extLst>
          </p:cNvPr>
          <p:cNvSpPr/>
          <p:nvPr/>
        </p:nvSpPr>
        <p:spPr>
          <a:xfrm>
            <a:off x="8247888" y="3160776"/>
            <a:ext cx="2926080" cy="56693"/>
          </a:xfrm>
          <a:prstGeom prst="rect">
            <a:avLst/>
          </a:prstGeom>
          <a:solidFill>
            <a:srgbClr val="191E23"/>
          </a:solidFill>
          <a:ln w="12700">
            <a:solidFill>
              <a:srgbClr val="333333"/>
            </a:solidFill>
            <a:prstDash val="solid"/>
          </a:ln>
        </p:spPr>
        <p:txBody>
          <a:bodyPr/>
          <a:lstStyle/>
          <a:p>
            <a:endParaRPr lang="en-SE"/>
          </a:p>
        </p:txBody>
      </p:sp>
      <p:sp>
        <p:nvSpPr>
          <p:cNvPr id="69" name="density preview row">
            <a:extLst>
              <a:ext uri="{C183D7F6-B498-43B3-948B-1728B52AA6E4}">
                <adec:decorative xmlns:adec="http://schemas.microsoft.com/office/drawing/2017/decorative" val="1"/>
              </a:ext>
            </a:extLst>
          </p:cNvPr>
          <p:cNvSpPr/>
          <p:nvPr/>
        </p:nvSpPr>
        <p:spPr>
          <a:xfrm>
            <a:off x="8247888" y="3255264"/>
            <a:ext cx="2926080" cy="56693"/>
          </a:xfrm>
          <a:prstGeom prst="rect">
            <a:avLst/>
          </a:prstGeom>
          <a:solidFill>
            <a:srgbClr val="273037"/>
          </a:solidFill>
          <a:ln w="12700">
            <a:solidFill>
              <a:srgbClr val="333333"/>
            </a:solidFill>
            <a:prstDash val="solid"/>
          </a:ln>
        </p:spPr>
        <p:txBody>
          <a:bodyPr/>
          <a:lstStyle/>
          <a:p>
            <a:endParaRPr lang="en-SE"/>
          </a:p>
        </p:txBody>
      </p:sp>
      <p:sp>
        <p:nvSpPr>
          <p:cNvPr id="70" name="density preview row">
            <a:extLst>
              <a:ext uri="{C183D7F6-B498-43B3-948B-1728B52AA6E4}">
                <adec:decorative xmlns:adec="http://schemas.microsoft.com/office/drawing/2017/decorative" val="1"/>
              </a:ext>
            </a:extLst>
          </p:cNvPr>
          <p:cNvSpPr/>
          <p:nvPr/>
        </p:nvSpPr>
        <p:spPr>
          <a:xfrm>
            <a:off x="8247888" y="3349752"/>
            <a:ext cx="2926080" cy="56693"/>
          </a:xfrm>
          <a:prstGeom prst="rect">
            <a:avLst/>
          </a:prstGeom>
          <a:solidFill>
            <a:srgbClr val="191E23"/>
          </a:solidFill>
          <a:ln w="12700">
            <a:solidFill>
              <a:srgbClr val="333333"/>
            </a:solidFill>
            <a:prstDash val="solid"/>
          </a:ln>
        </p:spPr>
        <p:txBody>
          <a:bodyPr/>
          <a:lstStyle/>
          <a:p>
            <a:endParaRPr lang="en-SE"/>
          </a:p>
        </p:txBody>
      </p:sp>
      <p:sp>
        <p:nvSpPr>
          <p:cNvPr id="71" name="density preview row">
            <a:extLst>
              <a:ext uri="{C183D7F6-B498-43B3-948B-1728B52AA6E4}">
                <adec:decorative xmlns:adec="http://schemas.microsoft.com/office/drawing/2017/decorative" val="1"/>
              </a:ext>
            </a:extLst>
          </p:cNvPr>
          <p:cNvSpPr/>
          <p:nvPr/>
        </p:nvSpPr>
        <p:spPr>
          <a:xfrm>
            <a:off x="8247888" y="3444240"/>
            <a:ext cx="2926080" cy="56693"/>
          </a:xfrm>
          <a:prstGeom prst="rect">
            <a:avLst/>
          </a:prstGeom>
          <a:solidFill>
            <a:srgbClr val="273037"/>
          </a:solidFill>
          <a:ln w="12700">
            <a:solidFill>
              <a:srgbClr val="333333"/>
            </a:solidFill>
            <a:prstDash val="solid"/>
          </a:ln>
        </p:spPr>
        <p:txBody>
          <a:bodyPr/>
          <a:lstStyle/>
          <a:p>
            <a:endParaRPr lang="en-SE"/>
          </a:p>
        </p:txBody>
      </p:sp>
      <p:sp>
        <p:nvSpPr>
          <p:cNvPr id="72" name="density preview row">
            <a:extLst>
              <a:ext uri="{C183D7F6-B498-43B3-948B-1728B52AA6E4}">
                <adec:decorative xmlns:adec="http://schemas.microsoft.com/office/drawing/2017/decorative" val="1"/>
              </a:ext>
            </a:extLst>
          </p:cNvPr>
          <p:cNvSpPr/>
          <p:nvPr/>
        </p:nvSpPr>
        <p:spPr>
          <a:xfrm>
            <a:off x="8247888" y="3538728"/>
            <a:ext cx="2926080" cy="56693"/>
          </a:xfrm>
          <a:prstGeom prst="rect">
            <a:avLst/>
          </a:prstGeom>
          <a:solidFill>
            <a:srgbClr val="191E23"/>
          </a:solidFill>
          <a:ln w="12700">
            <a:solidFill>
              <a:srgbClr val="333333"/>
            </a:solidFill>
            <a:prstDash val="solid"/>
          </a:ln>
        </p:spPr>
        <p:txBody>
          <a:bodyPr/>
          <a:lstStyle/>
          <a:p>
            <a:endParaRPr lang="en-SE"/>
          </a:p>
        </p:txBody>
      </p:sp>
      <p:sp>
        <p:nvSpPr>
          <p:cNvPr id="73" name="density preview row">
            <a:extLst>
              <a:ext uri="{C183D7F6-B498-43B3-948B-1728B52AA6E4}">
                <adec:decorative xmlns:adec="http://schemas.microsoft.com/office/drawing/2017/decorative" val="1"/>
              </a:ext>
            </a:extLst>
          </p:cNvPr>
          <p:cNvSpPr/>
          <p:nvPr/>
        </p:nvSpPr>
        <p:spPr>
          <a:xfrm>
            <a:off x="8247888" y="3633216"/>
            <a:ext cx="2926080" cy="56693"/>
          </a:xfrm>
          <a:prstGeom prst="rect">
            <a:avLst/>
          </a:prstGeom>
          <a:solidFill>
            <a:srgbClr val="273037"/>
          </a:solidFill>
          <a:ln w="12700">
            <a:solidFill>
              <a:srgbClr val="333333"/>
            </a:solidFill>
            <a:prstDash val="solid"/>
          </a:ln>
        </p:spPr>
        <p:txBody>
          <a:bodyPr/>
          <a:lstStyle/>
          <a:p>
            <a:endParaRPr lang="en-SE"/>
          </a:p>
        </p:txBody>
      </p:sp>
      <p:sp>
        <p:nvSpPr>
          <p:cNvPr id="74" name="density preview row">
            <a:extLst>
              <a:ext uri="{C183D7F6-B498-43B3-948B-1728B52AA6E4}">
                <adec:decorative xmlns:adec="http://schemas.microsoft.com/office/drawing/2017/decorative" val="1"/>
              </a:ext>
            </a:extLst>
          </p:cNvPr>
          <p:cNvSpPr/>
          <p:nvPr/>
        </p:nvSpPr>
        <p:spPr>
          <a:xfrm>
            <a:off x="8247888" y="3727704"/>
            <a:ext cx="2926080" cy="56693"/>
          </a:xfrm>
          <a:prstGeom prst="rect">
            <a:avLst/>
          </a:prstGeom>
          <a:solidFill>
            <a:srgbClr val="191E23"/>
          </a:solidFill>
          <a:ln w="12700">
            <a:solidFill>
              <a:srgbClr val="333333"/>
            </a:solidFill>
            <a:prstDash val="solid"/>
          </a:ln>
        </p:spPr>
        <p:txBody>
          <a:bodyPr/>
          <a:lstStyle/>
          <a:p>
            <a:endParaRPr lang="en-SE"/>
          </a:p>
        </p:txBody>
      </p:sp>
      <p:sp>
        <p:nvSpPr>
          <p:cNvPr id="75" name="density preview row">
            <a:extLst>
              <a:ext uri="{C183D7F6-B498-43B3-948B-1728B52AA6E4}">
                <adec:decorative xmlns:adec="http://schemas.microsoft.com/office/drawing/2017/decorative" val="1"/>
              </a:ext>
            </a:extLst>
          </p:cNvPr>
          <p:cNvSpPr/>
          <p:nvPr/>
        </p:nvSpPr>
        <p:spPr>
          <a:xfrm>
            <a:off x="8247888" y="3822192"/>
            <a:ext cx="2926080" cy="56693"/>
          </a:xfrm>
          <a:prstGeom prst="rect">
            <a:avLst/>
          </a:prstGeom>
          <a:solidFill>
            <a:srgbClr val="273037"/>
          </a:solidFill>
          <a:ln w="12700">
            <a:solidFill>
              <a:srgbClr val="333333"/>
            </a:solidFill>
            <a:prstDash val="solid"/>
          </a:ln>
        </p:spPr>
        <p:txBody>
          <a:bodyPr/>
          <a:lstStyle/>
          <a:p>
            <a:endParaRPr lang="en-SE"/>
          </a:p>
        </p:txBody>
      </p:sp>
      <p:sp>
        <p:nvSpPr>
          <p:cNvPr id="76" name="density preview row">
            <a:extLst>
              <a:ext uri="{C183D7F6-B498-43B3-948B-1728B52AA6E4}">
                <adec:decorative xmlns:adec="http://schemas.microsoft.com/office/drawing/2017/decorative" val="1"/>
              </a:ext>
            </a:extLst>
          </p:cNvPr>
          <p:cNvSpPr/>
          <p:nvPr/>
        </p:nvSpPr>
        <p:spPr>
          <a:xfrm>
            <a:off x="8247888" y="3916680"/>
            <a:ext cx="2926080" cy="56693"/>
          </a:xfrm>
          <a:prstGeom prst="rect">
            <a:avLst/>
          </a:prstGeom>
          <a:solidFill>
            <a:srgbClr val="191E23"/>
          </a:solidFill>
          <a:ln w="12700">
            <a:solidFill>
              <a:srgbClr val="333333"/>
            </a:solidFill>
            <a:prstDash val="solid"/>
          </a:ln>
        </p:spPr>
        <p:txBody>
          <a:bodyPr/>
          <a:lstStyle/>
          <a:p>
            <a:endParaRPr lang="en-SE"/>
          </a:p>
        </p:txBody>
      </p:sp>
      <p:sp>
        <p:nvSpPr>
          <p:cNvPr id="77" name="density preview row">
            <a:extLst>
              <a:ext uri="{C183D7F6-B498-43B3-948B-1728B52AA6E4}">
                <adec:decorative xmlns:adec="http://schemas.microsoft.com/office/drawing/2017/decorative" val="1"/>
              </a:ext>
            </a:extLst>
          </p:cNvPr>
          <p:cNvSpPr/>
          <p:nvPr/>
        </p:nvSpPr>
        <p:spPr>
          <a:xfrm>
            <a:off x="8247888" y="4011168"/>
            <a:ext cx="2926080" cy="56693"/>
          </a:xfrm>
          <a:prstGeom prst="rect">
            <a:avLst/>
          </a:prstGeom>
          <a:solidFill>
            <a:srgbClr val="273037"/>
          </a:solidFill>
          <a:ln w="12700">
            <a:solidFill>
              <a:srgbClr val="333333"/>
            </a:solidFill>
            <a:prstDash val="solid"/>
          </a:ln>
        </p:spPr>
        <p:txBody>
          <a:bodyPr/>
          <a:lstStyle/>
          <a:p>
            <a:endParaRPr lang="en-SE"/>
          </a:p>
        </p:txBody>
      </p:sp>
      <p:sp>
        <p:nvSpPr>
          <p:cNvPr id="78" name="density preview row">
            <a:extLst>
              <a:ext uri="{C183D7F6-B498-43B3-948B-1728B52AA6E4}">
                <adec:decorative xmlns:adec="http://schemas.microsoft.com/office/drawing/2017/decorative" val="1"/>
              </a:ext>
            </a:extLst>
          </p:cNvPr>
          <p:cNvSpPr/>
          <p:nvPr/>
        </p:nvSpPr>
        <p:spPr>
          <a:xfrm>
            <a:off x="8247888" y="4105656"/>
            <a:ext cx="2926080" cy="56693"/>
          </a:xfrm>
          <a:prstGeom prst="rect">
            <a:avLst/>
          </a:prstGeom>
          <a:solidFill>
            <a:srgbClr val="191E23"/>
          </a:solidFill>
          <a:ln w="12700">
            <a:solidFill>
              <a:srgbClr val="333333"/>
            </a:solidFill>
            <a:prstDash val="solid"/>
          </a:ln>
        </p:spPr>
        <p:txBody>
          <a:bodyPr/>
          <a:lstStyle/>
          <a:p>
            <a:endParaRPr lang="en-SE"/>
          </a:p>
        </p:txBody>
      </p:sp>
      <p:sp>
        <p:nvSpPr>
          <p:cNvPr id="79" name="density preview row">
            <a:extLst>
              <a:ext uri="{C183D7F6-B498-43B3-948B-1728B52AA6E4}">
                <adec:decorative xmlns:adec="http://schemas.microsoft.com/office/drawing/2017/decorative" val="1"/>
              </a:ext>
            </a:extLst>
          </p:cNvPr>
          <p:cNvSpPr/>
          <p:nvPr/>
        </p:nvSpPr>
        <p:spPr>
          <a:xfrm>
            <a:off x="8247888" y="4200144"/>
            <a:ext cx="2926080" cy="56693"/>
          </a:xfrm>
          <a:prstGeom prst="rect">
            <a:avLst/>
          </a:prstGeom>
          <a:solidFill>
            <a:srgbClr val="273037"/>
          </a:solidFill>
          <a:ln w="12700">
            <a:solidFill>
              <a:srgbClr val="333333"/>
            </a:solidFill>
            <a:prstDash val="solid"/>
          </a:ln>
        </p:spPr>
        <p:txBody>
          <a:bodyPr/>
          <a:lstStyle/>
          <a:p>
            <a:endParaRPr lang="en-SE"/>
          </a:p>
        </p:txBody>
      </p:sp>
      <p:sp>
        <p:nvSpPr>
          <p:cNvPr id="80" name="density preview row">
            <a:extLst>
              <a:ext uri="{C183D7F6-B498-43B3-948B-1728B52AA6E4}">
                <adec:decorative xmlns:adec="http://schemas.microsoft.com/office/drawing/2017/decorative" val="1"/>
              </a:ext>
            </a:extLst>
          </p:cNvPr>
          <p:cNvSpPr/>
          <p:nvPr/>
        </p:nvSpPr>
        <p:spPr>
          <a:xfrm>
            <a:off x="8247888" y="4294632"/>
            <a:ext cx="2926080" cy="56693"/>
          </a:xfrm>
          <a:prstGeom prst="rect">
            <a:avLst/>
          </a:prstGeom>
          <a:solidFill>
            <a:srgbClr val="191E23"/>
          </a:solidFill>
          <a:ln w="12700">
            <a:solidFill>
              <a:srgbClr val="333333"/>
            </a:solidFill>
            <a:prstDash val="solid"/>
          </a:ln>
        </p:spPr>
        <p:txBody>
          <a:bodyPr/>
          <a:lstStyle/>
          <a:p>
            <a:endParaRPr lang="en-SE"/>
          </a:p>
        </p:txBody>
      </p:sp>
      <p:sp>
        <p:nvSpPr>
          <p:cNvPr id="81" name="Text 79"/>
          <p:cNvSpPr/>
          <p:nvPr/>
        </p:nvSpPr>
        <p:spPr>
          <a:xfrm>
            <a:off x="8247888" y="4526280"/>
            <a:ext cx="2926080" cy="548640"/>
          </a:xfrm>
          <a:prstGeom prst="rect">
            <a:avLst/>
          </a:prstGeom>
          <a:noFill/>
          <a:ln/>
        </p:spPr>
        <p:txBody>
          <a:bodyPr wrap="square" lIns="0" tIns="0" rIns="0" bIns="0" rtlCol="0" anchor="ctr"/>
          <a:lstStyle/>
          <a:p>
            <a:pPr marL="0" indent="0">
              <a:lnSpc>
                <a:spcPct val="112000"/>
              </a:lnSpc>
              <a:buNone/>
            </a:pPr>
            <a:r>
              <a:rPr lang="en-US" sz="1100" dirty="0">
                <a:solidFill>
                  <a:srgbClr val="AAB7C2"/>
                </a:solidFill>
                <a:latin typeface="Segoe UI" pitchFamily="34" charset="0"/>
                <a:ea typeface="Segoe UI" pitchFamily="34" charset="-122"/>
                <a:cs typeface="Segoe UI" pitchFamily="34" charset="-120"/>
              </a:rPr>
              <a:t>Tightest rows, most data per page, shortest dwell. For an operator sitting right in front of the screen.</a:t>
            </a:r>
            <a:endParaRPr lang="en-US" sz="1100" dirty="0"/>
          </a:p>
        </p:txBody>
      </p:sp>
      <p:sp>
        <p:nvSpPr>
          <p:cNvPr id="82" name="callout background">
            <a:extLst>
              <a:ext uri="{C183D7F6-B498-43B3-948B-1728B52AA6E4}">
                <adec:decorative xmlns:adec="http://schemas.microsoft.com/office/drawing/2017/decorative" val="1"/>
              </a:ext>
            </a:extLst>
          </p:cNvPr>
          <p:cNvSpPr/>
          <p:nvPr/>
        </p:nvSpPr>
        <p:spPr>
          <a:xfrm>
            <a:off x="566928" y="5349240"/>
            <a:ext cx="10607040" cy="868680"/>
          </a:xfrm>
          <a:prstGeom prst="rect">
            <a:avLst/>
          </a:prstGeom>
          <a:solidFill>
            <a:srgbClr val="273037"/>
          </a:solidFill>
          <a:ln w="12700">
            <a:solidFill>
              <a:srgbClr val="3FE08A"/>
            </a:solidFill>
            <a:prstDash val="solid"/>
          </a:ln>
        </p:spPr>
        <p:txBody>
          <a:bodyPr/>
          <a:lstStyle/>
          <a:p>
            <a:endParaRPr lang="en-SE"/>
          </a:p>
        </p:txBody>
      </p:sp>
      <p:sp>
        <p:nvSpPr>
          <p:cNvPr id="83" name="Text 81"/>
          <p:cNvSpPr/>
          <p:nvPr/>
        </p:nvSpPr>
        <p:spPr>
          <a:xfrm>
            <a:off x="868680" y="5349240"/>
            <a:ext cx="10058400" cy="868680"/>
          </a:xfrm>
          <a:prstGeom prst="rect">
            <a:avLst/>
          </a:prstGeom>
          <a:noFill/>
          <a:ln/>
        </p:spPr>
        <p:txBody>
          <a:bodyPr wrap="square" lIns="0" tIns="0" rIns="0" bIns="0" rtlCol="0" anchor="ctr"/>
          <a:lstStyle/>
          <a:p>
            <a:pPr marL="0" indent="0">
              <a:lnSpc>
                <a:spcPct val="115000"/>
              </a:lnSpc>
              <a:buNone/>
            </a:pPr>
            <a:r>
              <a:rPr lang="en-US" sz="1250" b="1" dirty="0">
                <a:solidFill>
                  <a:srgbClr val="3FE08A"/>
                </a:solidFill>
                <a:latin typeface="Segoe UI" pitchFamily="34" charset="0"/>
                <a:ea typeface="Segoe UI" pitchFamily="34" charset="-122"/>
                <a:cs typeface="Segoe UI" pitchFamily="34" charset="-120"/>
              </a:rPr>
              <a:t>It is a display preference, not a mode.  </a:t>
            </a:r>
            <a:r>
              <a:rPr lang="en-US" sz="1250" dirty="0">
                <a:solidFill>
                  <a:srgbClr val="E6EDF3"/>
                </a:solidFill>
                <a:latin typeface="Segoe UI" pitchFamily="34" charset="0"/>
                <a:ea typeface="Segoe UI" pitchFamily="34" charset="-122"/>
                <a:cs typeface="Segoe UI" pitchFamily="34" charset="-120"/>
              </a:rPr>
              <a:t>Every route and every single data point stays reachable at every density setting. Nothing is hidden from you at Lobby, and nothing extra is unlocked at Dense — only the defaults for type size and page dwell change.</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side band">
            <a:extLst>
              <a:ext uri="{C183D7F6-B498-43B3-948B-1728B52AA6E4}">
                <adec:decorative xmlns:adec="http://schemas.microsoft.com/office/drawing/2017/decorative" val="1"/>
              </a:ext>
            </a:extLst>
          </p:cNvPr>
          <p:cNvSpPr/>
          <p:nvPr/>
        </p:nvSpPr>
        <p:spPr>
          <a:xfrm>
            <a:off x="0" y="0"/>
            <a:ext cx="384048" cy="6858000"/>
          </a:xfrm>
          <a:prstGeom prst="rect">
            <a:avLst/>
          </a:prstGeom>
          <a:solidFill>
            <a:srgbClr val="122C22"/>
          </a:solidFill>
          <a:ln w="12700">
            <a:solidFill>
              <a:srgbClr val="333333"/>
            </a:solidFill>
            <a:prstDash val="solid"/>
          </a:ln>
        </p:spPr>
        <p:txBody>
          <a:bodyPr/>
          <a:lstStyle/>
          <a:p>
            <a:endParaRPr lang="en-SE"/>
          </a:p>
        </p:txBody>
      </p:sp>
      <p:sp>
        <p:nvSpPr>
          <p:cNvPr id="29" name="side accent">
            <a:extLst>
              <a:ext uri="{C183D7F6-B498-43B3-948B-1728B52AA6E4}">
                <adec:decorative xmlns:adec="http://schemas.microsoft.com/office/drawing/2017/decorative" val="1"/>
              </a:ext>
            </a:extLst>
          </p:cNvPr>
          <p:cNvSpPr/>
          <p:nvPr/>
        </p:nvSpPr>
        <p:spPr>
          <a:xfrm>
            <a:off x="384048" y="0"/>
            <a:ext cx="45720" cy="6858000"/>
          </a:xfrm>
          <a:prstGeom prst="rect">
            <a:avLst/>
          </a:prstGeom>
          <a:solidFill>
            <a:srgbClr val="3FE08A"/>
          </a:solidFill>
          <a:ln w="12700">
            <a:solidFill>
              <a:srgbClr val="333333"/>
            </a:solidFill>
            <a:prstDash val="solid"/>
          </a:ln>
        </p:spPr>
        <p:txBody>
          <a:bodyPr/>
          <a:lstStyle/>
          <a:p>
            <a:endParaRPr lang="en-SE"/>
          </a:p>
        </p:txBody>
      </p:sp>
      <p:sp>
        <p:nvSpPr>
          <p:cNvPr id="30" name="Text 28"/>
          <p:cNvSpPr/>
          <p:nvPr/>
        </p:nvSpPr>
        <p:spPr>
          <a:xfrm>
            <a:off x="1280160" y="1691640"/>
            <a:ext cx="3657600" cy="1371600"/>
          </a:xfrm>
          <a:prstGeom prst="rect">
            <a:avLst/>
          </a:prstGeom>
          <a:noFill/>
          <a:ln/>
        </p:spPr>
        <p:txBody>
          <a:bodyPr wrap="square" lIns="0" tIns="0" rIns="0" bIns="0" rtlCol="0" anchor="ctr"/>
          <a:lstStyle/>
          <a:p>
            <a:pPr marL="0" indent="0">
              <a:buNone/>
            </a:pPr>
            <a:r>
              <a:rPr lang="en-US" sz="8400" b="1" dirty="0">
                <a:solidFill>
                  <a:srgbClr val="1E6E4B"/>
                </a:solidFill>
                <a:latin typeface="Consolas" pitchFamily="34" charset="0"/>
                <a:ea typeface="Consolas" pitchFamily="34" charset="-122"/>
                <a:cs typeface="Consolas" pitchFamily="34" charset="-120"/>
              </a:rPr>
              <a:t>05</a:t>
            </a:r>
            <a:endParaRPr lang="en-US" sz="8400" dirty="0"/>
          </a:p>
        </p:txBody>
      </p:sp>
      <p:sp>
        <p:nvSpPr>
          <p:cNvPr id="31" name="Text 0"/>
          <p:cNvSpPr>
            <a:spLocks noGrp="1"/>
          </p:cNvSpPr>
          <p:nvPr>
            <p:ph type="title" idx="100" hasCustomPrompt="1"/>
          </p:nvPr>
        </p:nvSpPr>
        <p:spPr>
          <a:xfrm>
            <a:off x="1371600" y="2788920"/>
            <a:ext cx="9418320" cy="1005840"/>
          </a:xfrm>
          <a:prstGeom prst="rect">
            <a:avLst/>
          </a:prstGeom>
          <a:noFill/>
          <a:ln/>
        </p:spPr>
        <p:txBody>
          <a:bodyPr wrap="square" lIns="0" tIns="0" rIns="0" bIns="0" rtlCol="0" anchor="ctr"/>
          <a:lstStyle/>
          <a:p>
            <a:pPr marL="0" indent="0">
              <a:buNone/>
            </a:pPr>
            <a:r>
              <a:rPr lang="en-US" sz="3600" b="1" dirty="0">
                <a:solidFill>
                  <a:srgbClr val="E6EDF3"/>
                </a:solidFill>
                <a:latin typeface="Segoe UI" pitchFamily="34" charset="0"/>
                <a:ea typeface="Segoe UI" pitchFamily="34" charset="-122"/>
                <a:cs typeface="Segoe UI" pitchFamily="34" charset="-120"/>
              </a:rPr>
              <a:t>How errors are handled</a:t>
            </a:r>
            <a:endParaRPr lang="en-US" sz="3600" dirty="0"/>
          </a:p>
        </p:txBody>
      </p:sp>
      <p:sp>
        <p:nvSpPr>
          <p:cNvPr id="32" name="Text 30"/>
          <p:cNvSpPr/>
          <p:nvPr/>
        </p:nvSpPr>
        <p:spPr>
          <a:xfrm>
            <a:off x="1371600" y="3931920"/>
            <a:ext cx="8778240" cy="822960"/>
          </a:xfrm>
          <a:prstGeom prst="rect">
            <a:avLst/>
          </a:prstGeom>
          <a:noFill/>
          <a:ln/>
        </p:spPr>
        <p:txBody>
          <a:bodyPr wrap="square" lIns="0" tIns="0" rIns="0" bIns="0" rtlCol="0" anchor="t"/>
          <a:lstStyle/>
          <a:p>
            <a:pPr marL="0" indent="0">
              <a:lnSpc>
                <a:spcPct val="115000"/>
              </a:lnSpc>
              <a:buNone/>
            </a:pPr>
            <a:r>
              <a:rPr lang="en-US" sz="1450" dirty="0">
                <a:solidFill>
                  <a:srgbClr val="AAB7C2"/>
                </a:solidFill>
                <a:latin typeface="Segoe UI" pitchFamily="34" charset="0"/>
                <a:ea typeface="Segoe UI" pitchFamily="34" charset="-122"/>
                <a:cs typeface="Segoe UI" pitchFamily="34" charset="-120"/>
              </a:rPr>
              <a:t>One principle runs through every failure case in this terminal. Learn it once, and every banner makes sense.</a:t>
            </a:r>
            <a:endParaRPr lang="en-US" sz="1450" dirty="0"/>
          </a:p>
        </p:txBody>
      </p:sp>
      <p:sp>
        <p:nvSpPr>
          <p:cNvPr id="33" name="ticker bar">
            <a:extLst>
              <a:ext uri="{C183D7F6-B498-43B3-948B-1728B52AA6E4}">
                <adec:decorative xmlns:adec="http://schemas.microsoft.com/office/drawing/2017/decorative" val="1"/>
              </a:ext>
            </a:extLst>
          </p:cNvPr>
          <p:cNvSpPr/>
          <p:nvPr/>
        </p:nvSpPr>
        <p:spPr>
          <a:xfrm>
            <a:off x="1371600" y="5532120"/>
            <a:ext cx="164592" cy="137160"/>
          </a:xfrm>
          <a:prstGeom prst="rect">
            <a:avLst/>
          </a:prstGeom>
          <a:solidFill>
            <a:srgbClr val="1E6E4B"/>
          </a:solidFill>
          <a:ln w="12700">
            <a:solidFill>
              <a:srgbClr val="333333"/>
            </a:solidFill>
            <a:prstDash val="solid"/>
          </a:ln>
        </p:spPr>
        <p:txBody>
          <a:bodyPr/>
          <a:lstStyle/>
          <a:p>
            <a:endParaRPr lang="en-SE"/>
          </a:p>
        </p:txBody>
      </p:sp>
      <p:sp>
        <p:nvSpPr>
          <p:cNvPr id="34" name="ticker bar">
            <a:extLst>
              <a:ext uri="{C183D7F6-B498-43B3-948B-1728B52AA6E4}">
                <adec:decorative xmlns:adec="http://schemas.microsoft.com/office/drawing/2017/decorative" val="1"/>
              </a:ext>
            </a:extLst>
          </p:cNvPr>
          <p:cNvSpPr/>
          <p:nvPr/>
        </p:nvSpPr>
        <p:spPr>
          <a:xfrm>
            <a:off x="1682496" y="5367528"/>
            <a:ext cx="164592" cy="301752"/>
          </a:xfrm>
          <a:prstGeom prst="rect">
            <a:avLst/>
          </a:prstGeom>
          <a:solidFill>
            <a:srgbClr val="1E6E4B"/>
          </a:solidFill>
          <a:ln w="12700">
            <a:solidFill>
              <a:srgbClr val="333333"/>
            </a:solidFill>
            <a:prstDash val="solid"/>
          </a:ln>
        </p:spPr>
        <p:txBody>
          <a:bodyPr/>
          <a:lstStyle/>
          <a:p>
            <a:endParaRPr lang="en-SE"/>
          </a:p>
        </p:txBody>
      </p:sp>
      <p:sp>
        <p:nvSpPr>
          <p:cNvPr id="35" name="ticker bar">
            <a:extLst>
              <a:ext uri="{C183D7F6-B498-43B3-948B-1728B52AA6E4}">
                <adec:decorative xmlns:adec="http://schemas.microsoft.com/office/drawing/2017/decorative" val="1"/>
              </a:ext>
            </a:extLst>
          </p:cNvPr>
          <p:cNvSpPr/>
          <p:nvPr/>
        </p:nvSpPr>
        <p:spPr>
          <a:xfrm>
            <a:off x="1993392" y="5449824"/>
            <a:ext cx="164592" cy="219456"/>
          </a:xfrm>
          <a:prstGeom prst="rect">
            <a:avLst/>
          </a:prstGeom>
          <a:solidFill>
            <a:srgbClr val="1E6E4B"/>
          </a:solidFill>
          <a:ln w="12700">
            <a:solidFill>
              <a:srgbClr val="333333"/>
            </a:solidFill>
            <a:prstDash val="solid"/>
          </a:ln>
        </p:spPr>
        <p:txBody>
          <a:bodyPr/>
          <a:lstStyle/>
          <a:p>
            <a:endParaRPr lang="en-SE"/>
          </a:p>
        </p:txBody>
      </p:sp>
      <p:sp>
        <p:nvSpPr>
          <p:cNvPr id="36" name="ticker bar">
            <a:extLst>
              <a:ext uri="{C183D7F6-B498-43B3-948B-1728B52AA6E4}">
                <adec:decorative xmlns:adec="http://schemas.microsoft.com/office/drawing/2017/decorative" val="1"/>
              </a:ext>
            </a:extLst>
          </p:cNvPr>
          <p:cNvSpPr/>
          <p:nvPr/>
        </p:nvSpPr>
        <p:spPr>
          <a:xfrm>
            <a:off x="2304288" y="5230368"/>
            <a:ext cx="164592" cy="438912"/>
          </a:xfrm>
          <a:prstGeom prst="rect">
            <a:avLst/>
          </a:prstGeom>
          <a:solidFill>
            <a:srgbClr val="1E6E4B"/>
          </a:solidFill>
          <a:ln w="12700">
            <a:solidFill>
              <a:srgbClr val="333333"/>
            </a:solidFill>
            <a:prstDash val="solid"/>
          </a:ln>
        </p:spPr>
        <p:txBody>
          <a:bodyPr/>
          <a:lstStyle/>
          <a:p>
            <a:endParaRPr lang="en-SE"/>
          </a:p>
        </p:txBody>
      </p:sp>
      <p:sp>
        <p:nvSpPr>
          <p:cNvPr id="37" name="ticker bar">
            <a:extLst>
              <a:ext uri="{C183D7F6-B498-43B3-948B-1728B52AA6E4}">
                <adec:decorative xmlns:adec="http://schemas.microsoft.com/office/drawing/2017/decorative" val="1"/>
              </a:ext>
            </a:extLst>
          </p:cNvPr>
          <p:cNvSpPr/>
          <p:nvPr/>
        </p:nvSpPr>
        <p:spPr>
          <a:xfrm>
            <a:off x="2615184" y="5340096"/>
            <a:ext cx="164592" cy="329184"/>
          </a:xfrm>
          <a:prstGeom prst="rect">
            <a:avLst/>
          </a:prstGeom>
          <a:solidFill>
            <a:srgbClr val="1E6E4B"/>
          </a:solidFill>
          <a:ln w="12700">
            <a:solidFill>
              <a:srgbClr val="333333"/>
            </a:solidFill>
            <a:prstDash val="solid"/>
          </a:ln>
        </p:spPr>
        <p:txBody>
          <a:bodyPr/>
          <a:lstStyle/>
          <a:p>
            <a:endParaRPr lang="en-SE"/>
          </a:p>
        </p:txBody>
      </p:sp>
      <p:sp>
        <p:nvSpPr>
          <p:cNvPr id="38" name="ticker bar">
            <a:extLst>
              <a:ext uri="{C183D7F6-B498-43B3-948B-1728B52AA6E4}">
                <adec:decorative xmlns:adec="http://schemas.microsoft.com/office/drawing/2017/decorative" val="1"/>
              </a:ext>
            </a:extLst>
          </p:cNvPr>
          <p:cNvSpPr/>
          <p:nvPr/>
        </p:nvSpPr>
        <p:spPr>
          <a:xfrm>
            <a:off x="2926080" y="5120640"/>
            <a:ext cx="164592" cy="548640"/>
          </a:xfrm>
          <a:prstGeom prst="rect">
            <a:avLst/>
          </a:prstGeom>
          <a:solidFill>
            <a:srgbClr val="1E6E4B"/>
          </a:solidFill>
          <a:ln w="12700">
            <a:solidFill>
              <a:srgbClr val="333333"/>
            </a:solidFill>
            <a:prstDash val="solid"/>
          </a:ln>
        </p:spPr>
        <p:txBody>
          <a:bodyPr/>
          <a:lstStyle/>
          <a:p>
            <a:endParaRPr lang="en-SE"/>
          </a:p>
        </p:txBody>
      </p:sp>
      <p:sp>
        <p:nvSpPr>
          <p:cNvPr id="39" name="ticker bar">
            <a:extLst>
              <a:ext uri="{C183D7F6-B498-43B3-948B-1728B52AA6E4}">
                <adec:decorative xmlns:adec="http://schemas.microsoft.com/office/drawing/2017/decorative" val="1"/>
              </a:ext>
            </a:extLst>
          </p:cNvPr>
          <p:cNvSpPr/>
          <p:nvPr/>
        </p:nvSpPr>
        <p:spPr>
          <a:xfrm>
            <a:off x="3236976" y="5257800"/>
            <a:ext cx="164592" cy="411480"/>
          </a:xfrm>
          <a:prstGeom prst="rect">
            <a:avLst/>
          </a:prstGeom>
          <a:solidFill>
            <a:srgbClr val="1E6E4B"/>
          </a:solidFill>
          <a:ln w="12700">
            <a:solidFill>
              <a:srgbClr val="333333"/>
            </a:solidFill>
            <a:prstDash val="solid"/>
          </a:ln>
        </p:spPr>
        <p:txBody>
          <a:bodyPr/>
          <a:lstStyle/>
          <a:p>
            <a:endParaRPr lang="en-SE"/>
          </a:p>
        </p:txBody>
      </p:sp>
      <p:sp>
        <p:nvSpPr>
          <p:cNvPr id="40" name="ticker bar">
            <a:extLst>
              <a:ext uri="{C183D7F6-B498-43B3-948B-1728B52AA6E4}">
                <adec:decorative xmlns:adec="http://schemas.microsoft.com/office/drawing/2017/decorative" val="1"/>
              </a:ext>
            </a:extLst>
          </p:cNvPr>
          <p:cNvSpPr/>
          <p:nvPr/>
        </p:nvSpPr>
        <p:spPr>
          <a:xfrm>
            <a:off x="3547872" y="5010912"/>
            <a:ext cx="164592" cy="658368"/>
          </a:xfrm>
          <a:prstGeom prst="rect">
            <a:avLst/>
          </a:prstGeom>
          <a:solidFill>
            <a:srgbClr val="3FE08A"/>
          </a:solidFill>
          <a:ln w="12700">
            <a:solidFill>
              <a:srgbClr val="333333"/>
            </a:solidFill>
            <a:prstDash val="solid"/>
          </a:ln>
        </p:spPr>
        <p:txBody>
          <a:bodyPr/>
          <a:lstStyle/>
          <a:p>
            <a:endParaRPr lang="en-SE"/>
          </a:p>
        </p:txBody>
      </p:sp>
      <p:sp>
        <p:nvSpPr>
          <p:cNvPr id="41" name="ticker bar">
            <a:extLst>
              <a:ext uri="{C183D7F6-B498-43B3-948B-1728B52AA6E4}">
                <adec:decorative xmlns:adec="http://schemas.microsoft.com/office/drawing/2017/decorative" val="1"/>
              </a:ext>
            </a:extLst>
          </p:cNvPr>
          <p:cNvSpPr/>
          <p:nvPr/>
        </p:nvSpPr>
        <p:spPr>
          <a:xfrm>
            <a:off x="3858768" y="5148072"/>
            <a:ext cx="164592" cy="521208"/>
          </a:xfrm>
          <a:prstGeom prst="rect">
            <a:avLst/>
          </a:prstGeom>
          <a:solidFill>
            <a:srgbClr val="3FE08A"/>
          </a:solidFill>
          <a:ln w="12700">
            <a:solidFill>
              <a:srgbClr val="333333"/>
            </a:solidFill>
            <a:prstDash val="solid"/>
          </a:ln>
        </p:spPr>
        <p:txBody>
          <a:bodyPr/>
          <a:lstStyle/>
          <a:p>
            <a:endParaRPr lang="en-SE"/>
          </a:p>
        </p:txBody>
      </p:sp>
      <p:sp>
        <p:nvSpPr>
          <p:cNvPr id="42" name="ticker bar">
            <a:extLst>
              <a:ext uri="{C183D7F6-B498-43B3-948B-1728B52AA6E4}">
                <adec:decorative xmlns:adec="http://schemas.microsoft.com/office/drawing/2017/decorative" val="1"/>
              </a:ext>
            </a:extLst>
          </p:cNvPr>
          <p:cNvSpPr/>
          <p:nvPr/>
        </p:nvSpPr>
        <p:spPr>
          <a:xfrm>
            <a:off x="4169664" y="4928616"/>
            <a:ext cx="164592" cy="740664"/>
          </a:xfrm>
          <a:prstGeom prst="rect">
            <a:avLst/>
          </a:prstGeom>
          <a:solidFill>
            <a:srgbClr val="3FE08A"/>
          </a:solidFill>
          <a:ln w="12700">
            <a:solidFill>
              <a:srgbClr val="333333"/>
            </a:solidFill>
            <a:prstDash val="solid"/>
          </a:ln>
        </p:spPr>
        <p:txBody>
          <a:bodyPr/>
          <a:lstStyle/>
          <a:p>
            <a:endParaRPr lang="en-SE"/>
          </a:p>
        </p:txBody>
      </p:sp>
      <p:sp>
        <p:nvSpPr>
          <p:cNvPr id="43"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44"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45" name="Text 43"/>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46" name="Text 44"/>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47" name="Text 45"/>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32</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sz="2400"/>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The principle: no data beats possibly faulty data</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05 · ERROR HANDLING</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33</a:t>
            </a:r>
            <a:endParaRPr lang="en-US" sz="950" dirty="0"/>
          </a:p>
        </p:txBody>
      </p:sp>
      <p:sp>
        <p:nvSpPr>
          <p:cNvPr id="37" name="principle callout background">
            <a:extLst>
              <a:ext uri="{C183D7F6-B498-43B3-948B-1728B52AA6E4}">
                <adec:decorative xmlns:adec="http://schemas.microsoft.com/office/drawing/2017/decorative" val="1"/>
              </a:ext>
            </a:extLst>
          </p:cNvPr>
          <p:cNvSpPr/>
          <p:nvPr/>
        </p:nvSpPr>
        <p:spPr>
          <a:xfrm>
            <a:off x="566928" y="1371600"/>
            <a:ext cx="10607040" cy="1691640"/>
          </a:xfrm>
          <a:prstGeom prst="rect">
            <a:avLst/>
          </a:prstGeom>
          <a:solidFill>
            <a:srgbClr val="122C22"/>
          </a:solidFill>
          <a:ln w="19050">
            <a:solidFill>
              <a:srgbClr val="3FE08A"/>
            </a:solidFill>
            <a:prstDash val="solid"/>
          </a:ln>
        </p:spPr>
        <p:txBody>
          <a:bodyPr/>
          <a:lstStyle/>
          <a:p>
            <a:endParaRPr lang="en-SE"/>
          </a:p>
        </p:txBody>
      </p:sp>
      <p:sp>
        <p:nvSpPr>
          <p:cNvPr id="38" name="Text 36"/>
          <p:cNvSpPr/>
          <p:nvPr/>
        </p:nvSpPr>
        <p:spPr>
          <a:xfrm>
            <a:off x="914400" y="1371600"/>
            <a:ext cx="9875520" cy="1691640"/>
          </a:xfrm>
          <a:prstGeom prst="rect">
            <a:avLst/>
          </a:prstGeom>
          <a:noFill/>
          <a:ln/>
        </p:spPr>
        <p:txBody>
          <a:bodyPr wrap="square" lIns="0" tIns="0" rIns="0" bIns="0" rtlCol="0" anchor="ctr"/>
          <a:lstStyle/>
          <a:p>
            <a:pPr marL="0" indent="0" algn="ctr">
              <a:lnSpc>
                <a:spcPct val="120000"/>
              </a:lnSpc>
              <a:buNone/>
            </a:pPr>
            <a:r>
              <a:rPr lang="en-US" sz="2100" b="1" i="1" dirty="0">
                <a:solidFill>
                  <a:srgbClr val="E6EDF3"/>
                </a:solidFill>
                <a:latin typeface="Segoe UI" pitchFamily="34" charset="0"/>
                <a:ea typeface="Segoe UI" pitchFamily="34" charset="-122"/>
                <a:cs typeface="Segoe UI" pitchFamily="34" charset="-120"/>
              </a:rPr>
              <a:t>"If the terminal is not certain a number is correct, it shows you nothing </a:t>
            </a:r>
            <a:endParaRPr lang="en-US" sz="2100" i="1" dirty="0"/>
          </a:p>
          <a:p>
            <a:pPr marL="0" indent="0" algn="ctr">
              <a:lnSpc>
                <a:spcPct val="120000"/>
              </a:lnSpc>
              <a:buNone/>
            </a:pPr>
            <a:r>
              <a:rPr lang="en-US" sz="2100" b="1" i="1" dirty="0">
                <a:solidFill>
                  <a:srgbClr val="E6EDF3"/>
                </a:solidFill>
                <a:latin typeface="Segoe UI" pitchFamily="34" charset="0"/>
                <a:ea typeface="Segoe UI" pitchFamily="34" charset="-122"/>
                <a:cs typeface="Segoe UI" pitchFamily="34" charset="-120"/>
              </a:rPr>
              <a:t>and tells you why, rather than showing you something plausible."</a:t>
            </a:r>
            <a:endParaRPr lang="en-US" sz="2100" i="1" dirty="0"/>
          </a:p>
        </p:txBody>
      </p:sp>
      <p:sp>
        <p:nvSpPr>
          <p:cNvPr id="39" name="panel">
            <a:extLst>
              <a:ext uri="{C183D7F6-B498-43B3-948B-1728B52AA6E4}">
                <adec:decorative xmlns:adec="http://schemas.microsoft.com/office/drawing/2017/decorative" val="1"/>
              </a:ext>
            </a:extLst>
          </p:cNvPr>
          <p:cNvSpPr/>
          <p:nvPr/>
        </p:nvSpPr>
        <p:spPr>
          <a:xfrm>
            <a:off x="566928" y="3383280"/>
            <a:ext cx="3474720" cy="214884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40" name="panel accent">
            <a:extLst>
              <a:ext uri="{C183D7F6-B498-43B3-948B-1728B52AA6E4}">
                <adec:decorative xmlns:adec="http://schemas.microsoft.com/office/drawing/2017/decorative" val="1"/>
              </a:ext>
            </a:extLst>
          </p:cNvPr>
          <p:cNvSpPr/>
          <p:nvPr/>
        </p:nvSpPr>
        <p:spPr>
          <a:xfrm>
            <a:off x="566928" y="3383280"/>
            <a:ext cx="50292" cy="2148840"/>
          </a:xfrm>
          <a:prstGeom prst="rect">
            <a:avLst/>
          </a:prstGeom>
          <a:solidFill>
            <a:srgbClr val="EF5B63"/>
          </a:solidFill>
          <a:ln w="12700">
            <a:solidFill>
              <a:srgbClr val="333333"/>
            </a:solidFill>
            <a:prstDash val="solid"/>
          </a:ln>
        </p:spPr>
        <p:txBody>
          <a:bodyPr/>
          <a:lstStyle/>
          <a:p>
            <a:endParaRPr lang="en-SE"/>
          </a:p>
        </p:txBody>
      </p:sp>
      <p:sp>
        <p:nvSpPr>
          <p:cNvPr id="41" name="Text 39"/>
          <p:cNvSpPr/>
          <p:nvPr/>
        </p:nvSpPr>
        <p:spPr>
          <a:xfrm>
            <a:off x="822960" y="3611880"/>
            <a:ext cx="2971800" cy="548640"/>
          </a:xfrm>
          <a:prstGeom prst="rect">
            <a:avLst/>
          </a:prstGeom>
          <a:noFill/>
          <a:ln/>
        </p:spPr>
        <p:txBody>
          <a:bodyPr wrap="square" lIns="0" tIns="0" rIns="0" bIns="0" rtlCol="0" anchor="ctr"/>
          <a:lstStyle/>
          <a:p>
            <a:pPr marL="0" indent="0">
              <a:lnSpc>
                <a:spcPct val="105000"/>
              </a:lnSpc>
              <a:buNone/>
            </a:pPr>
            <a:r>
              <a:rPr lang="en-US" sz="1600" b="1" dirty="0">
                <a:solidFill>
                  <a:srgbClr val="EF5B63"/>
                </a:solidFill>
                <a:latin typeface="Segoe UI" pitchFamily="34" charset="0"/>
                <a:ea typeface="Segoe UI" pitchFamily="34" charset="-122"/>
                <a:cs typeface="Segoe UI" pitchFamily="34" charset="-120"/>
              </a:rPr>
              <a:t>A wrong number is invisible</a:t>
            </a:r>
            <a:endParaRPr lang="en-US" sz="1600" dirty="0"/>
          </a:p>
        </p:txBody>
      </p:sp>
      <p:sp>
        <p:nvSpPr>
          <p:cNvPr id="42" name="Text 40"/>
          <p:cNvSpPr/>
          <p:nvPr/>
        </p:nvSpPr>
        <p:spPr>
          <a:xfrm>
            <a:off x="822960" y="4224528"/>
            <a:ext cx="2971800" cy="1188720"/>
          </a:xfrm>
          <a:prstGeom prst="rect">
            <a:avLst/>
          </a:prstGeom>
          <a:noFill/>
          <a:ln/>
        </p:spPr>
        <p:txBody>
          <a:bodyPr wrap="square" lIns="0" tIns="0" rIns="0" bIns="0" rtlCol="0" anchor="ctr"/>
          <a:lstStyle/>
          <a:p>
            <a:pPr marL="0" indent="0">
              <a:lnSpc>
                <a:spcPct val="115000"/>
              </a:lnSpc>
              <a:buNone/>
            </a:pPr>
            <a:r>
              <a:rPr lang="en-US" sz="1400" dirty="0">
                <a:solidFill>
                  <a:srgbClr val="AAB7C2"/>
                </a:solidFill>
                <a:latin typeface="Segoe UI" pitchFamily="34" charset="0"/>
                <a:ea typeface="Segoe UI" pitchFamily="34" charset="-122"/>
                <a:cs typeface="Segoe UI" pitchFamily="34" charset="-120"/>
              </a:rPr>
              <a:t>A stale or guessed price looks exactly like a correct one. There is no way for a viewer to tell them apart — so they will act on it.</a:t>
            </a:r>
            <a:endParaRPr lang="en-US" sz="1400" dirty="0"/>
          </a:p>
        </p:txBody>
      </p:sp>
      <p:sp>
        <p:nvSpPr>
          <p:cNvPr id="43" name="panel">
            <a:extLst>
              <a:ext uri="{C183D7F6-B498-43B3-948B-1728B52AA6E4}">
                <adec:decorative xmlns:adec="http://schemas.microsoft.com/office/drawing/2017/decorative" val="1"/>
              </a:ext>
            </a:extLst>
          </p:cNvPr>
          <p:cNvSpPr/>
          <p:nvPr/>
        </p:nvSpPr>
        <p:spPr>
          <a:xfrm>
            <a:off x="4279392" y="3383280"/>
            <a:ext cx="3474720" cy="214884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44" name="panel accent">
            <a:extLst>
              <a:ext uri="{C183D7F6-B498-43B3-948B-1728B52AA6E4}">
                <adec:decorative xmlns:adec="http://schemas.microsoft.com/office/drawing/2017/decorative" val="1"/>
              </a:ext>
            </a:extLst>
          </p:cNvPr>
          <p:cNvSpPr/>
          <p:nvPr/>
        </p:nvSpPr>
        <p:spPr>
          <a:xfrm>
            <a:off x="4279392" y="3383280"/>
            <a:ext cx="50292" cy="2148840"/>
          </a:xfrm>
          <a:prstGeom prst="rect">
            <a:avLst/>
          </a:prstGeom>
          <a:solidFill>
            <a:srgbClr val="3FE08A"/>
          </a:solidFill>
          <a:ln w="12700">
            <a:solidFill>
              <a:srgbClr val="333333"/>
            </a:solidFill>
            <a:prstDash val="solid"/>
          </a:ln>
        </p:spPr>
        <p:txBody>
          <a:bodyPr/>
          <a:lstStyle/>
          <a:p>
            <a:endParaRPr lang="en-SE"/>
          </a:p>
        </p:txBody>
      </p:sp>
      <p:sp>
        <p:nvSpPr>
          <p:cNvPr id="45" name="Text 43"/>
          <p:cNvSpPr/>
          <p:nvPr/>
        </p:nvSpPr>
        <p:spPr>
          <a:xfrm>
            <a:off x="4535424" y="3611880"/>
            <a:ext cx="2971800" cy="548640"/>
          </a:xfrm>
          <a:prstGeom prst="rect">
            <a:avLst/>
          </a:prstGeom>
          <a:noFill/>
          <a:ln/>
        </p:spPr>
        <p:txBody>
          <a:bodyPr wrap="square" lIns="0" tIns="0" rIns="0" bIns="0" rtlCol="0" anchor="ctr"/>
          <a:lstStyle/>
          <a:p>
            <a:pPr marL="0" indent="0">
              <a:lnSpc>
                <a:spcPct val="105000"/>
              </a:lnSpc>
              <a:buNone/>
            </a:pPr>
            <a:r>
              <a:rPr lang="en-US" sz="1600" b="1" dirty="0">
                <a:solidFill>
                  <a:srgbClr val="3FE08A"/>
                </a:solidFill>
                <a:latin typeface="Segoe UI" pitchFamily="34" charset="0"/>
                <a:ea typeface="Segoe UI" pitchFamily="34" charset="-122"/>
                <a:cs typeface="Segoe UI" pitchFamily="34" charset="-120"/>
              </a:rPr>
              <a:t>A blank is self-announcing</a:t>
            </a:r>
            <a:endParaRPr lang="en-US" sz="1600" dirty="0"/>
          </a:p>
        </p:txBody>
      </p:sp>
      <p:sp>
        <p:nvSpPr>
          <p:cNvPr id="46" name="Text 44"/>
          <p:cNvSpPr/>
          <p:nvPr/>
        </p:nvSpPr>
        <p:spPr>
          <a:xfrm>
            <a:off x="4535424" y="4224528"/>
            <a:ext cx="2971800" cy="1188720"/>
          </a:xfrm>
          <a:prstGeom prst="rect">
            <a:avLst/>
          </a:prstGeom>
          <a:noFill/>
          <a:ln/>
        </p:spPr>
        <p:txBody>
          <a:bodyPr wrap="square" lIns="0" tIns="0" rIns="0" bIns="0" rtlCol="0" anchor="ctr"/>
          <a:lstStyle/>
          <a:p>
            <a:pPr marL="0" indent="0">
              <a:lnSpc>
                <a:spcPct val="115000"/>
              </a:lnSpc>
              <a:buNone/>
            </a:pPr>
            <a:r>
              <a:rPr lang="en-US" sz="1400" dirty="0">
                <a:solidFill>
                  <a:srgbClr val="AAB7C2"/>
                </a:solidFill>
                <a:latin typeface="Segoe UI" pitchFamily="34" charset="0"/>
                <a:ea typeface="Segoe UI" pitchFamily="34" charset="-122"/>
                <a:cs typeface="Segoe UI" pitchFamily="34" charset="-120"/>
              </a:rPr>
              <a:t>An empty column, a banner, or a marker row is impossible to mistake for good data. It hands the judgement back to you.</a:t>
            </a:r>
            <a:endParaRPr lang="en-US" sz="1400" dirty="0"/>
          </a:p>
        </p:txBody>
      </p:sp>
      <p:sp>
        <p:nvSpPr>
          <p:cNvPr id="47" name="panel">
            <a:extLst>
              <a:ext uri="{C183D7F6-B498-43B3-948B-1728B52AA6E4}">
                <adec:decorative xmlns:adec="http://schemas.microsoft.com/office/drawing/2017/decorative" val="1"/>
              </a:ext>
            </a:extLst>
          </p:cNvPr>
          <p:cNvSpPr/>
          <p:nvPr/>
        </p:nvSpPr>
        <p:spPr>
          <a:xfrm>
            <a:off x="7991856" y="3383280"/>
            <a:ext cx="3474720" cy="214884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48" name="panel accent">
            <a:extLst>
              <a:ext uri="{C183D7F6-B498-43B3-948B-1728B52AA6E4}">
                <adec:decorative xmlns:adec="http://schemas.microsoft.com/office/drawing/2017/decorative" val="1"/>
              </a:ext>
            </a:extLst>
          </p:cNvPr>
          <p:cNvSpPr/>
          <p:nvPr/>
        </p:nvSpPr>
        <p:spPr>
          <a:xfrm>
            <a:off x="7991856" y="3383280"/>
            <a:ext cx="50292" cy="2148840"/>
          </a:xfrm>
          <a:prstGeom prst="rect">
            <a:avLst/>
          </a:prstGeom>
          <a:solidFill>
            <a:srgbClr val="3FE08A"/>
          </a:solidFill>
          <a:ln w="12700">
            <a:solidFill>
              <a:srgbClr val="333333"/>
            </a:solidFill>
            <a:prstDash val="solid"/>
          </a:ln>
        </p:spPr>
        <p:txBody>
          <a:bodyPr/>
          <a:lstStyle/>
          <a:p>
            <a:endParaRPr lang="en-SE"/>
          </a:p>
        </p:txBody>
      </p:sp>
      <p:sp>
        <p:nvSpPr>
          <p:cNvPr id="49" name="Text 47"/>
          <p:cNvSpPr/>
          <p:nvPr/>
        </p:nvSpPr>
        <p:spPr>
          <a:xfrm>
            <a:off x="8247888" y="3611880"/>
            <a:ext cx="2971800" cy="548640"/>
          </a:xfrm>
          <a:prstGeom prst="rect">
            <a:avLst/>
          </a:prstGeom>
          <a:noFill/>
          <a:ln/>
        </p:spPr>
        <p:txBody>
          <a:bodyPr wrap="square" lIns="0" tIns="0" rIns="0" bIns="0" rtlCol="0" anchor="ctr"/>
          <a:lstStyle/>
          <a:p>
            <a:pPr marL="0" indent="0">
              <a:lnSpc>
                <a:spcPct val="105000"/>
              </a:lnSpc>
              <a:buNone/>
            </a:pPr>
            <a:r>
              <a:rPr lang="en-US" sz="1600" b="1" dirty="0">
                <a:solidFill>
                  <a:srgbClr val="3FE08A"/>
                </a:solidFill>
                <a:latin typeface="Segoe UI" pitchFamily="34" charset="0"/>
                <a:ea typeface="Segoe UI" pitchFamily="34" charset="-122"/>
                <a:cs typeface="Segoe UI" pitchFamily="34" charset="-120"/>
              </a:rPr>
              <a:t>Partial failure stays partial</a:t>
            </a:r>
            <a:endParaRPr lang="en-US" sz="1600" dirty="0"/>
          </a:p>
        </p:txBody>
      </p:sp>
      <p:sp>
        <p:nvSpPr>
          <p:cNvPr id="50" name="Text 48"/>
          <p:cNvSpPr/>
          <p:nvPr/>
        </p:nvSpPr>
        <p:spPr>
          <a:xfrm>
            <a:off x="8247888" y="4224528"/>
            <a:ext cx="2971800" cy="1188720"/>
          </a:xfrm>
          <a:prstGeom prst="rect">
            <a:avLst/>
          </a:prstGeom>
          <a:noFill/>
          <a:ln/>
        </p:spPr>
        <p:txBody>
          <a:bodyPr wrap="square" lIns="0" tIns="0" rIns="0" bIns="0" rtlCol="0" anchor="ctr"/>
          <a:lstStyle/>
          <a:p>
            <a:pPr marL="0" indent="0">
              <a:lnSpc>
                <a:spcPct val="115000"/>
              </a:lnSpc>
              <a:buNone/>
            </a:pPr>
            <a:r>
              <a:rPr lang="en-US" sz="1400" dirty="0">
                <a:solidFill>
                  <a:srgbClr val="AAB7C2"/>
                </a:solidFill>
                <a:latin typeface="Segoe UI" pitchFamily="34" charset="0"/>
                <a:ea typeface="Segoe UI" pitchFamily="34" charset="-122"/>
                <a:cs typeface="Segoe UI" pitchFamily="34" charset="-120"/>
              </a:rPr>
              <a:t>When the history service fails, only the history-derived columns go blank. The live prices, which are still perfectly correct, keep ticking.</a:t>
            </a:r>
            <a:endParaRPr lang="en-US" sz="1400" dirty="0"/>
          </a:p>
        </p:txBody>
      </p:sp>
      <p:sp>
        <p:nvSpPr>
          <p:cNvPr id="51" name="Text 49"/>
          <p:cNvSpPr/>
          <p:nvPr/>
        </p:nvSpPr>
        <p:spPr>
          <a:xfrm>
            <a:off x="566928" y="5806440"/>
            <a:ext cx="10607040" cy="365760"/>
          </a:xfrm>
          <a:prstGeom prst="rect">
            <a:avLst/>
          </a:prstGeom>
          <a:noFill/>
          <a:ln/>
        </p:spPr>
        <p:txBody>
          <a:bodyPr wrap="square" lIns="0" tIns="0" rIns="0" bIns="0" rtlCol="0" anchor="ctr"/>
          <a:lstStyle/>
          <a:p>
            <a:pPr marL="0" indent="0" algn="ctr">
              <a:buNone/>
            </a:pPr>
            <a:r>
              <a:rPr lang="en-US" sz="1600" i="1" dirty="0">
                <a:solidFill>
                  <a:srgbClr val="3FE08A"/>
                </a:solidFill>
                <a:latin typeface="Segoe UI" pitchFamily="34" charset="0"/>
                <a:ea typeface="Segoe UI" pitchFamily="34" charset="-122"/>
                <a:cs typeface="Segoe UI" pitchFamily="34" charset="-120"/>
              </a:rPr>
              <a:t>This is why the terminal is trustworthy as an operator tool: if it is showing you a number, it stands behind that number.</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The principle in action: gap markers on the tape</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05 · ERROR HANDLING</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34</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The clearest example in the whole product. This is a real, shipped feature — not a hypothetical.</a:t>
            </a:r>
            <a:endParaRPr lang="en-US" sz="1400" dirty="0"/>
          </a:p>
        </p:txBody>
      </p:sp>
      <p:sp>
        <p:nvSpPr>
          <p:cNvPr id="38" name="tape row">
            <a:extLst>
              <a:ext uri="{C183D7F6-B498-43B3-948B-1728B52AA6E4}">
                <adec:decorative xmlns:adec="http://schemas.microsoft.com/office/drawing/2017/decorative" val="1"/>
              </a:ext>
            </a:extLst>
          </p:cNvPr>
          <p:cNvSpPr/>
          <p:nvPr/>
        </p:nvSpPr>
        <p:spPr>
          <a:xfrm>
            <a:off x="566928" y="2011680"/>
            <a:ext cx="5852160" cy="420624"/>
          </a:xfrm>
          <a:prstGeom prst="rect">
            <a:avLst/>
          </a:prstGeom>
          <a:solidFill>
            <a:srgbClr val="20272D"/>
          </a:solidFill>
          <a:ln w="12700">
            <a:solidFill>
              <a:srgbClr val="333333"/>
            </a:solidFill>
            <a:prstDash val="solid"/>
          </a:ln>
        </p:spPr>
        <p:txBody>
          <a:bodyPr/>
          <a:lstStyle/>
          <a:p>
            <a:endParaRPr lang="en-SE"/>
          </a:p>
        </p:txBody>
      </p:sp>
      <p:sp>
        <p:nvSpPr>
          <p:cNvPr id="39" name="Text 37"/>
          <p:cNvSpPr/>
          <p:nvPr/>
        </p:nvSpPr>
        <p:spPr>
          <a:xfrm>
            <a:off x="704088" y="2011680"/>
            <a:ext cx="1371600" cy="42062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13:07:22.418</a:t>
            </a:r>
            <a:endParaRPr lang="en-US" sz="950" dirty="0"/>
          </a:p>
        </p:txBody>
      </p:sp>
      <p:sp>
        <p:nvSpPr>
          <p:cNvPr id="40" name="Text 38"/>
          <p:cNvSpPr/>
          <p:nvPr/>
        </p:nvSpPr>
        <p:spPr>
          <a:xfrm>
            <a:off x="2212848" y="2011680"/>
            <a:ext cx="914400" cy="420624"/>
          </a:xfrm>
          <a:prstGeom prst="rect">
            <a:avLst/>
          </a:prstGeom>
          <a:noFill/>
          <a:ln/>
        </p:spPr>
        <p:txBody>
          <a:bodyPr wrap="square" lIns="0" tIns="0" rIns="0" bIns="0" rtlCol="0" anchor="ctr"/>
          <a:lstStyle/>
          <a:p>
            <a:pPr marL="0" indent="0">
              <a:buNone/>
            </a:pPr>
            <a:r>
              <a:rPr lang="en-US" sz="950" dirty="0">
                <a:solidFill>
                  <a:srgbClr val="E6EDF3"/>
                </a:solidFill>
                <a:latin typeface="Consolas" pitchFamily="34" charset="0"/>
                <a:ea typeface="Consolas" pitchFamily="34" charset="-122"/>
                <a:cs typeface="Consolas" pitchFamily="34" charset="-120"/>
              </a:rPr>
              <a:t>AAPL</a:t>
            </a:r>
            <a:endParaRPr lang="en-US" sz="950" dirty="0"/>
          </a:p>
        </p:txBody>
      </p:sp>
      <p:sp>
        <p:nvSpPr>
          <p:cNvPr id="41" name="Text 39"/>
          <p:cNvSpPr/>
          <p:nvPr/>
        </p:nvSpPr>
        <p:spPr>
          <a:xfrm>
            <a:off x="3218688" y="2011680"/>
            <a:ext cx="1188720" cy="420624"/>
          </a:xfrm>
          <a:prstGeom prst="rect">
            <a:avLst/>
          </a:prstGeom>
          <a:noFill/>
          <a:ln/>
        </p:spPr>
        <p:txBody>
          <a:bodyPr wrap="square" lIns="0" tIns="0" rIns="0" bIns="0" rtlCol="0" anchor="ctr"/>
          <a:lstStyle/>
          <a:p>
            <a:pPr marL="0" indent="0" algn="r">
              <a:buNone/>
            </a:pPr>
            <a:r>
              <a:rPr lang="en-US" sz="950" b="1" dirty="0">
                <a:solidFill>
                  <a:srgbClr val="3FE08A"/>
                </a:solidFill>
                <a:latin typeface="Consolas" pitchFamily="34" charset="0"/>
                <a:ea typeface="Consolas" pitchFamily="34" charset="-122"/>
                <a:cs typeface="Consolas" pitchFamily="34" charset="-120"/>
              </a:rPr>
              <a:t>191.24</a:t>
            </a:r>
            <a:endParaRPr lang="en-US" sz="950" dirty="0"/>
          </a:p>
        </p:txBody>
      </p:sp>
      <p:sp>
        <p:nvSpPr>
          <p:cNvPr id="42" name="Text 40"/>
          <p:cNvSpPr/>
          <p:nvPr/>
        </p:nvSpPr>
        <p:spPr>
          <a:xfrm>
            <a:off x="4590288" y="2011680"/>
            <a:ext cx="1188720" cy="42062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300</a:t>
            </a:r>
            <a:endParaRPr lang="en-US" sz="950" dirty="0"/>
          </a:p>
        </p:txBody>
      </p:sp>
      <p:sp>
        <p:nvSpPr>
          <p:cNvPr id="43" name="tape row">
            <a:extLst>
              <a:ext uri="{C183D7F6-B498-43B3-948B-1728B52AA6E4}">
                <adec:decorative xmlns:adec="http://schemas.microsoft.com/office/drawing/2017/decorative" val="1"/>
              </a:ext>
            </a:extLst>
          </p:cNvPr>
          <p:cNvSpPr/>
          <p:nvPr/>
        </p:nvSpPr>
        <p:spPr>
          <a:xfrm>
            <a:off x="566928" y="2487168"/>
            <a:ext cx="5852160" cy="420624"/>
          </a:xfrm>
          <a:prstGeom prst="rect">
            <a:avLst/>
          </a:prstGeom>
          <a:solidFill>
            <a:srgbClr val="191E23"/>
          </a:solidFill>
          <a:ln w="12700">
            <a:solidFill>
              <a:srgbClr val="333333"/>
            </a:solidFill>
            <a:prstDash val="solid"/>
          </a:ln>
        </p:spPr>
        <p:txBody>
          <a:bodyPr/>
          <a:lstStyle/>
          <a:p>
            <a:endParaRPr lang="en-SE"/>
          </a:p>
        </p:txBody>
      </p:sp>
      <p:sp>
        <p:nvSpPr>
          <p:cNvPr id="44" name="Text 42"/>
          <p:cNvSpPr/>
          <p:nvPr/>
        </p:nvSpPr>
        <p:spPr>
          <a:xfrm>
            <a:off x="704088" y="2487168"/>
            <a:ext cx="1371600" cy="42062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13:07:22.106</a:t>
            </a:r>
            <a:endParaRPr lang="en-US" sz="950" dirty="0"/>
          </a:p>
        </p:txBody>
      </p:sp>
      <p:sp>
        <p:nvSpPr>
          <p:cNvPr id="45" name="Text 43"/>
          <p:cNvSpPr/>
          <p:nvPr/>
        </p:nvSpPr>
        <p:spPr>
          <a:xfrm>
            <a:off x="2212848" y="2487168"/>
            <a:ext cx="914400" cy="420624"/>
          </a:xfrm>
          <a:prstGeom prst="rect">
            <a:avLst/>
          </a:prstGeom>
          <a:noFill/>
          <a:ln/>
        </p:spPr>
        <p:txBody>
          <a:bodyPr wrap="square" lIns="0" tIns="0" rIns="0" bIns="0" rtlCol="0" anchor="ctr"/>
          <a:lstStyle/>
          <a:p>
            <a:pPr marL="0" indent="0">
              <a:buNone/>
            </a:pPr>
            <a:r>
              <a:rPr lang="en-US" sz="950" dirty="0">
                <a:solidFill>
                  <a:srgbClr val="E6EDF3"/>
                </a:solidFill>
                <a:latin typeface="Consolas" pitchFamily="34" charset="0"/>
                <a:ea typeface="Consolas" pitchFamily="34" charset="-122"/>
                <a:cs typeface="Consolas" pitchFamily="34" charset="-120"/>
              </a:rPr>
              <a:t>AAPL</a:t>
            </a:r>
            <a:endParaRPr lang="en-US" sz="950" dirty="0"/>
          </a:p>
        </p:txBody>
      </p:sp>
      <p:sp>
        <p:nvSpPr>
          <p:cNvPr id="46" name="Text 44"/>
          <p:cNvSpPr/>
          <p:nvPr/>
        </p:nvSpPr>
        <p:spPr>
          <a:xfrm>
            <a:off x="3218688" y="2487168"/>
            <a:ext cx="1188720" cy="420624"/>
          </a:xfrm>
          <a:prstGeom prst="rect">
            <a:avLst/>
          </a:prstGeom>
          <a:noFill/>
          <a:ln/>
        </p:spPr>
        <p:txBody>
          <a:bodyPr wrap="square" lIns="0" tIns="0" rIns="0" bIns="0" rtlCol="0" anchor="ctr"/>
          <a:lstStyle/>
          <a:p>
            <a:pPr marL="0" indent="0" algn="r">
              <a:buNone/>
            </a:pPr>
            <a:r>
              <a:rPr lang="en-US" sz="950" b="1" dirty="0">
                <a:solidFill>
                  <a:srgbClr val="3FE08A"/>
                </a:solidFill>
                <a:latin typeface="Consolas" pitchFamily="34" charset="0"/>
                <a:ea typeface="Consolas" pitchFamily="34" charset="-122"/>
                <a:cs typeface="Consolas" pitchFamily="34" charset="-120"/>
              </a:rPr>
              <a:t>191.22</a:t>
            </a:r>
            <a:endParaRPr lang="en-US" sz="950" dirty="0"/>
          </a:p>
        </p:txBody>
      </p:sp>
      <p:sp>
        <p:nvSpPr>
          <p:cNvPr id="47" name="Text 45"/>
          <p:cNvSpPr/>
          <p:nvPr/>
        </p:nvSpPr>
        <p:spPr>
          <a:xfrm>
            <a:off x="4590288" y="2487168"/>
            <a:ext cx="1188720" cy="42062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150</a:t>
            </a:r>
            <a:endParaRPr lang="en-US" sz="950" dirty="0"/>
          </a:p>
        </p:txBody>
      </p:sp>
      <p:sp>
        <p:nvSpPr>
          <p:cNvPr id="48" name="tape gap marker row">
            <a:extLst>
              <a:ext uri="{C183D7F6-B498-43B3-948B-1728B52AA6E4}">
                <adec:decorative xmlns:adec="http://schemas.microsoft.com/office/drawing/2017/decorative" val="1"/>
              </a:ext>
            </a:extLst>
          </p:cNvPr>
          <p:cNvSpPr/>
          <p:nvPr/>
        </p:nvSpPr>
        <p:spPr>
          <a:xfrm>
            <a:off x="566928" y="2962656"/>
            <a:ext cx="5852160" cy="420624"/>
          </a:xfrm>
          <a:prstGeom prst="rect">
            <a:avLst/>
          </a:prstGeom>
          <a:solidFill>
            <a:srgbClr val="6B4A0F"/>
          </a:solidFill>
          <a:ln w="15875">
            <a:solidFill>
              <a:srgbClr val="F5A524"/>
            </a:solidFill>
            <a:prstDash val="solid"/>
          </a:ln>
        </p:spPr>
        <p:txBody>
          <a:bodyPr/>
          <a:lstStyle/>
          <a:p>
            <a:endParaRPr lang="en-SE"/>
          </a:p>
        </p:txBody>
      </p:sp>
      <p:sp>
        <p:nvSpPr>
          <p:cNvPr id="49" name="Text 47"/>
          <p:cNvSpPr/>
          <p:nvPr/>
        </p:nvSpPr>
        <p:spPr>
          <a:xfrm>
            <a:off x="704088" y="2962656"/>
            <a:ext cx="5577840" cy="420624"/>
          </a:xfrm>
          <a:prstGeom prst="rect">
            <a:avLst/>
          </a:prstGeom>
          <a:noFill/>
          <a:ln/>
        </p:spPr>
        <p:txBody>
          <a:bodyPr wrap="square" lIns="0" tIns="0" rIns="0" bIns="0" rtlCol="0" anchor="ctr"/>
          <a:lstStyle/>
          <a:p>
            <a:pPr marL="0" indent="0">
              <a:buNone/>
            </a:pPr>
            <a:r>
              <a:rPr lang="en-US" sz="950" b="1" dirty="0">
                <a:solidFill>
                  <a:srgbClr val="F5A524"/>
                </a:solidFill>
                <a:latin typeface="Consolas" pitchFamily="34" charset="0"/>
                <a:ea typeface="Consolas" pitchFamily="34" charset="-122"/>
                <a:cs typeface="Consolas" pitchFamily="34" charset="-120"/>
              </a:rPr>
              <a:t>⚠  gap in the tape — some prints for AAPL were missed</a:t>
            </a:r>
            <a:endParaRPr lang="en-US" sz="950" dirty="0"/>
          </a:p>
        </p:txBody>
      </p:sp>
      <p:sp>
        <p:nvSpPr>
          <p:cNvPr id="50" name="tape row">
            <a:extLst>
              <a:ext uri="{C183D7F6-B498-43B3-948B-1728B52AA6E4}">
                <adec:decorative xmlns:adec="http://schemas.microsoft.com/office/drawing/2017/decorative" val="1"/>
              </a:ext>
            </a:extLst>
          </p:cNvPr>
          <p:cNvSpPr/>
          <p:nvPr/>
        </p:nvSpPr>
        <p:spPr>
          <a:xfrm>
            <a:off x="566928" y="3438144"/>
            <a:ext cx="5852160" cy="420624"/>
          </a:xfrm>
          <a:prstGeom prst="rect">
            <a:avLst/>
          </a:prstGeom>
          <a:solidFill>
            <a:srgbClr val="191E23"/>
          </a:solidFill>
          <a:ln w="12700">
            <a:solidFill>
              <a:srgbClr val="333333"/>
            </a:solidFill>
            <a:prstDash val="solid"/>
          </a:ln>
        </p:spPr>
        <p:txBody>
          <a:bodyPr/>
          <a:lstStyle/>
          <a:p>
            <a:endParaRPr lang="en-SE"/>
          </a:p>
        </p:txBody>
      </p:sp>
      <p:sp>
        <p:nvSpPr>
          <p:cNvPr id="51" name="Text 49"/>
          <p:cNvSpPr/>
          <p:nvPr/>
        </p:nvSpPr>
        <p:spPr>
          <a:xfrm>
            <a:off x="704088" y="3438144"/>
            <a:ext cx="1371600" cy="42062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13:06:44.902</a:t>
            </a:r>
            <a:endParaRPr lang="en-US" sz="950" dirty="0"/>
          </a:p>
        </p:txBody>
      </p:sp>
      <p:sp>
        <p:nvSpPr>
          <p:cNvPr id="52" name="Text 50"/>
          <p:cNvSpPr/>
          <p:nvPr/>
        </p:nvSpPr>
        <p:spPr>
          <a:xfrm>
            <a:off x="2212848" y="3438144"/>
            <a:ext cx="914400" cy="420624"/>
          </a:xfrm>
          <a:prstGeom prst="rect">
            <a:avLst/>
          </a:prstGeom>
          <a:noFill/>
          <a:ln/>
        </p:spPr>
        <p:txBody>
          <a:bodyPr wrap="square" lIns="0" tIns="0" rIns="0" bIns="0" rtlCol="0" anchor="ctr"/>
          <a:lstStyle/>
          <a:p>
            <a:pPr marL="0" indent="0">
              <a:buNone/>
            </a:pPr>
            <a:r>
              <a:rPr lang="en-US" sz="950" dirty="0">
                <a:solidFill>
                  <a:srgbClr val="E6EDF3"/>
                </a:solidFill>
                <a:latin typeface="Consolas" pitchFamily="34" charset="0"/>
                <a:ea typeface="Consolas" pitchFamily="34" charset="-122"/>
                <a:cs typeface="Consolas" pitchFamily="34" charset="-120"/>
              </a:rPr>
              <a:t>AAPL</a:t>
            </a:r>
            <a:endParaRPr lang="en-US" sz="950" dirty="0"/>
          </a:p>
        </p:txBody>
      </p:sp>
      <p:sp>
        <p:nvSpPr>
          <p:cNvPr id="53" name="Text 51"/>
          <p:cNvSpPr/>
          <p:nvPr/>
        </p:nvSpPr>
        <p:spPr>
          <a:xfrm>
            <a:off x="3218688" y="3438144"/>
            <a:ext cx="1188720" cy="420624"/>
          </a:xfrm>
          <a:prstGeom prst="rect">
            <a:avLst/>
          </a:prstGeom>
          <a:noFill/>
          <a:ln/>
        </p:spPr>
        <p:txBody>
          <a:bodyPr wrap="square" lIns="0" tIns="0" rIns="0" bIns="0" rtlCol="0" anchor="ctr"/>
          <a:lstStyle/>
          <a:p>
            <a:pPr marL="0" indent="0" algn="r">
              <a:buNone/>
            </a:pPr>
            <a:r>
              <a:rPr lang="en-US" sz="950" b="1" dirty="0">
                <a:solidFill>
                  <a:srgbClr val="3FE08A"/>
                </a:solidFill>
                <a:latin typeface="Consolas" pitchFamily="34" charset="0"/>
                <a:ea typeface="Consolas" pitchFamily="34" charset="-122"/>
                <a:cs typeface="Consolas" pitchFamily="34" charset="-120"/>
              </a:rPr>
              <a:t>190.85</a:t>
            </a:r>
            <a:endParaRPr lang="en-US" sz="950" dirty="0"/>
          </a:p>
        </p:txBody>
      </p:sp>
      <p:sp>
        <p:nvSpPr>
          <p:cNvPr id="54" name="Text 52"/>
          <p:cNvSpPr/>
          <p:nvPr/>
        </p:nvSpPr>
        <p:spPr>
          <a:xfrm>
            <a:off x="4590288" y="3438144"/>
            <a:ext cx="1188720" cy="42062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1,200</a:t>
            </a:r>
            <a:endParaRPr lang="en-US" sz="950" dirty="0"/>
          </a:p>
        </p:txBody>
      </p:sp>
      <p:sp>
        <p:nvSpPr>
          <p:cNvPr id="55" name="tape row">
            <a:extLst>
              <a:ext uri="{C183D7F6-B498-43B3-948B-1728B52AA6E4}">
                <adec:decorative xmlns:adec="http://schemas.microsoft.com/office/drawing/2017/decorative" val="1"/>
              </a:ext>
            </a:extLst>
          </p:cNvPr>
          <p:cNvSpPr/>
          <p:nvPr/>
        </p:nvSpPr>
        <p:spPr>
          <a:xfrm>
            <a:off x="566928" y="3913632"/>
            <a:ext cx="5852160" cy="420624"/>
          </a:xfrm>
          <a:prstGeom prst="rect">
            <a:avLst/>
          </a:prstGeom>
          <a:solidFill>
            <a:srgbClr val="20272D"/>
          </a:solidFill>
          <a:ln w="12700">
            <a:solidFill>
              <a:srgbClr val="333333"/>
            </a:solidFill>
            <a:prstDash val="solid"/>
          </a:ln>
        </p:spPr>
        <p:txBody>
          <a:bodyPr/>
          <a:lstStyle/>
          <a:p>
            <a:endParaRPr lang="en-SE"/>
          </a:p>
        </p:txBody>
      </p:sp>
      <p:sp>
        <p:nvSpPr>
          <p:cNvPr id="56" name="Text 54"/>
          <p:cNvSpPr/>
          <p:nvPr/>
        </p:nvSpPr>
        <p:spPr>
          <a:xfrm>
            <a:off x="704088" y="3913632"/>
            <a:ext cx="1371600" cy="42062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13:06:44.118</a:t>
            </a:r>
            <a:endParaRPr lang="en-US" sz="950" dirty="0"/>
          </a:p>
        </p:txBody>
      </p:sp>
      <p:sp>
        <p:nvSpPr>
          <p:cNvPr id="57" name="Text 55"/>
          <p:cNvSpPr/>
          <p:nvPr/>
        </p:nvSpPr>
        <p:spPr>
          <a:xfrm>
            <a:off x="2212848" y="3913632"/>
            <a:ext cx="914400" cy="420624"/>
          </a:xfrm>
          <a:prstGeom prst="rect">
            <a:avLst/>
          </a:prstGeom>
          <a:noFill/>
          <a:ln/>
        </p:spPr>
        <p:txBody>
          <a:bodyPr wrap="square" lIns="0" tIns="0" rIns="0" bIns="0" rtlCol="0" anchor="ctr"/>
          <a:lstStyle/>
          <a:p>
            <a:pPr marL="0" indent="0">
              <a:buNone/>
            </a:pPr>
            <a:r>
              <a:rPr lang="en-US" sz="950" dirty="0">
                <a:solidFill>
                  <a:srgbClr val="E6EDF3"/>
                </a:solidFill>
                <a:latin typeface="Consolas" pitchFamily="34" charset="0"/>
                <a:ea typeface="Consolas" pitchFamily="34" charset="-122"/>
                <a:cs typeface="Consolas" pitchFamily="34" charset="-120"/>
              </a:rPr>
              <a:t>AAPL</a:t>
            </a:r>
            <a:endParaRPr lang="en-US" sz="950" dirty="0"/>
          </a:p>
        </p:txBody>
      </p:sp>
      <p:sp>
        <p:nvSpPr>
          <p:cNvPr id="58" name="Text 56"/>
          <p:cNvSpPr/>
          <p:nvPr/>
        </p:nvSpPr>
        <p:spPr>
          <a:xfrm>
            <a:off x="3218688" y="3913632"/>
            <a:ext cx="1188720" cy="420624"/>
          </a:xfrm>
          <a:prstGeom prst="rect">
            <a:avLst/>
          </a:prstGeom>
          <a:noFill/>
          <a:ln/>
        </p:spPr>
        <p:txBody>
          <a:bodyPr wrap="square" lIns="0" tIns="0" rIns="0" bIns="0" rtlCol="0" anchor="ctr"/>
          <a:lstStyle/>
          <a:p>
            <a:pPr marL="0" indent="0" algn="r">
              <a:buNone/>
            </a:pPr>
            <a:r>
              <a:rPr lang="en-US" sz="950" b="1" dirty="0">
                <a:solidFill>
                  <a:srgbClr val="3FE08A"/>
                </a:solidFill>
                <a:latin typeface="Consolas" pitchFamily="34" charset="0"/>
                <a:ea typeface="Consolas" pitchFamily="34" charset="-122"/>
                <a:cs typeface="Consolas" pitchFamily="34" charset="-120"/>
              </a:rPr>
              <a:t>190.81</a:t>
            </a:r>
            <a:endParaRPr lang="en-US" sz="950" dirty="0"/>
          </a:p>
        </p:txBody>
      </p:sp>
      <p:sp>
        <p:nvSpPr>
          <p:cNvPr id="59" name="Text 57"/>
          <p:cNvSpPr/>
          <p:nvPr/>
        </p:nvSpPr>
        <p:spPr>
          <a:xfrm>
            <a:off x="4590288" y="3913632"/>
            <a:ext cx="1188720" cy="42062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400</a:t>
            </a:r>
            <a:endParaRPr lang="en-US" sz="950" dirty="0"/>
          </a:p>
        </p:txBody>
      </p:sp>
      <p:sp>
        <p:nvSpPr>
          <p:cNvPr id="60" name="Text 58"/>
          <p:cNvSpPr/>
          <p:nvPr/>
        </p:nvSpPr>
        <p:spPr>
          <a:xfrm>
            <a:off x="566928" y="4526280"/>
            <a:ext cx="5852160" cy="548640"/>
          </a:xfrm>
          <a:prstGeom prst="rect">
            <a:avLst/>
          </a:prstGeom>
          <a:noFill/>
          <a:ln/>
        </p:spPr>
        <p:txBody>
          <a:bodyPr wrap="square" lIns="0" tIns="0" rIns="0" bIns="0" rtlCol="0" anchor="ctr"/>
          <a:lstStyle/>
          <a:p>
            <a:pPr marL="0" indent="0">
              <a:lnSpc>
                <a:spcPct val="108000"/>
              </a:lnSpc>
              <a:buNone/>
            </a:pPr>
            <a:r>
              <a:rPr lang="en-US" sz="1050" i="1" dirty="0">
                <a:solidFill>
                  <a:srgbClr val="3FE08A"/>
                </a:solidFill>
                <a:latin typeface="Segoe UI" pitchFamily="34" charset="0"/>
                <a:ea typeface="Segoe UI" pitchFamily="34" charset="-122"/>
                <a:cs typeface="Segoe UI" pitchFamily="34" charset="-120"/>
              </a:rPr>
              <a:t>SCREENSHOT 6b (optional) — a tape capture showing a gap marker row in place among the prints. Reproducible by deliberately interrupting the feed in a test environment.</a:t>
            </a:r>
            <a:endParaRPr lang="en-US" sz="1050" dirty="0"/>
          </a:p>
        </p:txBody>
      </p:sp>
      <p:sp>
        <p:nvSpPr>
          <p:cNvPr id="61" name="panel">
            <a:extLst>
              <a:ext uri="{C183D7F6-B498-43B3-948B-1728B52AA6E4}">
                <adec:decorative xmlns:adec="http://schemas.microsoft.com/office/drawing/2017/decorative" val="1"/>
              </a:ext>
            </a:extLst>
          </p:cNvPr>
          <p:cNvSpPr/>
          <p:nvPr/>
        </p:nvSpPr>
        <p:spPr>
          <a:xfrm>
            <a:off x="6720840" y="2011680"/>
            <a:ext cx="4453128" cy="201168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sz="2000"/>
          </a:p>
        </p:txBody>
      </p:sp>
      <p:sp>
        <p:nvSpPr>
          <p:cNvPr id="62" name="panel accent">
            <a:extLst>
              <a:ext uri="{C183D7F6-B498-43B3-948B-1728B52AA6E4}">
                <adec:decorative xmlns:adec="http://schemas.microsoft.com/office/drawing/2017/decorative" val="1"/>
              </a:ext>
            </a:extLst>
          </p:cNvPr>
          <p:cNvSpPr/>
          <p:nvPr/>
        </p:nvSpPr>
        <p:spPr>
          <a:xfrm>
            <a:off x="6720840" y="2011680"/>
            <a:ext cx="50292" cy="2011680"/>
          </a:xfrm>
          <a:prstGeom prst="rect">
            <a:avLst/>
          </a:prstGeom>
          <a:solidFill>
            <a:srgbClr val="F5A524"/>
          </a:solidFill>
          <a:ln w="12700">
            <a:solidFill>
              <a:srgbClr val="333333"/>
            </a:solidFill>
            <a:prstDash val="solid"/>
          </a:ln>
        </p:spPr>
        <p:txBody>
          <a:bodyPr/>
          <a:lstStyle/>
          <a:p>
            <a:endParaRPr lang="en-SE" sz="2000"/>
          </a:p>
        </p:txBody>
      </p:sp>
      <p:sp>
        <p:nvSpPr>
          <p:cNvPr id="63" name="Text 61"/>
          <p:cNvSpPr/>
          <p:nvPr/>
        </p:nvSpPr>
        <p:spPr>
          <a:xfrm>
            <a:off x="6995160" y="2194560"/>
            <a:ext cx="3931920" cy="292608"/>
          </a:xfrm>
          <a:prstGeom prst="rect">
            <a:avLst/>
          </a:prstGeom>
          <a:noFill/>
          <a:ln/>
        </p:spPr>
        <p:txBody>
          <a:bodyPr wrap="square" lIns="0" tIns="0" rIns="0" bIns="0" rtlCol="0" anchor="ctr"/>
          <a:lstStyle/>
          <a:p>
            <a:pPr marL="0" indent="0">
              <a:buNone/>
            </a:pPr>
            <a:r>
              <a:rPr lang="en-US" sz="1600" b="1" dirty="0">
                <a:solidFill>
                  <a:srgbClr val="F5A524"/>
                </a:solidFill>
                <a:latin typeface="Segoe UI" pitchFamily="34" charset="0"/>
                <a:ea typeface="Segoe UI" pitchFamily="34" charset="-122"/>
                <a:cs typeface="Segoe UI" pitchFamily="34" charset="-120"/>
              </a:rPr>
              <a:t>What causes it</a:t>
            </a:r>
            <a:endParaRPr lang="en-US" sz="1600" dirty="0"/>
          </a:p>
        </p:txBody>
      </p:sp>
      <p:sp>
        <p:nvSpPr>
          <p:cNvPr id="64" name="Text 62"/>
          <p:cNvSpPr/>
          <p:nvPr/>
        </p:nvSpPr>
        <p:spPr>
          <a:xfrm>
            <a:off x="6995160" y="2542032"/>
            <a:ext cx="3931920" cy="1371600"/>
          </a:xfrm>
          <a:prstGeom prst="rect">
            <a:avLst/>
          </a:prstGeom>
          <a:noFill/>
          <a:ln/>
        </p:spPr>
        <p:txBody>
          <a:bodyPr wrap="square" lIns="0" tIns="0" rIns="0" bIns="0" rtlCol="0" anchor="ctr"/>
          <a:lstStyle/>
          <a:p>
            <a:pPr marL="0" indent="0">
              <a:lnSpc>
                <a:spcPct val="115000"/>
              </a:lnSpc>
              <a:buNone/>
            </a:pPr>
            <a:r>
              <a:rPr lang="en-US" sz="1200" dirty="0">
                <a:solidFill>
                  <a:srgbClr val="AAB7C2"/>
                </a:solidFill>
                <a:latin typeface="Segoe UI" pitchFamily="34" charset="0"/>
                <a:ea typeface="Segoe UI" pitchFamily="34" charset="-122"/>
                <a:cs typeface="Segoe UI" pitchFamily="34" charset="-120"/>
              </a:rPr>
              <a:t>The terminal's connection to the feed dropped, and by the time it reconnected the feed's replay buffer had already rolled past the trades it missed. Those prints cannot be recovered — a past trade has no current state to snapshot.</a:t>
            </a:r>
            <a:endParaRPr lang="en-US" sz="1200" dirty="0"/>
          </a:p>
        </p:txBody>
      </p:sp>
      <p:sp>
        <p:nvSpPr>
          <p:cNvPr id="65" name="panel">
            <a:extLst>
              <a:ext uri="{C183D7F6-B498-43B3-948B-1728B52AA6E4}">
                <adec:decorative xmlns:adec="http://schemas.microsoft.com/office/drawing/2017/decorative" val="1"/>
              </a:ext>
            </a:extLst>
          </p:cNvPr>
          <p:cNvSpPr/>
          <p:nvPr/>
        </p:nvSpPr>
        <p:spPr>
          <a:xfrm>
            <a:off x="6720840" y="4160520"/>
            <a:ext cx="4453128" cy="214884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sz="2000"/>
          </a:p>
        </p:txBody>
      </p:sp>
      <p:sp>
        <p:nvSpPr>
          <p:cNvPr id="66" name="panel accent">
            <a:extLst>
              <a:ext uri="{C183D7F6-B498-43B3-948B-1728B52AA6E4}">
                <adec:decorative xmlns:adec="http://schemas.microsoft.com/office/drawing/2017/decorative" val="1"/>
              </a:ext>
            </a:extLst>
          </p:cNvPr>
          <p:cNvSpPr/>
          <p:nvPr/>
        </p:nvSpPr>
        <p:spPr>
          <a:xfrm>
            <a:off x="6720840" y="4160520"/>
            <a:ext cx="50292" cy="2148840"/>
          </a:xfrm>
          <a:prstGeom prst="rect">
            <a:avLst/>
          </a:prstGeom>
          <a:solidFill>
            <a:srgbClr val="3FE08A"/>
          </a:solidFill>
          <a:ln w="12700">
            <a:solidFill>
              <a:srgbClr val="333333"/>
            </a:solidFill>
            <a:prstDash val="solid"/>
          </a:ln>
        </p:spPr>
        <p:txBody>
          <a:bodyPr/>
          <a:lstStyle/>
          <a:p>
            <a:endParaRPr lang="en-SE" sz="2000"/>
          </a:p>
        </p:txBody>
      </p:sp>
      <p:sp>
        <p:nvSpPr>
          <p:cNvPr id="67" name="Text 65"/>
          <p:cNvSpPr/>
          <p:nvPr/>
        </p:nvSpPr>
        <p:spPr>
          <a:xfrm>
            <a:off x="6995160" y="4343400"/>
            <a:ext cx="3931920" cy="292608"/>
          </a:xfrm>
          <a:prstGeom prst="rect">
            <a:avLst/>
          </a:prstGeom>
          <a:noFill/>
          <a:ln/>
        </p:spPr>
        <p:txBody>
          <a:bodyPr wrap="square" lIns="0" tIns="0" rIns="0" bIns="0" rtlCol="0" anchor="ctr"/>
          <a:lstStyle/>
          <a:p>
            <a:pPr marL="0" indent="0">
              <a:buNone/>
            </a:pPr>
            <a:r>
              <a:rPr lang="en-US" sz="1600" b="1" dirty="0">
                <a:solidFill>
                  <a:srgbClr val="3FE08A"/>
                </a:solidFill>
                <a:latin typeface="Segoe UI" pitchFamily="34" charset="0"/>
                <a:ea typeface="Segoe UI" pitchFamily="34" charset="-122"/>
                <a:cs typeface="Segoe UI" pitchFamily="34" charset="-120"/>
              </a:rPr>
              <a:t>Why a marker instead of silence</a:t>
            </a:r>
            <a:endParaRPr lang="en-US" sz="1600" dirty="0"/>
          </a:p>
        </p:txBody>
      </p:sp>
      <p:sp>
        <p:nvSpPr>
          <p:cNvPr id="68" name="Text 66"/>
          <p:cNvSpPr/>
          <p:nvPr/>
        </p:nvSpPr>
        <p:spPr>
          <a:xfrm>
            <a:off x="6995160" y="4690872"/>
            <a:ext cx="3931920" cy="1463040"/>
          </a:xfrm>
          <a:prstGeom prst="rect">
            <a:avLst/>
          </a:prstGeom>
          <a:noFill/>
          <a:ln/>
        </p:spPr>
        <p:txBody>
          <a:bodyPr wrap="square" lIns="0" tIns="0" rIns="0" bIns="0" rtlCol="0" anchor="ctr"/>
          <a:lstStyle/>
          <a:p>
            <a:pPr marL="0" indent="0">
              <a:lnSpc>
                <a:spcPct val="115000"/>
              </a:lnSpc>
              <a:buNone/>
            </a:pPr>
            <a:r>
              <a:rPr lang="en-US" sz="1200" dirty="0">
                <a:solidFill>
                  <a:srgbClr val="AAB7C2"/>
                </a:solidFill>
                <a:latin typeface="Segoe UI" pitchFamily="34" charset="0"/>
                <a:ea typeface="Segoe UI" pitchFamily="34" charset="-122"/>
                <a:cs typeface="Segoe UI" pitchFamily="34" charset="-120"/>
              </a:rPr>
              <a:t>A record with an unmarked hole in it is worse than one that admits the hole — because a viewer has no way to tell it apart from a genuinely quiet stretch of market. So the tape prints the marker in place, between the trades it falls between.</a:t>
            </a:r>
            <a:endParaRPr lang="en-US" sz="1200" dirty="0"/>
          </a:p>
        </p:txBody>
      </p:sp>
      <p:sp>
        <p:nvSpPr>
          <p:cNvPr id="69" name="callout background">
            <a:extLst>
              <a:ext uri="{C183D7F6-B498-43B3-948B-1728B52AA6E4}">
                <adec:decorative xmlns:adec="http://schemas.microsoft.com/office/drawing/2017/decorative" val="1"/>
              </a:ext>
            </a:extLst>
          </p:cNvPr>
          <p:cNvSpPr/>
          <p:nvPr/>
        </p:nvSpPr>
        <p:spPr>
          <a:xfrm>
            <a:off x="566928" y="5212080"/>
            <a:ext cx="5852160" cy="1097280"/>
          </a:xfrm>
          <a:prstGeom prst="rect">
            <a:avLst/>
          </a:prstGeom>
          <a:solidFill>
            <a:srgbClr val="273037"/>
          </a:solidFill>
          <a:ln w="12700">
            <a:solidFill>
              <a:srgbClr val="313B44"/>
            </a:solidFill>
            <a:prstDash val="solid"/>
          </a:ln>
        </p:spPr>
        <p:txBody>
          <a:bodyPr/>
          <a:lstStyle/>
          <a:p>
            <a:endParaRPr lang="en-SE" sz="2400"/>
          </a:p>
        </p:txBody>
      </p:sp>
      <p:sp>
        <p:nvSpPr>
          <p:cNvPr id="70" name="Text 68"/>
          <p:cNvSpPr/>
          <p:nvPr/>
        </p:nvSpPr>
        <p:spPr>
          <a:xfrm>
            <a:off x="777240" y="5212080"/>
            <a:ext cx="5440680" cy="1097280"/>
          </a:xfrm>
          <a:prstGeom prst="rect">
            <a:avLst/>
          </a:prstGeom>
          <a:noFill/>
          <a:ln/>
        </p:spPr>
        <p:txBody>
          <a:bodyPr wrap="square" lIns="0" tIns="0" rIns="0" bIns="0" rtlCol="0" anchor="ctr"/>
          <a:lstStyle/>
          <a:p>
            <a:pPr marL="0" indent="0">
              <a:lnSpc>
                <a:spcPct val="112000"/>
              </a:lnSpc>
              <a:buNone/>
            </a:pPr>
            <a:r>
              <a:rPr lang="en-US" sz="1400" b="1" dirty="0">
                <a:solidFill>
                  <a:srgbClr val="E6EDF3"/>
                </a:solidFill>
                <a:latin typeface="Segoe UI" pitchFamily="34" charset="0"/>
                <a:ea typeface="Segoe UI" pitchFamily="34" charset="-122"/>
                <a:cs typeface="Segoe UI" pitchFamily="34" charset="-120"/>
              </a:rPr>
              <a:t>Operator note:  </a:t>
            </a:r>
            <a:r>
              <a:rPr lang="en-US" sz="1400" dirty="0">
                <a:solidFill>
                  <a:srgbClr val="AAB7C2"/>
                </a:solidFill>
                <a:latin typeface="Segoe UI" pitchFamily="34" charset="0"/>
                <a:ea typeface="Segoe UI" pitchFamily="34" charset="-122"/>
                <a:cs typeface="Segoe UI" pitchFamily="34" charset="-120"/>
              </a:rPr>
              <a:t>a gap marker is expected behaviour after a real disconnect. It is not a defect to raise — it is the terminal doing its job. Investigate the disconnect, not the marker.</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What breaks, and what you still get</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05 · ERROR HANDLING</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35</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Failures are deliberately compartmentalised. Use this table to tell instantly which part is unhealthy.</a:t>
            </a:r>
            <a:endParaRPr lang="en-US" sz="1400" dirty="0"/>
          </a:p>
        </p:txBody>
      </p:sp>
      <p:sp>
        <p:nvSpPr>
          <p:cNvPr id="38" name="table header cell">
            <a:extLst>
              <a:ext uri="{C183D7F6-B498-43B3-948B-1728B52AA6E4}">
                <adec:decorative xmlns:adec="http://schemas.microsoft.com/office/drawing/2017/decorative" val="1"/>
              </a:ext>
            </a:extLst>
          </p:cNvPr>
          <p:cNvSpPr/>
          <p:nvPr/>
        </p:nvSpPr>
        <p:spPr>
          <a:xfrm>
            <a:off x="566928" y="1699035"/>
            <a:ext cx="3200400" cy="402336"/>
          </a:xfrm>
          <a:prstGeom prst="rect">
            <a:avLst/>
          </a:prstGeom>
          <a:solidFill>
            <a:srgbClr val="273037"/>
          </a:solidFill>
          <a:ln w="12700">
            <a:solidFill>
              <a:srgbClr val="333333"/>
            </a:solidFill>
            <a:prstDash val="solid"/>
          </a:ln>
        </p:spPr>
        <p:txBody>
          <a:bodyPr/>
          <a:lstStyle/>
          <a:p>
            <a:endParaRPr lang="en-SE" sz="2400"/>
          </a:p>
        </p:txBody>
      </p:sp>
      <p:sp>
        <p:nvSpPr>
          <p:cNvPr id="39" name="Text 37"/>
          <p:cNvSpPr/>
          <p:nvPr/>
        </p:nvSpPr>
        <p:spPr>
          <a:xfrm>
            <a:off x="731520" y="1699035"/>
            <a:ext cx="2926080" cy="402336"/>
          </a:xfrm>
          <a:prstGeom prst="rect">
            <a:avLst/>
          </a:prstGeom>
          <a:noFill/>
          <a:ln/>
        </p:spPr>
        <p:txBody>
          <a:bodyPr wrap="square" lIns="0" tIns="0" rIns="0" bIns="0" rtlCol="0" anchor="ctr"/>
          <a:lstStyle/>
          <a:p>
            <a:pPr marL="0" indent="0">
              <a:buNone/>
            </a:pPr>
            <a:r>
              <a:rPr lang="en-US" b="1" kern="0" spc="100" dirty="0">
                <a:solidFill>
                  <a:srgbClr val="3FE08A"/>
                </a:solidFill>
                <a:latin typeface="Consolas" pitchFamily="34" charset="0"/>
                <a:ea typeface="Consolas" pitchFamily="34" charset="-122"/>
                <a:cs typeface="Consolas" pitchFamily="34" charset="-120"/>
              </a:rPr>
              <a:t>Failure</a:t>
            </a:r>
            <a:endParaRPr lang="en-US" dirty="0"/>
          </a:p>
        </p:txBody>
      </p:sp>
      <p:sp>
        <p:nvSpPr>
          <p:cNvPr id="40" name="table header cell">
            <a:extLst>
              <a:ext uri="{C183D7F6-B498-43B3-948B-1728B52AA6E4}">
                <adec:decorative xmlns:adec="http://schemas.microsoft.com/office/drawing/2017/decorative" val="1"/>
              </a:ext>
            </a:extLst>
          </p:cNvPr>
          <p:cNvSpPr/>
          <p:nvPr/>
        </p:nvSpPr>
        <p:spPr>
          <a:xfrm>
            <a:off x="3794116" y="1699035"/>
            <a:ext cx="4206240" cy="402336"/>
          </a:xfrm>
          <a:prstGeom prst="rect">
            <a:avLst/>
          </a:prstGeom>
          <a:solidFill>
            <a:srgbClr val="273037"/>
          </a:solidFill>
          <a:ln w="12700">
            <a:solidFill>
              <a:srgbClr val="333333"/>
            </a:solidFill>
            <a:prstDash val="solid"/>
          </a:ln>
        </p:spPr>
        <p:txBody>
          <a:bodyPr/>
          <a:lstStyle/>
          <a:p>
            <a:endParaRPr lang="en-SE" sz="2400"/>
          </a:p>
        </p:txBody>
      </p:sp>
      <p:sp>
        <p:nvSpPr>
          <p:cNvPr id="41" name="Text 39"/>
          <p:cNvSpPr/>
          <p:nvPr/>
        </p:nvSpPr>
        <p:spPr>
          <a:xfrm>
            <a:off x="4023360" y="1699035"/>
            <a:ext cx="3931920" cy="402336"/>
          </a:xfrm>
          <a:prstGeom prst="rect">
            <a:avLst/>
          </a:prstGeom>
          <a:noFill/>
          <a:ln/>
        </p:spPr>
        <p:txBody>
          <a:bodyPr wrap="square" lIns="0" tIns="0" rIns="0" bIns="0" rtlCol="0" anchor="ctr"/>
          <a:lstStyle/>
          <a:p>
            <a:pPr marL="0" indent="0">
              <a:buNone/>
            </a:pPr>
            <a:r>
              <a:rPr lang="en-US" b="1" kern="0" spc="100" dirty="0">
                <a:solidFill>
                  <a:srgbClr val="3FE08A"/>
                </a:solidFill>
                <a:latin typeface="Consolas" pitchFamily="34" charset="0"/>
                <a:ea typeface="Consolas" pitchFamily="34" charset="-122"/>
                <a:cs typeface="Consolas" pitchFamily="34" charset="-120"/>
              </a:rPr>
              <a:t>What you see</a:t>
            </a:r>
            <a:endParaRPr lang="en-US" dirty="0"/>
          </a:p>
        </p:txBody>
      </p:sp>
      <p:sp>
        <p:nvSpPr>
          <p:cNvPr id="42" name="table header cell">
            <a:extLst>
              <a:ext uri="{C183D7F6-B498-43B3-948B-1728B52AA6E4}">
                <adec:decorative xmlns:adec="http://schemas.microsoft.com/office/drawing/2017/decorative" val="1"/>
              </a:ext>
            </a:extLst>
          </p:cNvPr>
          <p:cNvSpPr/>
          <p:nvPr/>
        </p:nvSpPr>
        <p:spPr>
          <a:xfrm>
            <a:off x="7980961" y="1699035"/>
            <a:ext cx="3200400" cy="402336"/>
          </a:xfrm>
          <a:prstGeom prst="rect">
            <a:avLst/>
          </a:prstGeom>
          <a:solidFill>
            <a:srgbClr val="273037"/>
          </a:solidFill>
          <a:ln w="12700">
            <a:solidFill>
              <a:srgbClr val="333333"/>
            </a:solidFill>
            <a:prstDash val="solid"/>
          </a:ln>
        </p:spPr>
        <p:txBody>
          <a:bodyPr/>
          <a:lstStyle/>
          <a:p>
            <a:endParaRPr lang="en-SE" sz="2400"/>
          </a:p>
        </p:txBody>
      </p:sp>
      <p:sp>
        <p:nvSpPr>
          <p:cNvPr id="43" name="Text 41"/>
          <p:cNvSpPr/>
          <p:nvPr/>
        </p:nvSpPr>
        <p:spPr>
          <a:xfrm>
            <a:off x="8321040" y="1699035"/>
            <a:ext cx="2926080" cy="402336"/>
          </a:xfrm>
          <a:prstGeom prst="rect">
            <a:avLst/>
          </a:prstGeom>
          <a:noFill/>
          <a:ln/>
        </p:spPr>
        <p:txBody>
          <a:bodyPr wrap="square" lIns="0" tIns="0" rIns="0" bIns="0" rtlCol="0" anchor="ctr"/>
          <a:lstStyle/>
          <a:p>
            <a:pPr marL="0" indent="0">
              <a:buNone/>
            </a:pPr>
            <a:r>
              <a:rPr lang="en-US" b="1" kern="0" spc="100" dirty="0">
                <a:solidFill>
                  <a:srgbClr val="3FE08A"/>
                </a:solidFill>
                <a:latin typeface="Consolas" pitchFamily="34" charset="0"/>
                <a:ea typeface="Consolas" pitchFamily="34" charset="-122"/>
                <a:cs typeface="Consolas" pitchFamily="34" charset="-120"/>
              </a:rPr>
              <a:t>What still works</a:t>
            </a:r>
            <a:endParaRPr lang="en-US" dirty="0"/>
          </a:p>
        </p:txBody>
      </p:sp>
      <p:sp>
        <p:nvSpPr>
          <p:cNvPr id="44" name="table row">
            <a:extLst>
              <a:ext uri="{C183D7F6-B498-43B3-948B-1728B52AA6E4}">
                <adec:decorative xmlns:adec="http://schemas.microsoft.com/office/drawing/2017/decorative" val="1"/>
              </a:ext>
            </a:extLst>
          </p:cNvPr>
          <p:cNvSpPr/>
          <p:nvPr/>
        </p:nvSpPr>
        <p:spPr>
          <a:xfrm>
            <a:off x="566928" y="2128803"/>
            <a:ext cx="10607040" cy="621792"/>
          </a:xfrm>
          <a:prstGeom prst="rect">
            <a:avLst/>
          </a:prstGeom>
          <a:solidFill>
            <a:srgbClr val="20272D"/>
          </a:solidFill>
          <a:ln w="12700">
            <a:solidFill>
              <a:srgbClr val="333333"/>
            </a:solidFill>
            <a:prstDash val="solid"/>
          </a:ln>
        </p:spPr>
        <p:txBody>
          <a:bodyPr/>
          <a:lstStyle/>
          <a:p>
            <a:endParaRPr lang="en-SE" sz="2400"/>
          </a:p>
        </p:txBody>
      </p:sp>
      <p:sp>
        <p:nvSpPr>
          <p:cNvPr id="45" name="severity marker">
            <a:extLst>
              <a:ext uri="{C183D7F6-B498-43B3-948B-1728B52AA6E4}">
                <adec:decorative xmlns:adec="http://schemas.microsoft.com/office/drawing/2017/decorative" val="1"/>
              </a:ext>
            </a:extLst>
          </p:cNvPr>
          <p:cNvSpPr/>
          <p:nvPr/>
        </p:nvSpPr>
        <p:spPr>
          <a:xfrm>
            <a:off x="566928" y="2128803"/>
            <a:ext cx="32004" cy="621792"/>
          </a:xfrm>
          <a:prstGeom prst="rect">
            <a:avLst/>
          </a:prstGeom>
          <a:solidFill>
            <a:srgbClr val="F5A524"/>
          </a:solidFill>
          <a:ln w="12700">
            <a:solidFill>
              <a:srgbClr val="333333"/>
            </a:solidFill>
            <a:prstDash val="solid"/>
          </a:ln>
        </p:spPr>
        <p:txBody>
          <a:bodyPr/>
          <a:lstStyle/>
          <a:p>
            <a:endParaRPr lang="en-SE" sz="2400"/>
          </a:p>
        </p:txBody>
      </p:sp>
      <p:sp>
        <p:nvSpPr>
          <p:cNvPr id="46" name="Text 44"/>
          <p:cNvSpPr/>
          <p:nvPr/>
        </p:nvSpPr>
        <p:spPr>
          <a:xfrm>
            <a:off x="731520" y="2128803"/>
            <a:ext cx="2926080" cy="621792"/>
          </a:xfrm>
          <a:prstGeom prst="rect">
            <a:avLst/>
          </a:prstGeom>
          <a:noFill/>
          <a:ln/>
        </p:spPr>
        <p:txBody>
          <a:bodyPr wrap="square" lIns="0" tIns="0" rIns="0" bIns="0" rtlCol="0" anchor="ctr"/>
          <a:lstStyle/>
          <a:p>
            <a:pPr marL="0" indent="0">
              <a:lnSpc>
                <a:spcPct val="105000"/>
              </a:lnSpc>
              <a:buNone/>
            </a:pPr>
            <a:r>
              <a:rPr lang="en-US" sz="1400" b="1" dirty="0">
                <a:solidFill>
                  <a:srgbClr val="E6EDF3"/>
                </a:solidFill>
                <a:latin typeface="Segoe UI" pitchFamily="34" charset="0"/>
                <a:ea typeface="Segoe UI" pitchFamily="34" charset="-122"/>
                <a:cs typeface="Segoe UI" pitchFamily="34" charset="-120"/>
              </a:rPr>
              <a:t>Live feed unreachable</a:t>
            </a:r>
            <a:endParaRPr lang="en-US" sz="1400" dirty="0"/>
          </a:p>
        </p:txBody>
      </p:sp>
      <p:sp>
        <p:nvSpPr>
          <p:cNvPr id="47" name="Text 45"/>
          <p:cNvSpPr/>
          <p:nvPr/>
        </p:nvSpPr>
        <p:spPr>
          <a:xfrm>
            <a:off x="4023360" y="2128803"/>
            <a:ext cx="3931920" cy="621792"/>
          </a:xfrm>
          <a:prstGeom prst="rect">
            <a:avLst/>
          </a:prstGeom>
          <a:noFill/>
          <a:ln/>
        </p:spPr>
        <p:txBody>
          <a:bodyPr wrap="square" lIns="0" tIns="0" rIns="0" bIns="0" rtlCol="0" anchor="ctr"/>
          <a:lstStyle/>
          <a:p>
            <a:pPr marL="0" indent="0">
              <a:lnSpc>
                <a:spcPct val="105000"/>
              </a:lnSpc>
              <a:buNone/>
            </a:pPr>
            <a:r>
              <a:rPr lang="en-US" sz="1400" dirty="0">
                <a:solidFill>
                  <a:srgbClr val="AAB7C2"/>
                </a:solidFill>
                <a:latin typeface="Segoe UI" pitchFamily="34" charset="0"/>
                <a:ea typeface="Segoe UI" pitchFamily="34" charset="-122"/>
                <a:cs typeface="Segoe UI" pitchFamily="34" charset="-120"/>
              </a:rPr>
              <a:t>RECONNECTING or OFFLINE indicator; numbers stop moving; tick age climbs</a:t>
            </a:r>
            <a:endParaRPr lang="en-US" sz="1400" dirty="0"/>
          </a:p>
        </p:txBody>
      </p:sp>
      <p:sp>
        <p:nvSpPr>
          <p:cNvPr id="48" name="Text 46"/>
          <p:cNvSpPr/>
          <p:nvPr/>
        </p:nvSpPr>
        <p:spPr>
          <a:xfrm>
            <a:off x="8321040" y="2128803"/>
            <a:ext cx="2926080" cy="621792"/>
          </a:xfrm>
          <a:prstGeom prst="rect">
            <a:avLst/>
          </a:prstGeom>
          <a:noFill/>
          <a:ln/>
        </p:spPr>
        <p:txBody>
          <a:bodyPr wrap="square" lIns="0" tIns="0" rIns="0" bIns="0" rtlCol="0" anchor="ctr"/>
          <a:lstStyle/>
          <a:p>
            <a:pPr marL="0" indent="0">
              <a:lnSpc>
                <a:spcPct val="105000"/>
              </a:lnSpc>
              <a:buNone/>
            </a:pPr>
            <a:r>
              <a:rPr lang="en-US" sz="1400" dirty="0">
                <a:solidFill>
                  <a:srgbClr val="F5A524"/>
                </a:solidFill>
                <a:latin typeface="Segoe UI" pitchFamily="34" charset="0"/>
                <a:ea typeface="Segoe UI" pitchFamily="34" charset="-122"/>
                <a:cs typeface="Segoe UI" pitchFamily="34" charset="-120"/>
              </a:rPr>
              <a:t>Charts and history columns still work</a:t>
            </a:r>
            <a:endParaRPr lang="en-US" sz="1400" dirty="0"/>
          </a:p>
        </p:txBody>
      </p:sp>
      <p:sp>
        <p:nvSpPr>
          <p:cNvPr id="49" name="table row">
            <a:extLst>
              <a:ext uri="{C183D7F6-B498-43B3-948B-1728B52AA6E4}">
                <adec:decorative xmlns:adec="http://schemas.microsoft.com/office/drawing/2017/decorative" val="1"/>
              </a:ext>
            </a:extLst>
          </p:cNvPr>
          <p:cNvSpPr/>
          <p:nvPr/>
        </p:nvSpPr>
        <p:spPr>
          <a:xfrm>
            <a:off x="566928" y="2768883"/>
            <a:ext cx="10607040" cy="621792"/>
          </a:xfrm>
          <a:prstGeom prst="rect">
            <a:avLst/>
          </a:prstGeom>
          <a:solidFill>
            <a:srgbClr val="191E23"/>
          </a:solidFill>
          <a:ln w="12700">
            <a:solidFill>
              <a:srgbClr val="333333"/>
            </a:solidFill>
            <a:prstDash val="solid"/>
          </a:ln>
        </p:spPr>
        <p:txBody>
          <a:bodyPr/>
          <a:lstStyle/>
          <a:p>
            <a:endParaRPr lang="en-SE" sz="2400"/>
          </a:p>
        </p:txBody>
      </p:sp>
      <p:sp>
        <p:nvSpPr>
          <p:cNvPr id="50" name="severity marker">
            <a:extLst>
              <a:ext uri="{C183D7F6-B498-43B3-948B-1728B52AA6E4}">
                <adec:decorative xmlns:adec="http://schemas.microsoft.com/office/drawing/2017/decorative" val="1"/>
              </a:ext>
            </a:extLst>
          </p:cNvPr>
          <p:cNvSpPr/>
          <p:nvPr/>
        </p:nvSpPr>
        <p:spPr>
          <a:xfrm>
            <a:off x="566928" y="2768883"/>
            <a:ext cx="32004" cy="621792"/>
          </a:xfrm>
          <a:prstGeom prst="rect">
            <a:avLst/>
          </a:prstGeom>
          <a:solidFill>
            <a:srgbClr val="EF5B63"/>
          </a:solidFill>
          <a:ln w="12700">
            <a:solidFill>
              <a:srgbClr val="333333"/>
            </a:solidFill>
            <a:prstDash val="solid"/>
          </a:ln>
        </p:spPr>
        <p:txBody>
          <a:bodyPr/>
          <a:lstStyle/>
          <a:p>
            <a:endParaRPr lang="en-SE" sz="2400"/>
          </a:p>
        </p:txBody>
      </p:sp>
      <p:sp>
        <p:nvSpPr>
          <p:cNvPr id="51" name="Text 49"/>
          <p:cNvSpPr/>
          <p:nvPr/>
        </p:nvSpPr>
        <p:spPr>
          <a:xfrm>
            <a:off x="731520" y="2768883"/>
            <a:ext cx="2926080" cy="621792"/>
          </a:xfrm>
          <a:prstGeom prst="rect">
            <a:avLst/>
          </a:prstGeom>
          <a:noFill/>
          <a:ln/>
        </p:spPr>
        <p:txBody>
          <a:bodyPr wrap="square" lIns="0" tIns="0" rIns="0" bIns="0" rtlCol="0" anchor="ctr"/>
          <a:lstStyle/>
          <a:p>
            <a:pPr marL="0" indent="0">
              <a:lnSpc>
                <a:spcPct val="105000"/>
              </a:lnSpc>
              <a:buNone/>
            </a:pPr>
            <a:r>
              <a:rPr lang="en-US" sz="1400" b="1" dirty="0">
                <a:solidFill>
                  <a:srgbClr val="E6EDF3"/>
                </a:solidFill>
                <a:latin typeface="Segoe UI" pitchFamily="34" charset="0"/>
                <a:ea typeface="Segoe UI" pitchFamily="34" charset="-122"/>
                <a:cs typeface="Segoe UI" pitchFamily="34" charset="-120"/>
              </a:rPr>
              <a:t>Feed silently frozen</a:t>
            </a:r>
            <a:endParaRPr lang="en-US" sz="1400" dirty="0"/>
          </a:p>
        </p:txBody>
      </p:sp>
      <p:sp>
        <p:nvSpPr>
          <p:cNvPr id="52" name="Text 50"/>
          <p:cNvSpPr/>
          <p:nvPr/>
        </p:nvSpPr>
        <p:spPr>
          <a:xfrm>
            <a:off x="4023360" y="2768883"/>
            <a:ext cx="3931920" cy="621792"/>
          </a:xfrm>
          <a:prstGeom prst="rect">
            <a:avLst/>
          </a:prstGeom>
          <a:noFill/>
          <a:ln/>
        </p:spPr>
        <p:txBody>
          <a:bodyPr wrap="square" lIns="0" tIns="0" rIns="0" bIns="0" rtlCol="0" anchor="ctr"/>
          <a:lstStyle/>
          <a:p>
            <a:pPr marL="0" indent="0">
              <a:lnSpc>
                <a:spcPct val="105000"/>
              </a:lnSpc>
              <a:buNone/>
            </a:pPr>
            <a:r>
              <a:rPr lang="en-US" sz="1400" dirty="0">
                <a:solidFill>
                  <a:srgbClr val="AAB7C2"/>
                </a:solidFill>
                <a:latin typeface="Segoe UI" pitchFamily="34" charset="0"/>
                <a:ea typeface="Segoe UI" pitchFamily="34" charset="-122"/>
                <a:cs typeface="Segoe UI" pitchFamily="34" charset="-120"/>
              </a:rPr>
              <a:t>Still reads connected — but tick age keeps climbing</a:t>
            </a:r>
            <a:endParaRPr lang="en-US" sz="1400" dirty="0"/>
          </a:p>
        </p:txBody>
      </p:sp>
      <p:sp>
        <p:nvSpPr>
          <p:cNvPr id="53" name="Text 51"/>
          <p:cNvSpPr/>
          <p:nvPr/>
        </p:nvSpPr>
        <p:spPr>
          <a:xfrm>
            <a:off x="8321040" y="2768883"/>
            <a:ext cx="2926080" cy="621792"/>
          </a:xfrm>
          <a:prstGeom prst="rect">
            <a:avLst/>
          </a:prstGeom>
          <a:noFill/>
          <a:ln/>
        </p:spPr>
        <p:txBody>
          <a:bodyPr wrap="square" lIns="0" tIns="0" rIns="0" bIns="0" rtlCol="0" anchor="ctr"/>
          <a:lstStyle/>
          <a:p>
            <a:pPr marL="0" indent="0">
              <a:lnSpc>
                <a:spcPct val="105000"/>
              </a:lnSpc>
              <a:buNone/>
            </a:pPr>
            <a:r>
              <a:rPr lang="en-US" sz="1400" dirty="0">
                <a:solidFill>
                  <a:srgbClr val="EF5B63"/>
                </a:solidFill>
                <a:latin typeface="Segoe UI" pitchFamily="34" charset="0"/>
                <a:ea typeface="Segoe UI" pitchFamily="34" charset="-122"/>
                <a:cs typeface="Segoe UI" pitchFamily="34" charset="-120"/>
              </a:rPr>
              <a:t>Everything looks fine. This is why tick age exists</a:t>
            </a:r>
            <a:endParaRPr lang="en-US" sz="1400" dirty="0"/>
          </a:p>
        </p:txBody>
      </p:sp>
      <p:sp>
        <p:nvSpPr>
          <p:cNvPr id="54" name="table row">
            <a:extLst>
              <a:ext uri="{C183D7F6-B498-43B3-948B-1728B52AA6E4}">
                <adec:decorative xmlns:adec="http://schemas.microsoft.com/office/drawing/2017/decorative" val="1"/>
              </a:ext>
            </a:extLst>
          </p:cNvPr>
          <p:cNvSpPr/>
          <p:nvPr/>
        </p:nvSpPr>
        <p:spPr>
          <a:xfrm>
            <a:off x="566928" y="3408963"/>
            <a:ext cx="10607040" cy="621792"/>
          </a:xfrm>
          <a:prstGeom prst="rect">
            <a:avLst/>
          </a:prstGeom>
          <a:solidFill>
            <a:srgbClr val="20272D"/>
          </a:solidFill>
          <a:ln w="12700">
            <a:solidFill>
              <a:srgbClr val="333333"/>
            </a:solidFill>
            <a:prstDash val="solid"/>
          </a:ln>
        </p:spPr>
        <p:txBody>
          <a:bodyPr/>
          <a:lstStyle/>
          <a:p>
            <a:endParaRPr lang="en-SE" sz="2400"/>
          </a:p>
        </p:txBody>
      </p:sp>
      <p:sp>
        <p:nvSpPr>
          <p:cNvPr id="55" name="severity marker">
            <a:extLst>
              <a:ext uri="{C183D7F6-B498-43B3-948B-1728B52AA6E4}">
                <adec:decorative xmlns:adec="http://schemas.microsoft.com/office/drawing/2017/decorative" val="1"/>
              </a:ext>
            </a:extLst>
          </p:cNvPr>
          <p:cNvSpPr/>
          <p:nvPr/>
        </p:nvSpPr>
        <p:spPr>
          <a:xfrm>
            <a:off x="566928" y="3408963"/>
            <a:ext cx="32004" cy="621792"/>
          </a:xfrm>
          <a:prstGeom prst="rect">
            <a:avLst/>
          </a:prstGeom>
          <a:solidFill>
            <a:srgbClr val="F5A524"/>
          </a:solidFill>
          <a:ln w="12700">
            <a:solidFill>
              <a:srgbClr val="333333"/>
            </a:solidFill>
            <a:prstDash val="solid"/>
          </a:ln>
        </p:spPr>
        <p:txBody>
          <a:bodyPr/>
          <a:lstStyle/>
          <a:p>
            <a:endParaRPr lang="en-SE" sz="2400"/>
          </a:p>
        </p:txBody>
      </p:sp>
      <p:sp>
        <p:nvSpPr>
          <p:cNvPr id="56" name="Text 54"/>
          <p:cNvSpPr/>
          <p:nvPr/>
        </p:nvSpPr>
        <p:spPr>
          <a:xfrm>
            <a:off x="731520" y="3408963"/>
            <a:ext cx="2926080" cy="621792"/>
          </a:xfrm>
          <a:prstGeom prst="rect">
            <a:avLst/>
          </a:prstGeom>
          <a:noFill/>
          <a:ln/>
        </p:spPr>
        <p:txBody>
          <a:bodyPr wrap="square" lIns="0" tIns="0" rIns="0" bIns="0" rtlCol="0" anchor="ctr"/>
          <a:lstStyle/>
          <a:p>
            <a:pPr marL="0" indent="0">
              <a:lnSpc>
                <a:spcPct val="105000"/>
              </a:lnSpc>
              <a:buNone/>
            </a:pPr>
            <a:r>
              <a:rPr lang="en-US" sz="1400" b="1" dirty="0">
                <a:solidFill>
                  <a:srgbClr val="E6EDF3"/>
                </a:solidFill>
                <a:latin typeface="Segoe UI" pitchFamily="34" charset="0"/>
                <a:ea typeface="Segoe UI" pitchFamily="34" charset="-122"/>
                <a:cs typeface="Segoe UI" pitchFamily="34" charset="-120"/>
              </a:rPr>
              <a:t>History service unreachable</a:t>
            </a:r>
            <a:endParaRPr lang="en-US" sz="1400" dirty="0"/>
          </a:p>
        </p:txBody>
      </p:sp>
      <p:sp>
        <p:nvSpPr>
          <p:cNvPr id="57" name="Text 55"/>
          <p:cNvSpPr/>
          <p:nvPr/>
        </p:nvSpPr>
        <p:spPr>
          <a:xfrm>
            <a:off x="4023360" y="3408963"/>
            <a:ext cx="3931920" cy="621792"/>
          </a:xfrm>
          <a:prstGeom prst="rect">
            <a:avLst/>
          </a:prstGeom>
          <a:noFill/>
          <a:ln/>
        </p:spPr>
        <p:txBody>
          <a:bodyPr wrap="square" lIns="0" tIns="0" rIns="0" bIns="0" rtlCol="0" anchor="ctr"/>
          <a:lstStyle/>
          <a:p>
            <a:pPr marL="0" indent="0">
              <a:lnSpc>
                <a:spcPct val="105000"/>
              </a:lnSpc>
              <a:buNone/>
            </a:pPr>
            <a:r>
              <a:rPr lang="en-US" sz="1400" dirty="0">
                <a:solidFill>
                  <a:srgbClr val="AAB7C2"/>
                </a:solidFill>
                <a:latin typeface="Segoe UI" pitchFamily="34" charset="0"/>
                <a:ea typeface="Segoe UI" pitchFamily="34" charset="-122"/>
                <a:cs typeface="Segoe UI" pitchFamily="34" charset="-120"/>
              </a:rPr>
              <a:t>Banner shown; Open / Volume / Turnover columns blank; charts empty</a:t>
            </a:r>
            <a:endParaRPr lang="en-US" sz="1400" dirty="0"/>
          </a:p>
        </p:txBody>
      </p:sp>
      <p:sp>
        <p:nvSpPr>
          <p:cNvPr id="58" name="Text 56"/>
          <p:cNvSpPr/>
          <p:nvPr/>
        </p:nvSpPr>
        <p:spPr>
          <a:xfrm>
            <a:off x="8321040" y="3408963"/>
            <a:ext cx="2926080" cy="621792"/>
          </a:xfrm>
          <a:prstGeom prst="rect">
            <a:avLst/>
          </a:prstGeom>
          <a:noFill/>
          <a:ln/>
        </p:spPr>
        <p:txBody>
          <a:bodyPr wrap="square" lIns="0" tIns="0" rIns="0" bIns="0" rtlCol="0" anchor="ctr"/>
          <a:lstStyle/>
          <a:p>
            <a:pPr marL="0" indent="0">
              <a:lnSpc>
                <a:spcPct val="105000"/>
              </a:lnSpc>
              <a:buNone/>
            </a:pPr>
            <a:r>
              <a:rPr lang="en-US" sz="1400" dirty="0">
                <a:solidFill>
                  <a:srgbClr val="F5A524"/>
                </a:solidFill>
                <a:latin typeface="Segoe UI" pitchFamily="34" charset="0"/>
                <a:ea typeface="Segoe UI" pitchFamily="34" charset="-122"/>
                <a:cs typeface="Segoe UI" pitchFamily="34" charset="-120"/>
              </a:rPr>
              <a:t>Live prices, quotes, trades and depth are unaffected</a:t>
            </a:r>
            <a:endParaRPr lang="en-US" sz="1400" dirty="0"/>
          </a:p>
        </p:txBody>
      </p:sp>
      <p:sp>
        <p:nvSpPr>
          <p:cNvPr id="59" name="table row">
            <a:extLst>
              <a:ext uri="{C183D7F6-B498-43B3-948B-1728B52AA6E4}">
                <adec:decorative xmlns:adec="http://schemas.microsoft.com/office/drawing/2017/decorative" val="1"/>
              </a:ext>
            </a:extLst>
          </p:cNvPr>
          <p:cNvSpPr/>
          <p:nvPr/>
        </p:nvSpPr>
        <p:spPr>
          <a:xfrm>
            <a:off x="566928" y="4049043"/>
            <a:ext cx="10607040" cy="621792"/>
          </a:xfrm>
          <a:prstGeom prst="rect">
            <a:avLst/>
          </a:prstGeom>
          <a:solidFill>
            <a:srgbClr val="191E23"/>
          </a:solidFill>
          <a:ln w="12700">
            <a:solidFill>
              <a:srgbClr val="333333"/>
            </a:solidFill>
            <a:prstDash val="solid"/>
          </a:ln>
        </p:spPr>
        <p:txBody>
          <a:bodyPr/>
          <a:lstStyle/>
          <a:p>
            <a:endParaRPr lang="en-SE" sz="2400"/>
          </a:p>
        </p:txBody>
      </p:sp>
      <p:sp>
        <p:nvSpPr>
          <p:cNvPr id="60" name="severity marker">
            <a:extLst>
              <a:ext uri="{C183D7F6-B498-43B3-948B-1728B52AA6E4}">
                <adec:decorative xmlns:adec="http://schemas.microsoft.com/office/drawing/2017/decorative" val="1"/>
              </a:ext>
            </a:extLst>
          </p:cNvPr>
          <p:cNvSpPr/>
          <p:nvPr/>
        </p:nvSpPr>
        <p:spPr>
          <a:xfrm>
            <a:off x="566928" y="4049043"/>
            <a:ext cx="32004" cy="621792"/>
          </a:xfrm>
          <a:prstGeom prst="rect">
            <a:avLst/>
          </a:prstGeom>
          <a:solidFill>
            <a:srgbClr val="3FE08A"/>
          </a:solidFill>
          <a:ln w="12700">
            <a:solidFill>
              <a:srgbClr val="333333"/>
            </a:solidFill>
            <a:prstDash val="solid"/>
          </a:ln>
        </p:spPr>
        <p:txBody>
          <a:bodyPr/>
          <a:lstStyle/>
          <a:p>
            <a:endParaRPr lang="en-SE" sz="2400"/>
          </a:p>
        </p:txBody>
      </p:sp>
      <p:sp>
        <p:nvSpPr>
          <p:cNvPr id="61" name="Text 59"/>
          <p:cNvSpPr/>
          <p:nvPr/>
        </p:nvSpPr>
        <p:spPr>
          <a:xfrm>
            <a:off x="731520" y="4049043"/>
            <a:ext cx="2926080" cy="621792"/>
          </a:xfrm>
          <a:prstGeom prst="rect">
            <a:avLst/>
          </a:prstGeom>
          <a:noFill/>
          <a:ln/>
        </p:spPr>
        <p:txBody>
          <a:bodyPr wrap="square" lIns="0" tIns="0" rIns="0" bIns="0" rtlCol="0" anchor="ctr"/>
          <a:lstStyle/>
          <a:p>
            <a:pPr marL="0" indent="0">
              <a:lnSpc>
                <a:spcPct val="105000"/>
              </a:lnSpc>
              <a:buNone/>
            </a:pPr>
            <a:r>
              <a:rPr lang="en-US" sz="1400" b="1" dirty="0">
                <a:solidFill>
                  <a:srgbClr val="E6EDF3"/>
                </a:solidFill>
                <a:latin typeface="Segoe UI" pitchFamily="34" charset="0"/>
                <a:ea typeface="Segoe UI" pitchFamily="34" charset="-122"/>
                <a:cs typeface="Segoe UI" pitchFamily="34" charset="-120"/>
              </a:rPr>
              <a:t>Previous close missing</a:t>
            </a:r>
            <a:endParaRPr lang="en-US" sz="1400" dirty="0"/>
          </a:p>
        </p:txBody>
      </p:sp>
      <p:sp>
        <p:nvSpPr>
          <p:cNvPr id="62" name="Text 60"/>
          <p:cNvSpPr/>
          <p:nvPr/>
        </p:nvSpPr>
        <p:spPr>
          <a:xfrm>
            <a:off x="4023360" y="4049043"/>
            <a:ext cx="3931920" cy="621792"/>
          </a:xfrm>
          <a:prstGeom prst="rect">
            <a:avLst/>
          </a:prstGeom>
          <a:noFill/>
          <a:ln/>
        </p:spPr>
        <p:txBody>
          <a:bodyPr wrap="square" lIns="0" tIns="0" rIns="0" bIns="0" rtlCol="0" anchor="ctr"/>
          <a:lstStyle/>
          <a:p>
            <a:pPr marL="0" indent="0">
              <a:lnSpc>
                <a:spcPct val="105000"/>
              </a:lnSpc>
              <a:buNone/>
            </a:pPr>
            <a:r>
              <a:rPr lang="en-US" sz="1400" dirty="0">
                <a:solidFill>
                  <a:srgbClr val="AAB7C2"/>
                </a:solidFill>
                <a:latin typeface="Segoe UI" pitchFamily="34" charset="0"/>
                <a:ea typeface="Segoe UI" pitchFamily="34" charset="-122"/>
                <a:cs typeface="Segoe UI" pitchFamily="34" charset="-120"/>
              </a:rPr>
              <a:t>Banner shown; % change measured from today's open and marked with *</a:t>
            </a:r>
            <a:endParaRPr lang="en-US" sz="1400" dirty="0"/>
          </a:p>
        </p:txBody>
      </p:sp>
      <p:sp>
        <p:nvSpPr>
          <p:cNvPr id="63" name="Text 61"/>
          <p:cNvSpPr/>
          <p:nvPr/>
        </p:nvSpPr>
        <p:spPr>
          <a:xfrm>
            <a:off x="8321040" y="4049043"/>
            <a:ext cx="2926080" cy="621792"/>
          </a:xfrm>
          <a:prstGeom prst="rect">
            <a:avLst/>
          </a:prstGeom>
          <a:noFill/>
          <a:ln/>
        </p:spPr>
        <p:txBody>
          <a:bodyPr wrap="square" lIns="0" tIns="0" rIns="0" bIns="0" rtlCol="0" anchor="ctr"/>
          <a:lstStyle/>
          <a:p>
            <a:pPr marL="0" indent="0">
              <a:lnSpc>
                <a:spcPct val="105000"/>
              </a:lnSpc>
              <a:buNone/>
            </a:pPr>
            <a:r>
              <a:rPr lang="en-US" sz="1400" dirty="0">
                <a:solidFill>
                  <a:srgbClr val="3FE08A"/>
                </a:solidFill>
                <a:latin typeface="Segoe UI" pitchFamily="34" charset="0"/>
                <a:ea typeface="Segoe UI" pitchFamily="34" charset="-122"/>
                <a:cs typeface="Segoe UI" pitchFamily="34" charset="-120"/>
              </a:rPr>
              <a:t>Everything else is exact</a:t>
            </a:r>
            <a:endParaRPr lang="en-US" sz="1400" dirty="0"/>
          </a:p>
        </p:txBody>
      </p:sp>
      <p:sp>
        <p:nvSpPr>
          <p:cNvPr id="64" name="table row">
            <a:extLst>
              <a:ext uri="{C183D7F6-B498-43B3-948B-1728B52AA6E4}">
                <adec:decorative xmlns:adec="http://schemas.microsoft.com/office/drawing/2017/decorative" val="1"/>
              </a:ext>
            </a:extLst>
          </p:cNvPr>
          <p:cNvSpPr/>
          <p:nvPr/>
        </p:nvSpPr>
        <p:spPr>
          <a:xfrm>
            <a:off x="566928" y="4689123"/>
            <a:ext cx="10607040" cy="621792"/>
          </a:xfrm>
          <a:prstGeom prst="rect">
            <a:avLst/>
          </a:prstGeom>
          <a:solidFill>
            <a:srgbClr val="20272D"/>
          </a:solidFill>
          <a:ln w="12700">
            <a:solidFill>
              <a:srgbClr val="333333"/>
            </a:solidFill>
            <a:prstDash val="solid"/>
          </a:ln>
        </p:spPr>
        <p:txBody>
          <a:bodyPr/>
          <a:lstStyle/>
          <a:p>
            <a:endParaRPr lang="en-SE" sz="2400"/>
          </a:p>
        </p:txBody>
      </p:sp>
      <p:sp>
        <p:nvSpPr>
          <p:cNvPr id="65" name="severity marker">
            <a:extLst>
              <a:ext uri="{C183D7F6-B498-43B3-948B-1728B52AA6E4}">
                <adec:decorative xmlns:adec="http://schemas.microsoft.com/office/drawing/2017/decorative" val="1"/>
              </a:ext>
            </a:extLst>
          </p:cNvPr>
          <p:cNvSpPr/>
          <p:nvPr/>
        </p:nvSpPr>
        <p:spPr>
          <a:xfrm>
            <a:off x="566928" y="4689123"/>
            <a:ext cx="32004" cy="621792"/>
          </a:xfrm>
          <a:prstGeom prst="rect">
            <a:avLst/>
          </a:prstGeom>
          <a:solidFill>
            <a:srgbClr val="F5A524"/>
          </a:solidFill>
          <a:ln w="12700">
            <a:solidFill>
              <a:srgbClr val="333333"/>
            </a:solidFill>
            <a:prstDash val="solid"/>
          </a:ln>
        </p:spPr>
        <p:txBody>
          <a:bodyPr/>
          <a:lstStyle/>
          <a:p>
            <a:endParaRPr lang="en-SE" sz="2400"/>
          </a:p>
        </p:txBody>
      </p:sp>
      <p:sp>
        <p:nvSpPr>
          <p:cNvPr id="66" name="Text 64"/>
          <p:cNvSpPr/>
          <p:nvPr/>
        </p:nvSpPr>
        <p:spPr>
          <a:xfrm>
            <a:off x="731520" y="4689123"/>
            <a:ext cx="2926080" cy="621792"/>
          </a:xfrm>
          <a:prstGeom prst="rect">
            <a:avLst/>
          </a:prstGeom>
          <a:noFill/>
          <a:ln/>
        </p:spPr>
        <p:txBody>
          <a:bodyPr wrap="square" lIns="0" tIns="0" rIns="0" bIns="0" rtlCol="0" anchor="ctr"/>
          <a:lstStyle/>
          <a:p>
            <a:pPr marL="0" indent="0">
              <a:lnSpc>
                <a:spcPct val="105000"/>
              </a:lnSpc>
              <a:buNone/>
            </a:pPr>
            <a:r>
              <a:rPr lang="en-US" sz="1400" b="1" dirty="0">
                <a:solidFill>
                  <a:srgbClr val="E6EDF3"/>
                </a:solidFill>
                <a:latin typeface="Segoe UI" pitchFamily="34" charset="0"/>
                <a:ea typeface="Segoe UI" pitchFamily="34" charset="-122"/>
                <a:cs typeface="Segoe UI" pitchFamily="34" charset="-120"/>
              </a:rPr>
              <a:t>Prints genuinely missed</a:t>
            </a:r>
            <a:endParaRPr lang="en-US" sz="1400" dirty="0"/>
          </a:p>
        </p:txBody>
      </p:sp>
      <p:sp>
        <p:nvSpPr>
          <p:cNvPr id="67" name="Text 65"/>
          <p:cNvSpPr/>
          <p:nvPr/>
        </p:nvSpPr>
        <p:spPr>
          <a:xfrm>
            <a:off x="4023360" y="4689123"/>
            <a:ext cx="3931920" cy="621792"/>
          </a:xfrm>
          <a:prstGeom prst="rect">
            <a:avLst/>
          </a:prstGeom>
          <a:noFill/>
          <a:ln/>
        </p:spPr>
        <p:txBody>
          <a:bodyPr wrap="square" lIns="0" tIns="0" rIns="0" bIns="0" rtlCol="0" anchor="ctr"/>
          <a:lstStyle/>
          <a:p>
            <a:pPr marL="0" indent="0">
              <a:lnSpc>
                <a:spcPct val="105000"/>
              </a:lnSpc>
              <a:buNone/>
            </a:pPr>
            <a:r>
              <a:rPr lang="en-US" sz="1400" dirty="0">
                <a:solidFill>
                  <a:srgbClr val="AAB7C2"/>
                </a:solidFill>
                <a:latin typeface="Segoe UI" pitchFamily="34" charset="0"/>
                <a:ea typeface="Segoe UI" pitchFamily="34" charset="-122"/>
                <a:cs typeface="Segoe UI" pitchFamily="34" charset="-120"/>
              </a:rPr>
              <a:t>An explicit gap marker row in the tape</a:t>
            </a:r>
            <a:endParaRPr lang="en-US" sz="1400" dirty="0"/>
          </a:p>
        </p:txBody>
      </p:sp>
      <p:sp>
        <p:nvSpPr>
          <p:cNvPr id="68" name="Text 66"/>
          <p:cNvSpPr/>
          <p:nvPr/>
        </p:nvSpPr>
        <p:spPr>
          <a:xfrm>
            <a:off x="8321040" y="4689123"/>
            <a:ext cx="2926080" cy="621792"/>
          </a:xfrm>
          <a:prstGeom prst="rect">
            <a:avLst/>
          </a:prstGeom>
          <a:noFill/>
          <a:ln/>
        </p:spPr>
        <p:txBody>
          <a:bodyPr wrap="square" lIns="0" tIns="0" rIns="0" bIns="0" rtlCol="0" anchor="ctr"/>
          <a:lstStyle/>
          <a:p>
            <a:pPr marL="0" indent="0">
              <a:lnSpc>
                <a:spcPct val="105000"/>
              </a:lnSpc>
              <a:buNone/>
            </a:pPr>
            <a:r>
              <a:rPr lang="en-US" sz="1400" dirty="0">
                <a:solidFill>
                  <a:srgbClr val="F5A524"/>
                </a:solidFill>
                <a:latin typeface="Segoe UI" pitchFamily="34" charset="0"/>
                <a:ea typeface="Segoe UI" pitchFamily="34" charset="-122"/>
                <a:cs typeface="Segoe UI" pitchFamily="34" charset="-120"/>
              </a:rPr>
              <a:t>All other prints are complete and correct</a:t>
            </a:r>
            <a:endParaRPr lang="en-US" sz="1400" dirty="0"/>
          </a:p>
        </p:txBody>
      </p:sp>
      <p:sp>
        <p:nvSpPr>
          <p:cNvPr id="69" name="table row">
            <a:extLst>
              <a:ext uri="{C183D7F6-B498-43B3-948B-1728B52AA6E4}">
                <adec:decorative xmlns:adec="http://schemas.microsoft.com/office/drawing/2017/decorative" val="1"/>
              </a:ext>
            </a:extLst>
          </p:cNvPr>
          <p:cNvSpPr/>
          <p:nvPr/>
        </p:nvSpPr>
        <p:spPr>
          <a:xfrm>
            <a:off x="566928" y="5329203"/>
            <a:ext cx="10607040" cy="621792"/>
          </a:xfrm>
          <a:prstGeom prst="rect">
            <a:avLst/>
          </a:prstGeom>
          <a:solidFill>
            <a:srgbClr val="191E23"/>
          </a:solidFill>
          <a:ln w="12700">
            <a:solidFill>
              <a:srgbClr val="333333"/>
            </a:solidFill>
            <a:prstDash val="solid"/>
          </a:ln>
        </p:spPr>
        <p:txBody>
          <a:bodyPr/>
          <a:lstStyle/>
          <a:p>
            <a:endParaRPr lang="en-SE" sz="2400"/>
          </a:p>
        </p:txBody>
      </p:sp>
      <p:sp>
        <p:nvSpPr>
          <p:cNvPr id="70" name="severity marker">
            <a:extLst>
              <a:ext uri="{C183D7F6-B498-43B3-948B-1728B52AA6E4}">
                <adec:decorative xmlns:adec="http://schemas.microsoft.com/office/drawing/2017/decorative" val="1"/>
              </a:ext>
            </a:extLst>
          </p:cNvPr>
          <p:cNvSpPr/>
          <p:nvPr/>
        </p:nvSpPr>
        <p:spPr>
          <a:xfrm>
            <a:off x="566928" y="5329203"/>
            <a:ext cx="32004" cy="621792"/>
          </a:xfrm>
          <a:prstGeom prst="rect">
            <a:avLst/>
          </a:prstGeom>
          <a:solidFill>
            <a:srgbClr val="EF5B63"/>
          </a:solidFill>
          <a:ln w="12700">
            <a:solidFill>
              <a:srgbClr val="333333"/>
            </a:solidFill>
            <a:prstDash val="solid"/>
          </a:ln>
        </p:spPr>
        <p:txBody>
          <a:bodyPr/>
          <a:lstStyle/>
          <a:p>
            <a:endParaRPr lang="en-SE" sz="2400"/>
          </a:p>
        </p:txBody>
      </p:sp>
      <p:sp>
        <p:nvSpPr>
          <p:cNvPr id="71" name="Text 69"/>
          <p:cNvSpPr/>
          <p:nvPr/>
        </p:nvSpPr>
        <p:spPr>
          <a:xfrm>
            <a:off x="731520" y="5329203"/>
            <a:ext cx="2926080" cy="621792"/>
          </a:xfrm>
          <a:prstGeom prst="rect">
            <a:avLst/>
          </a:prstGeom>
          <a:noFill/>
          <a:ln/>
        </p:spPr>
        <p:txBody>
          <a:bodyPr wrap="square" lIns="0" tIns="0" rIns="0" bIns="0" rtlCol="0" anchor="ctr"/>
          <a:lstStyle/>
          <a:p>
            <a:pPr marL="0" indent="0">
              <a:lnSpc>
                <a:spcPct val="105000"/>
              </a:lnSpc>
              <a:buNone/>
            </a:pPr>
            <a:r>
              <a:rPr lang="en-US" sz="1400" b="1" dirty="0">
                <a:solidFill>
                  <a:srgbClr val="E6EDF3"/>
                </a:solidFill>
                <a:latin typeface="Segoe UI" pitchFamily="34" charset="0"/>
                <a:ea typeface="Segoe UI" pitchFamily="34" charset="-122"/>
                <a:cs typeface="Segoe UI" pitchFamily="34" charset="-120"/>
              </a:rPr>
              <a:t>Browser lost the terminal</a:t>
            </a:r>
            <a:endParaRPr lang="en-US" sz="1400" dirty="0"/>
          </a:p>
        </p:txBody>
      </p:sp>
      <p:sp>
        <p:nvSpPr>
          <p:cNvPr id="72" name="Text 70"/>
          <p:cNvSpPr/>
          <p:nvPr/>
        </p:nvSpPr>
        <p:spPr>
          <a:xfrm>
            <a:off x="4023360" y="5329203"/>
            <a:ext cx="3931920" cy="621792"/>
          </a:xfrm>
          <a:prstGeom prst="rect">
            <a:avLst/>
          </a:prstGeom>
          <a:noFill/>
          <a:ln/>
        </p:spPr>
        <p:txBody>
          <a:bodyPr wrap="square" lIns="0" tIns="0" rIns="0" bIns="0" rtlCol="0" anchor="ctr"/>
          <a:lstStyle/>
          <a:p>
            <a:pPr marL="0" indent="0">
              <a:lnSpc>
                <a:spcPct val="105000"/>
              </a:lnSpc>
              <a:buNone/>
            </a:pPr>
            <a:r>
              <a:rPr lang="en-US" sz="1400" dirty="0">
                <a:solidFill>
                  <a:srgbClr val="AAB7C2"/>
                </a:solidFill>
                <a:latin typeface="Segoe UI" pitchFamily="34" charset="0"/>
                <a:ea typeface="Segoe UI" pitchFamily="34" charset="-122"/>
                <a:cs typeface="Segoe UI" pitchFamily="34" charset="-120"/>
              </a:rPr>
              <a:t>Red "disconnected" banner across every screen</a:t>
            </a:r>
            <a:endParaRPr lang="en-US" sz="1400" dirty="0"/>
          </a:p>
        </p:txBody>
      </p:sp>
      <p:sp>
        <p:nvSpPr>
          <p:cNvPr id="73" name="Text 71"/>
          <p:cNvSpPr/>
          <p:nvPr/>
        </p:nvSpPr>
        <p:spPr>
          <a:xfrm>
            <a:off x="8321040" y="5329203"/>
            <a:ext cx="2926080" cy="621792"/>
          </a:xfrm>
          <a:prstGeom prst="rect">
            <a:avLst/>
          </a:prstGeom>
          <a:noFill/>
          <a:ln/>
        </p:spPr>
        <p:txBody>
          <a:bodyPr wrap="square" lIns="0" tIns="0" rIns="0" bIns="0" rtlCol="0" anchor="ctr"/>
          <a:lstStyle/>
          <a:p>
            <a:pPr marL="0" indent="0">
              <a:lnSpc>
                <a:spcPct val="105000"/>
              </a:lnSpc>
              <a:buNone/>
            </a:pPr>
            <a:r>
              <a:rPr lang="en-US" sz="1400" dirty="0">
                <a:solidFill>
                  <a:srgbClr val="EF5B63"/>
                </a:solidFill>
                <a:latin typeface="Segoe UI" pitchFamily="34" charset="0"/>
                <a:ea typeface="Segoe UI" pitchFamily="34" charset="-122"/>
                <a:cs typeface="Segoe UI" pitchFamily="34" charset="-120"/>
              </a:rPr>
              <a:t>Nothing updates until it reconnects</a:t>
            </a:r>
            <a:endParaRPr lang="en-US" sz="1400" dirty="0"/>
          </a:p>
        </p:txBody>
      </p:sp>
      <p:sp>
        <p:nvSpPr>
          <p:cNvPr id="74" name="Text 72"/>
          <p:cNvSpPr/>
          <p:nvPr/>
        </p:nvSpPr>
        <p:spPr>
          <a:xfrm>
            <a:off x="566928" y="6144768"/>
            <a:ext cx="10607040" cy="274320"/>
          </a:xfrm>
          <a:prstGeom prst="rect">
            <a:avLst/>
          </a:prstGeom>
          <a:noFill/>
          <a:ln/>
        </p:spPr>
        <p:txBody>
          <a:bodyPr wrap="square" lIns="0" tIns="0" rIns="0" bIns="0" rtlCol="0" anchor="ctr"/>
          <a:lstStyle/>
          <a:p>
            <a:pPr marL="0" indent="0">
              <a:buNone/>
            </a:pPr>
            <a:r>
              <a:rPr lang="en-US" sz="1100" i="1" dirty="0">
                <a:solidFill>
                  <a:srgbClr val="7C8B97"/>
                </a:solidFill>
                <a:latin typeface="Segoe UI" pitchFamily="34" charset="0"/>
                <a:ea typeface="Segoe UI" pitchFamily="34" charset="-122"/>
                <a:cs typeface="Segoe UI" pitchFamily="34" charset="-120"/>
              </a:rPr>
              <a:t>Notice the pattern: live data and historical data fail independently, and the terminal always says which one it lost.</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Troubleshooting: symptom to cause</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05 · ERROR HANDLING</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36</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The five things you will actually hit, and the first place to look for each.</a:t>
            </a:r>
            <a:endParaRPr lang="en-US" sz="1400" dirty="0"/>
          </a:p>
        </p:txBody>
      </p:sp>
      <p:sp>
        <p:nvSpPr>
          <p:cNvPr id="38" name="row background">
            <a:extLst>
              <a:ext uri="{C183D7F6-B498-43B3-948B-1728B52AA6E4}">
                <adec:decorative xmlns:adec="http://schemas.microsoft.com/office/drawing/2017/decorative" val="1"/>
              </a:ext>
            </a:extLst>
          </p:cNvPr>
          <p:cNvSpPr/>
          <p:nvPr/>
        </p:nvSpPr>
        <p:spPr>
          <a:xfrm>
            <a:off x="566928" y="1828800"/>
            <a:ext cx="10607040" cy="822960"/>
          </a:xfrm>
          <a:prstGeom prst="rect">
            <a:avLst/>
          </a:prstGeom>
          <a:solidFill>
            <a:srgbClr val="20272D"/>
          </a:solidFill>
          <a:ln w="9525">
            <a:solidFill>
              <a:srgbClr val="313B44"/>
            </a:solidFill>
            <a:prstDash val="solid"/>
          </a:ln>
        </p:spPr>
        <p:txBody>
          <a:bodyPr/>
          <a:lstStyle/>
          <a:p>
            <a:endParaRPr lang="en-SE" sz="2400"/>
          </a:p>
        </p:txBody>
      </p:sp>
      <p:sp>
        <p:nvSpPr>
          <p:cNvPr id="39" name="severity marker">
            <a:extLst>
              <a:ext uri="{C183D7F6-B498-43B3-948B-1728B52AA6E4}">
                <adec:decorative xmlns:adec="http://schemas.microsoft.com/office/drawing/2017/decorative" val="1"/>
              </a:ext>
            </a:extLst>
          </p:cNvPr>
          <p:cNvSpPr/>
          <p:nvPr/>
        </p:nvSpPr>
        <p:spPr>
          <a:xfrm>
            <a:off x="566928" y="1828800"/>
            <a:ext cx="41148" cy="841248"/>
          </a:xfrm>
          <a:prstGeom prst="rect">
            <a:avLst/>
          </a:prstGeom>
          <a:solidFill>
            <a:srgbClr val="EF5B63"/>
          </a:solidFill>
          <a:ln w="12700">
            <a:solidFill>
              <a:srgbClr val="333333"/>
            </a:solidFill>
            <a:prstDash val="solid"/>
          </a:ln>
        </p:spPr>
        <p:txBody>
          <a:bodyPr/>
          <a:lstStyle/>
          <a:p>
            <a:endParaRPr lang="en-SE" sz="2400"/>
          </a:p>
        </p:txBody>
      </p:sp>
      <p:sp>
        <p:nvSpPr>
          <p:cNvPr id="40" name="Text 38"/>
          <p:cNvSpPr/>
          <p:nvPr/>
        </p:nvSpPr>
        <p:spPr>
          <a:xfrm>
            <a:off x="777240" y="1920240"/>
            <a:ext cx="3200400" cy="658368"/>
          </a:xfrm>
          <a:prstGeom prst="rect">
            <a:avLst/>
          </a:prstGeom>
          <a:noFill/>
          <a:ln/>
        </p:spPr>
        <p:txBody>
          <a:bodyPr wrap="square" lIns="0" tIns="0" rIns="0" bIns="0" rtlCol="0" anchor="ctr"/>
          <a:lstStyle/>
          <a:p>
            <a:pPr marL="0" indent="0">
              <a:lnSpc>
                <a:spcPct val="105000"/>
              </a:lnSpc>
              <a:buNone/>
            </a:pPr>
            <a:r>
              <a:rPr lang="en-US" sz="1400" b="1" dirty="0">
                <a:solidFill>
                  <a:srgbClr val="E6EDF3"/>
                </a:solidFill>
                <a:latin typeface="Segoe UI" pitchFamily="34" charset="0"/>
                <a:ea typeface="Segoe UI" pitchFamily="34" charset="-122"/>
                <a:cs typeface="Segoe UI" pitchFamily="34" charset="-120"/>
              </a:rPr>
              <a:t>Every screen shows a red "disconnected" banner</a:t>
            </a:r>
            <a:endParaRPr lang="en-US" sz="1400" dirty="0"/>
          </a:p>
        </p:txBody>
      </p:sp>
      <p:sp>
        <p:nvSpPr>
          <p:cNvPr id="41" name="Text 39"/>
          <p:cNvSpPr/>
          <p:nvPr/>
        </p:nvSpPr>
        <p:spPr>
          <a:xfrm>
            <a:off x="4114800" y="1920240"/>
            <a:ext cx="2834640" cy="658368"/>
          </a:xfrm>
          <a:prstGeom prst="rect">
            <a:avLst/>
          </a:prstGeom>
          <a:noFill/>
          <a:ln/>
        </p:spPr>
        <p:txBody>
          <a:bodyPr wrap="square" lIns="0" tIns="0" rIns="0" bIns="0" rtlCol="0" anchor="ctr"/>
          <a:lstStyle/>
          <a:p>
            <a:pPr marL="0" indent="0">
              <a:lnSpc>
                <a:spcPct val="105000"/>
              </a:lnSpc>
              <a:buNone/>
            </a:pPr>
            <a:r>
              <a:rPr lang="en-US" sz="1200" dirty="0">
                <a:solidFill>
                  <a:srgbClr val="EF5B63"/>
                </a:solidFill>
                <a:latin typeface="Segoe UI" pitchFamily="34" charset="0"/>
                <a:ea typeface="Segoe UI" pitchFamily="34" charset="-122"/>
                <a:cs typeface="Segoe UI" pitchFamily="34" charset="-120"/>
              </a:rPr>
              <a:t>Your browser's own connection to the terminal is down.</a:t>
            </a:r>
            <a:endParaRPr lang="en-US" sz="1200" dirty="0"/>
          </a:p>
        </p:txBody>
      </p:sp>
      <p:sp>
        <p:nvSpPr>
          <p:cNvPr id="42" name="Text 40"/>
          <p:cNvSpPr/>
          <p:nvPr/>
        </p:nvSpPr>
        <p:spPr>
          <a:xfrm>
            <a:off x="7086600" y="1920240"/>
            <a:ext cx="3977640" cy="658368"/>
          </a:xfrm>
          <a:prstGeom prst="rect">
            <a:avLst/>
          </a:prstGeom>
          <a:noFill/>
          <a:ln/>
        </p:spPr>
        <p:txBody>
          <a:bodyPr wrap="square" lIns="0" tIns="0" rIns="0" bIns="0" rtlCol="0" anchor="ctr"/>
          <a:lstStyle/>
          <a:p>
            <a:pPr marL="0" indent="0">
              <a:lnSpc>
                <a:spcPct val="105000"/>
              </a:lnSpc>
              <a:buNone/>
            </a:pPr>
            <a:r>
              <a:rPr lang="en-US" sz="1200" dirty="0">
                <a:solidFill>
                  <a:srgbClr val="AAB7C2"/>
                </a:solidFill>
                <a:latin typeface="Segoe UI" pitchFamily="34" charset="0"/>
                <a:ea typeface="Segoe UI" pitchFamily="34" charset="-122"/>
                <a:cs typeface="Segoe UI" pitchFamily="34" charset="-120"/>
              </a:rPr>
              <a:t>Confirm the terminal process is running and reachable on its host and port; check the browser console.</a:t>
            </a:r>
            <a:endParaRPr lang="en-US" sz="1200" dirty="0"/>
          </a:p>
        </p:txBody>
      </p:sp>
      <p:sp>
        <p:nvSpPr>
          <p:cNvPr id="43" name="row background">
            <a:extLst>
              <a:ext uri="{C183D7F6-B498-43B3-948B-1728B52AA6E4}">
                <adec:decorative xmlns:adec="http://schemas.microsoft.com/office/drawing/2017/decorative" val="1"/>
              </a:ext>
            </a:extLst>
          </p:cNvPr>
          <p:cNvSpPr/>
          <p:nvPr/>
        </p:nvSpPr>
        <p:spPr>
          <a:xfrm>
            <a:off x="566928" y="2724912"/>
            <a:ext cx="10607040" cy="822960"/>
          </a:xfrm>
          <a:prstGeom prst="rect">
            <a:avLst/>
          </a:prstGeom>
          <a:solidFill>
            <a:srgbClr val="191E23"/>
          </a:solidFill>
          <a:ln w="9525">
            <a:solidFill>
              <a:srgbClr val="313B44"/>
            </a:solidFill>
            <a:prstDash val="solid"/>
          </a:ln>
        </p:spPr>
        <p:txBody>
          <a:bodyPr/>
          <a:lstStyle/>
          <a:p>
            <a:endParaRPr lang="en-SE" sz="2400"/>
          </a:p>
        </p:txBody>
      </p:sp>
      <p:sp>
        <p:nvSpPr>
          <p:cNvPr id="44" name="severity marker">
            <a:extLst>
              <a:ext uri="{C183D7F6-B498-43B3-948B-1728B52AA6E4}">
                <adec:decorative xmlns:adec="http://schemas.microsoft.com/office/drawing/2017/decorative" val="1"/>
              </a:ext>
            </a:extLst>
          </p:cNvPr>
          <p:cNvSpPr/>
          <p:nvPr/>
        </p:nvSpPr>
        <p:spPr>
          <a:xfrm>
            <a:off x="566928" y="2724912"/>
            <a:ext cx="41148" cy="841248"/>
          </a:xfrm>
          <a:prstGeom prst="rect">
            <a:avLst/>
          </a:prstGeom>
          <a:solidFill>
            <a:srgbClr val="F5A524"/>
          </a:solidFill>
          <a:ln w="12700">
            <a:solidFill>
              <a:srgbClr val="333333"/>
            </a:solidFill>
            <a:prstDash val="solid"/>
          </a:ln>
        </p:spPr>
        <p:txBody>
          <a:bodyPr/>
          <a:lstStyle/>
          <a:p>
            <a:endParaRPr lang="en-SE" sz="2400"/>
          </a:p>
        </p:txBody>
      </p:sp>
      <p:sp>
        <p:nvSpPr>
          <p:cNvPr id="45" name="Text 43"/>
          <p:cNvSpPr/>
          <p:nvPr/>
        </p:nvSpPr>
        <p:spPr>
          <a:xfrm>
            <a:off x="777240" y="2816352"/>
            <a:ext cx="3200400" cy="658368"/>
          </a:xfrm>
          <a:prstGeom prst="rect">
            <a:avLst/>
          </a:prstGeom>
          <a:noFill/>
          <a:ln/>
        </p:spPr>
        <p:txBody>
          <a:bodyPr wrap="square" lIns="0" tIns="0" rIns="0" bIns="0" rtlCol="0" anchor="ctr"/>
          <a:lstStyle/>
          <a:p>
            <a:pPr marL="0" indent="0">
              <a:lnSpc>
                <a:spcPct val="105000"/>
              </a:lnSpc>
              <a:buNone/>
            </a:pPr>
            <a:r>
              <a:rPr lang="en-US" sz="1400" b="1" dirty="0">
                <a:solidFill>
                  <a:srgbClr val="E6EDF3"/>
                </a:solidFill>
                <a:latin typeface="Segoe UI" pitchFamily="34" charset="0"/>
                <a:ea typeface="Segoe UI" pitchFamily="34" charset="-122"/>
                <a:cs typeface="Segoe UI" pitchFamily="34" charset="-120"/>
              </a:rPr>
              <a:t>Indicator stuck on RECONNECTING</a:t>
            </a:r>
            <a:endParaRPr lang="en-US" sz="1400" dirty="0"/>
          </a:p>
        </p:txBody>
      </p:sp>
      <p:sp>
        <p:nvSpPr>
          <p:cNvPr id="46" name="Text 44"/>
          <p:cNvSpPr/>
          <p:nvPr/>
        </p:nvSpPr>
        <p:spPr>
          <a:xfrm>
            <a:off x="4114800" y="2816352"/>
            <a:ext cx="2834640" cy="658368"/>
          </a:xfrm>
          <a:prstGeom prst="rect">
            <a:avLst/>
          </a:prstGeom>
          <a:noFill/>
          <a:ln/>
        </p:spPr>
        <p:txBody>
          <a:bodyPr wrap="square" lIns="0" tIns="0" rIns="0" bIns="0" rtlCol="0" anchor="ctr"/>
          <a:lstStyle/>
          <a:p>
            <a:pPr marL="0" indent="0">
              <a:lnSpc>
                <a:spcPct val="105000"/>
              </a:lnSpc>
              <a:buNone/>
            </a:pPr>
            <a:r>
              <a:rPr lang="en-US" sz="1200" dirty="0">
                <a:solidFill>
                  <a:srgbClr val="F5A524"/>
                </a:solidFill>
                <a:latin typeface="Segoe UI" pitchFamily="34" charset="0"/>
                <a:ea typeface="Segoe UI" pitchFamily="34" charset="-122"/>
                <a:cs typeface="Segoe UI" pitchFamily="34" charset="-120"/>
              </a:rPr>
              <a:t>The terminal cannot reach the market-data gateway.</a:t>
            </a:r>
            <a:endParaRPr lang="en-US" sz="1200" dirty="0"/>
          </a:p>
        </p:txBody>
      </p:sp>
      <p:sp>
        <p:nvSpPr>
          <p:cNvPr id="47" name="Text 45"/>
          <p:cNvSpPr/>
          <p:nvPr/>
        </p:nvSpPr>
        <p:spPr>
          <a:xfrm>
            <a:off x="7086600" y="2816352"/>
            <a:ext cx="3977640" cy="658368"/>
          </a:xfrm>
          <a:prstGeom prst="rect">
            <a:avLst/>
          </a:prstGeom>
          <a:noFill/>
          <a:ln/>
        </p:spPr>
        <p:txBody>
          <a:bodyPr wrap="square" lIns="0" tIns="0" rIns="0" bIns="0" rtlCol="0" anchor="ctr"/>
          <a:lstStyle/>
          <a:p>
            <a:pPr marL="0" indent="0">
              <a:lnSpc>
                <a:spcPct val="105000"/>
              </a:lnSpc>
              <a:buNone/>
            </a:pPr>
            <a:r>
              <a:rPr lang="en-US" sz="1200" dirty="0">
                <a:solidFill>
                  <a:srgbClr val="AAB7C2"/>
                </a:solidFill>
                <a:latin typeface="Segoe UI" pitchFamily="34" charset="0"/>
                <a:ea typeface="Segoe UI" pitchFamily="34" charset="-122"/>
                <a:cs typeface="Segoe UI" pitchFamily="34" charset="-120"/>
              </a:rPr>
              <a:t>Confirm the CALF host and port point at a running gateway, and that no firewall blocks that connection.</a:t>
            </a:r>
            <a:endParaRPr lang="en-US" sz="1200" dirty="0"/>
          </a:p>
        </p:txBody>
      </p:sp>
      <p:sp>
        <p:nvSpPr>
          <p:cNvPr id="48" name="row background">
            <a:extLst>
              <a:ext uri="{C183D7F6-B498-43B3-948B-1728B52AA6E4}">
                <adec:decorative xmlns:adec="http://schemas.microsoft.com/office/drawing/2017/decorative" val="1"/>
              </a:ext>
            </a:extLst>
          </p:cNvPr>
          <p:cNvSpPr/>
          <p:nvPr/>
        </p:nvSpPr>
        <p:spPr>
          <a:xfrm>
            <a:off x="566928" y="3621024"/>
            <a:ext cx="10607040" cy="822960"/>
          </a:xfrm>
          <a:prstGeom prst="rect">
            <a:avLst/>
          </a:prstGeom>
          <a:solidFill>
            <a:srgbClr val="20272D"/>
          </a:solidFill>
          <a:ln w="9525">
            <a:solidFill>
              <a:srgbClr val="313B44"/>
            </a:solidFill>
            <a:prstDash val="solid"/>
          </a:ln>
        </p:spPr>
        <p:txBody>
          <a:bodyPr/>
          <a:lstStyle/>
          <a:p>
            <a:endParaRPr lang="en-SE" sz="2400"/>
          </a:p>
        </p:txBody>
      </p:sp>
      <p:sp>
        <p:nvSpPr>
          <p:cNvPr id="49" name="severity marker">
            <a:extLst>
              <a:ext uri="{C183D7F6-B498-43B3-948B-1728B52AA6E4}">
                <adec:decorative xmlns:adec="http://schemas.microsoft.com/office/drawing/2017/decorative" val="1"/>
              </a:ext>
            </a:extLst>
          </p:cNvPr>
          <p:cNvSpPr/>
          <p:nvPr/>
        </p:nvSpPr>
        <p:spPr>
          <a:xfrm>
            <a:off x="566928" y="3621024"/>
            <a:ext cx="41148" cy="841248"/>
          </a:xfrm>
          <a:prstGeom prst="rect">
            <a:avLst/>
          </a:prstGeom>
          <a:solidFill>
            <a:srgbClr val="F5A524"/>
          </a:solidFill>
          <a:ln w="12700">
            <a:solidFill>
              <a:srgbClr val="333333"/>
            </a:solidFill>
            <a:prstDash val="solid"/>
          </a:ln>
        </p:spPr>
        <p:txBody>
          <a:bodyPr/>
          <a:lstStyle/>
          <a:p>
            <a:endParaRPr lang="en-SE" sz="2400"/>
          </a:p>
        </p:txBody>
      </p:sp>
      <p:sp>
        <p:nvSpPr>
          <p:cNvPr id="50" name="Text 48"/>
          <p:cNvSpPr/>
          <p:nvPr/>
        </p:nvSpPr>
        <p:spPr>
          <a:xfrm>
            <a:off x="777240" y="3712464"/>
            <a:ext cx="3200400" cy="658368"/>
          </a:xfrm>
          <a:prstGeom prst="rect">
            <a:avLst/>
          </a:prstGeom>
          <a:noFill/>
          <a:ln/>
        </p:spPr>
        <p:txBody>
          <a:bodyPr wrap="square" lIns="0" tIns="0" rIns="0" bIns="0" rtlCol="0" anchor="ctr"/>
          <a:lstStyle/>
          <a:p>
            <a:pPr marL="0" indent="0">
              <a:lnSpc>
                <a:spcPct val="105000"/>
              </a:lnSpc>
              <a:buNone/>
            </a:pPr>
            <a:r>
              <a:rPr lang="en-US" sz="1400" b="1" dirty="0">
                <a:solidFill>
                  <a:srgbClr val="E6EDF3"/>
                </a:solidFill>
                <a:latin typeface="Segoe UI" pitchFamily="34" charset="0"/>
                <a:ea typeface="Segoe UI" pitchFamily="34" charset="-122"/>
                <a:cs typeface="Segoe UI" pitchFamily="34" charset="-120"/>
              </a:rPr>
              <a:t>Charts and Open / Volume empty, but prices tick</a:t>
            </a:r>
            <a:endParaRPr lang="en-US" sz="1400" dirty="0"/>
          </a:p>
        </p:txBody>
      </p:sp>
      <p:sp>
        <p:nvSpPr>
          <p:cNvPr id="51" name="Text 49"/>
          <p:cNvSpPr/>
          <p:nvPr/>
        </p:nvSpPr>
        <p:spPr>
          <a:xfrm>
            <a:off x="4114800" y="3712464"/>
            <a:ext cx="2834640" cy="658368"/>
          </a:xfrm>
          <a:prstGeom prst="rect">
            <a:avLst/>
          </a:prstGeom>
          <a:noFill/>
          <a:ln/>
        </p:spPr>
        <p:txBody>
          <a:bodyPr wrap="square" lIns="0" tIns="0" rIns="0" bIns="0" rtlCol="0" anchor="ctr"/>
          <a:lstStyle/>
          <a:p>
            <a:pPr marL="0" indent="0">
              <a:lnSpc>
                <a:spcPct val="105000"/>
              </a:lnSpc>
              <a:buNone/>
            </a:pPr>
            <a:r>
              <a:rPr lang="en-US" sz="1200" dirty="0">
                <a:solidFill>
                  <a:srgbClr val="F5A524"/>
                </a:solidFill>
                <a:latin typeface="Segoe UI" pitchFamily="34" charset="0"/>
                <a:ea typeface="Segoe UI" pitchFamily="34" charset="-122"/>
                <a:cs typeface="Segoe UI" pitchFamily="34" charset="-120"/>
              </a:rPr>
              <a:t>The terminal cannot reach the history gateway, or the API key is missing or invalid.</a:t>
            </a:r>
            <a:endParaRPr lang="en-US" sz="1200" dirty="0"/>
          </a:p>
        </p:txBody>
      </p:sp>
      <p:sp>
        <p:nvSpPr>
          <p:cNvPr id="52" name="Text 50"/>
          <p:cNvSpPr/>
          <p:nvPr/>
        </p:nvSpPr>
        <p:spPr>
          <a:xfrm>
            <a:off x="7086600" y="3712464"/>
            <a:ext cx="3977640" cy="658368"/>
          </a:xfrm>
          <a:prstGeom prst="rect">
            <a:avLst/>
          </a:prstGeom>
          <a:noFill/>
          <a:ln/>
        </p:spPr>
        <p:txBody>
          <a:bodyPr wrap="square" lIns="0" tIns="0" rIns="0" bIns="0" rtlCol="0" anchor="ctr"/>
          <a:lstStyle/>
          <a:p>
            <a:pPr marL="0" indent="0">
              <a:lnSpc>
                <a:spcPct val="105000"/>
              </a:lnSpc>
              <a:buNone/>
            </a:pPr>
            <a:r>
              <a:rPr lang="en-US" sz="1200" dirty="0">
                <a:solidFill>
                  <a:srgbClr val="AAB7C2"/>
                </a:solidFill>
                <a:latin typeface="Segoe UI" pitchFamily="34" charset="0"/>
                <a:ea typeface="Segoe UI" pitchFamily="34" charset="-122"/>
                <a:cs typeface="Segoe UI" pitchFamily="34" charset="-120"/>
              </a:rPr>
              <a:t>Look for an "API key is unset" warning in the startup log; verify the gateway URL and that the key is a valid read-only history key.</a:t>
            </a:r>
            <a:endParaRPr lang="en-US" sz="1200" dirty="0"/>
          </a:p>
        </p:txBody>
      </p:sp>
      <p:sp>
        <p:nvSpPr>
          <p:cNvPr id="53" name="row background">
            <a:extLst>
              <a:ext uri="{C183D7F6-B498-43B3-948B-1728B52AA6E4}">
                <adec:decorative xmlns:adec="http://schemas.microsoft.com/office/drawing/2017/decorative" val="1"/>
              </a:ext>
            </a:extLst>
          </p:cNvPr>
          <p:cNvSpPr/>
          <p:nvPr/>
        </p:nvSpPr>
        <p:spPr>
          <a:xfrm>
            <a:off x="566928" y="4517136"/>
            <a:ext cx="10607040" cy="822960"/>
          </a:xfrm>
          <a:prstGeom prst="rect">
            <a:avLst/>
          </a:prstGeom>
          <a:solidFill>
            <a:srgbClr val="191E23"/>
          </a:solidFill>
          <a:ln w="9525">
            <a:solidFill>
              <a:srgbClr val="313B44"/>
            </a:solidFill>
            <a:prstDash val="solid"/>
          </a:ln>
        </p:spPr>
        <p:txBody>
          <a:bodyPr/>
          <a:lstStyle/>
          <a:p>
            <a:endParaRPr lang="en-SE" sz="2400"/>
          </a:p>
        </p:txBody>
      </p:sp>
      <p:sp>
        <p:nvSpPr>
          <p:cNvPr id="54" name="severity marker">
            <a:extLst>
              <a:ext uri="{C183D7F6-B498-43B3-948B-1728B52AA6E4}">
                <adec:decorative xmlns:adec="http://schemas.microsoft.com/office/drawing/2017/decorative" val="1"/>
              </a:ext>
            </a:extLst>
          </p:cNvPr>
          <p:cNvSpPr/>
          <p:nvPr/>
        </p:nvSpPr>
        <p:spPr>
          <a:xfrm>
            <a:off x="566928" y="4517136"/>
            <a:ext cx="41148" cy="841248"/>
          </a:xfrm>
          <a:prstGeom prst="rect">
            <a:avLst/>
          </a:prstGeom>
          <a:solidFill>
            <a:srgbClr val="3FE08A"/>
          </a:solidFill>
          <a:ln w="12700">
            <a:solidFill>
              <a:srgbClr val="333333"/>
            </a:solidFill>
            <a:prstDash val="solid"/>
          </a:ln>
        </p:spPr>
        <p:txBody>
          <a:bodyPr/>
          <a:lstStyle/>
          <a:p>
            <a:endParaRPr lang="en-SE" sz="2400"/>
          </a:p>
        </p:txBody>
      </p:sp>
      <p:sp>
        <p:nvSpPr>
          <p:cNvPr id="55" name="Text 53"/>
          <p:cNvSpPr/>
          <p:nvPr/>
        </p:nvSpPr>
        <p:spPr>
          <a:xfrm>
            <a:off x="777240" y="4608576"/>
            <a:ext cx="3200400" cy="658368"/>
          </a:xfrm>
          <a:prstGeom prst="rect">
            <a:avLst/>
          </a:prstGeom>
          <a:noFill/>
          <a:ln/>
        </p:spPr>
        <p:txBody>
          <a:bodyPr wrap="square" lIns="0" tIns="0" rIns="0" bIns="0" rtlCol="0" anchor="ctr"/>
          <a:lstStyle/>
          <a:p>
            <a:pPr marL="0" indent="0">
              <a:lnSpc>
                <a:spcPct val="105000"/>
              </a:lnSpc>
              <a:buNone/>
            </a:pPr>
            <a:r>
              <a:rPr lang="en-US" sz="1400" b="1" dirty="0">
                <a:solidFill>
                  <a:srgbClr val="E6EDF3"/>
                </a:solidFill>
                <a:latin typeface="Segoe UI" pitchFamily="34" charset="0"/>
                <a:ea typeface="Segoe UI" pitchFamily="34" charset="-122"/>
                <a:cs typeface="Segoe UI" pitchFamily="34" charset="-120"/>
              </a:rPr>
              <a:t>Index tab says no index is configured</a:t>
            </a:r>
            <a:endParaRPr lang="en-US" sz="1400" dirty="0"/>
          </a:p>
        </p:txBody>
      </p:sp>
      <p:sp>
        <p:nvSpPr>
          <p:cNvPr id="56" name="Text 54"/>
          <p:cNvSpPr/>
          <p:nvPr/>
        </p:nvSpPr>
        <p:spPr>
          <a:xfrm>
            <a:off x="4114800" y="4608576"/>
            <a:ext cx="2834640" cy="658368"/>
          </a:xfrm>
          <a:prstGeom prst="rect">
            <a:avLst/>
          </a:prstGeom>
          <a:noFill/>
          <a:ln/>
        </p:spPr>
        <p:txBody>
          <a:bodyPr wrap="square" lIns="0" tIns="0" rIns="0" bIns="0" rtlCol="0" anchor="ctr"/>
          <a:lstStyle/>
          <a:p>
            <a:pPr marL="0" indent="0">
              <a:lnSpc>
                <a:spcPct val="105000"/>
              </a:lnSpc>
              <a:buNone/>
            </a:pPr>
            <a:r>
              <a:rPr lang="en-US" sz="1200" dirty="0">
                <a:solidFill>
                  <a:srgbClr val="3FE08A"/>
                </a:solidFill>
                <a:latin typeface="Segoe UI" pitchFamily="34" charset="0"/>
                <a:ea typeface="Segoe UI" pitchFamily="34" charset="-122"/>
                <a:cs typeface="Segoe UI" pitchFamily="34" charset="-120"/>
              </a:rPr>
              <a:t>Expected — this exchange genuinely has no index.</a:t>
            </a:r>
            <a:endParaRPr lang="en-US" sz="1200" dirty="0"/>
          </a:p>
        </p:txBody>
      </p:sp>
      <p:sp>
        <p:nvSpPr>
          <p:cNvPr id="57" name="Text 55"/>
          <p:cNvSpPr/>
          <p:nvPr/>
        </p:nvSpPr>
        <p:spPr>
          <a:xfrm>
            <a:off x="7086600" y="4608576"/>
            <a:ext cx="3977640" cy="658368"/>
          </a:xfrm>
          <a:prstGeom prst="rect">
            <a:avLst/>
          </a:prstGeom>
          <a:noFill/>
          <a:ln/>
        </p:spPr>
        <p:txBody>
          <a:bodyPr wrap="square" lIns="0" tIns="0" rIns="0" bIns="0" rtlCol="0" anchor="ctr"/>
          <a:lstStyle/>
          <a:p>
            <a:pPr marL="0" indent="0">
              <a:lnSpc>
                <a:spcPct val="105000"/>
              </a:lnSpc>
              <a:buNone/>
            </a:pPr>
            <a:r>
              <a:rPr lang="en-US" sz="1200" dirty="0">
                <a:solidFill>
                  <a:srgbClr val="AAB7C2"/>
                </a:solidFill>
                <a:latin typeface="Segoe UI" pitchFamily="34" charset="0"/>
                <a:ea typeface="Segoe UI" pitchFamily="34" charset="-122"/>
                <a:cs typeface="Segoe UI" pitchFamily="34" charset="-120"/>
              </a:rPr>
              <a:t>Set the index id configuration if an index should be shown.</a:t>
            </a:r>
            <a:endParaRPr lang="en-US" sz="1200" dirty="0"/>
          </a:p>
        </p:txBody>
      </p:sp>
      <p:sp>
        <p:nvSpPr>
          <p:cNvPr id="58" name="row background">
            <a:extLst>
              <a:ext uri="{C183D7F6-B498-43B3-948B-1728B52AA6E4}">
                <adec:decorative xmlns:adec="http://schemas.microsoft.com/office/drawing/2017/decorative" val="1"/>
              </a:ext>
            </a:extLst>
          </p:cNvPr>
          <p:cNvSpPr/>
          <p:nvPr/>
        </p:nvSpPr>
        <p:spPr>
          <a:xfrm>
            <a:off x="566928" y="5413248"/>
            <a:ext cx="10607040" cy="822960"/>
          </a:xfrm>
          <a:prstGeom prst="rect">
            <a:avLst/>
          </a:prstGeom>
          <a:solidFill>
            <a:srgbClr val="20272D"/>
          </a:solidFill>
          <a:ln w="9525">
            <a:solidFill>
              <a:srgbClr val="313B44"/>
            </a:solidFill>
            <a:prstDash val="solid"/>
          </a:ln>
        </p:spPr>
        <p:txBody>
          <a:bodyPr/>
          <a:lstStyle/>
          <a:p>
            <a:endParaRPr lang="en-SE" sz="2400"/>
          </a:p>
        </p:txBody>
      </p:sp>
      <p:sp>
        <p:nvSpPr>
          <p:cNvPr id="59" name="severity marker">
            <a:extLst>
              <a:ext uri="{C183D7F6-B498-43B3-948B-1728B52AA6E4}">
                <adec:decorative xmlns:adec="http://schemas.microsoft.com/office/drawing/2017/decorative" val="1"/>
              </a:ext>
            </a:extLst>
          </p:cNvPr>
          <p:cNvSpPr/>
          <p:nvPr/>
        </p:nvSpPr>
        <p:spPr>
          <a:xfrm>
            <a:off x="566928" y="5413248"/>
            <a:ext cx="41148" cy="841248"/>
          </a:xfrm>
          <a:prstGeom prst="rect">
            <a:avLst/>
          </a:prstGeom>
          <a:solidFill>
            <a:srgbClr val="3FE08A"/>
          </a:solidFill>
          <a:ln w="12700">
            <a:solidFill>
              <a:srgbClr val="333333"/>
            </a:solidFill>
            <a:prstDash val="solid"/>
          </a:ln>
        </p:spPr>
        <p:txBody>
          <a:bodyPr/>
          <a:lstStyle/>
          <a:p>
            <a:endParaRPr lang="en-SE" sz="2400"/>
          </a:p>
        </p:txBody>
      </p:sp>
      <p:sp>
        <p:nvSpPr>
          <p:cNvPr id="60" name="Text 58"/>
          <p:cNvSpPr/>
          <p:nvPr/>
        </p:nvSpPr>
        <p:spPr>
          <a:xfrm>
            <a:off x="777240" y="5504688"/>
            <a:ext cx="3200400" cy="658368"/>
          </a:xfrm>
          <a:prstGeom prst="rect">
            <a:avLst/>
          </a:prstGeom>
          <a:noFill/>
          <a:ln/>
        </p:spPr>
        <p:txBody>
          <a:bodyPr wrap="square" lIns="0" tIns="0" rIns="0" bIns="0" rtlCol="0" anchor="ctr"/>
          <a:lstStyle/>
          <a:p>
            <a:pPr marL="0" indent="0">
              <a:lnSpc>
                <a:spcPct val="105000"/>
              </a:lnSpc>
              <a:buNone/>
            </a:pPr>
            <a:r>
              <a:rPr lang="en-US" sz="1400" b="1" dirty="0">
                <a:solidFill>
                  <a:srgbClr val="E6EDF3"/>
                </a:solidFill>
                <a:latin typeface="Segoe UI" pitchFamily="34" charset="0"/>
                <a:ea typeface="Segoe UI" pitchFamily="34" charset="-122"/>
                <a:cs typeface="Segoe UI" pitchFamily="34" charset="-120"/>
              </a:rPr>
              <a:t>Prices show the wrong number of decimals</a:t>
            </a:r>
            <a:endParaRPr lang="en-US" sz="1400" dirty="0"/>
          </a:p>
        </p:txBody>
      </p:sp>
      <p:sp>
        <p:nvSpPr>
          <p:cNvPr id="61" name="Text 59"/>
          <p:cNvSpPr/>
          <p:nvPr/>
        </p:nvSpPr>
        <p:spPr>
          <a:xfrm>
            <a:off x="4114800" y="5504688"/>
            <a:ext cx="2834640" cy="658368"/>
          </a:xfrm>
          <a:prstGeom prst="rect">
            <a:avLst/>
          </a:prstGeom>
          <a:noFill/>
          <a:ln/>
        </p:spPr>
        <p:txBody>
          <a:bodyPr wrap="square" lIns="0" tIns="0" rIns="0" bIns="0" rtlCol="0" anchor="ctr"/>
          <a:lstStyle/>
          <a:p>
            <a:pPr marL="0" indent="0">
              <a:lnSpc>
                <a:spcPct val="105000"/>
              </a:lnSpc>
              <a:buNone/>
            </a:pPr>
            <a:r>
              <a:rPr lang="en-US" sz="1200" dirty="0">
                <a:solidFill>
                  <a:srgbClr val="3FE08A"/>
                </a:solidFill>
                <a:latin typeface="Segoe UI" pitchFamily="34" charset="0"/>
                <a:ea typeface="Segoe UI" pitchFamily="34" charset="-122"/>
                <a:cs typeface="Segoe UI" pitchFamily="34" charset="-120"/>
              </a:rPr>
              <a:t>The connected gateway predates the per-symbol precision field.</a:t>
            </a:r>
            <a:endParaRPr lang="en-US" sz="1200" dirty="0"/>
          </a:p>
        </p:txBody>
      </p:sp>
      <p:sp>
        <p:nvSpPr>
          <p:cNvPr id="62" name="Text 60"/>
          <p:cNvSpPr/>
          <p:nvPr/>
        </p:nvSpPr>
        <p:spPr>
          <a:xfrm>
            <a:off x="7086600" y="5504688"/>
            <a:ext cx="3977640" cy="658368"/>
          </a:xfrm>
          <a:prstGeom prst="rect">
            <a:avLst/>
          </a:prstGeom>
          <a:noFill/>
          <a:ln/>
        </p:spPr>
        <p:txBody>
          <a:bodyPr wrap="square" lIns="0" tIns="0" rIns="0" bIns="0" rtlCol="0" anchor="ctr"/>
          <a:lstStyle/>
          <a:p>
            <a:pPr marL="0" indent="0">
              <a:lnSpc>
                <a:spcPct val="105000"/>
              </a:lnSpc>
              <a:buNone/>
            </a:pPr>
            <a:r>
              <a:rPr lang="en-US" sz="1200" dirty="0">
                <a:solidFill>
                  <a:srgbClr val="AAB7C2"/>
                </a:solidFill>
                <a:latin typeface="Segoe UI" pitchFamily="34" charset="0"/>
                <a:ea typeface="Segoe UI" pitchFamily="34" charset="-122"/>
                <a:cs typeface="Segoe UI" pitchFamily="34" charset="-120"/>
              </a:rPr>
              <a:t>Upgrade the gateway. The terminal falls back to two decimal places — a compatibility fallback, not a fault in the terminal.</a:t>
            </a:r>
            <a:endParaRPr lang="en-US" sz="1200" dirty="0"/>
          </a:p>
        </p:txBody>
      </p:sp>
      <p:sp>
        <p:nvSpPr>
          <p:cNvPr id="63" name="Text 61"/>
          <p:cNvSpPr/>
          <p:nvPr/>
        </p:nvSpPr>
        <p:spPr>
          <a:xfrm>
            <a:off x="777240" y="1481328"/>
            <a:ext cx="3200400" cy="274320"/>
          </a:xfrm>
          <a:prstGeom prst="rect">
            <a:avLst/>
          </a:prstGeom>
          <a:noFill/>
          <a:ln/>
        </p:spPr>
        <p:txBody>
          <a:bodyPr wrap="square" lIns="0" tIns="0" rIns="0" bIns="0" rtlCol="0" anchor="ctr"/>
          <a:lstStyle/>
          <a:p>
            <a:pPr marL="0" indent="0">
              <a:buNone/>
            </a:pPr>
            <a:r>
              <a:rPr lang="en-US" sz="1600" b="1" kern="0" spc="120" dirty="0">
                <a:solidFill>
                  <a:srgbClr val="3FE08A"/>
                </a:solidFill>
                <a:latin typeface="Consolas" pitchFamily="34" charset="0"/>
                <a:ea typeface="Consolas" pitchFamily="34" charset="-122"/>
                <a:cs typeface="Consolas" pitchFamily="34" charset="-120"/>
              </a:rPr>
              <a:t>SYMPTOM</a:t>
            </a:r>
            <a:endParaRPr lang="en-US" sz="1600" dirty="0"/>
          </a:p>
        </p:txBody>
      </p:sp>
      <p:sp>
        <p:nvSpPr>
          <p:cNvPr id="64" name="Text 62"/>
          <p:cNvSpPr/>
          <p:nvPr/>
        </p:nvSpPr>
        <p:spPr>
          <a:xfrm>
            <a:off x="4114800" y="1481328"/>
            <a:ext cx="3200400" cy="274320"/>
          </a:xfrm>
          <a:prstGeom prst="rect">
            <a:avLst/>
          </a:prstGeom>
          <a:noFill/>
          <a:ln/>
        </p:spPr>
        <p:txBody>
          <a:bodyPr wrap="square" lIns="0" tIns="0" rIns="0" bIns="0" rtlCol="0" anchor="ctr"/>
          <a:lstStyle/>
          <a:p>
            <a:pPr marL="0" indent="0">
              <a:buNone/>
            </a:pPr>
            <a:r>
              <a:rPr lang="en-US" sz="1600" b="1" kern="0" spc="120" dirty="0">
                <a:solidFill>
                  <a:srgbClr val="3FE08A"/>
                </a:solidFill>
                <a:latin typeface="Consolas" pitchFamily="34" charset="0"/>
                <a:ea typeface="Consolas" pitchFamily="34" charset="-122"/>
                <a:cs typeface="Consolas" pitchFamily="34" charset="-120"/>
              </a:rPr>
              <a:t>LIKELY CAUSE</a:t>
            </a:r>
            <a:endParaRPr lang="en-US" sz="1600" dirty="0"/>
          </a:p>
        </p:txBody>
      </p:sp>
      <p:sp>
        <p:nvSpPr>
          <p:cNvPr id="65" name="Text 63"/>
          <p:cNvSpPr/>
          <p:nvPr/>
        </p:nvSpPr>
        <p:spPr>
          <a:xfrm>
            <a:off x="7086600" y="1481328"/>
            <a:ext cx="3200400" cy="274320"/>
          </a:xfrm>
          <a:prstGeom prst="rect">
            <a:avLst/>
          </a:prstGeom>
          <a:noFill/>
          <a:ln/>
        </p:spPr>
        <p:txBody>
          <a:bodyPr wrap="square" lIns="0" tIns="0" rIns="0" bIns="0" rtlCol="0" anchor="ctr"/>
          <a:lstStyle/>
          <a:p>
            <a:pPr marL="0" indent="0">
              <a:buNone/>
            </a:pPr>
            <a:r>
              <a:rPr lang="en-US" sz="1600" b="1" kern="0" spc="120" dirty="0">
                <a:solidFill>
                  <a:srgbClr val="3FE08A"/>
                </a:solidFill>
                <a:latin typeface="Consolas" pitchFamily="34" charset="0"/>
                <a:ea typeface="Consolas" pitchFamily="34" charset="-122"/>
                <a:cs typeface="Consolas" pitchFamily="34" charset="-120"/>
              </a:rPr>
              <a:t>WHAT TO CHECK</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side band">
            <a:extLst>
              <a:ext uri="{C183D7F6-B498-43B3-948B-1728B52AA6E4}">
                <adec:decorative xmlns:adec="http://schemas.microsoft.com/office/drawing/2017/decorative" val="1"/>
              </a:ext>
            </a:extLst>
          </p:cNvPr>
          <p:cNvSpPr/>
          <p:nvPr/>
        </p:nvSpPr>
        <p:spPr>
          <a:xfrm>
            <a:off x="0" y="0"/>
            <a:ext cx="384048" cy="6858000"/>
          </a:xfrm>
          <a:prstGeom prst="rect">
            <a:avLst/>
          </a:prstGeom>
          <a:solidFill>
            <a:srgbClr val="122C22"/>
          </a:solidFill>
          <a:ln w="12700">
            <a:solidFill>
              <a:srgbClr val="333333"/>
            </a:solidFill>
            <a:prstDash val="solid"/>
          </a:ln>
        </p:spPr>
        <p:txBody>
          <a:bodyPr/>
          <a:lstStyle/>
          <a:p>
            <a:endParaRPr lang="en-SE"/>
          </a:p>
        </p:txBody>
      </p:sp>
      <p:sp>
        <p:nvSpPr>
          <p:cNvPr id="29" name="side accent">
            <a:extLst>
              <a:ext uri="{C183D7F6-B498-43B3-948B-1728B52AA6E4}">
                <adec:decorative xmlns:adec="http://schemas.microsoft.com/office/drawing/2017/decorative" val="1"/>
              </a:ext>
            </a:extLst>
          </p:cNvPr>
          <p:cNvSpPr/>
          <p:nvPr/>
        </p:nvSpPr>
        <p:spPr>
          <a:xfrm>
            <a:off x="384048" y="0"/>
            <a:ext cx="45720" cy="6858000"/>
          </a:xfrm>
          <a:prstGeom prst="rect">
            <a:avLst/>
          </a:prstGeom>
          <a:solidFill>
            <a:srgbClr val="3FE08A"/>
          </a:solidFill>
          <a:ln w="12700">
            <a:solidFill>
              <a:srgbClr val="333333"/>
            </a:solidFill>
            <a:prstDash val="solid"/>
          </a:ln>
        </p:spPr>
        <p:txBody>
          <a:bodyPr/>
          <a:lstStyle/>
          <a:p>
            <a:endParaRPr lang="en-SE"/>
          </a:p>
        </p:txBody>
      </p:sp>
      <p:sp>
        <p:nvSpPr>
          <p:cNvPr id="30" name="Text 28"/>
          <p:cNvSpPr/>
          <p:nvPr/>
        </p:nvSpPr>
        <p:spPr>
          <a:xfrm>
            <a:off x="1280160" y="1691640"/>
            <a:ext cx="3657600" cy="1371600"/>
          </a:xfrm>
          <a:prstGeom prst="rect">
            <a:avLst/>
          </a:prstGeom>
          <a:noFill/>
          <a:ln/>
        </p:spPr>
        <p:txBody>
          <a:bodyPr wrap="square" lIns="0" tIns="0" rIns="0" bIns="0" rtlCol="0" anchor="ctr"/>
          <a:lstStyle/>
          <a:p>
            <a:pPr marL="0" indent="0">
              <a:buNone/>
            </a:pPr>
            <a:r>
              <a:rPr lang="en-US" sz="8400" b="1" dirty="0">
                <a:solidFill>
                  <a:srgbClr val="1E6E4B"/>
                </a:solidFill>
                <a:latin typeface="Consolas" pitchFamily="34" charset="0"/>
                <a:ea typeface="Consolas" pitchFamily="34" charset="-122"/>
                <a:cs typeface="Consolas" pitchFamily="34" charset="-120"/>
              </a:rPr>
              <a:t>06</a:t>
            </a:r>
            <a:endParaRPr lang="en-US" sz="8400" dirty="0"/>
          </a:p>
        </p:txBody>
      </p:sp>
      <p:sp>
        <p:nvSpPr>
          <p:cNvPr id="31" name="Text 0"/>
          <p:cNvSpPr>
            <a:spLocks noGrp="1"/>
          </p:cNvSpPr>
          <p:nvPr>
            <p:ph type="title" idx="100" hasCustomPrompt="1"/>
          </p:nvPr>
        </p:nvSpPr>
        <p:spPr>
          <a:xfrm>
            <a:off x="1371600" y="2788920"/>
            <a:ext cx="9418320" cy="1005840"/>
          </a:xfrm>
          <a:prstGeom prst="rect">
            <a:avLst/>
          </a:prstGeom>
          <a:noFill/>
          <a:ln/>
        </p:spPr>
        <p:txBody>
          <a:bodyPr wrap="square" lIns="0" tIns="0" rIns="0" bIns="0" rtlCol="0" anchor="ctr"/>
          <a:lstStyle/>
          <a:p>
            <a:pPr marL="0" indent="0">
              <a:buNone/>
            </a:pPr>
            <a:r>
              <a:rPr lang="en-US" sz="3600" b="1" dirty="0">
                <a:solidFill>
                  <a:srgbClr val="E6EDF3"/>
                </a:solidFill>
                <a:latin typeface="Segoe UI" pitchFamily="34" charset="0"/>
                <a:ea typeface="Segoe UI" pitchFamily="34" charset="-122"/>
                <a:cs typeface="Segoe UI" pitchFamily="34" charset="-120"/>
              </a:rPr>
              <a:t>Starting the terminal</a:t>
            </a:r>
            <a:endParaRPr lang="en-US" sz="3600" dirty="0"/>
          </a:p>
        </p:txBody>
      </p:sp>
      <p:sp>
        <p:nvSpPr>
          <p:cNvPr id="32" name="Text 30"/>
          <p:cNvSpPr/>
          <p:nvPr/>
        </p:nvSpPr>
        <p:spPr>
          <a:xfrm>
            <a:off x="1371600" y="3931920"/>
            <a:ext cx="8778240" cy="822960"/>
          </a:xfrm>
          <a:prstGeom prst="rect">
            <a:avLst/>
          </a:prstGeom>
          <a:noFill/>
          <a:ln/>
        </p:spPr>
        <p:txBody>
          <a:bodyPr wrap="square" lIns="0" tIns="0" rIns="0" bIns="0" rtlCol="0" anchor="t"/>
          <a:lstStyle/>
          <a:p>
            <a:pPr marL="0" indent="0">
              <a:lnSpc>
                <a:spcPct val="115000"/>
              </a:lnSpc>
              <a:buNone/>
            </a:pPr>
            <a:r>
              <a:rPr lang="en-US" sz="1450" dirty="0">
                <a:solidFill>
                  <a:srgbClr val="AAB7C2"/>
                </a:solidFill>
                <a:latin typeface="Segoe UI" pitchFamily="34" charset="0"/>
                <a:ea typeface="Segoe UI" pitchFamily="34" charset="-122"/>
                <a:cs typeface="Segoe UI" pitchFamily="34" charset="-120"/>
              </a:rPr>
              <a:t>It is a web application shipped as a pre-built container. Start the container, open a browser, done.</a:t>
            </a:r>
            <a:endParaRPr lang="en-US" sz="1450" dirty="0"/>
          </a:p>
        </p:txBody>
      </p:sp>
      <p:sp>
        <p:nvSpPr>
          <p:cNvPr id="33" name="ticker bar">
            <a:extLst>
              <a:ext uri="{C183D7F6-B498-43B3-948B-1728B52AA6E4}">
                <adec:decorative xmlns:adec="http://schemas.microsoft.com/office/drawing/2017/decorative" val="1"/>
              </a:ext>
            </a:extLst>
          </p:cNvPr>
          <p:cNvSpPr/>
          <p:nvPr/>
        </p:nvSpPr>
        <p:spPr>
          <a:xfrm>
            <a:off x="1371600" y="5532120"/>
            <a:ext cx="164592" cy="137160"/>
          </a:xfrm>
          <a:prstGeom prst="rect">
            <a:avLst/>
          </a:prstGeom>
          <a:solidFill>
            <a:srgbClr val="1E6E4B"/>
          </a:solidFill>
          <a:ln w="12700">
            <a:solidFill>
              <a:srgbClr val="333333"/>
            </a:solidFill>
            <a:prstDash val="solid"/>
          </a:ln>
        </p:spPr>
        <p:txBody>
          <a:bodyPr/>
          <a:lstStyle/>
          <a:p>
            <a:endParaRPr lang="en-SE"/>
          </a:p>
        </p:txBody>
      </p:sp>
      <p:sp>
        <p:nvSpPr>
          <p:cNvPr id="34" name="ticker bar">
            <a:extLst>
              <a:ext uri="{C183D7F6-B498-43B3-948B-1728B52AA6E4}">
                <adec:decorative xmlns:adec="http://schemas.microsoft.com/office/drawing/2017/decorative" val="1"/>
              </a:ext>
            </a:extLst>
          </p:cNvPr>
          <p:cNvSpPr/>
          <p:nvPr/>
        </p:nvSpPr>
        <p:spPr>
          <a:xfrm>
            <a:off x="1682496" y="5367528"/>
            <a:ext cx="164592" cy="301752"/>
          </a:xfrm>
          <a:prstGeom prst="rect">
            <a:avLst/>
          </a:prstGeom>
          <a:solidFill>
            <a:srgbClr val="1E6E4B"/>
          </a:solidFill>
          <a:ln w="12700">
            <a:solidFill>
              <a:srgbClr val="333333"/>
            </a:solidFill>
            <a:prstDash val="solid"/>
          </a:ln>
        </p:spPr>
        <p:txBody>
          <a:bodyPr/>
          <a:lstStyle/>
          <a:p>
            <a:endParaRPr lang="en-SE"/>
          </a:p>
        </p:txBody>
      </p:sp>
      <p:sp>
        <p:nvSpPr>
          <p:cNvPr id="35" name="ticker bar">
            <a:extLst>
              <a:ext uri="{C183D7F6-B498-43B3-948B-1728B52AA6E4}">
                <adec:decorative xmlns:adec="http://schemas.microsoft.com/office/drawing/2017/decorative" val="1"/>
              </a:ext>
            </a:extLst>
          </p:cNvPr>
          <p:cNvSpPr/>
          <p:nvPr/>
        </p:nvSpPr>
        <p:spPr>
          <a:xfrm>
            <a:off x="1993392" y="5449824"/>
            <a:ext cx="164592" cy="219456"/>
          </a:xfrm>
          <a:prstGeom prst="rect">
            <a:avLst/>
          </a:prstGeom>
          <a:solidFill>
            <a:srgbClr val="1E6E4B"/>
          </a:solidFill>
          <a:ln w="12700">
            <a:solidFill>
              <a:srgbClr val="333333"/>
            </a:solidFill>
            <a:prstDash val="solid"/>
          </a:ln>
        </p:spPr>
        <p:txBody>
          <a:bodyPr/>
          <a:lstStyle/>
          <a:p>
            <a:endParaRPr lang="en-SE"/>
          </a:p>
        </p:txBody>
      </p:sp>
      <p:sp>
        <p:nvSpPr>
          <p:cNvPr id="36" name="ticker bar">
            <a:extLst>
              <a:ext uri="{C183D7F6-B498-43B3-948B-1728B52AA6E4}">
                <adec:decorative xmlns:adec="http://schemas.microsoft.com/office/drawing/2017/decorative" val="1"/>
              </a:ext>
            </a:extLst>
          </p:cNvPr>
          <p:cNvSpPr/>
          <p:nvPr/>
        </p:nvSpPr>
        <p:spPr>
          <a:xfrm>
            <a:off x="2304288" y="5230368"/>
            <a:ext cx="164592" cy="438912"/>
          </a:xfrm>
          <a:prstGeom prst="rect">
            <a:avLst/>
          </a:prstGeom>
          <a:solidFill>
            <a:srgbClr val="1E6E4B"/>
          </a:solidFill>
          <a:ln w="12700">
            <a:solidFill>
              <a:srgbClr val="333333"/>
            </a:solidFill>
            <a:prstDash val="solid"/>
          </a:ln>
        </p:spPr>
        <p:txBody>
          <a:bodyPr/>
          <a:lstStyle/>
          <a:p>
            <a:endParaRPr lang="en-SE"/>
          </a:p>
        </p:txBody>
      </p:sp>
      <p:sp>
        <p:nvSpPr>
          <p:cNvPr id="37" name="ticker bar">
            <a:extLst>
              <a:ext uri="{C183D7F6-B498-43B3-948B-1728B52AA6E4}">
                <adec:decorative xmlns:adec="http://schemas.microsoft.com/office/drawing/2017/decorative" val="1"/>
              </a:ext>
            </a:extLst>
          </p:cNvPr>
          <p:cNvSpPr/>
          <p:nvPr/>
        </p:nvSpPr>
        <p:spPr>
          <a:xfrm>
            <a:off x="2615184" y="5340096"/>
            <a:ext cx="164592" cy="329184"/>
          </a:xfrm>
          <a:prstGeom prst="rect">
            <a:avLst/>
          </a:prstGeom>
          <a:solidFill>
            <a:srgbClr val="1E6E4B"/>
          </a:solidFill>
          <a:ln w="12700">
            <a:solidFill>
              <a:srgbClr val="333333"/>
            </a:solidFill>
            <a:prstDash val="solid"/>
          </a:ln>
        </p:spPr>
        <p:txBody>
          <a:bodyPr/>
          <a:lstStyle/>
          <a:p>
            <a:endParaRPr lang="en-SE"/>
          </a:p>
        </p:txBody>
      </p:sp>
      <p:sp>
        <p:nvSpPr>
          <p:cNvPr id="38" name="ticker bar">
            <a:extLst>
              <a:ext uri="{C183D7F6-B498-43B3-948B-1728B52AA6E4}">
                <adec:decorative xmlns:adec="http://schemas.microsoft.com/office/drawing/2017/decorative" val="1"/>
              </a:ext>
            </a:extLst>
          </p:cNvPr>
          <p:cNvSpPr/>
          <p:nvPr/>
        </p:nvSpPr>
        <p:spPr>
          <a:xfrm>
            <a:off x="2926080" y="5120640"/>
            <a:ext cx="164592" cy="548640"/>
          </a:xfrm>
          <a:prstGeom prst="rect">
            <a:avLst/>
          </a:prstGeom>
          <a:solidFill>
            <a:srgbClr val="1E6E4B"/>
          </a:solidFill>
          <a:ln w="12700">
            <a:solidFill>
              <a:srgbClr val="333333"/>
            </a:solidFill>
            <a:prstDash val="solid"/>
          </a:ln>
        </p:spPr>
        <p:txBody>
          <a:bodyPr/>
          <a:lstStyle/>
          <a:p>
            <a:endParaRPr lang="en-SE"/>
          </a:p>
        </p:txBody>
      </p:sp>
      <p:sp>
        <p:nvSpPr>
          <p:cNvPr id="39" name="ticker bar">
            <a:extLst>
              <a:ext uri="{C183D7F6-B498-43B3-948B-1728B52AA6E4}">
                <adec:decorative xmlns:adec="http://schemas.microsoft.com/office/drawing/2017/decorative" val="1"/>
              </a:ext>
            </a:extLst>
          </p:cNvPr>
          <p:cNvSpPr/>
          <p:nvPr/>
        </p:nvSpPr>
        <p:spPr>
          <a:xfrm>
            <a:off x="3236976" y="5257800"/>
            <a:ext cx="164592" cy="411480"/>
          </a:xfrm>
          <a:prstGeom prst="rect">
            <a:avLst/>
          </a:prstGeom>
          <a:solidFill>
            <a:srgbClr val="1E6E4B"/>
          </a:solidFill>
          <a:ln w="12700">
            <a:solidFill>
              <a:srgbClr val="333333"/>
            </a:solidFill>
            <a:prstDash val="solid"/>
          </a:ln>
        </p:spPr>
        <p:txBody>
          <a:bodyPr/>
          <a:lstStyle/>
          <a:p>
            <a:endParaRPr lang="en-SE"/>
          </a:p>
        </p:txBody>
      </p:sp>
      <p:sp>
        <p:nvSpPr>
          <p:cNvPr id="40" name="ticker bar">
            <a:extLst>
              <a:ext uri="{C183D7F6-B498-43B3-948B-1728B52AA6E4}">
                <adec:decorative xmlns:adec="http://schemas.microsoft.com/office/drawing/2017/decorative" val="1"/>
              </a:ext>
            </a:extLst>
          </p:cNvPr>
          <p:cNvSpPr/>
          <p:nvPr/>
        </p:nvSpPr>
        <p:spPr>
          <a:xfrm>
            <a:off x="3547872" y="5010912"/>
            <a:ext cx="164592" cy="658368"/>
          </a:xfrm>
          <a:prstGeom prst="rect">
            <a:avLst/>
          </a:prstGeom>
          <a:solidFill>
            <a:srgbClr val="3FE08A"/>
          </a:solidFill>
          <a:ln w="12700">
            <a:solidFill>
              <a:srgbClr val="333333"/>
            </a:solidFill>
            <a:prstDash val="solid"/>
          </a:ln>
        </p:spPr>
        <p:txBody>
          <a:bodyPr/>
          <a:lstStyle/>
          <a:p>
            <a:endParaRPr lang="en-SE"/>
          </a:p>
        </p:txBody>
      </p:sp>
      <p:sp>
        <p:nvSpPr>
          <p:cNvPr id="41" name="ticker bar">
            <a:extLst>
              <a:ext uri="{C183D7F6-B498-43B3-948B-1728B52AA6E4}">
                <adec:decorative xmlns:adec="http://schemas.microsoft.com/office/drawing/2017/decorative" val="1"/>
              </a:ext>
            </a:extLst>
          </p:cNvPr>
          <p:cNvSpPr/>
          <p:nvPr/>
        </p:nvSpPr>
        <p:spPr>
          <a:xfrm>
            <a:off x="3858768" y="5148072"/>
            <a:ext cx="164592" cy="521208"/>
          </a:xfrm>
          <a:prstGeom prst="rect">
            <a:avLst/>
          </a:prstGeom>
          <a:solidFill>
            <a:srgbClr val="3FE08A"/>
          </a:solidFill>
          <a:ln w="12700">
            <a:solidFill>
              <a:srgbClr val="333333"/>
            </a:solidFill>
            <a:prstDash val="solid"/>
          </a:ln>
        </p:spPr>
        <p:txBody>
          <a:bodyPr/>
          <a:lstStyle/>
          <a:p>
            <a:endParaRPr lang="en-SE"/>
          </a:p>
        </p:txBody>
      </p:sp>
      <p:sp>
        <p:nvSpPr>
          <p:cNvPr id="42" name="ticker bar">
            <a:extLst>
              <a:ext uri="{C183D7F6-B498-43B3-948B-1728B52AA6E4}">
                <adec:decorative xmlns:adec="http://schemas.microsoft.com/office/drawing/2017/decorative" val="1"/>
              </a:ext>
            </a:extLst>
          </p:cNvPr>
          <p:cNvSpPr/>
          <p:nvPr/>
        </p:nvSpPr>
        <p:spPr>
          <a:xfrm>
            <a:off x="4169664" y="4928616"/>
            <a:ext cx="164592" cy="740664"/>
          </a:xfrm>
          <a:prstGeom prst="rect">
            <a:avLst/>
          </a:prstGeom>
          <a:solidFill>
            <a:srgbClr val="3FE08A"/>
          </a:solidFill>
          <a:ln w="12700">
            <a:solidFill>
              <a:srgbClr val="333333"/>
            </a:solidFill>
            <a:prstDash val="solid"/>
          </a:ln>
        </p:spPr>
        <p:txBody>
          <a:bodyPr/>
          <a:lstStyle/>
          <a:p>
            <a:endParaRPr lang="en-SE"/>
          </a:p>
        </p:txBody>
      </p:sp>
      <p:sp>
        <p:nvSpPr>
          <p:cNvPr id="43"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44"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45" name="Text 43"/>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46" name="Text 44"/>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47" name="Text 45"/>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37</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Before you start: what must already be running</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06 · STARTING UP</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38</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The terminal displays other services' data. Know which of them you actually need for what you want to see.</a:t>
            </a:r>
            <a:endParaRPr lang="en-US" sz="1400" dirty="0"/>
          </a:p>
        </p:txBody>
      </p:sp>
      <p:sp>
        <p:nvSpPr>
          <p:cNvPr id="38" name="panel">
            <a:extLst>
              <a:ext uri="{C183D7F6-B498-43B3-948B-1728B52AA6E4}">
                <adec:decorative xmlns:adec="http://schemas.microsoft.com/office/drawing/2017/decorative" val="1"/>
              </a:ext>
            </a:extLst>
          </p:cNvPr>
          <p:cNvSpPr/>
          <p:nvPr/>
        </p:nvSpPr>
        <p:spPr>
          <a:xfrm>
            <a:off x="566928" y="1874520"/>
            <a:ext cx="10607040" cy="128016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39" name="panel accent">
            <a:extLst>
              <a:ext uri="{C183D7F6-B498-43B3-948B-1728B52AA6E4}">
                <adec:decorative xmlns:adec="http://schemas.microsoft.com/office/drawing/2017/decorative" val="1"/>
              </a:ext>
            </a:extLst>
          </p:cNvPr>
          <p:cNvSpPr/>
          <p:nvPr/>
        </p:nvSpPr>
        <p:spPr>
          <a:xfrm>
            <a:off x="566928" y="1874520"/>
            <a:ext cx="50292" cy="1280160"/>
          </a:xfrm>
          <a:prstGeom prst="rect">
            <a:avLst/>
          </a:prstGeom>
          <a:solidFill>
            <a:srgbClr val="EF5B63"/>
          </a:solidFill>
          <a:ln w="12700">
            <a:solidFill>
              <a:srgbClr val="333333"/>
            </a:solidFill>
            <a:prstDash val="solid"/>
          </a:ln>
        </p:spPr>
        <p:txBody>
          <a:bodyPr/>
          <a:lstStyle/>
          <a:p>
            <a:endParaRPr lang="en-SE"/>
          </a:p>
        </p:txBody>
      </p:sp>
      <p:sp>
        <p:nvSpPr>
          <p:cNvPr id="40" name="Text 38"/>
          <p:cNvSpPr/>
          <p:nvPr/>
        </p:nvSpPr>
        <p:spPr>
          <a:xfrm>
            <a:off x="841248" y="2057400"/>
            <a:ext cx="3291840" cy="320040"/>
          </a:xfrm>
          <a:prstGeom prst="rect">
            <a:avLst/>
          </a:prstGeom>
          <a:noFill/>
          <a:ln/>
        </p:spPr>
        <p:txBody>
          <a:bodyPr wrap="square" lIns="0" tIns="0" rIns="0" bIns="0" rtlCol="0" anchor="ctr"/>
          <a:lstStyle/>
          <a:p>
            <a:pPr marL="0" indent="0">
              <a:buNone/>
            </a:pPr>
            <a:r>
              <a:rPr lang="en-US" sz="1250" b="1" kern="0" spc="80" dirty="0">
                <a:solidFill>
                  <a:srgbClr val="E6EDF3"/>
                </a:solidFill>
                <a:latin typeface="Consolas" pitchFamily="34" charset="0"/>
                <a:ea typeface="Consolas" pitchFamily="34" charset="-122"/>
                <a:cs typeface="Consolas" pitchFamily="34" charset="-120"/>
              </a:rPr>
              <a:t>MARKET-DATA GATEWAY</a:t>
            </a:r>
            <a:endParaRPr lang="en-US" sz="1250" dirty="0"/>
          </a:p>
        </p:txBody>
      </p:sp>
      <p:sp>
        <p:nvSpPr>
          <p:cNvPr id="41" name="badge background">
            <a:extLst>
              <a:ext uri="{C183D7F6-B498-43B3-948B-1728B52AA6E4}">
                <adec:decorative xmlns:adec="http://schemas.microsoft.com/office/drawing/2017/decorative" val="1"/>
              </a:ext>
            </a:extLst>
          </p:cNvPr>
          <p:cNvSpPr/>
          <p:nvPr/>
        </p:nvSpPr>
        <p:spPr>
          <a:xfrm>
            <a:off x="841248" y="2468880"/>
            <a:ext cx="2377440" cy="310896"/>
          </a:xfrm>
          <a:prstGeom prst="roundRect">
            <a:avLst>
              <a:gd name="adj" fmla="val 26471"/>
            </a:avLst>
          </a:prstGeom>
          <a:solidFill>
            <a:srgbClr val="6B2226"/>
          </a:solidFill>
          <a:ln w="12700">
            <a:solidFill>
              <a:srgbClr val="333333"/>
            </a:solidFill>
            <a:prstDash val="solid"/>
          </a:ln>
        </p:spPr>
        <p:txBody>
          <a:bodyPr/>
          <a:lstStyle/>
          <a:p>
            <a:endParaRPr lang="en-SE"/>
          </a:p>
        </p:txBody>
      </p:sp>
      <p:sp>
        <p:nvSpPr>
          <p:cNvPr id="42" name="Text 40"/>
          <p:cNvSpPr/>
          <p:nvPr/>
        </p:nvSpPr>
        <p:spPr>
          <a:xfrm>
            <a:off x="841248" y="2468880"/>
            <a:ext cx="2377440" cy="310896"/>
          </a:xfrm>
          <a:prstGeom prst="rect">
            <a:avLst/>
          </a:prstGeom>
          <a:noFill/>
          <a:ln/>
        </p:spPr>
        <p:txBody>
          <a:bodyPr wrap="square" lIns="0" tIns="0" rIns="0" bIns="0" rtlCol="0" anchor="ctr"/>
          <a:lstStyle/>
          <a:p>
            <a:pPr marL="0" indent="0" algn="ctr">
              <a:buNone/>
            </a:pPr>
            <a:r>
              <a:rPr lang="en-US" sz="1000" b="1" kern="0" spc="80" dirty="0">
                <a:solidFill>
                  <a:srgbClr val="EF5B63"/>
                </a:solidFill>
                <a:latin typeface="Consolas" pitchFamily="34" charset="0"/>
                <a:ea typeface="Consolas" pitchFamily="34" charset="-122"/>
                <a:cs typeface="Consolas" pitchFamily="34" charset="-120"/>
              </a:rPr>
              <a:t>REQUIRED</a:t>
            </a:r>
            <a:endParaRPr lang="en-US" sz="1000" dirty="0"/>
          </a:p>
        </p:txBody>
      </p:sp>
      <p:sp>
        <p:nvSpPr>
          <p:cNvPr id="43" name="Text 41"/>
          <p:cNvSpPr/>
          <p:nvPr/>
        </p:nvSpPr>
        <p:spPr>
          <a:xfrm>
            <a:off x="4343400" y="2057400"/>
            <a:ext cx="6583680" cy="914400"/>
          </a:xfrm>
          <a:prstGeom prst="rect">
            <a:avLst/>
          </a:prstGeom>
          <a:noFill/>
          <a:ln/>
        </p:spPr>
        <p:txBody>
          <a:bodyPr wrap="square" lIns="0" tIns="0" rIns="0" bIns="0" rtlCol="0" anchor="ctr"/>
          <a:lstStyle/>
          <a:p>
            <a:pPr marL="0" indent="0">
              <a:lnSpc>
                <a:spcPct val="115000"/>
              </a:lnSpc>
              <a:buNone/>
            </a:pPr>
            <a:r>
              <a:rPr lang="en-US" sz="1200" dirty="0">
                <a:solidFill>
                  <a:srgbClr val="AAB7C2"/>
                </a:solidFill>
                <a:latin typeface="Segoe UI" pitchFamily="34" charset="0"/>
                <a:ea typeface="Segoe UI" pitchFamily="34" charset="-122"/>
                <a:cs typeface="Segoe UI" pitchFamily="34" charset="-120"/>
              </a:rPr>
              <a:t>Live prices, trades, session state, auctions, halts, indexes and depth all come from here. The terminal will start without it, but every screen will sit on RECONNECTING or OFFLINE until the feed is reachable.</a:t>
            </a:r>
            <a:endParaRPr lang="en-US" sz="1200" dirty="0"/>
          </a:p>
        </p:txBody>
      </p:sp>
      <p:sp>
        <p:nvSpPr>
          <p:cNvPr id="44" name="panel">
            <a:extLst>
              <a:ext uri="{C183D7F6-B498-43B3-948B-1728B52AA6E4}">
                <adec:decorative xmlns:adec="http://schemas.microsoft.com/office/drawing/2017/decorative" val="1"/>
              </a:ext>
            </a:extLst>
          </p:cNvPr>
          <p:cNvSpPr/>
          <p:nvPr/>
        </p:nvSpPr>
        <p:spPr>
          <a:xfrm>
            <a:off x="566928" y="3291840"/>
            <a:ext cx="10607040" cy="128016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45" name="panel accent">
            <a:extLst>
              <a:ext uri="{C183D7F6-B498-43B3-948B-1728B52AA6E4}">
                <adec:decorative xmlns:adec="http://schemas.microsoft.com/office/drawing/2017/decorative" val="1"/>
              </a:ext>
            </a:extLst>
          </p:cNvPr>
          <p:cNvSpPr/>
          <p:nvPr/>
        </p:nvSpPr>
        <p:spPr>
          <a:xfrm>
            <a:off x="566928" y="3291840"/>
            <a:ext cx="50292" cy="1280160"/>
          </a:xfrm>
          <a:prstGeom prst="rect">
            <a:avLst/>
          </a:prstGeom>
          <a:solidFill>
            <a:srgbClr val="F5A524"/>
          </a:solidFill>
          <a:ln w="12700">
            <a:solidFill>
              <a:srgbClr val="333333"/>
            </a:solidFill>
            <a:prstDash val="solid"/>
          </a:ln>
        </p:spPr>
        <p:txBody>
          <a:bodyPr/>
          <a:lstStyle/>
          <a:p>
            <a:endParaRPr lang="en-SE"/>
          </a:p>
        </p:txBody>
      </p:sp>
      <p:sp>
        <p:nvSpPr>
          <p:cNvPr id="46" name="Text 44"/>
          <p:cNvSpPr/>
          <p:nvPr/>
        </p:nvSpPr>
        <p:spPr>
          <a:xfrm>
            <a:off x="841248" y="3474720"/>
            <a:ext cx="3291840" cy="320040"/>
          </a:xfrm>
          <a:prstGeom prst="rect">
            <a:avLst/>
          </a:prstGeom>
          <a:noFill/>
          <a:ln/>
        </p:spPr>
        <p:txBody>
          <a:bodyPr wrap="square" lIns="0" tIns="0" rIns="0" bIns="0" rtlCol="0" anchor="ctr"/>
          <a:lstStyle/>
          <a:p>
            <a:pPr marL="0" indent="0">
              <a:buNone/>
            </a:pPr>
            <a:r>
              <a:rPr lang="en-US" sz="1250" b="1" kern="0" spc="80" dirty="0">
                <a:solidFill>
                  <a:srgbClr val="E6EDF3"/>
                </a:solidFill>
                <a:latin typeface="Consolas" pitchFamily="34" charset="0"/>
                <a:ea typeface="Consolas" pitchFamily="34" charset="-122"/>
                <a:cs typeface="Consolas" pitchFamily="34" charset="-120"/>
              </a:rPr>
              <a:t>HISTORY / API GATEWAY</a:t>
            </a:r>
            <a:endParaRPr lang="en-US" sz="1250" dirty="0"/>
          </a:p>
        </p:txBody>
      </p:sp>
      <p:sp>
        <p:nvSpPr>
          <p:cNvPr id="47" name="badge background">
            <a:extLst>
              <a:ext uri="{C183D7F6-B498-43B3-948B-1728B52AA6E4}">
                <adec:decorative xmlns:adec="http://schemas.microsoft.com/office/drawing/2017/decorative" val="1"/>
              </a:ext>
            </a:extLst>
          </p:cNvPr>
          <p:cNvSpPr/>
          <p:nvPr/>
        </p:nvSpPr>
        <p:spPr>
          <a:xfrm>
            <a:off x="841248" y="3886200"/>
            <a:ext cx="2377440" cy="310896"/>
          </a:xfrm>
          <a:prstGeom prst="roundRect">
            <a:avLst>
              <a:gd name="adj" fmla="val 26471"/>
            </a:avLst>
          </a:prstGeom>
          <a:solidFill>
            <a:srgbClr val="6B4A0F"/>
          </a:solidFill>
          <a:ln w="12700">
            <a:solidFill>
              <a:srgbClr val="333333"/>
            </a:solidFill>
            <a:prstDash val="solid"/>
          </a:ln>
        </p:spPr>
        <p:txBody>
          <a:bodyPr/>
          <a:lstStyle/>
          <a:p>
            <a:endParaRPr lang="en-SE"/>
          </a:p>
        </p:txBody>
      </p:sp>
      <p:sp>
        <p:nvSpPr>
          <p:cNvPr id="48" name="Text 46"/>
          <p:cNvSpPr/>
          <p:nvPr/>
        </p:nvSpPr>
        <p:spPr>
          <a:xfrm>
            <a:off x="841248" y="3886200"/>
            <a:ext cx="2377440" cy="310896"/>
          </a:xfrm>
          <a:prstGeom prst="rect">
            <a:avLst/>
          </a:prstGeom>
          <a:noFill/>
          <a:ln/>
        </p:spPr>
        <p:txBody>
          <a:bodyPr wrap="square" lIns="0" tIns="0" rIns="0" bIns="0" rtlCol="0" anchor="ctr"/>
          <a:lstStyle/>
          <a:p>
            <a:pPr marL="0" indent="0" algn="ctr">
              <a:buNone/>
            </a:pPr>
            <a:r>
              <a:rPr lang="en-US" sz="1000" b="1" kern="0" spc="80" dirty="0">
                <a:solidFill>
                  <a:srgbClr val="F5A524"/>
                </a:solidFill>
                <a:latin typeface="Consolas" pitchFamily="34" charset="0"/>
                <a:ea typeface="Consolas" pitchFamily="34" charset="-122"/>
                <a:cs typeface="Consolas" pitchFamily="34" charset="-120"/>
              </a:rPr>
              <a:t>STRONGLY RECOMMENDED</a:t>
            </a:r>
            <a:endParaRPr lang="en-US" sz="1000" dirty="0"/>
          </a:p>
        </p:txBody>
      </p:sp>
      <p:sp>
        <p:nvSpPr>
          <p:cNvPr id="49" name="Text 47"/>
          <p:cNvSpPr/>
          <p:nvPr/>
        </p:nvSpPr>
        <p:spPr>
          <a:xfrm>
            <a:off x="4343400" y="3474720"/>
            <a:ext cx="6583680" cy="914400"/>
          </a:xfrm>
          <a:prstGeom prst="rect">
            <a:avLst/>
          </a:prstGeom>
          <a:noFill/>
          <a:ln/>
        </p:spPr>
        <p:txBody>
          <a:bodyPr wrap="square" lIns="0" tIns="0" rIns="0" bIns="0" rtlCol="0" anchor="ctr"/>
          <a:lstStyle/>
          <a:p>
            <a:pPr marL="0" indent="0">
              <a:lnSpc>
                <a:spcPct val="115000"/>
              </a:lnSpc>
              <a:buNone/>
            </a:pPr>
            <a:r>
              <a:rPr lang="en-US" sz="1200" dirty="0">
                <a:solidFill>
                  <a:srgbClr val="AAB7C2"/>
                </a:solidFill>
                <a:latin typeface="Segoe UI" pitchFamily="34" charset="0"/>
                <a:ea typeface="Segoe UI" pitchFamily="34" charset="-122"/>
                <a:cs typeface="Segoe UI" pitchFamily="34" charset="-120"/>
              </a:rPr>
              <a:t>Needed for charts, previous-close comparisons, index history, and the Open / Volume / Turnover columns. Requires a read-only API key. Live prices still tick without it.</a:t>
            </a:r>
            <a:endParaRPr lang="en-US" sz="1200" dirty="0"/>
          </a:p>
        </p:txBody>
      </p:sp>
      <p:sp>
        <p:nvSpPr>
          <p:cNvPr id="50" name="panel">
            <a:extLst>
              <a:ext uri="{C183D7F6-B498-43B3-948B-1728B52AA6E4}">
                <adec:decorative xmlns:adec="http://schemas.microsoft.com/office/drawing/2017/decorative" val="1"/>
              </a:ext>
            </a:extLst>
          </p:cNvPr>
          <p:cNvSpPr/>
          <p:nvPr/>
        </p:nvSpPr>
        <p:spPr>
          <a:xfrm>
            <a:off x="566928" y="4709160"/>
            <a:ext cx="10607040" cy="128016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51" name="panel accent">
            <a:extLst>
              <a:ext uri="{C183D7F6-B498-43B3-948B-1728B52AA6E4}">
                <adec:decorative xmlns:adec="http://schemas.microsoft.com/office/drawing/2017/decorative" val="1"/>
              </a:ext>
            </a:extLst>
          </p:cNvPr>
          <p:cNvSpPr/>
          <p:nvPr/>
        </p:nvSpPr>
        <p:spPr>
          <a:xfrm>
            <a:off x="566928" y="4709160"/>
            <a:ext cx="50292" cy="1280160"/>
          </a:xfrm>
          <a:prstGeom prst="rect">
            <a:avLst/>
          </a:prstGeom>
          <a:solidFill>
            <a:srgbClr val="3FE08A"/>
          </a:solidFill>
          <a:ln w="12700">
            <a:solidFill>
              <a:srgbClr val="333333"/>
            </a:solidFill>
            <a:prstDash val="solid"/>
          </a:ln>
        </p:spPr>
        <p:txBody>
          <a:bodyPr/>
          <a:lstStyle/>
          <a:p>
            <a:endParaRPr lang="en-SE"/>
          </a:p>
        </p:txBody>
      </p:sp>
      <p:sp>
        <p:nvSpPr>
          <p:cNvPr id="52" name="Text 50"/>
          <p:cNvSpPr/>
          <p:nvPr/>
        </p:nvSpPr>
        <p:spPr>
          <a:xfrm>
            <a:off x="841248" y="4892040"/>
            <a:ext cx="3291840" cy="320040"/>
          </a:xfrm>
          <a:prstGeom prst="rect">
            <a:avLst/>
          </a:prstGeom>
          <a:noFill/>
          <a:ln/>
        </p:spPr>
        <p:txBody>
          <a:bodyPr wrap="square" lIns="0" tIns="0" rIns="0" bIns="0" rtlCol="0" anchor="ctr"/>
          <a:lstStyle/>
          <a:p>
            <a:pPr marL="0" indent="0">
              <a:buNone/>
            </a:pPr>
            <a:r>
              <a:rPr lang="en-US" sz="1250" b="1" kern="0" spc="80" dirty="0">
                <a:solidFill>
                  <a:srgbClr val="E6EDF3"/>
                </a:solidFill>
                <a:latin typeface="Consolas" pitchFamily="34" charset="0"/>
                <a:ea typeface="Consolas" pitchFamily="34" charset="-122"/>
                <a:cs typeface="Consolas" pitchFamily="34" charset="-120"/>
              </a:rPr>
              <a:t>CENTRALIZED LOG SERVER</a:t>
            </a:r>
            <a:endParaRPr lang="en-US" sz="1250" dirty="0"/>
          </a:p>
        </p:txBody>
      </p:sp>
      <p:sp>
        <p:nvSpPr>
          <p:cNvPr id="53" name="badge background">
            <a:extLst>
              <a:ext uri="{C183D7F6-B498-43B3-948B-1728B52AA6E4}">
                <adec:decorative xmlns:adec="http://schemas.microsoft.com/office/drawing/2017/decorative" val="1"/>
              </a:ext>
            </a:extLst>
          </p:cNvPr>
          <p:cNvSpPr/>
          <p:nvPr/>
        </p:nvSpPr>
        <p:spPr>
          <a:xfrm>
            <a:off x="841248" y="5303520"/>
            <a:ext cx="2377440" cy="310896"/>
          </a:xfrm>
          <a:prstGeom prst="roundRect">
            <a:avLst>
              <a:gd name="adj" fmla="val 26471"/>
            </a:avLst>
          </a:prstGeom>
          <a:solidFill>
            <a:srgbClr val="122C22"/>
          </a:solidFill>
          <a:ln w="12700">
            <a:solidFill>
              <a:srgbClr val="333333"/>
            </a:solidFill>
            <a:prstDash val="solid"/>
          </a:ln>
        </p:spPr>
        <p:txBody>
          <a:bodyPr/>
          <a:lstStyle/>
          <a:p>
            <a:endParaRPr lang="en-SE"/>
          </a:p>
        </p:txBody>
      </p:sp>
      <p:sp>
        <p:nvSpPr>
          <p:cNvPr id="54" name="Text 52"/>
          <p:cNvSpPr/>
          <p:nvPr/>
        </p:nvSpPr>
        <p:spPr>
          <a:xfrm>
            <a:off x="841248" y="5303520"/>
            <a:ext cx="2377440" cy="310896"/>
          </a:xfrm>
          <a:prstGeom prst="rect">
            <a:avLst/>
          </a:prstGeom>
          <a:noFill/>
          <a:ln/>
        </p:spPr>
        <p:txBody>
          <a:bodyPr wrap="square" lIns="0" tIns="0" rIns="0" bIns="0" rtlCol="0" anchor="ctr"/>
          <a:lstStyle/>
          <a:p>
            <a:pPr marL="0" indent="0" algn="ctr">
              <a:buNone/>
            </a:pPr>
            <a:r>
              <a:rPr lang="en-US" sz="1000" b="1" kern="0" spc="80" dirty="0">
                <a:solidFill>
                  <a:srgbClr val="3FE08A"/>
                </a:solidFill>
                <a:latin typeface="Consolas" pitchFamily="34" charset="0"/>
                <a:ea typeface="Consolas" pitchFamily="34" charset="-122"/>
                <a:cs typeface="Consolas" pitchFamily="34" charset="-120"/>
              </a:rPr>
              <a:t>OPTIONAL</a:t>
            </a:r>
            <a:endParaRPr lang="en-US" sz="1000" dirty="0"/>
          </a:p>
        </p:txBody>
      </p:sp>
      <p:sp>
        <p:nvSpPr>
          <p:cNvPr id="55" name="Text 53"/>
          <p:cNvSpPr/>
          <p:nvPr/>
        </p:nvSpPr>
        <p:spPr>
          <a:xfrm>
            <a:off x="4343400" y="4892040"/>
            <a:ext cx="6583680" cy="914400"/>
          </a:xfrm>
          <a:prstGeom prst="rect">
            <a:avLst/>
          </a:prstGeom>
          <a:noFill/>
          <a:ln/>
        </p:spPr>
        <p:txBody>
          <a:bodyPr wrap="square" lIns="0" tIns="0" rIns="0" bIns="0" rtlCol="0" anchor="ctr"/>
          <a:lstStyle/>
          <a:p>
            <a:pPr marL="0" indent="0">
              <a:lnSpc>
                <a:spcPct val="115000"/>
              </a:lnSpc>
              <a:buNone/>
            </a:pPr>
            <a:r>
              <a:rPr lang="en-US" sz="1200" dirty="0">
                <a:solidFill>
                  <a:srgbClr val="AAB7C2"/>
                </a:solidFill>
                <a:latin typeface="Segoe UI" pitchFamily="34" charset="0"/>
                <a:ea typeface="Segoe UI" pitchFamily="34" charset="-122"/>
                <a:cs typeface="Segoe UI" pitchFamily="34" charset="-120"/>
              </a:rPr>
              <a:t>Used only for the terminal's own operational logs. If it is unavailable the terminal still starts, and writes to its output or a local failover log directory instead.</a:t>
            </a:r>
            <a:endParaRPr lang="en-US" sz="1200" dirty="0"/>
          </a:p>
        </p:txBody>
      </p:sp>
      <p:sp>
        <p:nvSpPr>
          <p:cNvPr id="56" name="note background">
            <a:extLst>
              <a:ext uri="{C183D7F6-B498-43B3-948B-1728B52AA6E4}">
                <adec:decorative xmlns:adec="http://schemas.microsoft.com/office/drawing/2017/decorative" val="1"/>
              </a:ext>
            </a:extLst>
          </p:cNvPr>
          <p:cNvSpPr/>
          <p:nvPr/>
        </p:nvSpPr>
        <p:spPr>
          <a:xfrm>
            <a:off x="566928" y="6035040"/>
            <a:ext cx="10607040" cy="310896"/>
          </a:xfrm>
          <a:prstGeom prst="rect">
            <a:avLst/>
          </a:prstGeom>
          <a:solidFill>
            <a:srgbClr val="273037"/>
          </a:solidFill>
          <a:ln w="12700">
            <a:solidFill>
              <a:srgbClr val="333333"/>
            </a:solidFill>
            <a:prstDash val="solid"/>
          </a:ln>
        </p:spPr>
        <p:txBody>
          <a:bodyPr/>
          <a:lstStyle/>
          <a:p>
            <a:endParaRPr lang="en-SE"/>
          </a:p>
        </p:txBody>
      </p:sp>
      <p:sp>
        <p:nvSpPr>
          <p:cNvPr id="57" name="Text 55"/>
          <p:cNvSpPr/>
          <p:nvPr/>
        </p:nvSpPr>
        <p:spPr>
          <a:xfrm>
            <a:off x="777240" y="6035040"/>
            <a:ext cx="10241280" cy="310896"/>
          </a:xfrm>
          <a:prstGeom prst="rect">
            <a:avLst/>
          </a:prstGeom>
          <a:noFill/>
          <a:ln/>
        </p:spPr>
        <p:txBody>
          <a:bodyPr wrap="square" lIns="0" tIns="0" rIns="0" bIns="0" rtlCol="0" anchor="ctr"/>
          <a:lstStyle/>
          <a:p>
            <a:pPr marL="0" indent="0">
              <a:buNone/>
            </a:pPr>
            <a:r>
              <a:rPr lang="en-US" sz="1100" dirty="0">
                <a:solidFill>
                  <a:srgbClr val="AAB7C2"/>
                </a:solidFill>
                <a:latin typeface="Segoe UI" pitchFamily="34" charset="0"/>
                <a:ea typeface="Segoe UI" pitchFamily="34" charset="-122"/>
                <a:cs typeface="Segoe UI" pitchFamily="34" charset="-120"/>
              </a:rPr>
              <a:t>You also need a container runtime — Podman 4 or later, or Docker 24 or later with a Compose plugin. That is the only thing you install on the display machine.</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Starting it: four steps</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06 · STARTING UP</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39</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The recommended path. Start the exchange services first, or at least know where they are reachable from.</a:t>
            </a:r>
            <a:endParaRPr lang="en-US" sz="1400" dirty="0"/>
          </a:p>
        </p:txBody>
      </p:sp>
      <p:sp>
        <p:nvSpPr>
          <p:cNvPr id="38" name="panel">
            <a:extLst>
              <a:ext uri="{C183D7F6-B498-43B3-948B-1728B52AA6E4}">
                <adec:decorative xmlns:adec="http://schemas.microsoft.com/office/drawing/2017/decorative" val="1"/>
              </a:ext>
            </a:extLst>
          </p:cNvPr>
          <p:cNvSpPr/>
          <p:nvPr/>
        </p:nvSpPr>
        <p:spPr>
          <a:xfrm>
            <a:off x="566928" y="1965960"/>
            <a:ext cx="2542032" cy="260604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39" name="panel accent">
            <a:extLst>
              <a:ext uri="{C183D7F6-B498-43B3-948B-1728B52AA6E4}">
                <adec:decorative xmlns:adec="http://schemas.microsoft.com/office/drawing/2017/decorative" val="1"/>
              </a:ext>
            </a:extLst>
          </p:cNvPr>
          <p:cNvSpPr/>
          <p:nvPr/>
        </p:nvSpPr>
        <p:spPr>
          <a:xfrm>
            <a:off x="566928" y="1965960"/>
            <a:ext cx="2542032" cy="50292"/>
          </a:xfrm>
          <a:prstGeom prst="rect">
            <a:avLst/>
          </a:prstGeom>
          <a:solidFill>
            <a:srgbClr val="3FE08A"/>
          </a:solidFill>
          <a:ln w="12700">
            <a:solidFill>
              <a:srgbClr val="333333"/>
            </a:solidFill>
            <a:prstDash val="solid"/>
          </a:ln>
        </p:spPr>
        <p:txBody>
          <a:bodyPr/>
          <a:lstStyle/>
          <a:p>
            <a:endParaRPr lang="en-SE"/>
          </a:p>
        </p:txBody>
      </p:sp>
      <p:sp>
        <p:nvSpPr>
          <p:cNvPr id="40" name="step number background">
            <a:extLst>
              <a:ext uri="{C183D7F6-B498-43B3-948B-1728B52AA6E4}">
                <adec:decorative xmlns:adec="http://schemas.microsoft.com/office/drawing/2017/decorative" val="1"/>
              </a:ext>
            </a:extLst>
          </p:cNvPr>
          <p:cNvSpPr/>
          <p:nvPr/>
        </p:nvSpPr>
        <p:spPr>
          <a:xfrm>
            <a:off x="786384" y="2212848"/>
            <a:ext cx="457200" cy="457200"/>
          </a:xfrm>
          <a:prstGeom prst="ellipse">
            <a:avLst/>
          </a:prstGeom>
          <a:solidFill>
            <a:srgbClr val="3FE08A"/>
          </a:solidFill>
          <a:ln w="12700">
            <a:solidFill>
              <a:srgbClr val="333333"/>
            </a:solidFill>
            <a:prstDash val="solid"/>
          </a:ln>
        </p:spPr>
        <p:txBody>
          <a:bodyPr/>
          <a:lstStyle/>
          <a:p>
            <a:endParaRPr lang="en-SE"/>
          </a:p>
        </p:txBody>
      </p:sp>
      <p:sp>
        <p:nvSpPr>
          <p:cNvPr id="41" name="Text 39"/>
          <p:cNvSpPr/>
          <p:nvPr/>
        </p:nvSpPr>
        <p:spPr>
          <a:xfrm>
            <a:off x="786384" y="2212848"/>
            <a:ext cx="457200" cy="457200"/>
          </a:xfrm>
          <a:prstGeom prst="rect">
            <a:avLst/>
          </a:prstGeom>
          <a:noFill/>
          <a:ln/>
        </p:spPr>
        <p:txBody>
          <a:bodyPr wrap="square" lIns="0" tIns="0" rIns="0" bIns="0" rtlCol="0" anchor="ctr"/>
          <a:lstStyle/>
          <a:p>
            <a:pPr marL="0" indent="0" algn="ctr">
              <a:buNone/>
            </a:pPr>
            <a:r>
              <a:rPr lang="en-US" sz="1400" b="1" dirty="0">
                <a:solidFill>
                  <a:srgbClr val="13171B"/>
                </a:solidFill>
                <a:latin typeface="Consolas" pitchFamily="34" charset="0"/>
                <a:ea typeface="Consolas" pitchFamily="34" charset="-122"/>
                <a:cs typeface="Consolas" pitchFamily="34" charset="-120"/>
              </a:rPr>
              <a:t>1</a:t>
            </a:r>
            <a:endParaRPr lang="en-US" sz="1400" dirty="0"/>
          </a:p>
        </p:txBody>
      </p:sp>
      <p:sp>
        <p:nvSpPr>
          <p:cNvPr id="42" name="Text 40"/>
          <p:cNvSpPr/>
          <p:nvPr/>
        </p:nvSpPr>
        <p:spPr>
          <a:xfrm>
            <a:off x="786384" y="2798064"/>
            <a:ext cx="2103120" cy="594360"/>
          </a:xfrm>
          <a:prstGeom prst="rect">
            <a:avLst/>
          </a:prstGeom>
          <a:noFill/>
          <a:ln/>
        </p:spPr>
        <p:txBody>
          <a:bodyPr wrap="square" lIns="0" tIns="0" rIns="0" bIns="0" rtlCol="0" anchor="ctr"/>
          <a:lstStyle/>
          <a:p>
            <a:pPr marL="0" indent="0">
              <a:lnSpc>
                <a:spcPct val="105000"/>
              </a:lnSpc>
              <a:buNone/>
            </a:pPr>
            <a:r>
              <a:rPr lang="en-US" sz="1300" b="1" dirty="0">
                <a:solidFill>
                  <a:srgbClr val="E6EDF3"/>
                </a:solidFill>
                <a:latin typeface="Segoe UI" pitchFamily="34" charset="0"/>
                <a:ea typeface="Segoe UI" pitchFamily="34" charset="-122"/>
                <a:cs typeface="Segoe UI" pitchFamily="34" charset="-120"/>
              </a:rPr>
              <a:t>Start the upstream services</a:t>
            </a:r>
            <a:endParaRPr lang="en-US" sz="1300" dirty="0"/>
          </a:p>
        </p:txBody>
      </p:sp>
      <p:sp>
        <p:nvSpPr>
          <p:cNvPr id="43" name="Text 41"/>
          <p:cNvSpPr/>
          <p:nvPr/>
        </p:nvSpPr>
        <p:spPr>
          <a:xfrm>
            <a:off x="786383" y="3456432"/>
            <a:ext cx="2335507" cy="1005840"/>
          </a:xfrm>
          <a:prstGeom prst="rect">
            <a:avLst/>
          </a:prstGeom>
          <a:noFill/>
          <a:ln/>
        </p:spPr>
        <p:txBody>
          <a:bodyPr wrap="square" lIns="0" tIns="0" rIns="0" bIns="0" rtlCol="0" anchor="ctr"/>
          <a:lstStyle/>
          <a:p>
            <a:pPr marL="0" indent="0">
              <a:lnSpc>
                <a:spcPct val="112000"/>
              </a:lnSpc>
              <a:buNone/>
            </a:pPr>
            <a:r>
              <a:rPr lang="en-US" sz="1100" dirty="0">
                <a:solidFill>
                  <a:srgbClr val="AAB7C2"/>
                </a:solidFill>
                <a:latin typeface="Segoe UI" pitchFamily="34" charset="0"/>
                <a:ea typeface="Segoe UI" pitchFamily="34" charset="-122"/>
                <a:cs typeface="Segoe UI" pitchFamily="34" charset="-120"/>
              </a:rPr>
              <a:t>The market-data gateway first, that is the live feed. Then the history gateway if you want charts and previous-close comparisons.</a:t>
            </a:r>
            <a:endParaRPr lang="en-US" sz="1100" dirty="0"/>
          </a:p>
        </p:txBody>
      </p:sp>
      <p:sp>
        <p:nvSpPr>
          <p:cNvPr id="44" name="step arrow">
            <a:extLst>
              <a:ext uri="{C183D7F6-B498-43B3-948B-1728B52AA6E4}">
                <adec:decorative xmlns:adec="http://schemas.microsoft.com/office/drawing/2017/decorative" val="1"/>
              </a:ext>
            </a:extLst>
          </p:cNvPr>
          <p:cNvSpPr/>
          <p:nvPr/>
        </p:nvSpPr>
        <p:spPr>
          <a:xfrm>
            <a:off x="3145536" y="3200400"/>
            <a:ext cx="146304" cy="0"/>
          </a:xfrm>
          <a:prstGeom prst="line">
            <a:avLst/>
          </a:prstGeom>
          <a:noFill/>
          <a:ln w="25400">
            <a:solidFill>
              <a:srgbClr val="3FE08A"/>
            </a:solidFill>
            <a:prstDash val="solid"/>
            <a:tailEnd type="triangle"/>
          </a:ln>
        </p:spPr>
        <p:txBody>
          <a:bodyPr/>
          <a:lstStyle/>
          <a:p>
            <a:endParaRPr lang="en-SE"/>
          </a:p>
        </p:txBody>
      </p:sp>
      <p:sp>
        <p:nvSpPr>
          <p:cNvPr id="45" name="panel">
            <a:extLst>
              <a:ext uri="{C183D7F6-B498-43B3-948B-1728B52AA6E4}">
                <adec:decorative xmlns:adec="http://schemas.microsoft.com/office/drawing/2017/decorative" val="1"/>
              </a:ext>
            </a:extLst>
          </p:cNvPr>
          <p:cNvSpPr/>
          <p:nvPr/>
        </p:nvSpPr>
        <p:spPr>
          <a:xfrm>
            <a:off x="3328416" y="1965960"/>
            <a:ext cx="2542032" cy="260604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46" name="panel accent">
            <a:extLst>
              <a:ext uri="{C183D7F6-B498-43B3-948B-1728B52AA6E4}">
                <adec:decorative xmlns:adec="http://schemas.microsoft.com/office/drawing/2017/decorative" val="1"/>
              </a:ext>
            </a:extLst>
          </p:cNvPr>
          <p:cNvSpPr/>
          <p:nvPr/>
        </p:nvSpPr>
        <p:spPr>
          <a:xfrm>
            <a:off x="3328416" y="1965960"/>
            <a:ext cx="2542032" cy="50292"/>
          </a:xfrm>
          <a:prstGeom prst="rect">
            <a:avLst/>
          </a:prstGeom>
          <a:solidFill>
            <a:srgbClr val="3FE08A"/>
          </a:solidFill>
          <a:ln w="12700">
            <a:solidFill>
              <a:srgbClr val="333333"/>
            </a:solidFill>
            <a:prstDash val="solid"/>
          </a:ln>
        </p:spPr>
        <p:txBody>
          <a:bodyPr/>
          <a:lstStyle/>
          <a:p>
            <a:endParaRPr lang="en-SE"/>
          </a:p>
        </p:txBody>
      </p:sp>
      <p:sp>
        <p:nvSpPr>
          <p:cNvPr id="47" name="step number background">
            <a:extLst>
              <a:ext uri="{C183D7F6-B498-43B3-948B-1728B52AA6E4}">
                <adec:decorative xmlns:adec="http://schemas.microsoft.com/office/drawing/2017/decorative" val="1"/>
              </a:ext>
            </a:extLst>
          </p:cNvPr>
          <p:cNvSpPr/>
          <p:nvPr/>
        </p:nvSpPr>
        <p:spPr>
          <a:xfrm>
            <a:off x="3547872" y="2212848"/>
            <a:ext cx="457200" cy="457200"/>
          </a:xfrm>
          <a:prstGeom prst="ellipse">
            <a:avLst/>
          </a:prstGeom>
          <a:solidFill>
            <a:srgbClr val="3FE08A"/>
          </a:solidFill>
          <a:ln w="12700">
            <a:solidFill>
              <a:srgbClr val="333333"/>
            </a:solidFill>
            <a:prstDash val="solid"/>
          </a:ln>
        </p:spPr>
        <p:txBody>
          <a:bodyPr/>
          <a:lstStyle/>
          <a:p>
            <a:endParaRPr lang="en-SE"/>
          </a:p>
        </p:txBody>
      </p:sp>
      <p:sp>
        <p:nvSpPr>
          <p:cNvPr id="48" name="Text 46"/>
          <p:cNvSpPr/>
          <p:nvPr/>
        </p:nvSpPr>
        <p:spPr>
          <a:xfrm>
            <a:off x="3547872" y="2212848"/>
            <a:ext cx="457200" cy="457200"/>
          </a:xfrm>
          <a:prstGeom prst="rect">
            <a:avLst/>
          </a:prstGeom>
          <a:noFill/>
          <a:ln/>
        </p:spPr>
        <p:txBody>
          <a:bodyPr wrap="square" lIns="0" tIns="0" rIns="0" bIns="0" rtlCol="0" anchor="ctr"/>
          <a:lstStyle/>
          <a:p>
            <a:pPr marL="0" indent="0" algn="ctr">
              <a:buNone/>
            </a:pPr>
            <a:r>
              <a:rPr lang="en-US" sz="1400" b="1" dirty="0">
                <a:solidFill>
                  <a:srgbClr val="13171B"/>
                </a:solidFill>
                <a:latin typeface="Consolas" pitchFamily="34" charset="0"/>
                <a:ea typeface="Consolas" pitchFamily="34" charset="-122"/>
                <a:cs typeface="Consolas" pitchFamily="34" charset="-120"/>
              </a:rPr>
              <a:t>2</a:t>
            </a:r>
            <a:endParaRPr lang="en-US" sz="1400" dirty="0"/>
          </a:p>
        </p:txBody>
      </p:sp>
      <p:sp>
        <p:nvSpPr>
          <p:cNvPr id="49" name="Text 47"/>
          <p:cNvSpPr/>
          <p:nvPr/>
        </p:nvSpPr>
        <p:spPr>
          <a:xfrm>
            <a:off x="3547872" y="2798064"/>
            <a:ext cx="2103120" cy="594360"/>
          </a:xfrm>
          <a:prstGeom prst="rect">
            <a:avLst/>
          </a:prstGeom>
          <a:noFill/>
          <a:ln/>
        </p:spPr>
        <p:txBody>
          <a:bodyPr wrap="square" lIns="0" tIns="0" rIns="0" bIns="0" rtlCol="0" anchor="ctr"/>
          <a:lstStyle/>
          <a:p>
            <a:pPr marL="0" indent="0">
              <a:lnSpc>
                <a:spcPct val="105000"/>
              </a:lnSpc>
              <a:buNone/>
            </a:pPr>
            <a:r>
              <a:rPr lang="en-US" sz="1300" b="1" dirty="0">
                <a:solidFill>
                  <a:srgbClr val="E6EDF3"/>
                </a:solidFill>
                <a:latin typeface="Segoe UI" pitchFamily="34" charset="0"/>
                <a:ea typeface="Segoe UI" pitchFamily="34" charset="-122"/>
                <a:cs typeface="Segoe UI" pitchFamily="34" charset="-120"/>
              </a:rPr>
              <a:t>Set the read-only API key</a:t>
            </a:r>
            <a:endParaRPr lang="en-US" sz="1300" dirty="0"/>
          </a:p>
        </p:txBody>
      </p:sp>
      <p:sp>
        <p:nvSpPr>
          <p:cNvPr id="50" name="Text 48"/>
          <p:cNvSpPr/>
          <p:nvPr/>
        </p:nvSpPr>
        <p:spPr>
          <a:xfrm>
            <a:off x="3547871" y="3456432"/>
            <a:ext cx="2335507" cy="1005840"/>
          </a:xfrm>
          <a:prstGeom prst="rect">
            <a:avLst/>
          </a:prstGeom>
          <a:noFill/>
          <a:ln/>
        </p:spPr>
        <p:txBody>
          <a:bodyPr wrap="square" lIns="0" tIns="0" rIns="0" bIns="0" rtlCol="0" anchor="ctr"/>
          <a:lstStyle/>
          <a:p>
            <a:pPr marL="0" indent="0">
              <a:lnSpc>
                <a:spcPct val="112000"/>
              </a:lnSpc>
              <a:buNone/>
            </a:pPr>
            <a:r>
              <a:rPr lang="en-US" sz="1100" dirty="0">
                <a:solidFill>
                  <a:srgbClr val="AAB7C2"/>
                </a:solidFill>
                <a:latin typeface="Segoe UI" pitchFamily="34" charset="0"/>
                <a:ea typeface="Segoe UI" pitchFamily="34" charset="-122"/>
                <a:cs typeface="Segoe UI" pitchFamily="34" charset="-120"/>
              </a:rPr>
              <a:t>Export the terminal's API key so it can read history. This key stays on the server and is never sent to a browser.</a:t>
            </a:r>
            <a:endParaRPr lang="en-US" sz="1100" dirty="0"/>
          </a:p>
        </p:txBody>
      </p:sp>
      <p:sp>
        <p:nvSpPr>
          <p:cNvPr id="51" name="step arrow">
            <a:extLst>
              <a:ext uri="{C183D7F6-B498-43B3-948B-1728B52AA6E4}">
                <adec:decorative xmlns:adec="http://schemas.microsoft.com/office/drawing/2017/decorative" val="1"/>
              </a:ext>
            </a:extLst>
          </p:cNvPr>
          <p:cNvSpPr/>
          <p:nvPr/>
        </p:nvSpPr>
        <p:spPr>
          <a:xfrm>
            <a:off x="5907024" y="3200400"/>
            <a:ext cx="146304" cy="0"/>
          </a:xfrm>
          <a:prstGeom prst="line">
            <a:avLst/>
          </a:prstGeom>
          <a:noFill/>
          <a:ln w="25400">
            <a:solidFill>
              <a:srgbClr val="3FE08A"/>
            </a:solidFill>
            <a:prstDash val="solid"/>
            <a:tailEnd type="triangle"/>
          </a:ln>
        </p:spPr>
        <p:txBody>
          <a:bodyPr/>
          <a:lstStyle/>
          <a:p>
            <a:endParaRPr lang="en-SE"/>
          </a:p>
        </p:txBody>
      </p:sp>
      <p:sp>
        <p:nvSpPr>
          <p:cNvPr id="52" name="panel">
            <a:extLst>
              <a:ext uri="{C183D7F6-B498-43B3-948B-1728B52AA6E4}">
                <adec:decorative xmlns:adec="http://schemas.microsoft.com/office/drawing/2017/decorative" val="1"/>
              </a:ext>
            </a:extLst>
          </p:cNvPr>
          <p:cNvSpPr/>
          <p:nvPr/>
        </p:nvSpPr>
        <p:spPr>
          <a:xfrm>
            <a:off x="6089904" y="1965960"/>
            <a:ext cx="2542032" cy="260604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53" name="panel accent">
            <a:extLst>
              <a:ext uri="{C183D7F6-B498-43B3-948B-1728B52AA6E4}">
                <adec:decorative xmlns:adec="http://schemas.microsoft.com/office/drawing/2017/decorative" val="1"/>
              </a:ext>
            </a:extLst>
          </p:cNvPr>
          <p:cNvSpPr/>
          <p:nvPr/>
        </p:nvSpPr>
        <p:spPr>
          <a:xfrm>
            <a:off x="6089904" y="1965960"/>
            <a:ext cx="2542032" cy="50292"/>
          </a:xfrm>
          <a:prstGeom prst="rect">
            <a:avLst/>
          </a:prstGeom>
          <a:solidFill>
            <a:srgbClr val="3FE08A"/>
          </a:solidFill>
          <a:ln w="12700">
            <a:solidFill>
              <a:srgbClr val="333333"/>
            </a:solidFill>
            <a:prstDash val="solid"/>
          </a:ln>
        </p:spPr>
        <p:txBody>
          <a:bodyPr/>
          <a:lstStyle/>
          <a:p>
            <a:endParaRPr lang="en-SE"/>
          </a:p>
        </p:txBody>
      </p:sp>
      <p:sp>
        <p:nvSpPr>
          <p:cNvPr id="54" name="step number background">
            <a:extLst>
              <a:ext uri="{C183D7F6-B498-43B3-948B-1728B52AA6E4}">
                <adec:decorative xmlns:adec="http://schemas.microsoft.com/office/drawing/2017/decorative" val="1"/>
              </a:ext>
            </a:extLst>
          </p:cNvPr>
          <p:cNvSpPr/>
          <p:nvPr/>
        </p:nvSpPr>
        <p:spPr>
          <a:xfrm>
            <a:off x="6309360" y="2212848"/>
            <a:ext cx="457200" cy="457200"/>
          </a:xfrm>
          <a:prstGeom prst="ellipse">
            <a:avLst/>
          </a:prstGeom>
          <a:solidFill>
            <a:srgbClr val="3FE08A"/>
          </a:solidFill>
          <a:ln w="12700">
            <a:solidFill>
              <a:srgbClr val="333333"/>
            </a:solidFill>
            <a:prstDash val="solid"/>
          </a:ln>
        </p:spPr>
        <p:txBody>
          <a:bodyPr/>
          <a:lstStyle/>
          <a:p>
            <a:endParaRPr lang="en-SE"/>
          </a:p>
        </p:txBody>
      </p:sp>
      <p:sp>
        <p:nvSpPr>
          <p:cNvPr id="55" name="Text 53"/>
          <p:cNvSpPr/>
          <p:nvPr/>
        </p:nvSpPr>
        <p:spPr>
          <a:xfrm>
            <a:off x="6309360" y="2212848"/>
            <a:ext cx="457200" cy="457200"/>
          </a:xfrm>
          <a:prstGeom prst="rect">
            <a:avLst/>
          </a:prstGeom>
          <a:noFill/>
          <a:ln/>
        </p:spPr>
        <p:txBody>
          <a:bodyPr wrap="square" lIns="0" tIns="0" rIns="0" bIns="0" rtlCol="0" anchor="ctr"/>
          <a:lstStyle/>
          <a:p>
            <a:pPr marL="0" indent="0" algn="ctr">
              <a:buNone/>
            </a:pPr>
            <a:r>
              <a:rPr lang="en-US" sz="1400" b="1" dirty="0">
                <a:solidFill>
                  <a:srgbClr val="13171B"/>
                </a:solidFill>
                <a:latin typeface="Consolas" pitchFamily="34" charset="0"/>
                <a:ea typeface="Consolas" pitchFamily="34" charset="-122"/>
                <a:cs typeface="Consolas" pitchFamily="34" charset="-120"/>
              </a:rPr>
              <a:t>3</a:t>
            </a:r>
            <a:endParaRPr lang="en-US" sz="1400" dirty="0"/>
          </a:p>
        </p:txBody>
      </p:sp>
      <p:sp>
        <p:nvSpPr>
          <p:cNvPr id="56" name="Text 54"/>
          <p:cNvSpPr/>
          <p:nvPr/>
        </p:nvSpPr>
        <p:spPr>
          <a:xfrm>
            <a:off x="6309360" y="2798064"/>
            <a:ext cx="2103120" cy="594360"/>
          </a:xfrm>
          <a:prstGeom prst="rect">
            <a:avLst/>
          </a:prstGeom>
          <a:noFill/>
          <a:ln/>
        </p:spPr>
        <p:txBody>
          <a:bodyPr wrap="square" lIns="0" tIns="0" rIns="0" bIns="0" rtlCol="0" anchor="ctr"/>
          <a:lstStyle/>
          <a:p>
            <a:pPr marL="0" indent="0">
              <a:lnSpc>
                <a:spcPct val="105000"/>
              </a:lnSpc>
              <a:buNone/>
            </a:pPr>
            <a:r>
              <a:rPr lang="en-US" sz="1300" b="1" dirty="0">
                <a:solidFill>
                  <a:srgbClr val="E6EDF3"/>
                </a:solidFill>
                <a:latin typeface="Segoe UI" pitchFamily="34" charset="0"/>
                <a:ea typeface="Segoe UI" pitchFamily="34" charset="-122"/>
                <a:cs typeface="Segoe UI" pitchFamily="34" charset="-120"/>
              </a:rPr>
              <a:t>Bring the container up</a:t>
            </a:r>
            <a:endParaRPr lang="en-US" sz="1300" dirty="0"/>
          </a:p>
        </p:txBody>
      </p:sp>
      <p:sp>
        <p:nvSpPr>
          <p:cNvPr id="57" name="Text 55"/>
          <p:cNvSpPr/>
          <p:nvPr/>
        </p:nvSpPr>
        <p:spPr>
          <a:xfrm>
            <a:off x="6309359" y="3456432"/>
            <a:ext cx="2335507" cy="1005840"/>
          </a:xfrm>
          <a:prstGeom prst="rect">
            <a:avLst/>
          </a:prstGeom>
          <a:noFill/>
          <a:ln/>
        </p:spPr>
        <p:txBody>
          <a:bodyPr wrap="square" lIns="0" tIns="0" rIns="0" bIns="0" rtlCol="0" anchor="ctr"/>
          <a:lstStyle/>
          <a:p>
            <a:pPr marL="0" indent="0">
              <a:lnSpc>
                <a:spcPct val="112000"/>
              </a:lnSpc>
              <a:buNone/>
            </a:pPr>
            <a:r>
              <a:rPr lang="en-US" sz="1100" dirty="0">
                <a:solidFill>
                  <a:srgbClr val="AAB7C2"/>
                </a:solidFill>
                <a:latin typeface="Segoe UI" pitchFamily="34" charset="0"/>
                <a:ea typeface="Segoe UI" pitchFamily="34" charset="-122"/>
                <a:cs typeface="Segoe UI" pitchFamily="34" charset="-120"/>
              </a:rPr>
              <a:t>One command auto-detects whether you are running Docker or Podman and starts the terminal.</a:t>
            </a:r>
            <a:endParaRPr lang="en-US" sz="1100" dirty="0"/>
          </a:p>
        </p:txBody>
      </p:sp>
      <p:sp>
        <p:nvSpPr>
          <p:cNvPr id="58" name="step arrow">
            <a:extLst>
              <a:ext uri="{C183D7F6-B498-43B3-948B-1728B52AA6E4}">
                <adec:decorative xmlns:adec="http://schemas.microsoft.com/office/drawing/2017/decorative" val="1"/>
              </a:ext>
            </a:extLst>
          </p:cNvPr>
          <p:cNvSpPr/>
          <p:nvPr/>
        </p:nvSpPr>
        <p:spPr>
          <a:xfrm>
            <a:off x="8668512" y="3200400"/>
            <a:ext cx="146304" cy="0"/>
          </a:xfrm>
          <a:prstGeom prst="line">
            <a:avLst/>
          </a:prstGeom>
          <a:noFill/>
          <a:ln w="25400">
            <a:solidFill>
              <a:srgbClr val="3FE08A"/>
            </a:solidFill>
            <a:prstDash val="solid"/>
            <a:tailEnd type="triangle"/>
          </a:ln>
        </p:spPr>
        <p:txBody>
          <a:bodyPr/>
          <a:lstStyle/>
          <a:p>
            <a:endParaRPr lang="en-SE"/>
          </a:p>
        </p:txBody>
      </p:sp>
      <p:sp>
        <p:nvSpPr>
          <p:cNvPr id="59" name="panel">
            <a:extLst>
              <a:ext uri="{C183D7F6-B498-43B3-948B-1728B52AA6E4}">
                <adec:decorative xmlns:adec="http://schemas.microsoft.com/office/drawing/2017/decorative" val="1"/>
              </a:ext>
            </a:extLst>
          </p:cNvPr>
          <p:cNvSpPr/>
          <p:nvPr/>
        </p:nvSpPr>
        <p:spPr>
          <a:xfrm>
            <a:off x="8851392" y="1965960"/>
            <a:ext cx="2542032" cy="260604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60" name="panel accent">
            <a:extLst>
              <a:ext uri="{C183D7F6-B498-43B3-948B-1728B52AA6E4}">
                <adec:decorative xmlns:adec="http://schemas.microsoft.com/office/drawing/2017/decorative" val="1"/>
              </a:ext>
            </a:extLst>
          </p:cNvPr>
          <p:cNvSpPr/>
          <p:nvPr/>
        </p:nvSpPr>
        <p:spPr>
          <a:xfrm>
            <a:off x="8851392" y="1965960"/>
            <a:ext cx="2542032" cy="50292"/>
          </a:xfrm>
          <a:prstGeom prst="rect">
            <a:avLst/>
          </a:prstGeom>
          <a:solidFill>
            <a:srgbClr val="3FE08A"/>
          </a:solidFill>
          <a:ln w="12700">
            <a:solidFill>
              <a:srgbClr val="333333"/>
            </a:solidFill>
            <a:prstDash val="solid"/>
          </a:ln>
        </p:spPr>
        <p:txBody>
          <a:bodyPr/>
          <a:lstStyle/>
          <a:p>
            <a:endParaRPr lang="en-SE"/>
          </a:p>
        </p:txBody>
      </p:sp>
      <p:sp>
        <p:nvSpPr>
          <p:cNvPr id="61" name="step number background">
            <a:extLst>
              <a:ext uri="{C183D7F6-B498-43B3-948B-1728B52AA6E4}">
                <adec:decorative xmlns:adec="http://schemas.microsoft.com/office/drawing/2017/decorative" val="1"/>
              </a:ext>
            </a:extLst>
          </p:cNvPr>
          <p:cNvSpPr/>
          <p:nvPr/>
        </p:nvSpPr>
        <p:spPr>
          <a:xfrm>
            <a:off x="9070848" y="2212848"/>
            <a:ext cx="457200" cy="457200"/>
          </a:xfrm>
          <a:prstGeom prst="ellipse">
            <a:avLst/>
          </a:prstGeom>
          <a:solidFill>
            <a:srgbClr val="3FE08A"/>
          </a:solidFill>
          <a:ln w="12700">
            <a:solidFill>
              <a:srgbClr val="333333"/>
            </a:solidFill>
            <a:prstDash val="solid"/>
          </a:ln>
        </p:spPr>
        <p:txBody>
          <a:bodyPr/>
          <a:lstStyle/>
          <a:p>
            <a:endParaRPr lang="en-SE"/>
          </a:p>
        </p:txBody>
      </p:sp>
      <p:sp>
        <p:nvSpPr>
          <p:cNvPr id="62" name="Text 60"/>
          <p:cNvSpPr/>
          <p:nvPr/>
        </p:nvSpPr>
        <p:spPr>
          <a:xfrm>
            <a:off x="9070848" y="2212848"/>
            <a:ext cx="457200" cy="457200"/>
          </a:xfrm>
          <a:prstGeom prst="rect">
            <a:avLst/>
          </a:prstGeom>
          <a:noFill/>
          <a:ln/>
        </p:spPr>
        <p:txBody>
          <a:bodyPr wrap="square" lIns="0" tIns="0" rIns="0" bIns="0" rtlCol="0" anchor="ctr"/>
          <a:lstStyle/>
          <a:p>
            <a:pPr marL="0" indent="0" algn="ctr">
              <a:buNone/>
            </a:pPr>
            <a:r>
              <a:rPr lang="en-US" sz="1400" b="1" dirty="0">
                <a:solidFill>
                  <a:srgbClr val="13171B"/>
                </a:solidFill>
                <a:latin typeface="Consolas" pitchFamily="34" charset="0"/>
                <a:ea typeface="Consolas" pitchFamily="34" charset="-122"/>
                <a:cs typeface="Consolas" pitchFamily="34" charset="-120"/>
              </a:rPr>
              <a:t>4</a:t>
            </a:r>
            <a:endParaRPr lang="en-US" sz="1400" dirty="0"/>
          </a:p>
        </p:txBody>
      </p:sp>
      <p:sp>
        <p:nvSpPr>
          <p:cNvPr id="63" name="Text 61"/>
          <p:cNvSpPr/>
          <p:nvPr/>
        </p:nvSpPr>
        <p:spPr>
          <a:xfrm>
            <a:off x="9070848" y="2798064"/>
            <a:ext cx="2103120" cy="594360"/>
          </a:xfrm>
          <a:prstGeom prst="rect">
            <a:avLst/>
          </a:prstGeom>
          <a:noFill/>
          <a:ln/>
        </p:spPr>
        <p:txBody>
          <a:bodyPr wrap="square" lIns="0" tIns="0" rIns="0" bIns="0" rtlCol="0" anchor="ctr"/>
          <a:lstStyle/>
          <a:p>
            <a:pPr marL="0" indent="0">
              <a:lnSpc>
                <a:spcPct val="105000"/>
              </a:lnSpc>
              <a:buNone/>
            </a:pPr>
            <a:r>
              <a:rPr lang="en-US" sz="1300" b="1" dirty="0">
                <a:solidFill>
                  <a:srgbClr val="E6EDF3"/>
                </a:solidFill>
                <a:latin typeface="Segoe UI" pitchFamily="34" charset="0"/>
                <a:ea typeface="Segoe UI" pitchFamily="34" charset="-122"/>
                <a:cs typeface="Segoe UI" pitchFamily="34" charset="-120"/>
              </a:rPr>
              <a:t>Open the browser</a:t>
            </a:r>
            <a:endParaRPr lang="en-US" sz="1300" dirty="0"/>
          </a:p>
        </p:txBody>
      </p:sp>
      <p:sp>
        <p:nvSpPr>
          <p:cNvPr id="64" name="Text 62"/>
          <p:cNvSpPr/>
          <p:nvPr/>
        </p:nvSpPr>
        <p:spPr>
          <a:xfrm>
            <a:off x="9070847" y="3456432"/>
            <a:ext cx="2335507" cy="1005840"/>
          </a:xfrm>
          <a:prstGeom prst="rect">
            <a:avLst/>
          </a:prstGeom>
          <a:noFill/>
          <a:ln/>
        </p:spPr>
        <p:txBody>
          <a:bodyPr wrap="square" lIns="0" tIns="0" rIns="0" bIns="0" rtlCol="0" anchor="ctr"/>
          <a:lstStyle/>
          <a:p>
            <a:pPr marL="0" indent="0">
              <a:lnSpc>
                <a:spcPct val="112000"/>
              </a:lnSpc>
              <a:buNone/>
            </a:pPr>
            <a:r>
              <a:rPr lang="en-US" sz="1100" dirty="0">
                <a:solidFill>
                  <a:srgbClr val="AAB7C2"/>
                </a:solidFill>
                <a:latin typeface="Segoe UI" pitchFamily="34" charset="0"/>
                <a:ea typeface="Segoe UI" pitchFamily="34" charset="-122"/>
                <a:cs typeface="Segoe UI" pitchFamily="34" charset="-120"/>
              </a:rPr>
              <a:t>The container serves the web page, the live data connection and the history proxy all from the same port.</a:t>
            </a:r>
            <a:endParaRPr lang="en-US" sz="1100" dirty="0"/>
          </a:p>
        </p:txBody>
      </p:sp>
      <p:sp>
        <p:nvSpPr>
          <p:cNvPr id="65" name="command block background">
            <a:extLst>
              <a:ext uri="{C183D7F6-B498-43B3-948B-1728B52AA6E4}">
                <adec:decorative xmlns:adec="http://schemas.microsoft.com/office/drawing/2017/decorative" val="1"/>
              </a:ext>
            </a:extLst>
          </p:cNvPr>
          <p:cNvSpPr/>
          <p:nvPr/>
        </p:nvSpPr>
        <p:spPr>
          <a:xfrm>
            <a:off x="566928" y="4754880"/>
            <a:ext cx="6583680" cy="1554480"/>
          </a:xfrm>
          <a:prstGeom prst="rect">
            <a:avLst/>
          </a:prstGeom>
          <a:solidFill>
            <a:srgbClr val="0C0F12"/>
          </a:solidFill>
          <a:ln w="12700">
            <a:solidFill>
              <a:srgbClr val="3FE08A"/>
            </a:solidFill>
            <a:prstDash val="solid"/>
          </a:ln>
        </p:spPr>
        <p:txBody>
          <a:bodyPr/>
          <a:lstStyle/>
          <a:p>
            <a:endParaRPr lang="en-SE"/>
          </a:p>
        </p:txBody>
      </p:sp>
      <p:sp>
        <p:nvSpPr>
          <p:cNvPr id="66" name="command block title bar">
            <a:extLst>
              <a:ext uri="{C183D7F6-B498-43B3-948B-1728B52AA6E4}">
                <adec:decorative xmlns:adec="http://schemas.microsoft.com/office/drawing/2017/decorative" val="1"/>
              </a:ext>
            </a:extLst>
          </p:cNvPr>
          <p:cNvSpPr/>
          <p:nvPr/>
        </p:nvSpPr>
        <p:spPr>
          <a:xfrm>
            <a:off x="566928" y="4754880"/>
            <a:ext cx="6583680" cy="274320"/>
          </a:xfrm>
          <a:prstGeom prst="rect">
            <a:avLst/>
          </a:prstGeom>
          <a:solidFill>
            <a:srgbClr val="273037"/>
          </a:solidFill>
          <a:ln w="12700">
            <a:solidFill>
              <a:srgbClr val="333333"/>
            </a:solidFill>
            <a:prstDash val="solid"/>
          </a:ln>
        </p:spPr>
        <p:txBody>
          <a:bodyPr/>
          <a:lstStyle/>
          <a:p>
            <a:endParaRPr lang="en-SE"/>
          </a:p>
        </p:txBody>
      </p:sp>
      <p:sp>
        <p:nvSpPr>
          <p:cNvPr id="67" name="Text 65"/>
          <p:cNvSpPr/>
          <p:nvPr/>
        </p:nvSpPr>
        <p:spPr>
          <a:xfrm>
            <a:off x="731520" y="4754880"/>
            <a:ext cx="6217920" cy="274320"/>
          </a:xfrm>
          <a:prstGeom prst="rect">
            <a:avLst/>
          </a:prstGeom>
          <a:noFill/>
          <a:ln/>
        </p:spPr>
        <p:txBody>
          <a:bodyPr wrap="square" lIns="0" tIns="0" rIns="0" bIns="0" rtlCol="0" anchor="ctr"/>
          <a:lstStyle/>
          <a:p>
            <a:pPr marL="0" indent="0">
              <a:buNone/>
            </a:pPr>
            <a:r>
              <a:rPr lang="en-US" sz="900" dirty="0">
                <a:solidFill>
                  <a:srgbClr val="7C8B97"/>
                </a:solidFill>
                <a:latin typeface="Consolas" pitchFamily="34" charset="0"/>
                <a:ea typeface="Consolas" pitchFamily="34" charset="-122"/>
                <a:cs typeface="Consolas" pitchFamily="34" charset="-120"/>
              </a:rPr>
              <a:t>from the terminal-gui directory</a:t>
            </a:r>
            <a:endParaRPr lang="en-US" sz="900" dirty="0"/>
          </a:p>
        </p:txBody>
      </p:sp>
      <p:sp>
        <p:nvSpPr>
          <p:cNvPr id="68" name="Text 66"/>
          <p:cNvSpPr/>
          <p:nvPr/>
        </p:nvSpPr>
        <p:spPr>
          <a:xfrm>
            <a:off x="777240" y="5120640"/>
            <a:ext cx="6217920" cy="1097280"/>
          </a:xfrm>
          <a:prstGeom prst="rect">
            <a:avLst/>
          </a:prstGeom>
          <a:noFill/>
          <a:ln/>
        </p:spPr>
        <p:txBody>
          <a:bodyPr wrap="square" lIns="0" tIns="0" rIns="0" bIns="0" rtlCol="0" anchor="ctr"/>
          <a:lstStyle/>
          <a:p>
            <a:pPr marL="0" indent="0">
              <a:lnSpc>
                <a:spcPct val="130000"/>
              </a:lnSpc>
              <a:buNone/>
            </a:pPr>
            <a:r>
              <a:rPr lang="en-US" sz="1250" dirty="0">
                <a:solidFill>
                  <a:srgbClr val="3FE08A"/>
                </a:solidFill>
                <a:latin typeface="Consolas" pitchFamily="34" charset="0"/>
                <a:ea typeface="Consolas" pitchFamily="34" charset="-122"/>
                <a:cs typeface="Consolas" pitchFamily="34" charset="-120"/>
              </a:rPr>
              <a:t>export PM_TERMINAL_API_KEY='…'</a:t>
            </a:r>
            <a:endParaRPr lang="en-US" sz="1250" dirty="0"/>
          </a:p>
          <a:p>
            <a:pPr marL="0" indent="0">
              <a:lnSpc>
                <a:spcPct val="130000"/>
              </a:lnSpc>
              <a:buNone/>
            </a:pPr>
            <a:r>
              <a:rPr lang="en-US" sz="1250" dirty="0">
                <a:solidFill>
                  <a:srgbClr val="3FE08A"/>
                </a:solidFill>
                <a:latin typeface="Consolas" pitchFamily="34" charset="0"/>
                <a:ea typeface="Consolas" pitchFamily="34" charset="-122"/>
                <a:cs typeface="Consolas" pitchFamily="34" charset="-120"/>
              </a:rPr>
              <a:t>make up</a:t>
            </a:r>
            <a:endParaRPr lang="en-US" sz="1250" dirty="0"/>
          </a:p>
          <a:p>
            <a:pPr marL="0" indent="0">
              <a:lnSpc>
                <a:spcPct val="130000"/>
              </a:lnSpc>
              <a:buNone/>
            </a:pPr>
            <a:r>
              <a:rPr lang="en-US" sz="1250" dirty="0">
                <a:solidFill>
                  <a:srgbClr val="7C8B97"/>
                </a:solidFill>
                <a:latin typeface="Consolas" pitchFamily="34" charset="0"/>
                <a:ea typeface="Consolas" pitchFamily="34" charset="-122"/>
                <a:cs typeface="Consolas" pitchFamily="34" charset="-120"/>
              </a:rPr>
              <a:t># then open http://localhost:8090</a:t>
            </a:r>
            <a:endParaRPr lang="en-US" sz="1250" dirty="0"/>
          </a:p>
        </p:txBody>
      </p:sp>
      <p:sp>
        <p:nvSpPr>
          <p:cNvPr id="69" name="panel">
            <a:extLst>
              <a:ext uri="{C183D7F6-B498-43B3-948B-1728B52AA6E4}">
                <adec:decorative xmlns:adec="http://schemas.microsoft.com/office/drawing/2017/decorative" val="1"/>
              </a:ext>
            </a:extLst>
          </p:cNvPr>
          <p:cNvSpPr/>
          <p:nvPr/>
        </p:nvSpPr>
        <p:spPr>
          <a:xfrm>
            <a:off x="7406640" y="4754880"/>
            <a:ext cx="3767328" cy="155448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70" name="panel accent">
            <a:extLst>
              <a:ext uri="{C183D7F6-B498-43B3-948B-1728B52AA6E4}">
                <adec:decorative xmlns:adec="http://schemas.microsoft.com/office/drawing/2017/decorative" val="1"/>
              </a:ext>
            </a:extLst>
          </p:cNvPr>
          <p:cNvSpPr/>
          <p:nvPr/>
        </p:nvSpPr>
        <p:spPr>
          <a:xfrm>
            <a:off x="7406640" y="4754880"/>
            <a:ext cx="50292" cy="1554480"/>
          </a:xfrm>
          <a:prstGeom prst="rect">
            <a:avLst/>
          </a:prstGeom>
          <a:solidFill>
            <a:srgbClr val="F5A524"/>
          </a:solidFill>
          <a:ln w="12700">
            <a:solidFill>
              <a:srgbClr val="333333"/>
            </a:solidFill>
            <a:prstDash val="solid"/>
          </a:ln>
        </p:spPr>
        <p:txBody>
          <a:bodyPr/>
          <a:lstStyle/>
          <a:p>
            <a:endParaRPr lang="en-SE"/>
          </a:p>
        </p:txBody>
      </p:sp>
      <p:sp>
        <p:nvSpPr>
          <p:cNvPr id="71" name="Text 69"/>
          <p:cNvSpPr/>
          <p:nvPr/>
        </p:nvSpPr>
        <p:spPr>
          <a:xfrm>
            <a:off x="7635240" y="4919472"/>
            <a:ext cx="3383280" cy="274320"/>
          </a:xfrm>
          <a:prstGeom prst="rect">
            <a:avLst/>
          </a:prstGeom>
          <a:noFill/>
          <a:ln/>
        </p:spPr>
        <p:txBody>
          <a:bodyPr wrap="square" lIns="0" tIns="0" rIns="0" bIns="0" rtlCol="0" anchor="ctr"/>
          <a:lstStyle/>
          <a:p>
            <a:pPr marL="0" indent="0">
              <a:buNone/>
            </a:pPr>
            <a:r>
              <a:rPr lang="en-US" sz="1200" b="1" dirty="0">
                <a:solidFill>
                  <a:srgbClr val="F5A524"/>
                </a:solidFill>
                <a:latin typeface="Segoe UI" pitchFamily="34" charset="0"/>
                <a:ea typeface="Segoe UI" pitchFamily="34" charset="-122"/>
                <a:cs typeface="Segoe UI" pitchFamily="34" charset="-120"/>
              </a:rPr>
              <a:t>Two more commands worth knowing</a:t>
            </a:r>
            <a:endParaRPr lang="en-US" sz="1200" dirty="0"/>
          </a:p>
        </p:txBody>
      </p:sp>
      <p:sp>
        <p:nvSpPr>
          <p:cNvPr id="72" name="Text 70"/>
          <p:cNvSpPr/>
          <p:nvPr/>
        </p:nvSpPr>
        <p:spPr>
          <a:xfrm>
            <a:off x="7635240" y="5230368"/>
            <a:ext cx="3383280" cy="960120"/>
          </a:xfrm>
          <a:prstGeom prst="rect">
            <a:avLst/>
          </a:prstGeom>
          <a:noFill/>
          <a:ln/>
        </p:spPr>
        <p:txBody>
          <a:bodyPr wrap="square" lIns="0" tIns="0" rIns="0" bIns="0" rtlCol="0" anchor="ctr"/>
          <a:lstStyle/>
          <a:p>
            <a:pPr marL="0" indent="0">
              <a:lnSpc>
                <a:spcPct val="115000"/>
              </a:lnSpc>
              <a:buNone/>
            </a:pPr>
            <a:r>
              <a:rPr lang="en-US" sz="1050" b="1" dirty="0">
                <a:solidFill>
                  <a:srgbClr val="E6EDF3"/>
                </a:solidFill>
                <a:latin typeface="Segoe UI" pitchFamily="34" charset="0"/>
                <a:ea typeface="Segoe UI" pitchFamily="34" charset="-122"/>
                <a:cs typeface="Segoe UI" pitchFamily="34" charset="-120"/>
              </a:rPr>
              <a:t>make logs</a:t>
            </a:r>
            <a:r>
              <a:rPr lang="en-US" sz="1050" dirty="0">
                <a:solidFill>
                  <a:srgbClr val="AAB7C2"/>
                </a:solidFill>
                <a:latin typeface="Segoe UI" pitchFamily="34" charset="0"/>
                <a:ea typeface="Segoe UI" pitchFamily="34" charset="-122"/>
                <a:cs typeface="Segoe UI" pitchFamily="34" charset="-120"/>
              </a:rPr>
              <a:t>  —  follow the terminal's own log, which is where startup warnings appear.</a:t>
            </a:r>
            <a:r>
              <a:rPr lang="en-US" sz="1050" b="1" dirty="0">
                <a:solidFill>
                  <a:srgbClr val="E6EDF3"/>
                </a:solidFill>
                <a:latin typeface="Segoe UI" pitchFamily="34" charset="0"/>
                <a:ea typeface="Segoe UI" pitchFamily="34" charset="-122"/>
                <a:cs typeface="Segoe UI" pitchFamily="34" charset="-120"/>
              </a:rPr>
              <a:t>make down</a:t>
            </a:r>
            <a:r>
              <a:rPr lang="en-US" sz="1050" dirty="0">
                <a:solidFill>
                  <a:srgbClr val="AAB7C2"/>
                </a:solidFill>
                <a:latin typeface="Segoe UI" pitchFamily="34" charset="0"/>
                <a:ea typeface="Segoe UI" pitchFamily="34" charset="-122"/>
                <a:cs typeface="Segoe UI" pitchFamily="34" charset="-120"/>
              </a:rPr>
              <a:t>  —  stop the container.</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The configuration that actually matters</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06 · STARTING UP</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40</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Most installations set only these. Each one exists because the terminal cannot guess it — and here is why.</a:t>
            </a:r>
            <a:endParaRPr lang="en-US" sz="1400" dirty="0"/>
          </a:p>
        </p:txBody>
      </p:sp>
      <p:sp>
        <p:nvSpPr>
          <p:cNvPr id="38" name="row background">
            <a:extLst>
              <a:ext uri="{C183D7F6-B498-43B3-948B-1728B52AA6E4}">
                <adec:decorative xmlns:adec="http://schemas.microsoft.com/office/drawing/2017/decorative" val="1"/>
              </a:ext>
            </a:extLst>
          </p:cNvPr>
          <p:cNvSpPr/>
          <p:nvPr/>
        </p:nvSpPr>
        <p:spPr>
          <a:xfrm>
            <a:off x="566928" y="1828800"/>
            <a:ext cx="10607040" cy="658368"/>
          </a:xfrm>
          <a:prstGeom prst="rect">
            <a:avLst/>
          </a:prstGeom>
          <a:solidFill>
            <a:srgbClr val="20272D"/>
          </a:solidFill>
          <a:ln w="12700">
            <a:solidFill>
              <a:srgbClr val="333333"/>
            </a:solidFill>
            <a:prstDash val="solid"/>
          </a:ln>
        </p:spPr>
        <p:txBody>
          <a:bodyPr/>
          <a:lstStyle/>
          <a:p>
            <a:endParaRPr lang="en-SE" sz="2000"/>
          </a:p>
        </p:txBody>
      </p:sp>
      <p:sp>
        <p:nvSpPr>
          <p:cNvPr id="39" name="row marker">
            <a:extLst>
              <a:ext uri="{C183D7F6-B498-43B3-948B-1728B52AA6E4}">
                <adec:decorative xmlns:adec="http://schemas.microsoft.com/office/drawing/2017/decorative" val="1"/>
              </a:ext>
            </a:extLst>
          </p:cNvPr>
          <p:cNvSpPr/>
          <p:nvPr/>
        </p:nvSpPr>
        <p:spPr>
          <a:xfrm>
            <a:off x="566928" y="1828800"/>
            <a:ext cx="32004" cy="658368"/>
          </a:xfrm>
          <a:prstGeom prst="rect">
            <a:avLst/>
          </a:prstGeom>
          <a:solidFill>
            <a:srgbClr val="EF5B63"/>
          </a:solidFill>
          <a:ln w="12700">
            <a:solidFill>
              <a:srgbClr val="333333"/>
            </a:solidFill>
            <a:prstDash val="solid"/>
          </a:ln>
        </p:spPr>
        <p:txBody>
          <a:bodyPr/>
          <a:lstStyle/>
          <a:p>
            <a:endParaRPr lang="en-SE" sz="2000"/>
          </a:p>
        </p:txBody>
      </p:sp>
      <p:sp>
        <p:nvSpPr>
          <p:cNvPr id="40" name="Text 38"/>
          <p:cNvSpPr/>
          <p:nvPr/>
        </p:nvSpPr>
        <p:spPr>
          <a:xfrm>
            <a:off x="777240" y="1828800"/>
            <a:ext cx="2651760" cy="694944"/>
          </a:xfrm>
          <a:prstGeom prst="rect">
            <a:avLst/>
          </a:prstGeom>
          <a:noFill/>
          <a:ln/>
        </p:spPr>
        <p:txBody>
          <a:bodyPr wrap="square" lIns="0" tIns="0" rIns="0" bIns="0" rtlCol="0" anchor="ctr"/>
          <a:lstStyle/>
          <a:p>
            <a:pPr marL="0" indent="0">
              <a:lnSpc>
                <a:spcPct val="100000"/>
              </a:lnSpc>
              <a:buNone/>
            </a:pPr>
            <a:r>
              <a:rPr lang="en-US" sz="1100" b="1" dirty="0">
                <a:solidFill>
                  <a:srgbClr val="EF5B63"/>
                </a:solidFill>
                <a:latin typeface="Consolas" pitchFamily="34" charset="0"/>
                <a:ea typeface="Consolas" pitchFamily="34" charset="-122"/>
                <a:cs typeface="Consolas" pitchFamily="34" charset="-120"/>
              </a:rPr>
              <a:t>PM_TERMINAL_API_KEY</a:t>
            </a:r>
            <a:endParaRPr lang="en-US" sz="1100" dirty="0"/>
          </a:p>
        </p:txBody>
      </p:sp>
      <p:sp>
        <p:nvSpPr>
          <p:cNvPr id="41" name="Text 39"/>
          <p:cNvSpPr/>
          <p:nvPr/>
        </p:nvSpPr>
        <p:spPr>
          <a:xfrm>
            <a:off x="3520440" y="1828800"/>
            <a:ext cx="2606040" cy="694944"/>
          </a:xfrm>
          <a:prstGeom prst="rect">
            <a:avLst/>
          </a:prstGeom>
          <a:noFill/>
          <a:ln/>
        </p:spPr>
        <p:txBody>
          <a:bodyPr wrap="square" lIns="0" tIns="0" rIns="0" bIns="0" rtlCol="0" anchor="ctr"/>
          <a:lstStyle/>
          <a:p>
            <a:pPr marL="0" indent="0">
              <a:lnSpc>
                <a:spcPct val="105000"/>
              </a:lnSpc>
              <a:buNone/>
            </a:pPr>
            <a:r>
              <a:rPr lang="en-US" sz="1100" b="1" dirty="0">
                <a:solidFill>
                  <a:srgbClr val="E6EDF3"/>
                </a:solidFill>
                <a:latin typeface="Segoe UI" pitchFamily="34" charset="0"/>
                <a:ea typeface="Segoe UI" pitchFamily="34" charset="-122"/>
                <a:cs typeface="Segoe UI" pitchFamily="34" charset="-120"/>
              </a:rPr>
              <a:t>The read-only key for the history gateway.</a:t>
            </a:r>
            <a:endParaRPr lang="en-US" sz="1100" dirty="0"/>
          </a:p>
        </p:txBody>
      </p:sp>
      <p:sp>
        <p:nvSpPr>
          <p:cNvPr id="42" name="Text 40"/>
          <p:cNvSpPr/>
          <p:nvPr/>
        </p:nvSpPr>
        <p:spPr>
          <a:xfrm>
            <a:off x="6263640" y="1828800"/>
            <a:ext cx="4800600" cy="694944"/>
          </a:xfrm>
          <a:prstGeom prst="rect">
            <a:avLst/>
          </a:prstGeom>
          <a:noFill/>
          <a:ln/>
        </p:spPr>
        <p:txBody>
          <a:bodyPr wrap="square" lIns="0" tIns="0" rIns="0" bIns="0" rtlCol="0" anchor="ctr"/>
          <a:lstStyle/>
          <a:p>
            <a:pPr marL="0" indent="0">
              <a:lnSpc>
                <a:spcPct val="105000"/>
              </a:lnSpc>
              <a:buNone/>
            </a:pPr>
            <a:r>
              <a:rPr lang="en-US" sz="1050" dirty="0">
                <a:solidFill>
                  <a:srgbClr val="AAB7C2"/>
                </a:solidFill>
                <a:latin typeface="Segoe UI" pitchFamily="34" charset="0"/>
                <a:ea typeface="Segoe UI" pitchFamily="34" charset="-122"/>
                <a:cs typeface="Segoe UI" pitchFamily="34" charset="-120"/>
              </a:rPr>
              <a:t>Without it you get live prices but no charts, no previous close, and blank Open / Volume / Turnover. It is read-only and gateway-unscoped on purpose: the terminal only ever reads history. It stays on the server — the browser never sees it.</a:t>
            </a:r>
            <a:endParaRPr lang="en-US" sz="1050" dirty="0"/>
          </a:p>
        </p:txBody>
      </p:sp>
      <p:sp>
        <p:nvSpPr>
          <p:cNvPr id="43" name="row background">
            <a:extLst>
              <a:ext uri="{C183D7F6-B498-43B3-948B-1728B52AA6E4}">
                <adec:decorative xmlns:adec="http://schemas.microsoft.com/office/drawing/2017/decorative" val="1"/>
              </a:ext>
            </a:extLst>
          </p:cNvPr>
          <p:cNvSpPr/>
          <p:nvPr/>
        </p:nvSpPr>
        <p:spPr>
          <a:xfrm>
            <a:off x="566928" y="2560320"/>
            <a:ext cx="10607040" cy="658368"/>
          </a:xfrm>
          <a:prstGeom prst="rect">
            <a:avLst/>
          </a:prstGeom>
          <a:solidFill>
            <a:srgbClr val="191E23"/>
          </a:solidFill>
          <a:ln w="12700">
            <a:solidFill>
              <a:srgbClr val="333333"/>
            </a:solidFill>
            <a:prstDash val="solid"/>
          </a:ln>
        </p:spPr>
        <p:txBody>
          <a:bodyPr/>
          <a:lstStyle/>
          <a:p>
            <a:endParaRPr lang="en-SE" sz="2000"/>
          </a:p>
        </p:txBody>
      </p:sp>
      <p:sp>
        <p:nvSpPr>
          <p:cNvPr id="44" name="row marker">
            <a:extLst>
              <a:ext uri="{C183D7F6-B498-43B3-948B-1728B52AA6E4}">
                <adec:decorative xmlns:adec="http://schemas.microsoft.com/office/drawing/2017/decorative" val="1"/>
              </a:ext>
            </a:extLst>
          </p:cNvPr>
          <p:cNvSpPr/>
          <p:nvPr/>
        </p:nvSpPr>
        <p:spPr>
          <a:xfrm>
            <a:off x="566928" y="2560320"/>
            <a:ext cx="32004" cy="658368"/>
          </a:xfrm>
          <a:prstGeom prst="rect">
            <a:avLst/>
          </a:prstGeom>
          <a:solidFill>
            <a:srgbClr val="F5A524"/>
          </a:solidFill>
          <a:ln w="12700">
            <a:solidFill>
              <a:srgbClr val="333333"/>
            </a:solidFill>
            <a:prstDash val="solid"/>
          </a:ln>
        </p:spPr>
        <p:txBody>
          <a:bodyPr/>
          <a:lstStyle/>
          <a:p>
            <a:endParaRPr lang="en-SE" sz="2000"/>
          </a:p>
        </p:txBody>
      </p:sp>
      <p:sp>
        <p:nvSpPr>
          <p:cNvPr id="45" name="Text 43"/>
          <p:cNvSpPr/>
          <p:nvPr/>
        </p:nvSpPr>
        <p:spPr>
          <a:xfrm>
            <a:off x="777240" y="2560320"/>
            <a:ext cx="2651760" cy="694944"/>
          </a:xfrm>
          <a:prstGeom prst="rect">
            <a:avLst/>
          </a:prstGeom>
          <a:noFill/>
          <a:ln/>
        </p:spPr>
        <p:txBody>
          <a:bodyPr wrap="square" lIns="0" tIns="0" rIns="0" bIns="0" rtlCol="0" anchor="ctr"/>
          <a:lstStyle/>
          <a:p>
            <a:pPr marL="0" indent="0">
              <a:lnSpc>
                <a:spcPct val="100000"/>
              </a:lnSpc>
              <a:buNone/>
            </a:pPr>
            <a:r>
              <a:rPr lang="en-US" sz="1100" b="1" dirty="0">
                <a:solidFill>
                  <a:srgbClr val="F5A524"/>
                </a:solidFill>
                <a:latin typeface="Consolas" pitchFamily="34" charset="0"/>
                <a:ea typeface="Consolas" pitchFamily="34" charset="-122"/>
                <a:cs typeface="Consolas" pitchFamily="34" charset="-120"/>
              </a:rPr>
              <a:t>CALF_HOST / CALF_PORT</a:t>
            </a:r>
            <a:endParaRPr lang="en-US" sz="1100" dirty="0"/>
          </a:p>
        </p:txBody>
      </p:sp>
      <p:sp>
        <p:nvSpPr>
          <p:cNvPr id="46" name="Text 44"/>
          <p:cNvSpPr/>
          <p:nvPr/>
        </p:nvSpPr>
        <p:spPr>
          <a:xfrm>
            <a:off x="3520440" y="2560320"/>
            <a:ext cx="2606040" cy="694944"/>
          </a:xfrm>
          <a:prstGeom prst="rect">
            <a:avLst/>
          </a:prstGeom>
          <a:noFill/>
          <a:ln/>
        </p:spPr>
        <p:txBody>
          <a:bodyPr wrap="square" lIns="0" tIns="0" rIns="0" bIns="0" rtlCol="0" anchor="ctr"/>
          <a:lstStyle/>
          <a:p>
            <a:pPr marL="0" indent="0">
              <a:lnSpc>
                <a:spcPct val="105000"/>
              </a:lnSpc>
              <a:buNone/>
            </a:pPr>
            <a:r>
              <a:rPr lang="en-US" sz="1100" b="1" dirty="0">
                <a:solidFill>
                  <a:srgbClr val="E6EDF3"/>
                </a:solidFill>
                <a:latin typeface="Segoe UI" pitchFamily="34" charset="0"/>
                <a:ea typeface="Segoe UI" pitchFamily="34" charset="-122"/>
                <a:cs typeface="Segoe UI" pitchFamily="34" charset="-120"/>
              </a:rPr>
              <a:t>Where the live market-data gateway is.</a:t>
            </a:r>
            <a:endParaRPr lang="en-US" sz="1100" dirty="0"/>
          </a:p>
        </p:txBody>
      </p:sp>
      <p:sp>
        <p:nvSpPr>
          <p:cNvPr id="47" name="Text 45"/>
          <p:cNvSpPr/>
          <p:nvPr/>
        </p:nvSpPr>
        <p:spPr>
          <a:xfrm>
            <a:off x="6263640" y="2560320"/>
            <a:ext cx="4800600" cy="694944"/>
          </a:xfrm>
          <a:prstGeom prst="rect">
            <a:avLst/>
          </a:prstGeom>
          <a:noFill/>
          <a:ln/>
        </p:spPr>
        <p:txBody>
          <a:bodyPr wrap="square" lIns="0" tIns="0" rIns="0" bIns="0" rtlCol="0" anchor="ctr"/>
          <a:lstStyle/>
          <a:p>
            <a:pPr marL="0" indent="0">
              <a:lnSpc>
                <a:spcPct val="105000"/>
              </a:lnSpc>
              <a:buNone/>
            </a:pPr>
            <a:r>
              <a:rPr lang="en-US" sz="1050" dirty="0">
                <a:solidFill>
                  <a:srgbClr val="AAB7C2"/>
                </a:solidFill>
                <a:latin typeface="Segoe UI" pitchFamily="34" charset="0"/>
                <a:ea typeface="Segoe UI" pitchFamily="34" charset="-122"/>
                <a:cs typeface="Segoe UI" pitchFamily="34" charset="-120"/>
              </a:rPr>
              <a:t>Defaults assume the gateway runs on the same machine as the container host. Set it explicitly whenever the exchange is on another host — and on Podman, where the default host name often cannot be resolved.</a:t>
            </a:r>
            <a:endParaRPr lang="en-US" sz="1050" dirty="0"/>
          </a:p>
        </p:txBody>
      </p:sp>
      <p:sp>
        <p:nvSpPr>
          <p:cNvPr id="48" name="row background">
            <a:extLst>
              <a:ext uri="{C183D7F6-B498-43B3-948B-1728B52AA6E4}">
                <adec:decorative xmlns:adec="http://schemas.microsoft.com/office/drawing/2017/decorative" val="1"/>
              </a:ext>
            </a:extLst>
          </p:cNvPr>
          <p:cNvSpPr/>
          <p:nvPr/>
        </p:nvSpPr>
        <p:spPr>
          <a:xfrm>
            <a:off x="566928" y="3291840"/>
            <a:ext cx="10607040" cy="658368"/>
          </a:xfrm>
          <a:prstGeom prst="rect">
            <a:avLst/>
          </a:prstGeom>
          <a:solidFill>
            <a:srgbClr val="20272D"/>
          </a:solidFill>
          <a:ln w="12700">
            <a:solidFill>
              <a:srgbClr val="333333"/>
            </a:solidFill>
            <a:prstDash val="solid"/>
          </a:ln>
        </p:spPr>
        <p:txBody>
          <a:bodyPr/>
          <a:lstStyle/>
          <a:p>
            <a:endParaRPr lang="en-SE" sz="2000"/>
          </a:p>
        </p:txBody>
      </p:sp>
      <p:sp>
        <p:nvSpPr>
          <p:cNvPr id="49" name="row marker">
            <a:extLst>
              <a:ext uri="{C183D7F6-B498-43B3-948B-1728B52AA6E4}">
                <adec:decorative xmlns:adec="http://schemas.microsoft.com/office/drawing/2017/decorative" val="1"/>
              </a:ext>
            </a:extLst>
          </p:cNvPr>
          <p:cNvSpPr/>
          <p:nvPr/>
        </p:nvSpPr>
        <p:spPr>
          <a:xfrm>
            <a:off x="566928" y="3291840"/>
            <a:ext cx="32004" cy="658368"/>
          </a:xfrm>
          <a:prstGeom prst="rect">
            <a:avLst/>
          </a:prstGeom>
          <a:solidFill>
            <a:srgbClr val="3FE08A"/>
          </a:solidFill>
          <a:ln w="12700">
            <a:solidFill>
              <a:srgbClr val="333333"/>
            </a:solidFill>
            <a:prstDash val="solid"/>
          </a:ln>
        </p:spPr>
        <p:txBody>
          <a:bodyPr/>
          <a:lstStyle/>
          <a:p>
            <a:endParaRPr lang="en-SE" sz="2000"/>
          </a:p>
        </p:txBody>
      </p:sp>
      <p:sp>
        <p:nvSpPr>
          <p:cNvPr id="50" name="Text 48"/>
          <p:cNvSpPr/>
          <p:nvPr/>
        </p:nvSpPr>
        <p:spPr>
          <a:xfrm>
            <a:off x="777240" y="3291840"/>
            <a:ext cx="2651760" cy="694944"/>
          </a:xfrm>
          <a:prstGeom prst="rect">
            <a:avLst/>
          </a:prstGeom>
          <a:noFill/>
          <a:ln/>
        </p:spPr>
        <p:txBody>
          <a:bodyPr wrap="square" lIns="0" tIns="0" rIns="0" bIns="0" rtlCol="0" anchor="ctr"/>
          <a:lstStyle/>
          <a:p>
            <a:pPr marL="0" indent="0">
              <a:lnSpc>
                <a:spcPct val="100000"/>
              </a:lnSpc>
              <a:buNone/>
            </a:pPr>
            <a:r>
              <a:rPr lang="en-US" sz="1100" b="1" dirty="0">
                <a:solidFill>
                  <a:srgbClr val="3FE08A"/>
                </a:solidFill>
                <a:latin typeface="Consolas" pitchFamily="34" charset="0"/>
                <a:ea typeface="Consolas" pitchFamily="34" charset="-122"/>
                <a:cs typeface="Consolas" pitchFamily="34" charset="-120"/>
              </a:rPr>
              <a:t>API_GATEWAY_URL</a:t>
            </a:r>
            <a:endParaRPr lang="en-US" sz="1100" dirty="0"/>
          </a:p>
        </p:txBody>
      </p:sp>
      <p:sp>
        <p:nvSpPr>
          <p:cNvPr id="51" name="Text 49"/>
          <p:cNvSpPr/>
          <p:nvPr/>
        </p:nvSpPr>
        <p:spPr>
          <a:xfrm>
            <a:off x="3520440" y="3291840"/>
            <a:ext cx="2606040" cy="694944"/>
          </a:xfrm>
          <a:prstGeom prst="rect">
            <a:avLst/>
          </a:prstGeom>
          <a:noFill/>
          <a:ln/>
        </p:spPr>
        <p:txBody>
          <a:bodyPr wrap="square" lIns="0" tIns="0" rIns="0" bIns="0" rtlCol="0" anchor="ctr"/>
          <a:lstStyle/>
          <a:p>
            <a:pPr marL="0" indent="0">
              <a:lnSpc>
                <a:spcPct val="105000"/>
              </a:lnSpc>
              <a:buNone/>
            </a:pPr>
            <a:r>
              <a:rPr lang="en-US" sz="1100" b="1" dirty="0">
                <a:solidFill>
                  <a:srgbClr val="E6EDF3"/>
                </a:solidFill>
                <a:latin typeface="Segoe UI" pitchFamily="34" charset="0"/>
                <a:ea typeface="Segoe UI" pitchFamily="34" charset="-122"/>
                <a:cs typeface="Segoe UI" pitchFamily="34" charset="-120"/>
              </a:rPr>
              <a:t>Where the history gateway is.</a:t>
            </a:r>
            <a:endParaRPr lang="en-US" sz="1100" dirty="0"/>
          </a:p>
        </p:txBody>
      </p:sp>
      <p:sp>
        <p:nvSpPr>
          <p:cNvPr id="52" name="Text 50"/>
          <p:cNvSpPr/>
          <p:nvPr/>
        </p:nvSpPr>
        <p:spPr>
          <a:xfrm>
            <a:off x="6263640" y="3291840"/>
            <a:ext cx="4800600" cy="694944"/>
          </a:xfrm>
          <a:prstGeom prst="rect">
            <a:avLst/>
          </a:prstGeom>
          <a:noFill/>
          <a:ln/>
        </p:spPr>
        <p:txBody>
          <a:bodyPr wrap="square" lIns="0" tIns="0" rIns="0" bIns="0" rtlCol="0" anchor="ctr"/>
          <a:lstStyle/>
          <a:p>
            <a:pPr marL="0" indent="0">
              <a:lnSpc>
                <a:spcPct val="105000"/>
              </a:lnSpc>
              <a:buNone/>
            </a:pPr>
            <a:r>
              <a:rPr lang="en-US" sz="1050" dirty="0">
                <a:solidFill>
                  <a:srgbClr val="AAB7C2"/>
                </a:solidFill>
                <a:latin typeface="Segoe UI" pitchFamily="34" charset="0"/>
                <a:ea typeface="Segoe UI" pitchFamily="34" charset="-122"/>
                <a:cs typeface="Segoe UI" pitchFamily="34" charset="-120"/>
              </a:rPr>
              <a:t>Same reasoning as above. Point it at the exchange host if history lives elsewhere.</a:t>
            </a:r>
            <a:endParaRPr lang="en-US" sz="1050" dirty="0"/>
          </a:p>
        </p:txBody>
      </p:sp>
      <p:sp>
        <p:nvSpPr>
          <p:cNvPr id="53" name="row background">
            <a:extLst>
              <a:ext uri="{C183D7F6-B498-43B3-948B-1728B52AA6E4}">
                <adec:decorative xmlns:adec="http://schemas.microsoft.com/office/drawing/2017/decorative" val="1"/>
              </a:ext>
            </a:extLst>
          </p:cNvPr>
          <p:cNvSpPr/>
          <p:nvPr/>
        </p:nvSpPr>
        <p:spPr>
          <a:xfrm>
            <a:off x="566928" y="4023360"/>
            <a:ext cx="10607040" cy="658368"/>
          </a:xfrm>
          <a:prstGeom prst="rect">
            <a:avLst/>
          </a:prstGeom>
          <a:solidFill>
            <a:srgbClr val="191E23"/>
          </a:solidFill>
          <a:ln w="12700">
            <a:solidFill>
              <a:srgbClr val="333333"/>
            </a:solidFill>
            <a:prstDash val="solid"/>
          </a:ln>
        </p:spPr>
        <p:txBody>
          <a:bodyPr/>
          <a:lstStyle/>
          <a:p>
            <a:endParaRPr lang="en-SE" sz="2000"/>
          </a:p>
        </p:txBody>
      </p:sp>
      <p:sp>
        <p:nvSpPr>
          <p:cNvPr id="54" name="row marker">
            <a:extLst>
              <a:ext uri="{C183D7F6-B498-43B3-948B-1728B52AA6E4}">
                <adec:decorative xmlns:adec="http://schemas.microsoft.com/office/drawing/2017/decorative" val="1"/>
              </a:ext>
            </a:extLst>
          </p:cNvPr>
          <p:cNvSpPr/>
          <p:nvPr/>
        </p:nvSpPr>
        <p:spPr>
          <a:xfrm>
            <a:off x="566928" y="4023360"/>
            <a:ext cx="32004" cy="658368"/>
          </a:xfrm>
          <a:prstGeom prst="rect">
            <a:avLst/>
          </a:prstGeom>
          <a:solidFill>
            <a:srgbClr val="3FE08A"/>
          </a:solidFill>
          <a:ln w="12700">
            <a:solidFill>
              <a:srgbClr val="333333"/>
            </a:solidFill>
            <a:prstDash val="solid"/>
          </a:ln>
        </p:spPr>
        <p:txBody>
          <a:bodyPr/>
          <a:lstStyle/>
          <a:p>
            <a:endParaRPr lang="en-SE" sz="2000"/>
          </a:p>
        </p:txBody>
      </p:sp>
      <p:sp>
        <p:nvSpPr>
          <p:cNvPr id="55" name="Text 53"/>
          <p:cNvSpPr/>
          <p:nvPr/>
        </p:nvSpPr>
        <p:spPr>
          <a:xfrm>
            <a:off x="777240" y="4023360"/>
            <a:ext cx="2651760" cy="694944"/>
          </a:xfrm>
          <a:prstGeom prst="rect">
            <a:avLst/>
          </a:prstGeom>
          <a:noFill/>
          <a:ln/>
        </p:spPr>
        <p:txBody>
          <a:bodyPr wrap="square" lIns="0" tIns="0" rIns="0" bIns="0" rtlCol="0" anchor="ctr"/>
          <a:lstStyle/>
          <a:p>
            <a:pPr marL="0" indent="0">
              <a:lnSpc>
                <a:spcPct val="100000"/>
              </a:lnSpc>
              <a:buNone/>
            </a:pPr>
            <a:r>
              <a:rPr lang="en-US" sz="1100" b="1" dirty="0">
                <a:solidFill>
                  <a:srgbClr val="3FE08A"/>
                </a:solidFill>
                <a:latin typeface="Consolas" pitchFamily="34" charset="0"/>
                <a:ea typeface="Consolas" pitchFamily="34" charset="-122"/>
                <a:cs typeface="Consolas" pitchFamily="34" charset="-120"/>
              </a:rPr>
              <a:t>INDEX_IDS</a:t>
            </a:r>
            <a:endParaRPr lang="en-US" sz="1100" dirty="0"/>
          </a:p>
        </p:txBody>
      </p:sp>
      <p:sp>
        <p:nvSpPr>
          <p:cNvPr id="56" name="Text 54"/>
          <p:cNvSpPr/>
          <p:nvPr/>
        </p:nvSpPr>
        <p:spPr>
          <a:xfrm>
            <a:off x="3520440" y="4023360"/>
            <a:ext cx="2606040" cy="694944"/>
          </a:xfrm>
          <a:prstGeom prst="rect">
            <a:avLst/>
          </a:prstGeom>
          <a:noFill/>
          <a:ln/>
        </p:spPr>
        <p:txBody>
          <a:bodyPr wrap="square" lIns="0" tIns="0" rIns="0" bIns="0" rtlCol="0" anchor="ctr"/>
          <a:lstStyle/>
          <a:p>
            <a:pPr marL="0" indent="0">
              <a:lnSpc>
                <a:spcPct val="105000"/>
              </a:lnSpc>
              <a:buNone/>
            </a:pPr>
            <a:r>
              <a:rPr lang="en-US" sz="1100" b="1" dirty="0">
                <a:solidFill>
                  <a:srgbClr val="E6EDF3"/>
                </a:solidFill>
                <a:latin typeface="Segoe UI" pitchFamily="34" charset="0"/>
                <a:ea typeface="Segoe UI" pitchFamily="34" charset="-122"/>
                <a:cs typeface="Segoe UI" pitchFamily="34" charset="-120"/>
              </a:rPr>
              <a:t>Which index or indexes to subscribe to.</a:t>
            </a:r>
            <a:endParaRPr lang="en-US" sz="1100" dirty="0"/>
          </a:p>
        </p:txBody>
      </p:sp>
      <p:sp>
        <p:nvSpPr>
          <p:cNvPr id="57" name="Text 55"/>
          <p:cNvSpPr/>
          <p:nvPr/>
        </p:nvSpPr>
        <p:spPr>
          <a:xfrm>
            <a:off x="6263640" y="4023360"/>
            <a:ext cx="4800600" cy="694944"/>
          </a:xfrm>
          <a:prstGeom prst="rect">
            <a:avLst/>
          </a:prstGeom>
          <a:noFill/>
          <a:ln/>
        </p:spPr>
        <p:txBody>
          <a:bodyPr wrap="square" lIns="0" tIns="0" rIns="0" bIns="0" rtlCol="0" anchor="ctr"/>
          <a:lstStyle/>
          <a:p>
            <a:pPr marL="0" indent="0">
              <a:lnSpc>
                <a:spcPct val="105000"/>
              </a:lnSpc>
              <a:buNone/>
            </a:pPr>
            <a:r>
              <a:rPr lang="en-US" sz="1050" dirty="0">
                <a:solidFill>
                  <a:srgbClr val="AAB7C2"/>
                </a:solidFill>
                <a:latin typeface="Segoe UI" pitchFamily="34" charset="0"/>
                <a:ea typeface="Segoe UI" pitchFamily="34" charset="-122"/>
                <a:cs typeface="Segoe UI" pitchFamily="34" charset="-120"/>
              </a:rPr>
              <a:t>The feed has no "list the indexes" request, so the terminal cannot discover them. If you leave this unset, the Index tab will correctly report that no index is configured.</a:t>
            </a:r>
            <a:endParaRPr lang="en-US" sz="1050" dirty="0"/>
          </a:p>
        </p:txBody>
      </p:sp>
      <p:sp>
        <p:nvSpPr>
          <p:cNvPr id="58" name="row background">
            <a:extLst>
              <a:ext uri="{C183D7F6-B498-43B3-948B-1728B52AA6E4}">
                <adec:decorative xmlns:adec="http://schemas.microsoft.com/office/drawing/2017/decorative" val="1"/>
              </a:ext>
            </a:extLst>
          </p:cNvPr>
          <p:cNvSpPr/>
          <p:nvPr/>
        </p:nvSpPr>
        <p:spPr>
          <a:xfrm>
            <a:off x="566928" y="4754880"/>
            <a:ext cx="10607040" cy="658368"/>
          </a:xfrm>
          <a:prstGeom prst="rect">
            <a:avLst/>
          </a:prstGeom>
          <a:solidFill>
            <a:srgbClr val="20272D"/>
          </a:solidFill>
          <a:ln w="12700">
            <a:solidFill>
              <a:srgbClr val="333333"/>
            </a:solidFill>
            <a:prstDash val="solid"/>
          </a:ln>
        </p:spPr>
        <p:txBody>
          <a:bodyPr/>
          <a:lstStyle/>
          <a:p>
            <a:endParaRPr lang="en-SE" sz="2000"/>
          </a:p>
        </p:txBody>
      </p:sp>
      <p:sp>
        <p:nvSpPr>
          <p:cNvPr id="59" name="row marker">
            <a:extLst>
              <a:ext uri="{C183D7F6-B498-43B3-948B-1728B52AA6E4}">
                <adec:decorative xmlns:adec="http://schemas.microsoft.com/office/drawing/2017/decorative" val="1"/>
              </a:ext>
            </a:extLst>
          </p:cNvPr>
          <p:cNvSpPr/>
          <p:nvPr/>
        </p:nvSpPr>
        <p:spPr>
          <a:xfrm>
            <a:off x="566928" y="4754880"/>
            <a:ext cx="32004" cy="658368"/>
          </a:xfrm>
          <a:prstGeom prst="rect">
            <a:avLst/>
          </a:prstGeom>
          <a:solidFill>
            <a:srgbClr val="3FE08A"/>
          </a:solidFill>
          <a:ln w="12700">
            <a:solidFill>
              <a:srgbClr val="333333"/>
            </a:solidFill>
            <a:prstDash val="solid"/>
          </a:ln>
        </p:spPr>
        <p:txBody>
          <a:bodyPr/>
          <a:lstStyle/>
          <a:p>
            <a:endParaRPr lang="en-SE" sz="2000"/>
          </a:p>
        </p:txBody>
      </p:sp>
      <p:sp>
        <p:nvSpPr>
          <p:cNvPr id="60" name="Text 58"/>
          <p:cNvSpPr/>
          <p:nvPr/>
        </p:nvSpPr>
        <p:spPr>
          <a:xfrm>
            <a:off x="777240" y="4754880"/>
            <a:ext cx="2651760" cy="694944"/>
          </a:xfrm>
          <a:prstGeom prst="rect">
            <a:avLst/>
          </a:prstGeom>
          <a:noFill/>
          <a:ln/>
        </p:spPr>
        <p:txBody>
          <a:bodyPr wrap="square" lIns="0" tIns="0" rIns="0" bIns="0" rtlCol="0" anchor="ctr"/>
          <a:lstStyle/>
          <a:p>
            <a:pPr marL="0" indent="0">
              <a:lnSpc>
                <a:spcPct val="100000"/>
              </a:lnSpc>
              <a:buNone/>
            </a:pPr>
            <a:r>
              <a:rPr lang="en-US" sz="1100" b="1" dirty="0">
                <a:solidFill>
                  <a:srgbClr val="3FE08A"/>
                </a:solidFill>
                <a:latin typeface="Consolas" pitchFamily="34" charset="0"/>
                <a:ea typeface="Consolas" pitchFamily="34" charset="-122"/>
                <a:cs typeface="Consolas" pitchFamily="34" charset="-120"/>
              </a:rPr>
              <a:t>TERMINAL_GUI_PORT</a:t>
            </a:r>
            <a:endParaRPr lang="en-US" sz="1100" dirty="0"/>
          </a:p>
        </p:txBody>
      </p:sp>
      <p:sp>
        <p:nvSpPr>
          <p:cNvPr id="61" name="Text 59"/>
          <p:cNvSpPr/>
          <p:nvPr/>
        </p:nvSpPr>
        <p:spPr>
          <a:xfrm>
            <a:off x="3520440" y="4754880"/>
            <a:ext cx="2606040" cy="694944"/>
          </a:xfrm>
          <a:prstGeom prst="rect">
            <a:avLst/>
          </a:prstGeom>
          <a:noFill/>
          <a:ln/>
        </p:spPr>
        <p:txBody>
          <a:bodyPr wrap="square" lIns="0" tIns="0" rIns="0" bIns="0" rtlCol="0" anchor="ctr"/>
          <a:lstStyle/>
          <a:p>
            <a:pPr marL="0" indent="0">
              <a:lnSpc>
                <a:spcPct val="105000"/>
              </a:lnSpc>
              <a:buNone/>
            </a:pPr>
            <a:r>
              <a:rPr lang="en-US" sz="1100" b="1" dirty="0">
                <a:solidFill>
                  <a:srgbClr val="E6EDF3"/>
                </a:solidFill>
                <a:latin typeface="Segoe UI" pitchFamily="34" charset="0"/>
                <a:ea typeface="Segoe UI" pitchFamily="34" charset="-122"/>
                <a:cs typeface="Segoe UI" pitchFamily="34" charset="-120"/>
              </a:rPr>
              <a:t>Which host port to publish.</a:t>
            </a:r>
            <a:endParaRPr lang="en-US" sz="1100" dirty="0"/>
          </a:p>
        </p:txBody>
      </p:sp>
      <p:sp>
        <p:nvSpPr>
          <p:cNvPr id="62" name="Text 60"/>
          <p:cNvSpPr/>
          <p:nvPr/>
        </p:nvSpPr>
        <p:spPr>
          <a:xfrm>
            <a:off x="6263640" y="4754880"/>
            <a:ext cx="4800600" cy="694944"/>
          </a:xfrm>
          <a:prstGeom prst="rect">
            <a:avLst/>
          </a:prstGeom>
          <a:noFill/>
          <a:ln/>
        </p:spPr>
        <p:txBody>
          <a:bodyPr wrap="square" lIns="0" tIns="0" rIns="0" bIns="0" rtlCol="0" anchor="ctr"/>
          <a:lstStyle/>
          <a:p>
            <a:pPr marL="0" indent="0">
              <a:lnSpc>
                <a:spcPct val="105000"/>
              </a:lnSpc>
              <a:buNone/>
            </a:pPr>
            <a:r>
              <a:rPr lang="en-US" sz="1050" dirty="0">
                <a:solidFill>
                  <a:srgbClr val="AAB7C2"/>
                </a:solidFill>
                <a:latin typeface="Segoe UI" pitchFamily="34" charset="0"/>
                <a:ea typeface="Segoe UI" pitchFamily="34" charset="-122"/>
                <a:cs typeface="Segoe UI" pitchFamily="34" charset="-120"/>
              </a:rPr>
              <a:t>Only needed when the default port is already taken on the machine.</a:t>
            </a:r>
            <a:endParaRPr lang="en-US" sz="1050" dirty="0"/>
          </a:p>
        </p:txBody>
      </p:sp>
      <p:sp>
        <p:nvSpPr>
          <p:cNvPr id="63" name="row background">
            <a:extLst>
              <a:ext uri="{C183D7F6-B498-43B3-948B-1728B52AA6E4}">
                <adec:decorative xmlns:adec="http://schemas.microsoft.com/office/drawing/2017/decorative" val="1"/>
              </a:ext>
            </a:extLst>
          </p:cNvPr>
          <p:cNvSpPr/>
          <p:nvPr/>
        </p:nvSpPr>
        <p:spPr>
          <a:xfrm>
            <a:off x="566928" y="5486400"/>
            <a:ext cx="10607040" cy="658368"/>
          </a:xfrm>
          <a:prstGeom prst="rect">
            <a:avLst/>
          </a:prstGeom>
          <a:solidFill>
            <a:srgbClr val="191E23"/>
          </a:solidFill>
          <a:ln w="12700">
            <a:solidFill>
              <a:srgbClr val="333333"/>
            </a:solidFill>
            <a:prstDash val="solid"/>
          </a:ln>
        </p:spPr>
        <p:txBody>
          <a:bodyPr/>
          <a:lstStyle/>
          <a:p>
            <a:endParaRPr lang="en-SE" sz="2000"/>
          </a:p>
        </p:txBody>
      </p:sp>
      <p:sp>
        <p:nvSpPr>
          <p:cNvPr id="64" name="row marker">
            <a:extLst>
              <a:ext uri="{C183D7F6-B498-43B3-948B-1728B52AA6E4}">
                <adec:decorative xmlns:adec="http://schemas.microsoft.com/office/drawing/2017/decorative" val="1"/>
              </a:ext>
            </a:extLst>
          </p:cNvPr>
          <p:cNvSpPr/>
          <p:nvPr/>
        </p:nvSpPr>
        <p:spPr>
          <a:xfrm>
            <a:off x="566928" y="5486400"/>
            <a:ext cx="32004" cy="658368"/>
          </a:xfrm>
          <a:prstGeom prst="rect">
            <a:avLst/>
          </a:prstGeom>
          <a:solidFill>
            <a:srgbClr val="3FE08A"/>
          </a:solidFill>
          <a:ln w="12700">
            <a:solidFill>
              <a:srgbClr val="333333"/>
            </a:solidFill>
            <a:prstDash val="solid"/>
          </a:ln>
        </p:spPr>
        <p:txBody>
          <a:bodyPr/>
          <a:lstStyle/>
          <a:p>
            <a:endParaRPr lang="en-SE" sz="2000"/>
          </a:p>
        </p:txBody>
      </p:sp>
      <p:sp>
        <p:nvSpPr>
          <p:cNvPr id="65" name="Text 63"/>
          <p:cNvSpPr/>
          <p:nvPr/>
        </p:nvSpPr>
        <p:spPr>
          <a:xfrm>
            <a:off x="777240" y="5486400"/>
            <a:ext cx="2651760" cy="694944"/>
          </a:xfrm>
          <a:prstGeom prst="rect">
            <a:avLst/>
          </a:prstGeom>
          <a:noFill/>
          <a:ln/>
        </p:spPr>
        <p:txBody>
          <a:bodyPr wrap="square" lIns="0" tIns="0" rIns="0" bIns="0" rtlCol="0" anchor="ctr"/>
          <a:lstStyle/>
          <a:p>
            <a:pPr marL="0" indent="0">
              <a:lnSpc>
                <a:spcPct val="100000"/>
              </a:lnSpc>
              <a:buNone/>
            </a:pPr>
            <a:r>
              <a:rPr lang="en-US" sz="1100" b="1" dirty="0">
                <a:solidFill>
                  <a:srgbClr val="3FE08A"/>
                </a:solidFill>
                <a:latin typeface="Consolas" pitchFamily="34" charset="0"/>
                <a:ea typeface="Consolas" pitchFamily="34" charset="-122"/>
                <a:cs typeface="Consolas" pitchFamily="34" charset="-120"/>
              </a:rPr>
              <a:t>LOG_SRV_ENABLED / _HOST</a:t>
            </a:r>
            <a:endParaRPr lang="en-US" sz="1100" dirty="0"/>
          </a:p>
        </p:txBody>
      </p:sp>
      <p:sp>
        <p:nvSpPr>
          <p:cNvPr id="66" name="Text 64"/>
          <p:cNvSpPr/>
          <p:nvPr/>
        </p:nvSpPr>
        <p:spPr>
          <a:xfrm>
            <a:off x="3520440" y="5486400"/>
            <a:ext cx="2606040" cy="694944"/>
          </a:xfrm>
          <a:prstGeom prst="rect">
            <a:avLst/>
          </a:prstGeom>
          <a:noFill/>
          <a:ln/>
        </p:spPr>
        <p:txBody>
          <a:bodyPr wrap="square" lIns="0" tIns="0" rIns="0" bIns="0" rtlCol="0" anchor="ctr"/>
          <a:lstStyle/>
          <a:p>
            <a:pPr marL="0" indent="0">
              <a:lnSpc>
                <a:spcPct val="105000"/>
              </a:lnSpc>
              <a:buNone/>
            </a:pPr>
            <a:r>
              <a:rPr lang="en-US" sz="1100" b="1" dirty="0">
                <a:solidFill>
                  <a:srgbClr val="E6EDF3"/>
                </a:solidFill>
                <a:latin typeface="Segoe UI" pitchFamily="34" charset="0"/>
                <a:ea typeface="Segoe UI" pitchFamily="34" charset="-122"/>
                <a:cs typeface="Segoe UI" pitchFamily="34" charset="-120"/>
              </a:rPr>
              <a:t>Where operational logs go.</a:t>
            </a:r>
            <a:endParaRPr lang="en-US" sz="1100" dirty="0"/>
          </a:p>
        </p:txBody>
      </p:sp>
      <p:sp>
        <p:nvSpPr>
          <p:cNvPr id="67" name="Text 65"/>
          <p:cNvSpPr/>
          <p:nvPr/>
        </p:nvSpPr>
        <p:spPr>
          <a:xfrm>
            <a:off x="6263640" y="5486400"/>
            <a:ext cx="4800600" cy="694944"/>
          </a:xfrm>
          <a:prstGeom prst="rect">
            <a:avLst/>
          </a:prstGeom>
          <a:noFill/>
          <a:ln/>
        </p:spPr>
        <p:txBody>
          <a:bodyPr wrap="square" lIns="0" tIns="0" rIns="0" bIns="0" rtlCol="0" anchor="ctr"/>
          <a:lstStyle/>
          <a:p>
            <a:pPr marL="0" indent="0">
              <a:lnSpc>
                <a:spcPct val="105000"/>
              </a:lnSpc>
              <a:buNone/>
            </a:pPr>
            <a:r>
              <a:rPr lang="en-US" sz="1050" dirty="0">
                <a:solidFill>
                  <a:srgbClr val="AAB7C2"/>
                </a:solidFill>
                <a:latin typeface="Segoe UI" pitchFamily="34" charset="0"/>
                <a:ea typeface="Segoe UI" pitchFamily="34" charset="-122"/>
                <a:cs typeface="Segoe UI" pitchFamily="34" charset="-120"/>
              </a:rPr>
              <a:t>Turn logging off entirely, or point it at your log server. If it is on but unreachable, the terminal falls back to a local log file after a grace period.</a:t>
            </a:r>
            <a:endParaRPr lang="en-US" sz="1050" dirty="0"/>
          </a:p>
        </p:txBody>
      </p:sp>
      <p:sp>
        <p:nvSpPr>
          <p:cNvPr id="68" name="Text 66"/>
          <p:cNvSpPr/>
          <p:nvPr/>
        </p:nvSpPr>
        <p:spPr>
          <a:xfrm>
            <a:off x="777240" y="1481328"/>
            <a:ext cx="2743200" cy="274320"/>
          </a:xfrm>
          <a:prstGeom prst="rect">
            <a:avLst/>
          </a:prstGeom>
          <a:noFill/>
          <a:ln/>
        </p:spPr>
        <p:txBody>
          <a:bodyPr wrap="square" lIns="0" tIns="0" rIns="0" bIns="0" rtlCol="0" anchor="ctr"/>
          <a:lstStyle/>
          <a:p>
            <a:pPr marL="0" indent="0">
              <a:buNone/>
            </a:pPr>
            <a:r>
              <a:rPr lang="en-US" sz="1600" b="1" kern="0" spc="120" dirty="0">
                <a:solidFill>
                  <a:srgbClr val="3FE08A"/>
                </a:solidFill>
                <a:latin typeface="Consolas" pitchFamily="34" charset="0"/>
                <a:ea typeface="Consolas" pitchFamily="34" charset="-122"/>
                <a:cs typeface="Consolas" pitchFamily="34" charset="-120"/>
              </a:rPr>
              <a:t>SETTING</a:t>
            </a:r>
            <a:endParaRPr lang="en-US" sz="1600" dirty="0"/>
          </a:p>
        </p:txBody>
      </p:sp>
      <p:sp>
        <p:nvSpPr>
          <p:cNvPr id="69" name="Text 67"/>
          <p:cNvSpPr/>
          <p:nvPr/>
        </p:nvSpPr>
        <p:spPr>
          <a:xfrm>
            <a:off x="3520440" y="1481328"/>
            <a:ext cx="2743200" cy="274320"/>
          </a:xfrm>
          <a:prstGeom prst="rect">
            <a:avLst/>
          </a:prstGeom>
          <a:noFill/>
          <a:ln/>
        </p:spPr>
        <p:txBody>
          <a:bodyPr wrap="square" lIns="0" tIns="0" rIns="0" bIns="0" rtlCol="0" anchor="ctr"/>
          <a:lstStyle/>
          <a:p>
            <a:pPr marL="0" indent="0">
              <a:buNone/>
            </a:pPr>
            <a:r>
              <a:rPr lang="en-US" sz="1600" b="1" kern="0" spc="120" dirty="0">
                <a:solidFill>
                  <a:srgbClr val="3FE08A"/>
                </a:solidFill>
                <a:latin typeface="Consolas" pitchFamily="34" charset="0"/>
                <a:ea typeface="Consolas" pitchFamily="34" charset="-122"/>
                <a:cs typeface="Consolas" pitchFamily="34" charset="-120"/>
              </a:rPr>
              <a:t>WHAT IT IS</a:t>
            </a:r>
            <a:endParaRPr lang="en-US" sz="1600" dirty="0"/>
          </a:p>
        </p:txBody>
      </p:sp>
      <p:sp>
        <p:nvSpPr>
          <p:cNvPr id="70" name="Text 68"/>
          <p:cNvSpPr/>
          <p:nvPr/>
        </p:nvSpPr>
        <p:spPr>
          <a:xfrm>
            <a:off x="6263640" y="1481328"/>
            <a:ext cx="2743200" cy="274320"/>
          </a:xfrm>
          <a:prstGeom prst="rect">
            <a:avLst/>
          </a:prstGeom>
          <a:noFill/>
          <a:ln/>
        </p:spPr>
        <p:txBody>
          <a:bodyPr wrap="square" lIns="0" tIns="0" rIns="0" bIns="0" rtlCol="0" anchor="ctr"/>
          <a:lstStyle/>
          <a:p>
            <a:pPr marL="0" indent="0">
              <a:buNone/>
            </a:pPr>
            <a:r>
              <a:rPr lang="en-US" sz="1600" b="1" kern="0" spc="120" dirty="0">
                <a:solidFill>
                  <a:srgbClr val="3FE08A"/>
                </a:solidFill>
                <a:latin typeface="Consolas" pitchFamily="34" charset="0"/>
                <a:ea typeface="Consolas" pitchFamily="34" charset="-122"/>
                <a:cs typeface="Consolas" pitchFamily="34" charset="-120"/>
              </a:rPr>
              <a:t>WHY IT MATTERS</a:t>
            </a:r>
            <a:endParaRPr lang="en-US" sz="1600" dirty="0"/>
          </a:p>
        </p:txBody>
      </p:sp>
      <p:sp>
        <p:nvSpPr>
          <p:cNvPr id="71" name="Text 69"/>
          <p:cNvSpPr/>
          <p:nvPr/>
        </p:nvSpPr>
        <p:spPr>
          <a:xfrm>
            <a:off x="566928" y="6108192"/>
            <a:ext cx="10607040" cy="274320"/>
          </a:xfrm>
          <a:prstGeom prst="rect">
            <a:avLst/>
          </a:prstGeom>
          <a:noFill/>
          <a:ln/>
        </p:spPr>
        <p:txBody>
          <a:bodyPr wrap="square" lIns="0" tIns="0" rIns="0" bIns="0" rtlCol="0" anchor="ctr"/>
          <a:lstStyle/>
          <a:p>
            <a:pPr marL="0" indent="0">
              <a:buNone/>
            </a:pPr>
            <a:r>
              <a:rPr lang="en-US" sz="1200" i="1" dirty="0">
                <a:solidFill>
                  <a:srgbClr val="7C8B97"/>
                </a:solidFill>
                <a:latin typeface="Segoe UI" pitchFamily="34" charset="0"/>
                <a:ea typeface="Segoe UI" pitchFamily="34" charset="-122"/>
                <a:cs typeface="Segoe UI" pitchFamily="34" charset="-120"/>
              </a:rPr>
              <a:t>There is no database and no persistent state to manage. The only thing written to disk is a fallback log file.</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551220"/>
            <a:ext cx="12191695" cy="0"/>
          </a:xfrm>
          <a:prstGeom prst="line">
            <a:avLst/>
          </a:prstGeom>
          <a:noFill/>
          <a:ln w="6350">
            <a:solidFill>
              <a:srgbClr val="222A31"/>
            </a:solidFill>
            <a:prstDash val="solid"/>
          </a:ln>
        </p:spPr>
        <p:txBody>
          <a:bodyPr/>
          <a:lstStyle/>
          <a:p>
            <a:endParaRPr lang="en-SE" sz="2000"/>
          </a:p>
        </p:txBody>
      </p:sp>
      <p:sp>
        <p:nvSpPr>
          <p:cNvPr id="26" name="grid line">
            <a:extLst>
              <a:ext uri="{C183D7F6-B498-43B3-948B-1728B52AA6E4}">
                <adec:decorative xmlns:adec="http://schemas.microsoft.com/office/drawing/2017/decorative" val="1"/>
              </a:ext>
            </a:extLst>
          </p:cNvPr>
          <p:cNvSpPr/>
          <p:nvPr/>
        </p:nvSpPr>
        <p:spPr>
          <a:xfrm>
            <a:off x="0" y="5237020"/>
            <a:ext cx="12191695" cy="0"/>
          </a:xfrm>
          <a:prstGeom prst="line">
            <a:avLst/>
          </a:prstGeom>
          <a:noFill/>
          <a:ln w="6350">
            <a:solidFill>
              <a:srgbClr val="222A31"/>
            </a:solidFill>
            <a:prstDash val="solid"/>
          </a:ln>
        </p:spPr>
        <p:txBody>
          <a:bodyPr/>
          <a:lstStyle/>
          <a:p>
            <a:endParaRPr lang="en-SE" sz="2000"/>
          </a:p>
        </p:txBody>
      </p:sp>
      <p:sp>
        <p:nvSpPr>
          <p:cNvPr id="27" name="grid line">
            <a:extLst>
              <a:ext uri="{C183D7F6-B498-43B3-948B-1728B52AA6E4}">
                <adec:decorative xmlns:adec="http://schemas.microsoft.com/office/drawing/2017/decorative" val="1"/>
              </a:ext>
            </a:extLst>
          </p:cNvPr>
          <p:cNvSpPr/>
          <p:nvPr/>
        </p:nvSpPr>
        <p:spPr>
          <a:xfrm>
            <a:off x="0" y="5922820"/>
            <a:ext cx="12191695" cy="0"/>
          </a:xfrm>
          <a:prstGeom prst="line">
            <a:avLst/>
          </a:prstGeom>
          <a:noFill/>
          <a:ln w="6350">
            <a:solidFill>
              <a:srgbClr val="222A31"/>
            </a:solidFill>
            <a:prstDash val="solid"/>
          </a:ln>
        </p:spPr>
        <p:txBody>
          <a:bodyPr/>
          <a:lstStyle/>
          <a:p>
            <a:endParaRPr lang="en-SE" sz="2000"/>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Running it on a separate display machine</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06 · STARTING UP</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9236" y="6455664"/>
            <a:ext cx="12191695" cy="0"/>
          </a:xfrm>
          <a:prstGeom prst="line">
            <a:avLst/>
          </a:prstGeom>
          <a:noFill/>
          <a:ln w="9525">
            <a:solidFill>
              <a:srgbClr val="313B44"/>
            </a:solidFill>
            <a:prstDash val="solid"/>
          </a:ln>
        </p:spPr>
        <p:txBody>
          <a:bodyPr/>
          <a:lstStyle/>
          <a:p>
            <a:endParaRPr lang="en-SE" sz="2000"/>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41</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A very common setup: the exchange runs on one server, and the wallboard runs on another.</a:t>
            </a:r>
            <a:endParaRPr lang="en-US" sz="1400" dirty="0"/>
          </a:p>
        </p:txBody>
      </p:sp>
      <p:sp>
        <p:nvSpPr>
          <p:cNvPr id="38" name="exchange server boundary">
            <a:extLst>
              <a:ext uri="{C183D7F6-B498-43B3-948B-1728B52AA6E4}">
                <adec:decorative xmlns:adec="http://schemas.microsoft.com/office/drawing/2017/decorative" val="1"/>
              </a:ext>
            </a:extLst>
          </p:cNvPr>
          <p:cNvSpPr/>
          <p:nvPr/>
        </p:nvSpPr>
        <p:spPr>
          <a:xfrm>
            <a:off x="566928" y="1587271"/>
            <a:ext cx="4206240" cy="3017520"/>
          </a:xfrm>
          <a:prstGeom prst="rect">
            <a:avLst/>
          </a:prstGeom>
          <a:solidFill>
            <a:srgbClr val="191E23"/>
          </a:solidFill>
          <a:ln w="15875">
            <a:solidFill>
              <a:srgbClr val="313B44"/>
            </a:solidFill>
            <a:prstDash val="solid"/>
          </a:ln>
        </p:spPr>
        <p:txBody>
          <a:bodyPr/>
          <a:lstStyle/>
          <a:p>
            <a:endParaRPr lang="en-SE"/>
          </a:p>
        </p:txBody>
      </p:sp>
      <p:sp>
        <p:nvSpPr>
          <p:cNvPr id="39" name="Text 37"/>
          <p:cNvSpPr/>
          <p:nvPr/>
        </p:nvSpPr>
        <p:spPr>
          <a:xfrm>
            <a:off x="566928" y="1678711"/>
            <a:ext cx="4206240" cy="292608"/>
          </a:xfrm>
          <a:prstGeom prst="rect">
            <a:avLst/>
          </a:prstGeom>
          <a:noFill/>
          <a:ln/>
        </p:spPr>
        <p:txBody>
          <a:bodyPr wrap="square" lIns="0" tIns="0" rIns="0" bIns="0" rtlCol="0" anchor="ctr"/>
          <a:lstStyle/>
          <a:p>
            <a:pPr marL="0" indent="0" algn="ctr">
              <a:buNone/>
            </a:pPr>
            <a:r>
              <a:rPr lang="en-US" sz="1200" b="1" kern="0" spc="150" dirty="0">
                <a:solidFill>
                  <a:srgbClr val="7C8B97"/>
                </a:solidFill>
                <a:latin typeface="Consolas" pitchFamily="34" charset="0"/>
                <a:ea typeface="Consolas" pitchFamily="34" charset="-122"/>
                <a:cs typeface="Consolas" pitchFamily="34" charset="-120"/>
              </a:rPr>
              <a:t>EXCHANGE SERVER</a:t>
            </a:r>
            <a:endParaRPr lang="en-US" sz="1200" dirty="0"/>
          </a:p>
        </p:txBody>
      </p:sp>
      <p:sp>
        <p:nvSpPr>
          <p:cNvPr id="40" name="service box">
            <a:extLst>
              <a:ext uri="{C183D7F6-B498-43B3-948B-1728B52AA6E4}">
                <adec:decorative xmlns:adec="http://schemas.microsoft.com/office/drawing/2017/decorative" val="1"/>
              </a:ext>
            </a:extLst>
          </p:cNvPr>
          <p:cNvSpPr/>
          <p:nvPr/>
        </p:nvSpPr>
        <p:spPr>
          <a:xfrm>
            <a:off x="868680" y="2108479"/>
            <a:ext cx="3611880" cy="420624"/>
          </a:xfrm>
          <a:prstGeom prst="rect">
            <a:avLst/>
          </a:prstGeom>
          <a:solidFill>
            <a:srgbClr val="20272D"/>
          </a:solidFill>
          <a:ln w="12700">
            <a:solidFill>
              <a:srgbClr val="313B44"/>
            </a:solidFill>
            <a:prstDash val="solid"/>
          </a:ln>
        </p:spPr>
        <p:txBody>
          <a:bodyPr/>
          <a:lstStyle/>
          <a:p>
            <a:endParaRPr lang="en-SE" sz="2400"/>
          </a:p>
        </p:txBody>
      </p:sp>
      <p:sp>
        <p:nvSpPr>
          <p:cNvPr id="41" name="Text 39"/>
          <p:cNvSpPr/>
          <p:nvPr/>
        </p:nvSpPr>
        <p:spPr>
          <a:xfrm>
            <a:off x="1005840" y="2108479"/>
            <a:ext cx="3383280" cy="420624"/>
          </a:xfrm>
          <a:prstGeom prst="rect">
            <a:avLst/>
          </a:prstGeom>
          <a:noFill/>
          <a:ln/>
        </p:spPr>
        <p:txBody>
          <a:bodyPr wrap="square" lIns="0" tIns="0" rIns="0" bIns="0" rtlCol="0" anchor="ctr"/>
          <a:lstStyle/>
          <a:p>
            <a:pPr marL="0" indent="0">
              <a:buNone/>
            </a:pPr>
            <a:r>
              <a:rPr lang="en-US" sz="1100" dirty="0">
                <a:solidFill>
                  <a:srgbClr val="E6EDF3"/>
                </a:solidFill>
                <a:latin typeface="Consolas" pitchFamily="34" charset="0"/>
                <a:ea typeface="Consolas" pitchFamily="34" charset="-122"/>
                <a:cs typeface="Consolas" pitchFamily="34" charset="-120"/>
              </a:rPr>
              <a:t>Matching engine</a:t>
            </a:r>
            <a:endParaRPr lang="en-US" sz="1100" dirty="0"/>
          </a:p>
        </p:txBody>
      </p:sp>
      <p:sp>
        <p:nvSpPr>
          <p:cNvPr id="42" name="service box">
            <a:extLst>
              <a:ext uri="{C183D7F6-B498-43B3-948B-1728B52AA6E4}">
                <adec:decorative xmlns:adec="http://schemas.microsoft.com/office/drawing/2017/decorative" val="1"/>
              </a:ext>
            </a:extLst>
          </p:cNvPr>
          <p:cNvSpPr/>
          <p:nvPr/>
        </p:nvSpPr>
        <p:spPr>
          <a:xfrm>
            <a:off x="868680" y="2657119"/>
            <a:ext cx="3611880" cy="420624"/>
          </a:xfrm>
          <a:prstGeom prst="rect">
            <a:avLst/>
          </a:prstGeom>
          <a:solidFill>
            <a:srgbClr val="20272D"/>
          </a:solidFill>
          <a:ln w="12700">
            <a:solidFill>
              <a:srgbClr val="3FE08A"/>
            </a:solidFill>
            <a:prstDash val="solid"/>
          </a:ln>
        </p:spPr>
        <p:txBody>
          <a:bodyPr/>
          <a:lstStyle/>
          <a:p>
            <a:endParaRPr lang="en-SE" sz="2400"/>
          </a:p>
        </p:txBody>
      </p:sp>
      <p:sp>
        <p:nvSpPr>
          <p:cNvPr id="43" name="Text 41"/>
          <p:cNvSpPr/>
          <p:nvPr/>
        </p:nvSpPr>
        <p:spPr>
          <a:xfrm>
            <a:off x="1005840" y="2657119"/>
            <a:ext cx="3383280" cy="420624"/>
          </a:xfrm>
          <a:prstGeom prst="rect">
            <a:avLst/>
          </a:prstGeom>
          <a:noFill/>
          <a:ln/>
        </p:spPr>
        <p:txBody>
          <a:bodyPr wrap="square" lIns="0" tIns="0" rIns="0" bIns="0" rtlCol="0" anchor="ctr"/>
          <a:lstStyle/>
          <a:p>
            <a:pPr marL="0" indent="0">
              <a:buNone/>
            </a:pPr>
            <a:r>
              <a:rPr lang="en-US" sz="1100" dirty="0">
                <a:solidFill>
                  <a:srgbClr val="E6EDF3"/>
                </a:solidFill>
                <a:latin typeface="Consolas" pitchFamily="34" charset="0"/>
                <a:ea typeface="Consolas" pitchFamily="34" charset="-122"/>
                <a:cs typeface="Consolas" pitchFamily="34" charset="-120"/>
              </a:rPr>
              <a:t>Market-data gateway</a:t>
            </a:r>
            <a:endParaRPr lang="en-US" sz="1100" dirty="0"/>
          </a:p>
        </p:txBody>
      </p:sp>
      <p:sp>
        <p:nvSpPr>
          <p:cNvPr id="44" name="service box">
            <a:extLst>
              <a:ext uri="{C183D7F6-B498-43B3-948B-1728B52AA6E4}">
                <adec:decorative xmlns:adec="http://schemas.microsoft.com/office/drawing/2017/decorative" val="1"/>
              </a:ext>
            </a:extLst>
          </p:cNvPr>
          <p:cNvSpPr/>
          <p:nvPr/>
        </p:nvSpPr>
        <p:spPr>
          <a:xfrm>
            <a:off x="868680" y="3205759"/>
            <a:ext cx="3611880" cy="420624"/>
          </a:xfrm>
          <a:prstGeom prst="rect">
            <a:avLst/>
          </a:prstGeom>
          <a:solidFill>
            <a:srgbClr val="20272D"/>
          </a:solidFill>
          <a:ln w="12700">
            <a:solidFill>
              <a:srgbClr val="F5A524"/>
            </a:solidFill>
            <a:prstDash val="solid"/>
          </a:ln>
        </p:spPr>
        <p:txBody>
          <a:bodyPr/>
          <a:lstStyle/>
          <a:p>
            <a:endParaRPr lang="en-SE" sz="2400"/>
          </a:p>
        </p:txBody>
      </p:sp>
      <p:sp>
        <p:nvSpPr>
          <p:cNvPr id="45" name="Text 43"/>
          <p:cNvSpPr/>
          <p:nvPr/>
        </p:nvSpPr>
        <p:spPr>
          <a:xfrm>
            <a:off x="1005840" y="3205759"/>
            <a:ext cx="3383280" cy="420624"/>
          </a:xfrm>
          <a:prstGeom prst="rect">
            <a:avLst/>
          </a:prstGeom>
          <a:noFill/>
          <a:ln/>
        </p:spPr>
        <p:txBody>
          <a:bodyPr wrap="square" lIns="0" tIns="0" rIns="0" bIns="0" rtlCol="0" anchor="ctr"/>
          <a:lstStyle/>
          <a:p>
            <a:pPr marL="0" indent="0">
              <a:buNone/>
            </a:pPr>
            <a:r>
              <a:rPr lang="en-US" sz="1100" dirty="0">
                <a:solidFill>
                  <a:srgbClr val="E6EDF3"/>
                </a:solidFill>
                <a:latin typeface="Consolas" pitchFamily="34" charset="0"/>
                <a:ea typeface="Consolas" pitchFamily="34" charset="-122"/>
                <a:cs typeface="Consolas" pitchFamily="34" charset="-120"/>
              </a:rPr>
              <a:t>History / API gateway</a:t>
            </a:r>
            <a:endParaRPr lang="en-US" sz="1100" dirty="0"/>
          </a:p>
        </p:txBody>
      </p:sp>
      <p:sp>
        <p:nvSpPr>
          <p:cNvPr id="46" name="service box">
            <a:extLst>
              <a:ext uri="{C183D7F6-B498-43B3-948B-1728B52AA6E4}">
                <adec:decorative xmlns:adec="http://schemas.microsoft.com/office/drawing/2017/decorative" val="1"/>
              </a:ext>
            </a:extLst>
          </p:cNvPr>
          <p:cNvSpPr/>
          <p:nvPr/>
        </p:nvSpPr>
        <p:spPr>
          <a:xfrm>
            <a:off x="868680" y="3754399"/>
            <a:ext cx="3611880" cy="420624"/>
          </a:xfrm>
          <a:prstGeom prst="rect">
            <a:avLst/>
          </a:prstGeom>
          <a:solidFill>
            <a:srgbClr val="20272D"/>
          </a:solidFill>
          <a:ln w="12700">
            <a:solidFill>
              <a:srgbClr val="313B44"/>
            </a:solidFill>
            <a:prstDash val="solid"/>
          </a:ln>
        </p:spPr>
        <p:txBody>
          <a:bodyPr/>
          <a:lstStyle/>
          <a:p>
            <a:endParaRPr lang="en-SE" sz="2400"/>
          </a:p>
        </p:txBody>
      </p:sp>
      <p:sp>
        <p:nvSpPr>
          <p:cNvPr id="47" name="Text 45"/>
          <p:cNvSpPr/>
          <p:nvPr/>
        </p:nvSpPr>
        <p:spPr>
          <a:xfrm>
            <a:off x="1005840" y="3754399"/>
            <a:ext cx="3383280" cy="420624"/>
          </a:xfrm>
          <a:prstGeom prst="rect">
            <a:avLst/>
          </a:prstGeom>
          <a:noFill/>
          <a:ln/>
        </p:spPr>
        <p:txBody>
          <a:bodyPr wrap="square" lIns="0" tIns="0" rIns="0" bIns="0" rtlCol="0" anchor="ctr"/>
          <a:lstStyle/>
          <a:p>
            <a:pPr marL="0" indent="0">
              <a:buNone/>
            </a:pPr>
            <a:r>
              <a:rPr lang="en-US" sz="1100" dirty="0">
                <a:solidFill>
                  <a:srgbClr val="E6EDF3"/>
                </a:solidFill>
                <a:latin typeface="Consolas" pitchFamily="34" charset="0"/>
                <a:ea typeface="Consolas" pitchFamily="34" charset="-122"/>
                <a:cs typeface="Consolas" pitchFamily="34" charset="-120"/>
              </a:rPr>
              <a:t>Log server (optional)</a:t>
            </a:r>
            <a:endParaRPr lang="en-US" sz="1100" dirty="0"/>
          </a:p>
        </p:txBody>
      </p:sp>
      <p:sp>
        <p:nvSpPr>
          <p:cNvPr id="48" name="display server boundary">
            <a:extLst>
              <a:ext uri="{C183D7F6-B498-43B3-948B-1728B52AA6E4}">
                <adec:decorative xmlns:adec="http://schemas.microsoft.com/office/drawing/2017/decorative" val="1"/>
              </a:ext>
            </a:extLst>
          </p:cNvPr>
          <p:cNvSpPr/>
          <p:nvPr/>
        </p:nvSpPr>
        <p:spPr>
          <a:xfrm>
            <a:off x="6967728" y="1587271"/>
            <a:ext cx="4206240" cy="3017520"/>
          </a:xfrm>
          <a:prstGeom prst="rect">
            <a:avLst/>
          </a:prstGeom>
          <a:solidFill>
            <a:srgbClr val="191E23"/>
          </a:solidFill>
          <a:ln w="15875">
            <a:solidFill>
              <a:srgbClr val="3FE08A"/>
            </a:solidFill>
            <a:prstDash val="solid"/>
          </a:ln>
        </p:spPr>
        <p:txBody>
          <a:bodyPr/>
          <a:lstStyle/>
          <a:p>
            <a:endParaRPr lang="en-SE" sz="3200"/>
          </a:p>
        </p:txBody>
      </p:sp>
      <p:sp>
        <p:nvSpPr>
          <p:cNvPr id="49" name="Text 47"/>
          <p:cNvSpPr/>
          <p:nvPr/>
        </p:nvSpPr>
        <p:spPr>
          <a:xfrm>
            <a:off x="6967728" y="1678711"/>
            <a:ext cx="4206240" cy="292608"/>
          </a:xfrm>
          <a:prstGeom prst="rect">
            <a:avLst/>
          </a:prstGeom>
          <a:noFill/>
          <a:ln/>
        </p:spPr>
        <p:txBody>
          <a:bodyPr wrap="square" lIns="0" tIns="0" rIns="0" bIns="0" rtlCol="0" anchor="ctr"/>
          <a:lstStyle/>
          <a:p>
            <a:pPr marL="0" indent="0" algn="ctr">
              <a:buNone/>
            </a:pPr>
            <a:r>
              <a:rPr lang="en-US" sz="1600" b="1" kern="0" spc="150" dirty="0">
                <a:solidFill>
                  <a:srgbClr val="3FE08A"/>
                </a:solidFill>
                <a:latin typeface="Consolas" pitchFamily="34" charset="0"/>
                <a:ea typeface="Consolas" pitchFamily="34" charset="-122"/>
                <a:cs typeface="Consolas" pitchFamily="34" charset="-120"/>
              </a:rPr>
              <a:t>DISPLAY SERVER</a:t>
            </a:r>
            <a:endParaRPr lang="en-US" sz="1600" dirty="0"/>
          </a:p>
        </p:txBody>
      </p:sp>
      <p:sp>
        <p:nvSpPr>
          <p:cNvPr id="50" name="terminal container box">
            <a:extLst>
              <a:ext uri="{C183D7F6-B498-43B3-948B-1728B52AA6E4}">
                <adec:decorative xmlns:adec="http://schemas.microsoft.com/office/drawing/2017/decorative" val="1"/>
              </a:ext>
            </a:extLst>
          </p:cNvPr>
          <p:cNvSpPr/>
          <p:nvPr/>
        </p:nvSpPr>
        <p:spPr>
          <a:xfrm>
            <a:off x="7269480" y="2227351"/>
            <a:ext cx="3611880" cy="822960"/>
          </a:xfrm>
          <a:prstGeom prst="rect">
            <a:avLst/>
          </a:prstGeom>
          <a:solidFill>
            <a:srgbClr val="122C22"/>
          </a:solidFill>
          <a:ln w="15875">
            <a:solidFill>
              <a:srgbClr val="3FE08A"/>
            </a:solidFill>
            <a:prstDash val="solid"/>
          </a:ln>
        </p:spPr>
        <p:txBody>
          <a:bodyPr/>
          <a:lstStyle/>
          <a:p>
            <a:endParaRPr lang="en-SE" sz="3200"/>
          </a:p>
        </p:txBody>
      </p:sp>
      <p:sp>
        <p:nvSpPr>
          <p:cNvPr id="51" name="Text 49"/>
          <p:cNvSpPr/>
          <p:nvPr/>
        </p:nvSpPr>
        <p:spPr>
          <a:xfrm>
            <a:off x="7269480" y="2227351"/>
            <a:ext cx="3611880" cy="822960"/>
          </a:xfrm>
          <a:prstGeom prst="rect">
            <a:avLst/>
          </a:prstGeom>
          <a:noFill/>
          <a:ln/>
        </p:spPr>
        <p:txBody>
          <a:bodyPr wrap="square" lIns="0" tIns="0" rIns="0" bIns="0" rtlCol="0" anchor="ctr"/>
          <a:lstStyle/>
          <a:p>
            <a:pPr marL="0" indent="0" algn="ctr">
              <a:lnSpc>
                <a:spcPct val="110000"/>
              </a:lnSpc>
              <a:buNone/>
            </a:pPr>
            <a:r>
              <a:rPr lang="en-US" sz="1400" dirty="0">
                <a:solidFill>
                  <a:srgbClr val="3FE08A"/>
                </a:solidFill>
                <a:latin typeface="Consolas" pitchFamily="34" charset="0"/>
                <a:ea typeface="Consolas" pitchFamily="34" charset="-122"/>
                <a:cs typeface="Consolas" pitchFamily="34" charset="-120"/>
              </a:rPr>
              <a:t>TapeDeck container</a:t>
            </a:r>
            <a:endParaRPr lang="en-US" sz="1400" dirty="0"/>
          </a:p>
          <a:p>
            <a:pPr marL="0" indent="0" algn="ctr">
              <a:lnSpc>
                <a:spcPct val="110000"/>
              </a:lnSpc>
              <a:buNone/>
            </a:pPr>
            <a:r>
              <a:rPr lang="en-US" sz="1400" dirty="0">
                <a:solidFill>
                  <a:srgbClr val="3FE08A"/>
                </a:solidFill>
                <a:latin typeface="Consolas" pitchFamily="34" charset="0"/>
                <a:ea typeface="Consolas" pitchFamily="34" charset="-122"/>
                <a:cs typeface="Consolas" pitchFamily="34" charset="-120"/>
              </a:rPr>
              <a:t>serves the web UI</a:t>
            </a:r>
            <a:endParaRPr lang="en-US" sz="1400" dirty="0"/>
          </a:p>
        </p:txBody>
      </p:sp>
      <p:sp>
        <p:nvSpPr>
          <p:cNvPr id="52" name="viewers box">
            <a:extLst>
              <a:ext uri="{C183D7F6-B498-43B3-948B-1728B52AA6E4}">
                <adec:decorative xmlns:adec="http://schemas.microsoft.com/office/drawing/2017/decorative" val="1"/>
              </a:ext>
            </a:extLst>
          </p:cNvPr>
          <p:cNvSpPr/>
          <p:nvPr/>
        </p:nvSpPr>
        <p:spPr>
          <a:xfrm>
            <a:off x="7269480" y="3324631"/>
            <a:ext cx="3611880" cy="822960"/>
          </a:xfrm>
          <a:prstGeom prst="rect">
            <a:avLst/>
          </a:prstGeom>
          <a:solidFill>
            <a:srgbClr val="20272D"/>
          </a:solidFill>
          <a:ln w="12700">
            <a:solidFill>
              <a:srgbClr val="313B44"/>
            </a:solidFill>
            <a:prstDash val="solid"/>
          </a:ln>
        </p:spPr>
        <p:txBody>
          <a:bodyPr/>
          <a:lstStyle/>
          <a:p>
            <a:endParaRPr lang="en-SE" sz="3200"/>
          </a:p>
        </p:txBody>
      </p:sp>
      <p:sp>
        <p:nvSpPr>
          <p:cNvPr id="53" name="Text 51"/>
          <p:cNvSpPr/>
          <p:nvPr/>
        </p:nvSpPr>
        <p:spPr>
          <a:xfrm>
            <a:off x="7269480" y="3324631"/>
            <a:ext cx="3611880" cy="822960"/>
          </a:xfrm>
          <a:prstGeom prst="rect">
            <a:avLst/>
          </a:prstGeom>
          <a:noFill/>
          <a:ln/>
        </p:spPr>
        <p:txBody>
          <a:bodyPr wrap="square" lIns="0" tIns="0" rIns="0" bIns="0" rtlCol="0" anchor="ctr"/>
          <a:lstStyle/>
          <a:p>
            <a:pPr marL="0" indent="0" algn="ctr">
              <a:lnSpc>
                <a:spcPct val="110000"/>
              </a:lnSpc>
              <a:buNone/>
            </a:pPr>
            <a:r>
              <a:rPr lang="en-US" sz="1400" dirty="0">
                <a:solidFill>
                  <a:srgbClr val="AAB7C2"/>
                </a:solidFill>
                <a:latin typeface="Segoe UI" pitchFamily="34" charset="0"/>
                <a:ea typeface="Segoe UI" pitchFamily="34" charset="-122"/>
                <a:cs typeface="Segoe UI" pitchFamily="34" charset="-120"/>
              </a:rPr>
              <a:t>Viewers' browsers</a:t>
            </a:r>
            <a:endParaRPr lang="en-US" sz="1400" dirty="0"/>
          </a:p>
          <a:p>
            <a:pPr marL="0" indent="0" algn="ctr">
              <a:lnSpc>
                <a:spcPct val="110000"/>
              </a:lnSpc>
              <a:buNone/>
            </a:pPr>
            <a:r>
              <a:rPr lang="en-US" sz="1400" dirty="0">
                <a:solidFill>
                  <a:srgbClr val="AAB7C2"/>
                </a:solidFill>
                <a:latin typeface="Segoe UI" pitchFamily="34" charset="0"/>
                <a:ea typeface="Segoe UI" pitchFamily="34" charset="-122"/>
                <a:cs typeface="Segoe UI" pitchFamily="34" charset="-120"/>
              </a:rPr>
              <a:t>reach only this machine</a:t>
            </a:r>
            <a:endParaRPr lang="en-US" sz="1400" dirty="0"/>
          </a:p>
        </p:txBody>
      </p:sp>
      <p:sp>
        <p:nvSpPr>
          <p:cNvPr id="54" name="connection line">
            <a:extLst>
              <a:ext uri="{C183D7F6-B498-43B3-948B-1728B52AA6E4}">
                <adec:decorative xmlns:adec="http://schemas.microsoft.com/office/drawing/2017/decorative" val="1"/>
              </a:ext>
            </a:extLst>
          </p:cNvPr>
          <p:cNvSpPr/>
          <p:nvPr/>
        </p:nvSpPr>
        <p:spPr>
          <a:xfrm>
            <a:off x="4846320" y="2501671"/>
            <a:ext cx="2048256" cy="0"/>
          </a:xfrm>
          <a:prstGeom prst="line">
            <a:avLst/>
          </a:prstGeom>
          <a:noFill/>
          <a:ln w="25400">
            <a:solidFill>
              <a:srgbClr val="3FE08A"/>
            </a:solidFill>
            <a:prstDash val="solid"/>
            <a:headEnd type="triangle"/>
            <a:tailEnd type="triangle"/>
          </a:ln>
        </p:spPr>
        <p:txBody>
          <a:bodyPr/>
          <a:lstStyle/>
          <a:p>
            <a:endParaRPr lang="en-SE"/>
          </a:p>
        </p:txBody>
      </p:sp>
      <p:sp>
        <p:nvSpPr>
          <p:cNvPr id="55" name="Text 53"/>
          <p:cNvSpPr/>
          <p:nvPr/>
        </p:nvSpPr>
        <p:spPr>
          <a:xfrm>
            <a:off x="4846320" y="2199919"/>
            <a:ext cx="2048256" cy="274320"/>
          </a:xfrm>
          <a:prstGeom prst="rect">
            <a:avLst/>
          </a:prstGeom>
          <a:noFill/>
          <a:ln/>
        </p:spPr>
        <p:txBody>
          <a:bodyPr wrap="square" lIns="0" tIns="0" rIns="0" bIns="0" rtlCol="0" anchor="ctr"/>
          <a:lstStyle/>
          <a:p>
            <a:pPr marL="0" indent="0" algn="ctr">
              <a:buNone/>
            </a:pPr>
            <a:r>
              <a:rPr lang="en-US" sz="1100" dirty="0">
                <a:solidFill>
                  <a:srgbClr val="3FE08A"/>
                </a:solidFill>
                <a:latin typeface="Consolas" pitchFamily="34" charset="0"/>
                <a:ea typeface="Consolas" pitchFamily="34" charset="-122"/>
                <a:cs typeface="Consolas" pitchFamily="34" charset="-120"/>
              </a:rPr>
              <a:t>live feed</a:t>
            </a:r>
            <a:endParaRPr lang="en-US" sz="1100" dirty="0"/>
          </a:p>
        </p:txBody>
      </p:sp>
      <p:sp>
        <p:nvSpPr>
          <p:cNvPr id="56" name="connection line">
            <a:extLst>
              <a:ext uri="{C183D7F6-B498-43B3-948B-1728B52AA6E4}">
                <adec:decorative xmlns:adec="http://schemas.microsoft.com/office/drawing/2017/decorative" val="1"/>
              </a:ext>
            </a:extLst>
          </p:cNvPr>
          <p:cNvSpPr/>
          <p:nvPr/>
        </p:nvSpPr>
        <p:spPr>
          <a:xfrm>
            <a:off x="4846320" y="3324631"/>
            <a:ext cx="2048256" cy="0"/>
          </a:xfrm>
          <a:prstGeom prst="line">
            <a:avLst/>
          </a:prstGeom>
          <a:noFill/>
          <a:ln w="25400">
            <a:solidFill>
              <a:srgbClr val="F5A524"/>
            </a:solidFill>
            <a:prstDash val="solid"/>
            <a:tailEnd type="triangle"/>
          </a:ln>
        </p:spPr>
        <p:txBody>
          <a:bodyPr/>
          <a:lstStyle/>
          <a:p>
            <a:endParaRPr lang="en-SE"/>
          </a:p>
        </p:txBody>
      </p:sp>
      <p:sp>
        <p:nvSpPr>
          <p:cNvPr id="57" name="Text 55"/>
          <p:cNvSpPr/>
          <p:nvPr/>
        </p:nvSpPr>
        <p:spPr>
          <a:xfrm>
            <a:off x="4846320" y="3388639"/>
            <a:ext cx="2048256" cy="274320"/>
          </a:xfrm>
          <a:prstGeom prst="rect">
            <a:avLst/>
          </a:prstGeom>
          <a:noFill/>
          <a:ln/>
        </p:spPr>
        <p:txBody>
          <a:bodyPr wrap="square" lIns="0" tIns="0" rIns="0" bIns="0" rtlCol="0" anchor="ctr"/>
          <a:lstStyle/>
          <a:p>
            <a:pPr marL="0" indent="0" algn="ctr">
              <a:buNone/>
            </a:pPr>
            <a:r>
              <a:rPr lang="en-US" sz="1100" dirty="0">
                <a:solidFill>
                  <a:srgbClr val="F5A524"/>
                </a:solidFill>
                <a:latin typeface="Consolas" pitchFamily="34" charset="0"/>
                <a:ea typeface="Consolas" pitchFamily="34" charset="-122"/>
                <a:cs typeface="Consolas" pitchFamily="34" charset="-120"/>
              </a:rPr>
              <a:t>history reads</a:t>
            </a:r>
            <a:endParaRPr lang="en-US" sz="1100" dirty="0"/>
          </a:p>
        </p:txBody>
      </p:sp>
      <p:sp>
        <p:nvSpPr>
          <p:cNvPr id="58" name="panel">
            <a:extLst>
              <a:ext uri="{C183D7F6-B498-43B3-948B-1728B52AA6E4}">
                <adec:decorative xmlns:adec="http://schemas.microsoft.com/office/drawing/2017/decorative" val="1"/>
              </a:ext>
            </a:extLst>
          </p:cNvPr>
          <p:cNvSpPr/>
          <p:nvPr/>
        </p:nvSpPr>
        <p:spPr>
          <a:xfrm>
            <a:off x="566928" y="4916980"/>
            <a:ext cx="10607040" cy="138222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sz="2000"/>
          </a:p>
        </p:txBody>
      </p:sp>
      <p:sp>
        <p:nvSpPr>
          <p:cNvPr id="59" name="panel accent">
            <a:extLst>
              <a:ext uri="{C183D7F6-B498-43B3-948B-1728B52AA6E4}">
                <adec:decorative xmlns:adec="http://schemas.microsoft.com/office/drawing/2017/decorative" val="1"/>
              </a:ext>
            </a:extLst>
          </p:cNvPr>
          <p:cNvSpPr/>
          <p:nvPr/>
        </p:nvSpPr>
        <p:spPr>
          <a:xfrm>
            <a:off x="566928" y="4916979"/>
            <a:ext cx="88854" cy="1409929"/>
          </a:xfrm>
          <a:prstGeom prst="rect">
            <a:avLst/>
          </a:prstGeom>
          <a:solidFill>
            <a:srgbClr val="3FE08A"/>
          </a:solidFill>
          <a:ln w="12700">
            <a:solidFill>
              <a:srgbClr val="333333"/>
            </a:solidFill>
            <a:prstDash val="solid"/>
          </a:ln>
        </p:spPr>
        <p:txBody>
          <a:bodyPr/>
          <a:lstStyle/>
          <a:p>
            <a:endParaRPr lang="en-SE" sz="2000"/>
          </a:p>
        </p:txBody>
      </p:sp>
      <p:sp>
        <p:nvSpPr>
          <p:cNvPr id="60" name="Text 58"/>
          <p:cNvSpPr/>
          <p:nvPr/>
        </p:nvSpPr>
        <p:spPr>
          <a:xfrm>
            <a:off x="841248" y="5054140"/>
            <a:ext cx="4572000" cy="274320"/>
          </a:xfrm>
          <a:prstGeom prst="rect">
            <a:avLst/>
          </a:prstGeom>
          <a:noFill/>
          <a:ln/>
        </p:spPr>
        <p:txBody>
          <a:bodyPr wrap="square" lIns="0" tIns="0" rIns="0" bIns="0" rtlCol="0" anchor="ctr"/>
          <a:lstStyle/>
          <a:p>
            <a:pPr marL="0" indent="0">
              <a:buNone/>
            </a:pPr>
            <a:r>
              <a:rPr lang="en-US" sz="1400" b="1" dirty="0">
                <a:solidFill>
                  <a:srgbClr val="3FE08A"/>
                </a:solidFill>
                <a:latin typeface="Segoe UI" pitchFamily="34" charset="0"/>
                <a:ea typeface="Segoe UI" pitchFamily="34" charset="-122"/>
                <a:cs typeface="Segoe UI" pitchFamily="34" charset="-120"/>
              </a:rPr>
              <a:t>Three things to check on the exchange side</a:t>
            </a:r>
            <a:endParaRPr lang="en-US" sz="1400" dirty="0"/>
          </a:p>
        </p:txBody>
      </p:sp>
      <p:sp>
        <p:nvSpPr>
          <p:cNvPr id="61" name="Text 59"/>
          <p:cNvSpPr/>
          <p:nvPr/>
        </p:nvSpPr>
        <p:spPr>
          <a:xfrm>
            <a:off x="841248" y="5374180"/>
            <a:ext cx="3200400" cy="237744"/>
          </a:xfrm>
          <a:prstGeom prst="rect">
            <a:avLst/>
          </a:prstGeom>
          <a:noFill/>
          <a:ln/>
        </p:spPr>
        <p:txBody>
          <a:bodyPr wrap="square" lIns="0" tIns="0" rIns="0" bIns="0" rtlCol="0" anchor="ctr"/>
          <a:lstStyle/>
          <a:p>
            <a:pPr marL="0" indent="0">
              <a:buNone/>
            </a:pPr>
            <a:r>
              <a:rPr lang="en-US" sz="1200" b="1" dirty="0">
                <a:solidFill>
                  <a:srgbClr val="E6EDF3"/>
                </a:solidFill>
                <a:latin typeface="Consolas" pitchFamily="34" charset="0"/>
                <a:ea typeface="Consolas" pitchFamily="34" charset="-122"/>
                <a:cs typeface="Consolas" pitchFamily="34" charset="-120"/>
              </a:rPr>
              <a:t>Reachability</a:t>
            </a:r>
            <a:endParaRPr lang="en-US" sz="1200" dirty="0"/>
          </a:p>
        </p:txBody>
      </p:sp>
      <p:sp>
        <p:nvSpPr>
          <p:cNvPr id="62" name="Text 60"/>
          <p:cNvSpPr/>
          <p:nvPr/>
        </p:nvSpPr>
        <p:spPr>
          <a:xfrm>
            <a:off x="841248" y="5602780"/>
            <a:ext cx="3200400" cy="457200"/>
          </a:xfrm>
          <a:prstGeom prst="rect">
            <a:avLst/>
          </a:prstGeom>
          <a:noFill/>
          <a:ln/>
        </p:spPr>
        <p:txBody>
          <a:bodyPr wrap="square" lIns="0" tIns="0" rIns="0" bIns="0" rtlCol="0" anchor="ctr"/>
          <a:lstStyle/>
          <a:p>
            <a:pPr marL="0" indent="0">
              <a:lnSpc>
                <a:spcPct val="105000"/>
              </a:lnSpc>
              <a:buNone/>
            </a:pPr>
            <a:r>
              <a:rPr lang="en-US" sz="1100" dirty="0">
                <a:solidFill>
                  <a:srgbClr val="AAB7C2"/>
                </a:solidFill>
                <a:latin typeface="Segoe UI" pitchFamily="34" charset="0"/>
                <a:ea typeface="Segoe UI" pitchFamily="34" charset="-122"/>
                <a:cs typeface="Segoe UI" pitchFamily="34" charset="-120"/>
              </a:rPr>
              <a:t>The display machine must be able to open the market-data and history ports on the exchange host.</a:t>
            </a:r>
            <a:endParaRPr lang="en-US" sz="1100" dirty="0"/>
          </a:p>
        </p:txBody>
      </p:sp>
      <p:sp>
        <p:nvSpPr>
          <p:cNvPr id="63" name="Text 61"/>
          <p:cNvSpPr/>
          <p:nvPr/>
        </p:nvSpPr>
        <p:spPr>
          <a:xfrm>
            <a:off x="4270248" y="5374180"/>
            <a:ext cx="3200400" cy="237744"/>
          </a:xfrm>
          <a:prstGeom prst="rect">
            <a:avLst/>
          </a:prstGeom>
          <a:noFill/>
          <a:ln/>
        </p:spPr>
        <p:txBody>
          <a:bodyPr wrap="square" lIns="0" tIns="0" rIns="0" bIns="0" rtlCol="0" anchor="ctr"/>
          <a:lstStyle/>
          <a:p>
            <a:pPr marL="0" indent="0">
              <a:buNone/>
            </a:pPr>
            <a:r>
              <a:rPr lang="en-US" sz="1200" b="1" dirty="0">
                <a:solidFill>
                  <a:srgbClr val="E6EDF3"/>
                </a:solidFill>
                <a:latin typeface="Consolas" pitchFamily="34" charset="0"/>
                <a:ea typeface="Consolas" pitchFamily="34" charset="-122"/>
                <a:cs typeface="Consolas" pitchFamily="34" charset="-120"/>
              </a:rPr>
              <a:t>Bind addresses</a:t>
            </a:r>
            <a:endParaRPr lang="en-US" sz="1200" dirty="0"/>
          </a:p>
        </p:txBody>
      </p:sp>
      <p:sp>
        <p:nvSpPr>
          <p:cNvPr id="64" name="Text 62"/>
          <p:cNvSpPr/>
          <p:nvPr/>
        </p:nvSpPr>
        <p:spPr>
          <a:xfrm>
            <a:off x="4270248" y="5602780"/>
            <a:ext cx="3200400" cy="457200"/>
          </a:xfrm>
          <a:prstGeom prst="rect">
            <a:avLst/>
          </a:prstGeom>
          <a:noFill/>
          <a:ln/>
        </p:spPr>
        <p:txBody>
          <a:bodyPr wrap="square" lIns="0" tIns="0" rIns="0" bIns="0" rtlCol="0" anchor="ctr"/>
          <a:lstStyle/>
          <a:p>
            <a:pPr marL="0" indent="0">
              <a:lnSpc>
                <a:spcPct val="105000"/>
              </a:lnSpc>
              <a:buNone/>
            </a:pPr>
            <a:r>
              <a:rPr lang="en-US" sz="1100" dirty="0">
                <a:solidFill>
                  <a:srgbClr val="AAB7C2"/>
                </a:solidFill>
                <a:latin typeface="Segoe UI" pitchFamily="34" charset="0"/>
                <a:ea typeface="Segoe UI" pitchFamily="34" charset="-122"/>
                <a:cs typeface="Segoe UI" pitchFamily="34" charset="-120"/>
              </a:rPr>
              <a:t>Both gateways normally listen on all interfaces, so no change is needed unless someone deliberately restricted them to localhost.</a:t>
            </a:r>
            <a:endParaRPr lang="en-US" sz="1100" dirty="0"/>
          </a:p>
        </p:txBody>
      </p:sp>
      <p:sp>
        <p:nvSpPr>
          <p:cNvPr id="65" name="Text 63"/>
          <p:cNvSpPr/>
          <p:nvPr/>
        </p:nvSpPr>
        <p:spPr>
          <a:xfrm>
            <a:off x="7699248" y="5374180"/>
            <a:ext cx="3200400" cy="237744"/>
          </a:xfrm>
          <a:prstGeom prst="rect">
            <a:avLst/>
          </a:prstGeom>
          <a:noFill/>
          <a:ln/>
        </p:spPr>
        <p:txBody>
          <a:bodyPr wrap="square" lIns="0" tIns="0" rIns="0" bIns="0" rtlCol="0" anchor="ctr"/>
          <a:lstStyle/>
          <a:p>
            <a:pPr marL="0" indent="0">
              <a:buNone/>
            </a:pPr>
            <a:r>
              <a:rPr lang="en-US" sz="1200" b="1" dirty="0">
                <a:solidFill>
                  <a:srgbClr val="E6EDF3"/>
                </a:solidFill>
                <a:latin typeface="Consolas" pitchFamily="34" charset="0"/>
                <a:ea typeface="Consolas" pitchFamily="34" charset="-122"/>
                <a:cs typeface="Consolas" pitchFamily="34" charset="-120"/>
              </a:rPr>
              <a:t>Firewall</a:t>
            </a:r>
            <a:endParaRPr lang="en-US" sz="1200" dirty="0"/>
          </a:p>
        </p:txBody>
      </p:sp>
      <p:sp>
        <p:nvSpPr>
          <p:cNvPr id="66" name="Text 64"/>
          <p:cNvSpPr/>
          <p:nvPr/>
        </p:nvSpPr>
        <p:spPr>
          <a:xfrm>
            <a:off x="7699248" y="5602780"/>
            <a:ext cx="3200400" cy="457200"/>
          </a:xfrm>
          <a:prstGeom prst="rect">
            <a:avLst/>
          </a:prstGeom>
          <a:noFill/>
          <a:ln/>
        </p:spPr>
        <p:txBody>
          <a:bodyPr wrap="square" lIns="0" tIns="0" rIns="0" bIns="0" rtlCol="0" anchor="ctr"/>
          <a:lstStyle/>
          <a:p>
            <a:pPr marL="0" indent="0">
              <a:lnSpc>
                <a:spcPct val="105000"/>
              </a:lnSpc>
              <a:buNone/>
            </a:pPr>
            <a:r>
              <a:rPr lang="en-US" sz="1100" dirty="0">
                <a:solidFill>
                  <a:srgbClr val="AAB7C2"/>
                </a:solidFill>
                <a:latin typeface="Segoe UI" pitchFamily="34" charset="0"/>
                <a:ea typeface="Segoe UI" pitchFamily="34" charset="-122"/>
                <a:cs typeface="Segoe UI" pitchFamily="34" charset="-120"/>
              </a:rPr>
              <a:t>Open only what the display machine needs. Viewers' browsers never talk to the exchange gateways at all — only to the display machine.</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side band">
            <a:extLst>
              <a:ext uri="{C183D7F6-B498-43B3-948B-1728B52AA6E4}">
                <adec:decorative xmlns:adec="http://schemas.microsoft.com/office/drawing/2017/decorative" val="1"/>
              </a:ext>
            </a:extLst>
          </p:cNvPr>
          <p:cNvSpPr/>
          <p:nvPr/>
        </p:nvSpPr>
        <p:spPr>
          <a:xfrm>
            <a:off x="0" y="0"/>
            <a:ext cx="384048" cy="6858000"/>
          </a:xfrm>
          <a:prstGeom prst="rect">
            <a:avLst/>
          </a:prstGeom>
          <a:solidFill>
            <a:srgbClr val="122C22"/>
          </a:solidFill>
          <a:ln w="12700">
            <a:solidFill>
              <a:srgbClr val="333333"/>
            </a:solidFill>
            <a:prstDash val="solid"/>
          </a:ln>
        </p:spPr>
        <p:txBody>
          <a:bodyPr/>
          <a:lstStyle/>
          <a:p>
            <a:endParaRPr lang="en-SE"/>
          </a:p>
        </p:txBody>
      </p:sp>
      <p:sp>
        <p:nvSpPr>
          <p:cNvPr id="29" name="side accent">
            <a:extLst>
              <a:ext uri="{C183D7F6-B498-43B3-948B-1728B52AA6E4}">
                <adec:decorative xmlns:adec="http://schemas.microsoft.com/office/drawing/2017/decorative" val="1"/>
              </a:ext>
            </a:extLst>
          </p:cNvPr>
          <p:cNvSpPr/>
          <p:nvPr/>
        </p:nvSpPr>
        <p:spPr>
          <a:xfrm>
            <a:off x="384048" y="0"/>
            <a:ext cx="45720" cy="6858000"/>
          </a:xfrm>
          <a:prstGeom prst="rect">
            <a:avLst/>
          </a:prstGeom>
          <a:solidFill>
            <a:srgbClr val="3FE08A"/>
          </a:solidFill>
          <a:ln w="12700">
            <a:solidFill>
              <a:srgbClr val="333333"/>
            </a:solidFill>
            <a:prstDash val="solid"/>
          </a:ln>
        </p:spPr>
        <p:txBody>
          <a:bodyPr/>
          <a:lstStyle/>
          <a:p>
            <a:endParaRPr lang="en-SE"/>
          </a:p>
        </p:txBody>
      </p:sp>
      <p:sp>
        <p:nvSpPr>
          <p:cNvPr id="30" name="Text 28"/>
          <p:cNvSpPr/>
          <p:nvPr/>
        </p:nvSpPr>
        <p:spPr>
          <a:xfrm>
            <a:off x="1280160" y="1691640"/>
            <a:ext cx="3657600" cy="1371600"/>
          </a:xfrm>
          <a:prstGeom prst="rect">
            <a:avLst/>
          </a:prstGeom>
          <a:noFill/>
          <a:ln/>
        </p:spPr>
        <p:txBody>
          <a:bodyPr wrap="square" lIns="0" tIns="0" rIns="0" bIns="0" rtlCol="0" anchor="ctr"/>
          <a:lstStyle/>
          <a:p>
            <a:pPr marL="0" indent="0">
              <a:buNone/>
            </a:pPr>
            <a:r>
              <a:rPr lang="en-US" sz="8400" b="1" dirty="0">
                <a:solidFill>
                  <a:srgbClr val="1E6E4B"/>
                </a:solidFill>
                <a:latin typeface="Consolas" pitchFamily="34" charset="0"/>
                <a:ea typeface="Consolas" pitchFamily="34" charset="-122"/>
                <a:cs typeface="Consolas" pitchFamily="34" charset="-120"/>
              </a:rPr>
              <a:t>07</a:t>
            </a:r>
            <a:endParaRPr lang="en-US" sz="8400" dirty="0"/>
          </a:p>
        </p:txBody>
      </p:sp>
      <p:sp>
        <p:nvSpPr>
          <p:cNvPr id="31" name="Text 0"/>
          <p:cNvSpPr>
            <a:spLocks noGrp="1"/>
          </p:cNvSpPr>
          <p:nvPr>
            <p:ph type="title" idx="100" hasCustomPrompt="1"/>
          </p:nvPr>
        </p:nvSpPr>
        <p:spPr>
          <a:xfrm>
            <a:off x="1371600" y="2788920"/>
            <a:ext cx="9418320" cy="1005840"/>
          </a:xfrm>
          <a:prstGeom prst="rect">
            <a:avLst/>
          </a:prstGeom>
          <a:noFill/>
          <a:ln/>
        </p:spPr>
        <p:txBody>
          <a:bodyPr wrap="square" lIns="0" tIns="0" rIns="0" bIns="0" rtlCol="0" anchor="ctr"/>
          <a:lstStyle/>
          <a:p>
            <a:pPr marL="0" indent="0">
              <a:buNone/>
            </a:pPr>
            <a:r>
              <a:rPr lang="en-US" sz="3600" b="1" dirty="0">
                <a:solidFill>
                  <a:srgbClr val="E6EDF3"/>
                </a:solidFill>
                <a:latin typeface="Segoe UI" pitchFamily="34" charset="0"/>
                <a:ea typeface="Segoe UI" pitchFamily="34" charset="-122"/>
                <a:cs typeface="Segoe UI" pitchFamily="34" charset="-120"/>
              </a:rPr>
              <a:t>Technical reference</a:t>
            </a:r>
            <a:endParaRPr lang="en-US" sz="3600" dirty="0"/>
          </a:p>
        </p:txBody>
      </p:sp>
      <p:sp>
        <p:nvSpPr>
          <p:cNvPr id="32" name="Text 30"/>
          <p:cNvSpPr/>
          <p:nvPr/>
        </p:nvSpPr>
        <p:spPr>
          <a:xfrm>
            <a:off x="1371600" y="3931920"/>
            <a:ext cx="8778240" cy="822960"/>
          </a:xfrm>
          <a:prstGeom prst="rect">
            <a:avLst/>
          </a:prstGeom>
          <a:noFill/>
          <a:ln/>
        </p:spPr>
        <p:txBody>
          <a:bodyPr wrap="square" lIns="0" tIns="0" rIns="0" bIns="0" rtlCol="0" anchor="t"/>
          <a:lstStyle/>
          <a:p>
            <a:pPr marL="0" indent="0">
              <a:lnSpc>
                <a:spcPct val="115000"/>
              </a:lnSpc>
              <a:buNone/>
            </a:pPr>
            <a:r>
              <a:rPr lang="en-US" sz="1450" dirty="0">
                <a:solidFill>
                  <a:srgbClr val="AAB7C2"/>
                </a:solidFill>
                <a:latin typeface="Segoe UI" pitchFamily="34" charset="0"/>
                <a:ea typeface="Segoe UI" pitchFamily="34" charset="-122"/>
                <a:cs typeface="Segoe UI" pitchFamily="34" charset="-120"/>
              </a:rPr>
              <a:t>The data sources behind the screens. Useful when something is wrong, or when you are asked how it works.</a:t>
            </a:r>
            <a:endParaRPr lang="en-US" sz="1450" dirty="0"/>
          </a:p>
        </p:txBody>
      </p:sp>
      <p:sp>
        <p:nvSpPr>
          <p:cNvPr id="33" name="ticker bar">
            <a:extLst>
              <a:ext uri="{C183D7F6-B498-43B3-948B-1728B52AA6E4}">
                <adec:decorative xmlns:adec="http://schemas.microsoft.com/office/drawing/2017/decorative" val="1"/>
              </a:ext>
            </a:extLst>
          </p:cNvPr>
          <p:cNvSpPr/>
          <p:nvPr/>
        </p:nvSpPr>
        <p:spPr>
          <a:xfrm>
            <a:off x="1371600" y="5532120"/>
            <a:ext cx="164592" cy="137160"/>
          </a:xfrm>
          <a:prstGeom prst="rect">
            <a:avLst/>
          </a:prstGeom>
          <a:solidFill>
            <a:srgbClr val="1E6E4B"/>
          </a:solidFill>
          <a:ln w="12700">
            <a:solidFill>
              <a:srgbClr val="333333"/>
            </a:solidFill>
            <a:prstDash val="solid"/>
          </a:ln>
        </p:spPr>
        <p:txBody>
          <a:bodyPr/>
          <a:lstStyle/>
          <a:p>
            <a:endParaRPr lang="en-SE"/>
          </a:p>
        </p:txBody>
      </p:sp>
      <p:sp>
        <p:nvSpPr>
          <p:cNvPr id="34" name="ticker bar">
            <a:extLst>
              <a:ext uri="{C183D7F6-B498-43B3-948B-1728B52AA6E4}">
                <adec:decorative xmlns:adec="http://schemas.microsoft.com/office/drawing/2017/decorative" val="1"/>
              </a:ext>
            </a:extLst>
          </p:cNvPr>
          <p:cNvSpPr/>
          <p:nvPr/>
        </p:nvSpPr>
        <p:spPr>
          <a:xfrm>
            <a:off x="1682496" y="5367528"/>
            <a:ext cx="164592" cy="301752"/>
          </a:xfrm>
          <a:prstGeom prst="rect">
            <a:avLst/>
          </a:prstGeom>
          <a:solidFill>
            <a:srgbClr val="1E6E4B"/>
          </a:solidFill>
          <a:ln w="12700">
            <a:solidFill>
              <a:srgbClr val="333333"/>
            </a:solidFill>
            <a:prstDash val="solid"/>
          </a:ln>
        </p:spPr>
        <p:txBody>
          <a:bodyPr/>
          <a:lstStyle/>
          <a:p>
            <a:endParaRPr lang="en-SE"/>
          </a:p>
        </p:txBody>
      </p:sp>
      <p:sp>
        <p:nvSpPr>
          <p:cNvPr id="35" name="ticker bar">
            <a:extLst>
              <a:ext uri="{C183D7F6-B498-43B3-948B-1728B52AA6E4}">
                <adec:decorative xmlns:adec="http://schemas.microsoft.com/office/drawing/2017/decorative" val="1"/>
              </a:ext>
            </a:extLst>
          </p:cNvPr>
          <p:cNvSpPr/>
          <p:nvPr/>
        </p:nvSpPr>
        <p:spPr>
          <a:xfrm>
            <a:off x="1993392" y="5449824"/>
            <a:ext cx="164592" cy="219456"/>
          </a:xfrm>
          <a:prstGeom prst="rect">
            <a:avLst/>
          </a:prstGeom>
          <a:solidFill>
            <a:srgbClr val="1E6E4B"/>
          </a:solidFill>
          <a:ln w="12700">
            <a:solidFill>
              <a:srgbClr val="333333"/>
            </a:solidFill>
            <a:prstDash val="solid"/>
          </a:ln>
        </p:spPr>
        <p:txBody>
          <a:bodyPr/>
          <a:lstStyle/>
          <a:p>
            <a:endParaRPr lang="en-SE"/>
          </a:p>
        </p:txBody>
      </p:sp>
      <p:sp>
        <p:nvSpPr>
          <p:cNvPr id="36" name="ticker bar">
            <a:extLst>
              <a:ext uri="{C183D7F6-B498-43B3-948B-1728B52AA6E4}">
                <adec:decorative xmlns:adec="http://schemas.microsoft.com/office/drawing/2017/decorative" val="1"/>
              </a:ext>
            </a:extLst>
          </p:cNvPr>
          <p:cNvSpPr/>
          <p:nvPr/>
        </p:nvSpPr>
        <p:spPr>
          <a:xfrm>
            <a:off x="2304288" y="5230368"/>
            <a:ext cx="164592" cy="438912"/>
          </a:xfrm>
          <a:prstGeom prst="rect">
            <a:avLst/>
          </a:prstGeom>
          <a:solidFill>
            <a:srgbClr val="1E6E4B"/>
          </a:solidFill>
          <a:ln w="12700">
            <a:solidFill>
              <a:srgbClr val="333333"/>
            </a:solidFill>
            <a:prstDash val="solid"/>
          </a:ln>
        </p:spPr>
        <p:txBody>
          <a:bodyPr/>
          <a:lstStyle/>
          <a:p>
            <a:endParaRPr lang="en-SE"/>
          </a:p>
        </p:txBody>
      </p:sp>
      <p:sp>
        <p:nvSpPr>
          <p:cNvPr id="37" name="ticker bar">
            <a:extLst>
              <a:ext uri="{C183D7F6-B498-43B3-948B-1728B52AA6E4}">
                <adec:decorative xmlns:adec="http://schemas.microsoft.com/office/drawing/2017/decorative" val="1"/>
              </a:ext>
            </a:extLst>
          </p:cNvPr>
          <p:cNvSpPr/>
          <p:nvPr/>
        </p:nvSpPr>
        <p:spPr>
          <a:xfrm>
            <a:off x="2615184" y="5340096"/>
            <a:ext cx="164592" cy="329184"/>
          </a:xfrm>
          <a:prstGeom prst="rect">
            <a:avLst/>
          </a:prstGeom>
          <a:solidFill>
            <a:srgbClr val="1E6E4B"/>
          </a:solidFill>
          <a:ln w="12700">
            <a:solidFill>
              <a:srgbClr val="333333"/>
            </a:solidFill>
            <a:prstDash val="solid"/>
          </a:ln>
        </p:spPr>
        <p:txBody>
          <a:bodyPr/>
          <a:lstStyle/>
          <a:p>
            <a:endParaRPr lang="en-SE"/>
          </a:p>
        </p:txBody>
      </p:sp>
      <p:sp>
        <p:nvSpPr>
          <p:cNvPr id="38" name="ticker bar">
            <a:extLst>
              <a:ext uri="{C183D7F6-B498-43B3-948B-1728B52AA6E4}">
                <adec:decorative xmlns:adec="http://schemas.microsoft.com/office/drawing/2017/decorative" val="1"/>
              </a:ext>
            </a:extLst>
          </p:cNvPr>
          <p:cNvSpPr/>
          <p:nvPr/>
        </p:nvSpPr>
        <p:spPr>
          <a:xfrm>
            <a:off x="2926080" y="5120640"/>
            <a:ext cx="164592" cy="548640"/>
          </a:xfrm>
          <a:prstGeom prst="rect">
            <a:avLst/>
          </a:prstGeom>
          <a:solidFill>
            <a:srgbClr val="1E6E4B"/>
          </a:solidFill>
          <a:ln w="12700">
            <a:solidFill>
              <a:srgbClr val="333333"/>
            </a:solidFill>
            <a:prstDash val="solid"/>
          </a:ln>
        </p:spPr>
        <p:txBody>
          <a:bodyPr/>
          <a:lstStyle/>
          <a:p>
            <a:endParaRPr lang="en-SE"/>
          </a:p>
        </p:txBody>
      </p:sp>
      <p:sp>
        <p:nvSpPr>
          <p:cNvPr id="39" name="ticker bar">
            <a:extLst>
              <a:ext uri="{C183D7F6-B498-43B3-948B-1728B52AA6E4}">
                <adec:decorative xmlns:adec="http://schemas.microsoft.com/office/drawing/2017/decorative" val="1"/>
              </a:ext>
            </a:extLst>
          </p:cNvPr>
          <p:cNvSpPr/>
          <p:nvPr/>
        </p:nvSpPr>
        <p:spPr>
          <a:xfrm>
            <a:off x="3236976" y="5257800"/>
            <a:ext cx="164592" cy="411480"/>
          </a:xfrm>
          <a:prstGeom prst="rect">
            <a:avLst/>
          </a:prstGeom>
          <a:solidFill>
            <a:srgbClr val="1E6E4B"/>
          </a:solidFill>
          <a:ln w="12700">
            <a:solidFill>
              <a:srgbClr val="333333"/>
            </a:solidFill>
            <a:prstDash val="solid"/>
          </a:ln>
        </p:spPr>
        <p:txBody>
          <a:bodyPr/>
          <a:lstStyle/>
          <a:p>
            <a:endParaRPr lang="en-SE"/>
          </a:p>
        </p:txBody>
      </p:sp>
      <p:sp>
        <p:nvSpPr>
          <p:cNvPr id="40" name="ticker bar">
            <a:extLst>
              <a:ext uri="{C183D7F6-B498-43B3-948B-1728B52AA6E4}">
                <adec:decorative xmlns:adec="http://schemas.microsoft.com/office/drawing/2017/decorative" val="1"/>
              </a:ext>
            </a:extLst>
          </p:cNvPr>
          <p:cNvSpPr/>
          <p:nvPr/>
        </p:nvSpPr>
        <p:spPr>
          <a:xfrm>
            <a:off x="3547872" y="5010912"/>
            <a:ext cx="164592" cy="658368"/>
          </a:xfrm>
          <a:prstGeom prst="rect">
            <a:avLst/>
          </a:prstGeom>
          <a:solidFill>
            <a:srgbClr val="3FE08A"/>
          </a:solidFill>
          <a:ln w="12700">
            <a:solidFill>
              <a:srgbClr val="333333"/>
            </a:solidFill>
            <a:prstDash val="solid"/>
          </a:ln>
        </p:spPr>
        <p:txBody>
          <a:bodyPr/>
          <a:lstStyle/>
          <a:p>
            <a:endParaRPr lang="en-SE"/>
          </a:p>
        </p:txBody>
      </p:sp>
      <p:sp>
        <p:nvSpPr>
          <p:cNvPr id="41" name="ticker bar">
            <a:extLst>
              <a:ext uri="{C183D7F6-B498-43B3-948B-1728B52AA6E4}">
                <adec:decorative xmlns:adec="http://schemas.microsoft.com/office/drawing/2017/decorative" val="1"/>
              </a:ext>
            </a:extLst>
          </p:cNvPr>
          <p:cNvSpPr/>
          <p:nvPr/>
        </p:nvSpPr>
        <p:spPr>
          <a:xfrm>
            <a:off x="3858768" y="5148072"/>
            <a:ext cx="164592" cy="521208"/>
          </a:xfrm>
          <a:prstGeom prst="rect">
            <a:avLst/>
          </a:prstGeom>
          <a:solidFill>
            <a:srgbClr val="3FE08A"/>
          </a:solidFill>
          <a:ln w="12700">
            <a:solidFill>
              <a:srgbClr val="333333"/>
            </a:solidFill>
            <a:prstDash val="solid"/>
          </a:ln>
        </p:spPr>
        <p:txBody>
          <a:bodyPr/>
          <a:lstStyle/>
          <a:p>
            <a:endParaRPr lang="en-SE"/>
          </a:p>
        </p:txBody>
      </p:sp>
      <p:sp>
        <p:nvSpPr>
          <p:cNvPr id="42" name="ticker bar">
            <a:extLst>
              <a:ext uri="{C183D7F6-B498-43B3-948B-1728B52AA6E4}">
                <adec:decorative xmlns:adec="http://schemas.microsoft.com/office/drawing/2017/decorative" val="1"/>
              </a:ext>
            </a:extLst>
          </p:cNvPr>
          <p:cNvSpPr/>
          <p:nvPr/>
        </p:nvSpPr>
        <p:spPr>
          <a:xfrm>
            <a:off x="4169664" y="4928616"/>
            <a:ext cx="164592" cy="740664"/>
          </a:xfrm>
          <a:prstGeom prst="rect">
            <a:avLst/>
          </a:prstGeom>
          <a:solidFill>
            <a:srgbClr val="3FE08A"/>
          </a:solidFill>
          <a:ln w="12700">
            <a:solidFill>
              <a:srgbClr val="333333"/>
            </a:solidFill>
            <a:prstDash val="solid"/>
          </a:ln>
        </p:spPr>
        <p:txBody>
          <a:bodyPr/>
          <a:lstStyle/>
          <a:p>
            <a:endParaRPr lang="en-SE"/>
          </a:p>
        </p:txBody>
      </p:sp>
      <p:sp>
        <p:nvSpPr>
          <p:cNvPr id="43"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44"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45" name="Text 43"/>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46" name="Text 44"/>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47" name="Text 45"/>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42</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Architecture: how data reaches the screen</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07 · TECHNICAL REFERENCE</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43</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Three hops. The browser is deliberately kept away from the exchange.</a:t>
            </a:r>
            <a:endParaRPr lang="en-US" sz="1400" dirty="0"/>
          </a:p>
        </p:txBody>
      </p:sp>
      <p:sp>
        <p:nvSpPr>
          <p:cNvPr id="38" name="diagram node">
            <a:extLst>
              <a:ext uri="{C183D7F6-B498-43B3-948B-1728B52AA6E4}">
                <adec:decorative xmlns:adec="http://schemas.microsoft.com/office/drawing/2017/decorative" val="1"/>
              </a:ext>
            </a:extLst>
          </p:cNvPr>
          <p:cNvSpPr/>
          <p:nvPr/>
        </p:nvSpPr>
        <p:spPr>
          <a:xfrm>
            <a:off x="566928" y="2148840"/>
            <a:ext cx="2286000" cy="1371600"/>
          </a:xfrm>
          <a:prstGeom prst="rect">
            <a:avLst/>
          </a:prstGeom>
          <a:solidFill>
            <a:srgbClr val="20272D"/>
          </a:solidFill>
          <a:ln w="1905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39" name="Text 37"/>
          <p:cNvSpPr/>
          <p:nvPr/>
        </p:nvSpPr>
        <p:spPr>
          <a:xfrm>
            <a:off x="676656" y="2295144"/>
            <a:ext cx="2066544" cy="329184"/>
          </a:xfrm>
          <a:prstGeom prst="rect">
            <a:avLst/>
          </a:prstGeom>
          <a:noFill/>
          <a:ln/>
        </p:spPr>
        <p:txBody>
          <a:bodyPr wrap="square" lIns="0" tIns="0" rIns="0" bIns="0" rtlCol="0" anchor="t"/>
          <a:lstStyle/>
          <a:p>
            <a:pPr marL="0" indent="0" algn="ctr">
              <a:buNone/>
            </a:pPr>
            <a:r>
              <a:rPr lang="en-US" sz="1200" b="1" dirty="0">
                <a:solidFill>
                  <a:srgbClr val="E6EDF3"/>
                </a:solidFill>
                <a:latin typeface="Consolas" pitchFamily="34" charset="0"/>
                <a:ea typeface="Consolas" pitchFamily="34" charset="-122"/>
                <a:cs typeface="Consolas" pitchFamily="34" charset="-120"/>
              </a:rPr>
              <a:t>BROWSER TAB</a:t>
            </a:r>
            <a:endParaRPr lang="en-US" sz="1200" dirty="0"/>
          </a:p>
        </p:txBody>
      </p:sp>
      <p:sp>
        <p:nvSpPr>
          <p:cNvPr id="40" name="Text 38"/>
          <p:cNvSpPr/>
          <p:nvPr/>
        </p:nvSpPr>
        <p:spPr>
          <a:xfrm>
            <a:off x="676656" y="2606040"/>
            <a:ext cx="2066544" cy="822960"/>
          </a:xfrm>
          <a:prstGeom prst="rect">
            <a:avLst/>
          </a:prstGeom>
          <a:noFill/>
          <a:ln/>
        </p:spPr>
        <p:txBody>
          <a:bodyPr wrap="square" lIns="0" tIns="0" rIns="0" bIns="0" rtlCol="0" anchor="t"/>
          <a:lstStyle/>
          <a:p>
            <a:pPr marL="0" indent="0" algn="ctr">
              <a:lnSpc>
                <a:spcPct val="105000"/>
              </a:lnSpc>
              <a:buNone/>
            </a:pPr>
            <a:r>
              <a:rPr lang="en-US" sz="1000" dirty="0">
                <a:solidFill>
                  <a:srgbClr val="AAB7C2"/>
                </a:solidFill>
                <a:latin typeface="Segoe UI" pitchFamily="34" charset="0"/>
                <a:ea typeface="Segoe UI" pitchFamily="34" charset="-122"/>
                <a:cs typeface="Segoe UI" pitchFamily="34" charset="-120"/>
              </a:rPr>
              <a:t>React app.</a:t>
            </a:r>
            <a:endParaRPr lang="en-US" sz="1000" dirty="0"/>
          </a:p>
          <a:p>
            <a:pPr marL="0" indent="0" algn="ctr">
              <a:lnSpc>
                <a:spcPct val="105000"/>
              </a:lnSpc>
              <a:buNone/>
            </a:pPr>
            <a:r>
              <a:rPr lang="en-US" sz="1000" dirty="0">
                <a:solidFill>
                  <a:srgbClr val="AAB7C2"/>
                </a:solidFill>
                <a:latin typeface="Segoe UI" pitchFamily="34" charset="0"/>
                <a:ea typeface="Segoe UI" pitchFamily="34" charset="-122"/>
                <a:cs typeface="Segoe UI" pitchFamily="34" charset="-120"/>
              </a:rPr>
              <a:t>Holds no keys,</a:t>
            </a:r>
            <a:endParaRPr lang="en-US" sz="1000" dirty="0"/>
          </a:p>
          <a:p>
            <a:pPr marL="0" indent="0" algn="ctr">
              <a:lnSpc>
                <a:spcPct val="105000"/>
              </a:lnSpc>
              <a:buNone/>
            </a:pPr>
            <a:r>
              <a:rPr lang="en-US" sz="1000" dirty="0">
                <a:solidFill>
                  <a:srgbClr val="AAB7C2"/>
                </a:solidFill>
                <a:latin typeface="Segoe UI" pitchFamily="34" charset="0"/>
                <a:ea typeface="Segoe UI" pitchFamily="34" charset="-122"/>
                <a:cs typeface="Segoe UI" pitchFamily="34" charset="-120"/>
              </a:rPr>
              <a:t>no credentials.</a:t>
            </a:r>
            <a:endParaRPr lang="en-US" sz="1000" dirty="0"/>
          </a:p>
        </p:txBody>
      </p:sp>
      <p:sp>
        <p:nvSpPr>
          <p:cNvPr id="41" name="flow arrow">
            <a:extLst>
              <a:ext uri="{C183D7F6-B498-43B3-948B-1728B52AA6E4}">
                <adec:decorative xmlns:adec="http://schemas.microsoft.com/office/drawing/2017/decorative" val="1"/>
              </a:ext>
            </a:extLst>
          </p:cNvPr>
          <p:cNvSpPr/>
          <p:nvPr/>
        </p:nvSpPr>
        <p:spPr>
          <a:xfrm>
            <a:off x="2971800" y="2834640"/>
            <a:ext cx="914400" cy="0"/>
          </a:xfrm>
          <a:prstGeom prst="line">
            <a:avLst/>
          </a:prstGeom>
          <a:noFill/>
          <a:ln w="25400">
            <a:solidFill>
              <a:srgbClr val="3FE08A"/>
            </a:solidFill>
            <a:prstDash val="solid"/>
            <a:tailEnd type="triangle"/>
          </a:ln>
        </p:spPr>
        <p:txBody>
          <a:bodyPr/>
          <a:lstStyle/>
          <a:p>
            <a:endParaRPr lang="en-SE"/>
          </a:p>
        </p:txBody>
      </p:sp>
      <p:sp>
        <p:nvSpPr>
          <p:cNvPr id="42" name="Text 40"/>
          <p:cNvSpPr/>
          <p:nvPr/>
        </p:nvSpPr>
        <p:spPr>
          <a:xfrm>
            <a:off x="2971800" y="2450592"/>
            <a:ext cx="914400" cy="310896"/>
          </a:xfrm>
          <a:prstGeom prst="rect">
            <a:avLst/>
          </a:prstGeom>
          <a:noFill/>
          <a:ln/>
        </p:spPr>
        <p:txBody>
          <a:bodyPr wrap="square" lIns="0" tIns="0" rIns="0" bIns="0" rtlCol="0" anchor="ctr"/>
          <a:lstStyle/>
          <a:p>
            <a:pPr marL="0" indent="0" algn="ctr">
              <a:buNone/>
            </a:pPr>
            <a:r>
              <a:rPr lang="en-US" sz="950" dirty="0">
                <a:solidFill>
                  <a:srgbClr val="7C8B97"/>
                </a:solidFill>
                <a:latin typeface="Consolas" pitchFamily="34" charset="0"/>
                <a:ea typeface="Consolas" pitchFamily="34" charset="-122"/>
                <a:cs typeface="Consolas" pitchFamily="34" charset="-120"/>
              </a:rPr>
              <a:t>WebSocket</a:t>
            </a:r>
            <a:endParaRPr lang="en-US" sz="950" dirty="0"/>
          </a:p>
        </p:txBody>
      </p:sp>
      <p:sp>
        <p:nvSpPr>
          <p:cNvPr id="43" name="Text 41"/>
          <p:cNvSpPr/>
          <p:nvPr/>
        </p:nvSpPr>
        <p:spPr>
          <a:xfrm>
            <a:off x="2971800" y="2971800"/>
            <a:ext cx="914400" cy="274320"/>
          </a:xfrm>
          <a:prstGeom prst="rect">
            <a:avLst/>
          </a:prstGeom>
          <a:noFill/>
          <a:ln/>
        </p:spPr>
        <p:txBody>
          <a:bodyPr wrap="square" lIns="0" tIns="0" rIns="0" bIns="0" rtlCol="0" anchor="ctr"/>
          <a:lstStyle/>
          <a:p>
            <a:pPr marL="0" indent="0" algn="ctr">
              <a:buNone/>
            </a:pPr>
            <a:r>
              <a:rPr lang="en-US" sz="850" dirty="0">
                <a:solidFill>
                  <a:srgbClr val="7C8B97"/>
                </a:solidFill>
                <a:latin typeface="Consolas" pitchFamily="34" charset="0"/>
                <a:ea typeface="Consolas" pitchFamily="34" charset="-122"/>
                <a:cs typeface="Consolas" pitchFamily="34" charset="-120"/>
              </a:rPr>
              <a:t>REST proxy</a:t>
            </a:r>
            <a:endParaRPr lang="en-US" sz="850" dirty="0"/>
          </a:p>
        </p:txBody>
      </p:sp>
      <p:sp>
        <p:nvSpPr>
          <p:cNvPr id="44" name="diagram node">
            <a:extLst>
              <a:ext uri="{C183D7F6-B498-43B3-948B-1728B52AA6E4}">
                <adec:decorative xmlns:adec="http://schemas.microsoft.com/office/drawing/2017/decorative" val="1"/>
              </a:ext>
            </a:extLst>
          </p:cNvPr>
          <p:cNvSpPr/>
          <p:nvPr/>
        </p:nvSpPr>
        <p:spPr>
          <a:xfrm>
            <a:off x="4023360" y="2148840"/>
            <a:ext cx="2560320" cy="1371600"/>
          </a:xfrm>
          <a:prstGeom prst="rect">
            <a:avLst/>
          </a:prstGeom>
          <a:solidFill>
            <a:srgbClr val="122C22"/>
          </a:solidFill>
          <a:ln w="19050">
            <a:solidFill>
              <a:srgbClr val="3FE08A"/>
            </a:solidFill>
            <a:prstDash val="solid"/>
          </a:ln>
          <a:effectLst>
            <a:outerShdw blurRad="152400" dist="38100" dir="5400000" algn="bl" rotWithShape="0">
              <a:srgbClr val="000000">
                <a:alpha val="35000"/>
              </a:srgbClr>
            </a:outerShdw>
          </a:effectLst>
        </p:spPr>
        <p:txBody>
          <a:bodyPr/>
          <a:lstStyle/>
          <a:p>
            <a:endParaRPr lang="en-SE"/>
          </a:p>
        </p:txBody>
      </p:sp>
      <p:sp>
        <p:nvSpPr>
          <p:cNvPr id="45" name="Text 43"/>
          <p:cNvSpPr/>
          <p:nvPr/>
        </p:nvSpPr>
        <p:spPr>
          <a:xfrm>
            <a:off x="4133088" y="2295144"/>
            <a:ext cx="2340864" cy="329184"/>
          </a:xfrm>
          <a:prstGeom prst="rect">
            <a:avLst/>
          </a:prstGeom>
          <a:noFill/>
          <a:ln/>
        </p:spPr>
        <p:txBody>
          <a:bodyPr wrap="square" lIns="0" tIns="0" rIns="0" bIns="0" rtlCol="0" anchor="t"/>
          <a:lstStyle/>
          <a:p>
            <a:pPr marL="0" indent="0" algn="ctr">
              <a:buNone/>
            </a:pPr>
            <a:r>
              <a:rPr lang="en-US" sz="1200" b="1" dirty="0">
                <a:solidFill>
                  <a:srgbClr val="E6EDF3"/>
                </a:solidFill>
                <a:latin typeface="Consolas" pitchFamily="34" charset="0"/>
                <a:ea typeface="Consolas" pitchFamily="34" charset="-122"/>
                <a:cs typeface="Consolas" pitchFamily="34" charset="-120"/>
              </a:rPr>
              <a:t>TERMINAL BRIDGE</a:t>
            </a:r>
            <a:endParaRPr lang="en-US" sz="1200" dirty="0"/>
          </a:p>
        </p:txBody>
      </p:sp>
      <p:sp>
        <p:nvSpPr>
          <p:cNvPr id="46" name="Text 44"/>
          <p:cNvSpPr/>
          <p:nvPr/>
        </p:nvSpPr>
        <p:spPr>
          <a:xfrm>
            <a:off x="4133088" y="2606040"/>
            <a:ext cx="2340864" cy="822960"/>
          </a:xfrm>
          <a:prstGeom prst="rect">
            <a:avLst/>
          </a:prstGeom>
          <a:noFill/>
          <a:ln/>
        </p:spPr>
        <p:txBody>
          <a:bodyPr wrap="square" lIns="0" tIns="0" rIns="0" bIns="0" rtlCol="0" anchor="t"/>
          <a:lstStyle/>
          <a:p>
            <a:pPr marL="0" indent="0" algn="ctr">
              <a:lnSpc>
                <a:spcPct val="105000"/>
              </a:lnSpc>
              <a:buNone/>
            </a:pPr>
            <a:r>
              <a:rPr lang="en-US" sz="1000" dirty="0">
                <a:solidFill>
                  <a:srgbClr val="AAB7C2"/>
                </a:solidFill>
                <a:latin typeface="Segoe UI" pitchFamily="34" charset="0"/>
                <a:ea typeface="Segoe UI" pitchFamily="34" charset="-122"/>
                <a:cs typeface="Segoe UI" pitchFamily="34" charset="-120"/>
              </a:rPr>
              <a:t>One server process.</a:t>
            </a:r>
            <a:endParaRPr lang="en-US" sz="1000" dirty="0"/>
          </a:p>
          <a:p>
            <a:pPr marL="0" indent="0" algn="ctr">
              <a:lnSpc>
                <a:spcPct val="105000"/>
              </a:lnSpc>
              <a:buNone/>
            </a:pPr>
            <a:r>
              <a:rPr lang="en-US" sz="1000" dirty="0">
                <a:solidFill>
                  <a:srgbClr val="AAB7C2"/>
                </a:solidFill>
                <a:latin typeface="Segoe UI" pitchFamily="34" charset="0"/>
                <a:ea typeface="Segoe UI" pitchFamily="34" charset="-122"/>
                <a:cs typeface="Segoe UI" pitchFamily="34" charset="-120"/>
              </a:rPr>
              <a:t>Holds the upstream</a:t>
            </a:r>
            <a:endParaRPr lang="en-US" sz="1000" dirty="0"/>
          </a:p>
          <a:p>
            <a:pPr marL="0" indent="0" algn="ctr">
              <a:lnSpc>
                <a:spcPct val="105000"/>
              </a:lnSpc>
              <a:buNone/>
            </a:pPr>
            <a:r>
              <a:rPr lang="en-US" sz="1000" dirty="0">
                <a:solidFill>
                  <a:srgbClr val="AAB7C2"/>
                </a:solidFill>
                <a:latin typeface="Segoe UI" pitchFamily="34" charset="0"/>
                <a:ea typeface="Segoe UI" pitchFamily="34" charset="-122"/>
                <a:cs typeface="Segoe UI" pitchFamily="34" charset="-120"/>
              </a:rPr>
              <a:t>connections and the key.</a:t>
            </a:r>
            <a:endParaRPr lang="en-US" sz="1000" dirty="0"/>
          </a:p>
        </p:txBody>
      </p:sp>
      <p:sp>
        <p:nvSpPr>
          <p:cNvPr id="47" name="flow arrow">
            <a:extLst>
              <a:ext uri="{C183D7F6-B498-43B3-948B-1728B52AA6E4}">
                <adec:decorative xmlns:adec="http://schemas.microsoft.com/office/drawing/2017/decorative" val="1"/>
              </a:ext>
            </a:extLst>
          </p:cNvPr>
          <p:cNvSpPr/>
          <p:nvPr/>
        </p:nvSpPr>
        <p:spPr>
          <a:xfrm>
            <a:off x="6720840" y="2514600"/>
            <a:ext cx="1051560" cy="0"/>
          </a:xfrm>
          <a:prstGeom prst="line">
            <a:avLst/>
          </a:prstGeom>
          <a:noFill/>
          <a:ln w="25400">
            <a:solidFill>
              <a:srgbClr val="3FE08A"/>
            </a:solidFill>
            <a:prstDash val="solid"/>
            <a:tailEnd type="triangle"/>
          </a:ln>
        </p:spPr>
        <p:txBody>
          <a:bodyPr/>
          <a:lstStyle/>
          <a:p>
            <a:endParaRPr lang="en-SE"/>
          </a:p>
        </p:txBody>
      </p:sp>
      <p:sp>
        <p:nvSpPr>
          <p:cNvPr id="48" name="Text 46"/>
          <p:cNvSpPr/>
          <p:nvPr/>
        </p:nvSpPr>
        <p:spPr>
          <a:xfrm>
            <a:off x="6720840" y="2212848"/>
            <a:ext cx="1051560" cy="274320"/>
          </a:xfrm>
          <a:prstGeom prst="rect">
            <a:avLst/>
          </a:prstGeom>
          <a:noFill/>
          <a:ln/>
        </p:spPr>
        <p:txBody>
          <a:bodyPr wrap="square" lIns="0" tIns="0" rIns="0" bIns="0" rtlCol="0" anchor="ctr"/>
          <a:lstStyle/>
          <a:p>
            <a:pPr marL="0" indent="0" algn="ctr">
              <a:buNone/>
            </a:pPr>
            <a:r>
              <a:rPr lang="en-US" sz="850" dirty="0">
                <a:solidFill>
                  <a:srgbClr val="3FE08A"/>
                </a:solidFill>
                <a:latin typeface="Consolas" pitchFamily="34" charset="0"/>
                <a:ea typeface="Consolas" pitchFamily="34" charset="-122"/>
                <a:cs typeface="Consolas" pitchFamily="34" charset="-120"/>
              </a:rPr>
              <a:t>CALF · TCP</a:t>
            </a:r>
            <a:endParaRPr lang="en-US" sz="850" dirty="0"/>
          </a:p>
        </p:txBody>
      </p:sp>
      <p:sp>
        <p:nvSpPr>
          <p:cNvPr id="49" name="flow arrow">
            <a:extLst>
              <a:ext uri="{C183D7F6-B498-43B3-948B-1728B52AA6E4}">
                <adec:decorative xmlns:adec="http://schemas.microsoft.com/office/drawing/2017/decorative" val="1"/>
              </a:ext>
            </a:extLst>
          </p:cNvPr>
          <p:cNvSpPr/>
          <p:nvPr/>
        </p:nvSpPr>
        <p:spPr>
          <a:xfrm>
            <a:off x="6720840" y="3200400"/>
            <a:ext cx="1051560" cy="0"/>
          </a:xfrm>
          <a:prstGeom prst="line">
            <a:avLst/>
          </a:prstGeom>
          <a:noFill/>
          <a:ln w="25400">
            <a:solidFill>
              <a:srgbClr val="F5A524"/>
            </a:solidFill>
            <a:prstDash val="solid"/>
            <a:tailEnd type="triangle"/>
          </a:ln>
        </p:spPr>
        <p:txBody>
          <a:bodyPr/>
          <a:lstStyle/>
          <a:p>
            <a:endParaRPr lang="en-SE"/>
          </a:p>
        </p:txBody>
      </p:sp>
      <p:sp>
        <p:nvSpPr>
          <p:cNvPr id="50" name="Text 48"/>
          <p:cNvSpPr/>
          <p:nvPr/>
        </p:nvSpPr>
        <p:spPr>
          <a:xfrm>
            <a:off x="6720840" y="3255264"/>
            <a:ext cx="1051560" cy="274320"/>
          </a:xfrm>
          <a:prstGeom prst="rect">
            <a:avLst/>
          </a:prstGeom>
          <a:noFill/>
          <a:ln/>
        </p:spPr>
        <p:txBody>
          <a:bodyPr wrap="square" lIns="0" tIns="0" rIns="0" bIns="0" rtlCol="0" anchor="ctr"/>
          <a:lstStyle/>
          <a:p>
            <a:pPr marL="0" indent="0" algn="ctr">
              <a:buNone/>
            </a:pPr>
            <a:r>
              <a:rPr lang="en-US" sz="850" dirty="0">
                <a:solidFill>
                  <a:srgbClr val="F5A524"/>
                </a:solidFill>
                <a:latin typeface="Consolas" pitchFamily="34" charset="0"/>
                <a:ea typeface="Consolas" pitchFamily="34" charset="-122"/>
                <a:cs typeface="Consolas" pitchFamily="34" charset="-120"/>
              </a:rPr>
              <a:t>REST · HTTP</a:t>
            </a:r>
            <a:endParaRPr lang="en-US" sz="850" dirty="0"/>
          </a:p>
        </p:txBody>
      </p:sp>
      <p:sp>
        <p:nvSpPr>
          <p:cNvPr id="51" name="diagram node">
            <a:extLst>
              <a:ext uri="{C183D7F6-B498-43B3-948B-1728B52AA6E4}">
                <adec:decorative xmlns:adec="http://schemas.microsoft.com/office/drawing/2017/decorative" val="1"/>
              </a:ext>
            </a:extLst>
          </p:cNvPr>
          <p:cNvSpPr/>
          <p:nvPr/>
        </p:nvSpPr>
        <p:spPr>
          <a:xfrm>
            <a:off x="7863840" y="1874520"/>
            <a:ext cx="3310128" cy="868680"/>
          </a:xfrm>
          <a:prstGeom prst="rect">
            <a:avLst/>
          </a:prstGeom>
          <a:solidFill>
            <a:srgbClr val="20272D"/>
          </a:solidFill>
          <a:ln w="19050">
            <a:solidFill>
              <a:srgbClr val="3FE08A"/>
            </a:solidFill>
            <a:prstDash val="solid"/>
          </a:ln>
          <a:effectLst>
            <a:outerShdw blurRad="152400" dist="38100" dir="5400000" algn="bl" rotWithShape="0">
              <a:srgbClr val="000000">
                <a:alpha val="35000"/>
              </a:srgbClr>
            </a:outerShdw>
          </a:effectLst>
        </p:spPr>
        <p:txBody>
          <a:bodyPr/>
          <a:lstStyle/>
          <a:p>
            <a:endParaRPr lang="en-SE"/>
          </a:p>
        </p:txBody>
      </p:sp>
      <p:sp>
        <p:nvSpPr>
          <p:cNvPr id="52" name="Text 50"/>
          <p:cNvSpPr/>
          <p:nvPr/>
        </p:nvSpPr>
        <p:spPr>
          <a:xfrm>
            <a:off x="7973568" y="2020824"/>
            <a:ext cx="3090672" cy="329184"/>
          </a:xfrm>
          <a:prstGeom prst="rect">
            <a:avLst/>
          </a:prstGeom>
          <a:noFill/>
          <a:ln/>
        </p:spPr>
        <p:txBody>
          <a:bodyPr wrap="square" lIns="0" tIns="0" rIns="0" bIns="0" rtlCol="0" anchor="t"/>
          <a:lstStyle/>
          <a:p>
            <a:pPr marL="0" indent="0" algn="ctr">
              <a:buNone/>
            </a:pPr>
            <a:r>
              <a:rPr lang="en-US" sz="1200" b="1" dirty="0">
                <a:solidFill>
                  <a:srgbClr val="E6EDF3"/>
                </a:solidFill>
                <a:latin typeface="Consolas" pitchFamily="34" charset="0"/>
                <a:ea typeface="Consolas" pitchFamily="34" charset="-122"/>
                <a:cs typeface="Consolas" pitchFamily="34" charset="-120"/>
              </a:rPr>
              <a:t>MARKET-DATA GATEWAY</a:t>
            </a:r>
            <a:endParaRPr lang="en-US" sz="1200" dirty="0"/>
          </a:p>
        </p:txBody>
      </p:sp>
      <p:sp>
        <p:nvSpPr>
          <p:cNvPr id="53" name="Text 51"/>
          <p:cNvSpPr/>
          <p:nvPr/>
        </p:nvSpPr>
        <p:spPr>
          <a:xfrm>
            <a:off x="7973568" y="2331720"/>
            <a:ext cx="3090672" cy="320040"/>
          </a:xfrm>
          <a:prstGeom prst="rect">
            <a:avLst/>
          </a:prstGeom>
          <a:noFill/>
          <a:ln/>
        </p:spPr>
        <p:txBody>
          <a:bodyPr wrap="square" lIns="0" tIns="0" rIns="0" bIns="0" rtlCol="0" anchor="t"/>
          <a:lstStyle/>
          <a:p>
            <a:pPr marL="0" indent="0" algn="ctr">
              <a:lnSpc>
                <a:spcPct val="105000"/>
              </a:lnSpc>
              <a:buNone/>
            </a:pPr>
            <a:r>
              <a:rPr lang="en-US" sz="1000" dirty="0">
                <a:solidFill>
                  <a:srgbClr val="AAB7C2"/>
                </a:solidFill>
                <a:latin typeface="Segoe UI" pitchFamily="34" charset="0"/>
                <a:ea typeface="Segoe UI" pitchFamily="34" charset="-122"/>
                <a:cs typeface="Segoe UI" pitchFamily="34" charset="-120"/>
              </a:rPr>
              <a:t>live feed, TCP 5570</a:t>
            </a:r>
            <a:endParaRPr lang="en-US" sz="1000" dirty="0"/>
          </a:p>
        </p:txBody>
      </p:sp>
      <p:sp>
        <p:nvSpPr>
          <p:cNvPr id="54" name="diagram node">
            <a:extLst>
              <a:ext uri="{C183D7F6-B498-43B3-948B-1728B52AA6E4}">
                <adec:decorative xmlns:adec="http://schemas.microsoft.com/office/drawing/2017/decorative" val="1"/>
              </a:ext>
            </a:extLst>
          </p:cNvPr>
          <p:cNvSpPr/>
          <p:nvPr/>
        </p:nvSpPr>
        <p:spPr>
          <a:xfrm>
            <a:off x="7863840" y="2880360"/>
            <a:ext cx="3310128" cy="868680"/>
          </a:xfrm>
          <a:prstGeom prst="rect">
            <a:avLst/>
          </a:prstGeom>
          <a:solidFill>
            <a:srgbClr val="20272D"/>
          </a:solidFill>
          <a:ln w="19050">
            <a:solidFill>
              <a:srgbClr val="F5A524"/>
            </a:solidFill>
            <a:prstDash val="solid"/>
          </a:ln>
          <a:effectLst>
            <a:outerShdw blurRad="152400" dist="38100" dir="5400000" algn="bl" rotWithShape="0">
              <a:srgbClr val="000000">
                <a:alpha val="35000"/>
              </a:srgbClr>
            </a:outerShdw>
          </a:effectLst>
        </p:spPr>
        <p:txBody>
          <a:bodyPr/>
          <a:lstStyle/>
          <a:p>
            <a:endParaRPr lang="en-SE"/>
          </a:p>
        </p:txBody>
      </p:sp>
      <p:sp>
        <p:nvSpPr>
          <p:cNvPr id="55" name="Text 53"/>
          <p:cNvSpPr/>
          <p:nvPr/>
        </p:nvSpPr>
        <p:spPr>
          <a:xfrm>
            <a:off x="7973568" y="3026664"/>
            <a:ext cx="3090672" cy="329184"/>
          </a:xfrm>
          <a:prstGeom prst="rect">
            <a:avLst/>
          </a:prstGeom>
          <a:noFill/>
          <a:ln/>
        </p:spPr>
        <p:txBody>
          <a:bodyPr wrap="square" lIns="0" tIns="0" rIns="0" bIns="0" rtlCol="0" anchor="t"/>
          <a:lstStyle/>
          <a:p>
            <a:pPr marL="0" indent="0" algn="ctr">
              <a:buNone/>
            </a:pPr>
            <a:r>
              <a:rPr lang="en-US" sz="1200" b="1" dirty="0">
                <a:solidFill>
                  <a:srgbClr val="E6EDF3"/>
                </a:solidFill>
                <a:latin typeface="Consolas" pitchFamily="34" charset="0"/>
                <a:ea typeface="Consolas" pitchFamily="34" charset="-122"/>
                <a:cs typeface="Consolas" pitchFamily="34" charset="-120"/>
              </a:rPr>
              <a:t>API / HISTORY GATEWAY</a:t>
            </a:r>
            <a:endParaRPr lang="en-US" sz="1200" dirty="0"/>
          </a:p>
        </p:txBody>
      </p:sp>
      <p:sp>
        <p:nvSpPr>
          <p:cNvPr id="56" name="Text 54"/>
          <p:cNvSpPr/>
          <p:nvPr/>
        </p:nvSpPr>
        <p:spPr>
          <a:xfrm>
            <a:off x="7973568" y="3337560"/>
            <a:ext cx="3090672" cy="320040"/>
          </a:xfrm>
          <a:prstGeom prst="rect">
            <a:avLst/>
          </a:prstGeom>
          <a:noFill/>
          <a:ln/>
        </p:spPr>
        <p:txBody>
          <a:bodyPr wrap="square" lIns="0" tIns="0" rIns="0" bIns="0" rtlCol="0" anchor="t"/>
          <a:lstStyle/>
          <a:p>
            <a:pPr marL="0" indent="0" algn="ctr">
              <a:lnSpc>
                <a:spcPct val="105000"/>
              </a:lnSpc>
              <a:buNone/>
            </a:pPr>
            <a:r>
              <a:rPr lang="en-US" sz="1000" dirty="0">
                <a:solidFill>
                  <a:srgbClr val="AAB7C2"/>
                </a:solidFill>
                <a:latin typeface="Segoe UI" pitchFamily="34" charset="0"/>
                <a:ea typeface="Segoe UI" pitchFamily="34" charset="-122"/>
                <a:cs typeface="Segoe UI" pitchFamily="34" charset="-120"/>
              </a:rPr>
              <a:t>history reads, HTTP 8080</a:t>
            </a:r>
            <a:endParaRPr lang="en-US" sz="1000" dirty="0"/>
          </a:p>
        </p:txBody>
      </p:sp>
      <p:sp>
        <p:nvSpPr>
          <p:cNvPr id="57" name="diagram node">
            <a:extLst>
              <a:ext uri="{C183D7F6-B498-43B3-948B-1728B52AA6E4}">
                <adec:decorative xmlns:adec="http://schemas.microsoft.com/office/drawing/2017/decorative" val="1"/>
              </a:ext>
            </a:extLst>
          </p:cNvPr>
          <p:cNvSpPr/>
          <p:nvPr/>
        </p:nvSpPr>
        <p:spPr>
          <a:xfrm>
            <a:off x="7863840" y="3886200"/>
            <a:ext cx="3310128" cy="731520"/>
          </a:xfrm>
          <a:prstGeom prst="rect">
            <a:avLst/>
          </a:prstGeom>
          <a:solidFill>
            <a:srgbClr val="20272D"/>
          </a:solidFill>
          <a:ln w="1905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58" name="Text 56"/>
          <p:cNvSpPr/>
          <p:nvPr/>
        </p:nvSpPr>
        <p:spPr>
          <a:xfrm>
            <a:off x="7973568" y="4032504"/>
            <a:ext cx="3090672" cy="329184"/>
          </a:xfrm>
          <a:prstGeom prst="rect">
            <a:avLst/>
          </a:prstGeom>
          <a:noFill/>
          <a:ln/>
        </p:spPr>
        <p:txBody>
          <a:bodyPr wrap="square" lIns="0" tIns="0" rIns="0" bIns="0" rtlCol="0" anchor="t"/>
          <a:lstStyle/>
          <a:p>
            <a:pPr marL="0" indent="0" algn="ctr">
              <a:buNone/>
            </a:pPr>
            <a:r>
              <a:rPr lang="en-US" sz="1200" b="1" dirty="0">
                <a:solidFill>
                  <a:srgbClr val="E6EDF3"/>
                </a:solidFill>
                <a:latin typeface="Consolas" pitchFamily="34" charset="0"/>
                <a:ea typeface="Consolas" pitchFamily="34" charset="-122"/>
                <a:cs typeface="Consolas" pitchFamily="34" charset="-120"/>
              </a:rPr>
              <a:t>LOG SERVER (optional)</a:t>
            </a:r>
            <a:endParaRPr lang="en-US" sz="1200" dirty="0"/>
          </a:p>
        </p:txBody>
      </p:sp>
      <p:sp>
        <p:nvSpPr>
          <p:cNvPr id="59" name="Text 57"/>
          <p:cNvSpPr/>
          <p:nvPr/>
        </p:nvSpPr>
        <p:spPr>
          <a:xfrm>
            <a:off x="7973568" y="4343400"/>
            <a:ext cx="3090672" cy="182880"/>
          </a:xfrm>
          <a:prstGeom prst="rect">
            <a:avLst/>
          </a:prstGeom>
          <a:noFill/>
          <a:ln/>
        </p:spPr>
        <p:txBody>
          <a:bodyPr wrap="square" lIns="0" tIns="0" rIns="0" bIns="0" rtlCol="0" anchor="t"/>
          <a:lstStyle/>
          <a:p>
            <a:pPr marL="0" indent="0" algn="ctr">
              <a:lnSpc>
                <a:spcPct val="105000"/>
              </a:lnSpc>
              <a:buNone/>
            </a:pPr>
            <a:r>
              <a:rPr lang="en-US" sz="1000" dirty="0">
                <a:solidFill>
                  <a:srgbClr val="AAB7C2"/>
                </a:solidFill>
                <a:latin typeface="Segoe UI" pitchFamily="34" charset="0"/>
                <a:ea typeface="Segoe UI" pitchFamily="34" charset="-122"/>
                <a:cs typeface="Segoe UI" pitchFamily="34" charset="-120"/>
              </a:rPr>
              <a:t>TCP 5600</a:t>
            </a:r>
            <a:endParaRPr lang="en-US" sz="1000" dirty="0"/>
          </a:p>
        </p:txBody>
      </p:sp>
      <p:sp>
        <p:nvSpPr>
          <p:cNvPr id="60" name="optional logging path">
            <a:extLst>
              <a:ext uri="{C183D7F6-B498-43B3-948B-1728B52AA6E4}">
                <adec:decorative xmlns:adec="http://schemas.microsoft.com/office/drawing/2017/decorative" val="1"/>
              </a:ext>
            </a:extLst>
          </p:cNvPr>
          <p:cNvSpPr/>
          <p:nvPr/>
        </p:nvSpPr>
        <p:spPr>
          <a:xfrm>
            <a:off x="5303520" y="3566160"/>
            <a:ext cx="0" cy="685800"/>
          </a:xfrm>
          <a:prstGeom prst="line">
            <a:avLst/>
          </a:prstGeom>
          <a:noFill/>
          <a:ln w="19050">
            <a:solidFill>
              <a:srgbClr val="313B44"/>
            </a:solidFill>
            <a:prstDash val="dash"/>
            <a:tailEnd type="triangle"/>
          </a:ln>
        </p:spPr>
        <p:txBody>
          <a:bodyPr/>
          <a:lstStyle/>
          <a:p>
            <a:endParaRPr lang="en-SE"/>
          </a:p>
        </p:txBody>
      </p:sp>
      <p:sp>
        <p:nvSpPr>
          <p:cNvPr id="61" name="optional logging path">
            <a:extLst>
              <a:ext uri="{C183D7F6-B498-43B3-948B-1728B52AA6E4}">
                <adec:decorative xmlns:adec="http://schemas.microsoft.com/office/drawing/2017/decorative" val="1"/>
              </a:ext>
            </a:extLst>
          </p:cNvPr>
          <p:cNvSpPr/>
          <p:nvPr/>
        </p:nvSpPr>
        <p:spPr>
          <a:xfrm>
            <a:off x="5303520" y="4251960"/>
            <a:ext cx="2514600" cy="0"/>
          </a:xfrm>
          <a:prstGeom prst="line">
            <a:avLst/>
          </a:prstGeom>
          <a:noFill/>
          <a:ln w="19050">
            <a:solidFill>
              <a:srgbClr val="313B44"/>
            </a:solidFill>
            <a:prstDash val="dash"/>
            <a:tailEnd type="triangle"/>
          </a:ln>
        </p:spPr>
        <p:txBody>
          <a:bodyPr/>
          <a:lstStyle/>
          <a:p>
            <a:endParaRPr lang="en-SE"/>
          </a:p>
        </p:txBody>
      </p:sp>
      <p:sp>
        <p:nvSpPr>
          <p:cNvPr id="62" name="panel">
            <a:extLst>
              <a:ext uri="{C183D7F6-B498-43B3-948B-1728B52AA6E4}">
                <adec:decorative xmlns:adec="http://schemas.microsoft.com/office/drawing/2017/decorative" val="1"/>
              </a:ext>
            </a:extLst>
          </p:cNvPr>
          <p:cNvSpPr/>
          <p:nvPr/>
        </p:nvSpPr>
        <p:spPr>
          <a:xfrm>
            <a:off x="566928" y="4800600"/>
            <a:ext cx="3474720" cy="150876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63" name="panel accent">
            <a:extLst>
              <a:ext uri="{C183D7F6-B498-43B3-948B-1728B52AA6E4}">
                <adec:decorative xmlns:adec="http://schemas.microsoft.com/office/drawing/2017/decorative" val="1"/>
              </a:ext>
            </a:extLst>
          </p:cNvPr>
          <p:cNvSpPr/>
          <p:nvPr/>
        </p:nvSpPr>
        <p:spPr>
          <a:xfrm>
            <a:off x="566928" y="4800600"/>
            <a:ext cx="50292" cy="1508760"/>
          </a:xfrm>
          <a:prstGeom prst="rect">
            <a:avLst/>
          </a:prstGeom>
          <a:solidFill>
            <a:srgbClr val="3FE08A"/>
          </a:solidFill>
          <a:ln w="12700">
            <a:solidFill>
              <a:srgbClr val="333333"/>
            </a:solidFill>
            <a:prstDash val="solid"/>
          </a:ln>
        </p:spPr>
        <p:txBody>
          <a:bodyPr/>
          <a:lstStyle/>
          <a:p>
            <a:endParaRPr lang="en-SE"/>
          </a:p>
        </p:txBody>
      </p:sp>
      <p:sp>
        <p:nvSpPr>
          <p:cNvPr id="64" name="Text 62"/>
          <p:cNvSpPr/>
          <p:nvPr/>
        </p:nvSpPr>
        <p:spPr>
          <a:xfrm>
            <a:off x="804672" y="4956048"/>
            <a:ext cx="3017520" cy="292608"/>
          </a:xfrm>
          <a:prstGeom prst="rect">
            <a:avLst/>
          </a:prstGeom>
          <a:noFill/>
          <a:ln/>
        </p:spPr>
        <p:txBody>
          <a:bodyPr wrap="square" lIns="0" tIns="0" rIns="0" bIns="0" rtlCol="0" anchor="ctr"/>
          <a:lstStyle/>
          <a:p>
            <a:pPr marL="0" indent="0">
              <a:buNone/>
            </a:pPr>
            <a:r>
              <a:rPr lang="en-US" sz="1200" b="1" dirty="0">
                <a:solidFill>
                  <a:srgbClr val="E6EDF3"/>
                </a:solidFill>
                <a:latin typeface="Segoe UI" pitchFamily="34" charset="0"/>
                <a:ea typeface="Segoe UI" pitchFamily="34" charset="-122"/>
                <a:cs typeface="Segoe UI" pitchFamily="34" charset="-120"/>
              </a:rPr>
              <a:t>One feed, shared by everyone</a:t>
            </a:r>
            <a:endParaRPr lang="en-US" sz="1200" dirty="0"/>
          </a:p>
        </p:txBody>
      </p:sp>
      <p:sp>
        <p:nvSpPr>
          <p:cNvPr id="65" name="Text 63"/>
          <p:cNvSpPr/>
          <p:nvPr/>
        </p:nvSpPr>
        <p:spPr>
          <a:xfrm>
            <a:off x="804672" y="5266944"/>
            <a:ext cx="3017520" cy="914400"/>
          </a:xfrm>
          <a:prstGeom prst="rect">
            <a:avLst/>
          </a:prstGeom>
          <a:noFill/>
          <a:ln/>
        </p:spPr>
        <p:txBody>
          <a:bodyPr wrap="square" lIns="0" tIns="0" rIns="0" bIns="0" rtlCol="0" anchor="ctr"/>
          <a:lstStyle/>
          <a:p>
            <a:pPr marL="0" indent="0">
              <a:lnSpc>
                <a:spcPct val="110000"/>
              </a:lnSpc>
              <a:buNone/>
            </a:pPr>
            <a:r>
              <a:rPr lang="en-US" sz="1000" dirty="0">
                <a:solidFill>
                  <a:srgbClr val="AAB7C2"/>
                </a:solidFill>
                <a:latin typeface="Segoe UI" pitchFamily="34" charset="0"/>
                <a:ea typeface="Segoe UI" pitchFamily="34" charset="-122"/>
                <a:cs typeface="Segoe UI" pitchFamily="34" charset="-120"/>
              </a:rPr>
              <a:t>The bridge opens exactly one live connection to the market-data gateway and shares it across every open browser tab. Ten wallboards do not mean ten connections.</a:t>
            </a:r>
            <a:endParaRPr lang="en-US" sz="1000" dirty="0"/>
          </a:p>
        </p:txBody>
      </p:sp>
      <p:sp>
        <p:nvSpPr>
          <p:cNvPr id="66" name="panel">
            <a:extLst>
              <a:ext uri="{C183D7F6-B498-43B3-948B-1728B52AA6E4}">
                <adec:decorative xmlns:adec="http://schemas.microsoft.com/office/drawing/2017/decorative" val="1"/>
              </a:ext>
            </a:extLst>
          </p:cNvPr>
          <p:cNvSpPr/>
          <p:nvPr/>
        </p:nvSpPr>
        <p:spPr>
          <a:xfrm>
            <a:off x="4279392" y="4800600"/>
            <a:ext cx="3474720" cy="150876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67" name="panel accent">
            <a:extLst>
              <a:ext uri="{C183D7F6-B498-43B3-948B-1728B52AA6E4}">
                <adec:decorative xmlns:adec="http://schemas.microsoft.com/office/drawing/2017/decorative" val="1"/>
              </a:ext>
            </a:extLst>
          </p:cNvPr>
          <p:cNvSpPr/>
          <p:nvPr/>
        </p:nvSpPr>
        <p:spPr>
          <a:xfrm>
            <a:off x="4279392" y="4800600"/>
            <a:ext cx="50292" cy="1508760"/>
          </a:xfrm>
          <a:prstGeom prst="rect">
            <a:avLst/>
          </a:prstGeom>
          <a:solidFill>
            <a:srgbClr val="3FE08A"/>
          </a:solidFill>
          <a:ln w="12700">
            <a:solidFill>
              <a:srgbClr val="333333"/>
            </a:solidFill>
            <a:prstDash val="solid"/>
          </a:ln>
        </p:spPr>
        <p:txBody>
          <a:bodyPr/>
          <a:lstStyle/>
          <a:p>
            <a:endParaRPr lang="en-SE"/>
          </a:p>
        </p:txBody>
      </p:sp>
      <p:sp>
        <p:nvSpPr>
          <p:cNvPr id="68" name="Text 66"/>
          <p:cNvSpPr/>
          <p:nvPr/>
        </p:nvSpPr>
        <p:spPr>
          <a:xfrm>
            <a:off x="4517136" y="4956048"/>
            <a:ext cx="3017520" cy="292608"/>
          </a:xfrm>
          <a:prstGeom prst="rect">
            <a:avLst/>
          </a:prstGeom>
          <a:noFill/>
          <a:ln/>
        </p:spPr>
        <p:txBody>
          <a:bodyPr wrap="square" lIns="0" tIns="0" rIns="0" bIns="0" rtlCol="0" anchor="ctr"/>
          <a:lstStyle/>
          <a:p>
            <a:pPr marL="0" indent="0">
              <a:buNone/>
            </a:pPr>
            <a:r>
              <a:rPr lang="en-US" sz="1200" b="1" dirty="0">
                <a:solidFill>
                  <a:srgbClr val="E6EDF3"/>
                </a:solidFill>
                <a:latin typeface="Segoe UI" pitchFamily="34" charset="0"/>
                <a:ea typeface="Segoe UI" pitchFamily="34" charset="-122"/>
                <a:cs typeface="Segoe UI" pitchFamily="34" charset="-120"/>
              </a:rPr>
              <a:t>The key never leaves the server</a:t>
            </a:r>
            <a:endParaRPr lang="en-US" sz="1200" dirty="0"/>
          </a:p>
        </p:txBody>
      </p:sp>
      <p:sp>
        <p:nvSpPr>
          <p:cNvPr id="69" name="Text 67"/>
          <p:cNvSpPr/>
          <p:nvPr/>
        </p:nvSpPr>
        <p:spPr>
          <a:xfrm>
            <a:off x="4517136" y="5266944"/>
            <a:ext cx="3017520" cy="914400"/>
          </a:xfrm>
          <a:prstGeom prst="rect">
            <a:avLst/>
          </a:prstGeom>
          <a:noFill/>
          <a:ln/>
        </p:spPr>
        <p:txBody>
          <a:bodyPr wrap="square" lIns="0" tIns="0" rIns="0" bIns="0" rtlCol="0" anchor="ctr"/>
          <a:lstStyle/>
          <a:p>
            <a:pPr marL="0" indent="0">
              <a:lnSpc>
                <a:spcPct val="110000"/>
              </a:lnSpc>
              <a:buNone/>
            </a:pPr>
            <a:r>
              <a:rPr lang="en-US" sz="1000" dirty="0">
                <a:solidFill>
                  <a:srgbClr val="AAB7C2"/>
                </a:solidFill>
                <a:latin typeface="Segoe UI" pitchFamily="34" charset="0"/>
                <a:ea typeface="Segoe UI" pitchFamily="34" charset="-122"/>
                <a:cs typeface="Segoe UI" pitchFamily="34" charset="-120"/>
              </a:rPr>
              <a:t>The browser is never given the history API key. It asks the bridge, and the bridge asks the history gateway on its behalf.</a:t>
            </a:r>
            <a:endParaRPr lang="en-US" sz="1000" dirty="0"/>
          </a:p>
        </p:txBody>
      </p:sp>
      <p:sp>
        <p:nvSpPr>
          <p:cNvPr id="70" name="panel">
            <a:extLst>
              <a:ext uri="{C183D7F6-B498-43B3-948B-1728B52AA6E4}">
                <adec:decorative xmlns:adec="http://schemas.microsoft.com/office/drawing/2017/decorative" val="1"/>
              </a:ext>
            </a:extLst>
          </p:cNvPr>
          <p:cNvSpPr/>
          <p:nvPr/>
        </p:nvSpPr>
        <p:spPr>
          <a:xfrm>
            <a:off x="7991856" y="4800600"/>
            <a:ext cx="3474720" cy="150876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71" name="panel accent">
            <a:extLst>
              <a:ext uri="{C183D7F6-B498-43B3-948B-1728B52AA6E4}">
                <adec:decorative xmlns:adec="http://schemas.microsoft.com/office/drawing/2017/decorative" val="1"/>
              </a:ext>
            </a:extLst>
          </p:cNvPr>
          <p:cNvSpPr/>
          <p:nvPr/>
        </p:nvSpPr>
        <p:spPr>
          <a:xfrm>
            <a:off x="7991856" y="4800600"/>
            <a:ext cx="50292" cy="1508760"/>
          </a:xfrm>
          <a:prstGeom prst="rect">
            <a:avLst/>
          </a:prstGeom>
          <a:solidFill>
            <a:srgbClr val="3FE08A"/>
          </a:solidFill>
          <a:ln w="12700">
            <a:solidFill>
              <a:srgbClr val="333333"/>
            </a:solidFill>
            <a:prstDash val="solid"/>
          </a:ln>
        </p:spPr>
        <p:txBody>
          <a:bodyPr/>
          <a:lstStyle/>
          <a:p>
            <a:endParaRPr lang="en-SE"/>
          </a:p>
        </p:txBody>
      </p:sp>
      <p:sp>
        <p:nvSpPr>
          <p:cNvPr id="72" name="Text 70"/>
          <p:cNvSpPr/>
          <p:nvPr/>
        </p:nvSpPr>
        <p:spPr>
          <a:xfrm>
            <a:off x="8229600" y="4956048"/>
            <a:ext cx="3017520" cy="292608"/>
          </a:xfrm>
          <a:prstGeom prst="rect">
            <a:avLst/>
          </a:prstGeom>
          <a:noFill/>
          <a:ln/>
        </p:spPr>
        <p:txBody>
          <a:bodyPr wrap="square" lIns="0" tIns="0" rIns="0" bIns="0" rtlCol="0" anchor="ctr"/>
          <a:lstStyle/>
          <a:p>
            <a:pPr marL="0" indent="0">
              <a:buNone/>
            </a:pPr>
            <a:r>
              <a:rPr lang="en-US" sz="1200" b="1" dirty="0">
                <a:solidFill>
                  <a:srgbClr val="E6EDF3"/>
                </a:solidFill>
                <a:latin typeface="Segoe UI" pitchFamily="34" charset="0"/>
                <a:ea typeface="Segoe UI" pitchFamily="34" charset="-122"/>
                <a:cs typeface="Segoe UI" pitchFamily="34" charset="-120"/>
              </a:rPr>
              <a:t>Why a bridge at all</a:t>
            </a:r>
            <a:endParaRPr lang="en-US" sz="1200" dirty="0"/>
          </a:p>
        </p:txBody>
      </p:sp>
      <p:sp>
        <p:nvSpPr>
          <p:cNvPr id="73" name="Text 71"/>
          <p:cNvSpPr/>
          <p:nvPr/>
        </p:nvSpPr>
        <p:spPr>
          <a:xfrm>
            <a:off x="8229600" y="5266944"/>
            <a:ext cx="3017520" cy="914400"/>
          </a:xfrm>
          <a:prstGeom prst="rect">
            <a:avLst/>
          </a:prstGeom>
          <a:noFill/>
          <a:ln/>
        </p:spPr>
        <p:txBody>
          <a:bodyPr wrap="square" lIns="0" tIns="0" rIns="0" bIns="0" rtlCol="0" anchor="ctr"/>
          <a:lstStyle/>
          <a:p>
            <a:pPr marL="0" indent="0">
              <a:lnSpc>
                <a:spcPct val="110000"/>
              </a:lnSpc>
              <a:buNone/>
            </a:pPr>
            <a:r>
              <a:rPr lang="en-US" sz="1000" dirty="0">
                <a:solidFill>
                  <a:srgbClr val="AAB7C2"/>
                </a:solidFill>
                <a:latin typeface="Segoe UI" pitchFamily="34" charset="0"/>
                <a:ea typeface="Segoe UI" pitchFamily="34" charset="-122"/>
                <a:cs typeface="Segoe UI" pitchFamily="34" charset="-120"/>
              </a:rPr>
              <a:t>A browser cannot speak a raw TCP protocol. It needs a server-side process to translate the feed into WebSocket frames it can consume.</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CALF — the market-data protocol</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07 · TECHNICAL REFERENCE</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44</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Deliberately the simplest thing that could work: newline-delimited text over a plain TCP socket.</a:t>
            </a:r>
            <a:endParaRPr lang="en-US" sz="1400" dirty="0"/>
          </a:p>
        </p:txBody>
      </p:sp>
      <p:sp>
        <p:nvSpPr>
          <p:cNvPr id="38" name="row background">
            <a:extLst>
              <a:ext uri="{C183D7F6-B498-43B3-948B-1728B52AA6E4}">
                <adec:decorative xmlns:adec="http://schemas.microsoft.com/office/drawing/2017/decorative" val="1"/>
              </a:ext>
            </a:extLst>
          </p:cNvPr>
          <p:cNvSpPr/>
          <p:nvPr/>
        </p:nvSpPr>
        <p:spPr>
          <a:xfrm>
            <a:off x="566928" y="1828800"/>
            <a:ext cx="5166360" cy="548640"/>
          </a:xfrm>
          <a:prstGeom prst="rect">
            <a:avLst/>
          </a:prstGeom>
          <a:solidFill>
            <a:srgbClr val="20272D"/>
          </a:solidFill>
          <a:ln w="12700">
            <a:solidFill>
              <a:srgbClr val="333333"/>
            </a:solidFill>
            <a:prstDash val="solid"/>
          </a:ln>
        </p:spPr>
        <p:txBody>
          <a:bodyPr/>
          <a:lstStyle/>
          <a:p>
            <a:endParaRPr lang="en-SE"/>
          </a:p>
        </p:txBody>
      </p:sp>
      <p:sp>
        <p:nvSpPr>
          <p:cNvPr id="39" name="Text 37"/>
          <p:cNvSpPr/>
          <p:nvPr/>
        </p:nvSpPr>
        <p:spPr>
          <a:xfrm>
            <a:off x="749808" y="1828800"/>
            <a:ext cx="1737360" cy="548640"/>
          </a:xfrm>
          <a:prstGeom prst="rect">
            <a:avLst/>
          </a:prstGeom>
          <a:noFill/>
          <a:ln/>
        </p:spPr>
        <p:txBody>
          <a:bodyPr wrap="square" lIns="0" tIns="0" rIns="0" bIns="0" rtlCol="0" anchor="ctr"/>
          <a:lstStyle/>
          <a:p>
            <a:pPr marL="0" indent="0">
              <a:buNone/>
            </a:pPr>
            <a:r>
              <a:rPr lang="en-US" sz="1050" b="1" dirty="0">
                <a:solidFill>
                  <a:srgbClr val="3FE08A"/>
                </a:solidFill>
                <a:latin typeface="Consolas" pitchFamily="34" charset="0"/>
                <a:ea typeface="Consolas" pitchFamily="34" charset="-122"/>
                <a:cs typeface="Consolas" pitchFamily="34" charset="-120"/>
              </a:rPr>
              <a:t>Transport</a:t>
            </a:r>
            <a:endParaRPr lang="en-US" sz="1050" dirty="0"/>
          </a:p>
        </p:txBody>
      </p:sp>
      <p:sp>
        <p:nvSpPr>
          <p:cNvPr id="40" name="Text 38"/>
          <p:cNvSpPr/>
          <p:nvPr/>
        </p:nvSpPr>
        <p:spPr>
          <a:xfrm>
            <a:off x="2578608" y="1828800"/>
            <a:ext cx="3017520" cy="548640"/>
          </a:xfrm>
          <a:prstGeom prst="rect">
            <a:avLst/>
          </a:prstGeom>
          <a:noFill/>
          <a:ln/>
        </p:spPr>
        <p:txBody>
          <a:bodyPr wrap="square" lIns="0" tIns="0" rIns="0" bIns="0" rtlCol="0" anchor="ctr"/>
          <a:lstStyle/>
          <a:p>
            <a:pPr marL="0" indent="0">
              <a:lnSpc>
                <a:spcPct val="105000"/>
              </a:lnSpc>
              <a:buNone/>
            </a:pPr>
            <a:r>
              <a:rPr lang="en-US" sz="1050" dirty="0">
                <a:solidFill>
                  <a:srgbClr val="AAB7C2"/>
                </a:solidFill>
                <a:latin typeface="Segoe UI" pitchFamily="34" charset="0"/>
                <a:ea typeface="Segoe UI" pitchFamily="34" charset="-122"/>
                <a:cs typeface="Segoe UI" pitchFamily="34" charset="-120"/>
              </a:rPr>
              <a:t>Plain TCP, newline-delimited UTF-8 text</a:t>
            </a:r>
            <a:endParaRPr lang="en-US" sz="1050" dirty="0"/>
          </a:p>
        </p:txBody>
      </p:sp>
      <p:sp>
        <p:nvSpPr>
          <p:cNvPr id="41" name="row background">
            <a:extLst>
              <a:ext uri="{C183D7F6-B498-43B3-948B-1728B52AA6E4}">
                <adec:decorative xmlns:adec="http://schemas.microsoft.com/office/drawing/2017/decorative" val="1"/>
              </a:ext>
            </a:extLst>
          </p:cNvPr>
          <p:cNvSpPr/>
          <p:nvPr/>
        </p:nvSpPr>
        <p:spPr>
          <a:xfrm>
            <a:off x="6007608" y="1828800"/>
            <a:ext cx="5166360" cy="548640"/>
          </a:xfrm>
          <a:prstGeom prst="rect">
            <a:avLst/>
          </a:prstGeom>
          <a:solidFill>
            <a:srgbClr val="20272D"/>
          </a:solidFill>
          <a:ln w="12700">
            <a:solidFill>
              <a:srgbClr val="333333"/>
            </a:solidFill>
            <a:prstDash val="solid"/>
          </a:ln>
        </p:spPr>
        <p:txBody>
          <a:bodyPr/>
          <a:lstStyle/>
          <a:p>
            <a:endParaRPr lang="en-SE"/>
          </a:p>
        </p:txBody>
      </p:sp>
      <p:sp>
        <p:nvSpPr>
          <p:cNvPr id="42" name="Text 40"/>
          <p:cNvSpPr/>
          <p:nvPr/>
        </p:nvSpPr>
        <p:spPr>
          <a:xfrm>
            <a:off x="6190488" y="1828800"/>
            <a:ext cx="1737360" cy="548640"/>
          </a:xfrm>
          <a:prstGeom prst="rect">
            <a:avLst/>
          </a:prstGeom>
          <a:noFill/>
          <a:ln/>
        </p:spPr>
        <p:txBody>
          <a:bodyPr wrap="square" lIns="0" tIns="0" rIns="0" bIns="0" rtlCol="0" anchor="ctr"/>
          <a:lstStyle/>
          <a:p>
            <a:pPr marL="0" indent="0">
              <a:buNone/>
            </a:pPr>
            <a:r>
              <a:rPr lang="en-US" sz="1050" b="1" dirty="0">
                <a:solidFill>
                  <a:srgbClr val="3FE08A"/>
                </a:solidFill>
                <a:latin typeface="Consolas" pitchFamily="34" charset="0"/>
                <a:ea typeface="Consolas" pitchFamily="34" charset="-122"/>
                <a:cs typeface="Consolas" pitchFamily="34" charset="-120"/>
              </a:rPr>
              <a:t>Default port</a:t>
            </a:r>
            <a:endParaRPr lang="en-US" sz="1050" dirty="0"/>
          </a:p>
        </p:txBody>
      </p:sp>
      <p:sp>
        <p:nvSpPr>
          <p:cNvPr id="43" name="Text 41"/>
          <p:cNvSpPr/>
          <p:nvPr/>
        </p:nvSpPr>
        <p:spPr>
          <a:xfrm>
            <a:off x="8019288" y="1828800"/>
            <a:ext cx="3017520" cy="548640"/>
          </a:xfrm>
          <a:prstGeom prst="rect">
            <a:avLst/>
          </a:prstGeom>
          <a:noFill/>
          <a:ln/>
        </p:spPr>
        <p:txBody>
          <a:bodyPr wrap="square" lIns="0" tIns="0" rIns="0" bIns="0" rtlCol="0" anchor="ctr"/>
          <a:lstStyle/>
          <a:p>
            <a:pPr marL="0" indent="0">
              <a:lnSpc>
                <a:spcPct val="105000"/>
              </a:lnSpc>
              <a:buNone/>
            </a:pPr>
            <a:r>
              <a:rPr lang="en-US" sz="1050" dirty="0">
                <a:solidFill>
                  <a:srgbClr val="AAB7C2"/>
                </a:solidFill>
                <a:latin typeface="Segoe UI" pitchFamily="34" charset="0"/>
                <a:ea typeface="Segoe UI" pitchFamily="34" charset="-122"/>
                <a:cs typeface="Segoe UI" pitchFamily="34" charset="-120"/>
              </a:rPr>
              <a:t>5570</a:t>
            </a:r>
            <a:endParaRPr lang="en-US" sz="1050" dirty="0"/>
          </a:p>
        </p:txBody>
      </p:sp>
      <p:sp>
        <p:nvSpPr>
          <p:cNvPr id="44" name="row background">
            <a:extLst>
              <a:ext uri="{C183D7F6-B498-43B3-948B-1728B52AA6E4}">
                <adec:decorative xmlns:adec="http://schemas.microsoft.com/office/drawing/2017/decorative" val="1"/>
              </a:ext>
            </a:extLst>
          </p:cNvPr>
          <p:cNvSpPr/>
          <p:nvPr/>
        </p:nvSpPr>
        <p:spPr>
          <a:xfrm>
            <a:off x="566928" y="2450592"/>
            <a:ext cx="5166360" cy="548640"/>
          </a:xfrm>
          <a:prstGeom prst="rect">
            <a:avLst/>
          </a:prstGeom>
          <a:solidFill>
            <a:srgbClr val="191E23"/>
          </a:solidFill>
          <a:ln w="12700">
            <a:solidFill>
              <a:srgbClr val="333333"/>
            </a:solidFill>
            <a:prstDash val="solid"/>
          </a:ln>
        </p:spPr>
        <p:txBody>
          <a:bodyPr/>
          <a:lstStyle/>
          <a:p>
            <a:endParaRPr lang="en-SE"/>
          </a:p>
        </p:txBody>
      </p:sp>
      <p:sp>
        <p:nvSpPr>
          <p:cNvPr id="45" name="Text 43"/>
          <p:cNvSpPr/>
          <p:nvPr/>
        </p:nvSpPr>
        <p:spPr>
          <a:xfrm>
            <a:off x="749808" y="2450592"/>
            <a:ext cx="1737360" cy="548640"/>
          </a:xfrm>
          <a:prstGeom prst="rect">
            <a:avLst/>
          </a:prstGeom>
          <a:noFill/>
          <a:ln/>
        </p:spPr>
        <p:txBody>
          <a:bodyPr wrap="square" lIns="0" tIns="0" rIns="0" bIns="0" rtlCol="0" anchor="ctr"/>
          <a:lstStyle/>
          <a:p>
            <a:pPr marL="0" indent="0">
              <a:buNone/>
            </a:pPr>
            <a:r>
              <a:rPr lang="en-US" sz="1050" b="1" dirty="0">
                <a:solidFill>
                  <a:srgbClr val="3FE08A"/>
                </a:solidFill>
                <a:latin typeface="Consolas" pitchFamily="34" charset="0"/>
                <a:ea typeface="Consolas" pitchFamily="34" charset="-122"/>
                <a:cs typeface="Consolas" pitchFamily="34" charset="-120"/>
              </a:rPr>
              <a:t>Protocol token</a:t>
            </a:r>
            <a:endParaRPr lang="en-US" sz="1050" dirty="0"/>
          </a:p>
        </p:txBody>
      </p:sp>
      <p:sp>
        <p:nvSpPr>
          <p:cNvPr id="46" name="Text 44"/>
          <p:cNvSpPr/>
          <p:nvPr/>
        </p:nvSpPr>
        <p:spPr>
          <a:xfrm>
            <a:off x="2578608" y="2450592"/>
            <a:ext cx="3017520" cy="548640"/>
          </a:xfrm>
          <a:prstGeom prst="rect">
            <a:avLst/>
          </a:prstGeom>
          <a:noFill/>
          <a:ln/>
        </p:spPr>
        <p:txBody>
          <a:bodyPr wrap="square" lIns="0" tIns="0" rIns="0" bIns="0" rtlCol="0" anchor="ctr"/>
          <a:lstStyle/>
          <a:p>
            <a:pPr marL="0" indent="0">
              <a:lnSpc>
                <a:spcPct val="105000"/>
              </a:lnSpc>
              <a:buNone/>
            </a:pPr>
            <a:r>
              <a:rPr lang="en-US" sz="1050" dirty="0">
                <a:solidFill>
                  <a:srgbClr val="AAB7C2"/>
                </a:solidFill>
                <a:latin typeface="Segoe UI" pitchFamily="34" charset="0"/>
                <a:ea typeface="Segoe UI" pitchFamily="34" charset="-122"/>
                <a:cs typeface="Segoe UI" pitchFamily="34" charset="-120"/>
              </a:rPr>
              <a:t>CALF1, in the HELLO and WELCOME exchange</a:t>
            </a:r>
            <a:endParaRPr lang="en-US" sz="1050" dirty="0"/>
          </a:p>
        </p:txBody>
      </p:sp>
      <p:sp>
        <p:nvSpPr>
          <p:cNvPr id="47" name="row background">
            <a:extLst>
              <a:ext uri="{C183D7F6-B498-43B3-948B-1728B52AA6E4}">
                <adec:decorative xmlns:adec="http://schemas.microsoft.com/office/drawing/2017/decorative" val="1"/>
              </a:ext>
            </a:extLst>
          </p:cNvPr>
          <p:cNvSpPr/>
          <p:nvPr/>
        </p:nvSpPr>
        <p:spPr>
          <a:xfrm>
            <a:off x="6007608" y="2450592"/>
            <a:ext cx="5166360" cy="548640"/>
          </a:xfrm>
          <a:prstGeom prst="rect">
            <a:avLst/>
          </a:prstGeom>
          <a:solidFill>
            <a:srgbClr val="191E23"/>
          </a:solidFill>
          <a:ln w="12700">
            <a:solidFill>
              <a:srgbClr val="333333"/>
            </a:solidFill>
            <a:prstDash val="solid"/>
          </a:ln>
        </p:spPr>
        <p:txBody>
          <a:bodyPr/>
          <a:lstStyle/>
          <a:p>
            <a:endParaRPr lang="en-SE"/>
          </a:p>
        </p:txBody>
      </p:sp>
      <p:sp>
        <p:nvSpPr>
          <p:cNvPr id="48" name="Text 46"/>
          <p:cNvSpPr/>
          <p:nvPr/>
        </p:nvSpPr>
        <p:spPr>
          <a:xfrm>
            <a:off x="6190488" y="2450592"/>
            <a:ext cx="1737360" cy="548640"/>
          </a:xfrm>
          <a:prstGeom prst="rect">
            <a:avLst/>
          </a:prstGeom>
          <a:noFill/>
          <a:ln/>
        </p:spPr>
        <p:txBody>
          <a:bodyPr wrap="square" lIns="0" tIns="0" rIns="0" bIns="0" rtlCol="0" anchor="ctr"/>
          <a:lstStyle/>
          <a:p>
            <a:pPr marL="0" indent="0">
              <a:buNone/>
            </a:pPr>
            <a:r>
              <a:rPr lang="en-US" sz="1050" b="1" dirty="0">
                <a:solidFill>
                  <a:srgbClr val="3FE08A"/>
                </a:solidFill>
                <a:latin typeface="Consolas" pitchFamily="34" charset="0"/>
                <a:ea typeface="Consolas" pitchFamily="34" charset="-122"/>
                <a:cs typeface="Consolas" pitchFamily="34" charset="-120"/>
              </a:rPr>
              <a:t>Line format</a:t>
            </a:r>
            <a:endParaRPr lang="en-US" sz="1050" dirty="0"/>
          </a:p>
        </p:txBody>
      </p:sp>
      <p:sp>
        <p:nvSpPr>
          <p:cNvPr id="49" name="Text 47"/>
          <p:cNvSpPr/>
          <p:nvPr/>
        </p:nvSpPr>
        <p:spPr>
          <a:xfrm>
            <a:off x="8019288" y="2450592"/>
            <a:ext cx="3017520" cy="548640"/>
          </a:xfrm>
          <a:prstGeom prst="rect">
            <a:avLst/>
          </a:prstGeom>
          <a:noFill/>
          <a:ln/>
        </p:spPr>
        <p:txBody>
          <a:bodyPr wrap="square" lIns="0" tIns="0" rIns="0" bIns="0" rtlCol="0" anchor="ctr"/>
          <a:lstStyle/>
          <a:p>
            <a:pPr marL="0" indent="0">
              <a:lnSpc>
                <a:spcPct val="105000"/>
              </a:lnSpc>
              <a:buNone/>
            </a:pPr>
            <a:r>
              <a:rPr lang="en-US" sz="1050" dirty="0">
                <a:solidFill>
                  <a:srgbClr val="AAB7C2"/>
                </a:solidFill>
                <a:latin typeface="Segoe UI" pitchFamily="34" charset="0"/>
                <a:ea typeface="Segoe UI" pitchFamily="34" charset="-122"/>
                <a:cs typeface="Segoe UI" pitchFamily="34" charset="-120"/>
              </a:rPr>
              <a:t>MSGTYPE|KEY=VALUE|KEY=VALUE</a:t>
            </a:r>
            <a:endParaRPr lang="en-US" sz="1050" dirty="0"/>
          </a:p>
        </p:txBody>
      </p:sp>
      <p:sp>
        <p:nvSpPr>
          <p:cNvPr id="50" name="row background">
            <a:extLst>
              <a:ext uri="{C183D7F6-B498-43B3-948B-1728B52AA6E4}">
                <adec:decorative xmlns:adec="http://schemas.microsoft.com/office/drawing/2017/decorative" val="1"/>
              </a:ext>
            </a:extLst>
          </p:cNvPr>
          <p:cNvSpPr/>
          <p:nvPr/>
        </p:nvSpPr>
        <p:spPr>
          <a:xfrm>
            <a:off x="566928" y="3072384"/>
            <a:ext cx="5166360" cy="548640"/>
          </a:xfrm>
          <a:prstGeom prst="rect">
            <a:avLst/>
          </a:prstGeom>
          <a:solidFill>
            <a:srgbClr val="20272D"/>
          </a:solidFill>
          <a:ln w="12700">
            <a:solidFill>
              <a:srgbClr val="333333"/>
            </a:solidFill>
            <a:prstDash val="solid"/>
          </a:ln>
        </p:spPr>
        <p:txBody>
          <a:bodyPr/>
          <a:lstStyle/>
          <a:p>
            <a:endParaRPr lang="en-SE"/>
          </a:p>
        </p:txBody>
      </p:sp>
      <p:sp>
        <p:nvSpPr>
          <p:cNvPr id="51" name="Text 49"/>
          <p:cNvSpPr/>
          <p:nvPr/>
        </p:nvSpPr>
        <p:spPr>
          <a:xfrm>
            <a:off x="749808" y="3072384"/>
            <a:ext cx="1737360" cy="548640"/>
          </a:xfrm>
          <a:prstGeom prst="rect">
            <a:avLst/>
          </a:prstGeom>
          <a:noFill/>
          <a:ln/>
        </p:spPr>
        <p:txBody>
          <a:bodyPr wrap="square" lIns="0" tIns="0" rIns="0" bIns="0" rtlCol="0" anchor="ctr"/>
          <a:lstStyle/>
          <a:p>
            <a:pPr marL="0" indent="0">
              <a:buNone/>
            </a:pPr>
            <a:r>
              <a:rPr lang="en-US" sz="1050" b="1" dirty="0">
                <a:solidFill>
                  <a:srgbClr val="3FE08A"/>
                </a:solidFill>
                <a:latin typeface="Consolas" pitchFamily="34" charset="0"/>
                <a:ea typeface="Consolas" pitchFamily="34" charset="-122"/>
                <a:cs typeface="Consolas" pitchFamily="34" charset="-120"/>
              </a:rPr>
              <a:t>Max line length</a:t>
            </a:r>
            <a:endParaRPr lang="en-US" sz="1050" dirty="0"/>
          </a:p>
        </p:txBody>
      </p:sp>
      <p:sp>
        <p:nvSpPr>
          <p:cNvPr id="52" name="Text 50"/>
          <p:cNvSpPr/>
          <p:nvPr/>
        </p:nvSpPr>
        <p:spPr>
          <a:xfrm>
            <a:off x="2578608" y="3072384"/>
            <a:ext cx="3017520" cy="548640"/>
          </a:xfrm>
          <a:prstGeom prst="rect">
            <a:avLst/>
          </a:prstGeom>
          <a:noFill/>
          <a:ln/>
        </p:spPr>
        <p:txBody>
          <a:bodyPr wrap="square" lIns="0" tIns="0" rIns="0" bIns="0" rtlCol="0" anchor="ctr"/>
          <a:lstStyle/>
          <a:p>
            <a:pPr marL="0" indent="0">
              <a:lnSpc>
                <a:spcPct val="105000"/>
              </a:lnSpc>
              <a:buNone/>
            </a:pPr>
            <a:r>
              <a:rPr lang="en-US" sz="1050" dirty="0">
                <a:solidFill>
                  <a:srgbClr val="AAB7C2"/>
                </a:solidFill>
                <a:latin typeface="Segoe UI" pitchFamily="34" charset="0"/>
                <a:ea typeface="Segoe UI" pitchFamily="34" charset="-122"/>
                <a:cs typeface="Segoe UI" pitchFamily="34" charset="-120"/>
              </a:rPr>
              <a:t>4096 bytes — longer lines are rejected as a bad message</a:t>
            </a:r>
            <a:endParaRPr lang="en-US" sz="1050" dirty="0"/>
          </a:p>
        </p:txBody>
      </p:sp>
      <p:sp>
        <p:nvSpPr>
          <p:cNvPr id="53" name="row background">
            <a:extLst>
              <a:ext uri="{C183D7F6-B498-43B3-948B-1728B52AA6E4}">
                <adec:decorative xmlns:adec="http://schemas.microsoft.com/office/drawing/2017/decorative" val="1"/>
              </a:ext>
            </a:extLst>
          </p:cNvPr>
          <p:cNvSpPr/>
          <p:nvPr/>
        </p:nvSpPr>
        <p:spPr>
          <a:xfrm>
            <a:off x="6007608" y="3072384"/>
            <a:ext cx="5166360" cy="548640"/>
          </a:xfrm>
          <a:prstGeom prst="rect">
            <a:avLst/>
          </a:prstGeom>
          <a:solidFill>
            <a:srgbClr val="20272D"/>
          </a:solidFill>
          <a:ln w="12700">
            <a:solidFill>
              <a:srgbClr val="333333"/>
            </a:solidFill>
            <a:prstDash val="solid"/>
          </a:ln>
        </p:spPr>
        <p:txBody>
          <a:bodyPr/>
          <a:lstStyle/>
          <a:p>
            <a:endParaRPr lang="en-SE"/>
          </a:p>
        </p:txBody>
      </p:sp>
      <p:sp>
        <p:nvSpPr>
          <p:cNvPr id="54" name="Text 52"/>
          <p:cNvSpPr/>
          <p:nvPr/>
        </p:nvSpPr>
        <p:spPr>
          <a:xfrm>
            <a:off x="6190488" y="3072384"/>
            <a:ext cx="1737360" cy="548640"/>
          </a:xfrm>
          <a:prstGeom prst="rect">
            <a:avLst/>
          </a:prstGeom>
          <a:noFill/>
          <a:ln/>
        </p:spPr>
        <p:txBody>
          <a:bodyPr wrap="square" lIns="0" tIns="0" rIns="0" bIns="0" rtlCol="0" anchor="ctr"/>
          <a:lstStyle/>
          <a:p>
            <a:pPr marL="0" indent="0">
              <a:buNone/>
            </a:pPr>
            <a:r>
              <a:rPr lang="en-US" sz="1050" b="1" dirty="0">
                <a:solidFill>
                  <a:srgbClr val="3FE08A"/>
                </a:solidFill>
                <a:latin typeface="Consolas" pitchFamily="34" charset="0"/>
                <a:ea typeface="Consolas" pitchFamily="34" charset="-122"/>
                <a:cs typeface="Consolas" pitchFamily="34" charset="-120"/>
              </a:rPr>
              <a:t>Channels</a:t>
            </a:r>
            <a:endParaRPr lang="en-US" sz="1050" dirty="0"/>
          </a:p>
        </p:txBody>
      </p:sp>
      <p:sp>
        <p:nvSpPr>
          <p:cNvPr id="55" name="Text 53"/>
          <p:cNvSpPr/>
          <p:nvPr/>
        </p:nvSpPr>
        <p:spPr>
          <a:xfrm>
            <a:off x="8019288" y="3072384"/>
            <a:ext cx="3017520" cy="548640"/>
          </a:xfrm>
          <a:prstGeom prst="rect">
            <a:avLst/>
          </a:prstGeom>
          <a:noFill/>
          <a:ln/>
        </p:spPr>
        <p:txBody>
          <a:bodyPr wrap="square" lIns="0" tIns="0" rIns="0" bIns="0" rtlCol="0" anchor="ctr"/>
          <a:lstStyle/>
          <a:p>
            <a:pPr marL="0" indent="0">
              <a:lnSpc>
                <a:spcPct val="105000"/>
              </a:lnSpc>
              <a:buNone/>
            </a:pPr>
            <a:r>
              <a:rPr lang="en-US" sz="1050" dirty="0">
                <a:solidFill>
                  <a:srgbClr val="AAB7C2"/>
                </a:solidFill>
                <a:latin typeface="Segoe UI" pitchFamily="34" charset="0"/>
                <a:ea typeface="Segoe UI" pitchFamily="34" charset="-122"/>
                <a:cs typeface="Segoe UI" pitchFamily="34" charset="-120"/>
              </a:rPr>
              <a:t>TOP, TRADE, STATE, INDEX, DEPTH, AUCTION, CB</a:t>
            </a:r>
            <a:endParaRPr lang="en-US" sz="1050" dirty="0"/>
          </a:p>
        </p:txBody>
      </p:sp>
      <p:sp>
        <p:nvSpPr>
          <p:cNvPr id="56" name="row background">
            <a:extLst>
              <a:ext uri="{C183D7F6-B498-43B3-948B-1728B52AA6E4}">
                <adec:decorative xmlns:adec="http://schemas.microsoft.com/office/drawing/2017/decorative" val="1"/>
              </a:ext>
            </a:extLst>
          </p:cNvPr>
          <p:cNvSpPr/>
          <p:nvPr/>
        </p:nvSpPr>
        <p:spPr>
          <a:xfrm>
            <a:off x="566928" y="3694176"/>
            <a:ext cx="5166360" cy="548640"/>
          </a:xfrm>
          <a:prstGeom prst="rect">
            <a:avLst/>
          </a:prstGeom>
          <a:solidFill>
            <a:srgbClr val="191E23"/>
          </a:solidFill>
          <a:ln w="12700">
            <a:solidFill>
              <a:srgbClr val="333333"/>
            </a:solidFill>
            <a:prstDash val="solid"/>
          </a:ln>
        </p:spPr>
        <p:txBody>
          <a:bodyPr/>
          <a:lstStyle/>
          <a:p>
            <a:endParaRPr lang="en-SE"/>
          </a:p>
        </p:txBody>
      </p:sp>
      <p:sp>
        <p:nvSpPr>
          <p:cNvPr id="57" name="Text 55"/>
          <p:cNvSpPr/>
          <p:nvPr/>
        </p:nvSpPr>
        <p:spPr>
          <a:xfrm>
            <a:off x="749808" y="3694176"/>
            <a:ext cx="1737360" cy="548640"/>
          </a:xfrm>
          <a:prstGeom prst="rect">
            <a:avLst/>
          </a:prstGeom>
          <a:noFill/>
          <a:ln/>
        </p:spPr>
        <p:txBody>
          <a:bodyPr wrap="square" lIns="0" tIns="0" rIns="0" bIns="0" rtlCol="0" anchor="ctr"/>
          <a:lstStyle/>
          <a:p>
            <a:pPr marL="0" indent="0">
              <a:buNone/>
            </a:pPr>
            <a:r>
              <a:rPr lang="en-US" sz="1050" b="1" dirty="0">
                <a:solidFill>
                  <a:srgbClr val="3FE08A"/>
                </a:solidFill>
                <a:latin typeface="Consolas" pitchFamily="34" charset="0"/>
                <a:ea typeface="Consolas" pitchFamily="34" charset="-122"/>
                <a:cs typeface="Consolas" pitchFamily="34" charset="-120"/>
              </a:rPr>
              <a:t>Heartbeat</a:t>
            </a:r>
            <a:endParaRPr lang="en-US" sz="1050" dirty="0"/>
          </a:p>
        </p:txBody>
      </p:sp>
      <p:sp>
        <p:nvSpPr>
          <p:cNvPr id="58" name="Text 56"/>
          <p:cNvSpPr/>
          <p:nvPr/>
        </p:nvSpPr>
        <p:spPr>
          <a:xfrm>
            <a:off x="2578608" y="3694176"/>
            <a:ext cx="3017520" cy="548640"/>
          </a:xfrm>
          <a:prstGeom prst="rect">
            <a:avLst/>
          </a:prstGeom>
          <a:noFill/>
          <a:ln/>
        </p:spPr>
        <p:txBody>
          <a:bodyPr wrap="square" lIns="0" tIns="0" rIns="0" bIns="0" rtlCol="0" anchor="ctr"/>
          <a:lstStyle/>
          <a:p>
            <a:pPr marL="0" indent="0">
              <a:lnSpc>
                <a:spcPct val="105000"/>
              </a:lnSpc>
              <a:buNone/>
            </a:pPr>
            <a:r>
              <a:rPr lang="en-US" sz="1050" dirty="0">
                <a:solidFill>
                  <a:srgbClr val="AAB7C2"/>
                </a:solidFill>
                <a:latin typeface="Segoe UI" pitchFamily="34" charset="0"/>
                <a:ea typeface="Segoe UI" pitchFamily="34" charset="-122"/>
                <a:cs typeface="Segoe UI" pitchFamily="34" charset="-120"/>
              </a:rPr>
              <a:t>Sent when a stream is quiet — default every 1 second</a:t>
            </a:r>
            <a:endParaRPr lang="en-US" sz="1050" dirty="0"/>
          </a:p>
        </p:txBody>
      </p:sp>
      <p:sp>
        <p:nvSpPr>
          <p:cNvPr id="59" name="row background">
            <a:extLst>
              <a:ext uri="{C183D7F6-B498-43B3-948B-1728B52AA6E4}">
                <adec:decorative xmlns:adec="http://schemas.microsoft.com/office/drawing/2017/decorative" val="1"/>
              </a:ext>
            </a:extLst>
          </p:cNvPr>
          <p:cNvSpPr/>
          <p:nvPr/>
        </p:nvSpPr>
        <p:spPr>
          <a:xfrm>
            <a:off x="6007608" y="3694176"/>
            <a:ext cx="5166360" cy="548640"/>
          </a:xfrm>
          <a:prstGeom prst="rect">
            <a:avLst/>
          </a:prstGeom>
          <a:solidFill>
            <a:srgbClr val="191E23"/>
          </a:solidFill>
          <a:ln w="12700">
            <a:solidFill>
              <a:srgbClr val="333333"/>
            </a:solidFill>
            <a:prstDash val="solid"/>
          </a:ln>
        </p:spPr>
        <p:txBody>
          <a:bodyPr/>
          <a:lstStyle/>
          <a:p>
            <a:endParaRPr lang="en-SE"/>
          </a:p>
        </p:txBody>
      </p:sp>
      <p:sp>
        <p:nvSpPr>
          <p:cNvPr id="60" name="Text 58"/>
          <p:cNvSpPr/>
          <p:nvPr/>
        </p:nvSpPr>
        <p:spPr>
          <a:xfrm>
            <a:off x="6190488" y="3694176"/>
            <a:ext cx="1737360" cy="548640"/>
          </a:xfrm>
          <a:prstGeom prst="rect">
            <a:avLst/>
          </a:prstGeom>
          <a:noFill/>
          <a:ln/>
        </p:spPr>
        <p:txBody>
          <a:bodyPr wrap="square" lIns="0" tIns="0" rIns="0" bIns="0" rtlCol="0" anchor="ctr"/>
          <a:lstStyle/>
          <a:p>
            <a:pPr marL="0" indent="0">
              <a:buNone/>
            </a:pPr>
            <a:r>
              <a:rPr lang="en-US" sz="1050" b="1" dirty="0">
                <a:solidFill>
                  <a:srgbClr val="3FE08A"/>
                </a:solidFill>
                <a:latin typeface="Consolas" pitchFamily="34" charset="0"/>
                <a:ea typeface="Consolas" pitchFamily="34" charset="-122"/>
                <a:cs typeface="Consolas" pitchFamily="34" charset="-120"/>
              </a:rPr>
              <a:t>Idle timeout</a:t>
            </a:r>
            <a:endParaRPr lang="en-US" sz="1050" dirty="0"/>
          </a:p>
        </p:txBody>
      </p:sp>
      <p:sp>
        <p:nvSpPr>
          <p:cNvPr id="61" name="Text 59"/>
          <p:cNvSpPr/>
          <p:nvPr/>
        </p:nvSpPr>
        <p:spPr>
          <a:xfrm>
            <a:off x="8019288" y="3694176"/>
            <a:ext cx="3017520" cy="548640"/>
          </a:xfrm>
          <a:prstGeom prst="rect">
            <a:avLst/>
          </a:prstGeom>
          <a:noFill/>
          <a:ln/>
        </p:spPr>
        <p:txBody>
          <a:bodyPr wrap="square" lIns="0" tIns="0" rIns="0" bIns="0" rtlCol="0" anchor="ctr"/>
          <a:lstStyle/>
          <a:p>
            <a:pPr marL="0" indent="0">
              <a:lnSpc>
                <a:spcPct val="105000"/>
              </a:lnSpc>
              <a:buNone/>
            </a:pPr>
            <a:r>
              <a:rPr lang="en-US" sz="1050" dirty="0">
                <a:solidFill>
                  <a:srgbClr val="AAB7C2"/>
                </a:solidFill>
                <a:latin typeface="Segoe UI" pitchFamily="34" charset="0"/>
                <a:ea typeface="Segoe UI" pitchFamily="34" charset="-122"/>
                <a:cs typeface="Segoe UI" pitchFamily="34" charset="-120"/>
              </a:rPr>
              <a:t>Disconnect after 5 seconds with no traffic in either direction</a:t>
            </a:r>
            <a:endParaRPr lang="en-US" sz="1050" dirty="0"/>
          </a:p>
        </p:txBody>
      </p:sp>
      <p:sp>
        <p:nvSpPr>
          <p:cNvPr id="62" name="row background">
            <a:extLst>
              <a:ext uri="{C183D7F6-B498-43B3-948B-1728B52AA6E4}">
                <adec:decorative xmlns:adec="http://schemas.microsoft.com/office/drawing/2017/decorative" val="1"/>
              </a:ext>
            </a:extLst>
          </p:cNvPr>
          <p:cNvSpPr/>
          <p:nvPr/>
        </p:nvSpPr>
        <p:spPr>
          <a:xfrm>
            <a:off x="566928" y="4315968"/>
            <a:ext cx="5166360" cy="548640"/>
          </a:xfrm>
          <a:prstGeom prst="rect">
            <a:avLst/>
          </a:prstGeom>
          <a:solidFill>
            <a:srgbClr val="20272D"/>
          </a:solidFill>
          <a:ln w="12700">
            <a:solidFill>
              <a:srgbClr val="333333"/>
            </a:solidFill>
            <a:prstDash val="solid"/>
          </a:ln>
        </p:spPr>
        <p:txBody>
          <a:bodyPr/>
          <a:lstStyle/>
          <a:p>
            <a:endParaRPr lang="en-SE"/>
          </a:p>
        </p:txBody>
      </p:sp>
      <p:sp>
        <p:nvSpPr>
          <p:cNvPr id="63" name="Text 61"/>
          <p:cNvSpPr/>
          <p:nvPr/>
        </p:nvSpPr>
        <p:spPr>
          <a:xfrm>
            <a:off x="749808" y="4315968"/>
            <a:ext cx="1737360" cy="548640"/>
          </a:xfrm>
          <a:prstGeom prst="rect">
            <a:avLst/>
          </a:prstGeom>
          <a:noFill/>
          <a:ln/>
        </p:spPr>
        <p:txBody>
          <a:bodyPr wrap="square" lIns="0" tIns="0" rIns="0" bIns="0" rtlCol="0" anchor="ctr"/>
          <a:lstStyle/>
          <a:p>
            <a:pPr marL="0" indent="0">
              <a:buNone/>
            </a:pPr>
            <a:r>
              <a:rPr lang="en-US" sz="1050" b="1" dirty="0">
                <a:solidFill>
                  <a:srgbClr val="3FE08A"/>
                </a:solidFill>
                <a:latin typeface="Consolas" pitchFamily="34" charset="0"/>
                <a:ea typeface="Consolas" pitchFamily="34" charset="-122"/>
                <a:cs typeface="Consolas" pitchFamily="34" charset="-120"/>
              </a:rPr>
              <a:t>Replay window</a:t>
            </a:r>
            <a:endParaRPr lang="en-US" sz="1050" dirty="0"/>
          </a:p>
        </p:txBody>
      </p:sp>
      <p:sp>
        <p:nvSpPr>
          <p:cNvPr id="64" name="Text 62"/>
          <p:cNvSpPr/>
          <p:nvPr/>
        </p:nvSpPr>
        <p:spPr>
          <a:xfrm>
            <a:off x="2578608" y="4315968"/>
            <a:ext cx="3017520" cy="548640"/>
          </a:xfrm>
          <a:prstGeom prst="rect">
            <a:avLst/>
          </a:prstGeom>
          <a:noFill/>
          <a:ln/>
        </p:spPr>
        <p:txBody>
          <a:bodyPr wrap="square" lIns="0" tIns="0" rIns="0" bIns="0" rtlCol="0" anchor="ctr"/>
          <a:lstStyle/>
          <a:p>
            <a:pPr marL="0" indent="0">
              <a:lnSpc>
                <a:spcPct val="105000"/>
              </a:lnSpc>
              <a:buNone/>
            </a:pPr>
            <a:r>
              <a:rPr lang="en-US" sz="1050" dirty="0">
                <a:solidFill>
                  <a:srgbClr val="AAB7C2"/>
                </a:solidFill>
                <a:latin typeface="Segoe UI" pitchFamily="34" charset="0"/>
                <a:ea typeface="Segoe UI" pitchFamily="34" charset="-122"/>
                <a:cs typeface="Segoe UI" pitchFamily="34" charset="-120"/>
              </a:rPr>
              <a:t>30 seconds by default, tracked per channel and symbol</a:t>
            </a:r>
            <a:endParaRPr lang="en-US" sz="1050" dirty="0"/>
          </a:p>
        </p:txBody>
      </p:sp>
      <p:sp>
        <p:nvSpPr>
          <p:cNvPr id="65" name="row background">
            <a:extLst>
              <a:ext uri="{C183D7F6-B498-43B3-948B-1728B52AA6E4}">
                <adec:decorative xmlns:adec="http://schemas.microsoft.com/office/drawing/2017/decorative" val="1"/>
              </a:ext>
            </a:extLst>
          </p:cNvPr>
          <p:cNvSpPr/>
          <p:nvPr/>
        </p:nvSpPr>
        <p:spPr>
          <a:xfrm>
            <a:off x="6007608" y="4315968"/>
            <a:ext cx="5166360" cy="548640"/>
          </a:xfrm>
          <a:prstGeom prst="rect">
            <a:avLst/>
          </a:prstGeom>
          <a:solidFill>
            <a:srgbClr val="20272D"/>
          </a:solidFill>
          <a:ln w="12700">
            <a:solidFill>
              <a:srgbClr val="333333"/>
            </a:solidFill>
            <a:prstDash val="solid"/>
          </a:ln>
        </p:spPr>
        <p:txBody>
          <a:bodyPr/>
          <a:lstStyle/>
          <a:p>
            <a:endParaRPr lang="en-SE"/>
          </a:p>
        </p:txBody>
      </p:sp>
      <p:sp>
        <p:nvSpPr>
          <p:cNvPr id="66" name="Text 64"/>
          <p:cNvSpPr/>
          <p:nvPr/>
        </p:nvSpPr>
        <p:spPr>
          <a:xfrm>
            <a:off x="6190488" y="4315968"/>
            <a:ext cx="1737360" cy="548640"/>
          </a:xfrm>
          <a:prstGeom prst="rect">
            <a:avLst/>
          </a:prstGeom>
          <a:noFill/>
          <a:ln/>
        </p:spPr>
        <p:txBody>
          <a:bodyPr wrap="square" lIns="0" tIns="0" rIns="0" bIns="0" rtlCol="0" anchor="ctr"/>
          <a:lstStyle/>
          <a:p>
            <a:pPr marL="0" indent="0">
              <a:buNone/>
            </a:pPr>
            <a:r>
              <a:rPr lang="en-US" sz="1050" b="1" dirty="0">
                <a:solidFill>
                  <a:srgbClr val="3FE08A"/>
                </a:solidFill>
                <a:latin typeface="Consolas" pitchFamily="34" charset="0"/>
                <a:ea typeface="Consolas" pitchFamily="34" charset="-122"/>
                <a:cs typeface="Consolas" pitchFamily="34" charset="-120"/>
              </a:rPr>
              <a:t>Value formats</a:t>
            </a:r>
            <a:endParaRPr lang="en-US" sz="1050" dirty="0"/>
          </a:p>
        </p:txBody>
      </p:sp>
      <p:sp>
        <p:nvSpPr>
          <p:cNvPr id="67" name="Text 65"/>
          <p:cNvSpPr/>
          <p:nvPr/>
        </p:nvSpPr>
        <p:spPr>
          <a:xfrm>
            <a:off x="8019288" y="4315968"/>
            <a:ext cx="3017520" cy="548640"/>
          </a:xfrm>
          <a:prstGeom prst="rect">
            <a:avLst/>
          </a:prstGeom>
          <a:noFill/>
          <a:ln/>
        </p:spPr>
        <p:txBody>
          <a:bodyPr wrap="square" lIns="0" tIns="0" rIns="0" bIns="0" rtlCol="0" anchor="ctr"/>
          <a:lstStyle/>
          <a:p>
            <a:pPr marL="0" indent="0">
              <a:lnSpc>
                <a:spcPct val="105000"/>
              </a:lnSpc>
              <a:buNone/>
            </a:pPr>
            <a:r>
              <a:rPr lang="en-US" sz="1050" dirty="0">
                <a:solidFill>
                  <a:srgbClr val="AAB7C2"/>
                </a:solidFill>
                <a:latin typeface="Segoe UI" pitchFamily="34" charset="0"/>
                <a:ea typeface="Segoe UI" pitchFamily="34" charset="-122"/>
                <a:cs typeface="Segoe UI" pitchFamily="34" charset="-120"/>
              </a:rPr>
              <a:t>Prices as decimal text, sizes as integers, timestamps in UTC</a:t>
            </a:r>
            <a:endParaRPr lang="en-US" sz="1050" dirty="0"/>
          </a:p>
        </p:txBody>
      </p:sp>
      <p:sp>
        <p:nvSpPr>
          <p:cNvPr id="68" name="callout background">
            <a:extLst>
              <a:ext uri="{C183D7F6-B498-43B3-948B-1728B52AA6E4}">
                <adec:decorative xmlns:adec="http://schemas.microsoft.com/office/drawing/2017/decorative" val="1"/>
              </a:ext>
            </a:extLst>
          </p:cNvPr>
          <p:cNvSpPr/>
          <p:nvPr/>
        </p:nvSpPr>
        <p:spPr>
          <a:xfrm>
            <a:off x="566928" y="5120640"/>
            <a:ext cx="10607040" cy="1188720"/>
          </a:xfrm>
          <a:prstGeom prst="rect">
            <a:avLst/>
          </a:prstGeom>
          <a:solidFill>
            <a:srgbClr val="122C22"/>
          </a:solidFill>
          <a:ln w="12700">
            <a:solidFill>
              <a:srgbClr val="3FE08A"/>
            </a:solidFill>
            <a:prstDash val="solid"/>
          </a:ln>
        </p:spPr>
        <p:txBody>
          <a:bodyPr/>
          <a:lstStyle/>
          <a:p>
            <a:endParaRPr lang="en-SE"/>
          </a:p>
        </p:txBody>
      </p:sp>
      <p:sp>
        <p:nvSpPr>
          <p:cNvPr id="69" name="Text 67"/>
          <p:cNvSpPr/>
          <p:nvPr/>
        </p:nvSpPr>
        <p:spPr>
          <a:xfrm>
            <a:off x="868680" y="5257800"/>
            <a:ext cx="4572000" cy="274320"/>
          </a:xfrm>
          <a:prstGeom prst="rect">
            <a:avLst/>
          </a:prstGeom>
          <a:noFill/>
          <a:ln/>
        </p:spPr>
        <p:txBody>
          <a:bodyPr wrap="square" lIns="0" tIns="0" rIns="0" bIns="0" rtlCol="0" anchor="ctr"/>
          <a:lstStyle/>
          <a:p>
            <a:pPr marL="0" indent="0">
              <a:buNone/>
            </a:pPr>
            <a:r>
              <a:rPr lang="en-US" sz="1300" b="1" dirty="0">
                <a:solidFill>
                  <a:srgbClr val="3FE08A"/>
                </a:solidFill>
                <a:latin typeface="Segoe UI" pitchFamily="34" charset="0"/>
                <a:ea typeface="Segoe UI" pitchFamily="34" charset="-122"/>
                <a:cs typeface="Segoe UI" pitchFamily="34" charset="-120"/>
              </a:rPr>
              <a:t>Why it looks so plain</a:t>
            </a:r>
            <a:endParaRPr lang="en-US" sz="1300" dirty="0"/>
          </a:p>
        </p:txBody>
      </p:sp>
      <p:sp>
        <p:nvSpPr>
          <p:cNvPr id="70" name="Text 68"/>
          <p:cNvSpPr/>
          <p:nvPr/>
        </p:nvSpPr>
        <p:spPr>
          <a:xfrm>
            <a:off x="868680" y="5577840"/>
            <a:ext cx="10058400" cy="685800"/>
          </a:xfrm>
          <a:prstGeom prst="rect">
            <a:avLst/>
          </a:prstGeom>
          <a:noFill/>
          <a:ln/>
        </p:spPr>
        <p:txBody>
          <a:bodyPr wrap="square" lIns="0" tIns="0" rIns="0" bIns="0" rtlCol="0" anchor="ctr"/>
          <a:lstStyle/>
          <a:p>
            <a:pPr marL="0" indent="0">
              <a:lnSpc>
                <a:spcPct val="115000"/>
              </a:lnSpc>
              <a:buNone/>
            </a:pPr>
            <a:r>
              <a:rPr lang="en-US" sz="1150" dirty="0">
                <a:solidFill>
                  <a:srgbClr val="AAB7C2"/>
                </a:solidFill>
                <a:latin typeface="Segoe UI" pitchFamily="34" charset="0"/>
                <a:ea typeface="Segoe UI" pitchFamily="34" charset="-122"/>
                <a:cs typeface="Segoe UI" pitchFamily="34" charset="-120"/>
              </a:rPr>
              <a:t>Because it is line-based text over a socket, a client needs nothing more than a socket and a newline split — no binary schema, no code generation, no library dependency. Any language can read the market in a few lines of code. That is the entire point of the design, and it is why the terminal's bridge is a thin piece of software.</a:t>
            </a:r>
            <a:endParaRPr lang="en-US" sz="11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The envelope and the seven channels</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07 · TECHNICAL REFERENCE</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45</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Every market-data line starts with the same four fields, then carries channel-specific content.</a:t>
            </a:r>
            <a:endParaRPr lang="en-US" sz="1400" dirty="0"/>
          </a:p>
        </p:txBody>
      </p:sp>
      <p:sp>
        <p:nvSpPr>
          <p:cNvPr id="38" name="panel">
            <a:extLst>
              <a:ext uri="{C183D7F6-B498-43B3-948B-1728B52AA6E4}">
                <adec:decorative xmlns:adec="http://schemas.microsoft.com/office/drawing/2017/decorative" val="1"/>
              </a:ext>
            </a:extLst>
          </p:cNvPr>
          <p:cNvSpPr/>
          <p:nvPr/>
        </p:nvSpPr>
        <p:spPr>
          <a:xfrm>
            <a:off x="566928" y="1874520"/>
            <a:ext cx="2487168" cy="160020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39" name="panel accent">
            <a:extLst>
              <a:ext uri="{C183D7F6-B498-43B3-948B-1728B52AA6E4}">
                <adec:decorative xmlns:adec="http://schemas.microsoft.com/office/drawing/2017/decorative" val="1"/>
              </a:ext>
            </a:extLst>
          </p:cNvPr>
          <p:cNvSpPr/>
          <p:nvPr/>
        </p:nvSpPr>
        <p:spPr>
          <a:xfrm>
            <a:off x="566928" y="1874520"/>
            <a:ext cx="2487168" cy="50292"/>
          </a:xfrm>
          <a:prstGeom prst="rect">
            <a:avLst/>
          </a:prstGeom>
          <a:solidFill>
            <a:srgbClr val="3FE08A"/>
          </a:solidFill>
          <a:ln w="12700">
            <a:solidFill>
              <a:srgbClr val="333333"/>
            </a:solidFill>
            <a:prstDash val="solid"/>
          </a:ln>
        </p:spPr>
        <p:txBody>
          <a:bodyPr/>
          <a:lstStyle/>
          <a:p>
            <a:endParaRPr lang="en-SE"/>
          </a:p>
        </p:txBody>
      </p:sp>
      <p:sp>
        <p:nvSpPr>
          <p:cNvPr id="40" name="Text 38"/>
          <p:cNvSpPr/>
          <p:nvPr/>
        </p:nvSpPr>
        <p:spPr>
          <a:xfrm>
            <a:off x="786384" y="2103120"/>
            <a:ext cx="2103120" cy="347472"/>
          </a:xfrm>
          <a:prstGeom prst="rect">
            <a:avLst/>
          </a:prstGeom>
          <a:noFill/>
          <a:ln/>
        </p:spPr>
        <p:txBody>
          <a:bodyPr wrap="square" lIns="0" tIns="0" rIns="0" bIns="0" rtlCol="0" anchor="ctr"/>
          <a:lstStyle/>
          <a:p>
            <a:pPr marL="0" indent="0">
              <a:buNone/>
            </a:pPr>
            <a:r>
              <a:rPr lang="en-US" sz="1600" b="1" kern="0" spc="100" dirty="0">
                <a:solidFill>
                  <a:srgbClr val="3FE08A"/>
                </a:solidFill>
                <a:latin typeface="Consolas" pitchFamily="34" charset="0"/>
                <a:ea typeface="Consolas" pitchFamily="34" charset="-122"/>
                <a:cs typeface="Consolas" pitchFamily="34" charset="-120"/>
              </a:rPr>
              <a:t>CH</a:t>
            </a:r>
            <a:endParaRPr lang="en-US" sz="1600" dirty="0"/>
          </a:p>
        </p:txBody>
      </p:sp>
      <p:sp>
        <p:nvSpPr>
          <p:cNvPr id="41" name="Text 39"/>
          <p:cNvSpPr/>
          <p:nvPr/>
        </p:nvSpPr>
        <p:spPr>
          <a:xfrm>
            <a:off x="786384" y="2487168"/>
            <a:ext cx="2103120" cy="868680"/>
          </a:xfrm>
          <a:prstGeom prst="rect">
            <a:avLst/>
          </a:prstGeom>
          <a:noFill/>
          <a:ln/>
        </p:spPr>
        <p:txBody>
          <a:bodyPr wrap="square" lIns="0" tIns="0" rIns="0" bIns="0" rtlCol="0" anchor="ctr"/>
          <a:lstStyle/>
          <a:p>
            <a:pPr marL="0" indent="0">
              <a:lnSpc>
                <a:spcPct val="112000"/>
              </a:lnSpc>
              <a:buNone/>
            </a:pPr>
            <a:r>
              <a:rPr lang="en-US" sz="1050" dirty="0">
                <a:solidFill>
                  <a:srgbClr val="AAB7C2"/>
                </a:solidFill>
                <a:latin typeface="Segoe UI" pitchFamily="34" charset="0"/>
                <a:ea typeface="Segoe UI" pitchFamily="34" charset="-122"/>
                <a:cs typeface="Segoe UI" pitchFamily="34" charset="-120"/>
              </a:rPr>
              <a:t>Which channel this line belongs to</a:t>
            </a:r>
            <a:endParaRPr lang="en-US" sz="1050" dirty="0"/>
          </a:p>
        </p:txBody>
      </p:sp>
      <p:sp>
        <p:nvSpPr>
          <p:cNvPr id="42" name="panel">
            <a:extLst>
              <a:ext uri="{C183D7F6-B498-43B3-948B-1728B52AA6E4}">
                <adec:decorative xmlns:adec="http://schemas.microsoft.com/office/drawing/2017/decorative" val="1"/>
              </a:ext>
            </a:extLst>
          </p:cNvPr>
          <p:cNvSpPr/>
          <p:nvPr/>
        </p:nvSpPr>
        <p:spPr>
          <a:xfrm>
            <a:off x="3282696" y="1874520"/>
            <a:ext cx="2487168" cy="160020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43" name="panel accent">
            <a:extLst>
              <a:ext uri="{C183D7F6-B498-43B3-948B-1728B52AA6E4}">
                <adec:decorative xmlns:adec="http://schemas.microsoft.com/office/drawing/2017/decorative" val="1"/>
              </a:ext>
            </a:extLst>
          </p:cNvPr>
          <p:cNvSpPr/>
          <p:nvPr/>
        </p:nvSpPr>
        <p:spPr>
          <a:xfrm>
            <a:off x="3282696" y="1874520"/>
            <a:ext cx="2487168" cy="50292"/>
          </a:xfrm>
          <a:prstGeom prst="rect">
            <a:avLst/>
          </a:prstGeom>
          <a:solidFill>
            <a:srgbClr val="3FE08A"/>
          </a:solidFill>
          <a:ln w="12700">
            <a:solidFill>
              <a:srgbClr val="333333"/>
            </a:solidFill>
            <a:prstDash val="solid"/>
          </a:ln>
        </p:spPr>
        <p:txBody>
          <a:bodyPr/>
          <a:lstStyle/>
          <a:p>
            <a:endParaRPr lang="en-SE"/>
          </a:p>
        </p:txBody>
      </p:sp>
      <p:sp>
        <p:nvSpPr>
          <p:cNvPr id="44" name="Text 42"/>
          <p:cNvSpPr/>
          <p:nvPr/>
        </p:nvSpPr>
        <p:spPr>
          <a:xfrm>
            <a:off x="3502152" y="2103120"/>
            <a:ext cx="2103120" cy="347472"/>
          </a:xfrm>
          <a:prstGeom prst="rect">
            <a:avLst/>
          </a:prstGeom>
          <a:noFill/>
          <a:ln/>
        </p:spPr>
        <p:txBody>
          <a:bodyPr wrap="square" lIns="0" tIns="0" rIns="0" bIns="0" rtlCol="0" anchor="ctr"/>
          <a:lstStyle/>
          <a:p>
            <a:pPr marL="0" indent="0">
              <a:buNone/>
            </a:pPr>
            <a:r>
              <a:rPr lang="en-US" sz="1600" b="1" kern="0" spc="100" dirty="0">
                <a:solidFill>
                  <a:srgbClr val="3FE08A"/>
                </a:solidFill>
                <a:latin typeface="Consolas" pitchFamily="34" charset="0"/>
                <a:ea typeface="Consolas" pitchFamily="34" charset="-122"/>
                <a:cs typeface="Consolas" pitchFamily="34" charset="-120"/>
              </a:rPr>
              <a:t>SYM</a:t>
            </a:r>
            <a:endParaRPr lang="en-US" sz="1600" dirty="0"/>
          </a:p>
        </p:txBody>
      </p:sp>
      <p:sp>
        <p:nvSpPr>
          <p:cNvPr id="45" name="Text 43"/>
          <p:cNvSpPr/>
          <p:nvPr/>
        </p:nvSpPr>
        <p:spPr>
          <a:xfrm>
            <a:off x="3502152" y="2487168"/>
            <a:ext cx="2103120" cy="868680"/>
          </a:xfrm>
          <a:prstGeom prst="rect">
            <a:avLst/>
          </a:prstGeom>
          <a:noFill/>
          <a:ln/>
        </p:spPr>
        <p:txBody>
          <a:bodyPr wrap="square" lIns="0" tIns="0" rIns="0" bIns="0" rtlCol="0" anchor="ctr"/>
          <a:lstStyle/>
          <a:p>
            <a:pPr marL="0" indent="0">
              <a:lnSpc>
                <a:spcPct val="112000"/>
              </a:lnSpc>
              <a:buNone/>
            </a:pPr>
            <a:r>
              <a:rPr lang="en-US" sz="1050" dirty="0">
                <a:solidFill>
                  <a:srgbClr val="AAB7C2"/>
                </a:solidFill>
                <a:latin typeface="Segoe UI" pitchFamily="34" charset="0"/>
                <a:ea typeface="Segoe UI" pitchFamily="34" charset="-122"/>
                <a:cs typeface="Segoe UI" pitchFamily="34" charset="-120"/>
              </a:rPr>
              <a:t>The symbol — or the index id, or * for an exchange-wide state line</a:t>
            </a:r>
            <a:endParaRPr lang="en-US" sz="1050" dirty="0"/>
          </a:p>
        </p:txBody>
      </p:sp>
      <p:sp>
        <p:nvSpPr>
          <p:cNvPr id="46" name="panel">
            <a:extLst>
              <a:ext uri="{C183D7F6-B498-43B3-948B-1728B52AA6E4}">
                <adec:decorative xmlns:adec="http://schemas.microsoft.com/office/drawing/2017/decorative" val="1"/>
              </a:ext>
            </a:extLst>
          </p:cNvPr>
          <p:cNvSpPr/>
          <p:nvPr/>
        </p:nvSpPr>
        <p:spPr>
          <a:xfrm>
            <a:off x="5998464" y="1874520"/>
            <a:ext cx="2487168" cy="160020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47" name="panel accent">
            <a:extLst>
              <a:ext uri="{C183D7F6-B498-43B3-948B-1728B52AA6E4}">
                <adec:decorative xmlns:adec="http://schemas.microsoft.com/office/drawing/2017/decorative" val="1"/>
              </a:ext>
            </a:extLst>
          </p:cNvPr>
          <p:cNvSpPr/>
          <p:nvPr/>
        </p:nvSpPr>
        <p:spPr>
          <a:xfrm>
            <a:off x="5998464" y="1874520"/>
            <a:ext cx="2487168" cy="50292"/>
          </a:xfrm>
          <a:prstGeom prst="rect">
            <a:avLst/>
          </a:prstGeom>
          <a:solidFill>
            <a:srgbClr val="3FE08A"/>
          </a:solidFill>
          <a:ln w="12700">
            <a:solidFill>
              <a:srgbClr val="333333"/>
            </a:solidFill>
            <a:prstDash val="solid"/>
          </a:ln>
        </p:spPr>
        <p:txBody>
          <a:bodyPr/>
          <a:lstStyle/>
          <a:p>
            <a:endParaRPr lang="en-SE"/>
          </a:p>
        </p:txBody>
      </p:sp>
      <p:sp>
        <p:nvSpPr>
          <p:cNvPr id="48" name="Text 46"/>
          <p:cNvSpPr/>
          <p:nvPr/>
        </p:nvSpPr>
        <p:spPr>
          <a:xfrm>
            <a:off x="6217920" y="2103120"/>
            <a:ext cx="2103120" cy="347472"/>
          </a:xfrm>
          <a:prstGeom prst="rect">
            <a:avLst/>
          </a:prstGeom>
          <a:noFill/>
          <a:ln/>
        </p:spPr>
        <p:txBody>
          <a:bodyPr wrap="square" lIns="0" tIns="0" rIns="0" bIns="0" rtlCol="0" anchor="ctr"/>
          <a:lstStyle/>
          <a:p>
            <a:pPr marL="0" indent="0">
              <a:buNone/>
            </a:pPr>
            <a:r>
              <a:rPr lang="en-US" sz="1600" b="1" kern="0" spc="100" dirty="0">
                <a:solidFill>
                  <a:srgbClr val="3FE08A"/>
                </a:solidFill>
                <a:latin typeface="Consolas" pitchFamily="34" charset="0"/>
                <a:ea typeface="Consolas" pitchFamily="34" charset="-122"/>
                <a:cs typeface="Consolas" pitchFamily="34" charset="-120"/>
              </a:rPr>
              <a:t>SEQ</a:t>
            </a:r>
            <a:endParaRPr lang="en-US" sz="1600" dirty="0"/>
          </a:p>
        </p:txBody>
      </p:sp>
      <p:sp>
        <p:nvSpPr>
          <p:cNvPr id="49" name="Text 47"/>
          <p:cNvSpPr/>
          <p:nvPr/>
        </p:nvSpPr>
        <p:spPr>
          <a:xfrm>
            <a:off x="6217920" y="2487168"/>
            <a:ext cx="2103120" cy="868680"/>
          </a:xfrm>
          <a:prstGeom prst="rect">
            <a:avLst/>
          </a:prstGeom>
          <a:noFill/>
          <a:ln/>
        </p:spPr>
        <p:txBody>
          <a:bodyPr wrap="square" lIns="0" tIns="0" rIns="0" bIns="0" rtlCol="0" anchor="ctr"/>
          <a:lstStyle/>
          <a:p>
            <a:pPr marL="0" indent="0">
              <a:lnSpc>
                <a:spcPct val="112000"/>
              </a:lnSpc>
              <a:buNone/>
            </a:pPr>
            <a:r>
              <a:rPr lang="en-US" sz="1050" dirty="0">
                <a:solidFill>
                  <a:srgbClr val="AAB7C2"/>
                </a:solidFill>
                <a:latin typeface="Segoe UI" pitchFamily="34" charset="0"/>
                <a:ea typeface="Segoe UI" pitchFamily="34" charset="-122"/>
                <a:cs typeface="Segoe UI" pitchFamily="34" charset="-120"/>
              </a:rPr>
              <a:t>Per-channel, per-symbol sequence number, starting at 1 and incrementing by one. This is your gap detector.</a:t>
            </a:r>
            <a:endParaRPr lang="en-US" sz="1050" dirty="0"/>
          </a:p>
        </p:txBody>
      </p:sp>
      <p:sp>
        <p:nvSpPr>
          <p:cNvPr id="50" name="panel">
            <a:extLst>
              <a:ext uri="{C183D7F6-B498-43B3-948B-1728B52AA6E4}">
                <adec:decorative xmlns:adec="http://schemas.microsoft.com/office/drawing/2017/decorative" val="1"/>
              </a:ext>
            </a:extLst>
          </p:cNvPr>
          <p:cNvSpPr/>
          <p:nvPr/>
        </p:nvSpPr>
        <p:spPr>
          <a:xfrm>
            <a:off x="8714232" y="1874520"/>
            <a:ext cx="2487168" cy="160020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51" name="panel accent">
            <a:extLst>
              <a:ext uri="{C183D7F6-B498-43B3-948B-1728B52AA6E4}">
                <adec:decorative xmlns:adec="http://schemas.microsoft.com/office/drawing/2017/decorative" val="1"/>
              </a:ext>
            </a:extLst>
          </p:cNvPr>
          <p:cNvSpPr/>
          <p:nvPr/>
        </p:nvSpPr>
        <p:spPr>
          <a:xfrm>
            <a:off x="8714232" y="1874520"/>
            <a:ext cx="2487168" cy="50292"/>
          </a:xfrm>
          <a:prstGeom prst="rect">
            <a:avLst/>
          </a:prstGeom>
          <a:solidFill>
            <a:srgbClr val="3FE08A"/>
          </a:solidFill>
          <a:ln w="12700">
            <a:solidFill>
              <a:srgbClr val="333333"/>
            </a:solidFill>
            <a:prstDash val="solid"/>
          </a:ln>
        </p:spPr>
        <p:txBody>
          <a:bodyPr/>
          <a:lstStyle/>
          <a:p>
            <a:endParaRPr lang="en-SE"/>
          </a:p>
        </p:txBody>
      </p:sp>
      <p:sp>
        <p:nvSpPr>
          <p:cNvPr id="52" name="Text 50"/>
          <p:cNvSpPr/>
          <p:nvPr/>
        </p:nvSpPr>
        <p:spPr>
          <a:xfrm>
            <a:off x="8933688" y="2103120"/>
            <a:ext cx="2103120" cy="347472"/>
          </a:xfrm>
          <a:prstGeom prst="rect">
            <a:avLst/>
          </a:prstGeom>
          <a:noFill/>
          <a:ln/>
        </p:spPr>
        <p:txBody>
          <a:bodyPr wrap="square" lIns="0" tIns="0" rIns="0" bIns="0" rtlCol="0" anchor="ctr"/>
          <a:lstStyle/>
          <a:p>
            <a:pPr marL="0" indent="0">
              <a:buNone/>
            </a:pPr>
            <a:r>
              <a:rPr lang="en-US" sz="1600" b="1" kern="0" spc="100" dirty="0">
                <a:solidFill>
                  <a:srgbClr val="3FE08A"/>
                </a:solidFill>
                <a:latin typeface="Consolas" pitchFamily="34" charset="0"/>
                <a:ea typeface="Consolas" pitchFamily="34" charset="-122"/>
                <a:cs typeface="Consolas" pitchFamily="34" charset="-120"/>
              </a:rPr>
              <a:t>TS</a:t>
            </a:r>
            <a:endParaRPr lang="en-US" sz="1600" dirty="0"/>
          </a:p>
        </p:txBody>
      </p:sp>
      <p:sp>
        <p:nvSpPr>
          <p:cNvPr id="53" name="Text 51"/>
          <p:cNvSpPr/>
          <p:nvPr/>
        </p:nvSpPr>
        <p:spPr>
          <a:xfrm>
            <a:off x="8933688" y="2487168"/>
            <a:ext cx="2103120" cy="868680"/>
          </a:xfrm>
          <a:prstGeom prst="rect">
            <a:avLst/>
          </a:prstGeom>
          <a:noFill/>
          <a:ln/>
        </p:spPr>
        <p:txBody>
          <a:bodyPr wrap="square" lIns="0" tIns="0" rIns="0" bIns="0" rtlCol="0" anchor="ctr"/>
          <a:lstStyle/>
          <a:p>
            <a:pPr marL="0" indent="0">
              <a:lnSpc>
                <a:spcPct val="112000"/>
              </a:lnSpc>
              <a:buNone/>
            </a:pPr>
            <a:r>
              <a:rPr lang="en-US" sz="1050" dirty="0">
                <a:solidFill>
                  <a:srgbClr val="AAB7C2"/>
                </a:solidFill>
                <a:latin typeface="Segoe UI" pitchFamily="34" charset="0"/>
                <a:ea typeface="Segoe UI" pitchFamily="34" charset="-122"/>
                <a:cs typeface="Segoe UI" pitchFamily="34" charset="-120"/>
              </a:rPr>
              <a:t>Event time, in UTC with milliseconds</a:t>
            </a:r>
            <a:endParaRPr lang="en-US" sz="1050" dirty="0"/>
          </a:p>
        </p:txBody>
      </p:sp>
      <p:sp>
        <p:nvSpPr>
          <p:cNvPr id="54" name="Text 52"/>
          <p:cNvSpPr/>
          <p:nvPr/>
        </p:nvSpPr>
        <p:spPr>
          <a:xfrm>
            <a:off x="566928" y="3611880"/>
            <a:ext cx="10607040" cy="457200"/>
          </a:xfrm>
          <a:prstGeom prst="rect">
            <a:avLst/>
          </a:prstGeom>
          <a:noFill/>
          <a:ln/>
        </p:spPr>
        <p:txBody>
          <a:bodyPr wrap="square" lIns="0" tIns="0" rIns="0" bIns="0" rtlCol="0" anchor="ctr"/>
          <a:lstStyle/>
          <a:p>
            <a:pPr marL="0" indent="0">
              <a:lnSpc>
                <a:spcPct val="110000"/>
              </a:lnSpc>
              <a:buNone/>
            </a:pPr>
            <a:r>
              <a:rPr lang="en-US" sz="1200" i="1" dirty="0">
                <a:solidFill>
                  <a:srgbClr val="F5A524"/>
                </a:solidFill>
                <a:latin typeface="Segoe UI" pitchFamily="34" charset="0"/>
                <a:ea typeface="Segoe UI" pitchFamily="34" charset="-122"/>
                <a:cs typeface="Segoe UI" pitchFamily="34" charset="-120"/>
              </a:rPr>
              <a:t>The sequence number is what makes gap detection possible: if a line arrives whose SEQ is not exactly one more than the last one, something was missed — and that is precisely what produces the gap marker you saw on the tape.</a:t>
            </a:r>
            <a:endParaRPr lang="en-US" sz="1200" dirty="0"/>
          </a:p>
        </p:txBody>
      </p:sp>
      <p:sp>
        <p:nvSpPr>
          <p:cNvPr id="55" name="row background">
            <a:extLst>
              <a:ext uri="{C183D7F6-B498-43B3-948B-1728B52AA6E4}">
                <adec:decorative xmlns:adec="http://schemas.microsoft.com/office/drawing/2017/decorative" val="1"/>
              </a:ext>
            </a:extLst>
          </p:cNvPr>
          <p:cNvSpPr/>
          <p:nvPr/>
        </p:nvSpPr>
        <p:spPr>
          <a:xfrm>
            <a:off x="566928" y="4160520"/>
            <a:ext cx="10607040" cy="292608"/>
          </a:xfrm>
          <a:prstGeom prst="rect">
            <a:avLst/>
          </a:prstGeom>
          <a:solidFill>
            <a:srgbClr val="20272D"/>
          </a:solidFill>
          <a:ln w="12700">
            <a:solidFill>
              <a:srgbClr val="333333"/>
            </a:solidFill>
            <a:prstDash val="solid"/>
          </a:ln>
        </p:spPr>
        <p:txBody>
          <a:bodyPr/>
          <a:lstStyle/>
          <a:p>
            <a:endParaRPr lang="en-SE"/>
          </a:p>
        </p:txBody>
      </p:sp>
      <p:sp>
        <p:nvSpPr>
          <p:cNvPr id="56" name="row marker">
            <a:extLst>
              <a:ext uri="{C183D7F6-B498-43B3-948B-1728B52AA6E4}">
                <adec:decorative xmlns:adec="http://schemas.microsoft.com/office/drawing/2017/decorative" val="1"/>
              </a:ext>
            </a:extLst>
          </p:cNvPr>
          <p:cNvSpPr/>
          <p:nvPr/>
        </p:nvSpPr>
        <p:spPr>
          <a:xfrm>
            <a:off x="566928" y="4160520"/>
            <a:ext cx="32004" cy="292608"/>
          </a:xfrm>
          <a:prstGeom prst="rect">
            <a:avLst/>
          </a:prstGeom>
          <a:solidFill>
            <a:srgbClr val="3FE08A"/>
          </a:solidFill>
          <a:ln w="12700">
            <a:solidFill>
              <a:srgbClr val="333333"/>
            </a:solidFill>
            <a:prstDash val="solid"/>
          </a:ln>
        </p:spPr>
        <p:txBody>
          <a:bodyPr/>
          <a:lstStyle/>
          <a:p>
            <a:endParaRPr lang="en-SE"/>
          </a:p>
        </p:txBody>
      </p:sp>
      <p:sp>
        <p:nvSpPr>
          <p:cNvPr id="57" name="Text 55"/>
          <p:cNvSpPr/>
          <p:nvPr/>
        </p:nvSpPr>
        <p:spPr>
          <a:xfrm>
            <a:off x="777240" y="4160520"/>
            <a:ext cx="1280160" cy="292608"/>
          </a:xfrm>
          <a:prstGeom prst="rect">
            <a:avLst/>
          </a:prstGeom>
          <a:noFill/>
          <a:ln/>
        </p:spPr>
        <p:txBody>
          <a:bodyPr wrap="square" lIns="0" tIns="0" rIns="0" bIns="0" rtlCol="0" anchor="ctr"/>
          <a:lstStyle/>
          <a:p>
            <a:pPr marL="0" indent="0">
              <a:buNone/>
            </a:pPr>
            <a:r>
              <a:rPr lang="en-US" sz="1050" b="1" dirty="0">
                <a:solidFill>
                  <a:srgbClr val="3FE08A"/>
                </a:solidFill>
                <a:latin typeface="Consolas" pitchFamily="34" charset="0"/>
                <a:ea typeface="Consolas" pitchFamily="34" charset="-122"/>
                <a:cs typeface="Consolas" pitchFamily="34" charset="-120"/>
              </a:rPr>
              <a:t>TOP</a:t>
            </a:r>
            <a:endParaRPr lang="en-US" sz="1050" dirty="0"/>
          </a:p>
        </p:txBody>
      </p:sp>
      <p:sp>
        <p:nvSpPr>
          <p:cNvPr id="58" name="Text 56"/>
          <p:cNvSpPr/>
          <p:nvPr/>
        </p:nvSpPr>
        <p:spPr>
          <a:xfrm>
            <a:off x="2148840" y="4160520"/>
            <a:ext cx="8778240" cy="292608"/>
          </a:xfrm>
          <a:prstGeom prst="rect">
            <a:avLst/>
          </a:prstGeom>
          <a:noFill/>
          <a:ln/>
        </p:spPr>
        <p:txBody>
          <a:bodyPr wrap="square" lIns="0" tIns="0" rIns="0" bIns="0" rtlCol="0" anchor="ctr"/>
          <a:lstStyle/>
          <a:p>
            <a:pPr marL="0" indent="0">
              <a:buNone/>
            </a:pPr>
            <a:r>
              <a:rPr lang="en-US" sz="1050" dirty="0">
                <a:solidFill>
                  <a:srgbClr val="AAB7C2"/>
                </a:solidFill>
                <a:latin typeface="Segoe UI" pitchFamily="34" charset="0"/>
                <a:ea typeface="Segoe UI" pitchFamily="34" charset="-122"/>
                <a:cs typeface="Segoe UI" pitchFamily="34" charset="-120"/>
              </a:rPr>
              <a:t>Best bid, best ask, and the last trade for a symbol.</a:t>
            </a:r>
            <a:endParaRPr lang="en-US" sz="1050" dirty="0"/>
          </a:p>
        </p:txBody>
      </p:sp>
      <p:sp>
        <p:nvSpPr>
          <p:cNvPr id="59" name="row background">
            <a:extLst>
              <a:ext uri="{C183D7F6-B498-43B3-948B-1728B52AA6E4}">
                <adec:decorative xmlns:adec="http://schemas.microsoft.com/office/drawing/2017/decorative" val="1"/>
              </a:ext>
            </a:extLst>
          </p:cNvPr>
          <p:cNvSpPr/>
          <p:nvPr/>
        </p:nvSpPr>
        <p:spPr>
          <a:xfrm>
            <a:off x="566928" y="4471416"/>
            <a:ext cx="10607040" cy="292608"/>
          </a:xfrm>
          <a:prstGeom prst="rect">
            <a:avLst/>
          </a:prstGeom>
          <a:solidFill>
            <a:srgbClr val="191E23"/>
          </a:solidFill>
          <a:ln w="12700">
            <a:solidFill>
              <a:srgbClr val="333333"/>
            </a:solidFill>
            <a:prstDash val="solid"/>
          </a:ln>
        </p:spPr>
        <p:txBody>
          <a:bodyPr/>
          <a:lstStyle/>
          <a:p>
            <a:endParaRPr lang="en-SE"/>
          </a:p>
        </p:txBody>
      </p:sp>
      <p:sp>
        <p:nvSpPr>
          <p:cNvPr id="60" name="row marker">
            <a:extLst>
              <a:ext uri="{C183D7F6-B498-43B3-948B-1728B52AA6E4}">
                <adec:decorative xmlns:adec="http://schemas.microsoft.com/office/drawing/2017/decorative" val="1"/>
              </a:ext>
            </a:extLst>
          </p:cNvPr>
          <p:cNvSpPr/>
          <p:nvPr/>
        </p:nvSpPr>
        <p:spPr>
          <a:xfrm>
            <a:off x="566928" y="4471416"/>
            <a:ext cx="32004" cy="292608"/>
          </a:xfrm>
          <a:prstGeom prst="rect">
            <a:avLst/>
          </a:prstGeom>
          <a:solidFill>
            <a:srgbClr val="3FE08A"/>
          </a:solidFill>
          <a:ln w="12700">
            <a:solidFill>
              <a:srgbClr val="333333"/>
            </a:solidFill>
            <a:prstDash val="solid"/>
          </a:ln>
        </p:spPr>
        <p:txBody>
          <a:bodyPr/>
          <a:lstStyle/>
          <a:p>
            <a:endParaRPr lang="en-SE"/>
          </a:p>
        </p:txBody>
      </p:sp>
      <p:sp>
        <p:nvSpPr>
          <p:cNvPr id="61" name="Text 59"/>
          <p:cNvSpPr/>
          <p:nvPr/>
        </p:nvSpPr>
        <p:spPr>
          <a:xfrm>
            <a:off x="777240" y="4471416"/>
            <a:ext cx="1280160" cy="292608"/>
          </a:xfrm>
          <a:prstGeom prst="rect">
            <a:avLst/>
          </a:prstGeom>
          <a:noFill/>
          <a:ln/>
        </p:spPr>
        <p:txBody>
          <a:bodyPr wrap="square" lIns="0" tIns="0" rIns="0" bIns="0" rtlCol="0" anchor="ctr"/>
          <a:lstStyle/>
          <a:p>
            <a:pPr marL="0" indent="0">
              <a:buNone/>
            </a:pPr>
            <a:r>
              <a:rPr lang="en-US" sz="1050" b="1" dirty="0">
                <a:solidFill>
                  <a:srgbClr val="3FE08A"/>
                </a:solidFill>
                <a:latin typeface="Consolas" pitchFamily="34" charset="0"/>
                <a:ea typeface="Consolas" pitchFamily="34" charset="-122"/>
                <a:cs typeface="Consolas" pitchFamily="34" charset="-120"/>
              </a:rPr>
              <a:t>TRADE</a:t>
            </a:r>
            <a:endParaRPr lang="en-US" sz="1050" dirty="0"/>
          </a:p>
        </p:txBody>
      </p:sp>
      <p:sp>
        <p:nvSpPr>
          <p:cNvPr id="62" name="Text 60"/>
          <p:cNvSpPr/>
          <p:nvPr/>
        </p:nvSpPr>
        <p:spPr>
          <a:xfrm>
            <a:off x="2148840" y="4471416"/>
            <a:ext cx="8778240" cy="292608"/>
          </a:xfrm>
          <a:prstGeom prst="rect">
            <a:avLst/>
          </a:prstGeom>
          <a:noFill/>
          <a:ln/>
        </p:spPr>
        <p:txBody>
          <a:bodyPr wrap="square" lIns="0" tIns="0" rIns="0" bIns="0" rtlCol="0" anchor="ctr"/>
          <a:lstStyle/>
          <a:p>
            <a:pPr marL="0" indent="0">
              <a:buNone/>
            </a:pPr>
            <a:r>
              <a:rPr lang="en-US" sz="1050" dirty="0">
                <a:solidFill>
                  <a:srgbClr val="AAB7C2"/>
                </a:solidFill>
                <a:latin typeface="Segoe UI" pitchFamily="34" charset="0"/>
                <a:ea typeface="Segoe UI" pitchFamily="34" charset="-122"/>
                <a:cs typeface="Segoe UI" pitchFamily="34" charset="-120"/>
              </a:rPr>
              <a:t>Every trade print as it happens. No baseline snapshot — a past print has no current state.</a:t>
            </a:r>
            <a:endParaRPr lang="en-US" sz="1050" dirty="0"/>
          </a:p>
        </p:txBody>
      </p:sp>
      <p:sp>
        <p:nvSpPr>
          <p:cNvPr id="63" name="row background">
            <a:extLst>
              <a:ext uri="{C183D7F6-B498-43B3-948B-1728B52AA6E4}">
                <adec:decorative xmlns:adec="http://schemas.microsoft.com/office/drawing/2017/decorative" val="1"/>
              </a:ext>
            </a:extLst>
          </p:cNvPr>
          <p:cNvSpPr/>
          <p:nvPr/>
        </p:nvSpPr>
        <p:spPr>
          <a:xfrm>
            <a:off x="566928" y="4782312"/>
            <a:ext cx="10607040" cy="292608"/>
          </a:xfrm>
          <a:prstGeom prst="rect">
            <a:avLst/>
          </a:prstGeom>
          <a:solidFill>
            <a:srgbClr val="20272D"/>
          </a:solidFill>
          <a:ln w="12700">
            <a:solidFill>
              <a:srgbClr val="333333"/>
            </a:solidFill>
            <a:prstDash val="solid"/>
          </a:ln>
        </p:spPr>
        <p:txBody>
          <a:bodyPr/>
          <a:lstStyle/>
          <a:p>
            <a:endParaRPr lang="en-SE"/>
          </a:p>
        </p:txBody>
      </p:sp>
      <p:sp>
        <p:nvSpPr>
          <p:cNvPr id="64" name="row marker">
            <a:extLst>
              <a:ext uri="{C183D7F6-B498-43B3-948B-1728B52AA6E4}">
                <adec:decorative xmlns:adec="http://schemas.microsoft.com/office/drawing/2017/decorative" val="1"/>
              </a:ext>
            </a:extLst>
          </p:cNvPr>
          <p:cNvSpPr/>
          <p:nvPr/>
        </p:nvSpPr>
        <p:spPr>
          <a:xfrm>
            <a:off x="566928" y="4782312"/>
            <a:ext cx="32004" cy="292608"/>
          </a:xfrm>
          <a:prstGeom prst="rect">
            <a:avLst/>
          </a:prstGeom>
          <a:solidFill>
            <a:srgbClr val="F5A524"/>
          </a:solidFill>
          <a:ln w="12700">
            <a:solidFill>
              <a:srgbClr val="333333"/>
            </a:solidFill>
            <a:prstDash val="solid"/>
          </a:ln>
        </p:spPr>
        <p:txBody>
          <a:bodyPr/>
          <a:lstStyle/>
          <a:p>
            <a:endParaRPr lang="en-SE"/>
          </a:p>
        </p:txBody>
      </p:sp>
      <p:sp>
        <p:nvSpPr>
          <p:cNvPr id="65" name="Text 63"/>
          <p:cNvSpPr/>
          <p:nvPr/>
        </p:nvSpPr>
        <p:spPr>
          <a:xfrm>
            <a:off x="777240" y="4782312"/>
            <a:ext cx="1280160" cy="292608"/>
          </a:xfrm>
          <a:prstGeom prst="rect">
            <a:avLst/>
          </a:prstGeom>
          <a:noFill/>
          <a:ln/>
        </p:spPr>
        <p:txBody>
          <a:bodyPr wrap="square" lIns="0" tIns="0" rIns="0" bIns="0" rtlCol="0" anchor="ctr"/>
          <a:lstStyle/>
          <a:p>
            <a:pPr marL="0" indent="0">
              <a:buNone/>
            </a:pPr>
            <a:r>
              <a:rPr lang="en-US" sz="1050" b="1" dirty="0">
                <a:solidFill>
                  <a:srgbClr val="F5A524"/>
                </a:solidFill>
                <a:latin typeface="Consolas" pitchFamily="34" charset="0"/>
                <a:ea typeface="Consolas" pitchFamily="34" charset="-122"/>
                <a:cs typeface="Consolas" pitchFamily="34" charset="-120"/>
              </a:rPr>
              <a:t>STATE</a:t>
            </a:r>
            <a:endParaRPr lang="en-US" sz="1050" dirty="0"/>
          </a:p>
        </p:txBody>
      </p:sp>
      <p:sp>
        <p:nvSpPr>
          <p:cNvPr id="66" name="Text 64"/>
          <p:cNvSpPr/>
          <p:nvPr/>
        </p:nvSpPr>
        <p:spPr>
          <a:xfrm>
            <a:off x="2148840" y="4782312"/>
            <a:ext cx="8778240" cy="292608"/>
          </a:xfrm>
          <a:prstGeom prst="rect">
            <a:avLst/>
          </a:prstGeom>
          <a:noFill/>
          <a:ln/>
        </p:spPr>
        <p:txBody>
          <a:bodyPr wrap="square" lIns="0" tIns="0" rIns="0" bIns="0" rtlCol="0" anchor="ctr"/>
          <a:lstStyle/>
          <a:p>
            <a:pPr marL="0" indent="0">
              <a:buNone/>
            </a:pPr>
            <a:r>
              <a:rPr lang="en-US" sz="1050" dirty="0">
                <a:solidFill>
                  <a:srgbClr val="AAB7C2"/>
                </a:solidFill>
                <a:latin typeface="Segoe UI" pitchFamily="34" charset="0"/>
                <a:ea typeface="Segoe UI" pitchFamily="34" charset="-122"/>
                <a:cs typeface="Segoe UI" pitchFamily="34" charset="-120"/>
              </a:rPr>
              <a:t>Session-wide and per-symbol state changes.</a:t>
            </a:r>
            <a:endParaRPr lang="en-US" sz="1050" dirty="0"/>
          </a:p>
        </p:txBody>
      </p:sp>
      <p:sp>
        <p:nvSpPr>
          <p:cNvPr id="67" name="row background">
            <a:extLst>
              <a:ext uri="{C183D7F6-B498-43B3-948B-1728B52AA6E4}">
                <adec:decorative xmlns:adec="http://schemas.microsoft.com/office/drawing/2017/decorative" val="1"/>
              </a:ext>
            </a:extLst>
          </p:cNvPr>
          <p:cNvSpPr/>
          <p:nvPr/>
        </p:nvSpPr>
        <p:spPr>
          <a:xfrm>
            <a:off x="566928" y="5093208"/>
            <a:ext cx="10607040" cy="292608"/>
          </a:xfrm>
          <a:prstGeom prst="rect">
            <a:avLst/>
          </a:prstGeom>
          <a:solidFill>
            <a:srgbClr val="191E23"/>
          </a:solidFill>
          <a:ln w="12700">
            <a:solidFill>
              <a:srgbClr val="333333"/>
            </a:solidFill>
            <a:prstDash val="solid"/>
          </a:ln>
        </p:spPr>
        <p:txBody>
          <a:bodyPr/>
          <a:lstStyle/>
          <a:p>
            <a:endParaRPr lang="en-SE"/>
          </a:p>
        </p:txBody>
      </p:sp>
      <p:sp>
        <p:nvSpPr>
          <p:cNvPr id="68" name="row marker">
            <a:extLst>
              <a:ext uri="{C183D7F6-B498-43B3-948B-1728B52AA6E4}">
                <adec:decorative xmlns:adec="http://schemas.microsoft.com/office/drawing/2017/decorative" val="1"/>
              </a:ext>
            </a:extLst>
          </p:cNvPr>
          <p:cNvSpPr/>
          <p:nvPr/>
        </p:nvSpPr>
        <p:spPr>
          <a:xfrm>
            <a:off x="566928" y="5093208"/>
            <a:ext cx="32004" cy="292608"/>
          </a:xfrm>
          <a:prstGeom prst="rect">
            <a:avLst/>
          </a:prstGeom>
          <a:solidFill>
            <a:srgbClr val="3FE08A"/>
          </a:solidFill>
          <a:ln w="12700">
            <a:solidFill>
              <a:srgbClr val="333333"/>
            </a:solidFill>
            <a:prstDash val="solid"/>
          </a:ln>
        </p:spPr>
        <p:txBody>
          <a:bodyPr/>
          <a:lstStyle/>
          <a:p>
            <a:endParaRPr lang="en-SE"/>
          </a:p>
        </p:txBody>
      </p:sp>
      <p:sp>
        <p:nvSpPr>
          <p:cNvPr id="69" name="Text 67"/>
          <p:cNvSpPr/>
          <p:nvPr/>
        </p:nvSpPr>
        <p:spPr>
          <a:xfrm>
            <a:off x="777240" y="5093208"/>
            <a:ext cx="1280160" cy="292608"/>
          </a:xfrm>
          <a:prstGeom prst="rect">
            <a:avLst/>
          </a:prstGeom>
          <a:noFill/>
          <a:ln/>
        </p:spPr>
        <p:txBody>
          <a:bodyPr wrap="square" lIns="0" tIns="0" rIns="0" bIns="0" rtlCol="0" anchor="ctr"/>
          <a:lstStyle/>
          <a:p>
            <a:pPr marL="0" indent="0">
              <a:buNone/>
            </a:pPr>
            <a:r>
              <a:rPr lang="en-US" sz="1050" b="1" dirty="0">
                <a:solidFill>
                  <a:srgbClr val="3FE08A"/>
                </a:solidFill>
                <a:latin typeface="Consolas" pitchFamily="34" charset="0"/>
                <a:ea typeface="Consolas" pitchFamily="34" charset="-122"/>
                <a:cs typeface="Consolas" pitchFamily="34" charset="-120"/>
              </a:rPr>
              <a:t>INDEX</a:t>
            </a:r>
            <a:endParaRPr lang="en-US" sz="1050" dirty="0"/>
          </a:p>
        </p:txBody>
      </p:sp>
      <p:sp>
        <p:nvSpPr>
          <p:cNvPr id="70" name="Text 68"/>
          <p:cNvSpPr/>
          <p:nvPr/>
        </p:nvSpPr>
        <p:spPr>
          <a:xfrm>
            <a:off x="2148840" y="5093208"/>
            <a:ext cx="8778240" cy="292608"/>
          </a:xfrm>
          <a:prstGeom prst="rect">
            <a:avLst/>
          </a:prstGeom>
          <a:noFill/>
          <a:ln/>
        </p:spPr>
        <p:txBody>
          <a:bodyPr wrap="square" lIns="0" tIns="0" rIns="0" bIns="0" rtlCol="0" anchor="ctr"/>
          <a:lstStyle/>
          <a:p>
            <a:pPr marL="0" indent="0">
              <a:buNone/>
            </a:pPr>
            <a:r>
              <a:rPr lang="en-US" sz="1050" dirty="0">
                <a:solidFill>
                  <a:srgbClr val="AAB7C2"/>
                </a:solidFill>
                <a:latin typeface="Segoe UI" pitchFamily="34" charset="0"/>
                <a:ea typeface="Segoe UI" pitchFamily="34" charset="-122"/>
                <a:cs typeface="Segoe UI" pitchFamily="34" charset="-120"/>
              </a:rPr>
              <a:t>Index level updates.</a:t>
            </a:r>
            <a:endParaRPr lang="en-US" sz="1050" dirty="0"/>
          </a:p>
        </p:txBody>
      </p:sp>
      <p:sp>
        <p:nvSpPr>
          <p:cNvPr id="71" name="row background">
            <a:extLst>
              <a:ext uri="{C183D7F6-B498-43B3-948B-1728B52AA6E4}">
                <adec:decorative xmlns:adec="http://schemas.microsoft.com/office/drawing/2017/decorative" val="1"/>
              </a:ext>
            </a:extLst>
          </p:cNvPr>
          <p:cNvSpPr/>
          <p:nvPr/>
        </p:nvSpPr>
        <p:spPr>
          <a:xfrm>
            <a:off x="566928" y="5404104"/>
            <a:ext cx="10607040" cy="292608"/>
          </a:xfrm>
          <a:prstGeom prst="rect">
            <a:avLst/>
          </a:prstGeom>
          <a:solidFill>
            <a:srgbClr val="20272D"/>
          </a:solidFill>
          <a:ln w="12700">
            <a:solidFill>
              <a:srgbClr val="333333"/>
            </a:solidFill>
            <a:prstDash val="solid"/>
          </a:ln>
        </p:spPr>
        <p:txBody>
          <a:bodyPr/>
          <a:lstStyle/>
          <a:p>
            <a:endParaRPr lang="en-SE"/>
          </a:p>
        </p:txBody>
      </p:sp>
      <p:sp>
        <p:nvSpPr>
          <p:cNvPr id="72" name="row marker">
            <a:extLst>
              <a:ext uri="{C183D7F6-B498-43B3-948B-1728B52AA6E4}">
                <adec:decorative xmlns:adec="http://schemas.microsoft.com/office/drawing/2017/decorative" val="1"/>
              </a:ext>
            </a:extLst>
          </p:cNvPr>
          <p:cNvSpPr/>
          <p:nvPr/>
        </p:nvSpPr>
        <p:spPr>
          <a:xfrm>
            <a:off x="566928" y="5404104"/>
            <a:ext cx="32004" cy="292608"/>
          </a:xfrm>
          <a:prstGeom prst="rect">
            <a:avLst/>
          </a:prstGeom>
          <a:solidFill>
            <a:srgbClr val="3FE08A"/>
          </a:solidFill>
          <a:ln w="12700">
            <a:solidFill>
              <a:srgbClr val="333333"/>
            </a:solidFill>
            <a:prstDash val="solid"/>
          </a:ln>
        </p:spPr>
        <p:txBody>
          <a:bodyPr/>
          <a:lstStyle/>
          <a:p>
            <a:endParaRPr lang="en-SE"/>
          </a:p>
        </p:txBody>
      </p:sp>
      <p:sp>
        <p:nvSpPr>
          <p:cNvPr id="73" name="Text 71"/>
          <p:cNvSpPr/>
          <p:nvPr/>
        </p:nvSpPr>
        <p:spPr>
          <a:xfrm>
            <a:off x="777240" y="5404104"/>
            <a:ext cx="1280160" cy="292608"/>
          </a:xfrm>
          <a:prstGeom prst="rect">
            <a:avLst/>
          </a:prstGeom>
          <a:noFill/>
          <a:ln/>
        </p:spPr>
        <p:txBody>
          <a:bodyPr wrap="square" lIns="0" tIns="0" rIns="0" bIns="0" rtlCol="0" anchor="ctr"/>
          <a:lstStyle/>
          <a:p>
            <a:pPr marL="0" indent="0">
              <a:buNone/>
            </a:pPr>
            <a:r>
              <a:rPr lang="en-US" sz="1050" b="1" dirty="0">
                <a:solidFill>
                  <a:srgbClr val="3FE08A"/>
                </a:solidFill>
                <a:latin typeface="Consolas" pitchFamily="34" charset="0"/>
                <a:ea typeface="Consolas" pitchFamily="34" charset="-122"/>
                <a:cs typeface="Consolas" pitchFamily="34" charset="-120"/>
              </a:rPr>
              <a:t>DEPTH</a:t>
            </a:r>
            <a:endParaRPr lang="en-US" sz="1050" dirty="0"/>
          </a:p>
        </p:txBody>
      </p:sp>
      <p:sp>
        <p:nvSpPr>
          <p:cNvPr id="74" name="Text 72"/>
          <p:cNvSpPr/>
          <p:nvPr/>
        </p:nvSpPr>
        <p:spPr>
          <a:xfrm>
            <a:off x="2148840" y="5404104"/>
            <a:ext cx="8778240" cy="292608"/>
          </a:xfrm>
          <a:prstGeom prst="rect">
            <a:avLst/>
          </a:prstGeom>
          <a:noFill/>
          <a:ln/>
        </p:spPr>
        <p:txBody>
          <a:bodyPr wrap="square" lIns="0" tIns="0" rIns="0" bIns="0" rtlCol="0" anchor="ctr"/>
          <a:lstStyle/>
          <a:p>
            <a:pPr marL="0" indent="0">
              <a:buNone/>
            </a:pPr>
            <a:r>
              <a:rPr lang="en-US" sz="1050" dirty="0">
                <a:solidFill>
                  <a:srgbClr val="AAB7C2"/>
                </a:solidFill>
                <a:latin typeface="Segoe UI" pitchFamily="34" charset="0"/>
                <a:ea typeface="Segoe UI" pitchFamily="34" charset="-122"/>
                <a:cs typeface="Segoe UI" pitchFamily="34" charset="-120"/>
              </a:rPr>
              <a:t>Aggregated multi-level order book.</a:t>
            </a:r>
            <a:endParaRPr lang="en-US" sz="1050" dirty="0"/>
          </a:p>
        </p:txBody>
      </p:sp>
      <p:sp>
        <p:nvSpPr>
          <p:cNvPr id="75" name="row background">
            <a:extLst>
              <a:ext uri="{C183D7F6-B498-43B3-948B-1728B52AA6E4}">
                <adec:decorative xmlns:adec="http://schemas.microsoft.com/office/drawing/2017/decorative" val="1"/>
              </a:ext>
            </a:extLst>
          </p:cNvPr>
          <p:cNvSpPr/>
          <p:nvPr/>
        </p:nvSpPr>
        <p:spPr>
          <a:xfrm>
            <a:off x="566928" y="5715000"/>
            <a:ext cx="10607040" cy="292608"/>
          </a:xfrm>
          <a:prstGeom prst="rect">
            <a:avLst/>
          </a:prstGeom>
          <a:solidFill>
            <a:srgbClr val="191E23"/>
          </a:solidFill>
          <a:ln w="12700">
            <a:solidFill>
              <a:srgbClr val="333333"/>
            </a:solidFill>
            <a:prstDash val="solid"/>
          </a:ln>
        </p:spPr>
        <p:txBody>
          <a:bodyPr/>
          <a:lstStyle/>
          <a:p>
            <a:endParaRPr lang="en-SE"/>
          </a:p>
        </p:txBody>
      </p:sp>
      <p:sp>
        <p:nvSpPr>
          <p:cNvPr id="76" name="row marker">
            <a:extLst>
              <a:ext uri="{C183D7F6-B498-43B3-948B-1728B52AA6E4}">
                <adec:decorative xmlns:adec="http://schemas.microsoft.com/office/drawing/2017/decorative" val="1"/>
              </a:ext>
            </a:extLst>
          </p:cNvPr>
          <p:cNvSpPr/>
          <p:nvPr/>
        </p:nvSpPr>
        <p:spPr>
          <a:xfrm>
            <a:off x="566928" y="5715000"/>
            <a:ext cx="32004" cy="292608"/>
          </a:xfrm>
          <a:prstGeom prst="rect">
            <a:avLst/>
          </a:prstGeom>
          <a:solidFill>
            <a:srgbClr val="F5A524"/>
          </a:solidFill>
          <a:ln w="12700">
            <a:solidFill>
              <a:srgbClr val="333333"/>
            </a:solidFill>
            <a:prstDash val="solid"/>
          </a:ln>
        </p:spPr>
        <p:txBody>
          <a:bodyPr/>
          <a:lstStyle/>
          <a:p>
            <a:endParaRPr lang="en-SE"/>
          </a:p>
        </p:txBody>
      </p:sp>
      <p:sp>
        <p:nvSpPr>
          <p:cNvPr id="77" name="Text 75"/>
          <p:cNvSpPr/>
          <p:nvPr/>
        </p:nvSpPr>
        <p:spPr>
          <a:xfrm>
            <a:off x="777240" y="5715000"/>
            <a:ext cx="1280160" cy="292608"/>
          </a:xfrm>
          <a:prstGeom prst="rect">
            <a:avLst/>
          </a:prstGeom>
          <a:noFill/>
          <a:ln/>
        </p:spPr>
        <p:txBody>
          <a:bodyPr wrap="square" lIns="0" tIns="0" rIns="0" bIns="0" rtlCol="0" anchor="ctr"/>
          <a:lstStyle/>
          <a:p>
            <a:pPr marL="0" indent="0">
              <a:buNone/>
            </a:pPr>
            <a:r>
              <a:rPr lang="en-US" sz="1050" b="1" dirty="0">
                <a:solidFill>
                  <a:srgbClr val="F5A524"/>
                </a:solidFill>
                <a:latin typeface="Consolas" pitchFamily="34" charset="0"/>
                <a:ea typeface="Consolas" pitchFamily="34" charset="-122"/>
                <a:cs typeface="Consolas" pitchFamily="34" charset="-120"/>
              </a:rPr>
              <a:t>AUCTION</a:t>
            </a:r>
            <a:endParaRPr lang="en-US" sz="1050" dirty="0"/>
          </a:p>
        </p:txBody>
      </p:sp>
      <p:sp>
        <p:nvSpPr>
          <p:cNvPr id="78" name="Text 76"/>
          <p:cNvSpPr/>
          <p:nvPr/>
        </p:nvSpPr>
        <p:spPr>
          <a:xfrm>
            <a:off x="2148840" y="5715000"/>
            <a:ext cx="8778240" cy="292608"/>
          </a:xfrm>
          <a:prstGeom prst="rect">
            <a:avLst/>
          </a:prstGeom>
          <a:noFill/>
          <a:ln/>
        </p:spPr>
        <p:txBody>
          <a:bodyPr wrap="square" lIns="0" tIns="0" rIns="0" bIns="0" rtlCol="0" anchor="ctr"/>
          <a:lstStyle/>
          <a:p>
            <a:pPr marL="0" indent="0">
              <a:buNone/>
            </a:pPr>
            <a:r>
              <a:rPr lang="en-US" sz="1050" dirty="0">
                <a:solidFill>
                  <a:srgbClr val="AAB7C2"/>
                </a:solidFill>
                <a:latin typeface="Segoe UI" pitchFamily="34" charset="0"/>
                <a:ea typeface="Segoe UI" pitchFamily="34" charset="-122"/>
                <a:cs typeface="Segoe UI" pitchFamily="34" charset="-120"/>
              </a:rPr>
              <a:t>Auction uncross results. Like TRADE, no baseline snapshot.</a:t>
            </a:r>
            <a:endParaRPr lang="en-US" sz="1050" dirty="0"/>
          </a:p>
        </p:txBody>
      </p:sp>
      <p:sp>
        <p:nvSpPr>
          <p:cNvPr id="79" name="row background">
            <a:extLst>
              <a:ext uri="{C183D7F6-B498-43B3-948B-1728B52AA6E4}">
                <adec:decorative xmlns:adec="http://schemas.microsoft.com/office/drawing/2017/decorative" val="1"/>
              </a:ext>
            </a:extLst>
          </p:cNvPr>
          <p:cNvSpPr/>
          <p:nvPr/>
        </p:nvSpPr>
        <p:spPr>
          <a:xfrm>
            <a:off x="566928" y="6025896"/>
            <a:ext cx="10607040" cy="292608"/>
          </a:xfrm>
          <a:prstGeom prst="rect">
            <a:avLst/>
          </a:prstGeom>
          <a:solidFill>
            <a:srgbClr val="20272D"/>
          </a:solidFill>
          <a:ln w="12700">
            <a:solidFill>
              <a:srgbClr val="333333"/>
            </a:solidFill>
            <a:prstDash val="solid"/>
          </a:ln>
        </p:spPr>
        <p:txBody>
          <a:bodyPr/>
          <a:lstStyle/>
          <a:p>
            <a:endParaRPr lang="en-SE"/>
          </a:p>
        </p:txBody>
      </p:sp>
      <p:sp>
        <p:nvSpPr>
          <p:cNvPr id="80" name="row marker">
            <a:extLst>
              <a:ext uri="{C183D7F6-B498-43B3-948B-1728B52AA6E4}">
                <adec:decorative xmlns:adec="http://schemas.microsoft.com/office/drawing/2017/decorative" val="1"/>
              </a:ext>
            </a:extLst>
          </p:cNvPr>
          <p:cNvSpPr/>
          <p:nvPr/>
        </p:nvSpPr>
        <p:spPr>
          <a:xfrm>
            <a:off x="566928" y="6025896"/>
            <a:ext cx="32004" cy="292608"/>
          </a:xfrm>
          <a:prstGeom prst="rect">
            <a:avLst/>
          </a:prstGeom>
          <a:solidFill>
            <a:srgbClr val="EF5B63"/>
          </a:solidFill>
          <a:ln w="12700">
            <a:solidFill>
              <a:srgbClr val="333333"/>
            </a:solidFill>
            <a:prstDash val="solid"/>
          </a:ln>
        </p:spPr>
        <p:txBody>
          <a:bodyPr/>
          <a:lstStyle/>
          <a:p>
            <a:endParaRPr lang="en-SE"/>
          </a:p>
        </p:txBody>
      </p:sp>
      <p:sp>
        <p:nvSpPr>
          <p:cNvPr id="81" name="Text 79"/>
          <p:cNvSpPr/>
          <p:nvPr/>
        </p:nvSpPr>
        <p:spPr>
          <a:xfrm>
            <a:off x="777240" y="6025896"/>
            <a:ext cx="1280160" cy="292608"/>
          </a:xfrm>
          <a:prstGeom prst="rect">
            <a:avLst/>
          </a:prstGeom>
          <a:noFill/>
          <a:ln/>
        </p:spPr>
        <p:txBody>
          <a:bodyPr wrap="square" lIns="0" tIns="0" rIns="0" bIns="0" rtlCol="0" anchor="ctr"/>
          <a:lstStyle/>
          <a:p>
            <a:pPr marL="0" indent="0">
              <a:buNone/>
            </a:pPr>
            <a:r>
              <a:rPr lang="en-US" sz="1050" b="1" dirty="0">
                <a:solidFill>
                  <a:srgbClr val="EF5B63"/>
                </a:solidFill>
                <a:latin typeface="Consolas" pitchFamily="34" charset="0"/>
                <a:ea typeface="Consolas" pitchFamily="34" charset="-122"/>
                <a:cs typeface="Consolas" pitchFamily="34" charset="-120"/>
              </a:rPr>
              <a:t>CB</a:t>
            </a:r>
            <a:endParaRPr lang="en-US" sz="1050" dirty="0"/>
          </a:p>
        </p:txBody>
      </p:sp>
      <p:sp>
        <p:nvSpPr>
          <p:cNvPr id="82" name="Text 80"/>
          <p:cNvSpPr/>
          <p:nvPr/>
        </p:nvSpPr>
        <p:spPr>
          <a:xfrm>
            <a:off x="2148840" y="6025896"/>
            <a:ext cx="8778240" cy="292608"/>
          </a:xfrm>
          <a:prstGeom prst="rect">
            <a:avLst/>
          </a:prstGeom>
          <a:noFill/>
          <a:ln/>
        </p:spPr>
        <p:txBody>
          <a:bodyPr wrap="square" lIns="0" tIns="0" rIns="0" bIns="0" rtlCol="0" anchor="ctr"/>
          <a:lstStyle/>
          <a:p>
            <a:pPr marL="0" indent="0">
              <a:buNone/>
            </a:pPr>
            <a:r>
              <a:rPr lang="en-US" sz="1050" dirty="0">
                <a:solidFill>
                  <a:srgbClr val="AAB7C2"/>
                </a:solidFill>
                <a:latin typeface="Segoe UI" pitchFamily="34" charset="0"/>
                <a:ea typeface="Segoe UI" pitchFamily="34" charset="-122"/>
                <a:cs typeface="Segoe UI" pitchFamily="34" charset="-120"/>
              </a:rPr>
              <a:t>Circuit-breaker detail behind a halt.</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Connecting and subscribing</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07 · TECHNICAL REFERENCE</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46</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The six-step session the terminal's bridge performs on your behalf, once, for everyone.</a:t>
            </a:r>
            <a:endParaRPr lang="en-US" sz="1400" dirty="0"/>
          </a:p>
        </p:txBody>
      </p:sp>
      <p:sp>
        <p:nvSpPr>
          <p:cNvPr id="38" name="row background">
            <a:extLst>
              <a:ext uri="{C183D7F6-B498-43B3-948B-1728B52AA6E4}">
                <adec:decorative xmlns:adec="http://schemas.microsoft.com/office/drawing/2017/decorative" val="1"/>
              </a:ext>
            </a:extLst>
          </p:cNvPr>
          <p:cNvSpPr/>
          <p:nvPr/>
        </p:nvSpPr>
        <p:spPr>
          <a:xfrm>
            <a:off x="566928" y="1828800"/>
            <a:ext cx="10607040" cy="658368"/>
          </a:xfrm>
          <a:prstGeom prst="rect">
            <a:avLst/>
          </a:prstGeom>
          <a:solidFill>
            <a:srgbClr val="20272D"/>
          </a:solidFill>
          <a:ln w="12700">
            <a:solidFill>
              <a:srgbClr val="333333"/>
            </a:solidFill>
            <a:prstDash val="solid"/>
          </a:ln>
        </p:spPr>
        <p:txBody>
          <a:bodyPr/>
          <a:lstStyle/>
          <a:p>
            <a:endParaRPr lang="en-SE"/>
          </a:p>
        </p:txBody>
      </p:sp>
      <p:sp>
        <p:nvSpPr>
          <p:cNvPr id="39" name="step number background">
            <a:extLst>
              <a:ext uri="{C183D7F6-B498-43B3-948B-1728B52AA6E4}">
                <adec:decorative xmlns:adec="http://schemas.microsoft.com/office/drawing/2017/decorative" val="1"/>
              </a:ext>
            </a:extLst>
          </p:cNvPr>
          <p:cNvSpPr/>
          <p:nvPr/>
        </p:nvSpPr>
        <p:spPr>
          <a:xfrm>
            <a:off x="749808" y="1975104"/>
            <a:ext cx="402336" cy="402336"/>
          </a:xfrm>
          <a:prstGeom prst="ellipse">
            <a:avLst/>
          </a:prstGeom>
          <a:solidFill>
            <a:srgbClr val="122C22"/>
          </a:solidFill>
          <a:ln w="12700">
            <a:solidFill>
              <a:srgbClr val="3FE08A"/>
            </a:solidFill>
            <a:prstDash val="solid"/>
          </a:ln>
        </p:spPr>
        <p:txBody>
          <a:bodyPr/>
          <a:lstStyle/>
          <a:p>
            <a:endParaRPr lang="en-SE"/>
          </a:p>
        </p:txBody>
      </p:sp>
      <p:sp>
        <p:nvSpPr>
          <p:cNvPr id="40" name="Text 38"/>
          <p:cNvSpPr/>
          <p:nvPr/>
        </p:nvSpPr>
        <p:spPr>
          <a:xfrm>
            <a:off x="749808" y="1975104"/>
            <a:ext cx="402336" cy="402336"/>
          </a:xfrm>
          <a:prstGeom prst="rect">
            <a:avLst/>
          </a:prstGeom>
          <a:noFill/>
          <a:ln/>
        </p:spPr>
        <p:txBody>
          <a:bodyPr wrap="square" lIns="0" tIns="0" rIns="0" bIns="0" rtlCol="0" anchor="ctr"/>
          <a:lstStyle/>
          <a:p>
            <a:pPr marL="0" indent="0" algn="ctr">
              <a:buNone/>
            </a:pPr>
            <a:r>
              <a:rPr lang="en-US" sz="1000" b="1" dirty="0">
                <a:solidFill>
                  <a:srgbClr val="3FE08A"/>
                </a:solidFill>
                <a:latin typeface="Consolas" pitchFamily="34" charset="0"/>
                <a:ea typeface="Consolas" pitchFamily="34" charset="-122"/>
                <a:cs typeface="Consolas" pitchFamily="34" charset="-120"/>
              </a:rPr>
              <a:t>1</a:t>
            </a:r>
            <a:endParaRPr lang="en-US" sz="1000" dirty="0"/>
          </a:p>
        </p:txBody>
      </p:sp>
      <p:sp>
        <p:nvSpPr>
          <p:cNvPr id="41" name="Text 39"/>
          <p:cNvSpPr/>
          <p:nvPr/>
        </p:nvSpPr>
        <p:spPr>
          <a:xfrm>
            <a:off x="1325880" y="1828800"/>
            <a:ext cx="1600200" cy="694944"/>
          </a:xfrm>
          <a:prstGeom prst="rect">
            <a:avLst/>
          </a:prstGeom>
          <a:noFill/>
          <a:ln/>
        </p:spPr>
        <p:txBody>
          <a:bodyPr wrap="square" lIns="0" tIns="0" rIns="0" bIns="0" rtlCol="0" anchor="ctr"/>
          <a:lstStyle/>
          <a:p>
            <a:pPr marL="0" indent="0">
              <a:buNone/>
            </a:pPr>
            <a:r>
              <a:rPr lang="en-US" sz="1100" b="1" dirty="0">
                <a:solidFill>
                  <a:srgbClr val="3FE08A"/>
                </a:solidFill>
                <a:latin typeface="Consolas" pitchFamily="34" charset="0"/>
                <a:ea typeface="Consolas" pitchFamily="34" charset="-122"/>
                <a:cs typeface="Consolas" pitchFamily="34" charset="-120"/>
              </a:rPr>
              <a:t>HELLO</a:t>
            </a:r>
            <a:endParaRPr lang="en-US" sz="1100" dirty="0"/>
          </a:p>
        </p:txBody>
      </p:sp>
      <p:sp>
        <p:nvSpPr>
          <p:cNvPr id="42" name="Text 40"/>
          <p:cNvSpPr/>
          <p:nvPr/>
        </p:nvSpPr>
        <p:spPr>
          <a:xfrm>
            <a:off x="3017520" y="1828800"/>
            <a:ext cx="8001000" cy="694944"/>
          </a:xfrm>
          <a:prstGeom prst="rect">
            <a:avLst/>
          </a:prstGeom>
          <a:noFill/>
          <a:ln/>
        </p:spPr>
        <p:txBody>
          <a:bodyPr wrap="square" lIns="0" tIns="0" rIns="0" bIns="0" rtlCol="0" anchor="ctr"/>
          <a:lstStyle/>
          <a:p>
            <a:pPr marL="0" indent="0">
              <a:lnSpc>
                <a:spcPct val="105000"/>
              </a:lnSpc>
              <a:buNone/>
            </a:pPr>
            <a:r>
              <a:rPr lang="en-US" sz="1050" dirty="0">
                <a:solidFill>
                  <a:srgbClr val="AAB7C2"/>
                </a:solidFill>
                <a:latin typeface="Segoe UI" pitchFamily="34" charset="0"/>
                <a:ea typeface="Segoe UI" pitchFamily="34" charset="-122"/>
                <a:cs typeface="Segoe UI" pitchFamily="34" charset="-120"/>
              </a:rPr>
              <a:t>The client announces itself and names the protocol version. The gateway replies with a welcome that lists the gateway id, the heartbeat interval, the replay window, the configured symbols, and which channels this gateway build actually supports.</a:t>
            </a:r>
            <a:endParaRPr lang="en-US" sz="1050" dirty="0"/>
          </a:p>
        </p:txBody>
      </p:sp>
      <p:sp>
        <p:nvSpPr>
          <p:cNvPr id="43" name="row background">
            <a:extLst>
              <a:ext uri="{C183D7F6-B498-43B3-948B-1728B52AA6E4}">
                <adec:decorative xmlns:adec="http://schemas.microsoft.com/office/drawing/2017/decorative" val="1"/>
              </a:ext>
            </a:extLst>
          </p:cNvPr>
          <p:cNvSpPr/>
          <p:nvPr/>
        </p:nvSpPr>
        <p:spPr>
          <a:xfrm>
            <a:off x="566928" y="2560320"/>
            <a:ext cx="10607040" cy="658368"/>
          </a:xfrm>
          <a:prstGeom prst="rect">
            <a:avLst/>
          </a:prstGeom>
          <a:solidFill>
            <a:srgbClr val="191E23"/>
          </a:solidFill>
          <a:ln w="12700">
            <a:solidFill>
              <a:srgbClr val="333333"/>
            </a:solidFill>
            <a:prstDash val="solid"/>
          </a:ln>
        </p:spPr>
        <p:txBody>
          <a:bodyPr/>
          <a:lstStyle/>
          <a:p>
            <a:endParaRPr lang="en-SE"/>
          </a:p>
        </p:txBody>
      </p:sp>
      <p:sp>
        <p:nvSpPr>
          <p:cNvPr id="44" name="step number background">
            <a:extLst>
              <a:ext uri="{C183D7F6-B498-43B3-948B-1728B52AA6E4}">
                <adec:decorative xmlns:adec="http://schemas.microsoft.com/office/drawing/2017/decorative" val="1"/>
              </a:ext>
            </a:extLst>
          </p:cNvPr>
          <p:cNvSpPr/>
          <p:nvPr/>
        </p:nvSpPr>
        <p:spPr>
          <a:xfrm>
            <a:off x="749808" y="2706624"/>
            <a:ext cx="402336" cy="402336"/>
          </a:xfrm>
          <a:prstGeom prst="ellipse">
            <a:avLst/>
          </a:prstGeom>
          <a:solidFill>
            <a:srgbClr val="122C22"/>
          </a:solidFill>
          <a:ln w="12700">
            <a:solidFill>
              <a:srgbClr val="3FE08A"/>
            </a:solidFill>
            <a:prstDash val="solid"/>
          </a:ln>
        </p:spPr>
        <p:txBody>
          <a:bodyPr/>
          <a:lstStyle/>
          <a:p>
            <a:endParaRPr lang="en-SE"/>
          </a:p>
        </p:txBody>
      </p:sp>
      <p:sp>
        <p:nvSpPr>
          <p:cNvPr id="45" name="Text 43"/>
          <p:cNvSpPr/>
          <p:nvPr/>
        </p:nvSpPr>
        <p:spPr>
          <a:xfrm>
            <a:off x="749808" y="2706624"/>
            <a:ext cx="402336" cy="402336"/>
          </a:xfrm>
          <a:prstGeom prst="rect">
            <a:avLst/>
          </a:prstGeom>
          <a:noFill/>
          <a:ln/>
        </p:spPr>
        <p:txBody>
          <a:bodyPr wrap="square" lIns="0" tIns="0" rIns="0" bIns="0" rtlCol="0" anchor="ctr"/>
          <a:lstStyle/>
          <a:p>
            <a:pPr marL="0" indent="0" algn="ctr">
              <a:buNone/>
            </a:pPr>
            <a:r>
              <a:rPr lang="en-US" sz="1000" b="1" dirty="0">
                <a:solidFill>
                  <a:srgbClr val="3FE08A"/>
                </a:solidFill>
                <a:latin typeface="Consolas" pitchFamily="34" charset="0"/>
                <a:ea typeface="Consolas" pitchFamily="34" charset="-122"/>
                <a:cs typeface="Consolas" pitchFamily="34" charset="-120"/>
              </a:rPr>
              <a:t>2</a:t>
            </a:r>
            <a:endParaRPr lang="en-US" sz="1000" dirty="0"/>
          </a:p>
        </p:txBody>
      </p:sp>
      <p:sp>
        <p:nvSpPr>
          <p:cNvPr id="46" name="Text 44"/>
          <p:cNvSpPr/>
          <p:nvPr/>
        </p:nvSpPr>
        <p:spPr>
          <a:xfrm>
            <a:off x="1325880" y="2560320"/>
            <a:ext cx="1600200" cy="694944"/>
          </a:xfrm>
          <a:prstGeom prst="rect">
            <a:avLst/>
          </a:prstGeom>
          <a:noFill/>
          <a:ln/>
        </p:spPr>
        <p:txBody>
          <a:bodyPr wrap="square" lIns="0" tIns="0" rIns="0" bIns="0" rtlCol="0" anchor="ctr"/>
          <a:lstStyle/>
          <a:p>
            <a:pPr marL="0" indent="0">
              <a:buNone/>
            </a:pPr>
            <a:r>
              <a:rPr lang="en-US" sz="1100" b="1" dirty="0">
                <a:solidFill>
                  <a:srgbClr val="3FE08A"/>
                </a:solidFill>
                <a:latin typeface="Consolas" pitchFamily="34" charset="0"/>
                <a:ea typeface="Consolas" pitchFamily="34" charset="-122"/>
                <a:cs typeface="Consolas" pitchFamily="34" charset="-120"/>
              </a:rPr>
              <a:t>SUB</a:t>
            </a:r>
            <a:endParaRPr lang="en-US" sz="1100" dirty="0"/>
          </a:p>
        </p:txBody>
      </p:sp>
      <p:sp>
        <p:nvSpPr>
          <p:cNvPr id="47" name="Text 45"/>
          <p:cNvSpPr/>
          <p:nvPr/>
        </p:nvSpPr>
        <p:spPr>
          <a:xfrm>
            <a:off x="3017520" y="2560320"/>
            <a:ext cx="8001000" cy="694944"/>
          </a:xfrm>
          <a:prstGeom prst="rect">
            <a:avLst/>
          </a:prstGeom>
          <a:noFill/>
          <a:ln/>
        </p:spPr>
        <p:txBody>
          <a:bodyPr wrap="square" lIns="0" tIns="0" rIns="0" bIns="0" rtlCol="0" anchor="ctr"/>
          <a:lstStyle/>
          <a:p>
            <a:pPr marL="0" indent="0">
              <a:lnSpc>
                <a:spcPct val="105000"/>
              </a:lnSpc>
              <a:buNone/>
            </a:pPr>
            <a:r>
              <a:rPr lang="en-US" sz="1050" dirty="0">
                <a:solidFill>
                  <a:srgbClr val="AAB7C2"/>
                </a:solidFill>
                <a:latin typeface="Segoe UI" pitchFamily="34" charset="0"/>
                <a:ea typeface="Segoe UI" pitchFamily="34" charset="-122"/>
                <a:cs typeface="Segoe UI" pitchFamily="34" charset="-120"/>
              </a:rPr>
              <a:t>Subscribe to a set of channels for a set of symbols. Multiple subscribe lines are cumulative — existing subscriptions are preserved. A wildcard symbol subscribes to everything at once.</a:t>
            </a:r>
            <a:endParaRPr lang="en-US" sz="1050" dirty="0"/>
          </a:p>
        </p:txBody>
      </p:sp>
      <p:sp>
        <p:nvSpPr>
          <p:cNvPr id="48" name="row background">
            <a:extLst>
              <a:ext uri="{C183D7F6-B498-43B3-948B-1728B52AA6E4}">
                <adec:decorative xmlns:adec="http://schemas.microsoft.com/office/drawing/2017/decorative" val="1"/>
              </a:ext>
            </a:extLst>
          </p:cNvPr>
          <p:cNvSpPr/>
          <p:nvPr/>
        </p:nvSpPr>
        <p:spPr>
          <a:xfrm>
            <a:off x="566928" y="3291840"/>
            <a:ext cx="10607040" cy="658368"/>
          </a:xfrm>
          <a:prstGeom prst="rect">
            <a:avLst/>
          </a:prstGeom>
          <a:solidFill>
            <a:srgbClr val="20272D"/>
          </a:solidFill>
          <a:ln w="12700">
            <a:solidFill>
              <a:srgbClr val="333333"/>
            </a:solidFill>
            <a:prstDash val="solid"/>
          </a:ln>
        </p:spPr>
        <p:txBody>
          <a:bodyPr/>
          <a:lstStyle/>
          <a:p>
            <a:endParaRPr lang="en-SE"/>
          </a:p>
        </p:txBody>
      </p:sp>
      <p:sp>
        <p:nvSpPr>
          <p:cNvPr id="49" name="step number background">
            <a:extLst>
              <a:ext uri="{C183D7F6-B498-43B3-948B-1728B52AA6E4}">
                <adec:decorative xmlns:adec="http://schemas.microsoft.com/office/drawing/2017/decorative" val="1"/>
              </a:ext>
            </a:extLst>
          </p:cNvPr>
          <p:cNvSpPr/>
          <p:nvPr/>
        </p:nvSpPr>
        <p:spPr>
          <a:xfrm>
            <a:off x="749808" y="3438144"/>
            <a:ext cx="402336" cy="402336"/>
          </a:xfrm>
          <a:prstGeom prst="ellipse">
            <a:avLst/>
          </a:prstGeom>
          <a:solidFill>
            <a:srgbClr val="122C22"/>
          </a:solidFill>
          <a:ln w="12700">
            <a:solidFill>
              <a:srgbClr val="3FE08A"/>
            </a:solidFill>
            <a:prstDash val="solid"/>
          </a:ln>
        </p:spPr>
        <p:txBody>
          <a:bodyPr/>
          <a:lstStyle/>
          <a:p>
            <a:endParaRPr lang="en-SE"/>
          </a:p>
        </p:txBody>
      </p:sp>
      <p:sp>
        <p:nvSpPr>
          <p:cNvPr id="50" name="Text 48"/>
          <p:cNvSpPr/>
          <p:nvPr/>
        </p:nvSpPr>
        <p:spPr>
          <a:xfrm>
            <a:off x="749808" y="3438144"/>
            <a:ext cx="402336" cy="402336"/>
          </a:xfrm>
          <a:prstGeom prst="rect">
            <a:avLst/>
          </a:prstGeom>
          <a:noFill/>
          <a:ln/>
        </p:spPr>
        <p:txBody>
          <a:bodyPr wrap="square" lIns="0" tIns="0" rIns="0" bIns="0" rtlCol="0" anchor="ctr"/>
          <a:lstStyle/>
          <a:p>
            <a:pPr marL="0" indent="0" algn="ctr">
              <a:buNone/>
            </a:pPr>
            <a:r>
              <a:rPr lang="en-US" sz="1000" b="1" dirty="0">
                <a:solidFill>
                  <a:srgbClr val="3FE08A"/>
                </a:solidFill>
                <a:latin typeface="Consolas" pitchFamily="34" charset="0"/>
                <a:ea typeface="Consolas" pitchFamily="34" charset="-122"/>
                <a:cs typeface="Consolas" pitchFamily="34" charset="-120"/>
              </a:rPr>
              <a:t>3</a:t>
            </a:r>
            <a:endParaRPr lang="en-US" sz="1000" dirty="0"/>
          </a:p>
        </p:txBody>
      </p:sp>
      <p:sp>
        <p:nvSpPr>
          <p:cNvPr id="51" name="Text 49"/>
          <p:cNvSpPr/>
          <p:nvPr/>
        </p:nvSpPr>
        <p:spPr>
          <a:xfrm>
            <a:off x="1325880" y="3291840"/>
            <a:ext cx="1600200" cy="694944"/>
          </a:xfrm>
          <a:prstGeom prst="rect">
            <a:avLst/>
          </a:prstGeom>
          <a:noFill/>
          <a:ln/>
        </p:spPr>
        <p:txBody>
          <a:bodyPr wrap="square" lIns="0" tIns="0" rIns="0" bIns="0" rtlCol="0" anchor="ctr"/>
          <a:lstStyle/>
          <a:p>
            <a:pPr marL="0" indent="0">
              <a:buNone/>
            </a:pPr>
            <a:r>
              <a:rPr lang="en-US" sz="1100" b="1" dirty="0">
                <a:solidFill>
                  <a:srgbClr val="3FE08A"/>
                </a:solidFill>
                <a:latin typeface="Consolas" pitchFamily="34" charset="0"/>
                <a:ea typeface="Consolas" pitchFamily="34" charset="-122"/>
                <a:cs typeface="Consolas" pitchFamily="34" charset="-120"/>
              </a:rPr>
              <a:t>SNAP</a:t>
            </a:r>
            <a:endParaRPr lang="en-US" sz="1100" dirty="0"/>
          </a:p>
        </p:txBody>
      </p:sp>
      <p:sp>
        <p:nvSpPr>
          <p:cNvPr id="52" name="Text 50"/>
          <p:cNvSpPr/>
          <p:nvPr/>
        </p:nvSpPr>
        <p:spPr>
          <a:xfrm>
            <a:off x="3017520" y="3291840"/>
            <a:ext cx="8001000" cy="694944"/>
          </a:xfrm>
          <a:prstGeom prst="rect">
            <a:avLst/>
          </a:prstGeom>
          <a:noFill/>
          <a:ln/>
        </p:spPr>
        <p:txBody>
          <a:bodyPr wrap="square" lIns="0" tIns="0" rIns="0" bIns="0" rtlCol="0" anchor="ctr"/>
          <a:lstStyle/>
          <a:p>
            <a:pPr marL="0" indent="0">
              <a:lnSpc>
                <a:spcPct val="105000"/>
              </a:lnSpc>
              <a:buNone/>
            </a:pPr>
            <a:r>
              <a:rPr lang="en-US" sz="1050" dirty="0">
                <a:solidFill>
                  <a:srgbClr val="AAB7C2"/>
                </a:solidFill>
                <a:latin typeface="Segoe UI" pitchFamily="34" charset="0"/>
                <a:ea typeface="Segoe UI" pitchFamily="34" charset="-122"/>
                <a:cs typeface="Segoe UI" pitchFamily="34" charset="-120"/>
              </a:rPr>
              <a:t>For most channels, a new subscription immediately produces a baseline snapshot. Store its sequence number — that is your starting point. Trade and auction channels get no snapshot, because a past event has no current state to snapshot.</a:t>
            </a:r>
            <a:endParaRPr lang="en-US" sz="1050" dirty="0"/>
          </a:p>
        </p:txBody>
      </p:sp>
      <p:sp>
        <p:nvSpPr>
          <p:cNvPr id="53" name="row background">
            <a:extLst>
              <a:ext uri="{C183D7F6-B498-43B3-948B-1728B52AA6E4}">
                <adec:decorative xmlns:adec="http://schemas.microsoft.com/office/drawing/2017/decorative" val="1"/>
              </a:ext>
            </a:extLst>
          </p:cNvPr>
          <p:cNvSpPr/>
          <p:nvPr/>
        </p:nvSpPr>
        <p:spPr>
          <a:xfrm>
            <a:off x="566928" y="4023360"/>
            <a:ext cx="10607040" cy="658368"/>
          </a:xfrm>
          <a:prstGeom prst="rect">
            <a:avLst/>
          </a:prstGeom>
          <a:solidFill>
            <a:srgbClr val="191E23"/>
          </a:solidFill>
          <a:ln w="12700">
            <a:solidFill>
              <a:srgbClr val="333333"/>
            </a:solidFill>
            <a:prstDash val="solid"/>
          </a:ln>
        </p:spPr>
        <p:txBody>
          <a:bodyPr/>
          <a:lstStyle/>
          <a:p>
            <a:endParaRPr lang="en-SE"/>
          </a:p>
        </p:txBody>
      </p:sp>
      <p:sp>
        <p:nvSpPr>
          <p:cNvPr id="54" name="step number background">
            <a:extLst>
              <a:ext uri="{C183D7F6-B498-43B3-948B-1728B52AA6E4}">
                <adec:decorative xmlns:adec="http://schemas.microsoft.com/office/drawing/2017/decorative" val="1"/>
              </a:ext>
            </a:extLst>
          </p:cNvPr>
          <p:cNvSpPr/>
          <p:nvPr/>
        </p:nvSpPr>
        <p:spPr>
          <a:xfrm>
            <a:off x="749808" y="4169664"/>
            <a:ext cx="402336" cy="402336"/>
          </a:xfrm>
          <a:prstGeom prst="ellipse">
            <a:avLst/>
          </a:prstGeom>
          <a:solidFill>
            <a:srgbClr val="122C22"/>
          </a:solidFill>
          <a:ln w="12700">
            <a:solidFill>
              <a:srgbClr val="3FE08A"/>
            </a:solidFill>
            <a:prstDash val="solid"/>
          </a:ln>
        </p:spPr>
        <p:txBody>
          <a:bodyPr/>
          <a:lstStyle/>
          <a:p>
            <a:endParaRPr lang="en-SE"/>
          </a:p>
        </p:txBody>
      </p:sp>
      <p:sp>
        <p:nvSpPr>
          <p:cNvPr id="55" name="Text 53"/>
          <p:cNvSpPr/>
          <p:nvPr/>
        </p:nvSpPr>
        <p:spPr>
          <a:xfrm>
            <a:off x="749808" y="4169664"/>
            <a:ext cx="402336" cy="402336"/>
          </a:xfrm>
          <a:prstGeom prst="rect">
            <a:avLst/>
          </a:prstGeom>
          <a:noFill/>
          <a:ln/>
        </p:spPr>
        <p:txBody>
          <a:bodyPr wrap="square" lIns="0" tIns="0" rIns="0" bIns="0" rtlCol="0" anchor="ctr"/>
          <a:lstStyle/>
          <a:p>
            <a:pPr marL="0" indent="0" algn="ctr">
              <a:buNone/>
            </a:pPr>
            <a:r>
              <a:rPr lang="en-US" sz="1000" b="1" dirty="0">
                <a:solidFill>
                  <a:srgbClr val="3FE08A"/>
                </a:solidFill>
                <a:latin typeface="Consolas" pitchFamily="34" charset="0"/>
                <a:ea typeface="Consolas" pitchFamily="34" charset="-122"/>
                <a:cs typeface="Consolas" pitchFamily="34" charset="-120"/>
              </a:rPr>
              <a:t>4</a:t>
            </a:r>
            <a:endParaRPr lang="en-US" sz="1000" dirty="0"/>
          </a:p>
        </p:txBody>
      </p:sp>
      <p:sp>
        <p:nvSpPr>
          <p:cNvPr id="56" name="Text 54"/>
          <p:cNvSpPr/>
          <p:nvPr/>
        </p:nvSpPr>
        <p:spPr>
          <a:xfrm>
            <a:off x="1325880" y="4023360"/>
            <a:ext cx="1600200" cy="694944"/>
          </a:xfrm>
          <a:prstGeom prst="rect">
            <a:avLst/>
          </a:prstGeom>
          <a:noFill/>
          <a:ln/>
        </p:spPr>
        <p:txBody>
          <a:bodyPr wrap="square" lIns="0" tIns="0" rIns="0" bIns="0" rtlCol="0" anchor="ctr"/>
          <a:lstStyle/>
          <a:p>
            <a:pPr marL="0" indent="0">
              <a:buNone/>
            </a:pPr>
            <a:r>
              <a:rPr lang="en-US" sz="1100" b="1" dirty="0">
                <a:solidFill>
                  <a:srgbClr val="3FE08A"/>
                </a:solidFill>
                <a:latin typeface="Consolas" pitchFamily="34" charset="0"/>
                <a:ea typeface="Consolas" pitchFamily="34" charset="-122"/>
                <a:cs typeface="Consolas" pitchFamily="34" charset="-120"/>
              </a:rPr>
              <a:t>Live stream</a:t>
            </a:r>
            <a:endParaRPr lang="en-US" sz="1100" dirty="0"/>
          </a:p>
        </p:txBody>
      </p:sp>
      <p:sp>
        <p:nvSpPr>
          <p:cNvPr id="57" name="Text 55"/>
          <p:cNvSpPr/>
          <p:nvPr/>
        </p:nvSpPr>
        <p:spPr>
          <a:xfrm>
            <a:off x="3017520" y="4023360"/>
            <a:ext cx="8001000" cy="694944"/>
          </a:xfrm>
          <a:prstGeom prst="rect">
            <a:avLst/>
          </a:prstGeom>
          <a:noFill/>
          <a:ln/>
        </p:spPr>
        <p:txBody>
          <a:bodyPr wrap="square" lIns="0" tIns="0" rIns="0" bIns="0" rtlCol="0" anchor="ctr"/>
          <a:lstStyle/>
          <a:p>
            <a:pPr marL="0" indent="0">
              <a:lnSpc>
                <a:spcPct val="105000"/>
              </a:lnSpc>
              <a:buNone/>
            </a:pPr>
            <a:r>
              <a:rPr lang="en-US" sz="1050" dirty="0">
                <a:solidFill>
                  <a:srgbClr val="AAB7C2"/>
                </a:solidFill>
                <a:latin typeface="Segoe UI" pitchFamily="34" charset="0"/>
                <a:ea typeface="Segoe UI" pitchFamily="34" charset="-122"/>
                <a:cs typeface="Segoe UI" pitchFamily="34" charset="-120"/>
              </a:rPr>
              <a:t>Incremental updates flow continuously, merged into the per-symbol state built from the snapshot.</a:t>
            </a:r>
            <a:endParaRPr lang="en-US" sz="1050" dirty="0"/>
          </a:p>
        </p:txBody>
      </p:sp>
      <p:sp>
        <p:nvSpPr>
          <p:cNvPr id="58" name="row background">
            <a:extLst>
              <a:ext uri="{C183D7F6-B498-43B3-948B-1728B52AA6E4}">
                <adec:decorative xmlns:adec="http://schemas.microsoft.com/office/drawing/2017/decorative" val="1"/>
              </a:ext>
            </a:extLst>
          </p:cNvPr>
          <p:cNvSpPr/>
          <p:nvPr/>
        </p:nvSpPr>
        <p:spPr>
          <a:xfrm>
            <a:off x="566928" y="4754880"/>
            <a:ext cx="10607040" cy="658368"/>
          </a:xfrm>
          <a:prstGeom prst="rect">
            <a:avLst/>
          </a:prstGeom>
          <a:solidFill>
            <a:srgbClr val="20272D"/>
          </a:solidFill>
          <a:ln w="12700">
            <a:solidFill>
              <a:srgbClr val="333333"/>
            </a:solidFill>
            <a:prstDash val="solid"/>
          </a:ln>
        </p:spPr>
        <p:txBody>
          <a:bodyPr/>
          <a:lstStyle/>
          <a:p>
            <a:endParaRPr lang="en-SE"/>
          </a:p>
        </p:txBody>
      </p:sp>
      <p:sp>
        <p:nvSpPr>
          <p:cNvPr id="59" name="step number background">
            <a:extLst>
              <a:ext uri="{C183D7F6-B498-43B3-948B-1728B52AA6E4}">
                <adec:decorative xmlns:adec="http://schemas.microsoft.com/office/drawing/2017/decorative" val="1"/>
              </a:ext>
            </a:extLst>
          </p:cNvPr>
          <p:cNvSpPr/>
          <p:nvPr/>
        </p:nvSpPr>
        <p:spPr>
          <a:xfrm>
            <a:off x="749808" y="4901184"/>
            <a:ext cx="402336" cy="402336"/>
          </a:xfrm>
          <a:prstGeom prst="ellipse">
            <a:avLst/>
          </a:prstGeom>
          <a:solidFill>
            <a:srgbClr val="122C22"/>
          </a:solidFill>
          <a:ln w="12700">
            <a:solidFill>
              <a:srgbClr val="3FE08A"/>
            </a:solidFill>
            <a:prstDash val="solid"/>
          </a:ln>
        </p:spPr>
        <p:txBody>
          <a:bodyPr/>
          <a:lstStyle/>
          <a:p>
            <a:endParaRPr lang="en-SE"/>
          </a:p>
        </p:txBody>
      </p:sp>
      <p:sp>
        <p:nvSpPr>
          <p:cNvPr id="60" name="Text 58"/>
          <p:cNvSpPr/>
          <p:nvPr/>
        </p:nvSpPr>
        <p:spPr>
          <a:xfrm>
            <a:off x="749808" y="4901184"/>
            <a:ext cx="402336" cy="402336"/>
          </a:xfrm>
          <a:prstGeom prst="rect">
            <a:avLst/>
          </a:prstGeom>
          <a:noFill/>
          <a:ln/>
        </p:spPr>
        <p:txBody>
          <a:bodyPr wrap="square" lIns="0" tIns="0" rIns="0" bIns="0" rtlCol="0" anchor="ctr"/>
          <a:lstStyle/>
          <a:p>
            <a:pPr marL="0" indent="0" algn="ctr">
              <a:buNone/>
            </a:pPr>
            <a:r>
              <a:rPr lang="en-US" sz="1000" b="1" dirty="0">
                <a:solidFill>
                  <a:srgbClr val="3FE08A"/>
                </a:solidFill>
                <a:latin typeface="Consolas" pitchFamily="34" charset="0"/>
                <a:ea typeface="Consolas" pitchFamily="34" charset="-122"/>
                <a:cs typeface="Consolas" pitchFamily="34" charset="-120"/>
              </a:rPr>
              <a:t>5</a:t>
            </a:r>
            <a:endParaRPr lang="en-US" sz="1000" dirty="0"/>
          </a:p>
        </p:txBody>
      </p:sp>
      <p:sp>
        <p:nvSpPr>
          <p:cNvPr id="61" name="Text 59"/>
          <p:cNvSpPr/>
          <p:nvPr/>
        </p:nvSpPr>
        <p:spPr>
          <a:xfrm>
            <a:off x="1325880" y="4754880"/>
            <a:ext cx="1600200" cy="694944"/>
          </a:xfrm>
          <a:prstGeom prst="rect">
            <a:avLst/>
          </a:prstGeom>
          <a:noFill/>
          <a:ln/>
        </p:spPr>
        <p:txBody>
          <a:bodyPr wrap="square" lIns="0" tIns="0" rIns="0" bIns="0" rtlCol="0" anchor="ctr"/>
          <a:lstStyle/>
          <a:p>
            <a:pPr marL="0" indent="0">
              <a:buNone/>
            </a:pPr>
            <a:r>
              <a:rPr lang="en-US" sz="1100" b="1" dirty="0">
                <a:solidFill>
                  <a:srgbClr val="3FE08A"/>
                </a:solidFill>
                <a:latin typeface="Consolas" pitchFamily="34" charset="0"/>
                <a:ea typeface="Consolas" pitchFamily="34" charset="-122"/>
                <a:cs typeface="Consolas" pitchFamily="34" charset="-120"/>
              </a:rPr>
              <a:t>Heartbeats</a:t>
            </a:r>
            <a:endParaRPr lang="en-US" sz="1100" dirty="0"/>
          </a:p>
        </p:txBody>
      </p:sp>
      <p:sp>
        <p:nvSpPr>
          <p:cNvPr id="62" name="Text 60"/>
          <p:cNvSpPr/>
          <p:nvPr/>
        </p:nvSpPr>
        <p:spPr>
          <a:xfrm>
            <a:off x="3017520" y="4754880"/>
            <a:ext cx="8001000" cy="694944"/>
          </a:xfrm>
          <a:prstGeom prst="rect">
            <a:avLst/>
          </a:prstGeom>
          <a:noFill/>
          <a:ln/>
        </p:spPr>
        <p:txBody>
          <a:bodyPr wrap="square" lIns="0" tIns="0" rIns="0" bIns="0" rtlCol="0" anchor="ctr"/>
          <a:lstStyle/>
          <a:p>
            <a:pPr marL="0" indent="0">
              <a:lnSpc>
                <a:spcPct val="105000"/>
              </a:lnSpc>
              <a:buNone/>
            </a:pPr>
            <a:r>
              <a:rPr lang="en-US" sz="1050" dirty="0">
                <a:solidFill>
                  <a:srgbClr val="AAB7C2"/>
                </a:solidFill>
                <a:latin typeface="Segoe UI" pitchFamily="34" charset="0"/>
                <a:ea typeface="Segoe UI" pitchFamily="34" charset="-122"/>
                <a:cs typeface="Segoe UI" pitchFamily="34" charset="-120"/>
              </a:rPr>
              <a:t>When the market is quiet the gateway sends heartbeats, which keep the session alive on their own. A pure listener never has to send anything.</a:t>
            </a:r>
            <a:endParaRPr lang="en-US" sz="1050" dirty="0"/>
          </a:p>
        </p:txBody>
      </p:sp>
      <p:sp>
        <p:nvSpPr>
          <p:cNvPr id="63" name="row background">
            <a:extLst>
              <a:ext uri="{C183D7F6-B498-43B3-948B-1728B52AA6E4}">
                <adec:decorative xmlns:adec="http://schemas.microsoft.com/office/drawing/2017/decorative" val="1"/>
              </a:ext>
            </a:extLst>
          </p:cNvPr>
          <p:cNvSpPr/>
          <p:nvPr/>
        </p:nvSpPr>
        <p:spPr>
          <a:xfrm>
            <a:off x="566928" y="5486400"/>
            <a:ext cx="10607040" cy="658368"/>
          </a:xfrm>
          <a:prstGeom prst="rect">
            <a:avLst/>
          </a:prstGeom>
          <a:solidFill>
            <a:srgbClr val="191E23"/>
          </a:solidFill>
          <a:ln w="12700">
            <a:solidFill>
              <a:srgbClr val="333333"/>
            </a:solidFill>
            <a:prstDash val="solid"/>
          </a:ln>
        </p:spPr>
        <p:txBody>
          <a:bodyPr/>
          <a:lstStyle/>
          <a:p>
            <a:endParaRPr lang="en-SE"/>
          </a:p>
        </p:txBody>
      </p:sp>
      <p:sp>
        <p:nvSpPr>
          <p:cNvPr id="64" name="step number background">
            <a:extLst>
              <a:ext uri="{C183D7F6-B498-43B3-948B-1728B52AA6E4}">
                <adec:decorative xmlns:adec="http://schemas.microsoft.com/office/drawing/2017/decorative" val="1"/>
              </a:ext>
            </a:extLst>
          </p:cNvPr>
          <p:cNvSpPr/>
          <p:nvPr/>
        </p:nvSpPr>
        <p:spPr>
          <a:xfrm>
            <a:off x="749808" y="5632704"/>
            <a:ext cx="402336" cy="402336"/>
          </a:xfrm>
          <a:prstGeom prst="ellipse">
            <a:avLst/>
          </a:prstGeom>
          <a:solidFill>
            <a:srgbClr val="122C22"/>
          </a:solidFill>
          <a:ln w="12700">
            <a:solidFill>
              <a:srgbClr val="3FE08A"/>
            </a:solidFill>
            <a:prstDash val="solid"/>
          </a:ln>
        </p:spPr>
        <p:txBody>
          <a:bodyPr/>
          <a:lstStyle/>
          <a:p>
            <a:endParaRPr lang="en-SE"/>
          </a:p>
        </p:txBody>
      </p:sp>
      <p:sp>
        <p:nvSpPr>
          <p:cNvPr id="65" name="Text 63"/>
          <p:cNvSpPr/>
          <p:nvPr/>
        </p:nvSpPr>
        <p:spPr>
          <a:xfrm>
            <a:off x="749808" y="5632704"/>
            <a:ext cx="402336" cy="402336"/>
          </a:xfrm>
          <a:prstGeom prst="rect">
            <a:avLst/>
          </a:prstGeom>
          <a:noFill/>
          <a:ln/>
        </p:spPr>
        <p:txBody>
          <a:bodyPr wrap="square" lIns="0" tIns="0" rIns="0" bIns="0" rtlCol="0" anchor="ctr"/>
          <a:lstStyle/>
          <a:p>
            <a:pPr marL="0" indent="0" algn="ctr">
              <a:buNone/>
            </a:pPr>
            <a:r>
              <a:rPr lang="en-US" sz="1000" b="1" dirty="0">
                <a:solidFill>
                  <a:srgbClr val="3FE08A"/>
                </a:solidFill>
                <a:latin typeface="Consolas" pitchFamily="34" charset="0"/>
                <a:ea typeface="Consolas" pitchFamily="34" charset="-122"/>
                <a:cs typeface="Consolas" pitchFamily="34" charset="-120"/>
              </a:rPr>
              <a:t>6</a:t>
            </a:r>
            <a:endParaRPr lang="en-US" sz="1000" dirty="0"/>
          </a:p>
        </p:txBody>
      </p:sp>
      <p:sp>
        <p:nvSpPr>
          <p:cNvPr id="66" name="Text 64"/>
          <p:cNvSpPr/>
          <p:nvPr/>
        </p:nvSpPr>
        <p:spPr>
          <a:xfrm>
            <a:off x="1325880" y="5486400"/>
            <a:ext cx="1600200" cy="694944"/>
          </a:xfrm>
          <a:prstGeom prst="rect">
            <a:avLst/>
          </a:prstGeom>
          <a:noFill/>
          <a:ln/>
        </p:spPr>
        <p:txBody>
          <a:bodyPr wrap="square" lIns="0" tIns="0" rIns="0" bIns="0" rtlCol="0" anchor="ctr"/>
          <a:lstStyle/>
          <a:p>
            <a:pPr marL="0" indent="0">
              <a:buNone/>
            </a:pPr>
            <a:r>
              <a:rPr lang="en-US" sz="1100" b="1" dirty="0">
                <a:solidFill>
                  <a:srgbClr val="3FE08A"/>
                </a:solidFill>
                <a:latin typeface="Consolas" pitchFamily="34" charset="0"/>
                <a:ea typeface="Consolas" pitchFamily="34" charset="-122"/>
                <a:cs typeface="Consolas" pitchFamily="34" charset="-120"/>
              </a:rPr>
              <a:t>UNSUB / EXIT</a:t>
            </a:r>
            <a:endParaRPr lang="en-US" sz="1100" dirty="0"/>
          </a:p>
        </p:txBody>
      </p:sp>
      <p:sp>
        <p:nvSpPr>
          <p:cNvPr id="67" name="Text 65"/>
          <p:cNvSpPr/>
          <p:nvPr/>
        </p:nvSpPr>
        <p:spPr>
          <a:xfrm>
            <a:off x="3017520" y="5486400"/>
            <a:ext cx="8001000" cy="694944"/>
          </a:xfrm>
          <a:prstGeom prst="rect">
            <a:avLst/>
          </a:prstGeom>
          <a:noFill/>
          <a:ln/>
        </p:spPr>
        <p:txBody>
          <a:bodyPr wrap="square" lIns="0" tIns="0" rIns="0" bIns="0" rtlCol="0" anchor="ctr"/>
          <a:lstStyle/>
          <a:p>
            <a:pPr marL="0" indent="0">
              <a:lnSpc>
                <a:spcPct val="105000"/>
              </a:lnSpc>
              <a:buNone/>
            </a:pPr>
            <a:r>
              <a:rPr lang="en-US" sz="1050" dirty="0">
                <a:solidFill>
                  <a:srgbClr val="AAB7C2"/>
                </a:solidFill>
                <a:latin typeface="Segoe UI" pitchFamily="34" charset="0"/>
                <a:ea typeface="Segoe UI" pitchFamily="34" charset="-122"/>
                <a:cs typeface="Segoe UI" pitchFamily="34" charset="-120"/>
              </a:rPr>
              <a:t>Cancel individual subscriptions, or close the session cleanly.</a:t>
            </a:r>
            <a:endParaRPr lang="en-US" sz="1050" dirty="0"/>
          </a:p>
        </p:txBody>
      </p:sp>
      <p:sp>
        <p:nvSpPr>
          <p:cNvPr id="68" name="Text 66"/>
          <p:cNvSpPr/>
          <p:nvPr/>
        </p:nvSpPr>
        <p:spPr>
          <a:xfrm>
            <a:off x="566928" y="6108192"/>
            <a:ext cx="10607040" cy="274320"/>
          </a:xfrm>
          <a:prstGeom prst="rect">
            <a:avLst/>
          </a:prstGeom>
          <a:noFill/>
          <a:ln/>
        </p:spPr>
        <p:txBody>
          <a:bodyPr wrap="square" lIns="0" tIns="0" rIns="0" bIns="0" rtlCol="0" anchor="ctr"/>
          <a:lstStyle/>
          <a:p>
            <a:pPr marL="0" indent="0">
              <a:buNone/>
            </a:pPr>
            <a:r>
              <a:rPr lang="en-US" sz="1100" i="1" dirty="0">
                <a:solidFill>
                  <a:srgbClr val="7C8B97"/>
                </a:solidFill>
                <a:latin typeface="Segoe UI" pitchFamily="34" charset="0"/>
                <a:ea typeface="Segoe UI" pitchFamily="34" charset="-122"/>
                <a:cs typeface="Segoe UI" pitchFamily="34" charset="-120"/>
              </a:rPr>
              <a:t>This is why opening a tenth browser tab costs the exchange nothing: the bridge did all of this once, and every tab shares the result.</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Subscriptions: what the terminal holds open</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07 · TECHNICAL REFERENCE</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47</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Understanding this explains why some screens are free and one of them is not.</a:t>
            </a:r>
            <a:endParaRPr lang="en-US" sz="1400" dirty="0"/>
          </a:p>
        </p:txBody>
      </p:sp>
      <p:sp>
        <p:nvSpPr>
          <p:cNvPr id="38" name="panel">
            <a:extLst>
              <a:ext uri="{C183D7F6-B498-43B3-948B-1728B52AA6E4}">
                <adec:decorative xmlns:adec="http://schemas.microsoft.com/office/drawing/2017/decorative" val="1"/>
              </a:ext>
            </a:extLst>
          </p:cNvPr>
          <p:cNvSpPr/>
          <p:nvPr/>
        </p:nvSpPr>
        <p:spPr>
          <a:xfrm>
            <a:off x="566928" y="1965960"/>
            <a:ext cx="5120640" cy="228600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39" name="panel accent">
            <a:extLst>
              <a:ext uri="{C183D7F6-B498-43B3-948B-1728B52AA6E4}">
                <adec:decorative xmlns:adec="http://schemas.microsoft.com/office/drawing/2017/decorative" val="1"/>
              </a:ext>
            </a:extLst>
          </p:cNvPr>
          <p:cNvSpPr/>
          <p:nvPr/>
        </p:nvSpPr>
        <p:spPr>
          <a:xfrm>
            <a:off x="566928" y="1965960"/>
            <a:ext cx="50292" cy="2286000"/>
          </a:xfrm>
          <a:prstGeom prst="rect">
            <a:avLst/>
          </a:prstGeom>
          <a:solidFill>
            <a:srgbClr val="3FE08A"/>
          </a:solidFill>
          <a:ln w="12700">
            <a:solidFill>
              <a:srgbClr val="333333"/>
            </a:solidFill>
            <a:prstDash val="solid"/>
          </a:ln>
        </p:spPr>
        <p:txBody>
          <a:bodyPr/>
          <a:lstStyle/>
          <a:p>
            <a:endParaRPr lang="en-SE"/>
          </a:p>
        </p:txBody>
      </p:sp>
      <p:sp>
        <p:nvSpPr>
          <p:cNvPr id="40" name="Text 38"/>
          <p:cNvSpPr/>
          <p:nvPr/>
        </p:nvSpPr>
        <p:spPr>
          <a:xfrm>
            <a:off x="868680" y="2148840"/>
            <a:ext cx="4572000" cy="320040"/>
          </a:xfrm>
          <a:prstGeom prst="rect">
            <a:avLst/>
          </a:prstGeom>
          <a:noFill/>
          <a:ln/>
        </p:spPr>
        <p:txBody>
          <a:bodyPr wrap="square" lIns="0" tIns="0" rIns="0" bIns="0" rtlCol="0" anchor="ctr"/>
          <a:lstStyle/>
          <a:p>
            <a:pPr marL="0" indent="0">
              <a:buNone/>
            </a:pPr>
            <a:r>
              <a:rPr lang="en-US" sz="1500" b="1" dirty="0">
                <a:solidFill>
                  <a:srgbClr val="3FE08A"/>
                </a:solidFill>
                <a:latin typeface="Segoe UI" pitchFamily="34" charset="0"/>
                <a:ea typeface="Segoe UI" pitchFamily="34" charset="-122"/>
                <a:cs typeface="Segoe UI" pitchFamily="34" charset="-120"/>
              </a:rPr>
              <a:t>Always held, for everyone</a:t>
            </a:r>
            <a:endParaRPr lang="en-US" sz="1500" dirty="0"/>
          </a:p>
        </p:txBody>
      </p:sp>
      <p:sp>
        <p:nvSpPr>
          <p:cNvPr id="41" name="Text 39"/>
          <p:cNvSpPr/>
          <p:nvPr/>
        </p:nvSpPr>
        <p:spPr>
          <a:xfrm>
            <a:off x="868680" y="2514600"/>
            <a:ext cx="4572000" cy="1600200"/>
          </a:xfrm>
          <a:prstGeom prst="rect">
            <a:avLst/>
          </a:prstGeom>
          <a:noFill/>
          <a:ln/>
        </p:spPr>
        <p:txBody>
          <a:bodyPr wrap="square" lIns="0" tIns="0" rIns="0" bIns="0" rtlCol="0" anchor="ctr"/>
          <a:lstStyle/>
          <a:p>
            <a:pPr marL="0" indent="0">
              <a:lnSpc>
                <a:spcPct val="115000"/>
              </a:lnSpc>
              <a:buNone/>
            </a:pPr>
            <a:r>
              <a:rPr lang="en-US" sz="1150" dirty="0">
                <a:solidFill>
                  <a:srgbClr val="AAB7C2"/>
                </a:solidFill>
                <a:latin typeface="Segoe UI" pitchFamily="34" charset="0"/>
                <a:ea typeface="Segoe UI" pitchFamily="34" charset="-122"/>
                <a:cs typeface="Segoe UI" pitchFamily="34" charset="-120"/>
              </a:rPr>
              <a:t>One wildcard subscription covering every symbol, for top-of-book, trades and state — plus a standing subscription for every configured index. That single set of subscriptions feeds the Overview board, the Tape, Movers, the Index view and the status strip, no matter how many tabs are open or which page they are on.</a:t>
            </a:r>
            <a:endParaRPr lang="en-US" sz="1150" dirty="0"/>
          </a:p>
        </p:txBody>
      </p:sp>
      <p:sp>
        <p:nvSpPr>
          <p:cNvPr id="42" name="panel">
            <a:extLst>
              <a:ext uri="{C183D7F6-B498-43B3-948B-1728B52AA6E4}">
                <adec:decorative xmlns:adec="http://schemas.microsoft.com/office/drawing/2017/decorative" val="1"/>
              </a:ext>
            </a:extLst>
          </p:cNvPr>
          <p:cNvSpPr/>
          <p:nvPr/>
        </p:nvSpPr>
        <p:spPr>
          <a:xfrm>
            <a:off x="6053328" y="1965960"/>
            <a:ext cx="5120640" cy="228600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43" name="panel accent">
            <a:extLst>
              <a:ext uri="{C183D7F6-B498-43B3-948B-1728B52AA6E4}">
                <adec:decorative xmlns:adec="http://schemas.microsoft.com/office/drawing/2017/decorative" val="1"/>
              </a:ext>
            </a:extLst>
          </p:cNvPr>
          <p:cNvSpPr/>
          <p:nvPr/>
        </p:nvSpPr>
        <p:spPr>
          <a:xfrm>
            <a:off x="6053328" y="1965960"/>
            <a:ext cx="50292" cy="2286000"/>
          </a:xfrm>
          <a:prstGeom prst="rect">
            <a:avLst/>
          </a:prstGeom>
          <a:solidFill>
            <a:srgbClr val="F5A524"/>
          </a:solidFill>
          <a:ln w="12700">
            <a:solidFill>
              <a:srgbClr val="333333"/>
            </a:solidFill>
            <a:prstDash val="solid"/>
          </a:ln>
        </p:spPr>
        <p:txBody>
          <a:bodyPr/>
          <a:lstStyle/>
          <a:p>
            <a:endParaRPr lang="en-SE"/>
          </a:p>
        </p:txBody>
      </p:sp>
      <p:sp>
        <p:nvSpPr>
          <p:cNvPr id="44" name="Text 42"/>
          <p:cNvSpPr/>
          <p:nvPr/>
        </p:nvSpPr>
        <p:spPr>
          <a:xfrm>
            <a:off x="6355080" y="2148840"/>
            <a:ext cx="4572000" cy="320040"/>
          </a:xfrm>
          <a:prstGeom prst="rect">
            <a:avLst/>
          </a:prstGeom>
          <a:noFill/>
          <a:ln/>
        </p:spPr>
        <p:txBody>
          <a:bodyPr wrap="square" lIns="0" tIns="0" rIns="0" bIns="0" rtlCol="0" anchor="ctr"/>
          <a:lstStyle/>
          <a:p>
            <a:pPr marL="0" indent="0">
              <a:buNone/>
            </a:pPr>
            <a:r>
              <a:rPr lang="en-US" sz="1500" b="1" dirty="0">
                <a:solidFill>
                  <a:srgbClr val="F5A524"/>
                </a:solidFill>
                <a:latin typeface="Segoe UI" pitchFamily="34" charset="0"/>
                <a:ea typeface="Segoe UI" pitchFamily="34" charset="-122"/>
                <a:cs typeface="Segoe UI" pitchFamily="34" charset="-120"/>
              </a:rPr>
              <a:t>Opened on demand, per symbol</a:t>
            </a:r>
            <a:endParaRPr lang="en-US" sz="1500" dirty="0"/>
          </a:p>
        </p:txBody>
      </p:sp>
      <p:sp>
        <p:nvSpPr>
          <p:cNvPr id="45" name="Text 43"/>
          <p:cNvSpPr/>
          <p:nvPr/>
        </p:nvSpPr>
        <p:spPr>
          <a:xfrm>
            <a:off x="6355080" y="2514600"/>
            <a:ext cx="4572000" cy="1600200"/>
          </a:xfrm>
          <a:prstGeom prst="rect">
            <a:avLst/>
          </a:prstGeom>
          <a:noFill/>
          <a:ln/>
        </p:spPr>
        <p:txBody>
          <a:bodyPr wrap="square" lIns="0" tIns="0" rIns="0" bIns="0" rtlCol="0" anchor="ctr"/>
          <a:lstStyle/>
          <a:p>
            <a:pPr marL="0" indent="0">
              <a:lnSpc>
                <a:spcPct val="115000"/>
              </a:lnSpc>
              <a:buNone/>
            </a:pPr>
            <a:r>
              <a:rPr lang="en-US" sz="1150" dirty="0">
                <a:solidFill>
                  <a:srgbClr val="AAB7C2"/>
                </a:solidFill>
                <a:latin typeface="Segoe UI" pitchFamily="34" charset="0"/>
                <a:ea typeface="Segoe UI" pitchFamily="34" charset="-122"/>
                <a:cs typeface="Segoe UI" pitchFamily="34" charset="-120"/>
              </a:rPr>
              <a:t>Depth is subscribed per symbol, only while someone has the Depth toggle on. Circuit-breaker detail is subscribed per symbol too, triggered either by opening that symbol's detail view or by opening the Session board. When the last viewer who needed a subscription goes away, it is released.</a:t>
            </a:r>
            <a:endParaRPr lang="en-US" sz="1150" dirty="0"/>
          </a:p>
        </p:txBody>
      </p:sp>
      <p:sp>
        <p:nvSpPr>
          <p:cNvPr id="46" name="panel">
            <a:extLst>
              <a:ext uri="{C183D7F6-B498-43B3-948B-1728B52AA6E4}">
                <adec:decorative xmlns:adec="http://schemas.microsoft.com/office/drawing/2017/decorative" val="1"/>
              </a:ext>
            </a:extLst>
          </p:cNvPr>
          <p:cNvSpPr/>
          <p:nvPr/>
        </p:nvSpPr>
        <p:spPr>
          <a:xfrm>
            <a:off x="566928" y="4434840"/>
            <a:ext cx="10607040" cy="187452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47" name="panel accent">
            <a:extLst>
              <a:ext uri="{C183D7F6-B498-43B3-948B-1728B52AA6E4}">
                <adec:decorative xmlns:adec="http://schemas.microsoft.com/office/drawing/2017/decorative" val="1"/>
              </a:ext>
            </a:extLst>
          </p:cNvPr>
          <p:cNvSpPr/>
          <p:nvPr/>
        </p:nvSpPr>
        <p:spPr>
          <a:xfrm>
            <a:off x="566928" y="4434840"/>
            <a:ext cx="50292" cy="1874520"/>
          </a:xfrm>
          <a:prstGeom prst="rect">
            <a:avLst/>
          </a:prstGeom>
          <a:solidFill>
            <a:srgbClr val="3FE08A"/>
          </a:solidFill>
          <a:ln w="12700">
            <a:solidFill>
              <a:srgbClr val="333333"/>
            </a:solidFill>
            <a:prstDash val="solid"/>
          </a:ln>
        </p:spPr>
        <p:txBody>
          <a:bodyPr/>
          <a:lstStyle/>
          <a:p>
            <a:endParaRPr lang="en-SE"/>
          </a:p>
        </p:txBody>
      </p:sp>
      <p:sp>
        <p:nvSpPr>
          <p:cNvPr id="48" name="Text 46"/>
          <p:cNvSpPr/>
          <p:nvPr/>
        </p:nvSpPr>
        <p:spPr>
          <a:xfrm>
            <a:off x="868680" y="4617720"/>
            <a:ext cx="5486400" cy="292608"/>
          </a:xfrm>
          <a:prstGeom prst="rect">
            <a:avLst/>
          </a:prstGeom>
          <a:noFill/>
          <a:ln/>
        </p:spPr>
        <p:txBody>
          <a:bodyPr wrap="square" lIns="0" tIns="0" rIns="0" bIns="0" rtlCol="0" anchor="ctr"/>
          <a:lstStyle/>
          <a:p>
            <a:pPr marL="0" indent="0">
              <a:buNone/>
            </a:pPr>
            <a:r>
              <a:rPr lang="en-US" sz="1350" b="1" dirty="0">
                <a:solidFill>
                  <a:srgbClr val="E6EDF3"/>
                </a:solidFill>
                <a:latin typeface="Segoe UI" pitchFamily="34" charset="0"/>
                <a:ea typeface="Segoe UI" pitchFamily="34" charset="-122"/>
                <a:cs typeface="Segoe UI" pitchFamily="34" charset="-120"/>
              </a:rPr>
              <a:t>Three consequences you can observe on screen</a:t>
            </a:r>
            <a:endParaRPr lang="en-US" sz="1350" dirty="0"/>
          </a:p>
        </p:txBody>
      </p:sp>
      <p:sp>
        <p:nvSpPr>
          <p:cNvPr id="49" name="Text 47"/>
          <p:cNvSpPr/>
          <p:nvPr/>
        </p:nvSpPr>
        <p:spPr>
          <a:xfrm>
            <a:off x="868680" y="4983480"/>
            <a:ext cx="3200400" cy="274320"/>
          </a:xfrm>
          <a:prstGeom prst="rect">
            <a:avLst/>
          </a:prstGeom>
          <a:noFill/>
          <a:ln/>
        </p:spPr>
        <p:txBody>
          <a:bodyPr wrap="square" lIns="0" tIns="0" rIns="0" bIns="0" rtlCol="0" anchor="ctr"/>
          <a:lstStyle/>
          <a:p>
            <a:pPr marL="0" indent="0">
              <a:buNone/>
            </a:pPr>
            <a:r>
              <a:rPr lang="en-US" sz="1100" b="1" dirty="0">
                <a:solidFill>
                  <a:srgbClr val="3FE08A"/>
                </a:solidFill>
                <a:latin typeface="Consolas" pitchFamily="34" charset="0"/>
                <a:ea typeface="Consolas" pitchFamily="34" charset="-122"/>
                <a:cs typeface="Consolas" pitchFamily="34" charset="-120"/>
              </a:rPr>
              <a:t>Paging is free</a:t>
            </a:r>
            <a:endParaRPr lang="en-US" sz="1100" dirty="0"/>
          </a:p>
        </p:txBody>
      </p:sp>
      <p:sp>
        <p:nvSpPr>
          <p:cNvPr id="50" name="Text 48"/>
          <p:cNvSpPr/>
          <p:nvPr/>
        </p:nvSpPr>
        <p:spPr>
          <a:xfrm>
            <a:off x="868680" y="5285232"/>
            <a:ext cx="3200400" cy="914400"/>
          </a:xfrm>
          <a:prstGeom prst="rect">
            <a:avLst/>
          </a:prstGeom>
          <a:noFill/>
          <a:ln/>
        </p:spPr>
        <p:txBody>
          <a:bodyPr wrap="square" lIns="0" tIns="0" rIns="0" bIns="0" rtlCol="0" anchor="ctr"/>
          <a:lstStyle/>
          <a:p>
            <a:pPr marL="0" indent="0">
              <a:lnSpc>
                <a:spcPct val="112000"/>
              </a:lnSpc>
              <a:buNone/>
            </a:pPr>
            <a:r>
              <a:rPr lang="en-US" sz="1050" dirty="0">
                <a:solidFill>
                  <a:srgbClr val="AAB7C2"/>
                </a:solidFill>
                <a:latin typeface="Segoe UI" pitchFamily="34" charset="0"/>
                <a:ea typeface="Segoe UI" pitchFamily="34" charset="-122"/>
                <a:cs typeface="Segoe UI" pitchFamily="34" charset="-120"/>
              </a:rPr>
              <a:t>Rows on a page you are not looking at are still live, because nothing is subscribed or unsubscribed as pages turn.</a:t>
            </a:r>
            <a:endParaRPr lang="en-US" sz="1050" dirty="0"/>
          </a:p>
        </p:txBody>
      </p:sp>
      <p:sp>
        <p:nvSpPr>
          <p:cNvPr id="51" name="Text 49"/>
          <p:cNvSpPr/>
          <p:nvPr/>
        </p:nvSpPr>
        <p:spPr>
          <a:xfrm>
            <a:off x="4297680" y="4983480"/>
            <a:ext cx="3200400" cy="274320"/>
          </a:xfrm>
          <a:prstGeom prst="rect">
            <a:avLst/>
          </a:prstGeom>
          <a:noFill/>
          <a:ln/>
        </p:spPr>
        <p:txBody>
          <a:bodyPr wrap="square" lIns="0" tIns="0" rIns="0" bIns="0" rtlCol="0" anchor="ctr"/>
          <a:lstStyle/>
          <a:p>
            <a:pPr marL="0" indent="0">
              <a:buNone/>
            </a:pPr>
            <a:r>
              <a:rPr lang="en-US" sz="1100" b="1" dirty="0">
                <a:solidFill>
                  <a:srgbClr val="3FE08A"/>
                </a:solidFill>
                <a:latin typeface="Consolas" pitchFamily="34" charset="0"/>
                <a:ea typeface="Consolas" pitchFamily="34" charset="-122"/>
                <a:cs typeface="Consolas" pitchFamily="34" charset="-120"/>
              </a:rPr>
              <a:t>Filtering is instant</a:t>
            </a:r>
            <a:endParaRPr lang="en-US" sz="1100" dirty="0"/>
          </a:p>
        </p:txBody>
      </p:sp>
      <p:sp>
        <p:nvSpPr>
          <p:cNvPr id="52" name="Text 50"/>
          <p:cNvSpPr/>
          <p:nvPr/>
        </p:nvSpPr>
        <p:spPr>
          <a:xfrm>
            <a:off x="4297680" y="5285232"/>
            <a:ext cx="3200400" cy="914400"/>
          </a:xfrm>
          <a:prstGeom prst="rect">
            <a:avLst/>
          </a:prstGeom>
          <a:noFill/>
          <a:ln/>
        </p:spPr>
        <p:txBody>
          <a:bodyPr wrap="square" lIns="0" tIns="0" rIns="0" bIns="0" rtlCol="0" anchor="ctr"/>
          <a:lstStyle/>
          <a:p>
            <a:pPr marL="0" indent="0">
              <a:lnSpc>
                <a:spcPct val="112000"/>
              </a:lnSpc>
              <a:buNone/>
            </a:pPr>
            <a:r>
              <a:rPr lang="en-US" sz="1050" dirty="0">
                <a:solidFill>
                  <a:srgbClr val="AAB7C2"/>
                </a:solidFill>
                <a:latin typeface="Segoe UI" pitchFamily="34" charset="0"/>
                <a:ea typeface="Segoe UI" pitchFamily="34" charset="-122"/>
                <a:cs typeface="Segoe UI" pitchFamily="34" charset="-120"/>
              </a:rPr>
              <a:t>The tape's symbol filter only narrows what is displayed — every symbol's prints are already arriving.</a:t>
            </a:r>
            <a:endParaRPr lang="en-US" sz="1050" dirty="0"/>
          </a:p>
        </p:txBody>
      </p:sp>
      <p:sp>
        <p:nvSpPr>
          <p:cNvPr id="53" name="Text 51"/>
          <p:cNvSpPr/>
          <p:nvPr/>
        </p:nvSpPr>
        <p:spPr>
          <a:xfrm>
            <a:off x="7726680" y="4983480"/>
            <a:ext cx="3200400" cy="274320"/>
          </a:xfrm>
          <a:prstGeom prst="rect">
            <a:avLst/>
          </a:prstGeom>
          <a:noFill/>
          <a:ln/>
        </p:spPr>
        <p:txBody>
          <a:bodyPr wrap="square" lIns="0" tIns="0" rIns="0" bIns="0" rtlCol="0" anchor="ctr"/>
          <a:lstStyle/>
          <a:p>
            <a:pPr marL="0" indent="0">
              <a:buNone/>
            </a:pPr>
            <a:r>
              <a:rPr lang="en-US" sz="1100" b="1" dirty="0">
                <a:solidFill>
                  <a:srgbClr val="3FE08A"/>
                </a:solidFill>
                <a:latin typeface="Consolas" pitchFamily="34" charset="0"/>
                <a:ea typeface="Consolas" pitchFamily="34" charset="-122"/>
                <a:cs typeface="Consolas" pitchFamily="34" charset="-120"/>
              </a:rPr>
              <a:t>Depth is the exception</a:t>
            </a:r>
            <a:endParaRPr lang="en-US" sz="1100" dirty="0"/>
          </a:p>
        </p:txBody>
      </p:sp>
      <p:sp>
        <p:nvSpPr>
          <p:cNvPr id="54" name="Text 52"/>
          <p:cNvSpPr/>
          <p:nvPr/>
        </p:nvSpPr>
        <p:spPr>
          <a:xfrm>
            <a:off x="7726680" y="5285232"/>
            <a:ext cx="3200400" cy="914400"/>
          </a:xfrm>
          <a:prstGeom prst="rect">
            <a:avLst/>
          </a:prstGeom>
          <a:noFill/>
          <a:ln/>
        </p:spPr>
        <p:txBody>
          <a:bodyPr wrap="square" lIns="0" tIns="0" rIns="0" bIns="0" rtlCol="0" anchor="ctr"/>
          <a:lstStyle/>
          <a:p>
            <a:pPr marL="0" indent="0">
              <a:lnSpc>
                <a:spcPct val="112000"/>
              </a:lnSpc>
              <a:buNone/>
            </a:pPr>
            <a:r>
              <a:rPr lang="en-US" sz="1050" dirty="0">
                <a:solidFill>
                  <a:srgbClr val="AAB7C2"/>
                </a:solidFill>
                <a:latin typeface="Segoe UI" pitchFamily="34" charset="0"/>
                <a:ea typeface="Segoe UI" pitchFamily="34" charset="-122"/>
                <a:cs typeface="Segoe UI" pitchFamily="34" charset="-120"/>
              </a:rPr>
              <a:t>It is the one screen that genuinely adds load upstream, which is why it is opt-in and swaps a panel rather than sitting alongside.</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Gap detection and replay recovery</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07 · TECHNICAL REFERENCE</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48</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The mechanism that decides whether a disconnect is invisible to you, or shows up as a gap marker.</a:t>
            </a:r>
            <a:endParaRPr lang="en-US" sz="1400" dirty="0"/>
          </a:p>
        </p:txBody>
      </p:sp>
      <p:sp>
        <p:nvSpPr>
          <p:cNvPr id="38" name="sequence number box">
            <a:extLst>
              <a:ext uri="{C183D7F6-B498-43B3-948B-1728B52AA6E4}">
                <adec:decorative xmlns:adec="http://schemas.microsoft.com/office/drawing/2017/decorative" val="1"/>
              </a:ext>
            </a:extLst>
          </p:cNvPr>
          <p:cNvSpPr/>
          <p:nvPr/>
        </p:nvSpPr>
        <p:spPr>
          <a:xfrm>
            <a:off x="566928" y="1920240"/>
            <a:ext cx="841248" cy="566928"/>
          </a:xfrm>
          <a:prstGeom prst="rect">
            <a:avLst/>
          </a:prstGeom>
          <a:solidFill>
            <a:srgbClr val="20272D"/>
          </a:solidFill>
          <a:ln w="15875">
            <a:solidFill>
              <a:srgbClr val="3FE08A"/>
            </a:solidFill>
            <a:prstDash val="solid"/>
          </a:ln>
        </p:spPr>
        <p:txBody>
          <a:bodyPr/>
          <a:lstStyle/>
          <a:p>
            <a:endParaRPr lang="en-SE"/>
          </a:p>
        </p:txBody>
      </p:sp>
      <p:sp>
        <p:nvSpPr>
          <p:cNvPr id="39" name="Text 37"/>
          <p:cNvSpPr/>
          <p:nvPr/>
        </p:nvSpPr>
        <p:spPr>
          <a:xfrm>
            <a:off x="566928" y="1920240"/>
            <a:ext cx="841248" cy="566928"/>
          </a:xfrm>
          <a:prstGeom prst="rect">
            <a:avLst/>
          </a:prstGeom>
          <a:noFill/>
          <a:ln/>
        </p:spPr>
        <p:txBody>
          <a:bodyPr wrap="square" lIns="0" tIns="0" rIns="0" bIns="0" rtlCol="0" anchor="ctr"/>
          <a:lstStyle/>
          <a:p>
            <a:pPr marL="0" indent="0" algn="ctr">
              <a:buNone/>
            </a:pPr>
            <a:r>
              <a:rPr lang="en-US" sz="1200" b="1" dirty="0">
                <a:solidFill>
                  <a:srgbClr val="3FE08A"/>
                </a:solidFill>
                <a:latin typeface="Consolas" pitchFamily="34" charset="0"/>
                <a:ea typeface="Consolas" pitchFamily="34" charset="-122"/>
                <a:cs typeface="Consolas" pitchFamily="34" charset="-120"/>
              </a:rPr>
              <a:t>97</a:t>
            </a:r>
            <a:endParaRPr lang="en-US" sz="1200" dirty="0"/>
          </a:p>
        </p:txBody>
      </p:sp>
      <p:sp>
        <p:nvSpPr>
          <p:cNvPr id="40" name="sequence number box">
            <a:extLst>
              <a:ext uri="{C183D7F6-B498-43B3-948B-1728B52AA6E4}">
                <adec:decorative xmlns:adec="http://schemas.microsoft.com/office/drawing/2017/decorative" val="1"/>
              </a:ext>
            </a:extLst>
          </p:cNvPr>
          <p:cNvSpPr/>
          <p:nvPr/>
        </p:nvSpPr>
        <p:spPr>
          <a:xfrm>
            <a:off x="1527048" y="1920240"/>
            <a:ext cx="841248" cy="566928"/>
          </a:xfrm>
          <a:prstGeom prst="rect">
            <a:avLst/>
          </a:prstGeom>
          <a:solidFill>
            <a:srgbClr val="20272D"/>
          </a:solidFill>
          <a:ln w="15875">
            <a:solidFill>
              <a:srgbClr val="3FE08A"/>
            </a:solidFill>
            <a:prstDash val="solid"/>
          </a:ln>
        </p:spPr>
        <p:txBody>
          <a:bodyPr/>
          <a:lstStyle/>
          <a:p>
            <a:endParaRPr lang="en-SE"/>
          </a:p>
        </p:txBody>
      </p:sp>
      <p:sp>
        <p:nvSpPr>
          <p:cNvPr id="41" name="Text 39"/>
          <p:cNvSpPr/>
          <p:nvPr/>
        </p:nvSpPr>
        <p:spPr>
          <a:xfrm>
            <a:off x="1527048" y="1920240"/>
            <a:ext cx="841248" cy="566928"/>
          </a:xfrm>
          <a:prstGeom prst="rect">
            <a:avLst/>
          </a:prstGeom>
          <a:noFill/>
          <a:ln/>
        </p:spPr>
        <p:txBody>
          <a:bodyPr wrap="square" lIns="0" tIns="0" rIns="0" bIns="0" rtlCol="0" anchor="ctr"/>
          <a:lstStyle/>
          <a:p>
            <a:pPr marL="0" indent="0" algn="ctr">
              <a:buNone/>
            </a:pPr>
            <a:r>
              <a:rPr lang="en-US" sz="1200" b="1" dirty="0">
                <a:solidFill>
                  <a:srgbClr val="3FE08A"/>
                </a:solidFill>
                <a:latin typeface="Consolas" pitchFamily="34" charset="0"/>
                <a:ea typeface="Consolas" pitchFamily="34" charset="-122"/>
                <a:cs typeface="Consolas" pitchFamily="34" charset="-120"/>
              </a:rPr>
              <a:t>98</a:t>
            </a:r>
            <a:endParaRPr lang="en-US" sz="1200" dirty="0"/>
          </a:p>
        </p:txBody>
      </p:sp>
      <p:sp>
        <p:nvSpPr>
          <p:cNvPr id="42" name="sequence number box">
            <a:extLst>
              <a:ext uri="{C183D7F6-B498-43B3-948B-1728B52AA6E4}">
                <adec:decorative xmlns:adec="http://schemas.microsoft.com/office/drawing/2017/decorative" val="1"/>
              </a:ext>
            </a:extLst>
          </p:cNvPr>
          <p:cNvSpPr/>
          <p:nvPr/>
        </p:nvSpPr>
        <p:spPr>
          <a:xfrm>
            <a:off x="2487168" y="1920240"/>
            <a:ext cx="841248" cy="566928"/>
          </a:xfrm>
          <a:prstGeom prst="rect">
            <a:avLst/>
          </a:prstGeom>
          <a:solidFill>
            <a:srgbClr val="20272D"/>
          </a:solidFill>
          <a:ln w="15875">
            <a:solidFill>
              <a:srgbClr val="3FE08A"/>
            </a:solidFill>
            <a:prstDash val="solid"/>
          </a:ln>
        </p:spPr>
        <p:txBody>
          <a:bodyPr/>
          <a:lstStyle/>
          <a:p>
            <a:endParaRPr lang="en-SE"/>
          </a:p>
        </p:txBody>
      </p:sp>
      <p:sp>
        <p:nvSpPr>
          <p:cNvPr id="43" name="Text 41"/>
          <p:cNvSpPr/>
          <p:nvPr/>
        </p:nvSpPr>
        <p:spPr>
          <a:xfrm>
            <a:off x="2487168" y="1920240"/>
            <a:ext cx="841248" cy="566928"/>
          </a:xfrm>
          <a:prstGeom prst="rect">
            <a:avLst/>
          </a:prstGeom>
          <a:noFill/>
          <a:ln/>
        </p:spPr>
        <p:txBody>
          <a:bodyPr wrap="square" lIns="0" tIns="0" rIns="0" bIns="0" rtlCol="0" anchor="ctr"/>
          <a:lstStyle/>
          <a:p>
            <a:pPr marL="0" indent="0" algn="ctr">
              <a:buNone/>
            </a:pPr>
            <a:r>
              <a:rPr lang="en-US" sz="1200" b="1" dirty="0">
                <a:solidFill>
                  <a:srgbClr val="3FE08A"/>
                </a:solidFill>
                <a:latin typeface="Consolas" pitchFamily="34" charset="0"/>
                <a:ea typeface="Consolas" pitchFamily="34" charset="-122"/>
                <a:cs typeface="Consolas" pitchFamily="34" charset="-120"/>
              </a:rPr>
              <a:t>99</a:t>
            </a:r>
            <a:endParaRPr lang="en-US" sz="1200" dirty="0"/>
          </a:p>
        </p:txBody>
      </p:sp>
      <p:sp>
        <p:nvSpPr>
          <p:cNvPr id="44" name="sequence number box">
            <a:extLst>
              <a:ext uri="{C183D7F6-B498-43B3-948B-1728B52AA6E4}">
                <adec:decorative xmlns:adec="http://schemas.microsoft.com/office/drawing/2017/decorative" val="1"/>
              </a:ext>
            </a:extLst>
          </p:cNvPr>
          <p:cNvSpPr/>
          <p:nvPr/>
        </p:nvSpPr>
        <p:spPr>
          <a:xfrm>
            <a:off x="3447288" y="1920240"/>
            <a:ext cx="841248" cy="566928"/>
          </a:xfrm>
          <a:prstGeom prst="rect">
            <a:avLst/>
          </a:prstGeom>
          <a:solidFill>
            <a:srgbClr val="6B2226"/>
          </a:solidFill>
          <a:ln w="15875">
            <a:solidFill>
              <a:srgbClr val="EF5B63"/>
            </a:solidFill>
            <a:prstDash val="dash"/>
          </a:ln>
        </p:spPr>
        <p:txBody>
          <a:bodyPr/>
          <a:lstStyle/>
          <a:p>
            <a:endParaRPr lang="en-SE"/>
          </a:p>
        </p:txBody>
      </p:sp>
      <p:sp>
        <p:nvSpPr>
          <p:cNvPr id="45" name="Text 43"/>
          <p:cNvSpPr/>
          <p:nvPr/>
        </p:nvSpPr>
        <p:spPr>
          <a:xfrm>
            <a:off x="3447288" y="1920240"/>
            <a:ext cx="841248" cy="566928"/>
          </a:xfrm>
          <a:prstGeom prst="rect">
            <a:avLst/>
          </a:prstGeom>
          <a:noFill/>
          <a:ln/>
        </p:spPr>
        <p:txBody>
          <a:bodyPr wrap="square" lIns="0" tIns="0" rIns="0" bIns="0" rtlCol="0" anchor="ctr"/>
          <a:lstStyle/>
          <a:p>
            <a:pPr marL="0" indent="0" algn="ctr">
              <a:buNone/>
            </a:pPr>
            <a:r>
              <a:rPr lang="en-US" sz="1200" b="1" dirty="0">
                <a:solidFill>
                  <a:srgbClr val="EF5B63"/>
                </a:solidFill>
                <a:latin typeface="Consolas" pitchFamily="34" charset="0"/>
                <a:ea typeface="Consolas" pitchFamily="34" charset="-122"/>
                <a:cs typeface="Consolas" pitchFamily="34" charset="-120"/>
              </a:rPr>
              <a:t>—</a:t>
            </a:r>
            <a:endParaRPr lang="en-US" sz="1200" dirty="0"/>
          </a:p>
        </p:txBody>
      </p:sp>
      <p:sp>
        <p:nvSpPr>
          <p:cNvPr id="46" name="sequence number box">
            <a:extLst>
              <a:ext uri="{C183D7F6-B498-43B3-948B-1728B52AA6E4}">
                <adec:decorative xmlns:adec="http://schemas.microsoft.com/office/drawing/2017/decorative" val="1"/>
              </a:ext>
            </a:extLst>
          </p:cNvPr>
          <p:cNvSpPr/>
          <p:nvPr/>
        </p:nvSpPr>
        <p:spPr>
          <a:xfrm>
            <a:off x="4407408" y="1920240"/>
            <a:ext cx="841248" cy="566928"/>
          </a:xfrm>
          <a:prstGeom prst="rect">
            <a:avLst/>
          </a:prstGeom>
          <a:solidFill>
            <a:srgbClr val="6B2226"/>
          </a:solidFill>
          <a:ln w="15875">
            <a:solidFill>
              <a:srgbClr val="EF5B63"/>
            </a:solidFill>
            <a:prstDash val="dash"/>
          </a:ln>
        </p:spPr>
        <p:txBody>
          <a:bodyPr/>
          <a:lstStyle/>
          <a:p>
            <a:endParaRPr lang="en-SE"/>
          </a:p>
        </p:txBody>
      </p:sp>
      <p:sp>
        <p:nvSpPr>
          <p:cNvPr id="47" name="Text 45"/>
          <p:cNvSpPr/>
          <p:nvPr/>
        </p:nvSpPr>
        <p:spPr>
          <a:xfrm>
            <a:off x="4407408" y="1920240"/>
            <a:ext cx="841248" cy="566928"/>
          </a:xfrm>
          <a:prstGeom prst="rect">
            <a:avLst/>
          </a:prstGeom>
          <a:noFill/>
          <a:ln/>
        </p:spPr>
        <p:txBody>
          <a:bodyPr wrap="square" lIns="0" tIns="0" rIns="0" bIns="0" rtlCol="0" anchor="ctr"/>
          <a:lstStyle/>
          <a:p>
            <a:pPr marL="0" indent="0" algn="ctr">
              <a:buNone/>
            </a:pPr>
            <a:r>
              <a:rPr lang="en-US" sz="1200" b="1" dirty="0">
                <a:solidFill>
                  <a:srgbClr val="EF5B63"/>
                </a:solidFill>
                <a:latin typeface="Consolas" pitchFamily="34" charset="0"/>
                <a:ea typeface="Consolas" pitchFamily="34" charset="-122"/>
                <a:cs typeface="Consolas" pitchFamily="34" charset="-120"/>
              </a:rPr>
              <a:t>—</a:t>
            </a:r>
            <a:endParaRPr lang="en-US" sz="1200" dirty="0"/>
          </a:p>
        </p:txBody>
      </p:sp>
      <p:sp>
        <p:nvSpPr>
          <p:cNvPr id="48" name="sequence number box">
            <a:extLst>
              <a:ext uri="{C183D7F6-B498-43B3-948B-1728B52AA6E4}">
                <adec:decorative xmlns:adec="http://schemas.microsoft.com/office/drawing/2017/decorative" val="1"/>
              </a:ext>
            </a:extLst>
          </p:cNvPr>
          <p:cNvSpPr/>
          <p:nvPr/>
        </p:nvSpPr>
        <p:spPr>
          <a:xfrm>
            <a:off x="5367528" y="1920240"/>
            <a:ext cx="841248" cy="566928"/>
          </a:xfrm>
          <a:prstGeom prst="rect">
            <a:avLst/>
          </a:prstGeom>
          <a:solidFill>
            <a:srgbClr val="20272D"/>
          </a:solidFill>
          <a:ln w="15875">
            <a:solidFill>
              <a:srgbClr val="3FE08A"/>
            </a:solidFill>
            <a:prstDash val="solid"/>
          </a:ln>
        </p:spPr>
        <p:txBody>
          <a:bodyPr/>
          <a:lstStyle/>
          <a:p>
            <a:endParaRPr lang="en-SE"/>
          </a:p>
        </p:txBody>
      </p:sp>
      <p:sp>
        <p:nvSpPr>
          <p:cNvPr id="49" name="Text 47"/>
          <p:cNvSpPr/>
          <p:nvPr/>
        </p:nvSpPr>
        <p:spPr>
          <a:xfrm>
            <a:off x="5367528" y="1920240"/>
            <a:ext cx="841248" cy="566928"/>
          </a:xfrm>
          <a:prstGeom prst="rect">
            <a:avLst/>
          </a:prstGeom>
          <a:noFill/>
          <a:ln/>
        </p:spPr>
        <p:txBody>
          <a:bodyPr wrap="square" lIns="0" tIns="0" rIns="0" bIns="0" rtlCol="0" anchor="ctr"/>
          <a:lstStyle/>
          <a:p>
            <a:pPr marL="0" indent="0" algn="ctr">
              <a:buNone/>
            </a:pPr>
            <a:r>
              <a:rPr lang="en-US" sz="1200" b="1" dirty="0">
                <a:solidFill>
                  <a:srgbClr val="3FE08A"/>
                </a:solidFill>
                <a:latin typeface="Consolas" pitchFamily="34" charset="0"/>
                <a:ea typeface="Consolas" pitchFamily="34" charset="-122"/>
                <a:cs typeface="Consolas" pitchFamily="34" charset="-120"/>
              </a:rPr>
              <a:t>102</a:t>
            </a:r>
            <a:endParaRPr lang="en-US" sz="1200" dirty="0"/>
          </a:p>
        </p:txBody>
      </p:sp>
      <p:sp>
        <p:nvSpPr>
          <p:cNvPr id="50" name="sequence number box">
            <a:extLst>
              <a:ext uri="{C183D7F6-B498-43B3-948B-1728B52AA6E4}">
                <adec:decorative xmlns:adec="http://schemas.microsoft.com/office/drawing/2017/decorative" val="1"/>
              </a:ext>
            </a:extLst>
          </p:cNvPr>
          <p:cNvSpPr/>
          <p:nvPr/>
        </p:nvSpPr>
        <p:spPr>
          <a:xfrm>
            <a:off x="6327648" y="1920240"/>
            <a:ext cx="841248" cy="566928"/>
          </a:xfrm>
          <a:prstGeom prst="rect">
            <a:avLst/>
          </a:prstGeom>
          <a:solidFill>
            <a:srgbClr val="20272D"/>
          </a:solidFill>
          <a:ln w="15875">
            <a:solidFill>
              <a:srgbClr val="3FE08A"/>
            </a:solidFill>
            <a:prstDash val="solid"/>
          </a:ln>
        </p:spPr>
        <p:txBody>
          <a:bodyPr/>
          <a:lstStyle/>
          <a:p>
            <a:endParaRPr lang="en-SE"/>
          </a:p>
        </p:txBody>
      </p:sp>
      <p:sp>
        <p:nvSpPr>
          <p:cNvPr id="51" name="Text 49"/>
          <p:cNvSpPr/>
          <p:nvPr/>
        </p:nvSpPr>
        <p:spPr>
          <a:xfrm>
            <a:off x="6327648" y="1920240"/>
            <a:ext cx="841248" cy="566928"/>
          </a:xfrm>
          <a:prstGeom prst="rect">
            <a:avLst/>
          </a:prstGeom>
          <a:noFill/>
          <a:ln/>
        </p:spPr>
        <p:txBody>
          <a:bodyPr wrap="square" lIns="0" tIns="0" rIns="0" bIns="0" rtlCol="0" anchor="ctr"/>
          <a:lstStyle/>
          <a:p>
            <a:pPr marL="0" indent="0" algn="ctr">
              <a:buNone/>
            </a:pPr>
            <a:r>
              <a:rPr lang="en-US" sz="1200" b="1" dirty="0">
                <a:solidFill>
                  <a:srgbClr val="3FE08A"/>
                </a:solidFill>
                <a:latin typeface="Consolas" pitchFamily="34" charset="0"/>
                <a:ea typeface="Consolas" pitchFamily="34" charset="-122"/>
                <a:cs typeface="Consolas" pitchFamily="34" charset="-120"/>
              </a:rPr>
              <a:t>103</a:t>
            </a:r>
            <a:endParaRPr lang="en-US" sz="1200" dirty="0"/>
          </a:p>
        </p:txBody>
      </p:sp>
      <p:sp>
        <p:nvSpPr>
          <p:cNvPr id="52" name="Text 50"/>
          <p:cNvSpPr/>
          <p:nvPr/>
        </p:nvSpPr>
        <p:spPr>
          <a:xfrm>
            <a:off x="7406640" y="1920240"/>
            <a:ext cx="3767328" cy="566928"/>
          </a:xfrm>
          <a:prstGeom prst="rect">
            <a:avLst/>
          </a:prstGeom>
          <a:noFill/>
          <a:ln/>
        </p:spPr>
        <p:txBody>
          <a:bodyPr wrap="square" lIns="0" tIns="0" rIns="0" bIns="0" rtlCol="0" anchor="ctr"/>
          <a:lstStyle/>
          <a:p>
            <a:pPr marL="0" indent="0">
              <a:lnSpc>
                <a:spcPct val="110000"/>
              </a:lnSpc>
              <a:buNone/>
            </a:pPr>
            <a:r>
              <a:rPr lang="en-US" sz="1100" dirty="0">
                <a:solidFill>
                  <a:srgbClr val="AAB7C2"/>
                </a:solidFill>
                <a:latin typeface="Segoe UI" pitchFamily="34" charset="0"/>
                <a:ea typeface="Segoe UI" pitchFamily="34" charset="-122"/>
                <a:cs typeface="Segoe UI" pitchFamily="34" charset="-120"/>
              </a:rPr>
              <a:t>Every stream numbers its messages. A number that is not exactly one more than the last means something was missed.</a:t>
            </a:r>
            <a:endParaRPr lang="en-US" sz="1100" dirty="0"/>
          </a:p>
        </p:txBody>
      </p:sp>
      <p:sp>
        <p:nvSpPr>
          <p:cNvPr id="53" name="row background">
            <a:extLst>
              <a:ext uri="{C183D7F6-B498-43B3-948B-1728B52AA6E4}">
                <adec:decorative xmlns:adec="http://schemas.microsoft.com/office/drawing/2017/decorative" val="1"/>
              </a:ext>
            </a:extLst>
          </p:cNvPr>
          <p:cNvSpPr/>
          <p:nvPr/>
        </p:nvSpPr>
        <p:spPr>
          <a:xfrm>
            <a:off x="566928" y="2743200"/>
            <a:ext cx="10607040" cy="1097280"/>
          </a:xfrm>
          <a:prstGeom prst="rect">
            <a:avLst/>
          </a:prstGeom>
          <a:solidFill>
            <a:srgbClr val="20272D"/>
          </a:solidFill>
          <a:ln w="12700">
            <a:solidFill>
              <a:srgbClr val="333333"/>
            </a:solidFill>
            <a:prstDash val="solid"/>
          </a:ln>
        </p:spPr>
        <p:txBody>
          <a:bodyPr/>
          <a:lstStyle/>
          <a:p>
            <a:endParaRPr lang="en-SE"/>
          </a:p>
        </p:txBody>
      </p:sp>
      <p:sp>
        <p:nvSpPr>
          <p:cNvPr id="54" name="row marker">
            <a:extLst>
              <a:ext uri="{C183D7F6-B498-43B3-948B-1728B52AA6E4}">
                <adec:decorative xmlns:adec="http://schemas.microsoft.com/office/drawing/2017/decorative" val="1"/>
              </a:ext>
            </a:extLst>
          </p:cNvPr>
          <p:cNvSpPr/>
          <p:nvPr/>
        </p:nvSpPr>
        <p:spPr>
          <a:xfrm>
            <a:off x="566928" y="2743200"/>
            <a:ext cx="41148" cy="1097280"/>
          </a:xfrm>
          <a:prstGeom prst="rect">
            <a:avLst/>
          </a:prstGeom>
          <a:solidFill>
            <a:srgbClr val="3FE08A"/>
          </a:solidFill>
          <a:ln w="12700">
            <a:solidFill>
              <a:srgbClr val="333333"/>
            </a:solidFill>
            <a:prstDash val="solid"/>
          </a:ln>
        </p:spPr>
        <p:txBody>
          <a:bodyPr/>
          <a:lstStyle/>
          <a:p>
            <a:endParaRPr lang="en-SE"/>
          </a:p>
        </p:txBody>
      </p:sp>
      <p:sp>
        <p:nvSpPr>
          <p:cNvPr id="55" name="Text 53"/>
          <p:cNvSpPr/>
          <p:nvPr/>
        </p:nvSpPr>
        <p:spPr>
          <a:xfrm>
            <a:off x="822960" y="2834640"/>
            <a:ext cx="2651760" cy="914400"/>
          </a:xfrm>
          <a:prstGeom prst="rect">
            <a:avLst/>
          </a:prstGeom>
          <a:noFill/>
          <a:ln/>
        </p:spPr>
        <p:txBody>
          <a:bodyPr wrap="square" lIns="0" tIns="0" rIns="0" bIns="0" rtlCol="0" anchor="ctr"/>
          <a:lstStyle/>
          <a:p>
            <a:pPr marL="0" indent="0">
              <a:lnSpc>
                <a:spcPct val="105000"/>
              </a:lnSpc>
              <a:buNone/>
            </a:pPr>
            <a:r>
              <a:rPr lang="en-US" sz="1200" b="1" dirty="0">
                <a:solidFill>
                  <a:srgbClr val="3FE08A"/>
                </a:solidFill>
                <a:latin typeface="Segoe UI" pitchFamily="34" charset="0"/>
                <a:ea typeface="Segoe UI" pitchFamily="34" charset="-122"/>
                <a:cs typeface="Segoe UI" pitchFamily="34" charset="-120"/>
              </a:rPr>
              <a:t>Inside the replay window</a:t>
            </a:r>
            <a:endParaRPr lang="en-US" sz="1200" dirty="0"/>
          </a:p>
        </p:txBody>
      </p:sp>
      <p:sp>
        <p:nvSpPr>
          <p:cNvPr id="56" name="Text 54"/>
          <p:cNvSpPr/>
          <p:nvPr/>
        </p:nvSpPr>
        <p:spPr>
          <a:xfrm>
            <a:off x="3611880" y="2834640"/>
            <a:ext cx="3749040" cy="914400"/>
          </a:xfrm>
          <a:prstGeom prst="rect">
            <a:avLst/>
          </a:prstGeom>
          <a:noFill/>
          <a:ln/>
        </p:spPr>
        <p:txBody>
          <a:bodyPr wrap="square" lIns="0" tIns="0" rIns="0" bIns="0" rtlCol="0" anchor="ctr"/>
          <a:lstStyle/>
          <a:p>
            <a:pPr marL="0" indent="0">
              <a:lnSpc>
                <a:spcPct val="110000"/>
              </a:lnSpc>
              <a:buNone/>
            </a:pPr>
            <a:r>
              <a:rPr lang="en-US" sz="1050" dirty="0">
                <a:solidFill>
                  <a:srgbClr val="AAB7C2"/>
                </a:solidFill>
                <a:latin typeface="Segoe UI" pitchFamily="34" charset="0"/>
                <a:ea typeface="Segoe UI" pitchFamily="34" charset="-122"/>
                <a:cs typeface="Segoe UI" pitchFamily="34" charset="-120"/>
              </a:rPr>
              <a:t>The client reconnects and asks the gateway to replay everything after the last number it saw. The gateway sends the missed messages, then continues live.</a:t>
            </a:r>
            <a:endParaRPr lang="en-US" sz="1050" dirty="0"/>
          </a:p>
        </p:txBody>
      </p:sp>
      <p:sp>
        <p:nvSpPr>
          <p:cNvPr id="57" name="Text 55"/>
          <p:cNvSpPr/>
          <p:nvPr/>
        </p:nvSpPr>
        <p:spPr>
          <a:xfrm>
            <a:off x="7543800" y="2834640"/>
            <a:ext cx="3520440" cy="914400"/>
          </a:xfrm>
          <a:prstGeom prst="rect">
            <a:avLst/>
          </a:prstGeom>
          <a:noFill/>
          <a:ln/>
        </p:spPr>
        <p:txBody>
          <a:bodyPr wrap="square" lIns="0" tIns="0" rIns="0" bIns="0" rtlCol="0" anchor="ctr"/>
          <a:lstStyle/>
          <a:p>
            <a:pPr marL="0" indent="0">
              <a:lnSpc>
                <a:spcPct val="110000"/>
              </a:lnSpc>
              <a:buNone/>
            </a:pPr>
            <a:r>
              <a:rPr lang="en-US" sz="1050" dirty="0">
                <a:solidFill>
                  <a:srgbClr val="E6EDF3"/>
                </a:solidFill>
                <a:latin typeface="Segoe UI" pitchFamily="34" charset="0"/>
                <a:ea typeface="Segoe UI" pitchFamily="34" charset="-122"/>
                <a:cs typeface="Segoe UI" pitchFamily="34" charset="-120"/>
              </a:rPr>
              <a:t>You see nothing at all. The gap was repaired.</a:t>
            </a:r>
            <a:endParaRPr lang="en-US" sz="1050" dirty="0"/>
          </a:p>
        </p:txBody>
      </p:sp>
      <p:sp>
        <p:nvSpPr>
          <p:cNvPr id="58" name="row background">
            <a:extLst>
              <a:ext uri="{C183D7F6-B498-43B3-948B-1728B52AA6E4}">
                <adec:decorative xmlns:adec="http://schemas.microsoft.com/office/drawing/2017/decorative" val="1"/>
              </a:ext>
            </a:extLst>
          </p:cNvPr>
          <p:cNvSpPr/>
          <p:nvPr/>
        </p:nvSpPr>
        <p:spPr>
          <a:xfrm>
            <a:off x="566928" y="3977640"/>
            <a:ext cx="10607040" cy="1097280"/>
          </a:xfrm>
          <a:prstGeom prst="rect">
            <a:avLst/>
          </a:prstGeom>
          <a:solidFill>
            <a:srgbClr val="191E23"/>
          </a:solidFill>
          <a:ln w="12700">
            <a:solidFill>
              <a:srgbClr val="333333"/>
            </a:solidFill>
            <a:prstDash val="solid"/>
          </a:ln>
        </p:spPr>
        <p:txBody>
          <a:bodyPr/>
          <a:lstStyle/>
          <a:p>
            <a:endParaRPr lang="en-SE"/>
          </a:p>
        </p:txBody>
      </p:sp>
      <p:sp>
        <p:nvSpPr>
          <p:cNvPr id="59" name="row marker">
            <a:extLst>
              <a:ext uri="{C183D7F6-B498-43B3-948B-1728B52AA6E4}">
                <adec:decorative xmlns:adec="http://schemas.microsoft.com/office/drawing/2017/decorative" val="1"/>
              </a:ext>
            </a:extLst>
          </p:cNvPr>
          <p:cNvSpPr/>
          <p:nvPr/>
        </p:nvSpPr>
        <p:spPr>
          <a:xfrm>
            <a:off x="566928" y="3977640"/>
            <a:ext cx="41148" cy="1097280"/>
          </a:xfrm>
          <a:prstGeom prst="rect">
            <a:avLst/>
          </a:prstGeom>
          <a:solidFill>
            <a:srgbClr val="F5A524"/>
          </a:solidFill>
          <a:ln w="12700">
            <a:solidFill>
              <a:srgbClr val="333333"/>
            </a:solidFill>
            <a:prstDash val="solid"/>
          </a:ln>
        </p:spPr>
        <p:txBody>
          <a:bodyPr/>
          <a:lstStyle/>
          <a:p>
            <a:endParaRPr lang="en-SE"/>
          </a:p>
        </p:txBody>
      </p:sp>
      <p:sp>
        <p:nvSpPr>
          <p:cNvPr id="60" name="Text 58"/>
          <p:cNvSpPr/>
          <p:nvPr/>
        </p:nvSpPr>
        <p:spPr>
          <a:xfrm>
            <a:off x="822960" y="4069080"/>
            <a:ext cx="2651760" cy="914400"/>
          </a:xfrm>
          <a:prstGeom prst="rect">
            <a:avLst/>
          </a:prstGeom>
          <a:noFill/>
          <a:ln/>
        </p:spPr>
        <p:txBody>
          <a:bodyPr wrap="square" lIns="0" tIns="0" rIns="0" bIns="0" rtlCol="0" anchor="ctr"/>
          <a:lstStyle/>
          <a:p>
            <a:pPr marL="0" indent="0">
              <a:lnSpc>
                <a:spcPct val="105000"/>
              </a:lnSpc>
              <a:buNone/>
            </a:pPr>
            <a:r>
              <a:rPr lang="en-US" sz="1200" b="1" dirty="0">
                <a:solidFill>
                  <a:srgbClr val="F5A524"/>
                </a:solidFill>
                <a:latin typeface="Segoe UI" pitchFamily="34" charset="0"/>
                <a:ea typeface="Segoe UI" pitchFamily="34" charset="-122"/>
                <a:cs typeface="Segoe UI" pitchFamily="34" charset="-120"/>
              </a:rPr>
              <a:t>Outside the replay window</a:t>
            </a:r>
            <a:endParaRPr lang="en-US" sz="1200" dirty="0"/>
          </a:p>
        </p:txBody>
      </p:sp>
      <p:sp>
        <p:nvSpPr>
          <p:cNvPr id="61" name="Text 59"/>
          <p:cNvSpPr/>
          <p:nvPr/>
        </p:nvSpPr>
        <p:spPr>
          <a:xfrm>
            <a:off x="3611880" y="4069080"/>
            <a:ext cx="3749040" cy="914400"/>
          </a:xfrm>
          <a:prstGeom prst="rect">
            <a:avLst/>
          </a:prstGeom>
          <a:noFill/>
          <a:ln/>
        </p:spPr>
        <p:txBody>
          <a:bodyPr wrap="square" lIns="0" tIns="0" rIns="0" bIns="0" rtlCol="0" anchor="ctr"/>
          <a:lstStyle/>
          <a:p>
            <a:pPr marL="0" indent="0">
              <a:lnSpc>
                <a:spcPct val="110000"/>
              </a:lnSpc>
              <a:buNone/>
            </a:pPr>
            <a:r>
              <a:rPr lang="en-US" sz="1050" dirty="0">
                <a:solidFill>
                  <a:srgbClr val="AAB7C2"/>
                </a:solidFill>
                <a:latin typeface="Segoe UI" pitchFamily="34" charset="0"/>
                <a:ea typeface="Segoe UI" pitchFamily="34" charset="-122"/>
                <a:cs typeface="Segoe UI" pitchFamily="34" charset="-120"/>
              </a:rPr>
              <a:t>Too much time passed. For state-carrying channels the gateway sends a fresh snapshot instead, and the client resets to it.</a:t>
            </a:r>
            <a:endParaRPr lang="en-US" sz="1050" dirty="0"/>
          </a:p>
        </p:txBody>
      </p:sp>
      <p:sp>
        <p:nvSpPr>
          <p:cNvPr id="62" name="Text 60"/>
          <p:cNvSpPr/>
          <p:nvPr/>
        </p:nvSpPr>
        <p:spPr>
          <a:xfrm>
            <a:off x="7543800" y="4069080"/>
            <a:ext cx="3520440" cy="914400"/>
          </a:xfrm>
          <a:prstGeom prst="rect">
            <a:avLst/>
          </a:prstGeom>
          <a:noFill/>
          <a:ln/>
        </p:spPr>
        <p:txBody>
          <a:bodyPr wrap="square" lIns="0" tIns="0" rIns="0" bIns="0" rtlCol="0" anchor="ctr"/>
          <a:lstStyle/>
          <a:p>
            <a:pPr marL="0" indent="0">
              <a:lnSpc>
                <a:spcPct val="110000"/>
              </a:lnSpc>
              <a:buNone/>
            </a:pPr>
            <a:r>
              <a:rPr lang="en-US" sz="1050" dirty="0">
                <a:solidFill>
                  <a:srgbClr val="E6EDF3"/>
                </a:solidFill>
                <a:latin typeface="Segoe UI" pitchFamily="34" charset="0"/>
                <a:ea typeface="Segoe UI" pitchFamily="34" charset="-122"/>
                <a:cs typeface="Segoe UI" pitchFamily="34" charset="-120"/>
              </a:rPr>
              <a:t>You see nothing for prices and state — they are correct again. But missed trade prints are gone for good, so the tape shows a gap marker.</a:t>
            </a:r>
            <a:endParaRPr lang="en-US" sz="1050" dirty="0"/>
          </a:p>
        </p:txBody>
      </p:sp>
      <p:sp>
        <p:nvSpPr>
          <p:cNvPr id="63" name="row background">
            <a:extLst>
              <a:ext uri="{C183D7F6-B498-43B3-948B-1728B52AA6E4}">
                <adec:decorative xmlns:adec="http://schemas.microsoft.com/office/drawing/2017/decorative" val="1"/>
              </a:ext>
            </a:extLst>
          </p:cNvPr>
          <p:cNvSpPr/>
          <p:nvPr/>
        </p:nvSpPr>
        <p:spPr>
          <a:xfrm>
            <a:off x="566928" y="5212080"/>
            <a:ext cx="10607040" cy="1097280"/>
          </a:xfrm>
          <a:prstGeom prst="rect">
            <a:avLst/>
          </a:prstGeom>
          <a:solidFill>
            <a:srgbClr val="20272D"/>
          </a:solidFill>
          <a:ln w="12700">
            <a:solidFill>
              <a:srgbClr val="333333"/>
            </a:solidFill>
            <a:prstDash val="solid"/>
          </a:ln>
        </p:spPr>
        <p:txBody>
          <a:bodyPr/>
          <a:lstStyle/>
          <a:p>
            <a:endParaRPr lang="en-SE"/>
          </a:p>
        </p:txBody>
      </p:sp>
      <p:sp>
        <p:nvSpPr>
          <p:cNvPr id="64" name="row marker">
            <a:extLst>
              <a:ext uri="{C183D7F6-B498-43B3-948B-1728B52AA6E4}">
                <adec:decorative xmlns:adec="http://schemas.microsoft.com/office/drawing/2017/decorative" val="1"/>
              </a:ext>
            </a:extLst>
          </p:cNvPr>
          <p:cNvSpPr/>
          <p:nvPr/>
        </p:nvSpPr>
        <p:spPr>
          <a:xfrm>
            <a:off x="566928" y="5212080"/>
            <a:ext cx="41148" cy="1097280"/>
          </a:xfrm>
          <a:prstGeom prst="rect">
            <a:avLst/>
          </a:prstGeom>
          <a:solidFill>
            <a:srgbClr val="3FE08A"/>
          </a:solidFill>
          <a:ln w="12700">
            <a:solidFill>
              <a:srgbClr val="333333"/>
            </a:solidFill>
            <a:prstDash val="solid"/>
          </a:ln>
        </p:spPr>
        <p:txBody>
          <a:bodyPr/>
          <a:lstStyle/>
          <a:p>
            <a:endParaRPr lang="en-SE"/>
          </a:p>
        </p:txBody>
      </p:sp>
      <p:sp>
        <p:nvSpPr>
          <p:cNvPr id="65" name="Text 63"/>
          <p:cNvSpPr/>
          <p:nvPr/>
        </p:nvSpPr>
        <p:spPr>
          <a:xfrm>
            <a:off x="822960" y="5303520"/>
            <a:ext cx="2651760" cy="914400"/>
          </a:xfrm>
          <a:prstGeom prst="rect">
            <a:avLst/>
          </a:prstGeom>
          <a:noFill/>
          <a:ln/>
        </p:spPr>
        <p:txBody>
          <a:bodyPr wrap="square" lIns="0" tIns="0" rIns="0" bIns="0" rtlCol="0" anchor="ctr"/>
          <a:lstStyle/>
          <a:p>
            <a:pPr marL="0" indent="0">
              <a:lnSpc>
                <a:spcPct val="105000"/>
              </a:lnSpc>
              <a:buNone/>
            </a:pPr>
            <a:r>
              <a:rPr lang="en-US" sz="1200" b="1" dirty="0">
                <a:solidFill>
                  <a:srgbClr val="3FE08A"/>
                </a:solidFill>
                <a:latin typeface="Segoe UI" pitchFamily="34" charset="0"/>
                <a:ea typeface="Segoe UI" pitchFamily="34" charset="-122"/>
                <a:cs typeface="Segoe UI" pitchFamily="34" charset="-120"/>
              </a:rPr>
              <a:t>Nothing was ever recorded</a:t>
            </a:r>
            <a:endParaRPr lang="en-US" sz="1200" dirty="0"/>
          </a:p>
        </p:txBody>
      </p:sp>
      <p:sp>
        <p:nvSpPr>
          <p:cNvPr id="66" name="Text 64"/>
          <p:cNvSpPr/>
          <p:nvPr/>
        </p:nvSpPr>
        <p:spPr>
          <a:xfrm>
            <a:off x="3611880" y="5303520"/>
            <a:ext cx="3749040" cy="914400"/>
          </a:xfrm>
          <a:prstGeom prst="rect">
            <a:avLst/>
          </a:prstGeom>
          <a:noFill/>
          <a:ln/>
        </p:spPr>
        <p:txBody>
          <a:bodyPr wrap="square" lIns="0" tIns="0" rIns="0" bIns="0" rtlCol="0" anchor="ctr"/>
          <a:lstStyle/>
          <a:p>
            <a:pPr marL="0" indent="0">
              <a:lnSpc>
                <a:spcPct val="110000"/>
              </a:lnSpc>
              <a:buNone/>
            </a:pPr>
            <a:r>
              <a:rPr lang="en-US" sz="1050" dirty="0">
                <a:solidFill>
                  <a:srgbClr val="AAB7C2"/>
                </a:solidFill>
                <a:latin typeface="Segoe UI" pitchFamily="34" charset="0"/>
                <a:ea typeface="Segoe UI" pitchFamily="34" charset="-122"/>
                <a:cs typeface="Segoe UI" pitchFamily="34" charset="-120"/>
              </a:rPr>
              <a:t>The gateway has never emitted anything for that stream. The replay simply returns nothing at all.</a:t>
            </a:r>
            <a:endParaRPr lang="en-US" sz="1050" dirty="0"/>
          </a:p>
        </p:txBody>
      </p:sp>
      <p:sp>
        <p:nvSpPr>
          <p:cNvPr id="67" name="Text 65"/>
          <p:cNvSpPr/>
          <p:nvPr/>
        </p:nvSpPr>
        <p:spPr>
          <a:xfrm>
            <a:off x="7543800" y="5303520"/>
            <a:ext cx="3520440" cy="914400"/>
          </a:xfrm>
          <a:prstGeom prst="rect">
            <a:avLst/>
          </a:prstGeom>
          <a:noFill/>
          <a:ln/>
        </p:spPr>
        <p:txBody>
          <a:bodyPr wrap="square" lIns="0" tIns="0" rIns="0" bIns="0" rtlCol="0" anchor="ctr"/>
          <a:lstStyle/>
          <a:p>
            <a:pPr marL="0" indent="0">
              <a:lnSpc>
                <a:spcPct val="110000"/>
              </a:lnSpc>
              <a:buNone/>
            </a:pPr>
            <a:r>
              <a:rPr lang="en-US" sz="1050" dirty="0">
                <a:solidFill>
                  <a:srgbClr val="E6EDF3"/>
                </a:solidFill>
                <a:latin typeface="Segoe UI" pitchFamily="34" charset="0"/>
                <a:ea typeface="Segoe UI" pitchFamily="34" charset="-122"/>
                <a:cs typeface="Segoe UI" pitchFamily="34" charset="-120"/>
              </a:rPr>
              <a:t>Not a failure. The session resumes live from that point.</a:t>
            </a:r>
            <a:endParaRPr lang="en-US" sz="1050" dirty="0"/>
          </a:p>
        </p:txBody>
      </p:sp>
      <p:sp>
        <p:nvSpPr>
          <p:cNvPr id="68" name="Text 66"/>
          <p:cNvSpPr/>
          <p:nvPr/>
        </p:nvSpPr>
        <p:spPr>
          <a:xfrm>
            <a:off x="822960" y="2606040"/>
            <a:ext cx="2743200" cy="256032"/>
          </a:xfrm>
          <a:prstGeom prst="rect">
            <a:avLst/>
          </a:prstGeom>
          <a:noFill/>
          <a:ln/>
        </p:spPr>
        <p:txBody>
          <a:bodyPr wrap="square" lIns="0" tIns="0" rIns="0" bIns="0" rtlCol="0" anchor="ctr"/>
          <a:lstStyle/>
          <a:p>
            <a:pPr marL="0" indent="0">
              <a:buNone/>
            </a:pPr>
            <a:r>
              <a:rPr lang="en-US" sz="950" b="1" kern="0" spc="120" dirty="0">
                <a:solidFill>
                  <a:srgbClr val="3FE08A"/>
                </a:solidFill>
                <a:latin typeface="Consolas" pitchFamily="34" charset="0"/>
                <a:ea typeface="Consolas" pitchFamily="34" charset="-122"/>
                <a:cs typeface="Consolas" pitchFamily="34" charset="-120"/>
              </a:rPr>
              <a:t>SITUATION</a:t>
            </a:r>
            <a:endParaRPr lang="en-US" sz="950" dirty="0"/>
          </a:p>
        </p:txBody>
      </p:sp>
      <p:sp>
        <p:nvSpPr>
          <p:cNvPr id="69" name="Text 67"/>
          <p:cNvSpPr/>
          <p:nvPr/>
        </p:nvSpPr>
        <p:spPr>
          <a:xfrm>
            <a:off x="3611880" y="2606040"/>
            <a:ext cx="2743200" cy="256032"/>
          </a:xfrm>
          <a:prstGeom prst="rect">
            <a:avLst/>
          </a:prstGeom>
          <a:noFill/>
          <a:ln/>
        </p:spPr>
        <p:txBody>
          <a:bodyPr wrap="square" lIns="0" tIns="0" rIns="0" bIns="0" rtlCol="0" anchor="ctr"/>
          <a:lstStyle/>
          <a:p>
            <a:pPr marL="0" indent="0">
              <a:buNone/>
            </a:pPr>
            <a:r>
              <a:rPr lang="en-US" sz="950" b="1" kern="0" spc="120" dirty="0">
                <a:solidFill>
                  <a:srgbClr val="3FE08A"/>
                </a:solidFill>
                <a:latin typeface="Consolas" pitchFamily="34" charset="0"/>
                <a:ea typeface="Consolas" pitchFamily="34" charset="-122"/>
                <a:cs typeface="Consolas" pitchFamily="34" charset="-120"/>
              </a:rPr>
              <a:t>WHAT HAPPENS</a:t>
            </a:r>
            <a:endParaRPr lang="en-US" sz="950" dirty="0"/>
          </a:p>
        </p:txBody>
      </p:sp>
      <p:sp>
        <p:nvSpPr>
          <p:cNvPr id="70" name="Text 68"/>
          <p:cNvSpPr/>
          <p:nvPr/>
        </p:nvSpPr>
        <p:spPr>
          <a:xfrm>
            <a:off x="7543800" y="2606040"/>
            <a:ext cx="2743200" cy="256032"/>
          </a:xfrm>
          <a:prstGeom prst="rect">
            <a:avLst/>
          </a:prstGeom>
          <a:noFill/>
          <a:ln/>
        </p:spPr>
        <p:txBody>
          <a:bodyPr wrap="square" lIns="0" tIns="0" rIns="0" bIns="0" rtlCol="0" anchor="ctr"/>
          <a:lstStyle/>
          <a:p>
            <a:pPr marL="0" indent="0">
              <a:buNone/>
            </a:pPr>
            <a:r>
              <a:rPr lang="en-US" sz="950" b="1" kern="0" spc="120" dirty="0">
                <a:solidFill>
                  <a:srgbClr val="3FE08A"/>
                </a:solidFill>
                <a:latin typeface="Consolas" pitchFamily="34" charset="0"/>
                <a:ea typeface="Consolas" pitchFamily="34" charset="-122"/>
                <a:cs typeface="Consolas" pitchFamily="34" charset="-120"/>
              </a:rPr>
              <a:t>WHAT YOU SEE</a:t>
            </a:r>
            <a:endParaRPr lang="en-US" sz="9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The history side: REST and WebSockets</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07 · TECHNICAL REFERENCE</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49</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Two different transports, doing two different jobs. This split is the reason failures stay compartmentalised.</a:t>
            </a:r>
            <a:endParaRPr lang="en-US" sz="1400" dirty="0"/>
          </a:p>
        </p:txBody>
      </p:sp>
      <p:sp>
        <p:nvSpPr>
          <p:cNvPr id="38" name="panel">
            <a:extLst>
              <a:ext uri="{C183D7F6-B498-43B3-948B-1728B52AA6E4}">
                <adec:decorative xmlns:adec="http://schemas.microsoft.com/office/drawing/2017/decorative" val="1"/>
              </a:ext>
            </a:extLst>
          </p:cNvPr>
          <p:cNvSpPr/>
          <p:nvPr/>
        </p:nvSpPr>
        <p:spPr>
          <a:xfrm>
            <a:off x="566928" y="1965960"/>
            <a:ext cx="5120640" cy="356616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39" name="panel accent">
            <a:extLst>
              <a:ext uri="{C183D7F6-B498-43B3-948B-1728B52AA6E4}">
                <adec:decorative xmlns:adec="http://schemas.microsoft.com/office/drawing/2017/decorative" val="1"/>
              </a:ext>
            </a:extLst>
          </p:cNvPr>
          <p:cNvSpPr/>
          <p:nvPr/>
        </p:nvSpPr>
        <p:spPr>
          <a:xfrm>
            <a:off x="566928" y="1965960"/>
            <a:ext cx="50292" cy="3566160"/>
          </a:xfrm>
          <a:prstGeom prst="rect">
            <a:avLst/>
          </a:prstGeom>
          <a:solidFill>
            <a:srgbClr val="3FE08A"/>
          </a:solidFill>
          <a:ln w="12700">
            <a:solidFill>
              <a:srgbClr val="333333"/>
            </a:solidFill>
            <a:prstDash val="solid"/>
          </a:ln>
        </p:spPr>
        <p:txBody>
          <a:bodyPr/>
          <a:lstStyle/>
          <a:p>
            <a:endParaRPr lang="en-SE"/>
          </a:p>
        </p:txBody>
      </p:sp>
      <p:sp>
        <p:nvSpPr>
          <p:cNvPr id="40" name="badge background">
            <a:extLst>
              <a:ext uri="{C183D7F6-B498-43B3-948B-1728B52AA6E4}">
                <adec:decorative xmlns:adec="http://schemas.microsoft.com/office/drawing/2017/decorative" val="1"/>
              </a:ext>
            </a:extLst>
          </p:cNvPr>
          <p:cNvSpPr/>
          <p:nvPr/>
        </p:nvSpPr>
        <p:spPr>
          <a:xfrm>
            <a:off x="868680" y="2194560"/>
            <a:ext cx="2194560" cy="329184"/>
          </a:xfrm>
          <a:prstGeom prst="roundRect">
            <a:avLst>
              <a:gd name="adj" fmla="val 25000"/>
            </a:avLst>
          </a:prstGeom>
          <a:solidFill>
            <a:srgbClr val="122C22"/>
          </a:solidFill>
          <a:ln w="12700">
            <a:solidFill>
              <a:srgbClr val="333333"/>
            </a:solidFill>
            <a:prstDash val="solid"/>
          </a:ln>
        </p:spPr>
        <p:txBody>
          <a:bodyPr/>
          <a:lstStyle/>
          <a:p>
            <a:endParaRPr lang="en-SE"/>
          </a:p>
        </p:txBody>
      </p:sp>
      <p:sp>
        <p:nvSpPr>
          <p:cNvPr id="41" name="Text 39"/>
          <p:cNvSpPr/>
          <p:nvPr/>
        </p:nvSpPr>
        <p:spPr>
          <a:xfrm>
            <a:off x="868680" y="2194560"/>
            <a:ext cx="2194560" cy="329184"/>
          </a:xfrm>
          <a:prstGeom prst="rect">
            <a:avLst/>
          </a:prstGeom>
          <a:noFill/>
          <a:ln/>
        </p:spPr>
        <p:txBody>
          <a:bodyPr wrap="square" lIns="0" tIns="0" rIns="0" bIns="0" rtlCol="0" anchor="ctr"/>
          <a:lstStyle/>
          <a:p>
            <a:pPr marL="0" indent="0" algn="ctr">
              <a:buNone/>
            </a:pPr>
            <a:r>
              <a:rPr lang="en-US" sz="1000" b="1" kern="0" spc="80" dirty="0">
                <a:solidFill>
                  <a:srgbClr val="3FE08A"/>
                </a:solidFill>
                <a:latin typeface="Consolas" pitchFamily="34" charset="0"/>
                <a:ea typeface="Consolas" pitchFamily="34" charset="-122"/>
                <a:cs typeface="Consolas" pitchFamily="34" charset="-120"/>
              </a:rPr>
              <a:t>WEBSOCKET</a:t>
            </a:r>
            <a:endParaRPr lang="en-US" sz="1000" dirty="0"/>
          </a:p>
        </p:txBody>
      </p:sp>
      <p:sp>
        <p:nvSpPr>
          <p:cNvPr id="42" name="Text 40"/>
          <p:cNvSpPr/>
          <p:nvPr/>
        </p:nvSpPr>
        <p:spPr>
          <a:xfrm>
            <a:off x="868680" y="2651760"/>
            <a:ext cx="4572000" cy="320040"/>
          </a:xfrm>
          <a:prstGeom prst="rect">
            <a:avLst/>
          </a:prstGeom>
          <a:noFill/>
          <a:ln/>
        </p:spPr>
        <p:txBody>
          <a:bodyPr wrap="square" lIns="0" tIns="0" rIns="0" bIns="0" rtlCol="0" anchor="ctr"/>
          <a:lstStyle/>
          <a:p>
            <a:pPr marL="0" indent="0">
              <a:buNone/>
            </a:pPr>
            <a:r>
              <a:rPr lang="en-US" sz="1500" b="1" dirty="0">
                <a:solidFill>
                  <a:srgbClr val="E6EDF3"/>
                </a:solidFill>
                <a:latin typeface="Segoe UI" pitchFamily="34" charset="0"/>
                <a:ea typeface="Segoe UI" pitchFamily="34" charset="-122"/>
                <a:cs typeface="Segoe UI" pitchFamily="34" charset="-120"/>
              </a:rPr>
              <a:t>Browser ⇄ terminal bridge</a:t>
            </a:r>
            <a:endParaRPr lang="en-US" sz="1500" dirty="0"/>
          </a:p>
        </p:txBody>
      </p:sp>
      <p:sp>
        <p:nvSpPr>
          <p:cNvPr id="43" name="Text 41"/>
          <p:cNvSpPr/>
          <p:nvPr/>
        </p:nvSpPr>
        <p:spPr>
          <a:xfrm>
            <a:off x="868680" y="3035808"/>
            <a:ext cx="4572000" cy="1097280"/>
          </a:xfrm>
          <a:prstGeom prst="rect">
            <a:avLst/>
          </a:prstGeom>
          <a:noFill/>
          <a:ln/>
        </p:spPr>
        <p:txBody>
          <a:bodyPr wrap="square" lIns="0" tIns="0" rIns="0" bIns="0" rtlCol="0" anchor="ctr"/>
          <a:lstStyle/>
          <a:p>
            <a:pPr marL="0" indent="0">
              <a:lnSpc>
                <a:spcPct val="115000"/>
              </a:lnSpc>
              <a:buNone/>
            </a:pPr>
            <a:r>
              <a:rPr lang="en-US" sz="1150" dirty="0">
                <a:solidFill>
                  <a:srgbClr val="AAB7C2"/>
                </a:solidFill>
                <a:latin typeface="Segoe UI" pitchFamily="34" charset="0"/>
                <a:ea typeface="Segoe UI" pitchFamily="34" charset="-122"/>
                <a:cs typeface="Segoe UI" pitchFamily="34" charset="-120"/>
              </a:rPr>
              <a:t>A push transport. The bridge translates the raw feed into simple JSON frames and pushes them to every open tab as they arrive. Nothing is polled, and the browser never speaks the exchange protocol itself.</a:t>
            </a:r>
            <a:endParaRPr lang="en-US" sz="1150" dirty="0"/>
          </a:p>
        </p:txBody>
      </p:sp>
      <p:sp>
        <p:nvSpPr>
          <p:cNvPr id="44" name="Text 42"/>
          <p:cNvSpPr/>
          <p:nvPr/>
        </p:nvSpPr>
        <p:spPr>
          <a:xfrm>
            <a:off x="868680" y="4206240"/>
            <a:ext cx="4572000" cy="548640"/>
          </a:xfrm>
          <a:prstGeom prst="rect">
            <a:avLst/>
          </a:prstGeom>
          <a:noFill/>
          <a:ln/>
        </p:spPr>
        <p:txBody>
          <a:bodyPr wrap="square" lIns="0" tIns="0" rIns="0" bIns="0" rtlCol="0" anchor="ctr"/>
          <a:lstStyle/>
          <a:p>
            <a:pPr marL="0" indent="0">
              <a:lnSpc>
                <a:spcPct val="110000"/>
              </a:lnSpc>
              <a:buNone/>
            </a:pPr>
            <a:r>
              <a:rPr lang="en-US" sz="1100" dirty="0">
                <a:solidFill>
                  <a:srgbClr val="3FE08A"/>
                </a:solidFill>
                <a:latin typeface="Segoe UI" pitchFamily="34" charset="0"/>
                <a:ea typeface="Segoe UI" pitchFamily="34" charset="-122"/>
                <a:cs typeface="Segoe UI" pitchFamily="34" charset="-120"/>
              </a:rPr>
              <a:t>Right for: anything continuous — prices, prints, state, depth, index levels.</a:t>
            </a:r>
            <a:endParaRPr lang="en-US" sz="1100" dirty="0"/>
          </a:p>
        </p:txBody>
      </p:sp>
      <p:sp>
        <p:nvSpPr>
          <p:cNvPr id="45" name="Text 43"/>
          <p:cNvSpPr/>
          <p:nvPr/>
        </p:nvSpPr>
        <p:spPr>
          <a:xfrm>
            <a:off x="868680" y="4800600"/>
            <a:ext cx="4572000" cy="594360"/>
          </a:xfrm>
          <a:prstGeom prst="rect">
            <a:avLst/>
          </a:prstGeom>
          <a:noFill/>
          <a:ln/>
        </p:spPr>
        <p:txBody>
          <a:bodyPr wrap="square" lIns="0" tIns="0" rIns="0" bIns="0" rtlCol="0" anchor="ctr"/>
          <a:lstStyle/>
          <a:p>
            <a:pPr marL="0" indent="0">
              <a:lnSpc>
                <a:spcPct val="110000"/>
              </a:lnSpc>
              <a:buNone/>
            </a:pPr>
            <a:r>
              <a:rPr lang="en-US" sz="1050" dirty="0">
                <a:solidFill>
                  <a:srgbClr val="7C8B97"/>
                </a:solidFill>
                <a:latin typeface="Segoe UI" pitchFamily="34" charset="0"/>
                <a:ea typeface="Segoe UI" pitchFamily="34" charset="-122"/>
                <a:cs typeface="Segoe UI" pitchFamily="34" charset="-120"/>
              </a:rPr>
              <a:t>There is a cap on how many browser tabs may connect at once — the default allows two hundred, which is far more than a classroom will ever need.</a:t>
            </a:r>
            <a:endParaRPr lang="en-US" sz="1050" dirty="0"/>
          </a:p>
        </p:txBody>
      </p:sp>
      <p:sp>
        <p:nvSpPr>
          <p:cNvPr id="46" name="panel">
            <a:extLst>
              <a:ext uri="{C183D7F6-B498-43B3-948B-1728B52AA6E4}">
                <adec:decorative xmlns:adec="http://schemas.microsoft.com/office/drawing/2017/decorative" val="1"/>
              </a:ext>
            </a:extLst>
          </p:cNvPr>
          <p:cNvSpPr/>
          <p:nvPr/>
        </p:nvSpPr>
        <p:spPr>
          <a:xfrm>
            <a:off x="6053328" y="1965960"/>
            <a:ext cx="5120640" cy="356616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47" name="panel accent">
            <a:extLst>
              <a:ext uri="{C183D7F6-B498-43B3-948B-1728B52AA6E4}">
                <adec:decorative xmlns:adec="http://schemas.microsoft.com/office/drawing/2017/decorative" val="1"/>
              </a:ext>
            </a:extLst>
          </p:cNvPr>
          <p:cNvSpPr/>
          <p:nvPr/>
        </p:nvSpPr>
        <p:spPr>
          <a:xfrm>
            <a:off x="6053328" y="1965960"/>
            <a:ext cx="50292" cy="3566160"/>
          </a:xfrm>
          <a:prstGeom prst="rect">
            <a:avLst/>
          </a:prstGeom>
          <a:solidFill>
            <a:srgbClr val="F5A524"/>
          </a:solidFill>
          <a:ln w="12700">
            <a:solidFill>
              <a:srgbClr val="333333"/>
            </a:solidFill>
            <a:prstDash val="solid"/>
          </a:ln>
        </p:spPr>
        <p:txBody>
          <a:bodyPr/>
          <a:lstStyle/>
          <a:p>
            <a:endParaRPr lang="en-SE"/>
          </a:p>
        </p:txBody>
      </p:sp>
      <p:sp>
        <p:nvSpPr>
          <p:cNvPr id="48" name="badge background">
            <a:extLst>
              <a:ext uri="{C183D7F6-B498-43B3-948B-1728B52AA6E4}">
                <adec:decorative xmlns:adec="http://schemas.microsoft.com/office/drawing/2017/decorative" val="1"/>
              </a:ext>
            </a:extLst>
          </p:cNvPr>
          <p:cNvSpPr/>
          <p:nvPr/>
        </p:nvSpPr>
        <p:spPr>
          <a:xfrm>
            <a:off x="6355080" y="2194560"/>
            <a:ext cx="2194560" cy="329184"/>
          </a:xfrm>
          <a:prstGeom prst="roundRect">
            <a:avLst>
              <a:gd name="adj" fmla="val 25000"/>
            </a:avLst>
          </a:prstGeom>
          <a:solidFill>
            <a:srgbClr val="6B4A0F"/>
          </a:solidFill>
          <a:ln w="12700">
            <a:solidFill>
              <a:srgbClr val="333333"/>
            </a:solidFill>
            <a:prstDash val="solid"/>
          </a:ln>
        </p:spPr>
        <p:txBody>
          <a:bodyPr/>
          <a:lstStyle/>
          <a:p>
            <a:endParaRPr lang="en-SE"/>
          </a:p>
        </p:txBody>
      </p:sp>
      <p:sp>
        <p:nvSpPr>
          <p:cNvPr id="49" name="Text 47"/>
          <p:cNvSpPr/>
          <p:nvPr/>
        </p:nvSpPr>
        <p:spPr>
          <a:xfrm>
            <a:off x="6355080" y="2194560"/>
            <a:ext cx="2194560" cy="329184"/>
          </a:xfrm>
          <a:prstGeom prst="rect">
            <a:avLst/>
          </a:prstGeom>
          <a:noFill/>
          <a:ln/>
        </p:spPr>
        <p:txBody>
          <a:bodyPr wrap="square" lIns="0" tIns="0" rIns="0" bIns="0" rtlCol="0" anchor="ctr"/>
          <a:lstStyle/>
          <a:p>
            <a:pPr marL="0" indent="0" algn="ctr">
              <a:buNone/>
            </a:pPr>
            <a:r>
              <a:rPr lang="en-US" sz="1000" b="1" kern="0" spc="80" dirty="0">
                <a:solidFill>
                  <a:srgbClr val="F5A524"/>
                </a:solidFill>
                <a:latin typeface="Consolas" pitchFamily="34" charset="0"/>
                <a:ea typeface="Consolas" pitchFamily="34" charset="-122"/>
                <a:cs typeface="Consolas" pitchFamily="34" charset="-120"/>
              </a:rPr>
              <a:t>REST / HTTP</a:t>
            </a:r>
            <a:endParaRPr lang="en-US" sz="1000" dirty="0"/>
          </a:p>
        </p:txBody>
      </p:sp>
      <p:sp>
        <p:nvSpPr>
          <p:cNvPr id="50" name="Text 48"/>
          <p:cNvSpPr/>
          <p:nvPr/>
        </p:nvSpPr>
        <p:spPr>
          <a:xfrm>
            <a:off x="6355080" y="2651760"/>
            <a:ext cx="4572000" cy="320040"/>
          </a:xfrm>
          <a:prstGeom prst="rect">
            <a:avLst/>
          </a:prstGeom>
          <a:noFill/>
          <a:ln/>
        </p:spPr>
        <p:txBody>
          <a:bodyPr wrap="square" lIns="0" tIns="0" rIns="0" bIns="0" rtlCol="0" anchor="ctr"/>
          <a:lstStyle/>
          <a:p>
            <a:pPr marL="0" indent="0">
              <a:buNone/>
            </a:pPr>
            <a:r>
              <a:rPr lang="en-US" sz="1500" b="1" dirty="0">
                <a:solidFill>
                  <a:srgbClr val="E6EDF3"/>
                </a:solidFill>
                <a:latin typeface="Segoe UI" pitchFamily="34" charset="0"/>
                <a:ea typeface="Segoe UI" pitchFamily="34" charset="-122"/>
                <a:cs typeface="Segoe UI" pitchFamily="34" charset="-120"/>
              </a:rPr>
              <a:t>Bridge ⇄ history gateway</a:t>
            </a:r>
            <a:endParaRPr lang="en-US" sz="1500" dirty="0"/>
          </a:p>
        </p:txBody>
      </p:sp>
      <p:sp>
        <p:nvSpPr>
          <p:cNvPr id="51" name="Text 49"/>
          <p:cNvSpPr/>
          <p:nvPr/>
        </p:nvSpPr>
        <p:spPr>
          <a:xfrm>
            <a:off x="6355080" y="3035808"/>
            <a:ext cx="4572000" cy="1097280"/>
          </a:xfrm>
          <a:prstGeom prst="rect">
            <a:avLst/>
          </a:prstGeom>
          <a:noFill/>
          <a:ln/>
        </p:spPr>
        <p:txBody>
          <a:bodyPr wrap="square" lIns="0" tIns="0" rIns="0" bIns="0" rtlCol="0" anchor="ctr"/>
          <a:lstStyle/>
          <a:p>
            <a:pPr marL="0" indent="0">
              <a:lnSpc>
                <a:spcPct val="115000"/>
              </a:lnSpc>
              <a:buNone/>
            </a:pPr>
            <a:r>
              <a:rPr lang="en-US" sz="1150" dirty="0">
                <a:solidFill>
                  <a:srgbClr val="AAB7C2"/>
                </a:solidFill>
                <a:latin typeface="Segoe UI" pitchFamily="34" charset="0"/>
                <a:ea typeface="Segoe UI" pitchFamily="34" charset="-122"/>
                <a:cs typeface="Segoe UI" pitchFamily="34" charset="-120"/>
              </a:rPr>
              <a:t>A pull transport. The bridge makes read-only history requests on demand and proxies the answers back down. The browser calls the bridge's proxy; the bridge attaches the API key and calls the history gateway.</a:t>
            </a:r>
            <a:endParaRPr lang="en-US" sz="1150" dirty="0"/>
          </a:p>
        </p:txBody>
      </p:sp>
      <p:sp>
        <p:nvSpPr>
          <p:cNvPr id="52" name="Text 50"/>
          <p:cNvSpPr/>
          <p:nvPr/>
        </p:nvSpPr>
        <p:spPr>
          <a:xfrm>
            <a:off x="6355080" y="4206240"/>
            <a:ext cx="4572000" cy="548640"/>
          </a:xfrm>
          <a:prstGeom prst="rect">
            <a:avLst/>
          </a:prstGeom>
          <a:noFill/>
          <a:ln/>
        </p:spPr>
        <p:txBody>
          <a:bodyPr wrap="square" lIns="0" tIns="0" rIns="0" bIns="0" rtlCol="0" anchor="ctr"/>
          <a:lstStyle/>
          <a:p>
            <a:pPr marL="0" indent="0">
              <a:lnSpc>
                <a:spcPct val="110000"/>
              </a:lnSpc>
              <a:buNone/>
            </a:pPr>
            <a:r>
              <a:rPr lang="en-US" sz="1100" dirty="0">
                <a:solidFill>
                  <a:srgbClr val="F5A524"/>
                </a:solidFill>
                <a:latin typeface="Segoe UI" pitchFamily="34" charset="0"/>
                <a:ea typeface="Segoe UI" pitchFamily="34" charset="-122"/>
                <a:cs typeface="Segoe UI" pitchFamily="34" charset="-120"/>
              </a:rPr>
              <a:t>Right for: anything you ask for once — chart bars, previous close, index history.</a:t>
            </a:r>
            <a:endParaRPr lang="en-US" sz="1100" dirty="0"/>
          </a:p>
        </p:txBody>
      </p:sp>
      <p:sp>
        <p:nvSpPr>
          <p:cNvPr id="53" name="Text 51"/>
          <p:cNvSpPr/>
          <p:nvPr/>
        </p:nvSpPr>
        <p:spPr>
          <a:xfrm>
            <a:off x="6355080" y="4800600"/>
            <a:ext cx="4572000" cy="594360"/>
          </a:xfrm>
          <a:prstGeom prst="rect">
            <a:avLst/>
          </a:prstGeom>
          <a:noFill/>
          <a:ln/>
        </p:spPr>
        <p:txBody>
          <a:bodyPr wrap="square" lIns="0" tIns="0" rIns="0" bIns="0" rtlCol="0" anchor="ctr"/>
          <a:lstStyle/>
          <a:p>
            <a:pPr marL="0" indent="0">
              <a:lnSpc>
                <a:spcPct val="110000"/>
              </a:lnSpc>
              <a:buNone/>
            </a:pPr>
            <a:r>
              <a:rPr lang="en-US" sz="1050" dirty="0">
                <a:solidFill>
                  <a:srgbClr val="7C8B97"/>
                </a:solidFill>
                <a:latin typeface="Segoe UI" pitchFamily="34" charset="0"/>
                <a:ea typeface="Segoe UI" pitchFamily="34" charset="-122"/>
                <a:cs typeface="Segoe UI" pitchFamily="34" charset="-120"/>
              </a:rPr>
              <a:t>The key is scoped read-only and is used for history reads only. It is held by the server process and is never sent to a browser.</a:t>
            </a:r>
            <a:endParaRPr lang="en-US" sz="1050" dirty="0"/>
          </a:p>
        </p:txBody>
      </p:sp>
      <p:sp>
        <p:nvSpPr>
          <p:cNvPr id="54" name="callout background">
            <a:extLst>
              <a:ext uri="{C183D7F6-B498-43B3-948B-1728B52AA6E4}">
                <adec:decorative xmlns:adec="http://schemas.microsoft.com/office/drawing/2017/decorative" val="1"/>
              </a:ext>
            </a:extLst>
          </p:cNvPr>
          <p:cNvSpPr/>
          <p:nvPr/>
        </p:nvSpPr>
        <p:spPr>
          <a:xfrm>
            <a:off x="566928" y="5715000"/>
            <a:ext cx="10607040" cy="621792"/>
          </a:xfrm>
          <a:prstGeom prst="rect">
            <a:avLst/>
          </a:prstGeom>
          <a:solidFill>
            <a:srgbClr val="273037"/>
          </a:solidFill>
          <a:ln w="12700">
            <a:solidFill>
              <a:srgbClr val="3FE08A"/>
            </a:solidFill>
            <a:prstDash val="solid"/>
          </a:ln>
        </p:spPr>
        <p:txBody>
          <a:bodyPr/>
          <a:lstStyle/>
          <a:p>
            <a:endParaRPr lang="en-SE"/>
          </a:p>
        </p:txBody>
      </p:sp>
      <p:sp>
        <p:nvSpPr>
          <p:cNvPr id="55" name="Text 53"/>
          <p:cNvSpPr/>
          <p:nvPr/>
        </p:nvSpPr>
        <p:spPr>
          <a:xfrm>
            <a:off x="868680" y="5715000"/>
            <a:ext cx="10058400" cy="621792"/>
          </a:xfrm>
          <a:prstGeom prst="rect">
            <a:avLst/>
          </a:prstGeom>
          <a:noFill/>
          <a:ln/>
        </p:spPr>
        <p:txBody>
          <a:bodyPr wrap="square" lIns="0" tIns="0" rIns="0" bIns="0" rtlCol="0" anchor="ctr"/>
          <a:lstStyle/>
          <a:p>
            <a:pPr marL="0" indent="0">
              <a:buNone/>
            </a:pPr>
            <a:r>
              <a:rPr lang="en-US" sz="1200" b="1" dirty="0">
                <a:solidFill>
                  <a:srgbClr val="3FE08A"/>
                </a:solidFill>
                <a:latin typeface="Segoe UI" pitchFamily="34" charset="0"/>
                <a:ea typeface="Segoe UI" pitchFamily="34" charset="-122"/>
                <a:cs typeface="Segoe UI" pitchFamily="34" charset="-120"/>
              </a:rPr>
              <a:t>One port for everything.  </a:t>
            </a:r>
            <a:r>
              <a:rPr lang="en-US" sz="1200" dirty="0">
                <a:solidFill>
                  <a:srgbClr val="E6EDF3"/>
                </a:solidFill>
                <a:latin typeface="Segoe UI" pitchFamily="34" charset="0"/>
                <a:ea typeface="Segoe UI" pitchFamily="34" charset="-122"/>
                <a:cs typeface="Segoe UI" pitchFamily="34" charset="-120"/>
              </a:rPr>
              <a:t>The container serves the built web page, the WebSocket endpoint and the read-only history proxy from a single port — so viewers only ever need access to that one port on the display machine.</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Ports and network paths</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07 · TECHNICAL REFERENCE</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50</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Open only what is needed. This is the whole list.</a:t>
            </a:r>
            <a:endParaRPr lang="en-US" sz="1400" dirty="0"/>
          </a:p>
        </p:txBody>
      </p:sp>
      <p:sp>
        <p:nvSpPr>
          <p:cNvPr id="38" name="panel">
            <a:extLst>
              <a:ext uri="{C183D7F6-B498-43B3-948B-1728B52AA6E4}">
                <adec:decorative xmlns:adec="http://schemas.microsoft.com/office/drawing/2017/decorative" val="1"/>
              </a:ext>
            </a:extLst>
          </p:cNvPr>
          <p:cNvSpPr/>
          <p:nvPr/>
        </p:nvSpPr>
        <p:spPr>
          <a:xfrm>
            <a:off x="566928" y="1965960"/>
            <a:ext cx="10607040" cy="91440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39" name="panel accent">
            <a:extLst>
              <a:ext uri="{C183D7F6-B498-43B3-948B-1728B52AA6E4}">
                <adec:decorative xmlns:adec="http://schemas.microsoft.com/office/drawing/2017/decorative" val="1"/>
              </a:ext>
            </a:extLst>
          </p:cNvPr>
          <p:cNvSpPr/>
          <p:nvPr/>
        </p:nvSpPr>
        <p:spPr>
          <a:xfrm>
            <a:off x="566928" y="1965960"/>
            <a:ext cx="50292" cy="914400"/>
          </a:xfrm>
          <a:prstGeom prst="rect">
            <a:avLst/>
          </a:prstGeom>
          <a:solidFill>
            <a:srgbClr val="3FE08A"/>
          </a:solidFill>
          <a:ln w="12700">
            <a:solidFill>
              <a:srgbClr val="333333"/>
            </a:solidFill>
            <a:prstDash val="solid"/>
          </a:ln>
        </p:spPr>
        <p:txBody>
          <a:bodyPr/>
          <a:lstStyle/>
          <a:p>
            <a:endParaRPr lang="en-SE"/>
          </a:p>
        </p:txBody>
      </p:sp>
      <p:sp>
        <p:nvSpPr>
          <p:cNvPr id="40" name="port number box">
            <a:extLst>
              <a:ext uri="{C183D7F6-B498-43B3-948B-1728B52AA6E4}">
                <adec:decorative xmlns:adec="http://schemas.microsoft.com/office/drawing/2017/decorative" val="1"/>
              </a:ext>
            </a:extLst>
          </p:cNvPr>
          <p:cNvSpPr/>
          <p:nvPr/>
        </p:nvSpPr>
        <p:spPr>
          <a:xfrm>
            <a:off x="868680" y="2148840"/>
            <a:ext cx="1188720" cy="548640"/>
          </a:xfrm>
          <a:prstGeom prst="rect">
            <a:avLst/>
          </a:prstGeom>
          <a:solidFill>
            <a:srgbClr val="191E23"/>
          </a:solidFill>
          <a:ln w="15875">
            <a:solidFill>
              <a:srgbClr val="3FE08A"/>
            </a:solidFill>
            <a:prstDash val="solid"/>
          </a:ln>
        </p:spPr>
        <p:txBody>
          <a:bodyPr/>
          <a:lstStyle/>
          <a:p>
            <a:endParaRPr lang="en-SE"/>
          </a:p>
        </p:txBody>
      </p:sp>
      <p:sp>
        <p:nvSpPr>
          <p:cNvPr id="41" name="Text 39"/>
          <p:cNvSpPr/>
          <p:nvPr/>
        </p:nvSpPr>
        <p:spPr>
          <a:xfrm>
            <a:off x="868680" y="2148840"/>
            <a:ext cx="1188720" cy="548640"/>
          </a:xfrm>
          <a:prstGeom prst="rect">
            <a:avLst/>
          </a:prstGeom>
          <a:noFill/>
          <a:ln/>
        </p:spPr>
        <p:txBody>
          <a:bodyPr wrap="square" lIns="0" tIns="0" rIns="0" bIns="0" rtlCol="0" anchor="ctr"/>
          <a:lstStyle/>
          <a:p>
            <a:pPr marL="0" indent="0" algn="ctr">
              <a:buNone/>
            </a:pPr>
            <a:r>
              <a:rPr lang="en-US" sz="1600" b="1" dirty="0">
                <a:solidFill>
                  <a:srgbClr val="3FE08A"/>
                </a:solidFill>
                <a:latin typeface="Consolas" pitchFamily="34" charset="0"/>
                <a:ea typeface="Consolas" pitchFamily="34" charset="-122"/>
                <a:cs typeface="Consolas" pitchFamily="34" charset="-120"/>
              </a:rPr>
              <a:t>8090</a:t>
            </a:r>
            <a:endParaRPr lang="en-US" sz="1600" dirty="0"/>
          </a:p>
        </p:txBody>
      </p:sp>
      <p:sp>
        <p:nvSpPr>
          <p:cNvPr id="42" name="Text 40"/>
          <p:cNvSpPr/>
          <p:nvPr/>
        </p:nvSpPr>
        <p:spPr>
          <a:xfrm>
            <a:off x="2286000" y="2093976"/>
            <a:ext cx="2651760" cy="320040"/>
          </a:xfrm>
          <a:prstGeom prst="rect">
            <a:avLst/>
          </a:prstGeom>
          <a:noFill/>
          <a:ln/>
        </p:spPr>
        <p:txBody>
          <a:bodyPr wrap="square" lIns="0" tIns="0" rIns="0" bIns="0" rtlCol="0" anchor="ctr"/>
          <a:lstStyle/>
          <a:p>
            <a:pPr marL="0" indent="0">
              <a:buNone/>
            </a:pPr>
            <a:r>
              <a:rPr lang="en-US" sz="1300" b="1" dirty="0">
                <a:solidFill>
                  <a:srgbClr val="E6EDF3"/>
                </a:solidFill>
                <a:latin typeface="Segoe UI" pitchFamily="34" charset="0"/>
                <a:ea typeface="Segoe UI" pitchFamily="34" charset="-122"/>
                <a:cs typeface="Segoe UI" pitchFamily="34" charset="-120"/>
              </a:rPr>
              <a:t>Terminal web UI</a:t>
            </a:r>
            <a:endParaRPr lang="en-US" sz="1300" dirty="0"/>
          </a:p>
        </p:txBody>
      </p:sp>
      <p:sp>
        <p:nvSpPr>
          <p:cNvPr id="43" name="Text 41"/>
          <p:cNvSpPr/>
          <p:nvPr/>
        </p:nvSpPr>
        <p:spPr>
          <a:xfrm>
            <a:off x="2286000" y="2423160"/>
            <a:ext cx="2651760" cy="320040"/>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Display machine → viewers' browsers</a:t>
            </a:r>
            <a:endParaRPr lang="en-US" sz="950" dirty="0"/>
          </a:p>
        </p:txBody>
      </p:sp>
      <p:sp>
        <p:nvSpPr>
          <p:cNvPr id="44" name="Text 42"/>
          <p:cNvSpPr/>
          <p:nvPr/>
        </p:nvSpPr>
        <p:spPr>
          <a:xfrm>
            <a:off x="5212080" y="2093976"/>
            <a:ext cx="5760720" cy="658368"/>
          </a:xfrm>
          <a:prstGeom prst="rect">
            <a:avLst/>
          </a:prstGeom>
          <a:noFill/>
          <a:ln/>
        </p:spPr>
        <p:txBody>
          <a:bodyPr wrap="square" lIns="0" tIns="0" rIns="0" bIns="0" rtlCol="0" anchor="ctr"/>
          <a:lstStyle/>
          <a:p>
            <a:pPr marL="0" indent="0">
              <a:lnSpc>
                <a:spcPct val="110000"/>
              </a:lnSpc>
              <a:buNone/>
            </a:pPr>
            <a:r>
              <a:rPr lang="en-US" sz="1100" dirty="0">
                <a:solidFill>
                  <a:srgbClr val="AAB7C2"/>
                </a:solidFill>
                <a:latin typeface="Segoe UI" pitchFamily="34" charset="0"/>
                <a:ea typeface="Segoe UI" pitchFamily="34" charset="-122"/>
                <a:cs typeface="Segoe UI" pitchFamily="34" charset="-120"/>
              </a:rPr>
              <a:t>The only port a viewer needs. Serves the page, the live data stream and the history proxy.</a:t>
            </a:r>
            <a:endParaRPr lang="en-US" sz="1100" dirty="0"/>
          </a:p>
        </p:txBody>
      </p:sp>
      <p:sp>
        <p:nvSpPr>
          <p:cNvPr id="45" name="panel">
            <a:extLst>
              <a:ext uri="{C183D7F6-B498-43B3-948B-1728B52AA6E4}">
                <adec:decorative xmlns:adec="http://schemas.microsoft.com/office/drawing/2017/decorative" val="1"/>
              </a:ext>
            </a:extLst>
          </p:cNvPr>
          <p:cNvSpPr/>
          <p:nvPr/>
        </p:nvSpPr>
        <p:spPr>
          <a:xfrm>
            <a:off x="566928" y="3017520"/>
            <a:ext cx="10607040" cy="91440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46" name="panel accent">
            <a:extLst>
              <a:ext uri="{C183D7F6-B498-43B3-948B-1728B52AA6E4}">
                <adec:decorative xmlns:adec="http://schemas.microsoft.com/office/drawing/2017/decorative" val="1"/>
              </a:ext>
            </a:extLst>
          </p:cNvPr>
          <p:cNvSpPr/>
          <p:nvPr/>
        </p:nvSpPr>
        <p:spPr>
          <a:xfrm>
            <a:off x="566928" y="3017520"/>
            <a:ext cx="50292" cy="914400"/>
          </a:xfrm>
          <a:prstGeom prst="rect">
            <a:avLst/>
          </a:prstGeom>
          <a:solidFill>
            <a:srgbClr val="3FE08A"/>
          </a:solidFill>
          <a:ln w="12700">
            <a:solidFill>
              <a:srgbClr val="333333"/>
            </a:solidFill>
            <a:prstDash val="solid"/>
          </a:ln>
        </p:spPr>
        <p:txBody>
          <a:bodyPr/>
          <a:lstStyle/>
          <a:p>
            <a:endParaRPr lang="en-SE"/>
          </a:p>
        </p:txBody>
      </p:sp>
      <p:sp>
        <p:nvSpPr>
          <p:cNvPr id="47" name="port number box">
            <a:extLst>
              <a:ext uri="{C183D7F6-B498-43B3-948B-1728B52AA6E4}">
                <adec:decorative xmlns:adec="http://schemas.microsoft.com/office/drawing/2017/decorative" val="1"/>
              </a:ext>
            </a:extLst>
          </p:cNvPr>
          <p:cNvSpPr/>
          <p:nvPr/>
        </p:nvSpPr>
        <p:spPr>
          <a:xfrm>
            <a:off x="868680" y="3200400"/>
            <a:ext cx="1188720" cy="548640"/>
          </a:xfrm>
          <a:prstGeom prst="rect">
            <a:avLst/>
          </a:prstGeom>
          <a:solidFill>
            <a:srgbClr val="191E23"/>
          </a:solidFill>
          <a:ln w="15875">
            <a:solidFill>
              <a:srgbClr val="3FE08A"/>
            </a:solidFill>
            <a:prstDash val="solid"/>
          </a:ln>
        </p:spPr>
        <p:txBody>
          <a:bodyPr/>
          <a:lstStyle/>
          <a:p>
            <a:endParaRPr lang="en-SE"/>
          </a:p>
        </p:txBody>
      </p:sp>
      <p:sp>
        <p:nvSpPr>
          <p:cNvPr id="48" name="Text 46"/>
          <p:cNvSpPr/>
          <p:nvPr/>
        </p:nvSpPr>
        <p:spPr>
          <a:xfrm>
            <a:off x="868680" y="3200400"/>
            <a:ext cx="1188720" cy="548640"/>
          </a:xfrm>
          <a:prstGeom prst="rect">
            <a:avLst/>
          </a:prstGeom>
          <a:noFill/>
          <a:ln/>
        </p:spPr>
        <p:txBody>
          <a:bodyPr wrap="square" lIns="0" tIns="0" rIns="0" bIns="0" rtlCol="0" anchor="ctr"/>
          <a:lstStyle/>
          <a:p>
            <a:pPr marL="0" indent="0" algn="ctr">
              <a:buNone/>
            </a:pPr>
            <a:r>
              <a:rPr lang="en-US" sz="1600" b="1" dirty="0">
                <a:solidFill>
                  <a:srgbClr val="3FE08A"/>
                </a:solidFill>
                <a:latin typeface="Consolas" pitchFamily="34" charset="0"/>
                <a:ea typeface="Consolas" pitchFamily="34" charset="-122"/>
                <a:cs typeface="Consolas" pitchFamily="34" charset="-120"/>
              </a:rPr>
              <a:t>5570</a:t>
            </a:r>
            <a:endParaRPr lang="en-US" sz="1600" dirty="0"/>
          </a:p>
        </p:txBody>
      </p:sp>
      <p:sp>
        <p:nvSpPr>
          <p:cNvPr id="49" name="Text 47"/>
          <p:cNvSpPr/>
          <p:nvPr/>
        </p:nvSpPr>
        <p:spPr>
          <a:xfrm>
            <a:off x="2286000" y="3145536"/>
            <a:ext cx="2651760" cy="320040"/>
          </a:xfrm>
          <a:prstGeom prst="rect">
            <a:avLst/>
          </a:prstGeom>
          <a:noFill/>
          <a:ln/>
        </p:spPr>
        <p:txBody>
          <a:bodyPr wrap="square" lIns="0" tIns="0" rIns="0" bIns="0" rtlCol="0" anchor="ctr"/>
          <a:lstStyle/>
          <a:p>
            <a:pPr marL="0" indent="0">
              <a:buNone/>
            </a:pPr>
            <a:r>
              <a:rPr lang="en-US" sz="1300" b="1" dirty="0">
                <a:solidFill>
                  <a:srgbClr val="E6EDF3"/>
                </a:solidFill>
                <a:latin typeface="Segoe UI" pitchFamily="34" charset="0"/>
                <a:ea typeface="Segoe UI" pitchFamily="34" charset="-122"/>
                <a:cs typeface="Segoe UI" pitchFamily="34" charset="-120"/>
              </a:rPr>
              <a:t>Market-data feed</a:t>
            </a:r>
            <a:endParaRPr lang="en-US" sz="1300" dirty="0"/>
          </a:p>
        </p:txBody>
      </p:sp>
      <p:sp>
        <p:nvSpPr>
          <p:cNvPr id="50" name="Text 48"/>
          <p:cNvSpPr/>
          <p:nvPr/>
        </p:nvSpPr>
        <p:spPr>
          <a:xfrm>
            <a:off x="2286000" y="3474720"/>
            <a:ext cx="2651760" cy="320040"/>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Terminal bridge → exchange</a:t>
            </a:r>
            <a:endParaRPr lang="en-US" sz="950" dirty="0"/>
          </a:p>
        </p:txBody>
      </p:sp>
      <p:sp>
        <p:nvSpPr>
          <p:cNvPr id="51" name="Text 49"/>
          <p:cNvSpPr/>
          <p:nvPr/>
        </p:nvSpPr>
        <p:spPr>
          <a:xfrm>
            <a:off x="5212080" y="3145536"/>
            <a:ext cx="5760720" cy="658368"/>
          </a:xfrm>
          <a:prstGeom prst="rect">
            <a:avLst/>
          </a:prstGeom>
          <a:noFill/>
          <a:ln/>
        </p:spPr>
        <p:txBody>
          <a:bodyPr wrap="square" lIns="0" tIns="0" rIns="0" bIns="0" rtlCol="0" anchor="ctr"/>
          <a:lstStyle/>
          <a:p>
            <a:pPr marL="0" indent="0">
              <a:lnSpc>
                <a:spcPct val="110000"/>
              </a:lnSpc>
              <a:buNone/>
            </a:pPr>
            <a:r>
              <a:rPr lang="en-US" sz="1100" dirty="0">
                <a:solidFill>
                  <a:srgbClr val="AAB7C2"/>
                </a:solidFill>
                <a:latin typeface="Segoe UI" pitchFamily="34" charset="0"/>
                <a:ea typeface="Segoe UI" pitchFamily="34" charset="-122"/>
                <a:cs typeface="Segoe UI" pitchFamily="34" charset="-120"/>
              </a:rPr>
              <a:t>The live feed. Without this, every screen sits on RECONNECTING.</a:t>
            </a:r>
            <a:endParaRPr lang="en-US" sz="1100" dirty="0"/>
          </a:p>
        </p:txBody>
      </p:sp>
      <p:sp>
        <p:nvSpPr>
          <p:cNvPr id="52" name="panel">
            <a:extLst>
              <a:ext uri="{C183D7F6-B498-43B3-948B-1728B52AA6E4}">
                <adec:decorative xmlns:adec="http://schemas.microsoft.com/office/drawing/2017/decorative" val="1"/>
              </a:ext>
            </a:extLst>
          </p:cNvPr>
          <p:cNvSpPr/>
          <p:nvPr/>
        </p:nvSpPr>
        <p:spPr>
          <a:xfrm>
            <a:off x="566928" y="4069080"/>
            <a:ext cx="10607040" cy="91440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53" name="panel accent">
            <a:extLst>
              <a:ext uri="{C183D7F6-B498-43B3-948B-1728B52AA6E4}">
                <adec:decorative xmlns:adec="http://schemas.microsoft.com/office/drawing/2017/decorative" val="1"/>
              </a:ext>
            </a:extLst>
          </p:cNvPr>
          <p:cNvSpPr/>
          <p:nvPr/>
        </p:nvSpPr>
        <p:spPr>
          <a:xfrm>
            <a:off x="566928" y="4069080"/>
            <a:ext cx="50292" cy="914400"/>
          </a:xfrm>
          <a:prstGeom prst="rect">
            <a:avLst/>
          </a:prstGeom>
          <a:solidFill>
            <a:srgbClr val="F5A524"/>
          </a:solidFill>
          <a:ln w="12700">
            <a:solidFill>
              <a:srgbClr val="333333"/>
            </a:solidFill>
            <a:prstDash val="solid"/>
          </a:ln>
        </p:spPr>
        <p:txBody>
          <a:bodyPr/>
          <a:lstStyle/>
          <a:p>
            <a:endParaRPr lang="en-SE"/>
          </a:p>
        </p:txBody>
      </p:sp>
      <p:sp>
        <p:nvSpPr>
          <p:cNvPr id="54" name="port number box">
            <a:extLst>
              <a:ext uri="{C183D7F6-B498-43B3-948B-1728B52AA6E4}">
                <adec:decorative xmlns:adec="http://schemas.microsoft.com/office/drawing/2017/decorative" val="1"/>
              </a:ext>
            </a:extLst>
          </p:cNvPr>
          <p:cNvSpPr/>
          <p:nvPr/>
        </p:nvSpPr>
        <p:spPr>
          <a:xfrm>
            <a:off x="868680" y="4251960"/>
            <a:ext cx="1188720" cy="548640"/>
          </a:xfrm>
          <a:prstGeom prst="rect">
            <a:avLst/>
          </a:prstGeom>
          <a:solidFill>
            <a:srgbClr val="191E23"/>
          </a:solidFill>
          <a:ln w="15875">
            <a:solidFill>
              <a:srgbClr val="F5A524"/>
            </a:solidFill>
            <a:prstDash val="solid"/>
          </a:ln>
        </p:spPr>
        <p:txBody>
          <a:bodyPr/>
          <a:lstStyle/>
          <a:p>
            <a:endParaRPr lang="en-SE"/>
          </a:p>
        </p:txBody>
      </p:sp>
      <p:sp>
        <p:nvSpPr>
          <p:cNvPr id="55" name="Text 53"/>
          <p:cNvSpPr/>
          <p:nvPr/>
        </p:nvSpPr>
        <p:spPr>
          <a:xfrm>
            <a:off x="868680" y="4251960"/>
            <a:ext cx="1188720" cy="548640"/>
          </a:xfrm>
          <a:prstGeom prst="rect">
            <a:avLst/>
          </a:prstGeom>
          <a:noFill/>
          <a:ln/>
        </p:spPr>
        <p:txBody>
          <a:bodyPr wrap="square" lIns="0" tIns="0" rIns="0" bIns="0" rtlCol="0" anchor="ctr"/>
          <a:lstStyle/>
          <a:p>
            <a:pPr marL="0" indent="0" algn="ctr">
              <a:buNone/>
            </a:pPr>
            <a:r>
              <a:rPr lang="en-US" sz="1600" b="1" dirty="0">
                <a:solidFill>
                  <a:srgbClr val="F5A524"/>
                </a:solidFill>
                <a:latin typeface="Consolas" pitchFamily="34" charset="0"/>
                <a:ea typeface="Consolas" pitchFamily="34" charset="-122"/>
                <a:cs typeface="Consolas" pitchFamily="34" charset="-120"/>
              </a:rPr>
              <a:t>8080</a:t>
            </a:r>
            <a:endParaRPr lang="en-US" sz="1600" dirty="0"/>
          </a:p>
        </p:txBody>
      </p:sp>
      <p:sp>
        <p:nvSpPr>
          <p:cNvPr id="56" name="Text 54"/>
          <p:cNvSpPr/>
          <p:nvPr/>
        </p:nvSpPr>
        <p:spPr>
          <a:xfrm>
            <a:off x="2286000" y="4197096"/>
            <a:ext cx="2651760" cy="320040"/>
          </a:xfrm>
          <a:prstGeom prst="rect">
            <a:avLst/>
          </a:prstGeom>
          <a:noFill/>
          <a:ln/>
        </p:spPr>
        <p:txBody>
          <a:bodyPr wrap="square" lIns="0" tIns="0" rIns="0" bIns="0" rtlCol="0" anchor="ctr"/>
          <a:lstStyle/>
          <a:p>
            <a:pPr marL="0" indent="0">
              <a:buNone/>
            </a:pPr>
            <a:r>
              <a:rPr lang="en-US" sz="1300" b="1" dirty="0">
                <a:solidFill>
                  <a:srgbClr val="E6EDF3"/>
                </a:solidFill>
                <a:latin typeface="Segoe UI" pitchFamily="34" charset="0"/>
                <a:ea typeface="Segoe UI" pitchFamily="34" charset="-122"/>
                <a:cs typeface="Segoe UI" pitchFamily="34" charset="-120"/>
              </a:rPr>
              <a:t>History / API gateway</a:t>
            </a:r>
            <a:endParaRPr lang="en-US" sz="1300" dirty="0"/>
          </a:p>
        </p:txBody>
      </p:sp>
      <p:sp>
        <p:nvSpPr>
          <p:cNvPr id="57" name="Text 55"/>
          <p:cNvSpPr/>
          <p:nvPr/>
        </p:nvSpPr>
        <p:spPr>
          <a:xfrm>
            <a:off x="2286000" y="4526280"/>
            <a:ext cx="2651760" cy="320040"/>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Terminal bridge → exchange</a:t>
            </a:r>
            <a:endParaRPr lang="en-US" sz="950" dirty="0"/>
          </a:p>
        </p:txBody>
      </p:sp>
      <p:sp>
        <p:nvSpPr>
          <p:cNvPr id="58" name="Text 56"/>
          <p:cNvSpPr/>
          <p:nvPr/>
        </p:nvSpPr>
        <p:spPr>
          <a:xfrm>
            <a:off x="5212080" y="4197096"/>
            <a:ext cx="5760720" cy="658368"/>
          </a:xfrm>
          <a:prstGeom prst="rect">
            <a:avLst/>
          </a:prstGeom>
          <a:noFill/>
          <a:ln/>
        </p:spPr>
        <p:txBody>
          <a:bodyPr wrap="square" lIns="0" tIns="0" rIns="0" bIns="0" rtlCol="0" anchor="ctr"/>
          <a:lstStyle/>
          <a:p>
            <a:pPr marL="0" indent="0">
              <a:lnSpc>
                <a:spcPct val="110000"/>
              </a:lnSpc>
              <a:buNone/>
            </a:pPr>
            <a:r>
              <a:rPr lang="en-US" sz="1100" dirty="0">
                <a:solidFill>
                  <a:srgbClr val="AAB7C2"/>
                </a:solidFill>
                <a:latin typeface="Segoe UI" pitchFamily="34" charset="0"/>
                <a:ea typeface="Segoe UI" pitchFamily="34" charset="-122"/>
                <a:cs typeface="Segoe UI" pitchFamily="34" charset="-120"/>
              </a:rPr>
              <a:t>Charts, previous close, index history, and the Open / Volume / Turnover columns.</a:t>
            </a:r>
            <a:endParaRPr lang="en-US" sz="1100" dirty="0"/>
          </a:p>
        </p:txBody>
      </p:sp>
      <p:sp>
        <p:nvSpPr>
          <p:cNvPr id="59" name="panel">
            <a:extLst>
              <a:ext uri="{C183D7F6-B498-43B3-948B-1728B52AA6E4}">
                <adec:decorative xmlns:adec="http://schemas.microsoft.com/office/drawing/2017/decorative" val="1"/>
              </a:ext>
            </a:extLst>
          </p:cNvPr>
          <p:cNvSpPr/>
          <p:nvPr/>
        </p:nvSpPr>
        <p:spPr>
          <a:xfrm>
            <a:off x="566928" y="5120640"/>
            <a:ext cx="10607040" cy="91440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60" name="panel accent">
            <a:extLst>
              <a:ext uri="{C183D7F6-B498-43B3-948B-1728B52AA6E4}">
                <adec:decorative xmlns:adec="http://schemas.microsoft.com/office/drawing/2017/decorative" val="1"/>
              </a:ext>
            </a:extLst>
          </p:cNvPr>
          <p:cNvSpPr/>
          <p:nvPr/>
        </p:nvSpPr>
        <p:spPr>
          <a:xfrm>
            <a:off x="566928" y="5120640"/>
            <a:ext cx="50292" cy="914400"/>
          </a:xfrm>
          <a:prstGeom prst="rect">
            <a:avLst/>
          </a:prstGeom>
          <a:solidFill>
            <a:srgbClr val="7C8B97"/>
          </a:solidFill>
          <a:ln w="12700">
            <a:solidFill>
              <a:srgbClr val="333333"/>
            </a:solidFill>
            <a:prstDash val="solid"/>
          </a:ln>
        </p:spPr>
        <p:txBody>
          <a:bodyPr/>
          <a:lstStyle/>
          <a:p>
            <a:endParaRPr lang="en-SE"/>
          </a:p>
        </p:txBody>
      </p:sp>
      <p:sp>
        <p:nvSpPr>
          <p:cNvPr id="61" name="port number box">
            <a:extLst>
              <a:ext uri="{C183D7F6-B498-43B3-948B-1728B52AA6E4}">
                <adec:decorative xmlns:adec="http://schemas.microsoft.com/office/drawing/2017/decorative" val="1"/>
              </a:ext>
            </a:extLst>
          </p:cNvPr>
          <p:cNvSpPr/>
          <p:nvPr/>
        </p:nvSpPr>
        <p:spPr>
          <a:xfrm>
            <a:off x="868680" y="5303520"/>
            <a:ext cx="1188720" cy="548640"/>
          </a:xfrm>
          <a:prstGeom prst="rect">
            <a:avLst/>
          </a:prstGeom>
          <a:solidFill>
            <a:srgbClr val="191E23"/>
          </a:solidFill>
          <a:ln w="15875">
            <a:solidFill>
              <a:srgbClr val="7C8B97"/>
            </a:solidFill>
            <a:prstDash val="solid"/>
          </a:ln>
        </p:spPr>
        <p:txBody>
          <a:bodyPr/>
          <a:lstStyle/>
          <a:p>
            <a:endParaRPr lang="en-SE"/>
          </a:p>
        </p:txBody>
      </p:sp>
      <p:sp>
        <p:nvSpPr>
          <p:cNvPr id="62" name="Text 60"/>
          <p:cNvSpPr/>
          <p:nvPr/>
        </p:nvSpPr>
        <p:spPr>
          <a:xfrm>
            <a:off x="868680" y="5303520"/>
            <a:ext cx="1188720" cy="548640"/>
          </a:xfrm>
          <a:prstGeom prst="rect">
            <a:avLst/>
          </a:prstGeom>
          <a:noFill/>
          <a:ln/>
        </p:spPr>
        <p:txBody>
          <a:bodyPr wrap="square" lIns="0" tIns="0" rIns="0" bIns="0" rtlCol="0" anchor="ctr"/>
          <a:lstStyle/>
          <a:p>
            <a:pPr marL="0" indent="0" algn="ctr">
              <a:buNone/>
            </a:pPr>
            <a:r>
              <a:rPr lang="en-US" sz="1600" b="1" dirty="0">
                <a:solidFill>
                  <a:srgbClr val="7C8B97"/>
                </a:solidFill>
                <a:latin typeface="Consolas" pitchFamily="34" charset="0"/>
                <a:ea typeface="Consolas" pitchFamily="34" charset="-122"/>
                <a:cs typeface="Consolas" pitchFamily="34" charset="-120"/>
              </a:rPr>
              <a:t>5600</a:t>
            </a:r>
            <a:endParaRPr lang="en-US" sz="1600" dirty="0"/>
          </a:p>
        </p:txBody>
      </p:sp>
      <p:sp>
        <p:nvSpPr>
          <p:cNvPr id="63" name="Text 61"/>
          <p:cNvSpPr/>
          <p:nvPr/>
        </p:nvSpPr>
        <p:spPr>
          <a:xfrm>
            <a:off x="2286000" y="5248656"/>
            <a:ext cx="2651760" cy="320040"/>
          </a:xfrm>
          <a:prstGeom prst="rect">
            <a:avLst/>
          </a:prstGeom>
          <a:noFill/>
          <a:ln/>
        </p:spPr>
        <p:txBody>
          <a:bodyPr wrap="square" lIns="0" tIns="0" rIns="0" bIns="0" rtlCol="0" anchor="ctr"/>
          <a:lstStyle/>
          <a:p>
            <a:pPr marL="0" indent="0">
              <a:buNone/>
            </a:pPr>
            <a:r>
              <a:rPr lang="en-US" sz="1300" b="1" dirty="0">
                <a:solidFill>
                  <a:srgbClr val="E6EDF3"/>
                </a:solidFill>
                <a:latin typeface="Segoe UI" pitchFamily="34" charset="0"/>
                <a:ea typeface="Segoe UI" pitchFamily="34" charset="-122"/>
                <a:cs typeface="Segoe UI" pitchFamily="34" charset="-120"/>
              </a:rPr>
              <a:t>Log server</a:t>
            </a:r>
            <a:endParaRPr lang="en-US" sz="1300" dirty="0"/>
          </a:p>
        </p:txBody>
      </p:sp>
      <p:sp>
        <p:nvSpPr>
          <p:cNvPr id="64" name="Text 62"/>
          <p:cNvSpPr/>
          <p:nvPr/>
        </p:nvSpPr>
        <p:spPr>
          <a:xfrm>
            <a:off x="2286000" y="5577840"/>
            <a:ext cx="2651760" cy="320040"/>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Terminal bridge → log host</a:t>
            </a:r>
            <a:endParaRPr lang="en-US" sz="950" dirty="0"/>
          </a:p>
        </p:txBody>
      </p:sp>
      <p:sp>
        <p:nvSpPr>
          <p:cNvPr id="65" name="Text 63"/>
          <p:cNvSpPr/>
          <p:nvPr/>
        </p:nvSpPr>
        <p:spPr>
          <a:xfrm>
            <a:off x="5212080" y="5248656"/>
            <a:ext cx="5760720" cy="658368"/>
          </a:xfrm>
          <a:prstGeom prst="rect">
            <a:avLst/>
          </a:prstGeom>
          <a:noFill/>
          <a:ln/>
        </p:spPr>
        <p:txBody>
          <a:bodyPr wrap="square" lIns="0" tIns="0" rIns="0" bIns="0" rtlCol="0" anchor="ctr"/>
          <a:lstStyle/>
          <a:p>
            <a:pPr marL="0" indent="0">
              <a:lnSpc>
                <a:spcPct val="110000"/>
              </a:lnSpc>
              <a:buNone/>
            </a:pPr>
            <a:r>
              <a:rPr lang="en-US" sz="1100" dirty="0">
                <a:solidFill>
                  <a:srgbClr val="AAB7C2"/>
                </a:solidFill>
                <a:latin typeface="Segoe UI" pitchFamily="34" charset="0"/>
                <a:ea typeface="Segoe UI" pitchFamily="34" charset="-122"/>
                <a:cs typeface="Segoe UI" pitchFamily="34" charset="-120"/>
              </a:rPr>
              <a:t>Optional. Only carries the terminal's own operational logs — no market data.</a:t>
            </a:r>
            <a:endParaRPr lang="en-US" sz="1100" dirty="0"/>
          </a:p>
        </p:txBody>
      </p:sp>
      <p:sp>
        <p:nvSpPr>
          <p:cNvPr id="66" name="note background">
            <a:extLst>
              <a:ext uri="{C183D7F6-B498-43B3-948B-1728B52AA6E4}">
                <adec:decorative xmlns:adec="http://schemas.microsoft.com/office/drawing/2017/decorative" val="1"/>
              </a:ext>
            </a:extLst>
          </p:cNvPr>
          <p:cNvSpPr/>
          <p:nvPr/>
        </p:nvSpPr>
        <p:spPr>
          <a:xfrm>
            <a:off x="566928" y="6053328"/>
            <a:ext cx="10607040" cy="329184"/>
          </a:xfrm>
          <a:prstGeom prst="rect">
            <a:avLst/>
          </a:prstGeom>
          <a:solidFill>
            <a:srgbClr val="273037"/>
          </a:solidFill>
          <a:ln w="12700">
            <a:solidFill>
              <a:srgbClr val="333333"/>
            </a:solidFill>
            <a:prstDash val="solid"/>
          </a:ln>
        </p:spPr>
        <p:txBody>
          <a:bodyPr/>
          <a:lstStyle/>
          <a:p>
            <a:endParaRPr lang="en-SE"/>
          </a:p>
        </p:txBody>
      </p:sp>
      <p:sp>
        <p:nvSpPr>
          <p:cNvPr id="67" name="Text 65"/>
          <p:cNvSpPr/>
          <p:nvPr/>
        </p:nvSpPr>
        <p:spPr>
          <a:xfrm>
            <a:off x="777240" y="6053328"/>
            <a:ext cx="10241280" cy="329184"/>
          </a:xfrm>
          <a:prstGeom prst="rect">
            <a:avLst/>
          </a:prstGeom>
          <a:noFill/>
          <a:ln/>
        </p:spPr>
        <p:txBody>
          <a:bodyPr wrap="square" lIns="0" tIns="0" rIns="0" bIns="0" rtlCol="0" anchor="ctr"/>
          <a:lstStyle/>
          <a:p>
            <a:pPr marL="0" indent="0">
              <a:buNone/>
            </a:pPr>
            <a:r>
              <a:rPr lang="en-US" sz="1100" dirty="0">
                <a:solidFill>
                  <a:srgbClr val="AAB7C2"/>
                </a:solidFill>
                <a:latin typeface="Segoe UI" pitchFamily="34" charset="0"/>
                <a:ea typeface="Segoe UI" pitchFamily="34" charset="-122"/>
                <a:cs typeface="Segoe UI" pitchFamily="34" charset="-120"/>
              </a:rPr>
              <a:t>Viewers' browsers never talk to the exchange gateways at all — only to the display machine. That is a security property of the design, not a coincidence.</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Screenshot checklist</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07 · TECHNICAL REFERENCE</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51</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Every placeholder in this deck, in one list — capture these in dark theme, at a wide window size.</a:t>
            </a:r>
            <a:endParaRPr lang="en-US" sz="1400" dirty="0"/>
          </a:p>
        </p:txBody>
      </p:sp>
      <p:sp>
        <p:nvSpPr>
          <p:cNvPr id="38" name="row background">
            <a:extLst>
              <a:ext uri="{C183D7F6-B498-43B3-948B-1728B52AA6E4}">
                <adec:decorative xmlns:adec="http://schemas.microsoft.com/office/drawing/2017/decorative" val="1"/>
              </a:ext>
            </a:extLst>
          </p:cNvPr>
          <p:cNvSpPr/>
          <p:nvPr/>
        </p:nvSpPr>
        <p:spPr>
          <a:xfrm>
            <a:off x="566928" y="1783080"/>
            <a:ext cx="5166360" cy="841248"/>
          </a:xfrm>
          <a:prstGeom prst="rect">
            <a:avLst/>
          </a:prstGeom>
          <a:solidFill>
            <a:srgbClr val="20272D"/>
          </a:solidFill>
          <a:ln w="12700">
            <a:solidFill>
              <a:srgbClr val="333333"/>
            </a:solidFill>
            <a:prstDash val="solid"/>
          </a:ln>
        </p:spPr>
        <p:txBody>
          <a:bodyPr/>
          <a:lstStyle/>
          <a:p>
            <a:endParaRPr lang="en-SE"/>
          </a:p>
        </p:txBody>
      </p:sp>
      <p:sp>
        <p:nvSpPr>
          <p:cNvPr id="39" name="figure number box">
            <a:extLst>
              <a:ext uri="{C183D7F6-B498-43B3-948B-1728B52AA6E4}">
                <adec:decorative xmlns:adec="http://schemas.microsoft.com/office/drawing/2017/decorative" val="1"/>
              </a:ext>
            </a:extLst>
          </p:cNvPr>
          <p:cNvSpPr/>
          <p:nvPr/>
        </p:nvSpPr>
        <p:spPr>
          <a:xfrm>
            <a:off x="713232" y="1965960"/>
            <a:ext cx="502920" cy="475488"/>
          </a:xfrm>
          <a:prstGeom prst="rect">
            <a:avLst/>
          </a:prstGeom>
          <a:solidFill>
            <a:srgbClr val="122C22"/>
          </a:solidFill>
          <a:ln w="12700">
            <a:solidFill>
              <a:srgbClr val="3FE08A"/>
            </a:solidFill>
            <a:prstDash val="solid"/>
          </a:ln>
        </p:spPr>
        <p:txBody>
          <a:bodyPr/>
          <a:lstStyle/>
          <a:p>
            <a:endParaRPr lang="en-SE"/>
          </a:p>
        </p:txBody>
      </p:sp>
      <p:sp>
        <p:nvSpPr>
          <p:cNvPr id="40" name="Text 38"/>
          <p:cNvSpPr/>
          <p:nvPr/>
        </p:nvSpPr>
        <p:spPr>
          <a:xfrm>
            <a:off x="713232" y="1965960"/>
            <a:ext cx="502920" cy="475488"/>
          </a:xfrm>
          <a:prstGeom prst="rect">
            <a:avLst/>
          </a:prstGeom>
          <a:noFill/>
          <a:ln/>
        </p:spPr>
        <p:txBody>
          <a:bodyPr wrap="square" lIns="0" tIns="0" rIns="0" bIns="0" rtlCol="0" anchor="ctr"/>
          <a:lstStyle/>
          <a:p>
            <a:pPr marL="0" indent="0" algn="ctr">
              <a:buNone/>
            </a:pPr>
            <a:r>
              <a:rPr lang="en-US" sz="1100" b="1" dirty="0">
                <a:solidFill>
                  <a:srgbClr val="3FE08A"/>
                </a:solidFill>
                <a:latin typeface="Consolas" pitchFamily="34" charset="0"/>
                <a:ea typeface="Consolas" pitchFamily="34" charset="-122"/>
                <a:cs typeface="Consolas" pitchFamily="34" charset="-120"/>
              </a:rPr>
              <a:t>1</a:t>
            </a:r>
            <a:endParaRPr lang="en-US" sz="1100" dirty="0"/>
          </a:p>
        </p:txBody>
      </p:sp>
      <p:sp>
        <p:nvSpPr>
          <p:cNvPr id="41" name="Text 39"/>
          <p:cNvSpPr/>
          <p:nvPr/>
        </p:nvSpPr>
        <p:spPr>
          <a:xfrm>
            <a:off x="1344168" y="1892808"/>
            <a:ext cx="4206240" cy="274320"/>
          </a:xfrm>
          <a:prstGeom prst="rect">
            <a:avLst/>
          </a:prstGeom>
          <a:noFill/>
          <a:ln/>
        </p:spPr>
        <p:txBody>
          <a:bodyPr wrap="square" lIns="0" tIns="0" rIns="0" bIns="0" rtlCol="0" anchor="ctr"/>
          <a:lstStyle/>
          <a:p>
            <a:pPr marL="0" indent="0">
              <a:buNone/>
            </a:pPr>
            <a:r>
              <a:rPr lang="en-US" sz="1200" b="1" dirty="0">
                <a:solidFill>
                  <a:srgbClr val="E6EDF3"/>
                </a:solidFill>
                <a:latin typeface="Segoe UI" pitchFamily="34" charset="0"/>
                <a:ea typeface="Segoe UI" pitchFamily="34" charset="-122"/>
                <a:cs typeface="Segoe UI" pitchFamily="34" charset="-120"/>
              </a:rPr>
              <a:t>App shell</a:t>
            </a:r>
            <a:endParaRPr lang="en-US" sz="1200" dirty="0"/>
          </a:p>
        </p:txBody>
      </p:sp>
      <p:sp>
        <p:nvSpPr>
          <p:cNvPr id="42" name="Text 40"/>
          <p:cNvSpPr/>
          <p:nvPr/>
        </p:nvSpPr>
        <p:spPr>
          <a:xfrm>
            <a:off x="1344168" y="2148840"/>
            <a:ext cx="4206240" cy="457200"/>
          </a:xfrm>
          <a:prstGeom prst="rect">
            <a:avLst/>
          </a:prstGeom>
          <a:noFill/>
          <a:ln/>
        </p:spPr>
        <p:txBody>
          <a:bodyPr wrap="square" lIns="0" tIns="0" rIns="0" bIns="0" rtlCol="0" anchor="ctr"/>
          <a:lstStyle/>
          <a:p>
            <a:pPr marL="0" indent="0">
              <a:lnSpc>
                <a:spcPct val="105000"/>
              </a:lnSpc>
              <a:buNone/>
            </a:pPr>
            <a:r>
              <a:rPr lang="en-US" sz="950" dirty="0">
                <a:solidFill>
                  <a:srgbClr val="AAB7C2"/>
                </a:solidFill>
                <a:latin typeface="Segoe UI" pitchFamily="34" charset="0"/>
                <a:ea typeface="Segoe UI" pitchFamily="34" charset="-122"/>
                <a:cs typeface="Segoe UI" pitchFamily="34" charset="-120"/>
              </a:rPr>
              <a:t>Overview screen showing the full frame: top bar, all six tabs, density and theme toggles, connection indicator, footer status strip.</a:t>
            </a:r>
            <a:endParaRPr lang="en-US" sz="950" dirty="0"/>
          </a:p>
        </p:txBody>
      </p:sp>
      <p:sp>
        <p:nvSpPr>
          <p:cNvPr id="43" name="row background">
            <a:extLst>
              <a:ext uri="{C183D7F6-B498-43B3-948B-1728B52AA6E4}">
                <adec:decorative xmlns:adec="http://schemas.microsoft.com/office/drawing/2017/decorative" val="1"/>
              </a:ext>
            </a:extLst>
          </p:cNvPr>
          <p:cNvSpPr/>
          <p:nvPr/>
        </p:nvSpPr>
        <p:spPr>
          <a:xfrm>
            <a:off x="6007608" y="1783080"/>
            <a:ext cx="5166360" cy="841248"/>
          </a:xfrm>
          <a:prstGeom prst="rect">
            <a:avLst/>
          </a:prstGeom>
          <a:solidFill>
            <a:srgbClr val="20272D"/>
          </a:solidFill>
          <a:ln w="12700">
            <a:solidFill>
              <a:srgbClr val="333333"/>
            </a:solidFill>
            <a:prstDash val="solid"/>
          </a:ln>
        </p:spPr>
        <p:txBody>
          <a:bodyPr/>
          <a:lstStyle/>
          <a:p>
            <a:endParaRPr lang="en-SE"/>
          </a:p>
        </p:txBody>
      </p:sp>
      <p:sp>
        <p:nvSpPr>
          <p:cNvPr id="44" name="figure number box">
            <a:extLst>
              <a:ext uri="{C183D7F6-B498-43B3-948B-1728B52AA6E4}">
                <adec:decorative xmlns:adec="http://schemas.microsoft.com/office/drawing/2017/decorative" val="1"/>
              </a:ext>
            </a:extLst>
          </p:cNvPr>
          <p:cNvSpPr/>
          <p:nvPr/>
        </p:nvSpPr>
        <p:spPr>
          <a:xfrm>
            <a:off x="6153912" y="1965960"/>
            <a:ext cx="502920" cy="475488"/>
          </a:xfrm>
          <a:prstGeom prst="rect">
            <a:avLst/>
          </a:prstGeom>
          <a:solidFill>
            <a:srgbClr val="122C22"/>
          </a:solidFill>
          <a:ln w="12700">
            <a:solidFill>
              <a:srgbClr val="3FE08A"/>
            </a:solidFill>
            <a:prstDash val="solid"/>
          </a:ln>
        </p:spPr>
        <p:txBody>
          <a:bodyPr/>
          <a:lstStyle/>
          <a:p>
            <a:endParaRPr lang="en-SE"/>
          </a:p>
        </p:txBody>
      </p:sp>
      <p:sp>
        <p:nvSpPr>
          <p:cNvPr id="45" name="Text 43"/>
          <p:cNvSpPr/>
          <p:nvPr/>
        </p:nvSpPr>
        <p:spPr>
          <a:xfrm>
            <a:off x="6153912" y="1965960"/>
            <a:ext cx="502920" cy="475488"/>
          </a:xfrm>
          <a:prstGeom prst="rect">
            <a:avLst/>
          </a:prstGeom>
          <a:noFill/>
          <a:ln/>
        </p:spPr>
        <p:txBody>
          <a:bodyPr wrap="square" lIns="0" tIns="0" rIns="0" bIns="0" rtlCol="0" anchor="ctr"/>
          <a:lstStyle/>
          <a:p>
            <a:pPr marL="0" indent="0" algn="ctr">
              <a:buNone/>
            </a:pPr>
            <a:r>
              <a:rPr lang="en-US" sz="1100" b="1" dirty="0">
                <a:solidFill>
                  <a:srgbClr val="3FE08A"/>
                </a:solidFill>
                <a:latin typeface="Consolas" pitchFamily="34" charset="0"/>
                <a:ea typeface="Consolas" pitchFamily="34" charset="-122"/>
                <a:cs typeface="Consolas" pitchFamily="34" charset="-120"/>
              </a:rPr>
              <a:t>2</a:t>
            </a:r>
            <a:endParaRPr lang="en-US" sz="1100" dirty="0"/>
          </a:p>
        </p:txBody>
      </p:sp>
      <p:sp>
        <p:nvSpPr>
          <p:cNvPr id="46" name="Text 44"/>
          <p:cNvSpPr/>
          <p:nvPr/>
        </p:nvSpPr>
        <p:spPr>
          <a:xfrm>
            <a:off x="6784848" y="1892808"/>
            <a:ext cx="4206240" cy="274320"/>
          </a:xfrm>
          <a:prstGeom prst="rect">
            <a:avLst/>
          </a:prstGeom>
          <a:noFill/>
          <a:ln/>
        </p:spPr>
        <p:txBody>
          <a:bodyPr wrap="square" lIns="0" tIns="0" rIns="0" bIns="0" rtlCol="0" anchor="ctr"/>
          <a:lstStyle/>
          <a:p>
            <a:pPr marL="0" indent="0">
              <a:buNone/>
            </a:pPr>
            <a:r>
              <a:rPr lang="en-US" sz="1200" b="1" dirty="0">
                <a:solidFill>
                  <a:srgbClr val="E6EDF3"/>
                </a:solidFill>
                <a:latin typeface="Segoe UI" pitchFamily="34" charset="0"/>
                <a:ea typeface="Segoe UI" pitchFamily="34" charset="-122"/>
                <a:cs typeface="Segoe UI" pitchFamily="34" charset="-120"/>
              </a:rPr>
              <a:t>Market Overview</a:t>
            </a:r>
            <a:endParaRPr lang="en-US" sz="1200" dirty="0"/>
          </a:p>
        </p:txBody>
      </p:sp>
      <p:sp>
        <p:nvSpPr>
          <p:cNvPr id="47" name="Text 45"/>
          <p:cNvSpPr/>
          <p:nvPr/>
        </p:nvSpPr>
        <p:spPr>
          <a:xfrm>
            <a:off x="6784848" y="2148840"/>
            <a:ext cx="4206240" cy="457200"/>
          </a:xfrm>
          <a:prstGeom prst="rect">
            <a:avLst/>
          </a:prstGeom>
          <a:noFill/>
          <a:ln/>
        </p:spPr>
        <p:txBody>
          <a:bodyPr wrap="square" lIns="0" tIns="0" rIns="0" bIns="0" rtlCol="0" anchor="ctr"/>
          <a:lstStyle/>
          <a:p>
            <a:pPr marL="0" indent="0">
              <a:lnSpc>
                <a:spcPct val="105000"/>
              </a:lnSpc>
              <a:buNone/>
            </a:pPr>
            <a:r>
              <a:rPr lang="en-US" sz="950" dirty="0">
                <a:solidFill>
                  <a:srgbClr val="AAB7C2"/>
                </a:solidFill>
                <a:latin typeface="Segoe UI" pitchFamily="34" charset="0"/>
                <a:ea typeface="Segoe UI" pitchFamily="34" charset="-122"/>
                <a:cs typeface="Segoe UI" pitchFamily="34" charset="-120"/>
              </a:rPr>
              <a:t>Multi-page symbol list mid-session, with a mix of up and down movers, at least one halted symbol, and the Watchlist toggle visible.</a:t>
            </a:r>
            <a:endParaRPr lang="en-US" sz="950" dirty="0"/>
          </a:p>
        </p:txBody>
      </p:sp>
      <p:sp>
        <p:nvSpPr>
          <p:cNvPr id="48" name="row background">
            <a:extLst>
              <a:ext uri="{C183D7F6-B498-43B3-948B-1728B52AA6E4}">
                <adec:decorative xmlns:adec="http://schemas.microsoft.com/office/drawing/2017/decorative" val="1"/>
              </a:ext>
            </a:extLst>
          </p:cNvPr>
          <p:cNvSpPr/>
          <p:nvPr/>
        </p:nvSpPr>
        <p:spPr>
          <a:xfrm>
            <a:off x="566928" y="2715768"/>
            <a:ext cx="5166360" cy="841248"/>
          </a:xfrm>
          <a:prstGeom prst="rect">
            <a:avLst/>
          </a:prstGeom>
          <a:solidFill>
            <a:srgbClr val="191E23"/>
          </a:solidFill>
          <a:ln w="12700">
            <a:solidFill>
              <a:srgbClr val="333333"/>
            </a:solidFill>
            <a:prstDash val="solid"/>
          </a:ln>
        </p:spPr>
        <p:txBody>
          <a:bodyPr/>
          <a:lstStyle/>
          <a:p>
            <a:endParaRPr lang="en-SE"/>
          </a:p>
        </p:txBody>
      </p:sp>
      <p:sp>
        <p:nvSpPr>
          <p:cNvPr id="49" name="figure number box">
            <a:extLst>
              <a:ext uri="{C183D7F6-B498-43B3-948B-1728B52AA6E4}">
                <adec:decorative xmlns:adec="http://schemas.microsoft.com/office/drawing/2017/decorative" val="1"/>
              </a:ext>
            </a:extLst>
          </p:cNvPr>
          <p:cNvSpPr/>
          <p:nvPr/>
        </p:nvSpPr>
        <p:spPr>
          <a:xfrm>
            <a:off x="713232" y="2898648"/>
            <a:ext cx="502920" cy="475488"/>
          </a:xfrm>
          <a:prstGeom prst="rect">
            <a:avLst/>
          </a:prstGeom>
          <a:solidFill>
            <a:srgbClr val="122C22"/>
          </a:solidFill>
          <a:ln w="12700">
            <a:solidFill>
              <a:srgbClr val="3FE08A"/>
            </a:solidFill>
            <a:prstDash val="solid"/>
          </a:ln>
        </p:spPr>
        <p:txBody>
          <a:bodyPr/>
          <a:lstStyle/>
          <a:p>
            <a:endParaRPr lang="en-SE"/>
          </a:p>
        </p:txBody>
      </p:sp>
      <p:sp>
        <p:nvSpPr>
          <p:cNvPr id="50" name="Text 48"/>
          <p:cNvSpPr/>
          <p:nvPr/>
        </p:nvSpPr>
        <p:spPr>
          <a:xfrm>
            <a:off x="713232" y="2898648"/>
            <a:ext cx="502920" cy="475488"/>
          </a:xfrm>
          <a:prstGeom prst="rect">
            <a:avLst/>
          </a:prstGeom>
          <a:noFill/>
          <a:ln/>
        </p:spPr>
        <p:txBody>
          <a:bodyPr wrap="square" lIns="0" tIns="0" rIns="0" bIns="0" rtlCol="0" anchor="ctr"/>
          <a:lstStyle/>
          <a:p>
            <a:pPr marL="0" indent="0" algn="ctr">
              <a:buNone/>
            </a:pPr>
            <a:r>
              <a:rPr lang="en-US" sz="1100" b="1" dirty="0">
                <a:solidFill>
                  <a:srgbClr val="3FE08A"/>
                </a:solidFill>
                <a:latin typeface="Consolas" pitchFamily="34" charset="0"/>
                <a:ea typeface="Consolas" pitchFamily="34" charset="-122"/>
                <a:cs typeface="Consolas" pitchFamily="34" charset="-120"/>
              </a:rPr>
              <a:t>3</a:t>
            </a:r>
            <a:endParaRPr lang="en-US" sz="1100" dirty="0"/>
          </a:p>
        </p:txBody>
      </p:sp>
      <p:sp>
        <p:nvSpPr>
          <p:cNvPr id="51" name="Text 49"/>
          <p:cNvSpPr/>
          <p:nvPr/>
        </p:nvSpPr>
        <p:spPr>
          <a:xfrm>
            <a:off x="1344168" y="2825496"/>
            <a:ext cx="4206240" cy="274320"/>
          </a:xfrm>
          <a:prstGeom prst="rect">
            <a:avLst/>
          </a:prstGeom>
          <a:noFill/>
          <a:ln/>
        </p:spPr>
        <p:txBody>
          <a:bodyPr wrap="square" lIns="0" tIns="0" rIns="0" bIns="0" rtlCol="0" anchor="ctr"/>
          <a:lstStyle/>
          <a:p>
            <a:pPr marL="0" indent="0">
              <a:buNone/>
            </a:pPr>
            <a:r>
              <a:rPr lang="en-US" sz="1200" b="1" dirty="0">
                <a:solidFill>
                  <a:srgbClr val="E6EDF3"/>
                </a:solidFill>
                <a:latin typeface="Segoe UI" pitchFamily="34" charset="0"/>
                <a:ea typeface="Segoe UI" pitchFamily="34" charset="-122"/>
                <a:cs typeface="Segoe UI" pitchFamily="34" charset="-120"/>
              </a:rPr>
              <a:t>Symbol Detail</a:t>
            </a:r>
            <a:endParaRPr lang="en-US" sz="1200" dirty="0"/>
          </a:p>
        </p:txBody>
      </p:sp>
      <p:sp>
        <p:nvSpPr>
          <p:cNvPr id="52" name="Text 50"/>
          <p:cNvSpPr/>
          <p:nvPr/>
        </p:nvSpPr>
        <p:spPr>
          <a:xfrm>
            <a:off x="1344168" y="3081528"/>
            <a:ext cx="4206240" cy="457200"/>
          </a:xfrm>
          <a:prstGeom prst="rect">
            <a:avLst/>
          </a:prstGeom>
          <a:noFill/>
          <a:ln/>
        </p:spPr>
        <p:txBody>
          <a:bodyPr wrap="square" lIns="0" tIns="0" rIns="0" bIns="0" rtlCol="0" anchor="ctr"/>
          <a:lstStyle/>
          <a:p>
            <a:pPr marL="0" indent="0">
              <a:lnSpc>
                <a:spcPct val="105000"/>
              </a:lnSpc>
              <a:buNone/>
            </a:pPr>
            <a:r>
              <a:rPr lang="en-US" sz="950" dirty="0">
                <a:solidFill>
                  <a:srgbClr val="AAB7C2"/>
                </a:solidFill>
                <a:latin typeface="Segoe UI" pitchFamily="34" charset="0"/>
                <a:ea typeface="Segoe UI" pitchFamily="34" charset="-122"/>
                <a:cs typeface="Segoe UI" pitchFamily="34" charset="-120"/>
              </a:rPr>
              <a:t>A symbol with visible price history on 1D or 5D, both OHLC and Midpoint on, Values panel showing.</a:t>
            </a:r>
            <a:endParaRPr lang="en-US" sz="950" dirty="0"/>
          </a:p>
        </p:txBody>
      </p:sp>
      <p:sp>
        <p:nvSpPr>
          <p:cNvPr id="53" name="row background">
            <a:extLst>
              <a:ext uri="{C183D7F6-B498-43B3-948B-1728B52AA6E4}">
                <adec:decorative xmlns:adec="http://schemas.microsoft.com/office/drawing/2017/decorative" val="1"/>
              </a:ext>
            </a:extLst>
          </p:cNvPr>
          <p:cNvSpPr/>
          <p:nvPr/>
        </p:nvSpPr>
        <p:spPr>
          <a:xfrm>
            <a:off x="6007608" y="2715768"/>
            <a:ext cx="5166360" cy="841248"/>
          </a:xfrm>
          <a:prstGeom prst="rect">
            <a:avLst/>
          </a:prstGeom>
          <a:solidFill>
            <a:srgbClr val="191E23"/>
          </a:solidFill>
          <a:ln w="12700">
            <a:solidFill>
              <a:srgbClr val="333333"/>
            </a:solidFill>
            <a:prstDash val="solid"/>
          </a:ln>
        </p:spPr>
        <p:txBody>
          <a:bodyPr/>
          <a:lstStyle/>
          <a:p>
            <a:endParaRPr lang="en-SE"/>
          </a:p>
        </p:txBody>
      </p:sp>
      <p:sp>
        <p:nvSpPr>
          <p:cNvPr id="54" name="figure number box">
            <a:extLst>
              <a:ext uri="{C183D7F6-B498-43B3-948B-1728B52AA6E4}">
                <adec:decorative xmlns:adec="http://schemas.microsoft.com/office/drawing/2017/decorative" val="1"/>
              </a:ext>
            </a:extLst>
          </p:cNvPr>
          <p:cNvSpPr/>
          <p:nvPr/>
        </p:nvSpPr>
        <p:spPr>
          <a:xfrm>
            <a:off x="6153912" y="2898648"/>
            <a:ext cx="502920" cy="475488"/>
          </a:xfrm>
          <a:prstGeom prst="rect">
            <a:avLst/>
          </a:prstGeom>
          <a:solidFill>
            <a:srgbClr val="122C22"/>
          </a:solidFill>
          <a:ln w="12700">
            <a:solidFill>
              <a:srgbClr val="3FE08A"/>
            </a:solidFill>
            <a:prstDash val="solid"/>
          </a:ln>
        </p:spPr>
        <p:txBody>
          <a:bodyPr/>
          <a:lstStyle/>
          <a:p>
            <a:endParaRPr lang="en-SE"/>
          </a:p>
        </p:txBody>
      </p:sp>
      <p:sp>
        <p:nvSpPr>
          <p:cNvPr id="55" name="Text 53"/>
          <p:cNvSpPr/>
          <p:nvPr/>
        </p:nvSpPr>
        <p:spPr>
          <a:xfrm>
            <a:off x="6153912" y="2898648"/>
            <a:ext cx="502920" cy="475488"/>
          </a:xfrm>
          <a:prstGeom prst="rect">
            <a:avLst/>
          </a:prstGeom>
          <a:noFill/>
          <a:ln/>
        </p:spPr>
        <p:txBody>
          <a:bodyPr wrap="square" lIns="0" tIns="0" rIns="0" bIns="0" rtlCol="0" anchor="ctr"/>
          <a:lstStyle/>
          <a:p>
            <a:pPr marL="0" indent="0" algn="ctr">
              <a:buNone/>
            </a:pPr>
            <a:r>
              <a:rPr lang="en-US" sz="1100" b="1" dirty="0">
                <a:solidFill>
                  <a:srgbClr val="3FE08A"/>
                </a:solidFill>
                <a:latin typeface="Consolas" pitchFamily="34" charset="0"/>
                <a:ea typeface="Consolas" pitchFamily="34" charset="-122"/>
                <a:cs typeface="Consolas" pitchFamily="34" charset="-120"/>
              </a:rPr>
              <a:t>3b</a:t>
            </a:r>
            <a:endParaRPr lang="en-US" sz="1100" dirty="0"/>
          </a:p>
        </p:txBody>
      </p:sp>
      <p:sp>
        <p:nvSpPr>
          <p:cNvPr id="56" name="Text 54"/>
          <p:cNvSpPr/>
          <p:nvPr/>
        </p:nvSpPr>
        <p:spPr>
          <a:xfrm>
            <a:off x="6784848" y="2825496"/>
            <a:ext cx="4206240" cy="274320"/>
          </a:xfrm>
          <a:prstGeom prst="rect">
            <a:avLst/>
          </a:prstGeom>
          <a:noFill/>
          <a:ln/>
        </p:spPr>
        <p:txBody>
          <a:bodyPr wrap="square" lIns="0" tIns="0" rIns="0" bIns="0" rtlCol="0" anchor="ctr"/>
          <a:lstStyle/>
          <a:p>
            <a:pPr marL="0" indent="0">
              <a:buNone/>
            </a:pPr>
            <a:r>
              <a:rPr lang="en-US" sz="1200" b="1" dirty="0">
                <a:solidFill>
                  <a:srgbClr val="E6EDF3"/>
                </a:solidFill>
                <a:latin typeface="Segoe UI" pitchFamily="34" charset="0"/>
                <a:ea typeface="Segoe UI" pitchFamily="34" charset="-122"/>
                <a:cs typeface="Segoe UI" pitchFamily="34" charset="-120"/>
              </a:rPr>
              <a:t>Symbol Detail — depth</a:t>
            </a:r>
            <a:endParaRPr lang="en-US" sz="1200" dirty="0"/>
          </a:p>
        </p:txBody>
      </p:sp>
      <p:sp>
        <p:nvSpPr>
          <p:cNvPr id="57" name="Text 55"/>
          <p:cNvSpPr/>
          <p:nvPr/>
        </p:nvSpPr>
        <p:spPr>
          <a:xfrm>
            <a:off x="6784848" y="3081528"/>
            <a:ext cx="4206240" cy="457200"/>
          </a:xfrm>
          <a:prstGeom prst="rect">
            <a:avLst/>
          </a:prstGeom>
          <a:noFill/>
          <a:ln/>
        </p:spPr>
        <p:txBody>
          <a:bodyPr wrap="square" lIns="0" tIns="0" rIns="0" bIns="0" rtlCol="0" anchor="ctr"/>
          <a:lstStyle/>
          <a:p>
            <a:pPr marL="0" indent="0">
              <a:lnSpc>
                <a:spcPct val="105000"/>
              </a:lnSpc>
              <a:buNone/>
            </a:pPr>
            <a:r>
              <a:rPr lang="en-US" sz="950" dirty="0">
                <a:solidFill>
                  <a:srgbClr val="AAB7C2"/>
                </a:solidFill>
                <a:latin typeface="Segoe UI" pitchFamily="34" charset="0"/>
                <a:ea typeface="Segoe UI" pitchFamily="34" charset="-122"/>
                <a:cs typeface="Segoe UI" pitchFamily="34" charset="-120"/>
              </a:rPr>
              <a:t>The same symbol with the Depth toggle on instead of Values, to show the panel swap.</a:t>
            </a:r>
            <a:endParaRPr lang="en-US" sz="950" dirty="0"/>
          </a:p>
        </p:txBody>
      </p:sp>
      <p:sp>
        <p:nvSpPr>
          <p:cNvPr id="58" name="row background">
            <a:extLst>
              <a:ext uri="{C183D7F6-B498-43B3-948B-1728B52AA6E4}">
                <adec:decorative xmlns:adec="http://schemas.microsoft.com/office/drawing/2017/decorative" val="1"/>
              </a:ext>
            </a:extLst>
          </p:cNvPr>
          <p:cNvSpPr/>
          <p:nvPr/>
        </p:nvSpPr>
        <p:spPr>
          <a:xfrm>
            <a:off x="566928" y="3648456"/>
            <a:ext cx="5166360" cy="841248"/>
          </a:xfrm>
          <a:prstGeom prst="rect">
            <a:avLst/>
          </a:prstGeom>
          <a:solidFill>
            <a:srgbClr val="20272D"/>
          </a:solidFill>
          <a:ln w="12700">
            <a:solidFill>
              <a:srgbClr val="333333"/>
            </a:solidFill>
            <a:prstDash val="solid"/>
          </a:ln>
        </p:spPr>
        <p:txBody>
          <a:bodyPr/>
          <a:lstStyle/>
          <a:p>
            <a:endParaRPr lang="en-SE"/>
          </a:p>
        </p:txBody>
      </p:sp>
      <p:sp>
        <p:nvSpPr>
          <p:cNvPr id="59" name="figure number box">
            <a:extLst>
              <a:ext uri="{C183D7F6-B498-43B3-948B-1728B52AA6E4}">
                <adec:decorative xmlns:adec="http://schemas.microsoft.com/office/drawing/2017/decorative" val="1"/>
              </a:ext>
            </a:extLst>
          </p:cNvPr>
          <p:cNvSpPr/>
          <p:nvPr/>
        </p:nvSpPr>
        <p:spPr>
          <a:xfrm>
            <a:off x="713232" y="3831336"/>
            <a:ext cx="502920" cy="475488"/>
          </a:xfrm>
          <a:prstGeom prst="rect">
            <a:avLst/>
          </a:prstGeom>
          <a:solidFill>
            <a:srgbClr val="122C22"/>
          </a:solidFill>
          <a:ln w="12700">
            <a:solidFill>
              <a:srgbClr val="3FE08A"/>
            </a:solidFill>
            <a:prstDash val="solid"/>
          </a:ln>
        </p:spPr>
        <p:txBody>
          <a:bodyPr/>
          <a:lstStyle/>
          <a:p>
            <a:endParaRPr lang="en-SE"/>
          </a:p>
        </p:txBody>
      </p:sp>
      <p:sp>
        <p:nvSpPr>
          <p:cNvPr id="60" name="Text 58"/>
          <p:cNvSpPr/>
          <p:nvPr/>
        </p:nvSpPr>
        <p:spPr>
          <a:xfrm>
            <a:off x="713232" y="3831336"/>
            <a:ext cx="502920" cy="475488"/>
          </a:xfrm>
          <a:prstGeom prst="rect">
            <a:avLst/>
          </a:prstGeom>
          <a:noFill/>
          <a:ln/>
        </p:spPr>
        <p:txBody>
          <a:bodyPr wrap="square" lIns="0" tIns="0" rIns="0" bIns="0" rtlCol="0" anchor="ctr"/>
          <a:lstStyle/>
          <a:p>
            <a:pPr marL="0" indent="0" algn="ctr">
              <a:buNone/>
            </a:pPr>
            <a:r>
              <a:rPr lang="en-US" sz="1100" b="1" dirty="0">
                <a:solidFill>
                  <a:srgbClr val="3FE08A"/>
                </a:solidFill>
                <a:latin typeface="Consolas" pitchFamily="34" charset="0"/>
                <a:ea typeface="Consolas" pitchFamily="34" charset="-122"/>
                <a:cs typeface="Consolas" pitchFamily="34" charset="-120"/>
              </a:rPr>
              <a:t>4</a:t>
            </a:r>
            <a:endParaRPr lang="en-US" sz="1100" dirty="0"/>
          </a:p>
        </p:txBody>
      </p:sp>
      <p:sp>
        <p:nvSpPr>
          <p:cNvPr id="61" name="Text 59"/>
          <p:cNvSpPr/>
          <p:nvPr/>
        </p:nvSpPr>
        <p:spPr>
          <a:xfrm>
            <a:off x="1344168" y="3758184"/>
            <a:ext cx="4206240" cy="274320"/>
          </a:xfrm>
          <a:prstGeom prst="rect">
            <a:avLst/>
          </a:prstGeom>
          <a:noFill/>
          <a:ln/>
        </p:spPr>
        <p:txBody>
          <a:bodyPr wrap="square" lIns="0" tIns="0" rIns="0" bIns="0" rtlCol="0" anchor="ctr"/>
          <a:lstStyle/>
          <a:p>
            <a:pPr marL="0" indent="0">
              <a:buNone/>
            </a:pPr>
            <a:r>
              <a:rPr lang="en-US" sz="1200" b="1" dirty="0">
                <a:solidFill>
                  <a:srgbClr val="E6EDF3"/>
                </a:solidFill>
                <a:latin typeface="Segoe UI" pitchFamily="34" charset="0"/>
                <a:ea typeface="Segoe UI" pitchFamily="34" charset="-122"/>
                <a:cs typeface="Segoe UI" pitchFamily="34" charset="-120"/>
              </a:rPr>
              <a:t>Depth ladder</a:t>
            </a:r>
            <a:endParaRPr lang="en-US" sz="1200" dirty="0"/>
          </a:p>
        </p:txBody>
      </p:sp>
      <p:sp>
        <p:nvSpPr>
          <p:cNvPr id="62" name="Text 60"/>
          <p:cNvSpPr/>
          <p:nvPr/>
        </p:nvSpPr>
        <p:spPr>
          <a:xfrm>
            <a:off x="1344168" y="4014216"/>
            <a:ext cx="4206240" cy="457200"/>
          </a:xfrm>
          <a:prstGeom prst="rect">
            <a:avLst/>
          </a:prstGeom>
          <a:noFill/>
          <a:ln/>
        </p:spPr>
        <p:txBody>
          <a:bodyPr wrap="square" lIns="0" tIns="0" rIns="0" bIns="0" rtlCol="0" anchor="ctr"/>
          <a:lstStyle/>
          <a:p>
            <a:pPr marL="0" indent="0">
              <a:lnSpc>
                <a:spcPct val="105000"/>
              </a:lnSpc>
              <a:buNone/>
            </a:pPr>
            <a:r>
              <a:rPr lang="en-US" sz="950" dirty="0">
                <a:solidFill>
                  <a:srgbClr val="AAB7C2"/>
                </a:solidFill>
                <a:latin typeface="Segoe UI" pitchFamily="34" charset="0"/>
                <a:ea typeface="Segoe UI" pitchFamily="34" charset="-122"/>
                <a:cs typeface="Segoe UI" pitchFamily="34" charset="-120"/>
              </a:rPr>
              <a:t>Resting orders on both sides, ideally with a visible distance-from-touch marker on at least one row.</a:t>
            </a:r>
            <a:endParaRPr lang="en-US" sz="950" dirty="0"/>
          </a:p>
        </p:txBody>
      </p:sp>
      <p:sp>
        <p:nvSpPr>
          <p:cNvPr id="63" name="row background">
            <a:extLst>
              <a:ext uri="{C183D7F6-B498-43B3-948B-1728B52AA6E4}">
                <adec:decorative xmlns:adec="http://schemas.microsoft.com/office/drawing/2017/decorative" val="1"/>
              </a:ext>
            </a:extLst>
          </p:cNvPr>
          <p:cNvSpPr/>
          <p:nvPr/>
        </p:nvSpPr>
        <p:spPr>
          <a:xfrm>
            <a:off x="6007608" y="3648456"/>
            <a:ext cx="5166360" cy="841248"/>
          </a:xfrm>
          <a:prstGeom prst="rect">
            <a:avLst/>
          </a:prstGeom>
          <a:solidFill>
            <a:srgbClr val="20272D"/>
          </a:solidFill>
          <a:ln w="12700">
            <a:solidFill>
              <a:srgbClr val="333333"/>
            </a:solidFill>
            <a:prstDash val="solid"/>
          </a:ln>
        </p:spPr>
        <p:txBody>
          <a:bodyPr/>
          <a:lstStyle/>
          <a:p>
            <a:endParaRPr lang="en-SE"/>
          </a:p>
        </p:txBody>
      </p:sp>
      <p:sp>
        <p:nvSpPr>
          <p:cNvPr id="64" name="figure number box">
            <a:extLst>
              <a:ext uri="{C183D7F6-B498-43B3-948B-1728B52AA6E4}">
                <adec:decorative xmlns:adec="http://schemas.microsoft.com/office/drawing/2017/decorative" val="1"/>
              </a:ext>
            </a:extLst>
          </p:cNvPr>
          <p:cNvSpPr/>
          <p:nvPr/>
        </p:nvSpPr>
        <p:spPr>
          <a:xfrm>
            <a:off x="6153912" y="3831336"/>
            <a:ext cx="502920" cy="475488"/>
          </a:xfrm>
          <a:prstGeom prst="rect">
            <a:avLst/>
          </a:prstGeom>
          <a:solidFill>
            <a:srgbClr val="122C22"/>
          </a:solidFill>
          <a:ln w="12700">
            <a:solidFill>
              <a:srgbClr val="3FE08A"/>
            </a:solidFill>
            <a:prstDash val="solid"/>
          </a:ln>
        </p:spPr>
        <p:txBody>
          <a:bodyPr/>
          <a:lstStyle/>
          <a:p>
            <a:endParaRPr lang="en-SE"/>
          </a:p>
        </p:txBody>
      </p:sp>
      <p:sp>
        <p:nvSpPr>
          <p:cNvPr id="65" name="Text 63"/>
          <p:cNvSpPr/>
          <p:nvPr/>
        </p:nvSpPr>
        <p:spPr>
          <a:xfrm>
            <a:off x="6153912" y="3831336"/>
            <a:ext cx="502920" cy="475488"/>
          </a:xfrm>
          <a:prstGeom prst="rect">
            <a:avLst/>
          </a:prstGeom>
          <a:noFill/>
          <a:ln/>
        </p:spPr>
        <p:txBody>
          <a:bodyPr wrap="square" lIns="0" tIns="0" rIns="0" bIns="0" rtlCol="0" anchor="ctr"/>
          <a:lstStyle/>
          <a:p>
            <a:pPr marL="0" indent="0" algn="ctr">
              <a:buNone/>
            </a:pPr>
            <a:r>
              <a:rPr lang="en-US" sz="1100" b="1" dirty="0">
                <a:solidFill>
                  <a:srgbClr val="3FE08A"/>
                </a:solidFill>
                <a:latin typeface="Consolas" pitchFamily="34" charset="0"/>
                <a:ea typeface="Consolas" pitchFamily="34" charset="-122"/>
                <a:cs typeface="Consolas" pitchFamily="34" charset="-120"/>
              </a:rPr>
              <a:t>5</a:t>
            </a:r>
            <a:endParaRPr lang="en-US" sz="1100" dirty="0"/>
          </a:p>
        </p:txBody>
      </p:sp>
      <p:sp>
        <p:nvSpPr>
          <p:cNvPr id="66" name="Text 64"/>
          <p:cNvSpPr/>
          <p:nvPr/>
        </p:nvSpPr>
        <p:spPr>
          <a:xfrm>
            <a:off x="6784848" y="3758184"/>
            <a:ext cx="4206240" cy="274320"/>
          </a:xfrm>
          <a:prstGeom prst="rect">
            <a:avLst/>
          </a:prstGeom>
          <a:noFill/>
          <a:ln/>
        </p:spPr>
        <p:txBody>
          <a:bodyPr wrap="square" lIns="0" tIns="0" rIns="0" bIns="0" rtlCol="0" anchor="ctr"/>
          <a:lstStyle/>
          <a:p>
            <a:pPr marL="0" indent="0">
              <a:buNone/>
            </a:pPr>
            <a:r>
              <a:rPr lang="en-US" sz="1200" b="1" dirty="0">
                <a:solidFill>
                  <a:srgbClr val="E6EDF3"/>
                </a:solidFill>
                <a:latin typeface="Segoe UI" pitchFamily="34" charset="0"/>
                <a:ea typeface="Segoe UI" pitchFamily="34" charset="-122"/>
                <a:cs typeface="Segoe UI" pitchFamily="34" charset="-120"/>
              </a:rPr>
              <a:t>Index View</a:t>
            </a:r>
            <a:endParaRPr lang="en-US" sz="1200" dirty="0"/>
          </a:p>
        </p:txBody>
      </p:sp>
      <p:sp>
        <p:nvSpPr>
          <p:cNvPr id="67" name="Text 65"/>
          <p:cNvSpPr/>
          <p:nvPr/>
        </p:nvSpPr>
        <p:spPr>
          <a:xfrm>
            <a:off x="6784848" y="4014216"/>
            <a:ext cx="4206240" cy="457200"/>
          </a:xfrm>
          <a:prstGeom prst="rect">
            <a:avLst/>
          </a:prstGeom>
          <a:noFill/>
          <a:ln/>
        </p:spPr>
        <p:txBody>
          <a:bodyPr wrap="square" lIns="0" tIns="0" rIns="0" bIns="0" rtlCol="0" anchor="ctr"/>
          <a:lstStyle/>
          <a:p>
            <a:pPr marL="0" indent="0">
              <a:lnSpc>
                <a:spcPct val="105000"/>
              </a:lnSpc>
              <a:buNone/>
            </a:pPr>
            <a:r>
              <a:rPr lang="en-US" sz="950" dirty="0">
                <a:solidFill>
                  <a:srgbClr val="AAB7C2"/>
                </a:solidFill>
                <a:latin typeface="Segoe UI" pitchFamily="34" charset="0"/>
                <a:ea typeface="Segoe UI" pitchFamily="34" charset="-122"/>
                <a:cs typeface="Segoe UI" pitchFamily="34" charset="-120"/>
              </a:rPr>
              <a:t>Chart on a 1M or longer preset, plus the Open / High / Low panel and the Recent changes strip.</a:t>
            </a:r>
            <a:endParaRPr lang="en-US" sz="950" dirty="0"/>
          </a:p>
        </p:txBody>
      </p:sp>
      <p:sp>
        <p:nvSpPr>
          <p:cNvPr id="68" name="row background">
            <a:extLst>
              <a:ext uri="{C183D7F6-B498-43B3-948B-1728B52AA6E4}">
                <adec:decorative xmlns:adec="http://schemas.microsoft.com/office/drawing/2017/decorative" val="1"/>
              </a:ext>
            </a:extLst>
          </p:cNvPr>
          <p:cNvSpPr/>
          <p:nvPr/>
        </p:nvSpPr>
        <p:spPr>
          <a:xfrm>
            <a:off x="566928" y="4581144"/>
            <a:ext cx="5166360" cy="841248"/>
          </a:xfrm>
          <a:prstGeom prst="rect">
            <a:avLst/>
          </a:prstGeom>
          <a:solidFill>
            <a:srgbClr val="191E23"/>
          </a:solidFill>
          <a:ln w="12700">
            <a:solidFill>
              <a:srgbClr val="333333"/>
            </a:solidFill>
            <a:prstDash val="solid"/>
          </a:ln>
        </p:spPr>
        <p:txBody>
          <a:bodyPr/>
          <a:lstStyle/>
          <a:p>
            <a:endParaRPr lang="en-SE"/>
          </a:p>
        </p:txBody>
      </p:sp>
      <p:sp>
        <p:nvSpPr>
          <p:cNvPr id="69" name="figure number box">
            <a:extLst>
              <a:ext uri="{C183D7F6-B498-43B3-948B-1728B52AA6E4}">
                <adec:decorative xmlns:adec="http://schemas.microsoft.com/office/drawing/2017/decorative" val="1"/>
              </a:ext>
            </a:extLst>
          </p:cNvPr>
          <p:cNvSpPr/>
          <p:nvPr/>
        </p:nvSpPr>
        <p:spPr>
          <a:xfrm>
            <a:off x="713232" y="4764024"/>
            <a:ext cx="502920" cy="475488"/>
          </a:xfrm>
          <a:prstGeom prst="rect">
            <a:avLst/>
          </a:prstGeom>
          <a:solidFill>
            <a:srgbClr val="122C22"/>
          </a:solidFill>
          <a:ln w="12700">
            <a:solidFill>
              <a:srgbClr val="3FE08A"/>
            </a:solidFill>
            <a:prstDash val="solid"/>
          </a:ln>
        </p:spPr>
        <p:txBody>
          <a:bodyPr/>
          <a:lstStyle/>
          <a:p>
            <a:endParaRPr lang="en-SE"/>
          </a:p>
        </p:txBody>
      </p:sp>
      <p:sp>
        <p:nvSpPr>
          <p:cNvPr id="70" name="Text 68"/>
          <p:cNvSpPr/>
          <p:nvPr/>
        </p:nvSpPr>
        <p:spPr>
          <a:xfrm>
            <a:off x="713232" y="4764024"/>
            <a:ext cx="502920" cy="475488"/>
          </a:xfrm>
          <a:prstGeom prst="rect">
            <a:avLst/>
          </a:prstGeom>
          <a:noFill/>
          <a:ln/>
        </p:spPr>
        <p:txBody>
          <a:bodyPr wrap="square" lIns="0" tIns="0" rIns="0" bIns="0" rtlCol="0" anchor="ctr"/>
          <a:lstStyle/>
          <a:p>
            <a:pPr marL="0" indent="0" algn="ctr">
              <a:buNone/>
            </a:pPr>
            <a:r>
              <a:rPr lang="en-US" sz="1100" b="1" dirty="0">
                <a:solidFill>
                  <a:srgbClr val="3FE08A"/>
                </a:solidFill>
                <a:latin typeface="Consolas" pitchFamily="34" charset="0"/>
                <a:ea typeface="Consolas" pitchFamily="34" charset="-122"/>
                <a:cs typeface="Consolas" pitchFamily="34" charset="-120"/>
              </a:rPr>
              <a:t>6</a:t>
            </a:r>
            <a:endParaRPr lang="en-US" sz="1100" dirty="0"/>
          </a:p>
        </p:txBody>
      </p:sp>
      <p:sp>
        <p:nvSpPr>
          <p:cNvPr id="71" name="Text 69"/>
          <p:cNvSpPr/>
          <p:nvPr/>
        </p:nvSpPr>
        <p:spPr>
          <a:xfrm>
            <a:off x="1344168" y="4690872"/>
            <a:ext cx="4206240" cy="274320"/>
          </a:xfrm>
          <a:prstGeom prst="rect">
            <a:avLst/>
          </a:prstGeom>
          <a:noFill/>
          <a:ln/>
        </p:spPr>
        <p:txBody>
          <a:bodyPr wrap="square" lIns="0" tIns="0" rIns="0" bIns="0" rtlCol="0" anchor="ctr"/>
          <a:lstStyle/>
          <a:p>
            <a:pPr marL="0" indent="0">
              <a:buNone/>
            </a:pPr>
            <a:r>
              <a:rPr lang="en-US" sz="1200" b="1" dirty="0">
                <a:solidFill>
                  <a:srgbClr val="E6EDF3"/>
                </a:solidFill>
                <a:latin typeface="Segoe UI" pitchFamily="34" charset="0"/>
                <a:ea typeface="Segoe UI" pitchFamily="34" charset="-122"/>
                <a:cs typeface="Segoe UI" pitchFamily="34" charset="-120"/>
              </a:rPr>
              <a:t>Trade Tape</a:t>
            </a:r>
            <a:endParaRPr lang="en-US" sz="1200" dirty="0"/>
          </a:p>
        </p:txBody>
      </p:sp>
      <p:sp>
        <p:nvSpPr>
          <p:cNvPr id="72" name="Text 70"/>
          <p:cNvSpPr/>
          <p:nvPr/>
        </p:nvSpPr>
        <p:spPr>
          <a:xfrm>
            <a:off x="1344168" y="4946904"/>
            <a:ext cx="4206240" cy="457200"/>
          </a:xfrm>
          <a:prstGeom prst="rect">
            <a:avLst/>
          </a:prstGeom>
          <a:noFill/>
          <a:ln/>
        </p:spPr>
        <p:txBody>
          <a:bodyPr wrap="square" lIns="0" tIns="0" rIns="0" bIns="0" rtlCol="0" anchor="ctr"/>
          <a:lstStyle/>
          <a:p>
            <a:pPr marL="0" indent="0">
              <a:lnSpc>
                <a:spcPct val="105000"/>
              </a:lnSpc>
              <a:buNone/>
            </a:pPr>
            <a:r>
              <a:rPr lang="en-US" sz="950" dirty="0">
                <a:solidFill>
                  <a:srgbClr val="AAB7C2"/>
                </a:solidFill>
                <a:latin typeface="Segoe UI" pitchFamily="34" charset="0"/>
                <a:ea typeface="Segoe UI" pitchFamily="34" charset="-122"/>
                <a:cs typeface="Segoe UI" pitchFamily="34" charset="-120"/>
              </a:rPr>
              <a:t>Unfiltered tape with prints from several symbols.</a:t>
            </a:r>
            <a:endParaRPr lang="en-US" sz="950" dirty="0"/>
          </a:p>
        </p:txBody>
      </p:sp>
      <p:sp>
        <p:nvSpPr>
          <p:cNvPr id="73" name="row background">
            <a:extLst>
              <a:ext uri="{C183D7F6-B498-43B3-948B-1728B52AA6E4}">
                <adec:decorative xmlns:adec="http://schemas.microsoft.com/office/drawing/2017/decorative" val="1"/>
              </a:ext>
            </a:extLst>
          </p:cNvPr>
          <p:cNvSpPr/>
          <p:nvPr/>
        </p:nvSpPr>
        <p:spPr>
          <a:xfrm>
            <a:off x="6007608" y="4581144"/>
            <a:ext cx="5166360" cy="841248"/>
          </a:xfrm>
          <a:prstGeom prst="rect">
            <a:avLst/>
          </a:prstGeom>
          <a:solidFill>
            <a:srgbClr val="191E23"/>
          </a:solidFill>
          <a:ln w="12700">
            <a:solidFill>
              <a:srgbClr val="333333"/>
            </a:solidFill>
            <a:prstDash val="solid"/>
          </a:ln>
        </p:spPr>
        <p:txBody>
          <a:bodyPr/>
          <a:lstStyle/>
          <a:p>
            <a:endParaRPr lang="en-SE"/>
          </a:p>
        </p:txBody>
      </p:sp>
      <p:sp>
        <p:nvSpPr>
          <p:cNvPr id="74" name="figure number box">
            <a:extLst>
              <a:ext uri="{C183D7F6-B498-43B3-948B-1728B52AA6E4}">
                <adec:decorative xmlns:adec="http://schemas.microsoft.com/office/drawing/2017/decorative" val="1"/>
              </a:ext>
            </a:extLst>
          </p:cNvPr>
          <p:cNvSpPr/>
          <p:nvPr/>
        </p:nvSpPr>
        <p:spPr>
          <a:xfrm>
            <a:off x="6153912" y="4764024"/>
            <a:ext cx="502920" cy="475488"/>
          </a:xfrm>
          <a:prstGeom prst="rect">
            <a:avLst/>
          </a:prstGeom>
          <a:solidFill>
            <a:srgbClr val="122C22"/>
          </a:solidFill>
          <a:ln w="12700">
            <a:solidFill>
              <a:srgbClr val="3FE08A"/>
            </a:solidFill>
            <a:prstDash val="solid"/>
          </a:ln>
        </p:spPr>
        <p:txBody>
          <a:bodyPr/>
          <a:lstStyle/>
          <a:p>
            <a:endParaRPr lang="en-SE"/>
          </a:p>
        </p:txBody>
      </p:sp>
      <p:sp>
        <p:nvSpPr>
          <p:cNvPr id="75" name="Text 73"/>
          <p:cNvSpPr/>
          <p:nvPr/>
        </p:nvSpPr>
        <p:spPr>
          <a:xfrm>
            <a:off x="6153912" y="4764024"/>
            <a:ext cx="502920" cy="475488"/>
          </a:xfrm>
          <a:prstGeom prst="rect">
            <a:avLst/>
          </a:prstGeom>
          <a:noFill/>
          <a:ln/>
        </p:spPr>
        <p:txBody>
          <a:bodyPr wrap="square" lIns="0" tIns="0" rIns="0" bIns="0" rtlCol="0" anchor="ctr"/>
          <a:lstStyle/>
          <a:p>
            <a:pPr marL="0" indent="0" algn="ctr">
              <a:buNone/>
            </a:pPr>
            <a:r>
              <a:rPr lang="en-US" sz="1100" b="1" dirty="0">
                <a:solidFill>
                  <a:srgbClr val="3FE08A"/>
                </a:solidFill>
                <a:latin typeface="Consolas" pitchFamily="34" charset="0"/>
                <a:ea typeface="Consolas" pitchFamily="34" charset="-122"/>
                <a:cs typeface="Consolas" pitchFamily="34" charset="-120"/>
              </a:rPr>
              <a:t>6b</a:t>
            </a:r>
            <a:endParaRPr lang="en-US" sz="1100" dirty="0"/>
          </a:p>
        </p:txBody>
      </p:sp>
      <p:sp>
        <p:nvSpPr>
          <p:cNvPr id="76" name="Text 74"/>
          <p:cNvSpPr/>
          <p:nvPr/>
        </p:nvSpPr>
        <p:spPr>
          <a:xfrm>
            <a:off x="6784848" y="4690872"/>
            <a:ext cx="4206240" cy="274320"/>
          </a:xfrm>
          <a:prstGeom prst="rect">
            <a:avLst/>
          </a:prstGeom>
          <a:noFill/>
          <a:ln/>
        </p:spPr>
        <p:txBody>
          <a:bodyPr wrap="square" lIns="0" tIns="0" rIns="0" bIns="0" rtlCol="0" anchor="ctr"/>
          <a:lstStyle/>
          <a:p>
            <a:pPr marL="0" indent="0">
              <a:buNone/>
            </a:pPr>
            <a:r>
              <a:rPr lang="en-US" sz="1200" b="1" dirty="0">
                <a:solidFill>
                  <a:srgbClr val="E6EDF3"/>
                </a:solidFill>
                <a:latin typeface="Segoe UI" pitchFamily="34" charset="0"/>
                <a:ea typeface="Segoe UI" pitchFamily="34" charset="-122"/>
                <a:cs typeface="Segoe UI" pitchFamily="34" charset="-120"/>
              </a:rPr>
              <a:t>Tape gap marker</a:t>
            </a:r>
            <a:endParaRPr lang="en-US" sz="1200" dirty="0"/>
          </a:p>
        </p:txBody>
      </p:sp>
      <p:sp>
        <p:nvSpPr>
          <p:cNvPr id="77" name="Text 75"/>
          <p:cNvSpPr/>
          <p:nvPr/>
        </p:nvSpPr>
        <p:spPr>
          <a:xfrm>
            <a:off x="6784848" y="4946904"/>
            <a:ext cx="4206240" cy="457200"/>
          </a:xfrm>
          <a:prstGeom prst="rect">
            <a:avLst/>
          </a:prstGeom>
          <a:noFill/>
          <a:ln/>
        </p:spPr>
        <p:txBody>
          <a:bodyPr wrap="square" lIns="0" tIns="0" rIns="0" bIns="0" rtlCol="0" anchor="ctr"/>
          <a:lstStyle/>
          <a:p>
            <a:pPr marL="0" indent="0">
              <a:lnSpc>
                <a:spcPct val="105000"/>
              </a:lnSpc>
              <a:buNone/>
            </a:pPr>
            <a:r>
              <a:rPr lang="en-US" sz="950" dirty="0">
                <a:solidFill>
                  <a:srgbClr val="AAB7C2"/>
                </a:solidFill>
                <a:latin typeface="Segoe UI" pitchFamily="34" charset="0"/>
                <a:ea typeface="Segoe UI" pitchFamily="34" charset="-122"/>
                <a:cs typeface="Segoe UI" pitchFamily="34" charset="-120"/>
              </a:rPr>
              <a:t>Optional but valuable: a tape showing a gap marker row in place among the prints.</a:t>
            </a:r>
            <a:endParaRPr lang="en-US" sz="950" dirty="0"/>
          </a:p>
        </p:txBody>
      </p:sp>
      <p:sp>
        <p:nvSpPr>
          <p:cNvPr id="78" name="row background">
            <a:extLst>
              <a:ext uri="{C183D7F6-B498-43B3-948B-1728B52AA6E4}">
                <adec:decorative xmlns:adec="http://schemas.microsoft.com/office/drawing/2017/decorative" val="1"/>
              </a:ext>
            </a:extLst>
          </p:cNvPr>
          <p:cNvSpPr/>
          <p:nvPr/>
        </p:nvSpPr>
        <p:spPr>
          <a:xfrm>
            <a:off x="566928" y="5513832"/>
            <a:ext cx="5166360" cy="841248"/>
          </a:xfrm>
          <a:prstGeom prst="rect">
            <a:avLst/>
          </a:prstGeom>
          <a:solidFill>
            <a:srgbClr val="20272D"/>
          </a:solidFill>
          <a:ln w="12700">
            <a:solidFill>
              <a:srgbClr val="333333"/>
            </a:solidFill>
            <a:prstDash val="solid"/>
          </a:ln>
        </p:spPr>
        <p:txBody>
          <a:bodyPr/>
          <a:lstStyle/>
          <a:p>
            <a:endParaRPr lang="en-SE"/>
          </a:p>
        </p:txBody>
      </p:sp>
      <p:sp>
        <p:nvSpPr>
          <p:cNvPr id="79" name="figure number box">
            <a:extLst>
              <a:ext uri="{C183D7F6-B498-43B3-948B-1728B52AA6E4}">
                <adec:decorative xmlns:adec="http://schemas.microsoft.com/office/drawing/2017/decorative" val="1"/>
              </a:ext>
            </a:extLst>
          </p:cNvPr>
          <p:cNvSpPr/>
          <p:nvPr/>
        </p:nvSpPr>
        <p:spPr>
          <a:xfrm>
            <a:off x="713232" y="5696712"/>
            <a:ext cx="502920" cy="475488"/>
          </a:xfrm>
          <a:prstGeom prst="rect">
            <a:avLst/>
          </a:prstGeom>
          <a:solidFill>
            <a:srgbClr val="122C22"/>
          </a:solidFill>
          <a:ln w="12700">
            <a:solidFill>
              <a:srgbClr val="3FE08A"/>
            </a:solidFill>
            <a:prstDash val="solid"/>
          </a:ln>
        </p:spPr>
        <p:txBody>
          <a:bodyPr/>
          <a:lstStyle/>
          <a:p>
            <a:endParaRPr lang="en-SE"/>
          </a:p>
        </p:txBody>
      </p:sp>
      <p:sp>
        <p:nvSpPr>
          <p:cNvPr id="80" name="Text 78"/>
          <p:cNvSpPr/>
          <p:nvPr/>
        </p:nvSpPr>
        <p:spPr>
          <a:xfrm>
            <a:off x="713232" y="5696712"/>
            <a:ext cx="502920" cy="475488"/>
          </a:xfrm>
          <a:prstGeom prst="rect">
            <a:avLst/>
          </a:prstGeom>
          <a:noFill/>
          <a:ln/>
        </p:spPr>
        <p:txBody>
          <a:bodyPr wrap="square" lIns="0" tIns="0" rIns="0" bIns="0" rtlCol="0" anchor="ctr"/>
          <a:lstStyle/>
          <a:p>
            <a:pPr marL="0" indent="0" algn="ctr">
              <a:buNone/>
            </a:pPr>
            <a:r>
              <a:rPr lang="en-US" sz="1100" b="1" dirty="0">
                <a:solidFill>
                  <a:srgbClr val="3FE08A"/>
                </a:solidFill>
                <a:latin typeface="Consolas" pitchFamily="34" charset="0"/>
                <a:ea typeface="Consolas" pitchFamily="34" charset="-122"/>
                <a:cs typeface="Consolas" pitchFamily="34" charset="-120"/>
              </a:rPr>
              <a:t>7</a:t>
            </a:r>
            <a:endParaRPr lang="en-US" sz="1100" dirty="0"/>
          </a:p>
        </p:txBody>
      </p:sp>
      <p:sp>
        <p:nvSpPr>
          <p:cNvPr id="81" name="Text 79"/>
          <p:cNvSpPr/>
          <p:nvPr/>
        </p:nvSpPr>
        <p:spPr>
          <a:xfrm>
            <a:off x="1344168" y="5623560"/>
            <a:ext cx="4206240" cy="274320"/>
          </a:xfrm>
          <a:prstGeom prst="rect">
            <a:avLst/>
          </a:prstGeom>
          <a:noFill/>
          <a:ln/>
        </p:spPr>
        <p:txBody>
          <a:bodyPr wrap="square" lIns="0" tIns="0" rIns="0" bIns="0" rtlCol="0" anchor="ctr"/>
          <a:lstStyle/>
          <a:p>
            <a:pPr marL="0" indent="0">
              <a:buNone/>
            </a:pPr>
            <a:r>
              <a:rPr lang="en-US" sz="1200" b="1" dirty="0">
                <a:solidFill>
                  <a:srgbClr val="E6EDF3"/>
                </a:solidFill>
                <a:latin typeface="Segoe UI" pitchFamily="34" charset="0"/>
                <a:ea typeface="Segoe UI" pitchFamily="34" charset="-122"/>
                <a:cs typeface="Segoe UI" pitchFamily="34" charset="-120"/>
              </a:rPr>
              <a:t>Movers</a:t>
            </a:r>
            <a:endParaRPr lang="en-US" sz="1200" dirty="0"/>
          </a:p>
        </p:txBody>
      </p:sp>
      <p:sp>
        <p:nvSpPr>
          <p:cNvPr id="82" name="Text 80"/>
          <p:cNvSpPr/>
          <p:nvPr/>
        </p:nvSpPr>
        <p:spPr>
          <a:xfrm>
            <a:off x="1344168" y="5879592"/>
            <a:ext cx="4206240" cy="457200"/>
          </a:xfrm>
          <a:prstGeom prst="rect">
            <a:avLst/>
          </a:prstGeom>
          <a:noFill/>
          <a:ln/>
        </p:spPr>
        <p:txBody>
          <a:bodyPr wrap="square" lIns="0" tIns="0" rIns="0" bIns="0" rtlCol="0" anchor="ctr"/>
          <a:lstStyle/>
          <a:p>
            <a:pPr marL="0" indent="0">
              <a:lnSpc>
                <a:spcPct val="105000"/>
              </a:lnSpc>
              <a:buNone/>
            </a:pPr>
            <a:r>
              <a:rPr lang="en-US" sz="950" dirty="0">
                <a:solidFill>
                  <a:srgbClr val="AAB7C2"/>
                </a:solidFill>
                <a:latin typeface="Segoe UI" pitchFamily="34" charset="0"/>
                <a:ea typeface="Segoe UI" pitchFamily="34" charset="-122"/>
                <a:cs typeface="Segoe UI" pitchFamily="34" charset="-120"/>
              </a:rPr>
              <a:t>Gainers tab with several bars of clearly different lengths.</a:t>
            </a:r>
            <a:endParaRPr lang="en-US" sz="950" dirty="0"/>
          </a:p>
        </p:txBody>
      </p:sp>
      <p:sp>
        <p:nvSpPr>
          <p:cNvPr id="83" name="row background">
            <a:extLst>
              <a:ext uri="{C183D7F6-B498-43B3-948B-1728B52AA6E4}">
                <adec:decorative xmlns:adec="http://schemas.microsoft.com/office/drawing/2017/decorative" val="1"/>
              </a:ext>
            </a:extLst>
          </p:cNvPr>
          <p:cNvSpPr/>
          <p:nvPr/>
        </p:nvSpPr>
        <p:spPr>
          <a:xfrm>
            <a:off x="6007608" y="5513832"/>
            <a:ext cx="5166360" cy="841248"/>
          </a:xfrm>
          <a:prstGeom prst="rect">
            <a:avLst/>
          </a:prstGeom>
          <a:solidFill>
            <a:srgbClr val="20272D"/>
          </a:solidFill>
          <a:ln w="12700">
            <a:solidFill>
              <a:srgbClr val="333333"/>
            </a:solidFill>
            <a:prstDash val="solid"/>
          </a:ln>
        </p:spPr>
        <p:txBody>
          <a:bodyPr/>
          <a:lstStyle/>
          <a:p>
            <a:endParaRPr lang="en-SE"/>
          </a:p>
        </p:txBody>
      </p:sp>
      <p:sp>
        <p:nvSpPr>
          <p:cNvPr id="84" name="figure number box">
            <a:extLst>
              <a:ext uri="{C183D7F6-B498-43B3-948B-1728B52AA6E4}">
                <adec:decorative xmlns:adec="http://schemas.microsoft.com/office/drawing/2017/decorative" val="1"/>
              </a:ext>
            </a:extLst>
          </p:cNvPr>
          <p:cNvSpPr/>
          <p:nvPr/>
        </p:nvSpPr>
        <p:spPr>
          <a:xfrm>
            <a:off x="6153912" y="5696712"/>
            <a:ext cx="502920" cy="475488"/>
          </a:xfrm>
          <a:prstGeom prst="rect">
            <a:avLst/>
          </a:prstGeom>
          <a:solidFill>
            <a:srgbClr val="122C22"/>
          </a:solidFill>
          <a:ln w="12700">
            <a:solidFill>
              <a:srgbClr val="3FE08A"/>
            </a:solidFill>
            <a:prstDash val="solid"/>
          </a:ln>
        </p:spPr>
        <p:txBody>
          <a:bodyPr/>
          <a:lstStyle/>
          <a:p>
            <a:endParaRPr lang="en-SE"/>
          </a:p>
        </p:txBody>
      </p:sp>
      <p:sp>
        <p:nvSpPr>
          <p:cNvPr id="85" name="Text 83"/>
          <p:cNvSpPr/>
          <p:nvPr/>
        </p:nvSpPr>
        <p:spPr>
          <a:xfrm>
            <a:off x="6153912" y="5696712"/>
            <a:ext cx="502920" cy="475488"/>
          </a:xfrm>
          <a:prstGeom prst="rect">
            <a:avLst/>
          </a:prstGeom>
          <a:noFill/>
          <a:ln/>
        </p:spPr>
        <p:txBody>
          <a:bodyPr wrap="square" lIns="0" tIns="0" rIns="0" bIns="0" rtlCol="0" anchor="ctr"/>
          <a:lstStyle/>
          <a:p>
            <a:pPr marL="0" indent="0" algn="ctr">
              <a:buNone/>
            </a:pPr>
            <a:r>
              <a:rPr lang="en-US" sz="1100" b="1" dirty="0">
                <a:solidFill>
                  <a:srgbClr val="3FE08A"/>
                </a:solidFill>
                <a:latin typeface="Consolas" pitchFamily="34" charset="0"/>
                <a:ea typeface="Consolas" pitchFamily="34" charset="-122"/>
                <a:cs typeface="Consolas" pitchFamily="34" charset="-120"/>
              </a:rPr>
              <a:t>8</a:t>
            </a:r>
            <a:endParaRPr lang="en-US" sz="1100" dirty="0"/>
          </a:p>
        </p:txBody>
      </p:sp>
      <p:sp>
        <p:nvSpPr>
          <p:cNvPr id="86" name="Text 84"/>
          <p:cNvSpPr/>
          <p:nvPr/>
        </p:nvSpPr>
        <p:spPr>
          <a:xfrm>
            <a:off x="6784848" y="5623560"/>
            <a:ext cx="4206240" cy="274320"/>
          </a:xfrm>
          <a:prstGeom prst="rect">
            <a:avLst/>
          </a:prstGeom>
          <a:noFill/>
          <a:ln/>
        </p:spPr>
        <p:txBody>
          <a:bodyPr wrap="square" lIns="0" tIns="0" rIns="0" bIns="0" rtlCol="0" anchor="ctr"/>
          <a:lstStyle/>
          <a:p>
            <a:pPr marL="0" indent="0">
              <a:buNone/>
            </a:pPr>
            <a:r>
              <a:rPr lang="en-US" sz="1200" b="1" dirty="0">
                <a:solidFill>
                  <a:srgbClr val="E6EDF3"/>
                </a:solidFill>
                <a:latin typeface="Segoe UI" pitchFamily="34" charset="0"/>
                <a:ea typeface="Segoe UI" pitchFamily="34" charset="-122"/>
                <a:cs typeface="Segoe UI" pitchFamily="34" charset="-120"/>
              </a:rPr>
              <a:t>Session board</a:t>
            </a:r>
            <a:endParaRPr lang="en-US" sz="1200" dirty="0"/>
          </a:p>
        </p:txBody>
      </p:sp>
      <p:sp>
        <p:nvSpPr>
          <p:cNvPr id="87" name="Text 85"/>
          <p:cNvSpPr/>
          <p:nvPr/>
        </p:nvSpPr>
        <p:spPr>
          <a:xfrm>
            <a:off x="6784848" y="5879592"/>
            <a:ext cx="4206240" cy="457200"/>
          </a:xfrm>
          <a:prstGeom prst="rect">
            <a:avLst/>
          </a:prstGeom>
          <a:noFill/>
          <a:ln/>
        </p:spPr>
        <p:txBody>
          <a:bodyPr wrap="square" lIns="0" tIns="0" rIns="0" bIns="0" rtlCol="0" anchor="ctr"/>
          <a:lstStyle/>
          <a:p>
            <a:pPr marL="0" indent="0">
              <a:lnSpc>
                <a:spcPct val="105000"/>
              </a:lnSpc>
              <a:buNone/>
            </a:pPr>
            <a:r>
              <a:rPr lang="en-US" sz="950" dirty="0">
                <a:solidFill>
                  <a:srgbClr val="AAB7C2"/>
                </a:solidFill>
                <a:latin typeface="Segoe UI" pitchFamily="34" charset="0"/>
                <a:ea typeface="Segoe UI" pitchFamily="34" charset="-122"/>
                <a:cs typeface="Segoe UI" pitchFamily="34" charset="-120"/>
              </a:rPr>
              <a:t>At least one active halt and one completed auction result, so both tables have content.</a:t>
            </a:r>
            <a:endParaRPr lang="en-US" sz="9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3171B"/>
        </a:solidFill>
        <a:effectLst/>
      </p:bgPr>
    </p:bg>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685800" y="0"/>
            <a:ext cx="0" cy="6858000"/>
          </a:xfrm>
          <a:prstGeom prst="line">
            <a:avLst/>
          </a:prstGeom>
          <a:noFill/>
          <a:ln w="6350">
            <a:solidFill>
              <a:srgbClr val="222A31"/>
            </a:solidFill>
            <a:prstDash val="solid"/>
          </a:ln>
        </p:spPr>
        <p:txBody>
          <a:bodyPr/>
          <a:lstStyle/>
          <a:p>
            <a:endParaRPr lang="en-SE"/>
          </a:p>
        </p:txBody>
      </p:sp>
      <p:sp>
        <p:nvSpPr>
          <p:cNvPr id="3" name="grid line">
            <a:extLst>
              <a:ext uri="{C183D7F6-B498-43B3-948B-1728B52AA6E4}">
                <adec:decorative xmlns:adec="http://schemas.microsoft.com/office/drawing/2017/decorative" val="1"/>
              </a:ext>
            </a:extLst>
          </p:cNvPr>
          <p:cNvSpPr/>
          <p:nvPr/>
        </p:nvSpPr>
        <p:spPr>
          <a:xfrm>
            <a:off x="1371600" y="0"/>
            <a:ext cx="0" cy="6858000"/>
          </a:xfrm>
          <a:prstGeom prst="line">
            <a:avLst/>
          </a:prstGeom>
          <a:noFill/>
          <a:ln w="6350">
            <a:solidFill>
              <a:srgbClr val="222A31"/>
            </a:solidFill>
            <a:prstDash val="solid"/>
          </a:ln>
        </p:spPr>
        <p:txBody>
          <a:bodyPr/>
          <a:lstStyle/>
          <a:p>
            <a:endParaRPr lang="en-SE"/>
          </a:p>
        </p:txBody>
      </p:sp>
      <p:sp>
        <p:nvSpPr>
          <p:cNvPr id="4" name="grid line">
            <a:extLst>
              <a:ext uri="{C183D7F6-B498-43B3-948B-1728B52AA6E4}">
                <adec:decorative xmlns:adec="http://schemas.microsoft.com/office/drawing/2017/decorative" val="1"/>
              </a:ext>
            </a:extLst>
          </p:cNvPr>
          <p:cNvSpPr/>
          <p:nvPr/>
        </p:nvSpPr>
        <p:spPr>
          <a:xfrm>
            <a:off x="2057400" y="0"/>
            <a:ext cx="0" cy="6858000"/>
          </a:xfrm>
          <a:prstGeom prst="line">
            <a:avLst/>
          </a:prstGeom>
          <a:noFill/>
          <a:ln w="6350">
            <a:solidFill>
              <a:srgbClr val="222A31"/>
            </a:solidFill>
            <a:prstDash val="solid"/>
          </a:ln>
        </p:spPr>
        <p:txBody>
          <a:bodyPr/>
          <a:lstStyle/>
          <a:p>
            <a:endParaRPr lang="en-SE"/>
          </a:p>
        </p:txBody>
      </p:sp>
      <p:sp>
        <p:nvSpPr>
          <p:cNvPr id="5" name="grid line">
            <a:extLst>
              <a:ext uri="{C183D7F6-B498-43B3-948B-1728B52AA6E4}">
                <adec:decorative xmlns:adec="http://schemas.microsoft.com/office/drawing/2017/decorative" val="1"/>
              </a:ext>
            </a:extLst>
          </p:cNvPr>
          <p:cNvSpPr/>
          <p:nvPr/>
        </p:nvSpPr>
        <p:spPr>
          <a:xfrm>
            <a:off x="2743200" y="0"/>
            <a:ext cx="0" cy="6858000"/>
          </a:xfrm>
          <a:prstGeom prst="line">
            <a:avLst/>
          </a:prstGeom>
          <a:noFill/>
          <a:ln w="6350">
            <a:solidFill>
              <a:srgbClr val="222A31"/>
            </a:solidFill>
            <a:prstDash val="solid"/>
          </a:ln>
        </p:spPr>
        <p:txBody>
          <a:bodyPr/>
          <a:lstStyle/>
          <a:p>
            <a:endParaRPr lang="en-SE"/>
          </a:p>
        </p:txBody>
      </p:sp>
      <p:sp>
        <p:nvSpPr>
          <p:cNvPr id="6" name="grid line">
            <a:extLst>
              <a:ext uri="{C183D7F6-B498-43B3-948B-1728B52AA6E4}">
                <adec:decorative xmlns:adec="http://schemas.microsoft.com/office/drawing/2017/decorative" val="1"/>
              </a:ext>
            </a:extLst>
          </p:cNvPr>
          <p:cNvSpPr/>
          <p:nvPr/>
        </p:nvSpPr>
        <p:spPr>
          <a:xfrm>
            <a:off x="3429000" y="0"/>
            <a:ext cx="0" cy="6858000"/>
          </a:xfrm>
          <a:prstGeom prst="line">
            <a:avLst/>
          </a:prstGeom>
          <a:noFill/>
          <a:ln w="6350">
            <a:solidFill>
              <a:srgbClr val="222A31"/>
            </a:solidFill>
            <a:prstDash val="solid"/>
          </a:ln>
        </p:spPr>
        <p:txBody>
          <a:bodyPr/>
          <a:lstStyle/>
          <a:p>
            <a:endParaRPr lang="en-SE"/>
          </a:p>
        </p:txBody>
      </p:sp>
      <p:sp>
        <p:nvSpPr>
          <p:cNvPr id="7" name="grid line">
            <a:extLst>
              <a:ext uri="{C183D7F6-B498-43B3-948B-1728B52AA6E4}">
                <adec:decorative xmlns:adec="http://schemas.microsoft.com/office/drawing/2017/decorative" val="1"/>
              </a:ext>
            </a:extLst>
          </p:cNvPr>
          <p:cNvSpPr/>
          <p:nvPr/>
        </p:nvSpPr>
        <p:spPr>
          <a:xfrm>
            <a:off x="4114800" y="0"/>
            <a:ext cx="0" cy="6858000"/>
          </a:xfrm>
          <a:prstGeom prst="line">
            <a:avLst/>
          </a:prstGeom>
          <a:noFill/>
          <a:ln w="6350">
            <a:solidFill>
              <a:srgbClr val="222A31"/>
            </a:solidFill>
            <a:prstDash val="solid"/>
          </a:ln>
        </p:spPr>
        <p:txBody>
          <a:bodyPr/>
          <a:lstStyle/>
          <a:p>
            <a:endParaRPr lang="en-SE"/>
          </a:p>
        </p:txBody>
      </p:sp>
      <p:sp>
        <p:nvSpPr>
          <p:cNvPr id="8" name="grid line">
            <a:extLst>
              <a:ext uri="{C183D7F6-B498-43B3-948B-1728B52AA6E4}">
                <adec:decorative xmlns:adec="http://schemas.microsoft.com/office/drawing/2017/decorative" val="1"/>
              </a:ext>
            </a:extLst>
          </p:cNvPr>
          <p:cNvSpPr/>
          <p:nvPr/>
        </p:nvSpPr>
        <p:spPr>
          <a:xfrm>
            <a:off x="4800600" y="0"/>
            <a:ext cx="0" cy="6858000"/>
          </a:xfrm>
          <a:prstGeom prst="line">
            <a:avLst/>
          </a:prstGeom>
          <a:noFill/>
          <a:ln w="6350">
            <a:solidFill>
              <a:srgbClr val="222A31"/>
            </a:solidFill>
            <a:prstDash val="solid"/>
          </a:ln>
        </p:spPr>
        <p:txBody>
          <a:bodyPr/>
          <a:lstStyle/>
          <a:p>
            <a:endParaRPr lang="en-SE"/>
          </a:p>
        </p:txBody>
      </p:sp>
      <p:sp>
        <p:nvSpPr>
          <p:cNvPr id="9" name="grid line">
            <a:extLst>
              <a:ext uri="{C183D7F6-B498-43B3-948B-1728B52AA6E4}">
                <adec:decorative xmlns:adec="http://schemas.microsoft.com/office/drawing/2017/decorative" val="1"/>
              </a:ext>
            </a:extLst>
          </p:cNvPr>
          <p:cNvSpPr/>
          <p:nvPr/>
        </p:nvSpPr>
        <p:spPr>
          <a:xfrm>
            <a:off x="5486400" y="0"/>
            <a:ext cx="0" cy="6858000"/>
          </a:xfrm>
          <a:prstGeom prst="line">
            <a:avLst/>
          </a:prstGeom>
          <a:noFill/>
          <a:ln w="6350">
            <a:solidFill>
              <a:srgbClr val="222A31"/>
            </a:solidFill>
            <a:prstDash val="solid"/>
          </a:ln>
        </p:spPr>
        <p:txBody>
          <a:bodyPr/>
          <a:lstStyle/>
          <a:p>
            <a:endParaRPr lang="en-SE"/>
          </a:p>
        </p:txBody>
      </p:sp>
      <p:sp>
        <p:nvSpPr>
          <p:cNvPr id="10" name="grid line">
            <a:extLst>
              <a:ext uri="{C183D7F6-B498-43B3-948B-1728B52AA6E4}">
                <adec:decorative xmlns:adec="http://schemas.microsoft.com/office/drawing/2017/decorative" val="1"/>
              </a:ext>
            </a:extLst>
          </p:cNvPr>
          <p:cNvSpPr/>
          <p:nvPr/>
        </p:nvSpPr>
        <p:spPr>
          <a:xfrm>
            <a:off x="6172200" y="0"/>
            <a:ext cx="0" cy="6858000"/>
          </a:xfrm>
          <a:prstGeom prst="line">
            <a:avLst/>
          </a:prstGeom>
          <a:noFill/>
          <a:ln w="6350">
            <a:solidFill>
              <a:srgbClr val="222A31"/>
            </a:solidFill>
            <a:prstDash val="solid"/>
          </a:ln>
        </p:spPr>
        <p:txBody>
          <a:bodyPr/>
          <a:lstStyle/>
          <a:p>
            <a:endParaRPr lang="en-SE"/>
          </a:p>
        </p:txBody>
      </p:sp>
      <p:sp>
        <p:nvSpPr>
          <p:cNvPr id="11" name="grid line">
            <a:extLst>
              <a:ext uri="{C183D7F6-B498-43B3-948B-1728B52AA6E4}">
                <adec:decorative xmlns:adec="http://schemas.microsoft.com/office/drawing/2017/decorative" val="1"/>
              </a:ext>
            </a:extLst>
          </p:cNvPr>
          <p:cNvSpPr/>
          <p:nvPr/>
        </p:nvSpPr>
        <p:spPr>
          <a:xfrm>
            <a:off x="6858000" y="0"/>
            <a:ext cx="0" cy="6858000"/>
          </a:xfrm>
          <a:prstGeom prst="line">
            <a:avLst/>
          </a:prstGeom>
          <a:noFill/>
          <a:ln w="6350">
            <a:solidFill>
              <a:srgbClr val="222A31"/>
            </a:solidFill>
            <a:prstDash val="solid"/>
          </a:ln>
        </p:spPr>
        <p:txBody>
          <a:bodyPr/>
          <a:lstStyle/>
          <a:p>
            <a:endParaRPr lang="en-SE"/>
          </a:p>
        </p:txBody>
      </p:sp>
      <p:sp>
        <p:nvSpPr>
          <p:cNvPr id="12" name="grid line">
            <a:extLst>
              <a:ext uri="{C183D7F6-B498-43B3-948B-1728B52AA6E4}">
                <adec:decorative xmlns:adec="http://schemas.microsoft.com/office/drawing/2017/decorative" val="1"/>
              </a:ext>
            </a:extLst>
          </p:cNvPr>
          <p:cNvSpPr/>
          <p:nvPr/>
        </p:nvSpPr>
        <p:spPr>
          <a:xfrm>
            <a:off x="7543800" y="0"/>
            <a:ext cx="0" cy="6858000"/>
          </a:xfrm>
          <a:prstGeom prst="line">
            <a:avLst/>
          </a:prstGeom>
          <a:noFill/>
          <a:ln w="6350">
            <a:solidFill>
              <a:srgbClr val="222A31"/>
            </a:solidFill>
            <a:prstDash val="solid"/>
          </a:ln>
        </p:spPr>
        <p:txBody>
          <a:bodyPr/>
          <a:lstStyle/>
          <a:p>
            <a:endParaRPr lang="en-SE"/>
          </a:p>
        </p:txBody>
      </p:sp>
      <p:sp>
        <p:nvSpPr>
          <p:cNvPr id="13" name="grid line">
            <a:extLst>
              <a:ext uri="{C183D7F6-B498-43B3-948B-1728B52AA6E4}">
                <adec:decorative xmlns:adec="http://schemas.microsoft.com/office/drawing/2017/decorative" val="1"/>
              </a:ext>
            </a:extLst>
          </p:cNvPr>
          <p:cNvSpPr/>
          <p:nvPr/>
        </p:nvSpPr>
        <p:spPr>
          <a:xfrm>
            <a:off x="8229600" y="0"/>
            <a:ext cx="0" cy="6858000"/>
          </a:xfrm>
          <a:prstGeom prst="line">
            <a:avLst/>
          </a:prstGeom>
          <a:noFill/>
          <a:ln w="6350">
            <a:solidFill>
              <a:srgbClr val="222A31"/>
            </a:solidFill>
            <a:prstDash val="solid"/>
          </a:ln>
        </p:spPr>
        <p:txBody>
          <a:bodyPr/>
          <a:lstStyle/>
          <a:p>
            <a:endParaRPr lang="en-SE"/>
          </a:p>
        </p:txBody>
      </p:sp>
      <p:sp>
        <p:nvSpPr>
          <p:cNvPr id="14" name="grid line">
            <a:extLst>
              <a:ext uri="{C183D7F6-B498-43B3-948B-1728B52AA6E4}">
                <adec:decorative xmlns:adec="http://schemas.microsoft.com/office/drawing/2017/decorative" val="1"/>
              </a:ext>
            </a:extLst>
          </p:cNvPr>
          <p:cNvSpPr/>
          <p:nvPr/>
        </p:nvSpPr>
        <p:spPr>
          <a:xfrm>
            <a:off x="8915400" y="0"/>
            <a:ext cx="0" cy="6858000"/>
          </a:xfrm>
          <a:prstGeom prst="line">
            <a:avLst/>
          </a:prstGeom>
          <a:noFill/>
          <a:ln w="6350">
            <a:solidFill>
              <a:srgbClr val="222A31"/>
            </a:solidFill>
            <a:prstDash val="solid"/>
          </a:ln>
        </p:spPr>
        <p:txBody>
          <a:bodyPr/>
          <a:lstStyle/>
          <a:p>
            <a:endParaRPr lang="en-SE"/>
          </a:p>
        </p:txBody>
      </p:sp>
      <p:sp>
        <p:nvSpPr>
          <p:cNvPr id="15" name="grid line">
            <a:extLst>
              <a:ext uri="{C183D7F6-B498-43B3-948B-1728B52AA6E4}">
                <adec:decorative xmlns:adec="http://schemas.microsoft.com/office/drawing/2017/decorative" val="1"/>
              </a:ext>
            </a:extLst>
          </p:cNvPr>
          <p:cNvSpPr/>
          <p:nvPr/>
        </p:nvSpPr>
        <p:spPr>
          <a:xfrm>
            <a:off x="9601200" y="0"/>
            <a:ext cx="0" cy="6858000"/>
          </a:xfrm>
          <a:prstGeom prst="line">
            <a:avLst/>
          </a:prstGeom>
          <a:noFill/>
          <a:ln w="6350">
            <a:solidFill>
              <a:srgbClr val="222A31"/>
            </a:solidFill>
            <a:prstDash val="solid"/>
          </a:ln>
        </p:spPr>
        <p:txBody>
          <a:bodyPr/>
          <a:lstStyle/>
          <a:p>
            <a:endParaRPr lang="en-SE"/>
          </a:p>
        </p:txBody>
      </p:sp>
      <p:sp>
        <p:nvSpPr>
          <p:cNvPr id="16" name="grid line">
            <a:extLst>
              <a:ext uri="{C183D7F6-B498-43B3-948B-1728B52AA6E4}">
                <adec:decorative xmlns:adec="http://schemas.microsoft.com/office/drawing/2017/decorative" val="1"/>
              </a:ext>
            </a:extLst>
          </p:cNvPr>
          <p:cNvSpPr/>
          <p:nvPr/>
        </p:nvSpPr>
        <p:spPr>
          <a:xfrm>
            <a:off x="10287000" y="0"/>
            <a:ext cx="0" cy="6858000"/>
          </a:xfrm>
          <a:prstGeom prst="line">
            <a:avLst/>
          </a:prstGeom>
          <a:noFill/>
          <a:ln w="6350">
            <a:solidFill>
              <a:srgbClr val="222A31"/>
            </a:solidFill>
            <a:prstDash val="solid"/>
          </a:ln>
        </p:spPr>
        <p:txBody>
          <a:bodyPr/>
          <a:lstStyle/>
          <a:p>
            <a:endParaRPr lang="en-SE"/>
          </a:p>
        </p:txBody>
      </p:sp>
      <p:sp>
        <p:nvSpPr>
          <p:cNvPr id="17" name="grid line">
            <a:extLst>
              <a:ext uri="{C183D7F6-B498-43B3-948B-1728B52AA6E4}">
                <adec:decorative xmlns:adec="http://schemas.microsoft.com/office/drawing/2017/decorative" val="1"/>
              </a:ext>
            </a:extLst>
          </p:cNvPr>
          <p:cNvSpPr/>
          <p:nvPr/>
        </p:nvSpPr>
        <p:spPr>
          <a:xfrm>
            <a:off x="10972800" y="0"/>
            <a:ext cx="0" cy="6858000"/>
          </a:xfrm>
          <a:prstGeom prst="line">
            <a:avLst/>
          </a:prstGeom>
          <a:noFill/>
          <a:ln w="6350">
            <a:solidFill>
              <a:srgbClr val="222A31"/>
            </a:solidFill>
            <a:prstDash val="solid"/>
          </a:ln>
        </p:spPr>
        <p:txBody>
          <a:bodyPr/>
          <a:lstStyle/>
          <a:p>
            <a:endParaRPr lang="en-SE"/>
          </a:p>
        </p:txBody>
      </p:sp>
      <p:sp>
        <p:nvSpPr>
          <p:cNvPr id="18" name="grid line">
            <a:extLst>
              <a:ext uri="{C183D7F6-B498-43B3-948B-1728B52AA6E4}">
                <adec:decorative xmlns:adec="http://schemas.microsoft.com/office/drawing/2017/decorative" val="1"/>
              </a:ext>
            </a:extLst>
          </p:cNvPr>
          <p:cNvSpPr/>
          <p:nvPr/>
        </p:nvSpPr>
        <p:spPr>
          <a:xfrm>
            <a:off x="11658600" y="0"/>
            <a:ext cx="0" cy="6858000"/>
          </a:xfrm>
          <a:prstGeom prst="line">
            <a:avLst/>
          </a:prstGeom>
          <a:noFill/>
          <a:ln w="6350">
            <a:solidFill>
              <a:srgbClr val="222A31"/>
            </a:solidFill>
            <a:prstDash val="solid"/>
          </a:ln>
        </p:spPr>
        <p:txBody>
          <a:bodyPr/>
          <a:lstStyle/>
          <a:p>
            <a:endParaRPr lang="en-SE"/>
          </a:p>
        </p:txBody>
      </p:sp>
      <p:sp>
        <p:nvSpPr>
          <p:cNvPr id="19" name="grid line">
            <a:extLst>
              <a:ext uri="{C183D7F6-B498-43B3-948B-1728B52AA6E4}">
                <adec:decorative xmlns:adec="http://schemas.microsoft.com/office/drawing/2017/decorative" val="1"/>
              </a:ext>
            </a:extLst>
          </p:cNvPr>
          <p:cNvSpPr/>
          <p:nvPr/>
        </p:nvSpPr>
        <p:spPr>
          <a:xfrm>
            <a:off x="0" y="685800"/>
            <a:ext cx="12191695" cy="0"/>
          </a:xfrm>
          <a:prstGeom prst="line">
            <a:avLst/>
          </a:prstGeom>
          <a:noFill/>
          <a:ln w="6350">
            <a:solidFill>
              <a:srgbClr val="222A31"/>
            </a:solidFill>
            <a:prstDash val="solid"/>
          </a:ln>
        </p:spPr>
        <p:txBody>
          <a:bodyPr/>
          <a:lstStyle/>
          <a:p>
            <a:endParaRPr lang="en-SE"/>
          </a:p>
        </p:txBody>
      </p:sp>
      <p:sp>
        <p:nvSpPr>
          <p:cNvPr id="20" name="grid line">
            <a:extLst>
              <a:ext uri="{C183D7F6-B498-43B3-948B-1728B52AA6E4}">
                <adec:decorative xmlns:adec="http://schemas.microsoft.com/office/drawing/2017/decorative" val="1"/>
              </a:ext>
            </a:extLst>
          </p:cNvPr>
          <p:cNvSpPr/>
          <p:nvPr/>
        </p:nvSpPr>
        <p:spPr>
          <a:xfrm>
            <a:off x="0" y="1371600"/>
            <a:ext cx="12191695" cy="0"/>
          </a:xfrm>
          <a:prstGeom prst="line">
            <a:avLst/>
          </a:prstGeom>
          <a:noFill/>
          <a:ln w="6350">
            <a:solidFill>
              <a:srgbClr val="222A31"/>
            </a:solidFill>
            <a:prstDash val="solid"/>
          </a:ln>
        </p:spPr>
        <p:txBody>
          <a:bodyPr/>
          <a:lstStyle/>
          <a:p>
            <a:endParaRPr lang="en-SE"/>
          </a:p>
        </p:txBody>
      </p:sp>
      <p:sp>
        <p:nvSpPr>
          <p:cNvPr id="21" name="grid line">
            <a:extLst>
              <a:ext uri="{C183D7F6-B498-43B3-948B-1728B52AA6E4}">
                <adec:decorative xmlns:adec="http://schemas.microsoft.com/office/drawing/2017/decorative" val="1"/>
              </a:ext>
            </a:extLst>
          </p:cNvPr>
          <p:cNvSpPr/>
          <p:nvPr/>
        </p:nvSpPr>
        <p:spPr>
          <a:xfrm>
            <a:off x="0" y="2057400"/>
            <a:ext cx="12191695" cy="0"/>
          </a:xfrm>
          <a:prstGeom prst="line">
            <a:avLst/>
          </a:prstGeom>
          <a:noFill/>
          <a:ln w="6350">
            <a:solidFill>
              <a:srgbClr val="222A31"/>
            </a:solidFill>
            <a:prstDash val="solid"/>
          </a:ln>
        </p:spPr>
        <p:txBody>
          <a:bodyPr/>
          <a:lstStyle/>
          <a:p>
            <a:endParaRPr lang="en-SE"/>
          </a:p>
        </p:txBody>
      </p:sp>
      <p:sp>
        <p:nvSpPr>
          <p:cNvPr id="22" name="grid line">
            <a:extLst>
              <a:ext uri="{C183D7F6-B498-43B3-948B-1728B52AA6E4}">
                <adec:decorative xmlns:adec="http://schemas.microsoft.com/office/drawing/2017/decorative" val="1"/>
              </a:ext>
            </a:extLst>
          </p:cNvPr>
          <p:cNvSpPr/>
          <p:nvPr/>
        </p:nvSpPr>
        <p:spPr>
          <a:xfrm>
            <a:off x="0" y="2743200"/>
            <a:ext cx="12191695" cy="0"/>
          </a:xfrm>
          <a:prstGeom prst="line">
            <a:avLst/>
          </a:prstGeom>
          <a:noFill/>
          <a:ln w="6350">
            <a:solidFill>
              <a:srgbClr val="222A31"/>
            </a:solidFill>
            <a:prstDash val="solid"/>
          </a:ln>
        </p:spPr>
        <p:txBody>
          <a:bodyPr/>
          <a:lstStyle/>
          <a:p>
            <a:endParaRPr lang="en-SE"/>
          </a:p>
        </p:txBody>
      </p:sp>
      <p:sp>
        <p:nvSpPr>
          <p:cNvPr id="23" name="grid line">
            <a:extLst>
              <a:ext uri="{C183D7F6-B498-43B3-948B-1728B52AA6E4}">
                <adec:decorative xmlns:adec="http://schemas.microsoft.com/office/drawing/2017/decorative" val="1"/>
              </a:ext>
            </a:extLst>
          </p:cNvPr>
          <p:cNvSpPr/>
          <p:nvPr/>
        </p:nvSpPr>
        <p:spPr>
          <a:xfrm>
            <a:off x="0" y="3429000"/>
            <a:ext cx="12191695" cy="0"/>
          </a:xfrm>
          <a:prstGeom prst="line">
            <a:avLst/>
          </a:prstGeom>
          <a:noFill/>
          <a:ln w="6350">
            <a:solidFill>
              <a:srgbClr val="222A31"/>
            </a:solidFill>
            <a:prstDash val="solid"/>
          </a:ln>
        </p:spPr>
        <p:txBody>
          <a:bodyPr/>
          <a:lstStyle/>
          <a:p>
            <a:endParaRPr lang="en-SE"/>
          </a:p>
        </p:txBody>
      </p:sp>
      <p:sp>
        <p:nvSpPr>
          <p:cNvPr id="24" name="grid line">
            <a:extLst>
              <a:ext uri="{C183D7F6-B498-43B3-948B-1728B52AA6E4}">
                <adec:decorative xmlns:adec="http://schemas.microsoft.com/office/drawing/2017/decorative" val="1"/>
              </a:ext>
            </a:extLst>
          </p:cNvPr>
          <p:cNvSpPr/>
          <p:nvPr/>
        </p:nvSpPr>
        <p:spPr>
          <a:xfrm>
            <a:off x="0" y="4114800"/>
            <a:ext cx="12191695" cy="0"/>
          </a:xfrm>
          <a:prstGeom prst="line">
            <a:avLst/>
          </a:prstGeom>
          <a:noFill/>
          <a:ln w="6350">
            <a:solidFill>
              <a:srgbClr val="222A31"/>
            </a:solidFill>
            <a:prstDash val="solid"/>
          </a:ln>
        </p:spPr>
        <p:txBody>
          <a:bodyPr/>
          <a:lstStyle/>
          <a:p>
            <a:endParaRPr lang="en-SE"/>
          </a:p>
        </p:txBody>
      </p:sp>
      <p:sp>
        <p:nvSpPr>
          <p:cNvPr id="25" name="grid line">
            <a:extLst>
              <a:ext uri="{C183D7F6-B498-43B3-948B-1728B52AA6E4}">
                <adec:decorative xmlns:adec="http://schemas.microsoft.com/office/drawing/2017/decorative" val="1"/>
              </a:ext>
            </a:extLst>
          </p:cNvPr>
          <p:cNvSpPr/>
          <p:nvPr/>
        </p:nvSpPr>
        <p:spPr>
          <a:xfrm>
            <a:off x="0" y="4800600"/>
            <a:ext cx="12191695" cy="0"/>
          </a:xfrm>
          <a:prstGeom prst="line">
            <a:avLst/>
          </a:prstGeom>
          <a:noFill/>
          <a:ln w="6350">
            <a:solidFill>
              <a:srgbClr val="222A31"/>
            </a:solidFill>
            <a:prstDash val="solid"/>
          </a:ln>
        </p:spPr>
        <p:txBody>
          <a:bodyPr/>
          <a:lstStyle/>
          <a:p>
            <a:endParaRPr lang="en-SE"/>
          </a:p>
        </p:txBody>
      </p:sp>
      <p:sp>
        <p:nvSpPr>
          <p:cNvPr id="26" name="grid line">
            <a:extLst>
              <a:ext uri="{C183D7F6-B498-43B3-948B-1728B52AA6E4}">
                <adec:decorative xmlns:adec="http://schemas.microsoft.com/office/drawing/2017/decorative" val="1"/>
              </a:ext>
            </a:extLst>
          </p:cNvPr>
          <p:cNvSpPr/>
          <p:nvPr/>
        </p:nvSpPr>
        <p:spPr>
          <a:xfrm>
            <a:off x="0" y="5486400"/>
            <a:ext cx="12191695" cy="0"/>
          </a:xfrm>
          <a:prstGeom prst="line">
            <a:avLst/>
          </a:prstGeom>
          <a:noFill/>
          <a:ln w="6350">
            <a:solidFill>
              <a:srgbClr val="222A31"/>
            </a:solidFill>
            <a:prstDash val="solid"/>
          </a:ln>
        </p:spPr>
        <p:txBody>
          <a:bodyPr/>
          <a:lstStyle/>
          <a:p>
            <a:endParaRPr lang="en-SE"/>
          </a:p>
        </p:txBody>
      </p:sp>
      <p:sp>
        <p:nvSpPr>
          <p:cNvPr id="27" name="grid line">
            <a:extLst>
              <a:ext uri="{C183D7F6-B498-43B3-948B-1728B52AA6E4}">
                <adec:decorative xmlns:adec="http://schemas.microsoft.com/office/drawing/2017/decorative" val="1"/>
              </a:ext>
            </a:extLst>
          </p:cNvPr>
          <p:cNvSpPr/>
          <p:nvPr/>
        </p:nvSpPr>
        <p:spPr>
          <a:xfrm>
            <a:off x="0" y="6172200"/>
            <a:ext cx="12191695" cy="0"/>
          </a:xfrm>
          <a:prstGeom prst="line">
            <a:avLst/>
          </a:prstGeom>
          <a:noFill/>
          <a:ln w="6350">
            <a:solidFill>
              <a:srgbClr val="222A31"/>
            </a:solidFill>
            <a:prstDash val="solid"/>
          </a:ln>
        </p:spPr>
        <p:txBody>
          <a:bodyPr/>
          <a:lstStyle/>
          <a:p>
            <a:endParaRPr lang="en-SE"/>
          </a:p>
        </p:txBody>
      </p:sp>
      <p:sp>
        <p:nvSpPr>
          <p:cNvPr id="28" name="top accent bar">
            <a:extLst>
              <a:ext uri="{C183D7F6-B498-43B3-948B-1728B52AA6E4}">
                <adec:decorative xmlns:adec="http://schemas.microsoft.com/office/drawing/2017/decorative" val="1"/>
              </a:ext>
            </a:extLst>
          </p:cNvPr>
          <p:cNvSpPr/>
          <p:nvPr/>
        </p:nvSpPr>
        <p:spPr>
          <a:xfrm>
            <a:off x="0" y="0"/>
            <a:ext cx="12191695" cy="50292"/>
          </a:xfrm>
          <a:prstGeom prst="rect">
            <a:avLst/>
          </a:prstGeom>
          <a:solidFill>
            <a:srgbClr val="3FE08A"/>
          </a:solidFill>
          <a:ln w="12700">
            <a:solidFill>
              <a:srgbClr val="333333"/>
            </a:solidFill>
            <a:prstDash val="solid"/>
          </a:ln>
        </p:spPr>
        <p:txBody>
          <a:bodyPr/>
          <a:lstStyle/>
          <a:p>
            <a:endParaRPr lang="en-SE"/>
          </a:p>
        </p:txBody>
      </p:sp>
      <p:sp>
        <p:nvSpPr>
          <p:cNvPr id="29" name="title underline">
            <a:extLst>
              <a:ext uri="{C183D7F6-B498-43B3-948B-1728B52AA6E4}">
                <adec:decorative xmlns:adec="http://schemas.microsoft.com/office/drawing/2017/decorative" val="1"/>
              </a:ext>
            </a:extLst>
          </p:cNvPr>
          <p:cNvSpPr/>
          <p:nvPr/>
        </p:nvSpPr>
        <p:spPr>
          <a:xfrm>
            <a:off x="566928" y="1024128"/>
            <a:ext cx="1051560" cy="32004"/>
          </a:xfrm>
          <a:prstGeom prst="rect">
            <a:avLst/>
          </a:prstGeom>
          <a:solidFill>
            <a:srgbClr val="3FE08A"/>
          </a:solidFill>
          <a:ln w="12700">
            <a:solidFill>
              <a:srgbClr val="333333"/>
            </a:solidFill>
            <a:prstDash val="solid"/>
          </a:ln>
        </p:spPr>
        <p:txBody>
          <a:bodyPr/>
          <a:lstStyle/>
          <a:p>
            <a:endParaRPr lang="en-SE"/>
          </a:p>
        </p:txBody>
      </p:sp>
      <p:sp>
        <p:nvSpPr>
          <p:cNvPr id="30" name="Text 0"/>
          <p:cNvSpPr>
            <a:spLocks noGrp="1"/>
          </p:cNvSpPr>
          <p:nvPr>
            <p:ph type="title" idx="100" hasCustomPrompt="1"/>
          </p:nvPr>
        </p:nvSpPr>
        <p:spPr>
          <a:xfrm>
            <a:off x="566928" y="384048"/>
            <a:ext cx="10058400" cy="566928"/>
          </a:xfrm>
          <a:prstGeom prst="rect">
            <a:avLst/>
          </a:prstGeom>
          <a:noFill/>
          <a:ln/>
        </p:spPr>
        <p:txBody>
          <a:bodyPr wrap="square" lIns="0" tIns="0" rIns="0" bIns="0" rtlCol="0" anchor="ctr"/>
          <a:lstStyle/>
          <a:p>
            <a:pPr marL="0" indent="0">
              <a:buNone/>
            </a:pPr>
            <a:r>
              <a:rPr lang="en-US" sz="2700" b="1" dirty="0">
                <a:solidFill>
                  <a:srgbClr val="E6EDF3"/>
                </a:solidFill>
                <a:latin typeface="Segoe UI" pitchFamily="34" charset="0"/>
                <a:ea typeface="Segoe UI" pitchFamily="34" charset="-122"/>
                <a:cs typeface="Segoe UI" pitchFamily="34" charset="-120"/>
              </a:rPr>
              <a:t>What to remember</a:t>
            </a:r>
            <a:endParaRPr lang="en-US" sz="2700" dirty="0"/>
          </a:p>
        </p:txBody>
      </p:sp>
      <p:sp>
        <p:nvSpPr>
          <p:cNvPr id="31" name="Text 29"/>
          <p:cNvSpPr/>
          <p:nvPr/>
        </p:nvSpPr>
        <p:spPr>
          <a:xfrm>
            <a:off x="7772400" y="475488"/>
            <a:ext cx="3840480" cy="365760"/>
          </a:xfrm>
          <a:prstGeom prst="rect">
            <a:avLst/>
          </a:prstGeom>
          <a:noFill/>
          <a:ln/>
        </p:spPr>
        <p:txBody>
          <a:bodyPr wrap="square" lIns="0" tIns="0" rIns="0" bIns="0" rtlCol="0" anchor="ctr"/>
          <a:lstStyle/>
          <a:p>
            <a:pPr marL="0" indent="0" algn="r">
              <a:buNone/>
            </a:pPr>
            <a:r>
              <a:rPr lang="en-US" sz="1050" kern="0" spc="200" dirty="0">
                <a:solidFill>
                  <a:srgbClr val="7C8B97"/>
                </a:solidFill>
                <a:latin typeface="Consolas" pitchFamily="34" charset="0"/>
                <a:ea typeface="Consolas" pitchFamily="34" charset="-122"/>
                <a:cs typeface="Consolas" pitchFamily="34" charset="-120"/>
              </a:rPr>
              <a:t>CLOSE</a:t>
            </a:r>
            <a:endParaRPr lang="en-US" sz="1050" dirty="0"/>
          </a:p>
        </p:txBody>
      </p:sp>
      <p:sp>
        <p:nvSpPr>
          <p:cNvPr id="32" name="footer bar">
            <a:extLst>
              <a:ext uri="{C183D7F6-B498-43B3-948B-1728B52AA6E4}">
                <adec:decorative xmlns:adec="http://schemas.microsoft.com/office/drawing/2017/decorative" val="1"/>
              </a:ext>
            </a:extLst>
          </p:cNvPr>
          <p:cNvSpPr/>
          <p:nvPr/>
        </p:nvSpPr>
        <p:spPr>
          <a:xfrm>
            <a:off x="0" y="6455664"/>
            <a:ext cx="12191695" cy="402336"/>
          </a:xfrm>
          <a:prstGeom prst="rect">
            <a:avLst/>
          </a:prstGeom>
          <a:solidFill>
            <a:srgbClr val="191E23"/>
          </a:solidFill>
          <a:ln w="12700">
            <a:solidFill>
              <a:srgbClr val="333333"/>
            </a:solidFill>
            <a:prstDash val="solid"/>
          </a:ln>
        </p:spPr>
        <p:txBody>
          <a:bodyPr/>
          <a:lstStyle/>
          <a:p>
            <a:endParaRPr lang="en-SE"/>
          </a:p>
        </p:txBody>
      </p:sp>
      <p:sp>
        <p:nvSpPr>
          <p:cNvPr id="33" name="footer rule">
            <a:extLst>
              <a:ext uri="{C183D7F6-B498-43B3-948B-1728B52AA6E4}">
                <adec:decorative xmlns:adec="http://schemas.microsoft.com/office/drawing/2017/decorative" val="1"/>
              </a:ext>
            </a:extLst>
          </p:cNvPr>
          <p:cNvSpPr/>
          <p:nvPr/>
        </p:nvSpPr>
        <p:spPr>
          <a:xfrm>
            <a:off x="0" y="6455664"/>
            <a:ext cx="12191695" cy="0"/>
          </a:xfrm>
          <a:prstGeom prst="line">
            <a:avLst/>
          </a:prstGeom>
          <a:noFill/>
          <a:ln w="9525">
            <a:solidFill>
              <a:srgbClr val="313B44"/>
            </a:solidFill>
            <a:prstDash val="solid"/>
          </a:ln>
        </p:spPr>
        <p:txBody>
          <a:bodyPr/>
          <a:lstStyle/>
          <a:p>
            <a:endParaRPr lang="en-SE"/>
          </a:p>
        </p:txBody>
      </p:sp>
      <p:sp>
        <p:nvSpPr>
          <p:cNvPr id="34" name="Text 32"/>
          <p:cNvSpPr/>
          <p:nvPr/>
        </p:nvSpPr>
        <p:spPr>
          <a:xfrm>
            <a:off x="566928" y="6492240"/>
            <a:ext cx="5486400" cy="329184"/>
          </a:xfrm>
          <a:prstGeom prst="rect">
            <a:avLst/>
          </a:prstGeom>
          <a:noFill/>
          <a:ln/>
        </p:spPr>
        <p:txBody>
          <a:bodyPr wrap="square" lIns="0" tIns="0" rIns="0" bIns="0" rtlCol="0" anchor="ctr"/>
          <a:lstStyle/>
          <a:p>
            <a:pPr marL="0" indent="0">
              <a:buNone/>
            </a:pPr>
            <a:r>
              <a:rPr lang="en-US" sz="950" dirty="0">
                <a:solidFill>
                  <a:srgbClr val="7C8B97"/>
                </a:solidFill>
                <a:latin typeface="Consolas" pitchFamily="34" charset="0"/>
                <a:ea typeface="Consolas" pitchFamily="34" charset="-122"/>
                <a:cs typeface="Consolas" pitchFamily="34" charset="-120"/>
              </a:rPr>
              <a:t>TapeDeck — Trader Information Terminal</a:t>
            </a:r>
            <a:endParaRPr lang="en-US" sz="950" dirty="0"/>
          </a:p>
        </p:txBody>
      </p:sp>
      <p:sp>
        <p:nvSpPr>
          <p:cNvPr id="35" name="Text 33"/>
          <p:cNvSpPr/>
          <p:nvPr/>
        </p:nvSpPr>
        <p:spPr>
          <a:xfrm>
            <a:off x="8321040" y="6492240"/>
            <a:ext cx="1828800" cy="329184"/>
          </a:xfrm>
          <a:prstGeom prst="rect">
            <a:avLst/>
          </a:prstGeom>
          <a:noFill/>
          <a:ln/>
        </p:spPr>
        <p:txBody>
          <a:bodyPr wrap="square" lIns="0" tIns="0" rIns="0" bIns="0" rtlCol="0" anchor="ctr"/>
          <a:lstStyle/>
          <a:p>
            <a:pPr marL="0" indent="0" algn="r">
              <a:buNone/>
            </a:pPr>
            <a:r>
              <a:rPr lang="en-US" sz="950" kern="0" spc="100" dirty="0">
                <a:solidFill>
                  <a:srgbClr val="1E6E4B"/>
                </a:solidFill>
                <a:latin typeface="Consolas" pitchFamily="34" charset="0"/>
                <a:ea typeface="Consolas" pitchFamily="34" charset="-122"/>
                <a:cs typeface="Consolas" pitchFamily="34" charset="-120"/>
              </a:rPr>
              <a:t>READ-ONLY</a:t>
            </a:r>
            <a:endParaRPr lang="en-US" sz="950" dirty="0"/>
          </a:p>
        </p:txBody>
      </p:sp>
      <p:sp>
        <p:nvSpPr>
          <p:cNvPr id="36" name="Text 34"/>
          <p:cNvSpPr/>
          <p:nvPr/>
        </p:nvSpPr>
        <p:spPr>
          <a:xfrm>
            <a:off x="11064240" y="6492240"/>
            <a:ext cx="566928" cy="329184"/>
          </a:xfrm>
          <a:prstGeom prst="rect">
            <a:avLst/>
          </a:prstGeom>
          <a:noFill/>
          <a:ln/>
        </p:spPr>
        <p:txBody>
          <a:bodyPr wrap="square" lIns="0" tIns="0" rIns="0" bIns="0" rtlCol="0" anchor="ctr"/>
          <a:lstStyle/>
          <a:p>
            <a:pPr marL="0" indent="0" algn="r">
              <a:buNone/>
            </a:pPr>
            <a:r>
              <a:rPr lang="en-US" sz="950" dirty="0">
                <a:solidFill>
                  <a:srgbClr val="AAB7C2"/>
                </a:solidFill>
                <a:latin typeface="Consolas" pitchFamily="34" charset="0"/>
                <a:ea typeface="Consolas" pitchFamily="34" charset="-122"/>
                <a:cs typeface="Consolas" pitchFamily="34" charset="-120"/>
              </a:rPr>
              <a:t>52</a:t>
            </a:r>
            <a:endParaRPr lang="en-US" sz="950" dirty="0"/>
          </a:p>
        </p:txBody>
      </p:sp>
      <p:sp>
        <p:nvSpPr>
          <p:cNvPr id="37" name="Text 35"/>
          <p:cNvSpPr/>
          <p:nvPr/>
        </p:nvSpPr>
        <p:spPr>
          <a:xfrm>
            <a:off x="566928" y="1170432"/>
            <a:ext cx="10607040" cy="566928"/>
          </a:xfrm>
          <a:prstGeom prst="rect">
            <a:avLst/>
          </a:prstGeom>
          <a:noFill/>
          <a:ln/>
        </p:spPr>
        <p:txBody>
          <a:bodyPr wrap="square" lIns="0" tIns="0" rIns="0" bIns="0" rtlCol="0" anchor="t"/>
          <a:lstStyle/>
          <a:p>
            <a:pPr marL="0" indent="0">
              <a:lnSpc>
                <a:spcPct val="110000"/>
              </a:lnSpc>
              <a:buNone/>
            </a:pPr>
            <a:r>
              <a:rPr lang="en-US" sz="1400" dirty="0">
                <a:solidFill>
                  <a:srgbClr val="AAB7C2"/>
                </a:solidFill>
                <a:latin typeface="Segoe UI" pitchFamily="34" charset="0"/>
                <a:ea typeface="Segoe UI" pitchFamily="34" charset="-122"/>
                <a:cs typeface="Segoe UI" pitchFamily="34" charset="-120"/>
              </a:rPr>
              <a:t>If you take six things away from this session, make it these.</a:t>
            </a:r>
            <a:endParaRPr lang="en-US" sz="1400" dirty="0"/>
          </a:p>
        </p:txBody>
      </p:sp>
      <p:sp>
        <p:nvSpPr>
          <p:cNvPr id="38" name="panel">
            <a:extLst>
              <a:ext uri="{C183D7F6-B498-43B3-948B-1728B52AA6E4}">
                <adec:decorative xmlns:adec="http://schemas.microsoft.com/office/drawing/2017/decorative" val="1"/>
              </a:ext>
            </a:extLst>
          </p:cNvPr>
          <p:cNvSpPr/>
          <p:nvPr/>
        </p:nvSpPr>
        <p:spPr>
          <a:xfrm>
            <a:off x="566928" y="1874520"/>
            <a:ext cx="3474720" cy="196596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39" name="panel accent">
            <a:extLst>
              <a:ext uri="{C183D7F6-B498-43B3-948B-1728B52AA6E4}">
                <adec:decorative xmlns:adec="http://schemas.microsoft.com/office/drawing/2017/decorative" val="1"/>
              </a:ext>
            </a:extLst>
          </p:cNvPr>
          <p:cNvSpPr/>
          <p:nvPr/>
        </p:nvSpPr>
        <p:spPr>
          <a:xfrm>
            <a:off x="566928" y="1874520"/>
            <a:ext cx="3474720" cy="50292"/>
          </a:xfrm>
          <a:prstGeom prst="rect">
            <a:avLst/>
          </a:prstGeom>
          <a:solidFill>
            <a:srgbClr val="3FE08A"/>
          </a:solidFill>
          <a:ln w="12700">
            <a:solidFill>
              <a:srgbClr val="333333"/>
            </a:solidFill>
            <a:prstDash val="solid"/>
          </a:ln>
        </p:spPr>
        <p:txBody>
          <a:bodyPr/>
          <a:lstStyle/>
          <a:p>
            <a:endParaRPr lang="en-SE"/>
          </a:p>
        </p:txBody>
      </p:sp>
      <p:sp>
        <p:nvSpPr>
          <p:cNvPr id="40" name="Text 38"/>
          <p:cNvSpPr/>
          <p:nvPr/>
        </p:nvSpPr>
        <p:spPr>
          <a:xfrm>
            <a:off x="804672" y="2093976"/>
            <a:ext cx="914400" cy="292608"/>
          </a:xfrm>
          <a:prstGeom prst="rect">
            <a:avLst/>
          </a:prstGeom>
          <a:noFill/>
          <a:ln/>
        </p:spPr>
        <p:txBody>
          <a:bodyPr wrap="square" lIns="0" tIns="0" rIns="0" bIns="0" rtlCol="0" anchor="ctr"/>
          <a:lstStyle/>
          <a:p>
            <a:pPr marL="0" indent="0">
              <a:buNone/>
            </a:pPr>
            <a:r>
              <a:rPr lang="en-US" sz="2800" b="1" kern="0" spc="150" dirty="0">
                <a:solidFill>
                  <a:srgbClr val="3FE08A"/>
                </a:solidFill>
                <a:latin typeface="Consolas" pitchFamily="34" charset="0"/>
                <a:ea typeface="Consolas" pitchFamily="34" charset="-122"/>
                <a:cs typeface="Consolas" pitchFamily="34" charset="-120"/>
              </a:rPr>
              <a:t>01</a:t>
            </a:r>
            <a:endParaRPr lang="en-US" sz="2800" dirty="0"/>
          </a:p>
        </p:txBody>
      </p:sp>
      <p:sp>
        <p:nvSpPr>
          <p:cNvPr id="41" name="Text 39"/>
          <p:cNvSpPr/>
          <p:nvPr/>
        </p:nvSpPr>
        <p:spPr>
          <a:xfrm>
            <a:off x="804672" y="2423160"/>
            <a:ext cx="3017520" cy="548640"/>
          </a:xfrm>
          <a:prstGeom prst="rect">
            <a:avLst/>
          </a:prstGeom>
          <a:noFill/>
          <a:ln/>
        </p:spPr>
        <p:txBody>
          <a:bodyPr wrap="square" lIns="0" tIns="0" rIns="0" bIns="0" rtlCol="0" anchor="t"/>
          <a:lstStyle/>
          <a:p>
            <a:pPr marL="0" indent="0">
              <a:lnSpc>
                <a:spcPct val="105000"/>
              </a:lnSpc>
              <a:buNone/>
            </a:pPr>
            <a:r>
              <a:rPr lang="en-US" sz="1600" b="1" dirty="0">
                <a:solidFill>
                  <a:srgbClr val="E6EDF3"/>
                </a:solidFill>
                <a:latin typeface="Segoe UI" pitchFamily="34" charset="0"/>
                <a:ea typeface="Segoe UI" pitchFamily="34" charset="-122"/>
                <a:cs typeface="Segoe UI" pitchFamily="34" charset="-120"/>
              </a:rPr>
              <a:t>It is a window, not a control panel</a:t>
            </a:r>
            <a:endParaRPr lang="en-US" sz="1600" dirty="0"/>
          </a:p>
        </p:txBody>
      </p:sp>
      <p:sp>
        <p:nvSpPr>
          <p:cNvPr id="42" name="Text 40"/>
          <p:cNvSpPr/>
          <p:nvPr/>
        </p:nvSpPr>
        <p:spPr>
          <a:xfrm>
            <a:off x="804672" y="3008376"/>
            <a:ext cx="3017520" cy="731520"/>
          </a:xfrm>
          <a:prstGeom prst="rect">
            <a:avLst/>
          </a:prstGeom>
          <a:noFill/>
          <a:ln/>
        </p:spPr>
        <p:txBody>
          <a:bodyPr wrap="square" lIns="0" tIns="0" rIns="0" bIns="0" rtlCol="0" anchor="t"/>
          <a:lstStyle/>
          <a:p>
            <a:pPr marL="0" indent="0">
              <a:lnSpc>
                <a:spcPct val="112000"/>
              </a:lnSpc>
              <a:buNone/>
            </a:pPr>
            <a:r>
              <a:rPr lang="en-US" sz="1400" dirty="0">
                <a:solidFill>
                  <a:srgbClr val="AAB7C2"/>
                </a:solidFill>
                <a:latin typeface="Segoe UI" pitchFamily="34" charset="0"/>
                <a:ea typeface="Segoe UI" pitchFamily="34" charset="-122"/>
                <a:cs typeface="Segoe UI" pitchFamily="34" charset="-120"/>
              </a:rPr>
              <a:t>No order entry, no login, no write path. You cannot break the market with it.</a:t>
            </a:r>
            <a:endParaRPr lang="en-US" sz="1400" dirty="0"/>
          </a:p>
        </p:txBody>
      </p:sp>
      <p:sp>
        <p:nvSpPr>
          <p:cNvPr id="43" name="panel">
            <a:extLst>
              <a:ext uri="{C183D7F6-B498-43B3-948B-1728B52AA6E4}">
                <adec:decorative xmlns:adec="http://schemas.microsoft.com/office/drawing/2017/decorative" val="1"/>
              </a:ext>
            </a:extLst>
          </p:cNvPr>
          <p:cNvSpPr/>
          <p:nvPr/>
        </p:nvSpPr>
        <p:spPr>
          <a:xfrm>
            <a:off x="4279392" y="1874520"/>
            <a:ext cx="3474720" cy="196596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44" name="panel accent">
            <a:extLst>
              <a:ext uri="{C183D7F6-B498-43B3-948B-1728B52AA6E4}">
                <adec:decorative xmlns:adec="http://schemas.microsoft.com/office/drawing/2017/decorative" val="1"/>
              </a:ext>
            </a:extLst>
          </p:cNvPr>
          <p:cNvSpPr/>
          <p:nvPr/>
        </p:nvSpPr>
        <p:spPr>
          <a:xfrm>
            <a:off x="4279392" y="1874520"/>
            <a:ext cx="3474720" cy="50292"/>
          </a:xfrm>
          <a:prstGeom prst="rect">
            <a:avLst/>
          </a:prstGeom>
          <a:solidFill>
            <a:srgbClr val="3FE08A"/>
          </a:solidFill>
          <a:ln w="12700">
            <a:solidFill>
              <a:srgbClr val="333333"/>
            </a:solidFill>
            <a:prstDash val="solid"/>
          </a:ln>
        </p:spPr>
        <p:txBody>
          <a:bodyPr/>
          <a:lstStyle/>
          <a:p>
            <a:endParaRPr lang="en-SE"/>
          </a:p>
        </p:txBody>
      </p:sp>
      <p:sp>
        <p:nvSpPr>
          <p:cNvPr id="45" name="Text 43"/>
          <p:cNvSpPr/>
          <p:nvPr/>
        </p:nvSpPr>
        <p:spPr>
          <a:xfrm>
            <a:off x="4517136" y="2093976"/>
            <a:ext cx="914400" cy="292608"/>
          </a:xfrm>
          <a:prstGeom prst="rect">
            <a:avLst/>
          </a:prstGeom>
          <a:noFill/>
          <a:ln/>
        </p:spPr>
        <p:txBody>
          <a:bodyPr wrap="square" lIns="0" tIns="0" rIns="0" bIns="0" rtlCol="0" anchor="ctr"/>
          <a:lstStyle/>
          <a:p>
            <a:pPr marL="0" indent="0">
              <a:buNone/>
            </a:pPr>
            <a:r>
              <a:rPr lang="en-US" sz="2800" b="1" kern="0" spc="150" dirty="0">
                <a:solidFill>
                  <a:srgbClr val="3FE08A"/>
                </a:solidFill>
                <a:latin typeface="Consolas" pitchFamily="34" charset="0"/>
                <a:ea typeface="Consolas" pitchFamily="34" charset="-122"/>
                <a:cs typeface="Consolas" pitchFamily="34" charset="-120"/>
              </a:rPr>
              <a:t>02</a:t>
            </a:r>
            <a:endParaRPr lang="en-US" sz="2800" dirty="0"/>
          </a:p>
        </p:txBody>
      </p:sp>
      <p:sp>
        <p:nvSpPr>
          <p:cNvPr id="46" name="Text 44"/>
          <p:cNvSpPr/>
          <p:nvPr/>
        </p:nvSpPr>
        <p:spPr>
          <a:xfrm>
            <a:off x="4517136" y="2423160"/>
            <a:ext cx="3017520" cy="548640"/>
          </a:xfrm>
          <a:prstGeom prst="rect">
            <a:avLst/>
          </a:prstGeom>
          <a:noFill/>
          <a:ln/>
        </p:spPr>
        <p:txBody>
          <a:bodyPr wrap="square" lIns="0" tIns="0" rIns="0" bIns="0" rtlCol="0" anchor="t"/>
          <a:lstStyle/>
          <a:p>
            <a:pPr marL="0" indent="0">
              <a:lnSpc>
                <a:spcPct val="105000"/>
              </a:lnSpc>
              <a:buNone/>
            </a:pPr>
            <a:r>
              <a:rPr lang="en-US" sz="1600" b="1" dirty="0">
                <a:solidFill>
                  <a:srgbClr val="E6EDF3"/>
                </a:solidFill>
                <a:latin typeface="Segoe UI" pitchFamily="34" charset="0"/>
                <a:ea typeface="Segoe UI" pitchFamily="34" charset="-122"/>
                <a:cs typeface="Segoe UI" pitchFamily="34" charset="-120"/>
              </a:rPr>
              <a:t>Live and history are separate</a:t>
            </a:r>
            <a:endParaRPr lang="en-US" sz="1600" dirty="0"/>
          </a:p>
        </p:txBody>
      </p:sp>
      <p:sp>
        <p:nvSpPr>
          <p:cNvPr id="47" name="Text 45"/>
          <p:cNvSpPr/>
          <p:nvPr/>
        </p:nvSpPr>
        <p:spPr>
          <a:xfrm>
            <a:off x="4517136" y="3008376"/>
            <a:ext cx="3017520" cy="731520"/>
          </a:xfrm>
          <a:prstGeom prst="rect">
            <a:avLst/>
          </a:prstGeom>
          <a:noFill/>
          <a:ln/>
        </p:spPr>
        <p:txBody>
          <a:bodyPr wrap="square" lIns="0" tIns="0" rIns="0" bIns="0" rtlCol="0" anchor="t"/>
          <a:lstStyle/>
          <a:p>
            <a:pPr marL="0" indent="0">
              <a:lnSpc>
                <a:spcPct val="112000"/>
              </a:lnSpc>
              <a:buNone/>
            </a:pPr>
            <a:r>
              <a:rPr lang="en-US" sz="1400" dirty="0">
                <a:solidFill>
                  <a:srgbClr val="AAB7C2"/>
                </a:solidFill>
                <a:latin typeface="Segoe UI" pitchFamily="34" charset="0"/>
                <a:ea typeface="Segoe UI" pitchFamily="34" charset="-122"/>
                <a:cs typeface="Segoe UI" pitchFamily="34" charset="-120"/>
              </a:rPr>
              <a:t>Frozen prices means the feed. Blank charts with ticking prices means history. Two symptoms, two fixes.</a:t>
            </a:r>
            <a:endParaRPr lang="en-US" sz="1400" dirty="0"/>
          </a:p>
        </p:txBody>
      </p:sp>
      <p:sp>
        <p:nvSpPr>
          <p:cNvPr id="48" name="panel">
            <a:extLst>
              <a:ext uri="{C183D7F6-B498-43B3-948B-1728B52AA6E4}">
                <adec:decorative xmlns:adec="http://schemas.microsoft.com/office/drawing/2017/decorative" val="1"/>
              </a:ext>
            </a:extLst>
          </p:cNvPr>
          <p:cNvSpPr/>
          <p:nvPr/>
        </p:nvSpPr>
        <p:spPr>
          <a:xfrm>
            <a:off x="7991856" y="1874520"/>
            <a:ext cx="3474720" cy="196596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49" name="panel accent">
            <a:extLst>
              <a:ext uri="{C183D7F6-B498-43B3-948B-1728B52AA6E4}">
                <adec:decorative xmlns:adec="http://schemas.microsoft.com/office/drawing/2017/decorative" val="1"/>
              </a:ext>
            </a:extLst>
          </p:cNvPr>
          <p:cNvSpPr/>
          <p:nvPr/>
        </p:nvSpPr>
        <p:spPr>
          <a:xfrm>
            <a:off x="7991856" y="1874520"/>
            <a:ext cx="3474720" cy="50292"/>
          </a:xfrm>
          <a:prstGeom prst="rect">
            <a:avLst/>
          </a:prstGeom>
          <a:solidFill>
            <a:srgbClr val="F5A524"/>
          </a:solidFill>
          <a:ln w="12700">
            <a:solidFill>
              <a:srgbClr val="333333"/>
            </a:solidFill>
            <a:prstDash val="solid"/>
          </a:ln>
        </p:spPr>
        <p:txBody>
          <a:bodyPr/>
          <a:lstStyle/>
          <a:p>
            <a:endParaRPr lang="en-SE"/>
          </a:p>
        </p:txBody>
      </p:sp>
      <p:sp>
        <p:nvSpPr>
          <p:cNvPr id="50" name="Text 48"/>
          <p:cNvSpPr/>
          <p:nvPr/>
        </p:nvSpPr>
        <p:spPr>
          <a:xfrm>
            <a:off x="8229600" y="2093976"/>
            <a:ext cx="914400" cy="292608"/>
          </a:xfrm>
          <a:prstGeom prst="rect">
            <a:avLst/>
          </a:prstGeom>
          <a:noFill/>
          <a:ln/>
        </p:spPr>
        <p:txBody>
          <a:bodyPr wrap="square" lIns="0" tIns="0" rIns="0" bIns="0" rtlCol="0" anchor="ctr"/>
          <a:lstStyle/>
          <a:p>
            <a:pPr marL="0" indent="0">
              <a:buNone/>
            </a:pPr>
            <a:r>
              <a:rPr lang="en-US" sz="2800" b="1" kern="0" spc="150" dirty="0">
                <a:solidFill>
                  <a:srgbClr val="F5A524"/>
                </a:solidFill>
                <a:latin typeface="Consolas" pitchFamily="34" charset="0"/>
                <a:ea typeface="Consolas" pitchFamily="34" charset="-122"/>
                <a:cs typeface="Consolas" pitchFamily="34" charset="-120"/>
              </a:rPr>
              <a:t>03</a:t>
            </a:r>
            <a:endParaRPr lang="en-US" sz="2800" dirty="0"/>
          </a:p>
        </p:txBody>
      </p:sp>
      <p:sp>
        <p:nvSpPr>
          <p:cNvPr id="51" name="Text 49"/>
          <p:cNvSpPr/>
          <p:nvPr/>
        </p:nvSpPr>
        <p:spPr>
          <a:xfrm>
            <a:off x="8229600" y="2423160"/>
            <a:ext cx="3017520" cy="548640"/>
          </a:xfrm>
          <a:prstGeom prst="rect">
            <a:avLst/>
          </a:prstGeom>
          <a:noFill/>
          <a:ln/>
        </p:spPr>
        <p:txBody>
          <a:bodyPr wrap="square" lIns="0" tIns="0" rIns="0" bIns="0" rtlCol="0" anchor="t"/>
          <a:lstStyle/>
          <a:p>
            <a:pPr marL="0" indent="0">
              <a:lnSpc>
                <a:spcPct val="105000"/>
              </a:lnSpc>
              <a:buNone/>
            </a:pPr>
            <a:r>
              <a:rPr lang="en-US" sz="1600" b="1" dirty="0">
                <a:solidFill>
                  <a:srgbClr val="E6EDF3"/>
                </a:solidFill>
                <a:latin typeface="Segoe UI" pitchFamily="34" charset="0"/>
                <a:ea typeface="Segoe UI" pitchFamily="34" charset="-122"/>
                <a:cs typeface="Segoe UI" pitchFamily="34" charset="-120"/>
              </a:rPr>
              <a:t>Watch connection AND tick age</a:t>
            </a:r>
            <a:endParaRPr lang="en-US" sz="1600" dirty="0"/>
          </a:p>
        </p:txBody>
      </p:sp>
      <p:sp>
        <p:nvSpPr>
          <p:cNvPr id="52" name="Text 50"/>
          <p:cNvSpPr/>
          <p:nvPr/>
        </p:nvSpPr>
        <p:spPr>
          <a:xfrm>
            <a:off x="8229600" y="3008376"/>
            <a:ext cx="3017520" cy="731520"/>
          </a:xfrm>
          <a:prstGeom prst="rect">
            <a:avLst/>
          </a:prstGeom>
          <a:noFill/>
          <a:ln/>
        </p:spPr>
        <p:txBody>
          <a:bodyPr wrap="square" lIns="0" tIns="0" rIns="0" bIns="0" rtlCol="0" anchor="t"/>
          <a:lstStyle/>
          <a:p>
            <a:pPr marL="0" indent="0">
              <a:lnSpc>
                <a:spcPct val="112000"/>
              </a:lnSpc>
              <a:buNone/>
            </a:pPr>
            <a:r>
              <a:rPr lang="en-US" sz="1400" dirty="0">
                <a:solidFill>
                  <a:srgbClr val="AAB7C2"/>
                </a:solidFill>
                <a:latin typeface="Segoe UI" pitchFamily="34" charset="0"/>
                <a:ea typeface="Segoe UI" pitchFamily="34" charset="-122"/>
                <a:cs typeface="Segoe UI" pitchFamily="34" charset="-120"/>
              </a:rPr>
              <a:t>Connected only means the pipe is open. A climbing tick age behind a healthy connection is the failure to catch.</a:t>
            </a:r>
            <a:endParaRPr lang="en-US" sz="1400" dirty="0"/>
          </a:p>
        </p:txBody>
      </p:sp>
      <p:sp>
        <p:nvSpPr>
          <p:cNvPr id="53" name="panel">
            <a:extLst>
              <a:ext uri="{C183D7F6-B498-43B3-948B-1728B52AA6E4}">
                <adec:decorative xmlns:adec="http://schemas.microsoft.com/office/drawing/2017/decorative" val="1"/>
              </a:ext>
            </a:extLst>
          </p:cNvPr>
          <p:cNvSpPr/>
          <p:nvPr/>
        </p:nvSpPr>
        <p:spPr>
          <a:xfrm>
            <a:off x="566928" y="4069080"/>
            <a:ext cx="3474720" cy="196596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54" name="panel accent">
            <a:extLst>
              <a:ext uri="{C183D7F6-B498-43B3-948B-1728B52AA6E4}">
                <adec:decorative xmlns:adec="http://schemas.microsoft.com/office/drawing/2017/decorative" val="1"/>
              </a:ext>
            </a:extLst>
          </p:cNvPr>
          <p:cNvSpPr/>
          <p:nvPr/>
        </p:nvSpPr>
        <p:spPr>
          <a:xfrm>
            <a:off x="566928" y="4069080"/>
            <a:ext cx="3474720" cy="50292"/>
          </a:xfrm>
          <a:prstGeom prst="rect">
            <a:avLst/>
          </a:prstGeom>
          <a:solidFill>
            <a:srgbClr val="3FE08A"/>
          </a:solidFill>
          <a:ln w="12700">
            <a:solidFill>
              <a:srgbClr val="333333"/>
            </a:solidFill>
            <a:prstDash val="solid"/>
          </a:ln>
        </p:spPr>
        <p:txBody>
          <a:bodyPr/>
          <a:lstStyle/>
          <a:p>
            <a:endParaRPr lang="en-SE"/>
          </a:p>
        </p:txBody>
      </p:sp>
      <p:sp>
        <p:nvSpPr>
          <p:cNvPr id="55" name="Text 53"/>
          <p:cNvSpPr/>
          <p:nvPr/>
        </p:nvSpPr>
        <p:spPr>
          <a:xfrm>
            <a:off x="804672" y="4288536"/>
            <a:ext cx="914400" cy="292608"/>
          </a:xfrm>
          <a:prstGeom prst="rect">
            <a:avLst/>
          </a:prstGeom>
          <a:noFill/>
          <a:ln/>
        </p:spPr>
        <p:txBody>
          <a:bodyPr wrap="square" lIns="0" tIns="0" rIns="0" bIns="0" rtlCol="0" anchor="ctr"/>
          <a:lstStyle/>
          <a:p>
            <a:pPr marL="0" indent="0">
              <a:buNone/>
            </a:pPr>
            <a:r>
              <a:rPr lang="en-US" sz="2800" b="1" kern="0" spc="150" dirty="0">
                <a:solidFill>
                  <a:srgbClr val="3FE08A"/>
                </a:solidFill>
                <a:latin typeface="Consolas" pitchFamily="34" charset="0"/>
                <a:ea typeface="Consolas" pitchFamily="34" charset="-122"/>
                <a:cs typeface="Consolas" pitchFamily="34" charset="-120"/>
              </a:rPr>
              <a:t>04</a:t>
            </a:r>
            <a:endParaRPr lang="en-US" sz="2800" dirty="0"/>
          </a:p>
        </p:txBody>
      </p:sp>
      <p:sp>
        <p:nvSpPr>
          <p:cNvPr id="56" name="Text 54"/>
          <p:cNvSpPr/>
          <p:nvPr/>
        </p:nvSpPr>
        <p:spPr>
          <a:xfrm>
            <a:off x="804672" y="4617720"/>
            <a:ext cx="3017520" cy="548640"/>
          </a:xfrm>
          <a:prstGeom prst="rect">
            <a:avLst/>
          </a:prstGeom>
          <a:noFill/>
          <a:ln/>
        </p:spPr>
        <p:txBody>
          <a:bodyPr wrap="square" lIns="0" tIns="0" rIns="0" bIns="0" rtlCol="0" anchor="t"/>
          <a:lstStyle/>
          <a:p>
            <a:pPr marL="0" indent="0">
              <a:lnSpc>
                <a:spcPct val="105000"/>
              </a:lnSpc>
              <a:buNone/>
            </a:pPr>
            <a:r>
              <a:rPr lang="en-US" sz="1600" b="1" dirty="0">
                <a:solidFill>
                  <a:srgbClr val="E6EDF3"/>
                </a:solidFill>
                <a:latin typeface="Segoe UI" pitchFamily="34" charset="0"/>
                <a:ea typeface="Segoe UI" pitchFamily="34" charset="-122"/>
                <a:cs typeface="Segoe UI" pitchFamily="34" charset="-120"/>
              </a:rPr>
              <a:t>No data beats faulty data</a:t>
            </a:r>
            <a:endParaRPr lang="en-US" sz="1600" dirty="0"/>
          </a:p>
        </p:txBody>
      </p:sp>
      <p:sp>
        <p:nvSpPr>
          <p:cNvPr id="57" name="Text 55"/>
          <p:cNvSpPr/>
          <p:nvPr/>
        </p:nvSpPr>
        <p:spPr>
          <a:xfrm>
            <a:off x="804672" y="5202936"/>
            <a:ext cx="3017520" cy="731520"/>
          </a:xfrm>
          <a:prstGeom prst="rect">
            <a:avLst/>
          </a:prstGeom>
          <a:noFill/>
          <a:ln/>
        </p:spPr>
        <p:txBody>
          <a:bodyPr wrap="square" lIns="0" tIns="0" rIns="0" bIns="0" rtlCol="0" anchor="t"/>
          <a:lstStyle/>
          <a:p>
            <a:pPr marL="0" indent="0">
              <a:lnSpc>
                <a:spcPct val="112000"/>
              </a:lnSpc>
              <a:buNone/>
            </a:pPr>
            <a:r>
              <a:rPr lang="en-US" sz="1400" dirty="0">
                <a:solidFill>
                  <a:srgbClr val="AAB7C2"/>
                </a:solidFill>
                <a:latin typeface="Segoe UI" pitchFamily="34" charset="0"/>
                <a:ea typeface="Segoe UI" pitchFamily="34" charset="-122"/>
                <a:cs typeface="Segoe UI" pitchFamily="34" charset="-120"/>
              </a:rPr>
              <a:t>Blanks, banners and gap markers are the terminal being honest. If it shows you a number, it stands behind it.</a:t>
            </a:r>
            <a:endParaRPr lang="en-US" sz="1400" dirty="0"/>
          </a:p>
        </p:txBody>
      </p:sp>
      <p:sp>
        <p:nvSpPr>
          <p:cNvPr id="58" name="panel">
            <a:extLst>
              <a:ext uri="{C183D7F6-B498-43B3-948B-1728B52AA6E4}">
                <adec:decorative xmlns:adec="http://schemas.microsoft.com/office/drawing/2017/decorative" val="1"/>
              </a:ext>
            </a:extLst>
          </p:cNvPr>
          <p:cNvSpPr/>
          <p:nvPr/>
        </p:nvSpPr>
        <p:spPr>
          <a:xfrm>
            <a:off x="4279392" y="4069080"/>
            <a:ext cx="3474720" cy="196596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59" name="panel accent">
            <a:extLst>
              <a:ext uri="{C183D7F6-B498-43B3-948B-1728B52AA6E4}">
                <adec:decorative xmlns:adec="http://schemas.microsoft.com/office/drawing/2017/decorative" val="1"/>
              </a:ext>
            </a:extLst>
          </p:cNvPr>
          <p:cNvSpPr/>
          <p:nvPr/>
        </p:nvSpPr>
        <p:spPr>
          <a:xfrm>
            <a:off x="4279392" y="4069080"/>
            <a:ext cx="3474720" cy="50292"/>
          </a:xfrm>
          <a:prstGeom prst="rect">
            <a:avLst/>
          </a:prstGeom>
          <a:solidFill>
            <a:srgbClr val="3FE08A"/>
          </a:solidFill>
          <a:ln w="12700">
            <a:solidFill>
              <a:srgbClr val="333333"/>
            </a:solidFill>
            <a:prstDash val="solid"/>
          </a:ln>
        </p:spPr>
        <p:txBody>
          <a:bodyPr/>
          <a:lstStyle/>
          <a:p>
            <a:endParaRPr lang="en-SE"/>
          </a:p>
        </p:txBody>
      </p:sp>
      <p:sp>
        <p:nvSpPr>
          <p:cNvPr id="60" name="Text 58"/>
          <p:cNvSpPr/>
          <p:nvPr/>
        </p:nvSpPr>
        <p:spPr>
          <a:xfrm>
            <a:off x="4517136" y="4288536"/>
            <a:ext cx="914400" cy="292608"/>
          </a:xfrm>
          <a:prstGeom prst="rect">
            <a:avLst/>
          </a:prstGeom>
          <a:noFill/>
          <a:ln/>
        </p:spPr>
        <p:txBody>
          <a:bodyPr wrap="square" lIns="0" tIns="0" rIns="0" bIns="0" rtlCol="0" anchor="ctr"/>
          <a:lstStyle/>
          <a:p>
            <a:pPr marL="0" indent="0">
              <a:buNone/>
            </a:pPr>
            <a:r>
              <a:rPr lang="en-US" sz="2800" b="1" kern="0" spc="150" dirty="0">
                <a:solidFill>
                  <a:srgbClr val="3FE08A"/>
                </a:solidFill>
                <a:latin typeface="Consolas" pitchFamily="34" charset="0"/>
                <a:ea typeface="Consolas" pitchFamily="34" charset="-122"/>
                <a:cs typeface="Consolas" pitchFamily="34" charset="-120"/>
              </a:rPr>
              <a:t>05</a:t>
            </a:r>
            <a:endParaRPr lang="en-US" sz="2800" dirty="0"/>
          </a:p>
        </p:txBody>
      </p:sp>
      <p:sp>
        <p:nvSpPr>
          <p:cNvPr id="61" name="Text 59"/>
          <p:cNvSpPr/>
          <p:nvPr/>
        </p:nvSpPr>
        <p:spPr>
          <a:xfrm>
            <a:off x="4517136" y="4617720"/>
            <a:ext cx="3017520" cy="548640"/>
          </a:xfrm>
          <a:prstGeom prst="rect">
            <a:avLst/>
          </a:prstGeom>
          <a:noFill/>
          <a:ln/>
        </p:spPr>
        <p:txBody>
          <a:bodyPr wrap="square" lIns="0" tIns="0" rIns="0" bIns="0" rtlCol="0" anchor="t"/>
          <a:lstStyle/>
          <a:p>
            <a:pPr marL="0" indent="0">
              <a:lnSpc>
                <a:spcPct val="105000"/>
              </a:lnSpc>
              <a:buNone/>
            </a:pPr>
            <a:r>
              <a:rPr lang="en-US" sz="1600" b="1" dirty="0">
                <a:solidFill>
                  <a:srgbClr val="E6EDF3"/>
                </a:solidFill>
                <a:latin typeface="Segoe UI" pitchFamily="34" charset="0"/>
                <a:ea typeface="Segoe UI" pitchFamily="34" charset="-122"/>
                <a:cs typeface="Segoe UI" pitchFamily="34" charset="-120"/>
              </a:rPr>
              <a:t>Density is for the room</a:t>
            </a:r>
            <a:endParaRPr lang="en-US" sz="1600" dirty="0"/>
          </a:p>
        </p:txBody>
      </p:sp>
      <p:sp>
        <p:nvSpPr>
          <p:cNvPr id="62" name="Text 60"/>
          <p:cNvSpPr/>
          <p:nvPr/>
        </p:nvSpPr>
        <p:spPr>
          <a:xfrm>
            <a:off x="4517136" y="5202936"/>
            <a:ext cx="3017520" cy="731520"/>
          </a:xfrm>
          <a:prstGeom prst="rect">
            <a:avLst/>
          </a:prstGeom>
          <a:noFill/>
          <a:ln/>
        </p:spPr>
        <p:txBody>
          <a:bodyPr wrap="square" lIns="0" tIns="0" rIns="0" bIns="0" rtlCol="0" anchor="t"/>
          <a:lstStyle/>
          <a:p>
            <a:pPr marL="0" indent="0">
              <a:lnSpc>
                <a:spcPct val="112000"/>
              </a:lnSpc>
              <a:buNone/>
            </a:pPr>
            <a:r>
              <a:rPr lang="en-US" sz="1400" dirty="0">
                <a:solidFill>
                  <a:srgbClr val="AAB7C2"/>
                </a:solidFill>
                <a:latin typeface="Segoe UI" pitchFamily="34" charset="0"/>
                <a:ea typeface="Segoe UI" pitchFamily="34" charset="-122"/>
                <a:cs typeface="Segoe UI" pitchFamily="34" charset="-120"/>
              </a:rPr>
              <a:t>Lobby for a wall, Dense for a desk. Nothing is ever hidden from you at any setting.</a:t>
            </a:r>
            <a:endParaRPr lang="en-US" sz="1400" dirty="0"/>
          </a:p>
        </p:txBody>
      </p:sp>
      <p:sp>
        <p:nvSpPr>
          <p:cNvPr id="63" name="panel">
            <a:extLst>
              <a:ext uri="{C183D7F6-B498-43B3-948B-1728B52AA6E4}">
                <adec:decorative xmlns:adec="http://schemas.microsoft.com/office/drawing/2017/decorative" val="1"/>
              </a:ext>
            </a:extLst>
          </p:cNvPr>
          <p:cNvSpPr/>
          <p:nvPr/>
        </p:nvSpPr>
        <p:spPr>
          <a:xfrm>
            <a:off x="7991856" y="4069080"/>
            <a:ext cx="3474720" cy="1965960"/>
          </a:xfrm>
          <a:prstGeom prst="rect">
            <a:avLst/>
          </a:prstGeom>
          <a:solidFill>
            <a:srgbClr val="20272D"/>
          </a:solidFill>
          <a:ln w="12700">
            <a:solidFill>
              <a:srgbClr val="313B44"/>
            </a:solidFill>
            <a:prstDash val="solid"/>
          </a:ln>
          <a:effectLst>
            <a:outerShdw blurRad="152400" dist="38100" dir="5400000" algn="bl" rotWithShape="0">
              <a:srgbClr val="000000">
                <a:alpha val="35000"/>
              </a:srgbClr>
            </a:outerShdw>
          </a:effectLst>
        </p:spPr>
        <p:txBody>
          <a:bodyPr/>
          <a:lstStyle/>
          <a:p>
            <a:endParaRPr lang="en-SE"/>
          </a:p>
        </p:txBody>
      </p:sp>
      <p:sp>
        <p:nvSpPr>
          <p:cNvPr id="64" name="panel accent">
            <a:extLst>
              <a:ext uri="{C183D7F6-B498-43B3-948B-1728B52AA6E4}">
                <adec:decorative xmlns:adec="http://schemas.microsoft.com/office/drawing/2017/decorative" val="1"/>
              </a:ext>
            </a:extLst>
          </p:cNvPr>
          <p:cNvSpPr/>
          <p:nvPr/>
        </p:nvSpPr>
        <p:spPr>
          <a:xfrm>
            <a:off x="7991856" y="4069080"/>
            <a:ext cx="3474720" cy="50292"/>
          </a:xfrm>
          <a:prstGeom prst="rect">
            <a:avLst/>
          </a:prstGeom>
          <a:solidFill>
            <a:srgbClr val="3FE08A"/>
          </a:solidFill>
          <a:ln w="12700">
            <a:solidFill>
              <a:srgbClr val="333333"/>
            </a:solidFill>
            <a:prstDash val="solid"/>
          </a:ln>
        </p:spPr>
        <p:txBody>
          <a:bodyPr/>
          <a:lstStyle/>
          <a:p>
            <a:endParaRPr lang="en-SE"/>
          </a:p>
        </p:txBody>
      </p:sp>
      <p:sp>
        <p:nvSpPr>
          <p:cNvPr id="65" name="Text 63"/>
          <p:cNvSpPr/>
          <p:nvPr/>
        </p:nvSpPr>
        <p:spPr>
          <a:xfrm>
            <a:off x="8229600" y="4288536"/>
            <a:ext cx="914400" cy="292608"/>
          </a:xfrm>
          <a:prstGeom prst="rect">
            <a:avLst/>
          </a:prstGeom>
          <a:noFill/>
          <a:ln/>
        </p:spPr>
        <p:txBody>
          <a:bodyPr wrap="square" lIns="0" tIns="0" rIns="0" bIns="0" rtlCol="0" anchor="ctr"/>
          <a:lstStyle/>
          <a:p>
            <a:pPr marL="0" indent="0">
              <a:buNone/>
            </a:pPr>
            <a:r>
              <a:rPr lang="en-US" sz="2800" b="1" kern="0" spc="150" dirty="0">
                <a:solidFill>
                  <a:srgbClr val="3FE08A"/>
                </a:solidFill>
                <a:latin typeface="Consolas" pitchFamily="34" charset="0"/>
                <a:ea typeface="Consolas" pitchFamily="34" charset="-122"/>
                <a:cs typeface="Consolas" pitchFamily="34" charset="-120"/>
              </a:rPr>
              <a:t>06</a:t>
            </a:r>
            <a:endParaRPr lang="en-US" sz="2800" dirty="0"/>
          </a:p>
        </p:txBody>
      </p:sp>
      <p:sp>
        <p:nvSpPr>
          <p:cNvPr id="66" name="Text 64"/>
          <p:cNvSpPr/>
          <p:nvPr/>
        </p:nvSpPr>
        <p:spPr>
          <a:xfrm>
            <a:off x="8229600" y="4617720"/>
            <a:ext cx="3017520" cy="548640"/>
          </a:xfrm>
          <a:prstGeom prst="rect">
            <a:avLst/>
          </a:prstGeom>
          <a:noFill/>
          <a:ln/>
        </p:spPr>
        <p:txBody>
          <a:bodyPr wrap="square" lIns="0" tIns="0" rIns="0" bIns="0" rtlCol="0" anchor="t"/>
          <a:lstStyle/>
          <a:p>
            <a:pPr marL="0" indent="0">
              <a:lnSpc>
                <a:spcPct val="105000"/>
              </a:lnSpc>
              <a:buNone/>
            </a:pPr>
            <a:r>
              <a:rPr lang="en-US" sz="1600" b="1" dirty="0">
                <a:solidFill>
                  <a:srgbClr val="E6EDF3"/>
                </a:solidFill>
                <a:latin typeface="Segoe UI" pitchFamily="34" charset="0"/>
                <a:ea typeface="Segoe UI" pitchFamily="34" charset="-122"/>
                <a:cs typeface="Segoe UI" pitchFamily="34" charset="-120"/>
              </a:rPr>
              <a:t>Starting it is one command</a:t>
            </a:r>
            <a:endParaRPr lang="en-US" sz="1600" dirty="0"/>
          </a:p>
        </p:txBody>
      </p:sp>
      <p:sp>
        <p:nvSpPr>
          <p:cNvPr id="67" name="Text 65"/>
          <p:cNvSpPr/>
          <p:nvPr/>
        </p:nvSpPr>
        <p:spPr>
          <a:xfrm>
            <a:off x="8229600" y="5202936"/>
            <a:ext cx="3017520" cy="731520"/>
          </a:xfrm>
          <a:prstGeom prst="rect">
            <a:avLst/>
          </a:prstGeom>
          <a:noFill/>
          <a:ln/>
        </p:spPr>
        <p:txBody>
          <a:bodyPr wrap="square" lIns="0" tIns="0" rIns="0" bIns="0" rtlCol="0" anchor="t"/>
          <a:lstStyle/>
          <a:p>
            <a:pPr marL="0" indent="0">
              <a:lnSpc>
                <a:spcPct val="112000"/>
              </a:lnSpc>
              <a:buNone/>
            </a:pPr>
            <a:r>
              <a:rPr lang="en-US" sz="1400" dirty="0">
                <a:solidFill>
                  <a:srgbClr val="AAB7C2"/>
                </a:solidFill>
                <a:latin typeface="Segoe UI" pitchFamily="34" charset="0"/>
                <a:ea typeface="Segoe UI" pitchFamily="34" charset="-122"/>
                <a:cs typeface="Segoe UI" pitchFamily="34" charset="-120"/>
              </a:rPr>
              <a:t>Set the read-only API key, bring the container up, open the browser on its port.</a:t>
            </a:r>
            <a:endParaRPr lang="en-US" sz="1400" dirty="0"/>
          </a:p>
        </p:txBody>
      </p:sp>
      <p:sp>
        <p:nvSpPr>
          <p:cNvPr id="68" name="Text 66"/>
          <p:cNvSpPr/>
          <p:nvPr/>
        </p:nvSpPr>
        <p:spPr>
          <a:xfrm>
            <a:off x="566928" y="6126480"/>
            <a:ext cx="10607040" cy="320040"/>
          </a:xfrm>
          <a:prstGeom prst="rect">
            <a:avLst/>
          </a:prstGeom>
          <a:noFill/>
          <a:ln/>
        </p:spPr>
        <p:txBody>
          <a:bodyPr wrap="square" lIns="0" tIns="0" rIns="0" bIns="0" rtlCol="0" anchor="ctr"/>
          <a:lstStyle/>
          <a:p>
            <a:pPr marL="0" indent="0">
              <a:buNone/>
            </a:pPr>
            <a:r>
              <a:rPr lang="en-US" sz="1200" i="1" dirty="0">
                <a:solidFill>
                  <a:srgbClr val="3FE08A"/>
                </a:solidFill>
                <a:latin typeface="Segoe UI" pitchFamily="34" charset="0"/>
                <a:ea typeface="Segoe UI" pitchFamily="34" charset="-122"/>
                <a:cs typeface="Segoe UI" pitchFamily="34" charset="-120"/>
              </a:rPr>
              <a:t>Next step: open the terminal alongside a running exchange and find each of the eight screens for yourself.</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TotalTime>
  <Words>8772</Words>
  <Application>Microsoft Macintosh PowerPoint</Application>
  <PresentationFormat>Widescreen</PresentationFormat>
  <Paragraphs>1124</Paragraphs>
  <Slides>52</Slides>
  <Notes>52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Arial</vt:lpstr>
      <vt:lpstr>Calibri</vt:lpstr>
      <vt:lpstr>Consolas</vt:lpstr>
      <vt:lpstr>Segoe UI</vt:lpstr>
      <vt:lpstr>Office Theme</vt:lpstr>
      <vt:lpstr>TapeDeck The Trader Information Terminal</vt:lpstr>
      <vt:lpstr>What this session covers</vt:lpstr>
      <vt:lpstr>Purpose: a window, not a control panel</vt:lpstr>
      <vt:lpstr>What is a market data terminal?</vt:lpstr>
      <vt:lpstr>Read-only means read-only</vt:lpstr>
      <vt:lpstr>Three applications, three jobs</vt:lpstr>
      <vt:lpstr>Where the terminal is used</vt:lpstr>
      <vt:lpstr>What information is available</vt:lpstr>
      <vt:lpstr>The seven kinds of market data</vt:lpstr>
      <vt:lpstr>Live data and historical data are different things</vt:lpstr>
      <vt:lpstr>The numbers you will read most often</vt:lpstr>
      <vt:lpstr>A tour of the screens</vt:lpstr>
      <vt:lpstr>The app shell: everything lives inside this frame</vt:lpstr>
      <vt:lpstr>The top bar controls</vt:lpstr>
      <vt:lpstr>The status strip: two readings, not one</vt:lpstr>
      <vt:lpstr>Market Overview — the default landing view</vt:lpstr>
      <vt:lpstr>Overview: auto-paging and the watchlist</vt:lpstr>
      <vt:lpstr>Overview: when the board changes shape</vt:lpstr>
      <vt:lpstr>Symbol Detail — the deep dive on one instrument</vt:lpstr>
      <vt:lpstr>Reading the Symbol Detail chart</vt:lpstr>
      <vt:lpstr>Halts explained: the corridor bar</vt:lpstr>
      <vt:lpstr>Values or Depth — and why you must choose</vt:lpstr>
      <vt:lpstr>Depth-of-Book — the Level 2 ladder</vt:lpstr>
      <vt:lpstr>Depth: why the rows are evenly spaced</vt:lpstr>
      <vt:lpstr>Index View — the market as a whole</vt:lpstr>
      <vt:lpstr>Trade Tape — every print, newest first</vt:lpstr>
      <vt:lpstr>Movers — three rankings of the same data</vt:lpstr>
      <vt:lpstr>Session &amp; Halt Status Board</vt:lpstr>
      <vt:lpstr>Reading an information-dense screen</vt:lpstr>
      <vt:lpstr>Six things to watch out for</vt:lpstr>
      <vt:lpstr>Set density to match the room, not your taste</vt:lpstr>
      <vt:lpstr>How errors are handled</vt:lpstr>
      <vt:lpstr>The principle: no data beats possibly faulty data</vt:lpstr>
      <vt:lpstr>The principle in action: gap markers on the tape</vt:lpstr>
      <vt:lpstr>What breaks, and what you still get</vt:lpstr>
      <vt:lpstr>Troubleshooting: symptom to cause</vt:lpstr>
      <vt:lpstr>Starting the terminal</vt:lpstr>
      <vt:lpstr>Before you start: what must already be running</vt:lpstr>
      <vt:lpstr>Starting it: four steps</vt:lpstr>
      <vt:lpstr>The configuration that actually matters</vt:lpstr>
      <vt:lpstr>Running it on a separate display machine</vt:lpstr>
      <vt:lpstr>Technical reference</vt:lpstr>
      <vt:lpstr>Architecture: how data reaches the screen</vt:lpstr>
      <vt:lpstr>CALF — the market-data protocol</vt:lpstr>
      <vt:lpstr>The envelope and the seven channels</vt:lpstr>
      <vt:lpstr>Connecting and subscribing</vt:lpstr>
      <vt:lpstr>Subscriptions: what the terminal holds open</vt:lpstr>
      <vt:lpstr>Gap detection and replay recovery</vt:lpstr>
      <vt:lpstr>The history side: REST and WebSockets</vt:lpstr>
      <vt:lpstr>Ports and network paths</vt:lpstr>
      <vt:lpstr>Screenshot checklist</vt:lpstr>
      <vt:lpstr>What to remember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Johan Persson</dc:creator>
  <cp:lastModifiedBy>Johan Persson</cp:lastModifiedBy>
  <cp:revision>6</cp:revision>
  <dcterms:created xsi:type="dcterms:W3CDTF">2026-08-05T11:05:46Z</dcterms:created>
  <dcterms:modified xsi:type="dcterms:W3CDTF">2026-08-05T13:22:14Z</dcterms:modified>
</cp:coreProperties>
</file>