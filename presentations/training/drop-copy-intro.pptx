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1"/>
    <p:restoredTop sz="94633"/>
  </p:normalViewPr>
  <p:slideViewPr>
    <p:cSldViewPr snapToGrid="0">
      <p:cViewPr varScale="1">
        <p:scale>
          <a:sx n="132" d="100"/>
          <a:sy n="132" d="100"/>
        </p:scale>
        <p:origin x="200" y="7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5505546"/>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8549640" y="1051560"/>
            <a:ext cx="548640" cy="548640"/>
          </a:xfrm>
          <a:prstGeom prst="rect">
            <a:avLst/>
          </a:prstGeom>
          <a:solidFill>
            <a:srgbClr val="F0A202"/>
          </a:solidFill>
          <a:ln/>
        </p:spPr>
        <p:txBody>
          <a:bodyPr/>
          <a:lstStyle/>
          <a:p>
            <a:endParaRPr lang="en-SE"/>
          </a:p>
        </p:txBody>
      </p:sp>
      <p:sp>
        <p:nvSpPr>
          <p:cNvPr id="3" name="Shape 1"/>
          <p:cNvSpPr/>
          <p:nvPr/>
        </p:nvSpPr>
        <p:spPr>
          <a:xfrm>
            <a:off x="9262872" y="1051560"/>
            <a:ext cx="548640" cy="548640"/>
          </a:xfrm>
          <a:prstGeom prst="rect">
            <a:avLst/>
          </a:prstGeom>
          <a:solidFill>
            <a:srgbClr val="2E353C"/>
          </a:solidFill>
          <a:ln/>
        </p:spPr>
        <p:txBody>
          <a:bodyPr/>
          <a:lstStyle/>
          <a:p>
            <a:endParaRPr lang="en-SE"/>
          </a:p>
        </p:txBody>
      </p:sp>
      <p:sp>
        <p:nvSpPr>
          <p:cNvPr id="4" name="Shape 2"/>
          <p:cNvSpPr/>
          <p:nvPr/>
        </p:nvSpPr>
        <p:spPr>
          <a:xfrm>
            <a:off x="9976104" y="1051560"/>
            <a:ext cx="548640" cy="548640"/>
          </a:xfrm>
          <a:prstGeom prst="rect">
            <a:avLst/>
          </a:prstGeom>
          <a:solidFill>
            <a:srgbClr val="3FD0C9"/>
          </a:solidFill>
          <a:ln/>
        </p:spPr>
        <p:txBody>
          <a:bodyPr/>
          <a:lstStyle/>
          <a:p>
            <a:endParaRPr lang="en-SE"/>
          </a:p>
        </p:txBody>
      </p:sp>
      <p:sp>
        <p:nvSpPr>
          <p:cNvPr id="5" name="Shape 3"/>
          <p:cNvSpPr/>
          <p:nvPr/>
        </p:nvSpPr>
        <p:spPr>
          <a:xfrm>
            <a:off x="10689336" y="1051560"/>
            <a:ext cx="548640" cy="548640"/>
          </a:xfrm>
          <a:prstGeom prst="rect">
            <a:avLst/>
          </a:prstGeom>
          <a:solidFill>
            <a:srgbClr val="2E353C"/>
          </a:solidFill>
          <a:ln/>
        </p:spPr>
        <p:txBody>
          <a:bodyPr/>
          <a:lstStyle/>
          <a:p>
            <a:endParaRPr lang="en-SE"/>
          </a:p>
        </p:txBody>
      </p:sp>
      <p:sp>
        <p:nvSpPr>
          <p:cNvPr id="6" name="Shape 4"/>
          <p:cNvSpPr/>
          <p:nvPr/>
        </p:nvSpPr>
        <p:spPr>
          <a:xfrm>
            <a:off x="8549640" y="1764792"/>
            <a:ext cx="548640" cy="548640"/>
          </a:xfrm>
          <a:prstGeom prst="rect">
            <a:avLst/>
          </a:prstGeom>
          <a:solidFill>
            <a:srgbClr val="2E353C"/>
          </a:solidFill>
          <a:ln/>
        </p:spPr>
        <p:txBody>
          <a:bodyPr/>
          <a:lstStyle/>
          <a:p>
            <a:endParaRPr lang="en-SE"/>
          </a:p>
        </p:txBody>
      </p:sp>
      <p:sp>
        <p:nvSpPr>
          <p:cNvPr id="7" name="Shape 5"/>
          <p:cNvSpPr/>
          <p:nvPr/>
        </p:nvSpPr>
        <p:spPr>
          <a:xfrm>
            <a:off x="9262872" y="1764792"/>
            <a:ext cx="548640" cy="548640"/>
          </a:xfrm>
          <a:prstGeom prst="rect">
            <a:avLst/>
          </a:prstGeom>
          <a:solidFill>
            <a:srgbClr val="F0A202"/>
          </a:solidFill>
          <a:ln/>
        </p:spPr>
        <p:txBody>
          <a:bodyPr/>
          <a:lstStyle/>
          <a:p>
            <a:endParaRPr lang="en-SE"/>
          </a:p>
        </p:txBody>
      </p:sp>
      <p:sp>
        <p:nvSpPr>
          <p:cNvPr id="8" name="Shape 6"/>
          <p:cNvSpPr/>
          <p:nvPr/>
        </p:nvSpPr>
        <p:spPr>
          <a:xfrm>
            <a:off x="9976104" y="1764792"/>
            <a:ext cx="548640" cy="548640"/>
          </a:xfrm>
          <a:prstGeom prst="rect">
            <a:avLst/>
          </a:prstGeom>
          <a:solidFill>
            <a:srgbClr val="3FD0C9"/>
          </a:solidFill>
          <a:ln/>
        </p:spPr>
        <p:txBody>
          <a:bodyPr/>
          <a:lstStyle/>
          <a:p>
            <a:endParaRPr lang="en-SE"/>
          </a:p>
        </p:txBody>
      </p:sp>
      <p:sp>
        <p:nvSpPr>
          <p:cNvPr id="9" name="Shape 7"/>
          <p:cNvSpPr/>
          <p:nvPr/>
        </p:nvSpPr>
        <p:spPr>
          <a:xfrm>
            <a:off x="10689336" y="1764792"/>
            <a:ext cx="548640" cy="548640"/>
          </a:xfrm>
          <a:prstGeom prst="rect">
            <a:avLst/>
          </a:prstGeom>
          <a:solidFill>
            <a:srgbClr val="2E353C"/>
          </a:solidFill>
          <a:ln/>
        </p:spPr>
        <p:txBody>
          <a:bodyPr/>
          <a:lstStyle/>
          <a:p>
            <a:endParaRPr lang="en-SE"/>
          </a:p>
        </p:txBody>
      </p:sp>
      <p:sp>
        <p:nvSpPr>
          <p:cNvPr id="10" name="Shape 8"/>
          <p:cNvSpPr/>
          <p:nvPr/>
        </p:nvSpPr>
        <p:spPr>
          <a:xfrm>
            <a:off x="8549640" y="2478024"/>
            <a:ext cx="548640" cy="548640"/>
          </a:xfrm>
          <a:prstGeom prst="rect">
            <a:avLst/>
          </a:prstGeom>
          <a:solidFill>
            <a:srgbClr val="2E353C"/>
          </a:solidFill>
          <a:ln/>
        </p:spPr>
        <p:txBody>
          <a:bodyPr/>
          <a:lstStyle/>
          <a:p>
            <a:endParaRPr lang="en-SE"/>
          </a:p>
        </p:txBody>
      </p:sp>
      <p:sp>
        <p:nvSpPr>
          <p:cNvPr id="11" name="Shape 9"/>
          <p:cNvSpPr/>
          <p:nvPr/>
        </p:nvSpPr>
        <p:spPr>
          <a:xfrm>
            <a:off x="9262872" y="2478024"/>
            <a:ext cx="548640" cy="548640"/>
          </a:xfrm>
          <a:prstGeom prst="rect">
            <a:avLst/>
          </a:prstGeom>
          <a:solidFill>
            <a:srgbClr val="2E353C"/>
          </a:solidFill>
          <a:ln/>
        </p:spPr>
        <p:txBody>
          <a:bodyPr/>
          <a:lstStyle/>
          <a:p>
            <a:endParaRPr lang="en-SE"/>
          </a:p>
        </p:txBody>
      </p:sp>
      <p:sp>
        <p:nvSpPr>
          <p:cNvPr id="12" name="Shape 10"/>
          <p:cNvSpPr/>
          <p:nvPr/>
        </p:nvSpPr>
        <p:spPr>
          <a:xfrm>
            <a:off x="9976104" y="2478024"/>
            <a:ext cx="548640" cy="548640"/>
          </a:xfrm>
          <a:prstGeom prst="rect">
            <a:avLst/>
          </a:prstGeom>
          <a:solidFill>
            <a:srgbClr val="2E353C"/>
          </a:solidFill>
          <a:ln/>
        </p:spPr>
        <p:txBody>
          <a:bodyPr/>
          <a:lstStyle/>
          <a:p>
            <a:endParaRPr lang="en-SE"/>
          </a:p>
        </p:txBody>
      </p:sp>
      <p:sp>
        <p:nvSpPr>
          <p:cNvPr id="13" name="Shape 11"/>
          <p:cNvSpPr/>
          <p:nvPr/>
        </p:nvSpPr>
        <p:spPr>
          <a:xfrm>
            <a:off x="10689336" y="2478024"/>
            <a:ext cx="548640" cy="548640"/>
          </a:xfrm>
          <a:prstGeom prst="rect">
            <a:avLst/>
          </a:prstGeom>
          <a:solidFill>
            <a:srgbClr val="E5566B"/>
          </a:solidFill>
          <a:ln/>
        </p:spPr>
        <p:txBody>
          <a:bodyPr/>
          <a:lstStyle/>
          <a:p>
            <a:endParaRPr lang="en-SE"/>
          </a:p>
        </p:txBody>
      </p:sp>
      <p:sp>
        <p:nvSpPr>
          <p:cNvPr id="14" name="Shape 12"/>
          <p:cNvSpPr/>
          <p:nvPr/>
        </p:nvSpPr>
        <p:spPr>
          <a:xfrm>
            <a:off x="8549640" y="3191256"/>
            <a:ext cx="548640" cy="548640"/>
          </a:xfrm>
          <a:prstGeom prst="rect">
            <a:avLst/>
          </a:prstGeom>
          <a:solidFill>
            <a:srgbClr val="2E353C"/>
          </a:solidFill>
          <a:ln/>
        </p:spPr>
        <p:txBody>
          <a:bodyPr/>
          <a:lstStyle/>
          <a:p>
            <a:endParaRPr lang="en-SE"/>
          </a:p>
        </p:txBody>
      </p:sp>
      <p:sp>
        <p:nvSpPr>
          <p:cNvPr id="15" name="Shape 13"/>
          <p:cNvSpPr/>
          <p:nvPr/>
        </p:nvSpPr>
        <p:spPr>
          <a:xfrm>
            <a:off x="9262872" y="3191256"/>
            <a:ext cx="548640" cy="548640"/>
          </a:xfrm>
          <a:prstGeom prst="rect">
            <a:avLst/>
          </a:prstGeom>
          <a:solidFill>
            <a:srgbClr val="3FD0C9"/>
          </a:solidFill>
          <a:ln/>
        </p:spPr>
        <p:txBody>
          <a:bodyPr/>
          <a:lstStyle/>
          <a:p>
            <a:endParaRPr lang="en-SE"/>
          </a:p>
        </p:txBody>
      </p:sp>
      <p:sp>
        <p:nvSpPr>
          <p:cNvPr id="16" name="Shape 14"/>
          <p:cNvSpPr/>
          <p:nvPr/>
        </p:nvSpPr>
        <p:spPr>
          <a:xfrm>
            <a:off x="9976104" y="3191256"/>
            <a:ext cx="548640" cy="548640"/>
          </a:xfrm>
          <a:prstGeom prst="rect">
            <a:avLst/>
          </a:prstGeom>
          <a:solidFill>
            <a:srgbClr val="2E353C"/>
          </a:solidFill>
          <a:ln/>
        </p:spPr>
        <p:txBody>
          <a:bodyPr/>
          <a:lstStyle/>
          <a:p>
            <a:endParaRPr lang="en-SE"/>
          </a:p>
        </p:txBody>
      </p:sp>
      <p:sp>
        <p:nvSpPr>
          <p:cNvPr id="17" name="Shape 15"/>
          <p:cNvSpPr/>
          <p:nvPr/>
        </p:nvSpPr>
        <p:spPr>
          <a:xfrm>
            <a:off x="10689336" y="3191256"/>
            <a:ext cx="548640" cy="548640"/>
          </a:xfrm>
          <a:prstGeom prst="rect">
            <a:avLst/>
          </a:prstGeom>
          <a:solidFill>
            <a:srgbClr val="2E353C"/>
          </a:solidFill>
          <a:ln/>
        </p:spPr>
        <p:txBody>
          <a:bodyPr/>
          <a:lstStyle/>
          <a:p>
            <a:endParaRPr lang="en-SE"/>
          </a:p>
        </p:txBody>
      </p:sp>
      <p:sp>
        <p:nvSpPr>
          <p:cNvPr id="18" name="Shape 16"/>
          <p:cNvSpPr/>
          <p:nvPr/>
        </p:nvSpPr>
        <p:spPr>
          <a:xfrm>
            <a:off x="0" y="0"/>
            <a:ext cx="12191695" cy="82296"/>
          </a:xfrm>
          <a:prstGeom prst="rect">
            <a:avLst/>
          </a:prstGeom>
          <a:solidFill>
            <a:srgbClr val="F0A202"/>
          </a:solidFill>
          <a:ln/>
        </p:spPr>
        <p:txBody>
          <a:bodyPr/>
          <a:lstStyle/>
          <a:p>
            <a:endParaRPr lang="en-SE"/>
          </a:p>
        </p:txBody>
      </p:sp>
      <p:sp>
        <p:nvSpPr>
          <p:cNvPr id="19" name="Text 17"/>
          <p:cNvSpPr/>
          <p:nvPr/>
        </p:nvSpPr>
        <p:spPr>
          <a:xfrm>
            <a:off x="685800" y="1143000"/>
            <a:ext cx="7315200" cy="320040"/>
          </a:xfrm>
          <a:prstGeom prst="rect">
            <a:avLst/>
          </a:prstGeom>
          <a:noFill/>
          <a:ln/>
        </p:spPr>
        <p:txBody>
          <a:bodyPr wrap="square" lIns="0" tIns="0" rIns="0" bIns="0" rtlCol="0" anchor="ctr"/>
          <a:lstStyle/>
          <a:p>
            <a:pPr marL="0" indent="0">
              <a:buNone/>
            </a:pPr>
            <a:r>
              <a:rPr lang="en-US" sz="1200" b="1" kern="0" spc="300" dirty="0">
                <a:solidFill>
                  <a:srgbClr val="F0A202"/>
                </a:solidFill>
                <a:latin typeface="Calibri" pitchFamily="34" charset="0"/>
                <a:ea typeface="Calibri" pitchFamily="34" charset="-122"/>
                <a:cs typeface="Calibri" pitchFamily="34" charset="-120"/>
              </a:rPr>
              <a:t>EDUMATCHER · OPERATOR TRAINING</a:t>
            </a:r>
            <a:endParaRPr lang="en-US" sz="1200" dirty="0"/>
          </a:p>
        </p:txBody>
      </p:sp>
      <p:sp>
        <p:nvSpPr>
          <p:cNvPr id="20" name="Text 18"/>
          <p:cNvSpPr/>
          <p:nvPr/>
        </p:nvSpPr>
        <p:spPr>
          <a:xfrm>
            <a:off x="685800" y="1645920"/>
            <a:ext cx="7680960" cy="1143000"/>
          </a:xfrm>
          <a:prstGeom prst="rect">
            <a:avLst/>
          </a:prstGeom>
          <a:noFill/>
          <a:ln/>
        </p:spPr>
        <p:txBody>
          <a:bodyPr wrap="square" lIns="0" tIns="0" rIns="0" bIns="0" rtlCol="0" anchor="ctr"/>
          <a:lstStyle/>
          <a:p>
            <a:pPr marL="0" indent="0">
              <a:buNone/>
            </a:pPr>
            <a:r>
              <a:rPr lang="en-US" sz="6200" b="1" dirty="0">
                <a:solidFill>
                  <a:srgbClr val="ECF1F5"/>
                </a:solidFill>
                <a:latin typeface="Trebuchet MS" pitchFamily="34" charset="0"/>
                <a:ea typeface="Trebuchet MS" pitchFamily="34" charset="-122"/>
                <a:cs typeface="Trebuchet MS" pitchFamily="34" charset="-120"/>
              </a:rPr>
              <a:t>Drop Copy</a:t>
            </a:r>
            <a:endParaRPr lang="en-US" sz="6200" dirty="0"/>
          </a:p>
        </p:txBody>
      </p:sp>
      <p:sp>
        <p:nvSpPr>
          <p:cNvPr id="21" name="Text 19"/>
          <p:cNvSpPr/>
          <p:nvPr/>
        </p:nvSpPr>
        <p:spPr>
          <a:xfrm>
            <a:off x="685800" y="2788920"/>
            <a:ext cx="7498080" cy="548640"/>
          </a:xfrm>
          <a:prstGeom prst="rect">
            <a:avLst/>
          </a:prstGeom>
          <a:noFill/>
          <a:ln/>
        </p:spPr>
        <p:txBody>
          <a:bodyPr wrap="square" lIns="0" tIns="0" rIns="0" bIns="0" rtlCol="0" anchor="ctr"/>
          <a:lstStyle/>
          <a:p>
            <a:pPr marL="0" indent="0">
              <a:buNone/>
            </a:pPr>
            <a:r>
              <a:rPr lang="en-US" sz="2200" dirty="0">
                <a:solidFill>
                  <a:srgbClr val="3FD0C9"/>
                </a:solidFill>
                <a:latin typeface="Trebuchet MS" pitchFamily="34" charset="0"/>
                <a:ea typeface="Trebuchet MS" pitchFamily="34" charset="-122"/>
                <a:cs typeface="Trebuchet MS" pitchFamily="34" charset="-120"/>
              </a:rPr>
              <a:t>The audit and clearing feed of the exchange</a:t>
            </a:r>
            <a:endParaRPr lang="en-US" sz="2200" dirty="0"/>
          </a:p>
        </p:txBody>
      </p:sp>
      <p:sp>
        <p:nvSpPr>
          <p:cNvPr id="22" name="Text 20"/>
          <p:cNvSpPr/>
          <p:nvPr/>
        </p:nvSpPr>
        <p:spPr>
          <a:xfrm>
            <a:off x="685800" y="3474720"/>
            <a:ext cx="7406640" cy="914400"/>
          </a:xfrm>
          <a:prstGeom prst="rect">
            <a:avLst/>
          </a:prstGeom>
          <a:noFill/>
          <a:ln/>
        </p:spPr>
        <p:txBody>
          <a:bodyPr wrap="square" lIns="0" tIns="0" rIns="0" bIns="0" rtlCol="0" anchor="t"/>
          <a:lstStyle/>
          <a:p>
            <a:pPr marL="0" indent="0">
              <a:lnSpc>
                <a:spcPct val="120000"/>
              </a:lnSpc>
              <a:buNone/>
            </a:pPr>
            <a:r>
              <a:rPr lang="en-US" sz="1600" dirty="0">
                <a:solidFill>
                  <a:srgbClr val="97A4AE"/>
                </a:solidFill>
                <a:latin typeface="Calibri" pitchFamily="34" charset="0"/>
                <a:ea typeface="Calibri" pitchFamily="34" charset="-122"/>
                <a:cs typeface="Calibri" pitchFamily="34" charset="-120"/>
              </a:rPr>
              <a:t>A ground-up guide for new trading system operators: what Drop Copy is, what it carries, how it is delivered, the tools that read it, and every configuration knob that changes its behaviour.</a:t>
            </a:r>
            <a:endParaRPr lang="en-US" sz="1600" dirty="0"/>
          </a:p>
        </p:txBody>
      </p:sp>
      <p:sp>
        <p:nvSpPr>
          <p:cNvPr id="23" name="Text 21"/>
          <p:cNvSpPr/>
          <p:nvPr/>
        </p:nvSpPr>
        <p:spPr>
          <a:xfrm>
            <a:off x="685800" y="4709160"/>
            <a:ext cx="1737360" cy="502920"/>
          </a:xfrm>
          <a:prstGeom prst="rect">
            <a:avLst/>
          </a:prstGeom>
          <a:noFill/>
          <a:ln/>
        </p:spPr>
        <p:txBody>
          <a:bodyPr wrap="square" lIns="0" tIns="0" rIns="0" bIns="0" rtlCol="0" anchor="ctr"/>
          <a:lstStyle/>
          <a:p>
            <a:pPr marL="0" indent="0">
              <a:buNone/>
            </a:pPr>
            <a:r>
              <a:rPr lang="en-US" sz="4400" b="1" dirty="0">
                <a:solidFill>
                  <a:srgbClr val="F0A202"/>
                </a:solidFill>
                <a:latin typeface="Trebuchet MS" pitchFamily="34" charset="0"/>
                <a:ea typeface="Trebuchet MS" pitchFamily="34" charset="-122"/>
                <a:cs typeface="Trebuchet MS" pitchFamily="34" charset="-120"/>
              </a:rPr>
              <a:t>10</a:t>
            </a:r>
            <a:endParaRPr lang="en-US" sz="4400" dirty="0"/>
          </a:p>
        </p:txBody>
      </p:sp>
      <p:sp>
        <p:nvSpPr>
          <p:cNvPr id="24" name="Text 22"/>
          <p:cNvSpPr/>
          <p:nvPr/>
        </p:nvSpPr>
        <p:spPr>
          <a:xfrm>
            <a:off x="685800" y="5230368"/>
            <a:ext cx="1783080" cy="292608"/>
          </a:xfrm>
          <a:prstGeom prst="rect">
            <a:avLst/>
          </a:prstGeom>
          <a:noFill/>
          <a:ln/>
        </p:spPr>
        <p:txBody>
          <a:bodyPr wrap="square" lIns="0" tIns="0" rIns="0" bIns="0" rtlCol="0" anchor="ctr"/>
          <a:lstStyle/>
          <a:p>
            <a:pPr marL="0" indent="0">
              <a:buNone/>
            </a:pPr>
            <a:r>
              <a:rPr lang="en-US" sz="1600" dirty="0">
                <a:solidFill>
                  <a:srgbClr val="6E7C87"/>
                </a:solidFill>
                <a:latin typeface="Calibri" pitchFamily="34" charset="0"/>
                <a:ea typeface="Calibri" pitchFamily="34" charset="-122"/>
                <a:cs typeface="Calibri" pitchFamily="34" charset="-120"/>
              </a:rPr>
              <a:t>questions answered</a:t>
            </a:r>
            <a:endParaRPr lang="en-US" sz="1600" dirty="0"/>
          </a:p>
        </p:txBody>
      </p:sp>
      <p:sp>
        <p:nvSpPr>
          <p:cNvPr id="25" name="Text 23"/>
          <p:cNvSpPr/>
          <p:nvPr/>
        </p:nvSpPr>
        <p:spPr>
          <a:xfrm>
            <a:off x="2651760" y="4709160"/>
            <a:ext cx="1737360" cy="502920"/>
          </a:xfrm>
          <a:prstGeom prst="rect">
            <a:avLst/>
          </a:prstGeom>
          <a:noFill/>
          <a:ln/>
        </p:spPr>
        <p:txBody>
          <a:bodyPr wrap="square" lIns="0" tIns="0" rIns="0" bIns="0" rtlCol="0" anchor="ctr"/>
          <a:lstStyle/>
          <a:p>
            <a:pPr marL="0" indent="0">
              <a:buNone/>
            </a:pPr>
            <a:r>
              <a:rPr lang="en-US" sz="4400" b="1" dirty="0">
                <a:solidFill>
                  <a:srgbClr val="F0A202"/>
                </a:solidFill>
                <a:latin typeface="Trebuchet MS" pitchFamily="34" charset="0"/>
                <a:ea typeface="Trebuchet MS" pitchFamily="34" charset="-122"/>
                <a:cs typeface="Trebuchet MS" pitchFamily="34" charset="-120"/>
              </a:rPr>
              <a:t>3</a:t>
            </a:r>
            <a:endParaRPr lang="en-US" sz="4400" dirty="0"/>
          </a:p>
        </p:txBody>
      </p:sp>
      <p:sp>
        <p:nvSpPr>
          <p:cNvPr id="26" name="Text 24"/>
          <p:cNvSpPr/>
          <p:nvPr/>
        </p:nvSpPr>
        <p:spPr>
          <a:xfrm>
            <a:off x="2651760" y="5230368"/>
            <a:ext cx="1783080" cy="292608"/>
          </a:xfrm>
          <a:prstGeom prst="rect">
            <a:avLst/>
          </a:prstGeom>
          <a:noFill/>
          <a:ln/>
        </p:spPr>
        <p:txBody>
          <a:bodyPr wrap="square" lIns="0" tIns="0" rIns="0" bIns="0" rtlCol="0" anchor="ctr"/>
          <a:lstStyle/>
          <a:p>
            <a:pPr marL="0" indent="0">
              <a:buNone/>
            </a:pPr>
            <a:r>
              <a:rPr lang="en-US" sz="1600" dirty="0">
                <a:solidFill>
                  <a:srgbClr val="6E7C87"/>
                </a:solidFill>
                <a:latin typeface="Calibri" pitchFamily="34" charset="0"/>
                <a:ea typeface="Calibri" pitchFamily="34" charset="-122"/>
                <a:cs typeface="Calibri" pitchFamily="34" charset="-120"/>
              </a:rPr>
              <a:t>ways to receive it</a:t>
            </a:r>
            <a:endParaRPr lang="en-US" sz="1600" dirty="0"/>
          </a:p>
        </p:txBody>
      </p:sp>
      <p:sp>
        <p:nvSpPr>
          <p:cNvPr id="27" name="Text 25"/>
          <p:cNvSpPr/>
          <p:nvPr/>
        </p:nvSpPr>
        <p:spPr>
          <a:xfrm>
            <a:off x="4617720" y="4709160"/>
            <a:ext cx="1737360" cy="502920"/>
          </a:xfrm>
          <a:prstGeom prst="rect">
            <a:avLst/>
          </a:prstGeom>
          <a:noFill/>
          <a:ln/>
        </p:spPr>
        <p:txBody>
          <a:bodyPr wrap="square" lIns="0" tIns="0" rIns="0" bIns="0" rtlCol="0" anchor="ctr"/>
          <a:lstStyle/>
          <a:p>
            <a:pPr marL="0" indent="0">
              <a:buNone/>
            </a:pPr>
            <a:r>
              <a:rPr lang="en-US" sz="4400" b="1" dirty="0">
                <a:solidFill>
                  <a:srgbClr val="F0A202"/>
                </a:solidFill>
                <a:latin typeface="Trebuchet MS" pitchFamily="34" charset="0"/>
                <a:ea typeface="Trebuchet MS" pitchFamily="34" charset="-122"/>
                <a:cs typeface="Trebuchet MS" pitchFamily="34" charset="-120"/>
              </a:rPr>
              <a:t>2</a:t>
            </a:r>
            <a:endParaRPr lang="en-US" sz="4400" dirty="0"/>
          </a:p>
        </p:txBody>
      </p:sp>
      <p:sp>
        <p:nvSpPr>
          <p:cNvPr id="28" name="Text 26"/>
          <p:cNvSpPr/>
          <p:nvPr/>
        </p:nvSpPr>
        <p:spPr>
          <a:xfrm>
            <a:off x="4617720" y="5230368"/>
            <a:ext cx="1783080" cy="292608"/>
          </a:xfrm>
          <a:prstGeom prst="rect">
            <a:avLst/>
          </a:prstGeom>
          <a:noFill/>
          <a:ln/>
        </p:spPr>
        <p:txBody>
          <a:bodyPr wrap="square" lIns="0" tIns="0" rIns="0" bIns="0" rtlCol="0" anchor="ctr"/>
          <a:lstStyle/>
          <a:p>
            <a:pPr marL="0" indent="0">
              <a:buNone/>
            </a:pPr>
            <a:r>
              <a:rPr lang="en-US" sz="1600" dirty="0">
                <a:solidFill>
                  <a:srgbClr val="6E7C87"/>
                </a:solidFill>
                <a:latin typeface="Calibri" pitchFamily="34" charset="0"/>
                <a:ea typeface="Calibri" pitchFamily="34" charset="-122"/>
                <a:cs typeface="Calibri" pitchFamily="34" charset="-120"/>
              </a:rPr>
              <a:t>tools provided</a:t>
            </a:r>
            <a:endParaRPr lang="en-US" sz="1600" dirty="0"/>
          </a:p>
        </p:txBody>
      </p:sp>
      <p:sp>
        <p:nvSpPr>
          <p:cNvPr id="29" name="Text 27"/>
          <p:cNvSpPr/>
          <p:nvPr/>
        </p:nvSpPr>
        <p:spPr>
          <a:xfrm>
            <a:off x="685800" y="5989320"/>
            <a:ext cx="8229600" cy="292608"/>
          </a:xfrm>
          <a:prstGeom prst="rect">
            <a:avLst/>
          </a:prstGeom>
          <a:noFill/>
          <a:ln/>
        </p:spPr>
        <p:txBody>
          <a:bodyPr wrap="square" lIns="0" tIns="0" rIns="0" bIns="0" rtlCol="0" anchor="ctr"/>
          <a:lstStyle/>
          <a:p>
            <a:pPr marL="0" indent="0">
              <a:buNone/>
            </a:pPr>
            <a:r>
              <a:rPr lang="en-US" sz="1000" dirty="0">
                <a:solidFill>
                  <a:srgbClr val="6E7C87"/>
                </a:solidFill>
                <a:latin typeface="Consolas" pitchFamily="34" charset="0"/>
                <a:ea typeface="Consolas" pitchFamily="34" charset="-122"/>
                <a:cs typeface="Consolas" pitchFamily="34" charset="-120"/>
              </a:rPr>
              <a:t>Sources: 200-drop-copy · 201-dc-gateway · 202-dc-spy-cli · 010-configuration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ORIENTATION</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02</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BEFORE WE START</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Who this deck is for, and what you need to know first</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No prior exchange-infrastructure experience is assumed. Every term is defined the first time it appears.</a:t>
            </a:r>
            <a:endParaRPr lang="en-US" sz="1450" dirty="0"/>
          </a:p>
        </p:txBody>
      </p:sp>
      <p:sp>
        <p:nvSpPr>
          <p:cNvPr id="8" name="Shape 6"/>
          <p:cNvSpPr/>
          <p:nvPr/>
        </p:nvSpPr>
        <p:spPr>
          <a:xfrm>
            <a:off x="685800" y="2045375"/>
            <a:ext cx="3423818" cy="2045362"/>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9" name="Shape 7"/>
          <p:cNvSpPr/>
          <p:nvPr/>
        </p:nvSpPr>
        <p:spPr>
          <a:xfrm>
            <a:off x="941832" y="2301407"/>
            <a:ext cx="384048" cy="384048"/>
          </a:xfrm>
          <a:prstGeom prst="roundRect">
            <a:avLst>
              <a:gd name="adj" fmla="val 119048"/>
            </a:avLst>
          </a:prstGeom>
          <a:solidFill>
            <a:srgbClr val="F0A202"/>
          </a:solidFill>
          <a:ln/>
        </p:spPr>
        <p:txBody>
          <a:bodyPr/>
          <a:lstStyle/>
          <a:p>
            <a:endParaRPr lang="en-SE"/>
          </a:p>
        </p:txBody>
      </p:sp>
      <p:sp>
        <p:nvSpPr>
          <p:cNvPr id="10" name="Text 8"/>
          <p:cNvSpPr/>
          <p:nvPr/>
        </p:nvSpPr>
        <p:spPr>
          <a:xfrm>
            <a:off x="941832" y="2301407"/>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A</a:t>
            </a:r>
            <a:endParaRPr lang="en-US" sz="1300" dirty="0"/>
          </a:p>
        </p:txBody>
      </p:sp>
      <p:sp>
        <p:nvSpPr>
          <p:cNvPr id="11" name="Text 9"/>
          <p:cNvSpPr/>
          <p:nvPr/>
        </p:nvSpPr>
        <p:spPr>
          <a:xfrm>
            <a:off x="941832" y="2868335"/>
            <a:ext cx="2911754" cy="310896"/>
          </a:xfrm>
          <a:prstGeom prst="rect">
            <a:avLst/>
          </a:prstGeom>
          <a:noFill/>
          <a:ln/>
        </p:spPr>
        <p:txBody>
          <a:bodyPr wrap="square" lIns="0" tIns="0" rIns="0" bIns="0" rtlCol="0" anchor="t"/>
          <a:lstStyle/>
          <a:p>
            <a:pPr marL="0" indent="0">
              <a:buNone/>
            </a:pPr>
            <a:r>
              <a:rPr lang="en-US" sz="1550" b="1" dirty="0">
                <a:solidFill>
                  <a:srgbClr val="F0A202"/>
                </a:solidFill>
                <a:latin typeface="Trebuchet MS" pitchFamily="34" charset="0"/>
                <a:ea typeface="Trebuchet MS" pitchFamily="34" charset="-122"/>
                <a:cs typeface="Trebuchet MS" pitchFamily="34" charset="-120"/>
              </a:rPr>
              <a:t>You are a system operator</a:t>
            </a:r>
            <a:endParaRPr lang="en-US" sz="1550" dirty="0"/>
          </a:p>
        </p:txBody>
      </p:sp>
      <p:sp>
        <p:nvSpPr>
          <p:cNvPr id="12" name="Text 10"/>
          <p:cNvSpPr/>
          <p:nvPr/>
        </p:nvSpPr>
        <p:spPr>
          <a:xfrm>
            <a:off x="941832" y="3252383"/>
            <a:ext cx="2911754" cy="41148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You start, stop, configure and troubleshoot the exchange processes. You do not need to write code to follow this deck.</a:t>
            </a:r>
            <a:endParaRPr lang="en-US" sz="1250" dirty="0"/>
          </a:p>
        </p:txBody>
      </p:sp>
      <p:sp>
        <p:nvSpPr>
          <p:cNvPr id="13" name="Shape 11"/>
          <p:cNvSpPr/>
          <p:nvPr/>
        </p:nvSpPr>
        <p:spPr>
          <a:xfrm>
            <a:off x="4383938" y="2045375"/>
            <a:ext cx="3423818" cy="2045362"/>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14" name="Shape 12"/>
          <p:cNvSpPr/>
          <p:nvPr/>
        </p:nvSpPr>
        <p:spPr>
          <a:xfrm>
            <a:off x="4639970" y="2301407"/>
            <a:ext cx="384048" cy="384048"/>
          </a:xfrm>
          <a:prstGeom prst="roundRect">
            <a:avLst>
              <a:gd name="adj" fmla="val 119048"/>
            </a:avLst>
          </a:prstGeom>
          <a:solidFill>
            <a:srgbClr val="3FD0C9"/>
          </a:solidFill>
          <a:ln/>
        </p:spPr>
        <p:txBody>
          <a:bodyPr/>
          <a:lstStyle/>
          <a:p>
            <a:endParaRPr lang="en-SE"/>
          </a:p>
        </p:txBody>
      </p:sp>
      <p:sp>
        <p:nvSpPr>
          <p:cNvPr id="15" name="Text 13"/>
          <p:cNvSpPr/>
          <p:nvPr/>
        </p:nvSpPr>
        <p:spPr>
          <a:xfrm>
            <a:off x="4639970" y="2301407"/>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4639970" y="2868335"/>
            <a:ext cx="2911754" cy="310896"/>
          </a:xfrm>
          <a:prstGeom prst="rect">
            <a:avLst/>
          </a:prstGeom>
          <a:noFill/>
          <a:ln/>
        </p:spPr>
        <p:txBody>
          <a:bodyPr wrap="square" lIns="0" tIns="0" rIns="0" bIns="0" rtlCol="0" anchor="t"/>
          <a:lstStyle/>
          <a:p>
            <a:pPr marL="0" indent="0">
              <a:buNone/>
            </a:pPr>
            <a:r>
              <a:rPr lang="en-US" sz="1550" b="1" dirty="0">
                <a:solidFill>
                  <a:srgbClr val="3FD0C9"/>
                </a:solidFill>
                <a:latin typeface="Trebuchet MS" pitchFamily="34" charset="0"/>
                <a:ea typeface="Trebuchet MS" pitchFamily="34" charset="-122"/>
                <a:cs typeface="Trebuchet MS" pitchFamily="34" charset="-120"/>
              </a:rPr>
              <a:t>Four terms, up front</a:t>
            </a:r>
            <a:endParaRPr lang="en-US" sz="1550" dirty="0"/>
          </a:p>
        </p:txBody>
      </p:sp>
      <p:sp>
        <p:nvSpPr>
          <p:cNvPr id="17" name="Text 15"/>
          <p:cNvSpPr/>
          <p:nvPr/>
        </p:nvSpPr>
        <p:spPr>
          <a:xfrm>
            <a:off x="4639970" y="3252383"/>
            <a:ext cx="2911754" cy="41148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Engine = matches orders.  Gateway = a door into the system.  Fill = a completed trade for one side.  Feed = a continuous stream of messages.</a:t>
            </a:r>
            <a:endParaRPr lang="en-US" sz="1250" dirty="0"/>
          </a:p>
        </p:txBody>
      </p:sp>
      <p:sp>
        <p:nvSpPr>
          <p:cNvPr id="18" name="Shape 16"/>
          <p:cNvSpPr/>
          <p:nvPr/>
        </p:nvSpPr>
        <p:spPr>
          <a:xfrm>
            <a:off x="8082077" y="2045375"/>
            <a:ext cx="3423818" cy="2045362"/>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19" name="Shape 17"/>
          <p:cNvSpPr/>
          <p:nvPr/>
        </p:nvSpPr>
        <p:spPr>
          <a:xfrm>
            <a:off x="8338109" y="2301407"/>
            <a:ext cx="384048" cy="384048"/>
          </a:xfrm>
          <a:prstGeom prst="roundRect">
            <a:avLst>
              <a:gd name="adj" fmla="val 119048"/>
            </a:avLst>
          </a:prstGeom>
          <a:solidFill>
            <a:srgbClr val="9B8CFF"/>
          </a:solidFill>
          <a:ln/>
        </p:spPr>
        <p:txBody>
          <a:bodyPr/>
          <a:lstStyle/>
          <a:p>
            <a:endParaRPr lang="en-SE"/>
          </a:p>
        </p:txBody>
      </p:sp>
      <p:sp>
        <p:nvSpPr>
          <p:cNvPr id="20" name="Text 18"/>
          <p:cNvSpPr/>
          <p:nvPr/>
        </p:nvSpPr>
        <p:spPr>
          <a:xfrm>
            <a:off x="8338109" y="2301407"/>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8338109" y="2868335"/>
            <a:ext cx="2911754" cy="310896"/>
          </a:xfrm>
          <a:prstGeom prst="rect">
            <a:avLst/>
          </a:prstGeom>
          <a:noFill/>
          <a:ln/>
        </p:spPr>
        <p:txBody>
          <a:bodyPr wrap="square" lIns="0" tIns="0" rIns="0" bIns="0" rtlCol="0" anchor="t"/>
          <a:lstStyle/>
          <a:p>
            <a:pPr marL="0" indent="0">
              <a:buNone/>
            </a:pPr>
            <a:r>
              <a:rPr lang="en-US" sz="1550" b="1" dirty="0">
                <a:solidFill>
                  <a:srgbClr val="9B8CFF"/>
                </a:solidFill>
                <a:latin typeface="Trebuchet MS" pitchFamily="34" charset="0"/>
                <a:ea typeface="Trebuchet MS" pitchFamily="34" charset="-122"/>
                <a:cs typeface="Trebuchet MS" pitchFamily="34" charset="-120"/>
              </a:rPr>
              <a:t>How it is structured</a:t>
            </a:r>
            <a:endParaRPr lang="en-US" sz="1550" dirty="0"/>
          </a:p>
        </p:txBody>
      </p:sp>
      <p:sp>
        <p:nvSpPr>
          <p:cNvPr id="22" name="Text 20"/>
          <p:cNvSpPr/>
          <p:nvPr/>
        </p:nvSpPr>
        <p:spPr>
          <a:xfrm>
            <a:off x="8338109" y="3252383"/>
            <a:ext cx="2911754" cy="41148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Ten questions, in order. The final third is a technical reference you can return to when configuring or debugging.</a:t>
            </a:r>
            <a:endParaRPr lang="en-US" sz="1250" dirty="0"/>
          </a:p>
        </p:txBody>
      </p:sp>
      <p:sp>
        <p:nvSpPr>
          <p:cNvPr id="23" name="Shape 21"/>
          <p:cNvSpPr/>
          <p:nvPr/>
        </p:nvSpPr>
        <p:spPr>
          <a:xfrm>
            <a:off x="685800" y="4468529"/>
            <a:ext cx="10820095" cy="868680"/>
          </a:xfrm>
          <a:prstGeom prst="roundRect">
            <a:avLst>
              <a:gd name="adj" fmla="val 6316"/>
            </a:avLst>
          </a:prstGeom>
          <a:solidFill>
            <a:srgbClr val="252B31"/>
          </a:solidFill>
          <a:ln w="19050">
            <a:solidFill>
              <a:srgbClr val="3FD0C9"/>
            </a:solidFill>
            <a:prstDash val="solid"/>
          </a:ln>
        </p:spPr>
        <p:txBody>
          <a:bodyPr/>
          <a:lstStyle/>
          <a:p>
            <a:endParaRPr lang="en-SE"/>
          </a:p>
        </p:txBody>
      </p:sp>
      <p:sp>
        <p:nvSpPr>
          <p:cNvPr id="24" name="Shape 22"/>
          <p:cNvSpPr/>
          <p:nvPr/>
        </p:nvSpPr>
        <p:spPr>
          <a:xfrm>
            <a:off x="923544" y="4719989"/>
            <a:ext cx="365760" cy="365760"/>
          </a:xfrm>
          <a:prstGeom prst="roundRect">
            <a:avLst>
              <a:gd name="adj" fmla="val 125000"/>
            </a:avLst>
          </a:prstGeom>
          <a:solidFill>
            <a:srgbClr val="3FD0C9"/>
          </a:solidFill>
          <a:ln/>
        </p:spPr>
        <p:txBody>
          <a:bodyPr/>
          <a:lstStyle/>
          <a:p>
            <a:endParaRPr lang="en-SE"/>
          </a:p>
        </p:txBody>
      </p:sp>
      <p:sp>
        <p:nvSpPr>
          <p:cNvPr id="25" name="Text 23"/>
          <p:cNvSpPr/>
          <p:nvPr/>
        </p:nvSpPr>
        <p:spPr>
          <a:xfrm>
            <a:off x="923544" y="4719989"/>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i</a:t>
            </a:r>
            <a:endParaRPr lang="en-US" sz="1500" dirty="0"/>
          </a:p>
        </p:txBody>
      </p:sp>
      <p:sp>
        <p:nvSpPr>
          <p:cNvPr id="26" name="Text 24"/>
          <p:cNvSpPr/>
          <p:nvPr/>
        </p:nvSpPr>
        <p:spPr>
          <a:xfrm>
            <a:off x="1453896" y="4614833"/>
            <a:ext cx="9814255" cy="576072"/>
          </a:xfrm>
          <a:prstGeom prst="rect">
            <a:avLst/>
          </a:prstGeom>
          <a:noFill/>
          <a:ln/>
        </p:spPr>
        <p:txBody>
          <a:bodyPr wrap="square" lIns="0" tIns="0" rIns="0" bIns="0" rtlCol="0" anchor="ctr"/>
          <a:lstStyle/>
          <a:p>
            <a:pPr marL="0" indent="0">
              <a:lnSpc>
                <a:spcPct val="110000"/>
              </a:lnSpc>
              <a:buNone/>
            </a:pPr>
            <a:r>
              <a:rPr lang="en-US" sz="1600" b="1" dirty="0">
                <a:solidFill>
                  <a:srgbClr val="3FD0C9"/>
                </a:solidFill>
                <a:latin typeface="Trebuchet MS" pitchFamily="34" charset="0"/>
                <a:ea typeface="Trebuchet MS" pitchFamily="34" charset="-122"/>
                <a:cs typeface="Trebuchet MS" pitchFamily="34" charset="-120"/>
              </a:rPr>
              <a:t>Why Drop Copy deserves a whole deck</a:t>
            </a:r>
            <a:endParaRPr lang="en-US" sz="1600" dirty="0"/>
          </a:p>
          <a:p>
            <a:pPr marL="0" indent="0">
              <a:lnSpc>
                <a:spcPct val="110000"/>
              </a:lnSpc>
              <a:buNone/>
            </a:pPr>
            <a:r>
              <a:rPr lang="en-US" sz="1600" dirty="0">
                <a:solidFill>
                  <a:srgbClr val="97A4AE"/>
                </a:solidFill>
                <a:latin typeface="Calibri" pitchFamily="34" charset="0"/>
                <a:ea typeface="Calibri" pitchFamily="34" charset="-122"/>
                <a:cs typeface="Calibri" pitchFamily="34" charset="-120"/>
              </a:rPr>
              <a:t>It is how auditors, risk systems and clearing/settlement see what the exchange did. If it is misconfigured, the trading still works — and nobody downstream notices anything is missing until reconciliation fails.</a:t>
            </a:r>
            <a:endParaRPr lang="en-US" sz="1600" dirty="0"/>
          </a:p>
        </p:txBody>
      </p:sp>
      <p:sp>
        <p:nvSpPr>
          <p:cNvPr id="27" name="Text 25"/>
          <p:cNvSpPr/>
          <p:nvPr/>
        </p:nvSpPr>
        <p:spPr>
          <a:xfrm>
            <a:off x="685800" y="5616342"/>
            <a:ext cx="10820095" cy="365760"/>
          </a:xfrm>
          <a:prstGeom prst="rect">
            <a:avLst/>
          </a:prstGeom>
          <a:noFill/>
          <a:ln/>
        </p:spPr>
        <p:txBody>
          <a:bodyPr wrap="square" lIns="0" tIns="0" rIns="0" bIns="0" rtlCol="0" anchor="ctr"/>
          <a:lstStyle/>
          <a:p>
            <a:pPr marL="0" indent="0">
              <a:buNone/>
            </a:pPr>
            <a:r>
              <a:rPr lang="en-US" sz="1400" i="1" dirty="0">
                <a:solidFill>
                  <a:srgbClr val="6E7C87"/>
                </a:solidFill>
                <a:latin typeface="Calibri" pitchFamily="34" charset="0"/>
                <a:ea typeface="Calibri" pitchFamily="34" charset="-122"/>
                <a:cs typeface="Calibri" pitchFamily="34" charset="-120"/>
              </a:rPr>
              <a:t>EduMatcher is an educational exchange. Where its behaviour differs from a production venue, the deck says so explicitly.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ORIENTATION</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03</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AGENDA</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Ten questions, answered in order</a:t>
            </a:r>
            <a:endParaRPr lang="en-US" sz="3100" dirty="0"/>
          </a:p>
        </p:txBody>
      </p:sp>
      <p:sp>
        <p:nvSpPr>
          <p:cNvPr id="7" name="Shape 5"/>
          <p:cNvSpPr/>
          <p:nvPr/>
        </p:nvSpPr>
        <p:spPr>
          <a:xfrm>
            <a:off x="685800" y="1965960"/>
            <a:ext cx="5257800"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8" name="Text 6"/>
          <p:cNvSpPr/>
          <p:nvPr/>
        </p:nvSpPr>
        <p:spPr>
          <a:xfrm>
            <a:off x="886968" y="1965960"/>
            <a:ext cx="685800" cy="676656"/>
          </a:xfrm>
          <a:prstGeom prst="rect">
            <a:avLst/>
          </a:prstGeom>
          <a:noFill/>
          <a:ln/>
        </p:spPr>
        <p:txBody>
          <a:bodyPr wrap="square" lIns="0" tIns="0" rIns="0" bIns="0" rtlCol="0" anchor="ctr"/>
          <a:lstStyle/>
          <a:p>
            <a:pPr marL="0" indent="0">
              <a:buNone/>
            </a:pPr>
            <a:r>
              <a:rPr lang="en-US" sz="2000" b="1" dirty="0">
                <a:solidFill>
                  <a:srgbClr val="F0A202"/>
                </a:solidFill>
                <a:latin typeface="Trebuchet MS" pitchFamily="34" charset="0"/>
                <a:ea typeface="Trebuchet MS" pitchFamily="34" charset="-122"/>
                <a:cs typeface="Trebuchet MS" pitchFamily="34" charset="-120"/>
              </a:rPr>
              <a:t>01</a:t>
            </a:r>
            <a:endParaRPr lang="en-US" sz="2000" dirty="0"/>
          </a:p>
        </p:txBody>
      </p:sp>
      <p:sp>
        <p:nvSpPr>
          <p:cNvPr id="9" name="Text 7"/>
          <p:cNvSpPr/>
          <p:nvPr/>
        </p:nvSpPr>
        <p:spPr>
          <a:xfrm>
            <a:off x="1645920" y="1965960"/>
            <a:ext cx="4114800" cy="676656"/>
          </a:xfrm>
          <a:prstGeom prst="rect">
            <a:avLst/>
          </a:prstGeom>
          <a:noFill/>
          <a:ln/>
        </p:spPr>
        <p:txBody>
          <a:bodyPr wrap="square" lIns="0" tIns="0" rIns="0" bIns="0" rtlCol="0" anchor="ctr"/>
          <a:lstStyle/>
          <a:p>
            <a:pPr marL="0" indent="0">
              <a:buNone/>
            </a:pPr>
            <a:r>
              <a:rPr lang="en-US" sz="1350" dirty="0">
                <a:solidFill>
                  <a:srgbClr val="ECF1F5"/>
                </a:solidFill>
                <a:latin typeface="Calibri" pitchFamily="34" charset="0"/>
                <a:ea typeface="Calibri" pitchFamily="34" charset="-122"/>
                <a:cs typeface="Calibri" pitchFamily="34" charset="-120"/>
              </a:rPr>
              <a:t>What Drop Copy is for</a:t>
            </a:r>
            <a:endParaRPr lang="en-US" sz="1350" dirty="0"/>
          </a:p>
        </p:txBody>
      </p:sp>
      <p:sp>
        <p:nvSpPr>
          <p:cNvPr id="10" name="Shape 8"/>
          <p:cNvSpPr/>
          <p:nvPr/>
        </p:nvSpPr>
        <p:spPr>
          <a:xfrm>
            <a:off x="6217920" y="1965960"/>
            <a:ext cx="5257800"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11" name="Text 9"/>
          <p:cNvSpPr/>
          <p:nvPr/>
        </p:nvSpPr>
        <p:spPr>
          <a:xfrm>
            <a:off x="6419088" y="1965960"/>
            <a:ext cx="685800" cy="676656"/>
          </a:xfrm>
          <a:prstGeom prst="rect">
            <a:avLst/>
          </a:prstGeom>
          <a:noFill/>
          <a:ln/>
        </p:spPr>
        <p:txBody>
          <a:bodyPr wrap="square" lIns="0" tIns="0" rIns="0" bIns="0" rtlCol="0" anchor="ctr"/>
          <a:lstStyle/>
          <a:p>
            <a:pPr marL="0" indent="0">
              <a:buNone/>
            </a:pPr>
            <a:r>
              <a:rPr lang="en-US" sz="2000" b="1" dirty="0">
                <a:solidFill>
                  <a:srgbClr val="F0A202"/>
                </a:solidFill>
                <a:latin typeface="Trebuchet MS" pitchFamily="34" charset="0"/>
                <a:ea typeface="Trebuchet MS" pitchFamily="34" charset="-122"/>
                <a:cs typeface="Trebuchet MS" pitchFamily="34" charset="-120"/>
              </a:rPr>
              <a:t>02</a:t>
            </a:r>
            <a:endParaRPr lang="en-US" sz="2000" dirty="0"/>
          </a:p>
        </p:txBody>
      </p:sp>
      <p:sp>
        <p:nvSpPr>
          <p:cNvPr id="12" name="Text 10"/>
          <p:cNvSpPr/>
          <p:nvPr/>
        </p:nvSpPr>
        <p:spPr>
          <a:xfrm>
            <a:off x="7178040" y="1965960"/>
            <a:ext cx="4114800" cy="676656"/>
          </a:xfrm>
          <a:prstGeom prst="rect">
            <a:avLst/>
          </a:prstGeom>
          <a:noFill/>
          <a:ln/>
        </p:spPr>
        <p:txBody>
          <a:bodyPr wrap="square" lIns="0" tIns="0" rIns="0" bIns="0" rtlCol="0" anchor="ctr"/>
          <a:lstStyle/>
          <a:p>
            <a:pPr marL="0" indent="0">
              <a:buNone/>
            </a:pPr>
            <a:r>
              <a:rPr lang="en-US" sz="1350" dirty="0">
                <a:solidFill>
                  <a:srgbClr val="ECF1F5"/>
                </a:solidFill>
                <a:latin typeface="Calibri" pitchFamily="34" charset="0"/>
                <a:ea typeface="Calibri" pitchFamily="34" charset="-122"/>
                <a:cs typeface="Calibri" pitchFamily="34" charset="-120"/>
              </a:rPr>
              <a:t>What information it carries</a:t>
            </a:r>
            <a:endParaRPr lang="en-US" sz="1350" dirty="0"/>
          </a:p>
        </p:txBody>
      </p:sp>
      <p:sp>
        <p:nvSpPr>
          <p:cNvPr id="13" name="Shape 11"/>
          <p:cNvSpPr/>
          <p:nvPr/>
        </p:nvSpPr>
        <p:spPr>
          <a:xfrm>
            <a:off x="685800" y="2807208"/>
            <a:ext cx="5257800"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14" name="Text 12"/>
          <p:cNvSpPr/>
          <p:nvPr/>
        </p:nvSpPr>
        <p:spPr>
          <a:xfrm>
            <a:off x="886968" y="2807208"/>
            <a:ext cx="685800" cy="676656"/>
          </a:xfrm>
          <a:prstGeom prst="rect">
            <a:avLst/>
          </a:prstGeom>
          <a:noFill/>
          <a:ln/>
        </p:spPr>
        <p:txBody>
          <a:bodyPr wrap="square" lIns="0" tIns="0" rIns="0" bIns="0" rtlCol="0" anchor="ctr"/>
          <a:lstStyle/>
          <a:p>
            <a:pPr marL="0" indent="0">
              <a:buNone/>
            </a:pPr>
            <a:r>
              <a:rPr lang="en-US" sz="2000" b="1" dirty="0">
                <a:solidFill>
                  <a:srgbClr val="F0A202"/>
                </a:solidFill>
                <a:latin typeface="Trebuchet MS" pitchFamily="34" charset="0"/>
                <a:ea typeface="Trebuchet MS" pitchFamily="34" charset="-122"/>
                <a:cs typeface="Trebuchet MS" pitchFamily="34" charset="-120"/>
              </a:rPr>
              <a:t>03</a:t>
            </a:r>
            <a:endParaRPr lang="en-US" sz="2000" dirty="0"/>
          </a:p>
        </p:txBody>
      </p:sp>
      <p:sp>
        <p:nvSpPr>
          <p:cNvPr id="15" name="Text 13"/>
          <p:cNvSpPr/>
          <p:nvPr/>
        </p:nvSpPr>
        <p:spPr>
          <a:xfrm>
            <a:off x="1645920" y="2807208"/>
            <a:ext cx="4114800" cy="676656"/>
          </a:xfrm>
          <a:prstGeom prst="rect">
            <a:avLst/>
          </a:prstGeom>
          <a:noFill/>
          <a:ln/>
        </p:spPr>
        <p:txBody>
          <a:bodyPr wrap="square" lIns="0" tIns="0" rIns="0" bIns="0" rtlCol="0" anchor="ctr"/>
          <a:lstStyle/>
          <a:p>
            <a:pPr marL="0" indent="0">
              <a:buNone/>
            </a:pPr>
            <a:r>
              <a:rPr lang="en-US" sz="1350" dirty="0">
                <a:solidFill>
                  <a:srgbClr val="ECF1F5"/>
                </a:solidFill>
                <a:latin typeface="Calibri" pitchFamily="34" charset="0"/>
                <a:ea typeface="Calibri" pitchFamily="34" charset="-122"/>
                <a:cs typeface="Calibri" pitchFamily="34" charset="-120"/>
              </a:rPr>
              <a:t>When it is created and sent</a:t>
            </a:r>
            <a:endParaRPr lang="en-US" sz="1350" dirty="0"/>
          </a:p>
        </p:txBody>
      </p:sp>
      <p:sp>
        <p:nvSpPr>
          <p:cNvPr id="16" name="Shape 14"/>
          <p:cNvSpPr/>
          <p:nvPr/>
        </p:nvSpPr>
        <p:spPr>
          <a:xfrm>
            <a:off x="6217920" y="2807208"/>
            <a:ext cx="5257800"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17" name="Text 15"/>
          <p:cNvSpPr/>
          <p:nvPr/>
        </p:nvSpPr>
        <p:spPr>
          <a:xfrm>
            <a:off x="6419088" y="2807208"/>
            <a:ext cx="685800" cy="676656"/>
          </a:xfrm>
          <a:prstGeom prst="rect">
            <a:avLst/>
          </a:prstGeom>
          <a:noFill/>
          <a:ln/>
        </p:spPr>
        <p:txBody>
          <a:bodyPr wrap="square" lIns="0" tIns="0" rIns="0" bIns="0" rtlCol="0" anchor="ctr"/>
          <a:lstStyle/>
          <a:p>
            <a:pPr marL="0" indent="0">
              <a:buNone/>
            </a:pPr>
            <a:r>
              <a:rPr lang="en-US" sz="2000" b="1" dirty="0">
                <a:solidFill>
                  <a:srgbClr val="F0A202"/>
                </a:solidFill>
                <a:latin typeface="Trebuchet MS" pitchFamily="34" charset="0"/>
                <a:ea typeface="Trebuchet MS" pitchFamily="34" charset="-122"/>
                <a:cs typeface="Trebuchet MS" pitchFamily="34" charset="-120"/>
              </a:rPr>
              <a:t>04</a:t>
            </a:r>
            <a:endParaRPr lang="en-US" sz="2000" dirty="0"/>
          </a:p>
        </p:txBody>
      </p:sp>
      <p:sp>
        <p:nvSpPr>
          <p:cNvPr id="18" name="Text 16"/>
          <p:cNvSpPr/>
          <p:nvPr/>
        </p:nvSpPr>
        <p:spPr>
          <a:xfrm>
            <a:off x="7178040" y="2807208"/>
            <a:ext cx="4114800" cy="676656"/>
          </a:xfrm>
          <a:prstGeom prst="rect">
            <a:avLst/>
          </a:prstGeom>
          <a:noFill/>
          <a:ln/>
        </p:spPr>
        <p:txBody>
          <a:bodyPr wrap="square" lIns="0" tIns="0" rIns="0" bIns="0" rtlCol="0" anchor="ctr"/>
          <a:lstStyle/>
          <a:p>
            <a:pPr marL="0" indent="0">
              <a:buNone/>
            </a:pPr>
            <a:r>
              <a:rPr lang="en-US" sz="1350" dirty="0">
                <a:solidFill>
                  <a:srgbClr val="ECF1F5"/>
                </a:solidFill>
                <a:latin typeface="Calibri" pitchFamily="34" charset="0"/>
                <a:ea typeface="Calibri" pitchFamily="34" charset="-122"/>
                <a:cs typeface="Calibri" pitchFamily="34" charset="-120"/>
              </a:rPr>
              <a:t>The format on the wire</a:t>
            </a:r>
            <a:endParaRPr lang="en-US" sz="1350" dirty="0"/>
          </a:p>
        </p:txBody>
      </p:sp>
      <p:sp>
        <p:nvSpPr>
          <p:cNvPr id="19" name="Shape 17"/>
          <p:cNvSpPr/>
          <p:nvPr/>
        </p:nvSpPr>
        <p:spPr>
          <a:xfrm>
            <a:off x="685800" y="3648456"/>
            <a:ext cx="5257800"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20" name="Text 18"/>
          <p:cNvSpPr/>
          <p:nvPr/>
        </p:nvSpPr>
        <p:spPr>
          <a:xfrm>
            <a:off x="886968" y="3648456"/>
            <a:ext cx="685800" cy="676656"/>
          </a:xfrm>
          <a:prstGeom prst="rect">
            <a:avLst/>
          </a:prstGeom>
          <a:noFill/>
          <a:ln/>
        </p:spPr>
        <p:txBody>
          <a:bodyPr wrap="square" lIns="0" tIns="0" rIns="0" bIns="0" rtlCol="0" anchor="ctr"/>
          <a:lstStyle/>
          <a:p>
            <a:pPr marL="0" indent="0">
              <a:buNone/>
            </a:pPr>
            <a:r>
              <a:rPr lang="en-US" sz="2000" b="1" dirty="0">
                <a:solidFill>
                  <a:srgbClr val="3FD0C9"/>
                </a:solidFill>
                <a:latin typeface="Trebuchet MS" pitchFamily="34" charset="0"/>
                <a:ea typeface="Trebuchet MS" pitchFamily="34" charset="-122"/>
                <a:cs typeface="Trebuchet MS" pitchFamily="34" charset="-120"/>
              </a:rPr>
              <a:t>05</a:t>
            </a:r>
            <a:endParaRPr lang="en-US" sz="2000" dirty="0"/>
          </a:p>
        </p:txBody>
      </p:sp>
      <p:sp>
        <p:nvSpPr>
          <p:cNvPr id="21" name="Text 19"/>
          <p:cNvSpPr/>
          <p:nvPr/>
        </p:nvSpPr>
        <p:spPr>
          <a:xfrm>
            <a:off x="1645920" y="3648456"/>
            <a:ext cx="4114800" cy="676656"/>
          </a:xfrm>
          <a:prstGeom prst="rect">
            <a:avLst/>
          </a:prstGeom>
          <a:noFill/>
          <a:ln/>
        </p:spPr>
        <p:txBody>
          <a:bodyPr wrap="square" lIns="0" tIns="0" rIns="0" bIns="0" rtlCol="0" anchor="ctr"/>
          <a:lstStyle/>
          <a:p>
            <a:pPr marL="0" indent="0">
              <a:buNone/>
            </a:pPr>
            <a:r>
              <a:rPr lang="en-US" sz="1350" dirty="0">
                <a:solidFill>
                  <a:srgbClr val="ECF1F5"/>
                </a:solidFill>
                <a:latin typeface="Calibri" pitchFamily="34" charset="0"/>
                <a:ea typeface="Calibri" pitchFamily="34" charset="-122"/>
                <a:cs typeface="Calibri" pitchFamily="34" charset="-120"/>
              </a:rPr>
              <a:t>How ALF relates to Drop Copy</a:t>
            </a:r>
            <a:endParaRPr lang="en-US" sz="1350" dirty="0"/>
          </a:p>
        </p:txBody>
      </p:sp>
      <p:sp>
        <p:nvSpPr>
          <p:cNvPr id="22" name="Shape 20"/>
          <p:cNvSpPr/>
          <p:nvPr/>
        </p:nvSpPr>
        <p:spPr>
          <a:xfrm>
            <a:off x="6217920" y="3648456"/>
            <a:ext cx="5257800"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23" name="Text 21"/>
          <p:cNvSpPr/>
          <p:nvPr/>
        </p:nvSpPr>
        <p:spPr>
          <a:xfrm>
            <a:off x="6419088" y="3648456"/>
            <a:ext cx="685800" cy="676656"/>
          </a:xfrm>
          <a:prstGeom prst="rect">
            <a:avLst/>
          </a:prstGeom>
          <a:noFill/>
          <a:ln/>
        </p:spPr>
        <p:txBody>
          <a:bodyPr wrap="square" lIns="0" tIns="0" rIns="0" bIns="0" rtlCol="0" anchor="ctr"/>
          <a:lstStyle/>
          <a:p>
            <a:pPr marL="0" indent="0">
              <a:buNone/>
            </a:pPr>
            <a:r>
              <a:rPr lang="en-US" sz="2000" b="1" dirty="0">
                <a:solidFill>
                  <a:srgbClr val="3FD0C9"/>
                </a:solidFill>
                <a:latin typeface="Trebuchet MS" pitchFamily="34" charset="0"/>
                <a:ea typeface="Trebuchet MS" pitchFamily="34" charset="-122"/>
                <a:cs typeface="Trebuchet MS" pitchFamily="34" charset="-120"/>
              </a:rPr>
              <a:t>06</a:t>
            </a:r>
            <a:endParaRPr lang="en-US" sz="2000" dirty="0"/>
          </a:p>
        </p:txBody>
      </p:sp>
      <p:sp>
        <p:nvSpPr>
          <p:cNvPr id="24" name="Text 22"/>
          <p:cNvSpPr/>
          <p:nvPr/>
        </p:nvSpPr>
        <p:spPr>
          <a:xfrm>
            <a:off x="7178040" y="3648456"/>
            <a:ext cx="4114800" cy="676656"/>
          </a:xfrm>
          <a:prstGeom prst="rect">
            <a:avLst/>
          </a:prstGeom>
          <a:noFill/>
          <a:ln/>
        </p:spPr>
        <p:txBody>
          <a:bodyPr wrap="square" lIns="0" tIns="0" rIns="0" bIns="0" rtlCol="0" anchor="ctr"/>
          <a:lstStyle/>
          <a:p>
            <a:pPr marL="0" indent="0">
              <a:buNone/>
            </a:pPr>
            <a:r>
              <a:rPr lang="en-US" sz="1350" dirty="0">
                <a:solidFill>
                  <a:srgbClr val="ECF1F5"/>
                </a:solidFill>
                <a:latin typeface="Calibri" pitchFamily="34" charset="0"/>
                <a:ea typeface="Calibri" pitchFamily="34" charset="-122"/>
                <a:cs typeface="Calibri" pitchFamily="34" charset="-120"/>
              </a:rPr>
              <a:t>Using the DC Gateway</a:t>
            </a:r>
            <a:endParaRPr lang="en-US" sz="1350" dirty="0"/>
          </a:p>
        </p:txBody>
      </p:sp>
      <p:sp>
        <p:nvSpPr>
          <p:cNvPr id="25" name="Shape 23"/>
          <p:cNvSpPr/>
          <p:nvPr/>
        </p:nvSpPr>
        <p:spPr>
          <a:xfrm>
            <a:off x="685800" y="4489704"/>
            <a:ext cx="5257800"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26" name="Text 24"/>
          <p:cNvSpPr/>
          <p:nvPr/>
        </p:nvSpPr>
        <p:spPr>
          <a:xfrm>
            <a:off x="886968" y="4489704"/>
            <a:ext cx="685800" cy="676656"/>
          </a:xfrm>
          <a:prstGeom prst="rect">
            <a:avLst/>
          </a:prstGeom>
          <a:noFill/>
          <a:ln/>
        </p:spPr>
        <p:txBody>
          <a:bodyPr wrap="square" lIns="0" tIns="0" rIns="0" bIns="0" rtlCol="0" anchor="ctr"/>
          <a:lstStyle/>
          <a:p>
            <a:pPr marL="0" indent="0">
              <a:buNone/>
            </a:pPr>
            <a:r>
              <a:rPr lang="en-US" sz="2000" b="1" dirty="0">
                <a:solidFill>
                  <a:srgbClr val="3FD0C9"/>
                </a:solidFill>
                <a:latin typeface="Trebuchet MS" pitchFamily="34" charset="0"/>
                <a:ea typeface="Trebuchet MS" pitchFamily="34" charset="-122"/>
                <a:cs typeface="Trebuchet MS" pitchFamily="34" charset="-120"/>
              </a:rPr>
              <a:t>07</a:t>
            </a:r>
            <a:endParaRPr lang="en-US" sz="2000" dirty="0"/>
          </a:p>
        </p:txBody>
      </p:sp>
      <p:sp>
        <p:nvSpPr>
          <p:cNvPr id="27" name="Text 25"/>
          <p:cNvSpPr/>
          <p:nvPr/>
        </p:nvSpPr>
        <p:spPr>
          <a:xfrm>
            <a:off x="1645920" y="4489704"/>
            <a:ext cx="4114800" cy="676656"/>
          </a:xfrm>
          <a:prstGeom prst="rect">
            <a:avLst/>
          </a:prstGeom>
          <a:noFill/>
          <a:ln/>
        </p:spPr>
        <p:txBody>
          <a:bodyPr wrap="square" lIns="0" tIns="0" rIns="0" bIns="0" rtlCol="0" anchor="ctr"/>
          <a:lstStyle/>
          <a:p>
            <a:pPr marL="0" indent="0">
              <a:buNone/>
            </a:pPr>
            <a:r>
              <a:rPr lang="en-US" sz="1350" dirty="0">
                <a:solidFill>
                  <a:srgbClr val="ECF1F5"/>
                </a:solidFill>
                <a:latin typeface="Calibri" pitchFamily="34" charset="0"/>
                <a:ea typeface="Calibri" pitchFamily="34" charset="-122"/>
                <a:cs typeface="Calibri" pitchFamily="34" charset="-120"/>
              </a:rPr>
              <a:t>The DC Spy client</a:t>
            </a:r>
            <a:endParaRPr lang="en-US" sz="1350" dirty="0"/>
          </a:p>
        </p:txBody>
      </p:sp>
      <p:sp>
        <p:nvSpPr>
          <p:cNvPr id="28" name="Shape 26"/>
          <p:cNvSpPr/>
          <p:nvPr/>
        </p:nvSpPr>
        <p:spPr>
          <a:xfrm>
            <a:off x="6217920" y="4489704"/>
            <a:ext cx="5257800"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29" name="Text 27"/>
          <p:cNvSpPr/>
          <p:nvPr/>
        </p:nvSpPr>
        <p:spPr>
          <a:xfrm>
            <a:off x="6419088" y="4489704"/>
            <a:ext cx="685800" cy="676656"/>
          </a:xfrm>
          <a:prstGeom prst="rect">
            <a:avLst/>
          </a:prstGeom>
          <a:noFill/>
          <a:ln/>
        </p:spPr>
        <p:txBody>
          <a:bodyPr wrap="square" lIns="0" tIns="0" rIns="0" bIns="0" rtlCol="0" anchor="ctr"/>
          <a:lstStyle/>
          <a:p>
            <a:pPr marL="0" indent="0">
              <a:buNone/>
            </a:pPr>
            <a:r>
              <a:rPr lang="en-US" sz="2000" b="1" dirty="0">
                <a:solidFill>
                  <a:srgbClr val="9B8CFF"/>
                </a:solidFill>
                <a:latin typeface="Trebuchet MS" pitchFamily="34" charset="0"/>
                <a:ea typeface="Trebuchet MS" pitchFamily="34" charset="-122"/>
                <a:cs typeface="Trebuchet MS" pitchFamily="34" charset="-120"/>
              </a:rPr>
              <a:t>08</a:t>
            </a:r>
            <a:endParaRPr lang="en-US" sz="2000" dirty="0"/>
          </a:p>
        </p:txBody>
      </p:sp>
      <p:sp>
        <p:nvSpPr>
          <p:cNvPr id="30" name="Text 28"/>
          <p:cNvSpPr/>
          <p:nvPr/>
        </p:nvSpPr>
        <p:spPr>
          <a:xfrm>
            <a:off x="7178040" y="4489704"/>
            <a:ext cx="4114800" cy="676656"/>
          </a:xfrm>
          <a:prstGeom prst="rect">
            <a:avLst/>
          </a:prstGeom>
          <a:noFill/>
          <a:ln/>
        </p:spPr>
        <p:txBody>
          <a:bodyPr wrap="square" lIns="0" tIns="0" rIns="0" bIns="0" rtlCol="0" anchor="ctr"/>
          <a:lstStyle/>
          <a:p>
            <a:pPr marL="0" indent="0">
              <a:buNone/>
            </a:pPr>
            <a:r>
              <a:rPr lang="en-US" sz="1350" dirty="0">
                <a:solidFill>
                  <a:srgbClr val="ECF1F5"/>
                </a:solidFill>
                <a:latin typeface="Calibri" pitchFamily="34" charset="0"/>
                <a:ea typeface="Calibri" pitchFamily="34" charset="-122"/>
                <a:cs typeface="Calibri" pitchFamily="34" charset="-120"/>
              </a:rPr>
              <a:t>Good-to-know operating facts</a:t>
            </a:r>
            <a:endParaRPr lang="en-US" sz="1350" dirty="0"/>
          </a:p>
        </p:txBody>
      </p:sp>
      <p:sp>
        <p:nvSpPr>
          <p:cNvPr id="31" name="Shape 29"/>
          <p:cNvSpPr/>
          <p:nvPr/>
        </p:nvSpPr>
        <p:spPr>
          <a:xfrm>
            <a:off x="685800" y="5330952"/>
            <a:ext cx="5257800"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32" name="Text 30"/>
          <p:cNvSpPr/>
          <p:nvPr/>
        </p:nvSpPr>
        <p:spPr>
          <a:xfrm>
            <a:off x="886968" y="5330952"/>
            <a:ext cx="685800" cy="676656"/>
          </a:xfrm>
          <a:prstGeom prst="rect">
            <a:avLst/>
          </a:prstGeom>
          <a:noFill/>
          <a:ln/>
        </p:spPr>
        <p:txBody>
          <a:bodyPr wrap="square" lIns="0" tIns="0" rIns="0" bIns="0" rtlCol="0" anchor="ctr"/>
          <a:lstStyle/>
          <a:p>
            <a:pPr marL="0" indent="0">
              <a:buNone/>
            </a:pPr>
            <a:r>
              <a:rPr lang="en-US" sz="2000" b="1" dirty="0">
                <a:solidFill>
                  <a:srgbClr val="9B8CFF"/>
                </a:solidFill>
                <a:latin typeface="Trebuchet MS" pitchFamily="34" charset="0"/>
                <a:ea typeface="Trebuchet MS" pitchFamily="34" charset="-122"/>
                <a:cs typeface="Trebuchet MS" pitchFamily="34" charset="-120"/>
              </a:rPr>
              <a:t>09</a:t>
            </a:r>
            <a:endParaRPr lang="en-US" sz="2000" dirty="0"/>
          </a:p>
        </p:txBody>
      </p:sp>
      <p:sp>
        <p:nvSpPr>
          <p:cNvPr id="33" name="Text 31"/>
          <p:cNvSpPr/>
          <p:nvPr/>
        </p:nvSpPr>
        <p:spPr>
          <a:xfrm>
            <a:off x="1645920" y="5330952"/>
            <a:ext cx="4114800" cy="676656"/>
          </a:xfrm>
          <a:prstGeom prst="rect">
            <a:avLst/>
          </a:prstGeom>
          <a:noFill/>
          <a:ln/>
        </p:spPr>
        <p:txBody>
          <a:bodyPr wrap="square" lIns="0" tIns="0" rIns="0" bIns="0" rtlCol="0" anchor="ctr"/>
          <a:lstStyle/>
          <a:p>
            <a:pPr marL="0" indent="0">
              <a:buNone/>
            </a:pPr>
            <a:r>
              <a:rPr lang="en-US" sz="1350" dirty="0">
                <a:solidFill>
                  <a:srgbClr val="ECF1F5"/>
                </a:solidFill>
                <a:latin typeface="Calibri" pitchFamily="34" charset="0"/>
                <a:ea typeface="Calibri" pitchFamily="34" charset="-122"/>
                <a:cs typeface="Calibri" pitchFamily="34" charset="-120"/>
              </a:rPr>
              <a:t>Errors the feed can give</a:t>
            </a:r>
            <a:endParaRPr lang="en-US" sz="1350" dirty="0"/>
          </a:p>
        </p:txBody>
      </p:sp>
      <p:sp>
        <p:nvSpPr>
          <p:cNvPr id="34" name="Shape 32"/>
          <p:cNvSpPr/>
          <p:nvPr/>
        </p:nvSpPr>
        <p:spPr>
          <a:xfrm>
            <a:off x="6217920" y="5330952"/>
            <a:ext cx="5257800"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35" name="Text 33"/>
          <p:cNvSpPr/>
          <p:nvPr/>
        </p:nvSpPr>
        <p:spPr>
          <a:xfrm>
            <a:off x="6419088" y="5330952"/>
            <a:ext cx="685800" cy="676656"/>
          </a:xfrm>
          <a:prstGeom prst="rect">
            <a:avLst/>
          </a:prstGeom>
          <a:noFill/>
          <a:ln/>
        </p:spPr>
        <p:txBody>
          <a:bodyPr wrap="square" lIns="0" tIns="0" rIns="0" bIns="0" rtlCol="0" anchor="ctr"/>
          <a:lstStyle/>
          <a:p>
            <a:pPr marL="0" indent="0">
              <a:buNone/>
            </a:pPr>
            <a:r>
              <a:rPr lang="en-US" sz="2000" b="1" dirty="0">
                <a:solidFill>
                  <a:srgbClr val="9B8CFF"/>
                </a:solidFill>
                <a:latin typeface="Trebuchet MS" pitchFamily="34" charset="0"/>
                <a:ea typeface="Trebuchet MS" pitchFamily="34" charset="-122"/>
                <a:cs typeface="Trebuchet MS" pitchFamily="34" charset="-120"/>
              </a:rPr>
              <a:t>10</a:t>
            </a:r>
            <a:endParaRPr lang="en-US" sz="2000" dirty="0"/>
          </a:p>
        </p:txBody>
      </p:sp>
      <p:sp>
        <p:nvSpPr>
          <p:cNvPr id="36" name="Text 34"/>
          <p:cNvSpPr/>
          <p:nvPr/>
        </p:nvSpPr>
        <p:spPr>
          <a:xfrm>
            <a:off x="7178040" y="5330952"/>
            <a:ext cx="4114800" cy="676656"/>
          </a:xfrm>
          <a:prstGeom prst="rect">
            <a:avLst/>
          </a:prstGeom>
          <a:noFill/>
          <a:ln/>
        </p:spPr>
        <p:txBody>
          <a:bodyPr wrap="square" lIns="0" tIns="0" rIns="0" bIns="0" rtlCol="0" anchor="ctr"/>
          <a:lstStyle/>
          <a:p>
            <a:pPr marL="0" indent="0">
              <a:buNone/>
            </a:pPr>
            <a:r>
              <a:rPr lang="en-US" sz="1350" dirty="0">
                <a:solidFill>
                  <a:srgbClr val="ECF1F5"/>
                </a:solidFill>
                <a:latin typeface="Calibri" pitchFamily="34" charset="0"/>
                <a:ea typeface="Calibri" pitchFamily="34" charset="-122"/>
                <a:cs typeface="Calibri" pitchFamily="34" charset="-120"/>
              </a:rPr>
              <a:t>Configuration that changes it</a:t>
            </a:r>
            <a:endParaRPr lang="en-US" sz="1350" dirty="0"/>
          </a:p>
        </p:txBody>
      </p:sp>
      <p:sp>
        <p:nvSpPr>
          <p:cNvPr id="37" name="Text 35"/>
          <p:cNvSpPr/>
          <p:nvPr/>
        </p:nvSpPr>
        <p:spPr>
          <a:xfrm>
            <a:off x="685800" y="6172200"/>
            <a:ext cx="10789920" cy="320040"/>
          </a:xfrm>
          <a:prstGeom prst="rect">
            <a:avLst/>
          </a:prstGeom>
          <a:noFill/>
          <a:ln/>
        </p:spPr>
        <p:txBody>
          <a:bodyPr wrap="square" lIns="0" tIns="0" rIns="0" bIns="0" rtlCol="0" anchor="ctr"/>
          <a:lstStyle/>
          <a:p>
            <a:pPr marL="0" indent="0">
              <a:buNone/>
            </a:pPr>
            <a:r>
              <a:rPr lang="en-US" sz="1150" i="1" dirty="0">
                <a:solidFill>
                  <a:srgbClr val="6E7C87"/>
                </a:solidFill>
                <a:latin typeface="Calibri" pitchFamily="34" charset="0"/>
                <a:ea typeface="Calibri" pitchFamily="34" charset="-122"/>
                <a:cs typeface="Calibri" pitchFamily="34" charset="-120"/>
              </a:rPr>
              <a:t>Slides 40+ form a standing reference: protocol tables, error codes and every configuration field.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10454335" y="4572000"/>
            <a:ext cx="237744" cy="237744"/>
          </a:xfrm>
          <a:prstGeom prst="rect">
            <a:avLst/>
          </a:prstGeom>
          <a:solidFill>
            <a:srgbClr val="F0A202"/>
          </a:solidFill>
          <a:ln/>
        </p:spPr>
        <p:txBody>
          <a:bodyPr/>
          <a:lstStyle/>
          <a:p>
            <a:endParaRPr lang="en-SE" sz="2800"/>
          </a:p>
        </p:txBody>
      </p:sp>
      <p:sp>
        <p:nvSpPr>
          <p:cNvPr id="3" name="Shape 1"/>
          <p:cNvSpPr/>
          <p:nvPr/>
        </p:nvSpPr>
        <p:spPr>
          <a:xfrm>
            <a:off x="10838383" y="4572000"/>
            <a:ext cx="237744" cy="237744"/>
          </a:xfrm>
          <a:prstGeom prst="rect">
            <a:avLst/>
          </a:prstGeom>
          <a:solidFill>
            <a:srgbClr val="2E353C"/>
          </a:solidFill>
          <a:ln/>
        </p:spPr>
        <p:txBody>
          <a:bodyPr/>
          <a:lstStyle/>
          <a:p>
            <a:endParaRPr lang="en-SE" sz="2800"/>
          </a:p>
        </p:txBody>
      </p:sp>
      <p:sp>
        <p:nvSpPr>
          <p:cNvPr id="4" name="Shape 2"/>
          <p:cNvSpPr/>
          <p:nvPr/>
        </p:nvSpPr>
        <p:spPr>
          <a:xfrm>
            <a:off x="11222431" y="4572000"/>
            <a:ext cx="237744" cy="237744"/>
          </a:xfrm>
          <a:prstGeom prst="rect">
            <a:avLst/>
          </a:prstGeom>
          <a:solidFill>
            <a:srgbClr val="2E353C"/>
          </a:solidFill>
          <a:ln/>
        </p:spPr>
        <p:txBody>
          <a:bodyPr/>
          <a:lstStyle/>
          <a:p>
            <a:endParaRPr lang="en-SE"/>
          </a:p>
        </p:txBody>
      </p:sp>
      <p:sp>
        <p:nvSpPr>
          <p:cNvPr id="5" name="Shape 3"/>
          <p:cNvSpPr/>
          <p:nvPr/>
        </p:nvSpPr>
        <p:spPr>
          <a:xfrm>
            <a:off x="10454335" y="4956048"/>
            <a:ext cx="237744" cy="237744"/>
          </a:xfrm>
          <a:prstGeom prst="rect">
            <a:avLst/>
          </a:prstGeom>
          <a:solidFill>
            <a:srgbClr val="3FD0C9"/>
          </a:solidFill>
          <a:ln/>
        </p:spPr>
        <p:txBody>
          <a:bodyPr/>
          <a:lstStyle/>
          <a:p>
            <a:endParaRPr lang="en-SE" sz="2800"/>
          </a:p>
        </p:txBody>
      </p:sp>
      <p:sp>
        <p:nvSpPr>
          <p:cNvPr id="6" name="Shape 4"/>
          <p:cNvSpPr/>
          <p:nvPr/>
        </p:nvSpPr>
        <p:spPr>
          <a:xfrm>
            <a:off x="10838383" y="4956048"/>
            <a:ext cx="237744" cy="237744"/>
          </a:xfrm>
          <a:prstGeom prst="rect">
            <a:avLst/>
          </a:prstGeom>
          <a:solidFill>
            <a:srgbClr val="F0A202"/>
          </a:solidFill>
          <a:ln/>
        </p:spPr>
        <p:txBody>
          <a:bodyPr/>
          <a:lstStyle/>
          <a:p>
            <a:endParaRPr lang="en-SE" sz="2800"/>
          </a:p>
        </p:txBody>
      </p:sp>
      <p:sp>
        <p:nvSpPr>
          <p:cNvPr id="7" name="Shape 5"/>
          <p:cNvSpPr/>
          <p:nvPr/>
        </p:nvSpPr>
        <p:spPr>
          <a:xfrm>
            <a:off x="11222431" y="4956048"/>
            <a:ext cx="237744" cy="237744"/>
          </a:xfrm>
          <a:prstGeom prst="rect">
            <a:avLst/>
          </a:prstGeom>
          <a:solidFill>
            <a:srgbClr val="2E353C"/>
          </a:solidFill>
          <a:ln/>
        </p:spPr>
        <p:txBody>
          <a:bodyPr/>
          <a:lstStyle/>
          <a:p>
            <a:endParaRPr lang="en-SE"/>
          </a:p>
        </p:txBody>
      </p:sp>
      <p:sp>
        <p:nvSpPr>
          <p:cNvPr id="8" name="Text 6"/>
          <p:cNvSpPr/>
          <p:nvPr/>
        </p:nvSpPr>
        <p:spPr>
          <a:xfrm>
            <a:off x="685800" y="1417320"/>
            <a:ext cx="2743200" cy="1737360"/>
          </a:xfrm>
          <a:prstGeom prst="rect">
            <a:avLst/>
          </a:prstGeom>
          <a:noFill/>
          <a:ln/>
        </p:spPr>
        <p:txBody>
          <a:bodyPr wrap="square" lIns="0" tIns="0" rIns="0" bIns="0" rtlCol="0" anchor="ctr"/>
          <a:lstStyle/>
          <a:p>
            <a:pPr marL="0" indent="0">
              <a:buNone/>
            </a:pPr>
            <a:r>
              <a:rPr lang="en-US" sz="11000" b="1" dirty="0">
                <a:solidFill>
                  <a:srgbClr val="2E353C"/>
                </a:solidFill>
                <a:latin typeface="Trebuchet MS" pitchFamily="34" charset="0"/>
                <a:ea typeface="Trebuchet MS" pitchFamily="34" charset="-122"/>
                <a:cs typeface="Trebuchet MS" pitchFamily="34" charset="-120"/>
              </a:rPr>
              <a:t>01</a:t>
            </a:r>
            <a:endParaRPr lang="en-US" sz="11000" dirty="0"/>
          </a:p>
        </p:txBody>
      </p:sp>
      <p:sp>
        <p:nvSpPr>
          <p:cNvPr id="9" name="Text 7"/>
          <p:cNvSpPr/>
          <p:nvPr/>
        </p:nvSpPr>
        <p:spPr>
          <a:xfrm>
            <a:off x="2606040" y="1600200"/>
            <a:ext cx="8579815" cy="1371600"/>
          </a:xfrm>
          <a:prstGeom prst="rect">
            <a:avLst/>
          </a:prstGeom>
          <a:noFill/>
          <a:ln/>
        </p:spPr>
        <p:txBody>
          <a:bodyPr wrap="square" lIns="0" tIns="0" rIns="0" bIns="0" rtlCol="0" anchor="ctr"/>
          <a:lstStyle/>
          <a:p>
            <a:pPr marL="0" indent="0">
              <a:buNone/>
            </a:pPr>
            <a:r>
              <a:rPr lang="en-US" sz="4000" b="1" dirty="0">
                <a:solidFill>
                  <a:srgbClr val="ECF1F5"/>
                </a:solidFill>
                <a:latin typeface="Trebuchet MS" pitchFamily="34" charset="0"/>
                <a:ea typeface="Trebuchet MS" pitchFamily="34" charset="-122"/>
                <a:cs typeface="Trebuchet MS" pitchFamily="34" charset="-120"/>
              </a:rPr>
              <a:t>What is Drop Copy for?</a:t>
            </a:r>
            <a:endParaRPr lang="en-US" sz="4000" dirty="0"/>
          </a:p>
        </p:txBody>
      </p:sp>
      <p:sp>
        <p:nvSpPr>
          <p:cNvPr id="10" name="Text 8"/>
          <p:cNvSpPr/>
          <p:nvPr/>
        </p:nvSpPr>
        <p:spPr>
          <a:xfrm>
            <a:off x="2651760" y="3017520"/>
            <a:ext cx="7680960" cy="822960"/>
          </a:xfrm>
          <a:prstGeom prst="rect">
            <a:avLst/>
          </a:prstGeom>
          <a:noFill/>
          <a:ln/>
        </p:spPr>
        <p:txBody>
          <a:bodyPr wrap="square" lIns="0" tIns="0" rIns="0" bIns="0" rtlCol="0" anchor="t"/>
          <a:lstStyle/>
          <a:p>
            <a:pPr marL="0" indent="0">
              <a:lnSpc>
                <a:spcPct val="115000"/>
              </a:lnSpc>
              <a:buNone/>
            </a:pPr>
            <a:r>
              <a:rPr lang="en-US" dirty="0">
                <a:solidFill>
                  <a:srgbClr val="97A4AE"/>
                </a:solidFill>
                <a:latin typeface="Calibri" pitchFamily="34" charset="0"/>
                <a:ea typeface="Calibri" pitchFamily="34" charset="-122"/>
                <a:cs typeface="Calibri" pitchFamily="34" charset="-120"/>
              </a:rPr>
              <a:t>Trading systems must tell more than one audience about a trade. Drop Copy is the second, independent telling — the one auditors and clearing rely on.</a:t>
            </a:r>
            <a:endParaRPr lang="en-US" dirty="0"/>
          </a:p>
        </p:txBody>
      </p:sp>
      <p:sp>
        <p:nvSpPr>
          <p:cNvPr id="11" name="Shape 9"/>
          <p:cNvSpPr/>
          <p:nvPr/>
        </p:nvSpPr>
        <p:spPr>
          <a:xfrm>
            <a:off x="2651760" y="4142232"/>
            <a:ext cx="128016" cy="128016"/>
          </a:xfrm>
          <a:prstGeom prst="rect">
            <a:avLst/>
          </a:prstGeom>
          <a:solidFill>
            <a:srgbClr val="3FD0C9"/>
          </a:solidFill>
          <a:ln/>
        </p:spPr>
        <p:txBody>
          <a:bodyPr/>
          <a:lstStyle/>
          <a:p>
            <a:endParaRPr lang="en-SE"/>
          </a:p>
        </p:txBody>
      </p:sp>
      <p:sp>
        <p:nvSpPr>
          <p:cNvPr id="12" name="Text 10"/>
          <p:cNvSpPr/>
          <p:nvPr/>
        </p:nvSpPr>
        <p:spPr>
          <a:xfrm>
            <a:off x="2971800" y="4041648"/>
            <a:ext cx="7863840" cy="329184"/>
          </a:xfrm>
          <a:prstGeom prst="rect">
            <a:avLst/>
          </a:prstGeom>
          <a:noFill/>
          <a:ln/>
        </p:spPr>
        <p:txBody>
          <a:bodyPr wrap="square" lIns="0" tIns="0" rIns="0" bIns="0" rtlCol="0" anchor="ctr"/>
          <a:lstStyle/>
          <a:p>
            <a:pPr marL="0" indent="0">
              <a:buNone/>
            </a:pPr>
            <a:r>
              <a:rPr lang="en-US" dirty="0">
                <a:solidFill>
                  <a:srgbClr val="6E7C87"/>
                </a:solidFill>
                <a:latin typeface="Calibri" pitchFamily="34" charset="0"/>
                <a:ea typeface="Calibri" pitchFamily="34" charset="-122"/>
                <a:cs typeface="Calibri" pitchFamily="34" charset="-120"/>
              </a:rPr>
              <a:t>The problem it solves</a:t>
            </a:r>
            <a:endParaRPr lang="en-US" dirty="0"/>
          </a:p>
        </p:txBody>
      </p:sp>
      <p:sp>
        <p:nvSpPr>
          <p:cNvPr id="13" name="Shape 11"/>
          <p:cNvSpPr/>
          <p:nvPr/>
        </p:nvSpPr>
        <p:spPr>
          <a:xfrm>
            <a:off x="2651760" y="4526280"/>
            <a:ext cx="128016" cy="128016"/>
          </a:xfrm>
          <a:prstGeom prst="rect">
            <a:avLst/>
          </a:prstGeom>
          <a:solidFill>
            <a:srgbClr val="3FD0C9"/>
          </a:solidFill>
          <a:ln/>
        </p:spPr>
        <p:txBody>
          <a:bodyPr/>
          <a:lstStyle/>
          <a:p>
            <a:endParaRPr lang="en-SE"/>
          </a:p>
        </p:txBody>
      </p:sp>
      <p:sp>
        <p:nvSpPr>
          <p:cNvPr id="14" name="Text 12"/>
          <p:cNvSpPr/>
          <p:nvPr/>
        </p:nvSpPr>
        <p:spPr>
          <a:xfrm>
            <a:off x="2971800" y="4425696"/>
            <a:ext cx="7863840" cy="329184"/>
          </a:xfrm>
          <a:prstGeom prst="rect">
            <a:avLst/>
          </a:prstGeom>
          <a:noFill/>
          <a:ln/>
        </p:spPr>
        <p:txBody>
          <a:bodyPr wrap="square" lIns="0" tIns="0" rIns="0" bIns="0" rtlCol="0" anchor="ctr"/>
          <a:lstStyle/>
          <a:p>
            <a:pPr marL="0" indent="0">
              <a:buNone/>
            </a:pPr>
            <a:r>
              <a:rPr lang="en-US" dirty="0">
                <a:solidFill>
                  <a:srgbClr val="6E7C87"/>
                </a:solidFill>
                <a:latin typeface="Calibri" pitchFamily="34" charset="0"/>
                <a:ea typeface="Calibri" pitchFamily="34" charset="-122"/>
                <a:cs typeface="Calibri" pitchFamily="34" charset="-120"/>
              </a:rPr>
              <a:t>The definition</a:t>
            </a:r>
            <a:endParaRPr lang="en-US" dirty="0"/>
          </a:p>
        </p:txBody>
      </p:sp>
      <p:sp>
        <p:nvSpPr>
          <p:cNvPr id="15" name="Shape 13"/>
          <p:cNvSpPr/>
          <p:nvPr/>
        </p:nvSpPr>
        <p:spPr>
          <a:xfrm>
            <a:off x="2651760" y="4910328"/>
            <a:ext cx="128016" cy="128016"/>
          </a:xfrm>
          <a:prstGeom prst="rect">
            <a:avLst/>
          </a:prstGeom>
          <a:solidFill>
            <a:srgbClr val="3FD0C9"/>
          </a:solidFill>
          <a:ln/>
        </p:spPr>
        <p:txBody>
          <a:bodyPr/>
          <a:lstStyle/>
          <a:p>
            <a:endParaRPr lang="en-SE"/>
          </a:p>
        </p:txBody>
      </p:sp>
      <p:sp>
        <p:nvSpPr>
          <p:cNvPr id="16" name="Text 14"/>
          <p:cNvSpPr/>
          <p:nvPr/>
        </p:nvSpPr>
        <p:spPr>
          <a:xfrm>
            <a:off x="2971800" y="4809744"/>
            <a:ext cx="7863840" cy="329184"/>
          </a:xfrm>
          <a:prstGeom prst="rect">
            <a:avLst/>
          </a:prstGeom>
          <a:noFill/>
          <a:ln/>
        </p:spPr>
        <p:txBody>
          <a:bodyPr wrap="square" lIns="0" tIns="0" rIns="0" bIns="0" rtlCol="0" anchor="ctr"/>
          <a:lstStyle/>
          <a:p>
            <a:pPr marL="0" indent="0">
              <a:buNone/>
            </a:pPr>
            <a:r>
              <a:rPr lang="en-US" dirty="0">
                <a:solidFill>
                  <a:srgbClr val="6E7C87"/>
                </a:solidFill>
                <a:latin typeface="Calibri" pitchFamily="34" charset="0"/>
                <a:ea typeface="Calibri" pitchFamily="34" charset="-122"/>
                <a:cs typeface="Calibri" pitchFamily="34" charset="-120"/>
              </a:rPr>
              <a:t>Who consumes it</a:t>
            </a:r>
            <a:endParaRPr lang="en-US" dirty="0"/>
          </a:p>
        </p:txBody>
      </p:sp>
      <p:sp>
        <p:nvSpPr>
          <p:cNvPr id="17" name="Shape 15"/>
          <p:cNvSpPr/>
          <p:nvPr/>
        </p:nvSpPr>
        <p:spPr>
          <a:xfrm>
            <a:off x="2651760" y="5294376"/>
            <a:ext cx="128016" cy="128016"/>
          </a:xfrm>
          <a:prstGeom prst="rect">
            <a:avLst/>
          </a:prstGeom>
          <a:solidFill>
            <a:srgbClr val="3FD0C9"/>
          </a:solidFill>
          <a:ln/>
        </p:spPr>
        <p:txBody>
          <a:bodyPr/>
          <a:lstStyle/>
          <a:p>
            <a:endParaRPr lang="en-SE"/>
          </a:p>
        </p:txBody>
      </p:sp>
      <p:sp>
        <p:nvSpPr>
          <p:cNvPr id="18" name="Text 16"/>
          <p:cNvSpPr/>
          <p:nvPr/>
        </p:nvSpPr>
        <p:spPr>
          <a:xfrm>
            <a:off x="2971800" y="5193792"/>
            <a:ext cx="7863840" cy="329184"/>
          </a:xfrm>
          <a:prstGeom prst="rect">
            <a:avLst/>
          </a:prstGeom>
          <a:noFill/>
          <a:ln/>
        </p:spPr>
        <p:txBody>
          <a:bodyPr wrap="square" lIns="0" tIns="0" rIns="0" bIns="0" rtlCol="0" anchor="ctr"/>
          <a:lstStyle/>
          <a:p>
            <a:pPr marL="0" indent="0">
              <a:buNone/>
            </a:pPr>
            <a:r>
              <a:rPr lang="en-US" dirty="0">
                <a:solidFill>
                  <a:srgbClr val="6E7C87"/>
                </a:solidFill>
                <a:latin typeface="Calibri" pitchFamily="34" charset="0"/>
                <a:ea typeface="Calibri" pitchFamily="34" charset="-122"/>
                <a:cs typeface="Calibri" pitchFamily="34" charset="-120"/>
              </a:rPr>
              <a:t>Where it sits in the architecture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01 · PURPOSE</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05</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THE PROBLEM</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One delivery path is not enough</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The trader's own connection tells the trader about their fill. Everyone else needs to hear about it too — reliably, and even when that connection is gone.</a:t>
            </a:r>
            <a:endParaRPr lang="en-US" sz="1450" dirty="0"/>
          </a:p>
        </p:txBody>
      </p:sp>
      <p:sp>
        <p:nvSpPr>
          <p:cNvPr id="8" name="Shape 6"/>
          <p:cNvSpPr/>
          <p:nvPr/>
        </p:nvSpPr>
        <p:spPr>
          <a:xfrm>
            <a:off x="685800" y="2468880"/>
            <a:ext cx="2194560" cy="868680"/>
          </a:xfrm>
          <a:prstGeom prst="roundRect">
            <a:avLst>
              <a:gd name="adj" fmla="val 8421"/>
            </a:avLst>
          </a:prstGeom>
          <a:solidFill>
            <a:srgbClr val="252B31"/>
          </a:solidFill>
          <a:ln w="19050">
            <a:solidFill>
              <a:srgbClr val="F0A202"/>
            </a:solidFill>
            <a:prstDash val="solid"/>
          </a:ln>
        </p:spPr>
        <p:txBody>
          <a:bodyPr/>
          <a:lstStyle/>
          <a:p>
            <a:endParaRPr lang="en-SE"/>
          </a:p>
        </p:txBody>
      </p:sp>
      <p:sp>
        <p:nvSpPr>
          <p:cNvPr id="9" name="Text 7"/>
          <p:cNvSpPr/>
          <p:nvPr/>
        </p:nvSpPr>
        <p:spPr>
          <a:xfrm>
            <a:off x="777240" y="2468880"/>
            <a:ext cx="2011680" cy="868680"/>
          </a:xfrm>
          <a:prstGeom prst="rect">
            <a:avLst/>
          </a:prstGeom>
          <a:noFill/>
          <a:ln/>
        </p:spPr>
        <p:txBody>
          <a:bodyPr wrap="square" lIns="0" tIns="0" rIns="0" bIns="0" rtlCol="0" anchor="ctr"/>
          <a:lstStyle/>
          <a:p>
            <a:pPr marL="0" indent="0" algn="ctr">
              <a:lnSpc>
                <a:spcPct val="112000"/>
              </a:lnSpc>
              <a:buNone/>
            </a:pPr>
            <a:r>
              <a:rPr lang="en-US" b="1" dirty="0">
                <a:solidFill>
                  <a:srgbClr val="F0A202"/>
                </a:solidFill>
                <a:latin typeface="Trebuchet MS" pitchFamily="34" charset="0"/>
                <a:ea typeface="Trebuchet MS" pitchFamily="34" charset="-122"/>
                <a:cs typeface="Trebuchet MS" pitchFamily="34" charset="-120"/>
              </a:rPr>
              <a:t>Matching engine</a:t>
            </a:r>
            <a:endParaRPr lang="en-US" dirty="0"/>
          </a:p>
          <a:p>
            <a:pPr marL="0" indent="0" algn="ctr">
              <a:lnSpc>
                <a:spcPct val="112000"/>
              </a:lnSpc>
              <a:buNone/>
            </a:pPr>
            <a:r>
              <a:rPr lang="en-US" sz="1200" dirty="0">
                <a:solidFill>
                  <a:srgbClr val="97A4AE"/>
                </a:solidFill>
                <a:latin typeface="Consolas" pitchFamily="34" charset="0"/>
                <a:ea typeface="Consolas" pitchFamily="34" charset="-122"/>
                <a:cs typeface="Consolas" pitchFamily="34" charset="-120"/>
              </a:rPr>
              <a:t>a trade happens</a:t>
            </a:r>
            <a:endParaRPr lang="en-US" dirty="0"/>
          </a:p>
        </p:txBody>
      </p:sp>
      <p:sp>
        <p:nvSpPr>
          <p:cNvPr id="10" name="Shape 8"/>
          <p:cNvSpPr/>
          <p:nvPr/>
        </p:nvSpPr>
        <p:spPr>
          <a:xfrm>
            <a:off x="2971800" y="2907792"/>
            <a:ext cx="777240" cy="0"/>
          </a:xfrm>
          <a:prstGeom prst="line">
            <a:avLst/>
          </a:prstGeom>
          <a:noFill/>
          <a:ln w="22225">
            <a:solidFill>
              <a:srgbClr val="6E7C87"/>
            </a:solidFill>
            <a:prstDash val="solid"/>
            <a:tailEnd type="triangle"/>
          </a:ln>
        </p:spPr>
        <p:txBody>
          <a:bodyPr/>
          <a:lstStyle/>
          <a:p>
            <a:endParaRPr lang="en-SE"/>
          </a:p>
        </p:txBody>
      </p:sp>
      <p:sp>
        <p:nvSpPr>
          <p:cNvPr id="11" name="Shape 9"/>
          <p:cNvSpPr/>
          <p:nvPr/>
        </p:nvSpPr>
        <p:spPr>
          <a:xfrm>
            <a:off x="3840480" y="2468880"/>
            <a:ext cx="2194560" cy="868680"/>
          </a:xfrm>
          <a:prstGeom prst="roundRect">
            <a:avLst>
              <a:gd name="adj" fmla="val 8421"/>
            </a:avLst>
          </a:prstGeom>
          <a:solidFill>
            <a:srgbClr val="252B31"/>
          </a:solidFill>
          <a:ln w="19050">
            <a:solidFill>
              <a:srgbClr val="3A434B"/>
            </a:solidFill>
            <a:prstDash val="solid"/>
          </a:ln>
        </p:spPr>
        <p:txBody>
          <a:bodyPr/>
          <a:lstStyle/>
          <a:p>
            <a:endParaRPr lang="en-SE"/>
          </a:p>
        </p:txBody>
      </p:sp>
      <p:sp>
        <p:nvSpPr>
          <p:cNvPr id="12" name="Text 10"/>
          <p:cNvSpPr/>
          <p:nvPr/>
        </p:nvSpPr>
        <p:spPr>
          <a:xfrm>
            <a:off x="3931920" y="2468880"/>
            <a:ext cx="2011680" cy="868680"/>
          </a:xfrm>
          <a:prstGeom prst="rect">
            <a:avLst/>
          </a:prstGeom>
          <a:noFill/>
          <a:ln/>
        </p:spPr>
        <p:txBody>
          <a:bodyPr wrap="square" lIns="0" tIns="0" rIns="0" bIns="0" rtlCol="0" anchor="ctr"/>
          <a:lstStyle/>
          <a:p>
            <a:pPr marL="0" indent="0" algn="ctr">
              <a:lnSpc>
                <a:spcPct val="112000"/>
              </a:lnSpc>
              <a:buNone/>
            </a:pPr>
            <a:r>
              <a:rPr lang="en-US" b="1" dirty="0">
                <a:solidFill>
                  <a:srgbClr val="3A434B"/>
                </a:solidFill>
                <a:latin typeface="Trebuchet MS" pitchFamily="34" charset="0"/>
                <a:ea typeface="Trebuchet MS" pitchFamily="34" charset="-122"/>
                <a:cs typeface="Trebuchet MS" pitchFamily="34" charset="-120"/>
              </a:rPr>
              <a:t>Trader's gateway</a:t>
            </a:r>
            <a:endParaRPr lang="en-US" dirty="0"/>
          </a:p>
          <a:p>
            <a:pPr marL="0" indent="0" algn="ctr">
              <a:lnSpc>
                <a:spcPct val="112000"/>
              </a:lnSpc>
              <a:buNone/>
            </a:pPr>
            <a:r>
              <a:rPr lang="en-US" sz="1200" dirty="0">
                <a:solidFill>
                  <a:srgbClr val="97A4AE"/>
                </a:solidFill>
                <a:latin typeface="Consolas" pitchFamily="34" charset="0"/>
                <a:ea typeface="Consolas" pitchFamily="34" charset="-122"/>
                <a:cs typeface="Consolas" pitchFamily="34" charset="-120"/>
              </a:rPr>
              <a:t>the order path</a:t>
            </a:r>
            <a:endParaRPr lang="en-US" dirty="0"/>
          </a:p>
        </p:txBody>
      </p:sp>
      <p:sp>
        <p:nvSpPr>
          <p:cNvPr id="13" name="Shape 11"/>
          <p:cNvSpPr/>
          <p:nvPr/>
        </p:nvSpPr>
        <p:spPr>
          <a:xfrm>
            <a:off x="6126480" y="2907792"/>
            <a:ext cx="777240" cy="0"/>
          </a:xfrm>
          <a:prstGeom prst="line">
            <a:avLst/>
          </a:prstGeom>
          <a:noFill/>
          <a:ln w="22225">
            <a:solidFill>
              <a:srgbClr val="E5566B"/>
            </a:solidFill>
            <a:prstDash val="solid"/>
            <a:tailEnd type="triangle"/>
          </a:ln>
        </p:spPr>
        <p:txBody>
          <a:bodyPr/>
          <a:lstStyle/>
          <a:p>
            <a:endParaRPr lang="en-SE"/>
          </a:p>
        </p:txBody>
      </p:sp>
      <p:sp>
        <p:nvSpPr>
          <p:cNvPr id="14" name="Shape 12"/>
          <p:cNvSpPr/>
          <p:nvPr/>
        </p:nvSpPr>
        <p:spPr>
          <a:xfrm>
            <a:off x="6995160" y="2468880"/>
            <a:ext cx="2194560" cy="868680"/>
          </a:xfrm>
          <a:prstGeom prst="roundRect">
            <a:avLst>
              <a:gd name="adj" fmla="val 8421"/>
            </a:avLst>
          </a:prstGeom>
          <a:solidFill>
            <a:srgbClr val="252B31"/>
          </a:solidFill>
          <a:ln w="19050">
            <a:solidFill>
              <a:srgbClr val="3A434B"/>
            </a:solidFill>
            <a:prstDash val="solid"/>
          </a:ln>
        </p:spPr>
        <p:txBody>
          <a:bodyPr/>
          <a:lstStyle/>
          <a:p>
            <a:endParaRPr lang="en-SE"/>
          </a:p>
        </p:txBody>
      </p:sp>
      <p:sp>
        <p:nvSpPr>
          <p:cNvPr id="15" name="Text 13"/>
          <p:cNvSpPr/>
          <p:nvPr/>
        </p:nvSpPr>
        <p:spPr>
          <a:xfrm>
            <a:off x="7086600" y="2468880"/>
            <a:ext cx="2011680" cy="868680"/>
          </a:xfrm>
          <a:prstGeom prst="rect">
            <a:avLst/>
          </a:prstGeom>
          <a:noFill/>
          <a:ln/>
        </p:spPr>
        <p:txBody>
          <a:bodyPr wrap="square" lIns="0" tIns="0" rIns="0" bIns="0" rtlCol="0" anchor="ctr"/>
          <a:lstStyle/>
          <a:p>
            <a:pPr marL="0" indent="0" algn="ctr">
              <a:lnSpc>
                <a:spcPct val="112000"/>
              </a:lnSpc>
              <a:buNone/>
            </a:pPr>
            <a:r>
              <a:rPr lang="en-US" b="1" dirty="0">
                <a:solidFill>
                  <a:srgbClr val="3A434B"/>
                </a:solidFill>
                <a:latin typeface="Trebuchet MS" pitchFamily="34" charset="0"/>
                <a:ea typeface="Trebuchet MS" pitchFamily="34" charset="-122"/>
                <a:cs typeface="Trebuchet MS" pitchFamily="34" charset="-120"/>
              </a:rPr>
              <a:t>Trader</a:t>
            </a:r>
            <a:endParaRPr lang="en-US" dirty="0"/>
          </a:p>
          <a:p>
            <a:pPr marL="0" indent="0" algn="ctr">
              <a:lnSpc>
                <a:spcPct val="112000"/>
              </a:lnSpc>
              <a:buNone/>
            </a:pPr>
            <a:r>
              <a:rPr lang="en-US" sz="1200" dirty="0">
                <a:solidFill>
                  <a:srgbClr val="97A4AE"/>
                </a:solidFill>
                <a:latin typeface="Consolas" pitchFamily="34" charset="0"/>
                <a:ea typeface="Consolas" pitchFamily="34" charset="-122"/>
                <a:cs typeface="Consolas" pitchFamily="34" charset="-120"/>
              </a:rPr>
              <a:t>sees the fill</a:t>
            </a:r>
            <a:endParaRPr lang="en-US" dirty="0"/>
          </a:p>
        </p:txBody>
      </p:sp>
      <p:sp>
        <p:nvSpPr>
          <p:cNvPr id="16" name="Shape 14"/>
          <p:cNvSpPr/>
          <p:nvPr/>
        </p:nvSpPr>
        <p:spPr>
          <a:xfrm rot="2700000">
            <a:off x="4709160" y="2331720"/>
            <a:ext cx="457200" cy="54864"/>
          </a:xfrm>
          <a:prstGeom prst="rect">
            <a:avLst/>
          </a:prstGeom>
          <a:solidFill>
            <a:srgbClr val="E5566B"/>
          </a:solidFill>
          <a:ln/>
        </p:spPr>
        <p:txBody>
          <a:bodyPr/>
          <a:lstStyle/>
          <a:p>
            <a:endParaRPr lang="en-SE"/>
          </a:p>
        </p:txBody>
      </p:sp>
      <p:sp>
        <p:nvSpPr>
          <p:cNvPr id="17" name="Shape 15"/>
          <p:cNvSpPr/>
          <p:nvPr/>
        </p:nvSpPr>
        <p:spPr>
          <a:xfrm rot="-2700000">
            <a:off x="4709160" y="2331720"/>
            <a:ext cx="457200" cy="54864"/>
          </a:xfrm>
          <a:prstGeom prst="rect">
            <a:avLst/>
          </a:prstGeom>
          <a:solidFill>
            <a:srgbClr val="E5566B"/>
          </a:solidFill>
          <a:ln/>
        </p:spPr>
        <p:txBody>
          <a:bodyPr/>
          <a:lstStyle/>
          <a:p>
            <a:endParaRPr lang="en-SE"/>
          </a:p>
        </p:txBody>
      </p:sp>
      <p:sp>
        <p:nvSpPr>
          <p:cNvPr id="18" name="Text 16"/>
          <p:cNvSpPr/>
          <p:nvPr/>
        </p:nvSpPr>
        <p:spPr>
          <a:xfrm>
            <a:off x="3840480" y="3429000"/>
            <a:ext cx="2194560" cy="274320"/>
          </a:xfrm>
          <a:prstGeom prst="rect">
            <a:avLst/>
          </a:prstGeom>
          <a:noFill/>
          <a:ln/>
        </p:spPr>
        <p:txBody>
          <a:bodyPr wrap="square" lIns="0" tIns="0" rIns="0" bIns="0" rtlCol="0" anchor="ctr"/>
          <a:lstStyle/>
          <a:p>
            <a:pPr marL="0" indent="0" algn="ctr">
              <a:buNone/>
            </a:pPr>
            <a:r>
              <a:rPr lang="en-US" sz="1050" dirty="0">
                <a:solidFill>
                  <a:srgbClr val="E5566B"/>
                </a:solidFill>
                <a:latin typeface="Consolas" pitchFamily="34" charset="0"/>
                <a:ea typeface="Consolas" pitchFamily="34" charset="-122"/>
                <a:cs typeface="Consolas" pitchFamily="34" charset="-120"/>
              </a:rPr>
              <a:t>gateway disconnects</a:t>
            </a:r>
            <a:endParaRPr lang="en-US" sz="1050" dirty="0"/>
          </a:p>
        </p:txBody>
      </p:sp>
      <p:sp>
        <p:nvSpPr>
          <p:cNvPr id="19" name="Shape 17"/>
          <p:cNvSpPr/>
          <p:nvPr/>
        </p:nvSpPr>
        <p:spPr>
          <a:xfrm>
            <a:off x="685800" y="3977640"/>
            <a:ext cx="3423818" cy="1691640"/>
          </a:xfrm>
          <a:prstGeom prst="roundRect">
            <a:avLst>
              <a:gd name="adj" fmla="val 3243"/>
            </a:avLst>
          </a:prstGeom>
          <a:solidFill>
            <a:srgbClr val="252B31"/>
          </a:solidFill>
          <a:ln w="12700">
            <a:solidFill>
              <a:srgbClr val="3A434B"/>
            </a:solidFill>
            <a:prstDash val="solid"/>
          </a:ln>
        </p:spPr>
        <p:txBody>
          <a:bodyPr/>
          <a:lstStyle/>
          <a:p>
            <a:endParaRPr lang="en-SE"/>
          </a:p>
        </p:txBody>
      </p:sp>
      <p:sp>
        <p:nvSpPr>
          <p:cNvPr id="20" name="Text 18"/>
          <p:cNvSpPr/>
          <p:nvPr/>
        </p:nvSpPr>
        <p:spPr>
          <a:xfrm>
            <a:off x="941832" y="4233672"/>
            <a:ext cx="2911754" cy="310896"/>
          </a:xfrm>
          <a:prstGeom prst="rect">
            <a:avLst/>
          </a:prstGeom>
          <a:noFill/>
          <a:ln/>
        </p:spPr>
        <p:txBody>
          <a:bodyPr wrap="square" lIns="0" tIns="0" rIns="0" bIns="0" rtlCol="0" anchor="t"/>
          <a:lstStyle/>
          <a:p>
            <a:pPr marL="0" indent="0">
              <a:buNone/>
            </a:pPr>
            <a:r>
              <a:rPr lang="en-US" sz="1600" b="1" dirty="0">
                <a:solidFill>
                  <a:srgbClr val="E5566B"/>
                </a:solidFill>
                <a:latin typeface="Trebuchet MS" pitchFamily="34" charset="0"/>
                <a:ea typeface="Trebuchet MS" pitchFamily="34" charset="-122"/>
                <a:cs typeface="Trebuchet MS" pitchFamily="34" charset="-120"/>
              </a:rPr>
              <a:t>Risk must still see the fill</a:t>
            </a:r>
            <a:endParaRPr lang="en-US" sz="1600" dirty="0"/>
          </a:p>
        </p:txBody>
      </p:sp>
      <p:sp>
        <p:nvSpPr>
          <p:cNvPr id="21" name="Text 19"/>
          <p:cNvSpPr/>
          <p:nvPr/>
        </p:nvSpPr>
        <p:spPr>
          <a:xfrm>
            <a:off x="941832" y="4617720"/>
            <a:ext cx="2911754" cy="886968"/>
          </a:xfrm>
          <a:prstGeom prst="rect">
            <a:avLst/>
          </a:prstGeom>
          <a:noFill/>
          <a:ln/>
        </p:spPr>
        <p:txBody>
          <a:bodyPr wrap="square" lIns="0" tIns="0" rIns="0" bIns="0" rtlCol="0" anchor="t"/>
          <a:lstStyle/>
          <a:p>
            <a:pPr marL="0" indent="0">
              <a:lnSpc>
                <a:spcPct val="112000"/>
              </a:lnSpc>
              <a:buNone/>
            </a:pPr>
            <a:r>
              <a:rPr lang="en-US" sz="1400" dirty="0">
                <a:solidFill>
                  <a:srgbClr val="97A4AE"/>
                </a:solidFill>
                <a:latin typeface="Calibri" pitchFamily="34" charset="0"/>
                <a:ea typeface="Calibri" pitchFamily="34" charset="-122"/>
                <a:cs typeface="Calibri" pitchFamily="34" charset="-120"/>
              </a:rPr>
              <a:t>A risk system that only learns of fills through the trading gateway goes blind exactly when a gateway fails — the moment risk matters most.</a:t>
            </a:r>
            <a:endParaRPr lang="en-US" sz="1400" dirty="0"/>
          </a:p>
        </p:txBody>
      </p:sp>
      <p:sp>
        <p:nvSpPr>
          <p:cNvPr id="22" name="Shape 20"/>
          <p:cNvSpPr/>
          <p:nvPr/>
        </p:nvSpPr>
        <p:spPr>
          <a:xfrm>
            <a:off x="4383938" y="3977640"/>
            <a:ext cx="3423818" cy="1691640"/>
          </a:xfrm>
          <a:prstGeom prst="roundRect">
            <a:avLst>
              <a:gd name="adj" fmla="val 3243"/>
            </a:avLst>
          </a:prstGeom>
          <a:solidFill>
            <a:srgbClr val="252B31"/>
          </a:solidFill>
          <a:ln w="12700">
            <a:solidFill>
              <a:srgbClr val="3A434B"/>
            </a:solidFill>
            <a:prstDash val="solid"/>
          </a:ln>
        </p:spPr>
        <p:txBody>
          <a:bodyPr/>
          <a:lstStyle/>
          <a:p>
            <a:endParaRPr lang="en-SE"/>
          </a:p>
        </p:txBody>
      </p:sp>
      <p:sp>
        <p:nvSpPr>
          <p:cNvPr id="23" name="Text 21"/>
          <p:cNvSpPr/>
          <p:nvPr/>
        </p:nvSpPr>
        <p:spPr>
          <a:xfrm>
            <a:off x="4639970" y="4233672"/>
            <a:ext cx="2911754" cy="310896"/>
          </a:xfrm>
          <a:prstGeom prst="rect">
            <a:avLst/>
          </a:prstGeom>
          <a:noFill/>
          <a:ln/>
        </p:spPr>
        <p:txBody>
          <a:bodyPr wrap="square" lIns="0" tIns="0" rIns="0" bIns="0" rtlCol="0" anchor="t"/>
          <a:lstStyle/>
          <a:p>
            <a:pPr marL="0" indent="0">
              <a:buNone/>
            </a:pPr>
            <a:r>
              <a:rPr lang="en-US" sz="1600" b="1" dirty="0">
                <a:solidFill>
                  <a:srgbClr val="F0A202"/>
                </a:solidFill>
                <a:latin typeface="Trebuchet MS" pitchFamily="34" charset="0"/>
                <a:ea typeface="Trebuchet MS" pitchFamily="34" charset="-122"/>
                <a:cs typeface="Trebuchet MS" pitchFamily="34" charset="-120"/>
              </a:rPr>
              <a:t>Compliance wants one stream</a:t>
            </a:r>
            <a:endParaRPr lang="en-US" sz="1600" dirty="0"/>
          </a:p>
        </p:txBody>
      </p:sp>
      <p:sp>
        <p:nvSpPr>
          <p:cNvPr id="24" name="Text 22"/>
          <p:cNvSpPr/>
          <p:nvPr/>
        </p:nvSpPr>
        <p:spPr>
          <a:xfrm>
            <a:off x="4639970" y="4617720"/>
            <a:ext cx="2911754" cy="886968"/>
          </a:xfrm>
          <a:prstGeom prst="rect">
            <a:avLst/>
          </a:prstGeom>
          <a:noFill/>
          <a:ln/>
        </p:spPr>
        <p:txBody>
          <a:bodyPr wrap="square" lIns="0" tIns="0" rIns="0" bIns="0" rtlCol="0" anchor="t"/>
          <a:lstStyle/>
          <a:p>
            <a:pPr marL="0" indent="0">
              <a:lnSpc>
                <a:spcPct val="112000"/>
              </a:lnSpc>
              <a:buNone/>
            </a:pPr>
            <a:r>
              <a:rPr lang="en-US" sz="1400" dirty="0">
                <a:solidFill>
                  <a:srgbClr val="97A4AE"/>
                </a:solidFill>
                <a:latin typeface="Calibri" pitchFamily="34" charset="0"/>
                <a:ea typeface="Calibri" pitchFamily="34" charset="-122"/>
                <a:cs typeface="Calibri" pitchFamily="34" charset="-120"/>
              </a:rPr>
              <a:t>A compliance monitor should see every fill from every participant in a single ordered stream — not one connection per gateway to stitch together.</a:t>
            </a:r>
            <a:endParaRPr lang="en-US" sz="1400" dirty="0"/>
          </a:p>
        </p:txBody>
      </p:sp>
      <p:sp>
        <p:nvSpPr>
          <p:cNvPr id="25" name="Shape 23"/>
          <p:cNvSpPr/>
          <p:nvPr/>
        </p:nvSpPr>
        <p:spPr>
          <a:xfrm>
            <a:off x="8082077" y="3977640"/>
            <a:ext cx="3423818" cy="1691640"/>
          </a:xfrm>
          <a:prstGeom prst="roundRect">
            <a:avLst>
              <a:gd name="adj" fmla="val 3243"/>
            </a:avLst>
          </a:prstGeom>
          <a:solidFill>
            <a:srgbClr val="252B31"/>
          </a:solidFill>
          <a:ln w="12700">
            <a:solidFill>
              <a:srgbClr val="3A434B"/>
            </a:solidFill>
            <a:prstDash val="solid"/>
          </a:ln>
        </p:spPr>
        <p:txBody>
          <a:bodyPr/>
          <a:lstStyle/>
          <a:p>
            <a:endParaRPr lang="en-SE" dirty="0"/>
          </a:p>
        </p:txBody>
      </p:sp>
      <p:sp>
        <p:nvSpPr>
          <p:cNvPr id="26" name="Text 24"/>
          <p:cNvSpPr/>
          <p:nvPr/>
        </p:nvSpPr>
        <p:spPr>
          <a:xfrm>
            <a:off x="8338109" y="4233672"/>
            <a:ext cx="2911754" cy="310896"/>
          </a:xfrm>
          <a:prstGeom prst="rect">
            <a:avLst/>
          </a:prstGeom>
          <a:noFill/>
          <a:ln/>
        </p:spPr>
        <p:txBody>
          <a:bodyPr wrap="square" lIns="0" tIns="0" rIns="0" bIns="0" rtlCol="0" anchor="t"/>
          <a:lstStyle/>
          <a:p>
            <a:pPr marL="0" indent="0">
              <a:buNone/>
            </a:pPr>
            <a:r>
              <a:rPr lang="en-US" sz="1600" b="1" dirty="0">
                <a:solidFill>
                  <a:srgbClr val="3FD0C9"/>
                </a:solidFill>
                <a:latin typeface="Trebuchet MS" pitchFamily="34" charset="0"/>
                <a:ea typeface="Trebuchet MS" pitchFamily="34" charset="-122"/>
                <a:cs typeface="Trebuchet MS" pitchFamily="34" charset="-120"/>
              </a:rPr>
              <a:t>Back office needs proof of gaps</a:t>
            </a:r>
            <a:endParaRPr lang="en-US" sz="1600" dirty="0"/>
          </a:p>
        </p:txBody>
      </p:sp>
      <p:sp>
        <p:nvSpPr>
          <p:cNvPr id="27" name="Text 25"/>
          <p:cNvSpPr/>
          <p:nvPr/>
        </p:nvSpPr>
        <p:spPr>
          <a:xfrm>
            <a:off x="8338109" y="4617720"/>
            <a:ext cx="2911754" cy="886968"/>
          </a:xfrm>
          <a:prstGeom prst="rect">
            <a:avLst/>
          </a:prstGeom>
          <a:noFill/>
          <a:ln/>
        </p:spPr>
        <p:txBody>
          <a:bodyPr wrap="square" lIns="0" tIns="0" rIns="0" bIns="0" rtlCol="0" anchor="t"/>
          <a:lstStyle/>
          <a:p>
            <a:pPr marL="0" indent="0">
              <a:lnSpc>
                <a:spcPct val="112000"/>
              </a:lnSpc>
              <a:buNone/>
            </a:pPr>
            <a:r>
              <a:rPr lang="en-US" sz="1400" dirty="0">
                <a:solidFill>
                  <a:srgbClr val="97A4AE"/>
                </a:solidFill>
                <a:latin typeface="Calibri" pitchFamily="34" charset="0"/>
                <a:ea typeface="Calibri" pitchFamily="34" charset="-122"/>
                <a:cs typeface="Calibri" pitchFamily="34" charset="-120"/>
              </a:rPr>
              <a:t>Settlement cannot silently miss a trade. It needs numbered messages so a missing one is detectable, not merely unlikely.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01 · PURPOSE</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06</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DEFINITION</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A copy of every execution, dropped to a side channel</a:t>
            </a:r>
            <a:endParaRPr lang="en-US" sz="3100" dirty="0"/>
          </a:p>
        </p:txBody>
      </p:sp>
      <p:sp>
        <p:nvSpPr>
          <p:cNvPr id="7" name="Shape 5"/>
          <p:cNvSpPr/>
          <p:nvPr/>
        </p:nvSpPr>
        <p:spPr>
          <a:xfrm>
            <a:off x="685800" y="1965960"/>
            <a:ext cx="10820095" cy="1417320"/>
          </a:xfrm>
          <a:prstGeom prst="roundRect">
            <a:avLst>
              <a:gd name="adj" fmla="val 3871"/>
            </a:avLst>
          </a:prstGeom>
          <a:solidFill>
            <a:srgbClr val="252B31"/>
          </a:solidFill>
          <a:ln w="12700">
            <a:solidFill>
              <a:srgbClr val="3A434B"/>
            </a:solidFill>
            <a:prstDash val="solid"/>
          </a:ln>
        </p:spPr>
        <p:txBody>
          <a:bodyPr/>
          <a:lstStyle/>
          <a:p>
            <a:endParaRPr lang="en-SE"/>
          </a:p>
        </p:txBody>
      </p:sp>
      <p:sp>
        <p:nvSpPr>
          <p:cNvPr id="8" name="Text 6"/>
          <p:cNvSpPr/>
          <p:nvPr/>
        </p:nvSpPr>
        <p:spPr>
          <a:xfrm>
            <a:off x="1051560" y="1965960"/>
            <a:ext cx="10088575" cy="1417320"/>
          </a:xfrm>
          <a:prstGeom prst="rect">
            <a:avLst/>
          </a:prstGeom>
          <a:noFill/>
          <a:ln/>
        </p:spPr>
        <p:txBody>
          <a:bodyPr wrap="square" lIns="0" tIns="0" rIns="0" bIns="0" rtlCol="0" anchor="ctr"/>
          <a:lstStyle/>
          <a:p>
            <a:pPr marL="0" indent="0">
              <a:lnSpc>
                <a:spcPct val="115000"/>
              </a:lnSpc>
              <a:buNone/>
            </a:pPr>
            <a:r>
              <a:rPr lang="en-US" sz="2100" b="1" dirty="0">
                <a:solidFill>
                  <a:srgbClr val="F0A202"/>
                </a:solidFill>
                <a:latin typeface="Trebuchet MS" pitchFamily="34" charset="0"/>
                <a:ea typeface="Trebuchet MS" pitchFamily="34" charset="-122"/>
                <a:cs typeface="Trebuchet MS" pitchFamily="34" charset="-120"/>
              </a:rPr>
              <a:t>Drop Copy </a:t>
            </a:r>
            <a:r>
              <a:rPr lang="en-US" sz="2100" dirty="0">
                <a:solidFill>
                  <a:srgbClr val="ECF1F5"/>
                </a:solidFill>
                <a:latin typeface="Trebuchet MS" pitchFamily="34" charset="0"/>
                <a:ea typeface="Trebuchet MS" pitchFamily="34" charset="-122"/>
                <a:cs typeface="Trebuchet MS" pitchFamily="34" charset="-120"/>
              </a:rPr>
              <a:t>is a secondary stream of trade and fill notifications, sent to risk, compliance and back-office systems in parallel with the primary trade confirmation path.</a:t>
            </a:r>
            <a:endParaRPr lang="en-US" sz="2100" dirty="0"/>
          </a:p>
        </p:txBody>
      </p:sp>
      <p:sp>
        <p:nvSpPr>
          <p:cNvPr id="9" name="Text 7"/>
          <p:cNvSpPr/>
          <p:nvPr/>
        </p:nvSpPr>
        <p:spPr>
          <a:xfrm>
            <a:off x="685800" y="3611880"/>
            <a:ext cx="5349240" cy="1371600"/>
          </a:xfrm>
          <a:prstGeom prst="rect">
            <a:avLst/>
          </a:prstGeom>
          <a:noFill/>
          <a:ln/>
        </p:spPr>
        <p:txBody>
          <a:bodyPr wrap="square" lIns="0" tIns="0" rIns="0" bIns="0" rtlCol="0" anchor="t"/>
          <a:lstStyle/>
          <a:p>
            <a:pPr marL="0" indent="0">
              <a:lnSpc>
                <a:spcPct val="115000"/>
              </a:lnSpc>
              <a:buNone/>
            </a:pPr>
            <a:r>
              <a:rPr lang="en-US" sz="1600" b="1" dirty="0">
                <a:solidFill>
                  <a:srgbClr val="3FD0C9"/>
                </a:solidFill>
                <a:latin typeface="Trebuchet MS" pitchFamily="34" charset="0"/>
                <a:ea typeface="Trebuchet MS" pitchFamily="34" charset="-122"/>
                <a:cs typeface="Trebuchet MS" pitchFamily="34" charset="-120"/>
              </a:rPr>
              <a:t>The word "drop"</a:t>
            </a:r>
            <a:endParaRPr lang="en-US" sz="1600" dirty="0"/>
          </a:p>
          <a:p>
            <a:pPr marL="0" indent="0">
              <a:lnSpc>
                <a:spcPct val="115000"/>
              </a:lnSpc>
              <a:buNone/>
            </a:pPr>
            <a:r>
              <a:rPr lang="en-US" sz="1400" dirty="0">
                <a:solidFill>
                  <a:srgbClr val="97A4AE"/>
                </a:solidFill>
                <a:latin typeface="Calibri" pitchFamily="34" charset="0"/>
                <a:ea typeface="Calibri" pitchFamily="34" charset="-122"/>
                <a:cs typeface="Calibri" pitchFamily="34" charset="-120"/>
              </a:rPr>
              <a:t>As each execution report is processed, a copy is dropped onto a side channel. The recipient never has to be part of the order flow to receive it — it is not their trade, it is a copy of the record.</a:t>
            </a:r>
            <a:endParaRPr lang="en-US" sz="1600" dirty="0"/>
          </a:p>
        </p:txBody>
      </p:sp>
      <p:sp>
        <p:nvSpPr>
          <p:cNvPr id="10" name="Shape 8"/>
          <p:cNvSpPr/>
          <p:nvPr/>
        </p:nvSpPr>
        <p:spPr>
          <a:xfrm>
            <a:off x="6355080" y="3611880"/>
            <a:ext cx="2438248" cy="1371600"/>
          </a:xfrm>
          <a:prstGeom prst="roundRect">
            <a:avLst>
              <a:gd name="adj" fmla="val 4000"/>
            </a:avLst>
          </a:prstGeom>
          <a:solidFill>
            <a:srgbClr val="252B31"/>
          </a:solidFill>
          <a:ln w="12700">
            <a:solidFill>
              <a:srgbClr val="3A434B"/>
            </a:solidFill>
            <a:prstDash val="solid"/>
          </a:ln>
        </p:spPr>
        <p:txBody>
          <a:bodyPr/>
          <a:lstStyle/>
          <a:p>
            <a:endParaRPr lang="en-SE"/>
          </a:p>
        </p:txBody>
      </p:sp>
      <p:sp>
        <p:nvSpPr>
          <p:cNvPr id="11" name="Text 9"/>
          <p:cNvSpPr/>
          <p:nvPr/>
        </p:nvSpPr>
        <p:spPr>
          <a:xfrm>
            <a:off x="6611112" y="3867912"/>
            <a:ext cx="1926184" cy="310896"/>
          </a:xfrm>
          <a:prstGeom prst="rect">
            <a:avLst/>
          </a:prstGeom>
          <a:noFill/>
          <a:ln/>
        </p:spPr>
        <p:txBody>
          <a:bodyPr wrap="square" lIns="0" tIns="0" rIns="0" bIns="0" rtlCol="0" anchor="t"/>
          <a:lstStyle/>
          <a:p>
            <a:pPr marL="0" indent="0">
              <a:buNone/>
            </a:pPr>
            <a:r>
              <a:rPr lang="en-US" sz="1350" b="1" dirty="0">
                <a:solidFill>
                  <a:srgbClr val="ECF1F5"/>
                </a:solidFill>
                <a:latin typeface="Trebuchet MS" pitchFamily="34" charset="0"/>
                <a:ea typeface="Trebuchet MS" pitchFamily="34" charset="-122"/>
                <a:cs typeface="Trebuchet MS" pitchFamily="34" charset="-120"/>
              </a:rPr>
              <a:t>Independent of the trader</a:t>
            </a:r>
            <a:endParaRPr lang="en-US" sz="1350" dirty="0"/>
          </a:p>
        </p:txBody>
      </p:sp>
      <p:sp>
        <p:nvSpPr>
          <p:cNvPr id="12" name="Text 10"/>
          <p:cNvSpPr/>
          <p:nvPr/>
        </p:nvSpPr>
        <p:spPr>
          <a:xfrm>
            <a:off x="6611112" y="4251960"/>
            <a:ext cx="1926184" cy="566928"/>
          </a:xfrm>
          <a:prstGeom prst="rect">
            <a:avLst/>
          </a:prstGeom>
          <a:noFill/>
          <a:ln/>
        </p:spPr>
        <p:txBody>
          <a:bodyPr wrap="square" lIns="0" tIns="0" rIns="0" bIns="0" rtlCol="0" anchor="t"/>
          <a:lstStyle/>
          <a:p>
            <a:pPr marL="0" indent="0">
              <a:lnSpc>
                <a:spcPct val="112000"/>
              </a:lnSpc>
              <a:buNone/>
            </a:pPr>
            <a:r>
              <a:rPr lang="en-US" sz="1400" dirty="0">
                <a:solidFill>
                  <a:srgbClr val="97A4AE"/>
                </a:solidFill>
                <a:latin typeface="Calibri" pitchFamily="34" charset="0"/>
                <a:ea typeface="Calibri" pitchFamily="34" charset="-122"/>
                <a:cs typeface="Calibri" pitchFamily="34" charset="-120"/>
              </a:rPr>
              <a:t>Delivered whether or not the trading session is up.</a:t>
            </a:r>
            <a:endParaRPr lang="en-US" sz="1400" dirty="0"/>
          </a:p>
        </p:txBody>
      </p:sp>
      <p:sp>
        <p:nvSpPr>
          <p:cNvPr id="13" name="Shape 11"/>
          <p:cNvSpPr/>
          <p:nvPr/>
        </p:nvSpPr>
        <p:spPr>
          <a:xfrm>
            <a:off x="9067648" y="3611880"/>
            <a:ext cx="2438248" cy="1371600"/>
          </a:xfrm>
          <a:prstGeom prst="roundRect">
            <a:avLst>
              <a:gd name="adj" fmla="val 4000"/>
            </a:avLst>
          </a:prstGeom>
          <a:solidFill>
            <a:srgbClr val="252B31"/>
          </a:solidFill>
          <a:ln w="12700">
            <a:solidFill>
              <a:srgbClr val="3A434B"/>
            </a:solidFill>
            <a:prstDash val="solid"/>
          </a:ln>
        </p:spPr>
        <p:txBody>
          <a:bodyPr/>
          <a:lstStyle/>
          <a:p>
            <a:endParaRPr lang="en-SE"/>
          </a:p>
        </p:txBody>
      </p:sp>
      <p:sp>
        <p:nvSpPr>
          <p:cNvPr id="14" name="Text 12"/>
          <p:cNvSpPr/>
          <p:nvPr/>
        </p:nvSpPr>
        <p:spPr>
          <a:xfrm>
            <a:off x="9323680" y="3867912"/>
            <a:ext cx="1926184" cy="310896"/>
          </a:xfrm>
          <a:prstGeom prst="rect">
            <a:avLst/>
          </a:prstGeom>
          <a:noFill/>
          <a:ln/>
        </p:spPr>
        <p:txBody>
          <a:bodyPr wrap="square" lIns="0" tIns="0" rIns="0" bIns="0" rtlCol="0" anchor="t"/>
          <a:lstStyle/>
          <a:p>
            <a:pPr marL="0" indent="0">
              <a:buNone/>
            </a:pPr>
            <a:r>
              <a:rPr lang="en-US" sz="1350" b="1" dirty="0">
                <a:solidFill>
                  <a:srgbClr val="ECF1F5"/>
                </a:solidFill>
                <a:latin typeface="Trebuchet MS" pitchFamily="34" charset="0"/>
                <a:ea typeface="Trebuchet MS" pitchFamily="34" charset="-122"/>
                <a:cs typeface="Trebuchet MS" pitchFamily="34" charset="-120"/>
              </a:rPr>
              <a:t>Read-only, always</a:t>
            </a:r>
            <a:endParaRPr lang="en-US" sz="1350" dirty="0"/>
          </a:p>
        </p:txBody>
      </p:sp>
      <p:sp>
        <p:nvSpPr>
          <p:cNvPr id="15" name="Text 13"/>
          <p:cNvSpPr/>
          <p:nvPr/>
        </p:nvSpPr>
        <p:spPr>
          <a:xfrm>
            <a:off x="9323680" y="4251960"/>
            <a:ext cx="1926184" cy="566928"/>
          </a:xfrm>
          <a:prstGeom prst="rect">
            <a:avLst/>
          </a:prstGeom>
          <a:noFill/>
          <a:ln/>
        </p:spPr>
        <p:txBody>
          <a:bodyPr wrap="square" lIns="0" tIns="0" rIns="0" bIns="0" rtlCol="0" anchor="t"/>
          <a:lstStyle/>
          <a:p>
            <a:pPr marL="0" indent="0">
              <a:lnSpc>
                <a:spcPct val="112000"/>
              </a:lnSpc>
              <a:buNone/>
            </a:pPr>
            <a:r>
              <a:rPr lang="en-US" sz="1400" dirty="0">
                <a:solidFill>
                  <a:srgbClr val="97A4AE"/>
                </a:solidFill>
                <a:latin typeface="Calibri" pitchFamily="34" charset="0"/>
                <a:ea typeface="Calibri" pitchFamily="34" charset="-122"/>
                <a:cs typeface="Calibri" pitchFamily="34" charset="-120"/>
              </a:rPr>
              <a:t>Nothing on this channel can place, change or cancel an order.</a:t>
            </a:r>
            <a:endParaRPr lang="en-US" sz="1400" dirty="0"/>
          </a:p>
        </p:txBody>
      </p:sp>
      <p:sp>
        <p:nvSpPr>
          <p:cNvPr id="16" name="Shape 14"/>
          <p:cNvSpPr/>
          <p:nvPr/>
        </p:nvSpPr>
        <p:spPr>
          <a:xfrm>
            <a:off x="685800" y="5212080"/>
            <a:ext cx="10820095" cy="777240"/>
          </a:xfrm>
          <a:prstGeom prst="roundRect">
            <a:avLst>
              <a:gd name="adj" fmla="val 7059"/>
            </a:avLst>
          </a:prstGeom>
          <a:solidFill>
            <a:srgbClr val="252B31"/>
          </a:solidFill>
          <a:ln w="19050">
            <a:solidFill>
              <a:srgbClr val="F0A202"/>
            </a:solidFill>
            <a:prstDash val="solid"/>
          </a:ln>
        </p:spPr>
        <p:txBody>
          <a:bodyPr/>
          <a:lstStyle/>
          <a:p>
            <a:endParaRPr lang="en-SE"/>
          </a:p>
        </p:txBody>
      </p:sp>
      <p:sp>
        <p:nvSpPr>
          <p:cNvPr id="17" name="Shape 15"/>
          <p:cNvSpPr/>
          <p:nvPr/>
        </p:nvSpPr>
        <p:spPr>
          <a:xfrm>
            <a:off x="923544" y="5417820"/>
            <a:ext cx="365760" cy="365760"/>
          </a:xfrm>
          <a:prstGeom prst="roundRect">
            <a:avLst>
              <a:gd name="adj" fmla="val 125000"/>
            </a:avLst>
          </a:prstGeom>
          <a:solidFill>
            <a:srgbClr val="F0A202"/>
          </a:solidFill>
          <a:ln/>
        </p:spPr>
        <p:txBody>
          <a:bodyPr/>
          <a:lstStyle/>
          <a:p>
            <a:endParaRPr lang="en-SE"/>
          </a:p>
        </p:txBody>
      </p:sp>
      <p:sp>
        <p:nvSpPr>
          <p:cNvPr id="18" name="Text 16"/>
          <p:cNvSpPr/>
          <p:nvPr/>
        </p:nvSpPr>
        <p:spPr>
          <a:xfrm>
            <a:off x="923544" y="541782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19" name="Text 17"/>
          <p:cNvSpPr/>
          <p:nvPr/>
        </p:nvSpPr>
        <p:spPr>
          <a:xfrm>
            <a:off x="1453896" y="5358384"/>
            <a:ext cx="9814255" cy="484632"/>
          </a:xfrm>
          <a:prstGeom prst="rect">
            <a:avLst/>
          </a:prstGeom>
          <a:noFill/>
          <a:ln/>
        </p:spPr>
        <p:txBody>
          <a:bodyPr wrap="square" lIns="0" tIns="0" rIns="0" bIns="0" rtlCol="0" anchor="ctr"/>
          <a:lstStyle/>
          <a:p>
            <a:pPr marL="0" indent="0">
              <a:lnSpc>
                <a:spcPct val="110000"/>
              </a:lnSpc>
              <a:buNone/>
            </a:pPr>
            <a:r>
              <a:rPr lang="en-US" sz="1400" b="1" dirty="0">
                <a:solidFill>
                  <a:srgbClr val="F0A202"/>
                </a:solidFill>
                <a:latin typeface="Trebuchet MS" pitchFamily="34" charset="0"/>
                <a:ea typeface="Trebuchet MS" pitchFamily="34" charset="-122"/>
                <a:cs typeface="Trebuchet MS" pitchFamily="34" charset="-120"/>
              </a:rPr>
              <a:t>The one-sentence version for a new operator</a:t>
            </a:r>
            <a:endParaRPr lang="en-US" sz="1400" dirty="0"/>
          </a:p>
          <a:p>
            <a:pPr marL="0" indent="0">
              <a:lnSpc>
                <a:spcPct val="110000"/>
              </a:lnSpc>
              <a:buNone/>
            </a:pPr>
            <a:r>
              <a:rPr lang="en-US" sz="1400" dirty="0">
                <a:solidFill>
                  <a:srgbClr val="97A4AE"/>
                </a:solidFill>
                <a:latin typeface="Calibri" pitchFamily="34" charset="0"/>
                <a:ea typeface="Calibri" pitchFamily="34" charset="-122"/>
                <a:cs typeface="Calibri" pitchFamily="34" charset="-120"/>
              </a:rPr>
              <a:t>Drop Copy is the exchange saying "this trade happened" a second time, on a channel built for people who watch rather than trade.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01 · PURPOSE</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07</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CONSUMERS</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Who is on the other end of the feed</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Four audiences, each with a different reason for needing an independent copy.</a:t>
            </a:r>
            <a:endParaRPr lang="en-US" sz="1450" dirty="0"/>
          </a:p>
        </p:txBody>
      </p:sp>
      <p:sp>
        <p:nvSpPr>
          <p:cNvPr id="8" name="Shape 6"/>
          <p:cNvSpPr/>
          <p:nvPr/>
        </p:nvSpPr>
        <p:spPr>
          <a:xfrm>
            <a:off x="685800" y="2240279"/>
            <a:ext cx="2499284" cy="2678229"/>
          </a:xfrm>
          <a:prstGeom prst="roundRect">
            <a:avLst>
              <a:gd name="adj" fmla="val 2222"/>
            </a:avLst>
          </a:prstGeom>
          <a:solidFill>
            <a:srgbClr val="252B31"/>
          </a:solidFill>
          <a:ln w="12700">
            <a:solidFill>
              <a:srgbClr val="3A434B"/>
            </a:solidFill>
            <a:prstDash val="solid"/>
          </a:ln>
        </p:spPr>
        <p:txBody>
          <a:bodyPr/>
          <a:lstStyle/>
          <a:p>
            <a:endParaRPr lang="en-SE"/>
          </a:p>
        </p:txBody>
      </p:sp>
      <p:sp>
        <p:nvSpPr>
          <p:cNvPr id="9" name="Shape 7"/>
          <p:cNvSpPr/>
          <p:nvPr/>
        </p:nvSpPr>
        <p:spPr>
          <a:xfrm>
            <a:off x="685800" y="2240280"/>
            <a:ext cx="2499284" cy="91440"/>
          </a:xfrm>
          <a:prstGeom prst="rect">
            <a:avLst/>
          </a:prstGeom>
          <a:solidFill>
            <a:srgbClr val="E5566B"/>
          </a:solidFill>
          <a:ln/>
        </p:spPr>
        <p:txBody>
          <a:bodyPr/>
          <a:lstStyle/>
          <a:p>
            <a:endParaRPr lang="en-SE"/>
          </a:p>
        </p:txBody>
      </p:sp>
      <p:sp>
        <p:nvSpPr>
          <p:cNvPr id="10" name="Text 8"/>
          <p:cNvSpPr/>
          <p:nvPr/>
        </p:nvSpPr>
        <p:spPr>
          <a:xfrm>
            <a:off x="923544" y="2514600"/>
            <a:ext cx="2023796" cy="658368"/>
          </a:xfrm>
          <a:prstGeom prst="rect">
            <a:avLst/>
          </a:prstGeom>
          <a:noFill/>
          <a:ln/>
        </p:spPr>
        <p:txBody>
          <a:bodyPr wrap="square" lIns="0" tIns="0" rIns="0" bIns="0" rtlCol="0" anchor="t"/>
          <a:lstStyle/>
          <a:p>
            <a:pPr marL="0" indent="0">
              <a:buNone/>
            </a:pPr>
            <a:r>
              <a:rPr lang="en-US" sz="1600" b="1" dirty="0">
                <a:solidFill>
                  <a:srgbClr val="E5566B"/>
                </a:solidFill>
                <a:latin typeface="Trebuchet MS" pitchFamily="34" charset="0"/>
                <a:ea typeface="Trebuchet MS" pitchFamily="34" charset="-122"/>
                <a:cs typeface="Trebuchet MS" pitchFamily="34" charset="-120"/>
              </a:rPr>
              <a:t>Risk management</a:t>
            </a:r>
            <a:endParaRPr lang="en-US" sz="1600" dirty="0"/>
          </a:p>
        </p:txBody>
      </p:sp>
      <p:sp>
        <p:nvSpPr>
          <p:cNvPr id="11" name="Text 9"/>
          <p:cNvSpPr/>
          <p:nvPr/>
        </p:nvSpPr>
        <p:spPr>
          <a:xfrm>
            <a:off x="923544" y="3200400"/>
            <a:ext cx="2023796" cy="1371600"/>
          </a:xfrm>
          <a:prstGeom prst="rect">
            <a:avLst/>
          </a:prstGeom>
          <a:noFill/>
          <a:ln/>
        </p:spPr>
        <p:txBody>
          <a:bodyPr wrap="square" lIns="0" tIns="0" rIns="0" bIns="0" rtlCol="0" anchor="t"/>
          <a:lstStyle/>
          <a:p>
            <a:pPr marL="0" indent="0">
              <a:lnSpc>
                <a:spcPct val="112000"/>
              </a:lnSpc>
              <a:buNone/>
            </a:pPr>
            <a:r>
              <a:rPr lang="en-US" sz="1600" dirty="0">
                <a:solidFill>
                  <a:srgbClr val="97A4AE"/>
                </a:solidFill>
                <a:latin typeface="Calibri" pitchFamily="34" charset="0"/>
                <a:ea typeface="Calibri" pitchFamily="34" charset="-122"/>
                <a:cs typeface="Calibri" pitchFamily="34" charset="-120"/>
              </a:rPr>
              <a:t>Tracks live exposure per participant. Needs fills within milliseconds and cannot depend on the trading connection staying up.</a:t>
            </a:r>
            <a:endParaRPr lang="en-US" sz="1600" dirty="0"/>
          </a:p>
        </p:txBody>
      </p:sp>
      <p:sp>
        <p:nvSpPr>
          <p:cNvPr id="12" name="Shape 10"/>
          <p:cNvSpPr/>
          <p:nvPr/>
        </p:nvSpPr>
        <p:spPr>
          <a:xfrm>
            <a:off x="3459404" y="2240279"/>
            <a:ext cx="2499284" cy="2678229"/>
          </a:xfrm>
          <a:prstGeom prst="roundRect">
            <a:avLst>
              <a:gd name="adj" fmla="val 2222"/>
            </a:avLst>
          </a:prstGeom>
          <a:solidFill>
            <a:srgbClr val="252B31"/>
          </a:solidFill>
          <a:ln w="12700">
            <a:solidFill>
              <a:srgbClr val="3A434B"/>
            </a:solidFill>
            <a:prstDash val="solid"/>
          </a:ln>
        </p:spPr>
        <p:txBody>
          <a:bodyPr/>
          <a:lstStyle/>
          <a:p>
            <a:endParaRPr lang="en-SE"/>
          </a:p>
        </p:txBody>
      </p:sp>
      <p:sp>
        <p:nvSpPr>
          <p:cNvPr id="13" name="Shape 11"/>
          <p:cNvSpPr/>
          <p:nvPr/>
        </p:nvSpPr>
        <p:spPr>
          <a:xfrm>
            <a:off x="3459404" y="2240280"/>
            <a:ext cx="2499284" cy="91440"/>
          </a:xfrm>
          <a:prstGeom prst="rect">
            <a:avLst/>
          </a:prstGeom>
          <a:solidFill>
            <a:srgbClr val="F0A202"/>
          </a:solidFill>
          <a:ln/>
        </p:spPr>
        <p:txBody>
          <a:bodyPr/>
          <a:lstStyle/>
          <a:p>
            <a:endParaRPr lang="en-SE"/>
          </a:p>
        </p:txBody>
      </p:sp>
      <p:sp>
        <p:nvSpPr>
          <p:cNvPr id="14" name="Text 12"/>
          <p:cNvSpPr/>
          <p:nvPr/>
        </p:nvSpPr>
        <p:spPr>
          <a:xfrm>
            <a:off x="3697148" y="2514600"/>
            <a:ext cx="2023796" cy="658368"/>
          </a:xfrm>
          <a:prstGeom prst="rect">
            <a:avLst/>
          </a:prstGeom>
          <a:noFill/>
          <a:ln/>
        </p:spPr>
        <p:txBody>
          <a:bodyPr wrap="square" lIns="0" tIns="0" rIns="0" bIns="0" rtlCol="0" anchor="t"/>
          <a:lstStyle/>
          <a:p>
            <a:pPr marL="0" indent="0">
              <a:buNone/>
            </a:pPr>
            <a:r>
              <a:rPr lang="en-US" sz="1600" b="1" dirty="0">
                <a:solidFill>
                  <a:srgbClr val="F0A202"/>
                </a:solidFill>
                <a:latin typeface="Trebuchet MS" pitchFamily="34" charset="0"/>
                <a:ea typeface="Trebuchet MS" pitchFamily="34" charset="-122"/>
                <a:cs typeface="Trebuchet MS" pitchFamily="34" charset="-120"/>
              </a:rPr>
              <a:t>Compliance &amp; audit</a:t>
            </a:r>
            <a:endParaRPr lang="en-US" sz="1600" dirty="0"/>
          </a:p>
        </p:txBody>
      </p:sp>
      <p:sp>
        <p:nvSpPr>
          <p:cNvPr id="15" name="Text 13"/>
          <p:cNvSpPr/>
          <p:nvPr/>
        </p:nvSpPr>
        <p:spPr>
          <a:xfrm>
            <a:off x="3697148" y="3200400"/>
            <a:ext cx="2023796" cy="1371600"/>
          </a:xfrm>
          <a:prstGeom prst="rect">
            <a:avLst/>
          </a:prstGeom>
          <a:noFill/>
          <a:ln/>
        </p:spPr>
        <p:txBody>
          <a:bodyPr wrap="square" lIns="0" tIns="0" rIns="0" bIns="0" rtlCol="0" anchor="t"/>
          <a:lstStyle/>
          <a:p>
            <a:pPr marL="0" indent="0">
              <a:lnSpc>
                <a:spcPct val="112000"/>
              </a:lnSpc>
              <a:buNone/>
            </a:pPr>
            <a:r>
              <a:rPr lang="en-US" sz="1600" dirty="0">
                <a:solidFill>
                  <a:srgbClr val="97A4AE"/>
                </a:solidFill>
                <a:latin typeface="Calibri" pitchFamily="34" charset="0"/>
                <a:ea typeface="Calibri" pitchFamily="34" charset="-122"/>
                <a:cs typeface="Calibri" pitchFamily="34" charset="-120"/>
              </a:rPr>
              <a:t>Reconstructs what happened, in order, across every participant. Sequence numbers make the record provably complete.</a:t>
            </a:r>
            <a:endParaRPr lang="en-US" sz="1600" dirty="0"/>
          </a:p>
        </p:txBody>
      </p:sp>
      <p:sp>
        <p:nvSpPr>
          <p:cNvPr id="16" name="Shape 14"/>
          <p:cNvSpPr/>
          <p:nvPr/>
        </p:nvSpPr>
        <p:spPr>
          <a:xfrm>
            <a:off x="6233008" y="2240279"/>
            <a:ext cx="2499284" cy="2678229"/>
          </a:xfrm>
          <a:prstGeom prst="roundRect">
            <a:avLst>
              <a:gd name="adj" fmla="val 2222"/>
            </a:avLst>
          </a:prstGeom>
          <a:solidFill>
            <a:srgbClr val="252B31"/>
          </a:solidFill>
          <a:ln w="12700">
            <a:solidFill>
              <a:srgbClr val="3A434B"/>
            </a:solidFill>
            <a:prstDash val="solid"/>
          </a:ln>
        </p:spPr>
        <p:txBody>
          <a:bodyPr/>
          <a:lstStyle/>
          <a:p>
            <a:endParaRPr lang="en-SE"/>
          </a:p>
        </p:txBody>
      </p:sp>
      <p:sp>
        <p:nvSpPr>
          <p:cNvPr id="17" name="Shape 15"/>
          <p:cNvSpPr/>
          <p:nvPr/>
        </p:nvSpPr>
        <p:spPr>
          <a:xfrm>
            <a:off x="6233008" y="2240280"/>
            <a:ext cx="2499284" cy="91440"/>
          </a:xfrm>
          <a:prstGeom prst="rect">
            <a:avLst/>
          </a:prstGeom>
          <a:solidFill>
            <a:srgbClr val="3FD0C9"/>
          </a:solidFill>
          <a:ln/>
        </p:spPr>
        <p:txBody>
          <a:bodyPr/>
          <a:lstStyle/>
          <a:p>
            <a:endParaRPr lang="en-SE"/>
          </a:p>
        </p:txBody>
      </p:sp>
      <p:sp>
        <p:nvSpPr>
          <p:cNvPr id="18" name="Text 16"/>
          <p:cNvSpPr/>
          <p:nvPr/>
        </p:nvSpPr>
        <p:spPr>
          <a:xfrm>
            <a:off x="6470752" y="2514600"/>
            <a:ext cx="2023796" cy="658368"/>
          </a:xfrm>
          <a:prstGeom prst="rect">
            <a:avLst/>
          </a:prstGeom>
          <a:noFill/>
          <a:ln/>
        </p:spPr>
        <p:txBody>
          <a:bodyPr wrap="square" lIns="0" tIns="0" rIns="0" bIns="0" rtlCol="0" anchor="t"/>
          <a:lstStyle/>
          <a:p>
            <a:pPr marL="0" indent="0">
              <a:buNone/>
            </a:pPr>
            <a:r>
              <a:rPr lang="en-US" sz="1600" b="1" dirty="0">
                <a:solidFill>
                  <a:srgbClr val="3FD0C9"/>
                </a:solidFill>
                <a:latin typeface="Trebuchet MS" pitchFamily="34" charset="0"/>
                <a:ea typeface="Trebuchet MS" pitchFamily="34" charset="-122"/>
                <a:cs typeface="Trebuchet MS" pitchFamily="34" charset="-120"/>
              </a:rPr>
              <a:t>Clearing &amp; settlement</a:t>
            </a:r>
            <a:endParaRPr lang="en-US" sz="1600" dirty="0"/>
          </a:p>
        </p:txBody>
      </p:sp>
      <p:sp>
        <p:nvSpPr>
          <p:cNvPr id="19" name="Text 17"/>
          <p:cNvSpPr/>
          <p:nvPr/>
        </p:nvSpPr>
        <p:spPr>
          <a:xfrm>
            <a:off x="6470752" y="3200400"/>
            <a:ext cx="2023796" cy="1371600"/>
          </a:xfrm>
          <a:prstGeom prst="rect">
            <a:avLst/>
          </a:prstGeom>
          <a:noFill/>
          <a:ln/>
        </p:spPr>
        <p:txBody>
          <a:bodyPr wrap="square" lIns="0" tIns="0" rIns="0" bIns="0" rtlCol="0" anchor="t"/>
          <a:lstStyle/>
          <a:p>
            <a:pPr marL="0" indent="0">
              <a:lnSpc>
                <a:spcPct val="112000"/>
              </a:lnSpc>
              <a:buNone/>
            </a:pPr>
            <a:r>
              <a:rPr lang="en-US" sz="1600" dirty="0">
                <a:solidFill>
                  <a:srgbClr val="97A4AE"/>
                </a:solidFill>
                <a:latin typeface="Calibri" pitchFamily="34" charset="0"/>
                <a:ea typeface="Calibri" pitchFamily="34" charset="-122"/>
                <a:cs typeface="Calibri" pitchFamily="34" charset="-120"/>
              </a:rPr>
              <a:t>Turns fills into obligations to be settled. A missed fill is a real financial break, so gap detection is mandatory.</a:t>
            </a:r>
            <a:endParaRPr lang="en-US" sz="1600" dirty="0"/>
          </a:p>
        </p:txBody>
      </p:sp>
      <p:sp>
        <p:nvSpPr>
          <p:cNvPr id="20" name="Shape 18"/>
          <p:cNvSpPr/>
          <p:nvPr/>
        </p:nvSpPr>
        <p:spPr>
          <a:xfrm>
            <a:off x="9006611" y="2240279"/>
            <a:ext cx="2499284" cy="2678229"/>
          </a:xfrm>
          <a:prstGeom prst="roundRect">
            <a:avLst>
              <a:gd name="adj" fmla="val 2222"/>
            </a:avLst>
          </a:prstGeom>
          <a:solidFill>
            <a:srgbClr val="252B31"/>
          </a:solidFill>
          <a:ln w="12700">
            <a:solidFill>
              <a:srgbClr val="3A434B"/>
            </a:solidFill>
            <a:prstDash val="solid"/>
          </a:ln>
        </p:spPr>
        <p:txBody>
          <a:bodyPr/>
          <a:lstStyle/>
          <a:p>
            <a:endParaRPr lang="en-SE"/>
          </a:p>
        </p:txBody>
      </p:sp>
      <p:sp>
        <p:nvSpPr>
          <p:cNvPr id="21" name="Shape 19"/>
          <p:cNvSpPr/>
          <p:nvPr/>
        </p:nvSpPr>
        <p:spPr>
          <a:xfrm>
            <a:off x="9006611" y="2240280"/>
            <a:ext cx="2499284" cy="91440"/>
          </a:xfrm>
          <a:prstGeom prst="rect">
            <a:avLst/>
          </a:prstGeom>
          <a:solidFill>
            <a:srgbClr val="9B8CFF"/>
          </a:solidFill>
          <a:ln/>
        </p:spPr>
        <p:txBody>
          <a:bodyPr/>
          <a:lstStyle/>
          <a:p>
            <a:endParaRPr lang="en-SE"/>
          </a:p>
        </p:txBody>
      </p:sp>
      <p:sp>
        <p:nvSpPr>
          <p:cNvPr id="22" name="Text 20"/>
          <p:cNvSpPr/>
          <p:nvPr/>
        </p:nvSpPr>
        <p:spPr>
          <a:xfrm>
            <a:off x="9244355" y="2514600"/>
            <a:ext cx="2023796" cy="658368"/>
          </a:xfrm>
          <a:prstGeom prst="rect">
            <a:avLst/>
          </a:prstGeom>
          <a:noFill/>
          <a:ln/>
        </p:spPr>
        <p:txBody>
          <a:bodyPr wrap="square" lIns="0" tIns="0" rIns="0" bIns="0" rtlCol="0" anchor="t"/>
          <a:lstStyle/>
          <a:p>
            <a:pPr marL="0" indent="0">
              <a:buNone/>
            </a:pPr>
            <a:r>
              <a:rPr lang="en-US" sz="1600" b="1" dirty="0">
                <a:solidFill>
                  <a:srgbClr val="9B8CFF"/>
                </a:solidFill>
                <a:latin typeface="Trebuchet MS" pitchFamily="34" charset="0"/>
                <a:ea typeface="Trebuchet MS" pitchFamily="34" charset="-122"/>
                <a:cs typeface="Trebuchet MS" pitchFamily="34" charset="-120"/>
              </a:rPr>
              <a:t>Operations tooling</a:t>
            </a:r>
            <a:endParaRPr lang="en-US" sz="1600" dirty="0"/>
          </a:p>
        </p:txBody>
      </p:sp>
      <p:sp>
        <p:nvSpPr>
          <p:cNvPr id="23" name="Text 21"/>
          <p:cNvSpPr/>
          <p:nvPr/>
        </p:nvSpPr>
        <p:spPr>
          <a:xfrm>
            <a:off x="9244355" y="3200400"/>
            <a:ext cx="2023796" cy="1371600"/>
          </a:xfrm>
          <a:prstGeom prst="rect">
            <a:avLst/>
          </a:prstGeom>
          <a:noFill/>
          <a:ln/>
        </p:spPr>
        <p:txBody>
          <a:bodyPr wrap="square" lIns="0" tIns="0" rIns="0" bIns="0" rtlCol="0" anchor="t"/>
          <a:lstStyle/>
          <a:p>
            <a:pPr marL="0" indent="0">
              <a:lnSpc>
                <a:spcPct val="112000"/>
              </a:lnSpc>
              <a:buNone/>
            </a:pPr>
            <a:r>
              <a:rPr lang="en-US" sz="1600" dirty="0">
                <a:solidFill>
                  <a:srgbClr val="97A4AE"/>
                </a:solidFill>
                <a:latin typeface="Calibri" pitchFamily="34" charset="0"/>
                <a:ea typeface="Calibri" pitchFamily="34" charset="-122"/>
                <a:cs typeface="Calibri" pitchFamily="34" charset="-120"/>
              </a:rPr>
              <a:t>Dashboards and spy tools that make live trading observable without touching the order path.</a:t>
            </a:r>
            <a:endParaRPr lang="en-US" sz="1600" dirty="0"/>
          </a:p>
        </p:txBody>
      </p:sp>
      <p:sp>
        <p:nvSpPr>
          <p:cNvPr id="24" name="Text 22"/>
          <p:cNvSpPr/>
          <p:nvPr/>
        </p:nvSpPr>
        <p:spPr>
          <a:xfrm>
            <a:off x="685800" y="5029200"/>
            <a:ext cx="10820095" cy="411480"/>
          </a:xfrm>
          <a:prstGeom prst="rect">
            <a:avLst/>
          </a:prstGeom>
          <a:noFill/>
          <a:ln/>
        </p:spPr>
        <p:txBody>
          <a:bodyPr wrap="square" lIns="0" tIns="0" rIns="0" bIns="0" rtlCol="0" anchor="ctr"/>
          <a:lstStyle/>
          <a:p>
            <a:pPr marL="0" indent="0" algn="ctr">
              <a:buNone/>
            </a:pPr>
            <a:r>
              <a:rPr lang="en-US" sz="1500" dirty="0">
                <a:solidFill>
                  <a:srgbClr val="ECF1F5"/>
                </a:solidFill>
                <a:latin typeface="Trebuchet MS" pitchFamily="34" charset="0"/>
                <a:ea typeface="Trebuchet MS" pitchFamily="34" charset="-122"/>
                <a:cs typeface="Trebuchet MS" pitchFamily="34" charset="-120"/>
              </a:rPr>
              <a:t>Common thread: all four are observers. None of them submits orders, and none should be able to.</a:t>
            </a:r>
            <a:endParaRPr lang="en-US" sz="1500" dirty="0"/>
          </a:p>
        </p:txBody>
      </p:sp>
      <p:sp>
        <p:nvSpPr>
          <p:cNvPr id="25" name="Shape 23"/>
          <p:cNvSpPr/>
          <p:nvPr/>
        </p:nvSpPr>
        <p:spPr>
          <a:xfrm>
            <a:off x="685800" y="5532120"/>
            <a:ext cx="10820095" cy="791678"/>
          </a:xfrm>
          <a:prstGeom prst="roundRect">
            <a:avLst>
              <a:gd name="adj" fmla="val 8333"/>
            </a:avLst>
          </a:prstGeom>
          <a:solidFill>
            <a:srgbClr val="252B31"/>
          </a:solidFill>
          <a:ln w="19050">
            <a:solidFill>
              <a:srgbClr val="F0A202"/>
            </a:solidFill>
            <a:prstDash val="solid"/>
          </a:ln>
        </p:spPr>
        <p:txBody>
          <a:bodyPr/>
          <a:lstStyle/>
          <a:p>
            <a:endParaRPr lang="en-SE"/>
          </a:p>
        </p:txBody>
      </p:sp>
      <p:sp>
        <p:nvSpPr>
          <p:cNvPr id="26" name="Shape 24"/>
          <p:cNvSpPr/>
          <p:nvPr/>
        </p:nvSpPr>
        <p:spPr>
          <a:xfrm>
            <a:off x="923544" y="5678424"/>
            <a:ext cx="365760" cy="365760"/>
          </a:xfrm>
          <a:prstGeom prst="roundRect">
            <a:avLst>
              <a:gd name="adj" fmla="val 125000"/>
            </a:avLst>
          </a:prstGeom>
          <a:solidFill>
            <a:srgbClr val="F0A202"/>
          </a:solidFill>
          <a:ln/>
        </p:spPr>
        <p:txBody>
          <a:bodyPr/>
          <a:lstStyle/>
          <a:p>
            <a:endParaRPr lang="en-SE"/>
          </a:p>
        </p:txBody>
      </p:sp>
      <p:sp>
        <p:nvSpPr>
          <p:cNvPr id="27" name="Text 25"/>
          <p:cNvSpPr/>
          <p:nvPr/>
        </p:nvSpPr>
        <p:spPr>
          <a:xfrm>
            <a:off x="923544" y="5678424"/>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28" name="Text 26"/>
          <p:cNvSpPr/>
          <p:nvPr/>
        </p:nvSpPr>
        <p:spPr>
          <a:xfrm>
            <a:off x="1453896" y="5678424"/>
            <a:ext cx="10057919" cy="365760"/>
          </a:xfrm>
          <a:prstGeom prst="rect">
            <a:avLst/>
          </a:prstGeom>
          <a:noFill/>
          <a:ln/>
        </p:spPr>
        <p:txBody>
          <a:bodyPr wrap="square" lIns="0" tIns="0" rIns="0" bIns="0" rtlCol="0" anchor="ctr"/>
          <a:lstStyle/>
          <a:p>
            <a:pPr marL="0" indent="0">
              <a:lnSpc>
                <a:spcPct val="110000"/>
              </a:lnSpc>
              <a:buNone/>
            </a:pPr>
            <a:r>
              <a:rPr lang="en-US" sz="1400" b="1" dirty="0">
                <a:solidFill>
                  <a:srgbClr val="F0A202"/>
                </a:solidFill>
                <a:latin typeface="Trebuchet MS" pitchFamily="34" charset="0"/>
                <a:ea typeface="Trebuchet MS" pitchFamily="34" charset="-122"/>
                <a:cs typeface="Trebuchet MS" pitchFamily="34" charset="-120"/>
              </a:rPr>
              <a:t>Why they are grouped together</a:t>
            </a:r>
            <a:endParaRPr lang="en-US" sz="1400" dirty="0"/>
          </a:p>
          <a:p>
            <a:pPr marL="0" indent="0">
              <a:lnSpc>
                <a:spcPct val="110000"/>
              </a:lnSpc>
              <a:buNone/>
            </a:pPr>
            <a:r>
              <a:rPr lang="en-US" sz="1400" dirty="0">
                <a:solidFill>
                  <a:srgbClr val="97A4AE"/>
                </a:solidFill>
                <a:latin typeface="Calibri" pitchFamily="34" charset="0"/>
                <a:ea typeface="Calibri" pitchFamily="34" charset="-122"/>
                <a:cs typeface="Calibri" pitchFamily="34" charset="-120"/>
              </a:rPr>
              <a:t>Every one of them needs completeness over speed of interaction: they would rather receive a numbered, replayable record than be able to answer back.</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01 · PURPOSE</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08</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ARCHITECTURE</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Where Drop Copy sits inside EduMatcher</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The engine already broadcasts market and trade events on one socket. Drop Copy is a separate, dedicated socket next to it.</a:t>
            </a:r>
            <a:endParaRPr lang="en-US" sz="1450" dirty="0"/>
          </a:p>
        </p:txBody>
      </p:sp>
      <p:sp>
        <p:nvSpPr>
          <p:cNvPr id="8" name="Shape 6"/>
          <p:cNvSpPr/>
          <p:nvPr/>
        </p:nvSpPr>
        <p:spPr>
          <a:xfrm>
            <a:off x="685800" y="2834640"/>
            <a:ext cx="2057400" cy="914400"/>
          </a:xfrm>
          <a:prstGeom prst="roundRect">
            <a:avLst>
              <a:gd name="adj" fmla="val 8000"/>
            </a:avLst>
          </a:prstGeom>
          <a:solidFill>
            <a:srgbClr val="252B31"/>
          </a:solidFill>
          <a:ln w="19050">
            <a:solidFill>
              <a:srgbClr val="9B8CFF"/>
            </a:solidFill>
            <a:prstDash val="solid"/>
          </a:ln>
        </p:spPr>
        <p:txBody>
          <a:bodyPr/>
          <a:lstStyle/>
          <a:p>
            <a:endParaRPr lang="en-SE"/>
          </a:p>
        </p:txBody>
      </p:sp>
      <p:sp>
        <p:nvSpPr>
          <p:cNvPr id="9" name="Text 7"/>
          <p:cNvSpPr/>
          <p:nvPr/>
        </p:nvSpPr>
        <p:spPr>
          <a:xfrm>
            <a:off x="777240" y="2834640"/>
            <a:ext cx="1874520" cy="914400"/>
          </a:xfrm>
          <a:prstGeom prst="rect">
            <a:avLst/>
          </a:prstGeom>
          <a:noFill/>
          <a:ln/>
        </p:spPr>
        <p:txBody>
          <a:bodyPr wrap="square" lIns="0" tIns="0" rIns="0" bIns="0" rtlCol="0" anchor="ctr"/>
          <a:lstStyle/>
          <a:p>
            <a:pPr marL="0" indent="0" algn="ctr">
              <a:lnSpc>
                <a:spcPct val="112000"/>
              </a:lnSpc>
              <a:buNone/>
            </a:pPr>
            <a:r>
              <a:rPr lang="en-US" sz="1350" b="1" dirty="0">
                <a:solidFill>
                  <a:srgbClr val="9B8CFF"/>
                </a:solidFill>
                <a:latin typeface="Trebuchet MS" pitchFamily="34" charset="0"/>
                <a:ea typeface="Trebuchet MS" pitchFamily="34" charset="-122"/>
                <a:cs typeface="Trebuchet MS" pitchFamily="34" charset="-120"/>
              </a:rPr>
              <a:t>Gateways</a:t>
            </a:r>
            <a:endParaRPr lang="en-US" sz="1350" dirty="0"/>
          </a:p>
          <a:p>
            <a:pPr marL="0" indent="0" algn="ctr">
              <a:lnSpc>
                <a:spcPct val="112000"/>
              </a:lnSpc>
              <a:buNone/>
            </a:pPr>
            <a:r>
              <a:rPr lang="en-US" sz="1000" dirty="0">
                <a:solidFill>
                  <a:srgbClr val="97A4AE"/>
                </a:solidFill>
                <a:latin typeface="Consolas" pitchFamily="34" charset="0"/>
                <a:ea typeface="Consolas" pitchFamily="34" charset="-122"/>
                <a:cs typeface="Consolas" pitchFamily="34" charset="-120"/>
              </a:rPr>
              <a:t>PUSH :5555</a:t>
            </a:r>
            <a:endParaRPr lang="en-US" sz="1350" dirty="0"/>
          </a:p>
        </p:txBody>
      </p:sp>
      <p:sp>
        <p:nvSpPr>
          <p:cNvPr id="10" name="Shape 8"/>
          <p:cNvSpPr/>
          <p:nvPr/>
        </p:nvSpPr>
        <p:spPr>
          <a:xfrm>
            <a:off x="2834640" y="3291840"/>
            <a:ext cx="731520" cy="0"/>
          </a:xfrm>
          <a:prstGeom prst="line">
            <a:avLst/>
          </a:prstGeom>
          <a:noFill/>
          <a:ln w="22225">
            <a:solidFill>
              <a:srgbClr val="9B8CFF"/>
            </a:solidFill>
            <a:prstDash val="solid"/>
            <a:tailEnd type="triangle"/>
          </a:ln>
        </p:spPr>
        <p:txBody>
          <a:bodyPr/>
          <a:lstStyle/>
          <a:p>
            <a:endParaRPr lang="en-SE"/>
          </a:p>
        </p:txBody>
      </p:sp>
      <p:sp>
        <p:nvSpPr>
          <p:cNvPr id="11" name="Text 9"/>
          <p:cNvSpPr/>
          <p:nvPr/>
        </p:nvSpPr>
        <p:spPr>
          <a:xfrm>
            <a:off x="2697480" y="2889504"/>
            <a:ext cx="1005840" cy="274320"/>
          </a:xfrm>
          <a:prstGeom prst="rect">
            <a:avLst/>
          </a:prstGeom>
          <a:noFill/>
          <a:ln/>
        </p:spPr>
        <p:txBody>
          <a:bodyPr wrap="square" lIns="0" tIns="0" rIns="0" bIns="0" rtlCol="0" anchor="ctr"/>
          <a:lstStyle/>
          <a:p>
            <a:pPr marL="0" indent="0" algn="ctr">
              <a:buNone/>
            </a:pPr>
            <a:r>
              <a:rPr lang="en-US" sz="950" dirty="0">
                <a:solidFill>
                  <a:srgbClr val="9B8CFF"/>
                </a:solidFill>
                <a:latin typeface="Consolas" pitchFamily="34" charset="0"/>
                <a:ea typeface="Consolas" pitchFamily="34" charset="-122"/>
                <a:cs typeface="Consolas" pitchFamily="34" charset="-120"/>
              </a:rPr>
              <a:t>orders</a:t>
            </a:r>
            <a:endParaRPr lang="en-US" sz="950" dirty="0"/>
          </a:p>
        </p:txBody>
      </p:sp>
      <p:sp>
        <p:nvSpPr>
          <p:cNvPr id="12" name="Shape 10"/>
          <p:cNvSpPr/>
          <p:nvPr/>
        </p:nvSpPr>
        <p:spPr>
          <a:xfrm>
            <a:off x="3657600" y="2606040"/>
            <a:ext cx="2377440" cy="1371600"/>
          </a:xfrm>
          <a:prstGeom prst="roundRect">
            <a:avLst>
              <a:gd name="adj" fmla="val 5333"/>
            </a:avLst>
          </a:prstGeom>
          <a:solidFill>
            <a:srgbClr val="252B31"/>
          </a:solidFill>
          <a:ln w="25400">
            <a:solidFill>
              <a:srgbClr val="F0A202"/>
            </a:solidFill>
            <a:prstDash val="solid"/>
          </a:ln>
        </p:spPr>
        <p:txBody>
          <a:bodyPr/>
          <a:lstStyle/>
          <a:p>
            <a:endParaRPr lang="en-SE"/>
          </a:p>
        </p:txBody>
      </p:sp>
      <p:sp>
        <p:nvSpPr>
          <p:cNvPr id="13" name="Text 11"/>
          <p:cNvSpPr/>
          <p:nvPr/>
        </p:nvSpPr>
        <p:spPr>
          <a:xfrm>
            <a:off x="3749040" y="2606040"/>
            <a:ext cx="2194560" cy="1371600"/>
          </a:xfrm>
          <a:prstGeom prst="rect">
            <a:avLst/>
          </a:prstGeom>
          <a:noFill/>
          <a:ln/>
        </p:spPr>
        <p:txBody>
          <a:bodyPr wrap="square" lIns="0" tIns="0" rIns="0" bIns="0" rtlCol="0" anchor="ctr"/>
          <a:lstStyle/>
          <a:p>
            <a:pPr marL="0" indent="0" algn="ctr">
              <a:lnSpc>
                <a:spcPct val="112000"/>
              </a:lnSpc>
              <a:buNone/>
            </a:pPr>
            <a:r>
              <a:rPr lang="en-US" sz="1350" b="1" dirty="0">
                <a:solidFill>
                  <a:srgbClr val="F0A202"/>
                </a:solidFill>
                <a:latin typeface="Trebuchet MS" pitchFamily="34" charset="0"/>
                <a:ea typeface="Trebuchet MS" pitchFamily="34" charset="-122"/>
                <a:cs typeface="Trebuchet MS" pitchFamily="34" charset="-120"/>
              </a:rPr>
              <a:t>Matching engine</a:t>
            </a:r>
            <a:endParaRPr lang="en-US" sz="1350" dirty="0"/>
          </a:p>
          <a:p>
            <a:pPr marL="0" indent="0" algn="ctr">
              <a:lnSpc>
                <a:spcPct val="112000"/>
              </a:lnSpc>
              <a:buNone/>
            </a:pPr>
            <a:r>
              <a:rPr lang="en-US" sz="1000" dirty="0">
                <a:solidFill>
                  <a:srgbClr val="97A4AE"/>
                </a:solidFill>
                <a:latin typeface="Consolas" pitchFamily="34" charset="0"/>
                <a:ea typeface="Consolas" pitchFamily="34" charset="-122"/>
                <a:cs typeface="Consolas" pitchFamily="34" charset="-120"/>
              </a:rPr>
              <a:t>PULL :5555 · PUB :5556</a:t>
            </a:r>
            <a:endParaRPr lang="en-US" sz="1350" dirty="0"/>
          </a:p>
        </p:txBody>
      </p:sp>
      <p:sp>
        <p:nvSpPr>
          <p:cNvPr id="14" name="Shape 12"/>
          <p:cNvSpPr/>
          <p:nvPr/>
        </p:nvSpPr>
        <p:spPr>
          <a:xfrm>
            <a:off x="6126480" y="2331720"/>
            <a:ext cx="914400" cy="0"/>
          </a:xfrm>
          <a:prstGeom prst="line">
            <a:avLst/>
          </a:prstGeom>
          <a:noFill/>
          <a:ln w="22225">
            <a:solidFill>
              <a:srgbClr val="6E7C87"/>
            </a:solidFill>
            <a:prstDash val="solid"/>
            <a:tailEnd type="triangle"/>
          </a:ln>
        </p:spPr>
        <p:txBody>
          <a:bodyPr/>
          <a:lstStyle/>
          <a:p>
            <a:endParaRPr lang="en-SE"/>
          </a:p>
        </p:txBody>
      </p:sp>
      <p:sp>
        <p:nvSpPr>
          <p:cNvPr id="15" name="Text 13"/>
          <p:cNvSpPr/>
          <p:nvPr/>
        </p:nvSpPr>
        <p:spPr>
          <a:xfrm>
            <a:off x="5989320" y="1929384"/>
            <a:ext cx="1188720" cy="274320"/>
          </a:xfrm>
          <a:prstGeom prst="rect">
            <a:avLst/>
          </a:prstGeom>
          <a:noFill/>
          <a:ln/>
        </p:spPr>
        <p:txBody>
          <a:bodyPr wrap="square" lIns="0" tIns="0" rIns="0" bIns="0" rtlCol="0" anchor="ctr"/>
          <a:lstStyle/>
          <a:p>
            <a:pPr marL="0" indent="0" algn="ctr">
              <a:buNone/>
            </a:pPr>
            <a:r>
              <a:rPr lang="en-US" sz="950" dirty="0">
                <a:solidFill>
                  <a:srgbClr val="6E7C87"/>
                </a:solidFill>
                <a:latin typeface="Consolas" pitchFamily="34" charset="0"/>
                <a:ea typeface="Consolas" pitchFamily="34" charset="-122"/>
                <a:cs typeface="Consolas" pitchFamily="34" charset="-120"/>
              </a:rPr>
              <a:t>book · trade · session</a:t>
            </a:r>
            <a:endParaRPr lang="en-US" sz="950" dirty="0"/>
          </a:p>
        </p:txBody>
      </p:sp>
      <p:sp>
        <p:nvSpPr>
          <p:cNvPr id="16" name="Shape 14"/>
          <p:cNvSpPr/>
          <p:nvPr/>
        </p:nvSpPr>
        <p:spPr>
          <a:xfrm>
            <a:off x="7132320" y="1874520"/>
            <a:ext cx="3703320" cy="914400"/>
          </a:xfrm>
          <a:prstGeom prst="roundRect">
            <a:avLst>
              <a:gd name="adj" fmla="val 8000"/>
            </a:avLst>
          </a:prstGeom>
          <a:solidFill>
            <a:srgbClr val="252B31"/>
          </a:solidFill>
          <a:ln w="19050">
            <a:solidFill>
              <a:srgbClr val="3A434B"/>
            </a:solidFill>
            <a:prstDash val="solid"/>
          </a:ln>
        </p:spPr>
        <p:txBody>
          <a:bodyPr/>
          <a:lstStyle/>
          <a:p>
            <a:endParaRPr lang="en-SE"/>
          </a:p>
        </p:txBody>
      </p:sp>
      <p:sp>
        <p:nvSpPr>
          <p:cNvPr id="17" name="Text 15"/>
          <p:cNvSpPr/>
          <p:nvPr/>
        </p:nvSpPr>
        <p:spPr>
          <a:xfrm>
            <a:off x="7223760" y="1874520"/>
            <a:ext cx="3520440" cy="914400"/>
          </a:xfrm>
          <a:prstGeom prst="rect">
            <a:avLst/>
          </a:prstGeom>
          <a:noFill/>
          <a:ln/>
        </p:spPr>
        <p:txBody>
          <a:bodyPr wrap="square" lIns="0" tIns="0" rIns="0" bIns="0" rtlCol="0" anchor="ctr"/>
          <a:lstStyle/>
          <a:p>
            <a:pPr marL="0" indent="0" algn="ctr">
              <a:lnSpc>
                <a:spcPct val="112000"/>
              </a:lnSpc>
              <a:buNone/>
            </a:pPr>
            <a:r>
              <a:rPr lang="en-US" sz="1350" b="1" dirty="0">
                <a:solidFill>
                  <a:srgbClr val="3A434B"/>
                </a:solidFill>
                <a:latin typeface="Trebuchet MS" pitchFamily="34" charset="0"/>
                <a:ea typeface="Trebuchet MS" pitchFamily="34" charset="-122"/>
                <a:cs typeface="Trebuchet MS" pitchFamily="34" charset="-120"/>
              </a:rPr>
              <a:t>Market data subscribers</a:t>
            </a:r>
            <a:endParaRPr lang="en-US" sz="1350" dirty="0"/>
          </a:p>
          <a:p>
            <a:pPr marL="0" indent="0" algn="ctr">
              <a:lnSpc>
                <a:spcPct val="112000"/>
              </a:lnSpc>
              <a:buNone/>
            </a:pPr>
            <a:r>
              <a:rPr lang="en-US" sz="1000" dirty="0">
                <a:solidFill>
                  <a:srgbClr val="97A4AE"/>
                </a:solidFill>
                <a:latin typeface="Consolas" pitchFamily="34" charset="0"/>
                <a:ea typeface="Consolas" pitchFamily="34" charset="-122"/>
                <a:cs typeface="Consolas" pitchFamily="34" charset="-120"/>
              </a:rPr>
              <a:t>port 5556</a:t>
            </a:r>
            <a:endParaRPr lang="en-US" sz="1350" dirty="0"/>
          </a:p>
        </p:txBody>
      </p:sp>
      <p:sp>
        <p:nvSpPr>
          <p:cNvPr id="18" name="Shape 16"/>
          <p:cNvSpPr/>
          <p:nvPr/>
        </p:nvSpPr>
        <p:spPr>
          <a:xfrm>
            <a:off x="6126480" y="3977640"/>
            <a:ext cx="914400" cy="0"/>
          </a:xfrm>
          <a:prstGeom prst="line">
            <a:avLst/>
          </a:prstGeom>
          <a:noFill/>
          <a:ln w="22225">
            <a:solidFill>
              <a:srgbClr val="3FD0C9"/>
            </a:solidFill>
            <a:prstDash val="solid"/>
            <a:tailEnd type="triangle"/>
          </a:ln>
        </p:spPr>
        <p:txBody>
          <a:bodyPr/>
          <a:lstStyle/>
          <a:p>
            <a:endParaRPr lang="en-SE"/>
          </a:p>
        </p:txBody>
      </p:sp>
      <p:sp>
        <p:nvSpPr>
          <p:cNvPr id="19" name="Text 17"/>
          <p:cNvSpPr/>
          <p:nvPr/>
        </p:nvSpPr>
        <p:spPr>
          <a:xfrm>
            <a:off x="5989320" y="3575304"/>
            <a:ext cx="1188720" cy="274320"/>
          </a:xfrm>
          <a:prstGeom prst="rect">
            <a:avLst/>
          </a:prstGeom>
          <a:noFill/>
          <a:ln/>
        </p:spPr>
        <p:txBody>
          <a:bodyPr wrap="square" lIns="0" tIns="0" rIns="0" bIns="0" rtlCol="0" anchor="ctr"/>
          <a:lstStyle/>
          <a:p>
            <a:pPr marL="0" indent="0" algn="ctr">
              <a:buNone/>
            </a:pPr>
            <a:r>
              <a:rPr lang="en-US" sz="950" dirty="0">
                <a:solidFill>
                  <a:srgbClr val="3FD0C9"/>
                </a:solidFill>
                <a:latin typeface="Consolas" pitchFamily="34" charset="0"/>
                <a:ea typeface="Consolas" pitchFamily="34" charset="-122"/>
                <a:cs typeface="Consolas" pitchFamily="34" charset="-120"/>
              </a:rPr>
              <a:t>every fill</a:t>
            </a:r>
            <a:endParaRPr lang="en-US" sz="950" dirty="0"/>
          </a:p>
        </p:txBody>
      </p:sp>
      <p:sp>
        <p:nvSpPr>
          <p:cNvPr id="20" name="Shape 18"/>
          <p:cNvSpPr/>
          <p:nvPr/>
        </p:nvSpPr>
        <p:spPr>
          <a:xfrm>
            <a:off x="7132320" y="3520440"/>
            <a:ext cx="1691640" cy="914400"/>
          </a:xfrm>
          <a:prstGeom prst="roundRect">
            <a:avLst>
              <a:gd name="adj" fmla="val 8000"/>
            </a:avLst>
          </a:prstGeom>
          <a:solidFill>
            <a:srgbClr val="252B31"/>
          </a:solidFill>
          <a:ln w="25400">
            <a:solidFill>
              <a:srgbClr val="3FD0C9"/>
            </a:solidFill>
            <a:prstDash val="solid"/>
          </a:ln>
        </p:spPr>
        <p:txBody>
          <a:bodyPr/>
          <a:lstStyle/>
          <a:p>
            <a:endParaRPr lang="en-SE"/>
          </a:p>
        </p:txBody>
      </p:sp>
      <p:sp>
        <p:nvSpPr>
          <p:cNvPr id="21" name="Text 19"/>
          <p:cNvSpPr/>
          <p:nvPr/>
        </p:nvSpPr>
        <p:spPr>
          <a:xfrm>
            <a:off x="7223760" y="3520440"/>
            <a:ext cx="1508760" cy="914400"/>
          </a:xfrm>
          <a:prstGeom prst="rect">
            <a:avLst/>
          </a:prstGeom>
          <a:noFill/>
          <a:ln/>
        </p:spPr>
        <p:txBody>
          <a:bodyPr wrap="square" lIns="0" tIns="0" rIns="0" bIns="0" rtlCol="0" anchor="ctr"/>
          <a:lstStyle/>
          <a:p>
            <a:pPr marL="0" indent="0" algn="ctr">
              <a:lnSpc>
                <a:spcPct val="112000"/>
              </a:lnSpc>
              <a:buNone/>
            </a:pPr>
            <a:r>
              <a:rPr lang="en-US" sz="1200" b="1" dirty="0">
                <a:solidFill>
                  <a:srgbClr val="3FD0C9"/>
                </a:solidFill>
                <a:latin typeface="Trebuchet MS" pitchFamily="34" charset="0"/>
                <a:ea typeface="Trebuchet MS" pitchFamily="34" charset="-122"/>
                <a:cs typeface="Trebuchet MS" pitchFamily="34" charset="-120"/>
              </a:rPr>
              <a:t>DropCopy</a:t>
            </a:r>
            <a:endParaRPr lang="en-US" sz="1200" dirty="0"/>
          </a:p>
          <a:p>
            <a:pPr marL="0" indent="0" algn="ctr">
              <a:lnSpc>
                <a:spcPct val="112000"/>
              </a:lnSpc>
              <a:buNone/>
            </a:pPr>
            <a:r>
              <a:rPr lang="en-US" sz="1200" b="1" dirty="0">
                <a:solidFill>
                  <a:srgbClr val="3FD0C9"/>
                </a:solidFill>
                <a:latin typeface="Trebuchet MS" pitchFamily="34" charset="0"/>
                <a:ea typeface="Trebuchet MS" pitchFamily="34" charset="-122"/>
                <a:cs typeface="Trebuchet MS" pitchFamily="34" charset="-120"/>
              </a:rPr>
              <a:t>Publisher</a:t>
            </a:r>
            <a:endParaRPr lang="en-US" sz="1200" dirty="0"/>
          </a:p>
          <a:p>
            <a:pPr marL="0" indent="0" algn="ctr">
              <a:lnSpc>
                <a:spcPct val="112000"/>
              </a:lnSpc>
              <a:buNone/>
            </a:pPr>
            <a:r>
              <a:rPr lang="en-US" sz="1000" dirty="0">
                <a:solidFill>
                  <a:srgbClr val="97A4AE"/>
                </a:solidFill>
                <a:latin typeface="Consolas" pitchFamily="34" charset="0"/>
                <a:ea typeface="Consolas" pitchFamily="34" charset="-122"/>
                <a:cs typeface="Consolas" pitchFamily="34" charset="-120"/>
              </a:rPr>
              <a:t>PUB :5557</a:t>
            </a:r>
            <a:endParaRPr lang="en-US" sz="1200" dirty="0"/>
          </a:p>
        </p:txBody>
      </p:sp>
      <p:sp>
        <p:nvSpPr>
          <p:cNvPr id="22" name="Shape 20"/>
          <p:cNvSpPr/>
          <p:nvPr/>
        </p:nvSpPr>
        <p:spPr>
          <a:xfrm>
            <a:off x="8915400" y="3977640"/>
            <a:ext cx="502920" cy="0"/>
          </a:xfrm>
          <a:prstGeom prst="line">
            <a:avLst/>
          </a:prstGeom>
          <a:noFill/>
          <a:ln w="22225">
            <a:solidFill>
              <a:srgbClr val="3FD0C9"/>
            </a:solidFill>
            <a:prstDash val="solid"/>
            <a:tailEnd type="triangle"/>
          </a:ln>
        </p:spPr>
        <p:txBody>
          <a:bodyPr/>
          <a:lstStyle/>
          <a:p>
            <a:endParaRPr lang="en-SE"/>
          </a:p>
        </p:txBody>
      </p:sp>
      <p:sp>
        <p:nvSpPr>
          <p:cNvPr id="23" name="Shape 21"/>
          <p:cNvSpPr/>
          <p:nvPr/>
        </p:nvSpPr>
        <p:spPr>
          <a:xfrm>
            <a:off x="9464040" y="3520440"/>
            <a:ext cx="1371600" cy="914400"/>
          </a:xfrm>
          <a:prstGeom prst="roundRect">
            <a:avLst>
              <a:gd name="adj" fmla="val 8000"/>
            </a:avLst>
          </a:prstGeom>
          <a:solidFill>
            <a:srgbClr val="252B31"/>
          </a:solidFill>
          <a:ln w="19050">
            <a:solidFill>
              <a:srgbClr val="3FD0C9"/>
            </a:solidFill>
            <a:prstDash val="solid"/>
          </a:ln>
        </p:spPr>
        <p:txBody>
          <a:bodyPr/>
          <a:lstStyle/>
          <a:p>
            <a:endParaRPr lang="en-SE"/>
          </a:p>
        </p:txBody>
      </p:sp>
      <p:sp>
        <p:nvSpPr>
          <p:cNvPr id="24" name="Text 22"/>
          <p:cNvSpPr/>
          <p:nvPr/>
        </p:nvSpPr>
        <p:spPr>
          <a:xfrm>
            <a:off x="9555480" y="3520440"/>
            <a:ext cx="1188720" cy="914400"/>
          </a:xfrm>
          <a:prstGeom prst="rect">
            <a:avLst/>
          </a:prstGeom>
          <a:noFill/>
          <a:ln/>
        </p:spPr>
        <p:txBody>
          <a:bodyPr wrap="square" lIns="0" tIns="0" rIns="0" bIns="0" rtlCol="0" anchor="ctr"/>
          <a:lstStyle/>
          <a:p>
            <a:pPr marL="0" indent="0" algn="ctr">
              <a:lnSpc>
                <a:spcPct val="112000"/>
              </a:lnSpc>
              <a:buNone/>
            </a:pPr>
            <a:r>
              <a:rPr lang="en-US" sz="1200" b="1" dirty="0">
                <a:solidFill>
                  <a:srgbClr val="3FD0C9"/>
                </a:solidFill>
                <a:latin typeface="Trebuchet MS" pitchFamily="34" charset="0"/>
                <a:ea typeface="Trebuchet MS" pitchFamily="34" charset="-122"/>
                <a:cs typeface="Trebuchet MS" pitchFamily="34" charset="-120"/>
              </a:rPr>
              <a:t>Risk · Audit</a:t>
            </a:r>
            <a:endParaRPr lang="en-US" sz="1200" dirty="0"/>
          </a:p>
          <a:p>
            <a:pPr marL="0" indent="0" algn="ctr">
              <a:lnSpc>
                <a:spcPct val="112000"/>
              </a:lnSpc>
              <a:buNone/>
            </a:pPr>
            <a:r>
              <a:rPr lang="en-US" sz="1200" b="1" dirty="0">
                <a:solidFill>
                  <a:srgbClr val="3FD0C9"/>
                </a:solidFill>
                <a:latin typeface="Trebuchet MS" pitchFamily="34" charset="0"/>
                <a:ea typeface="Trebuchet MS" pitchFamily="34" charset="-122"/>
                <a:cs typeface="Trebuchet MS" pitchFamily="34" charset="-120"/>
              </a:rPr>
              <a:t>Clearing</a:t>
            </a:r>
            <a:endParaRPr lang="en-US" sz="1200" dirty="0"/>
          </a:p>
          <a:p>
            <a:pPr marL="0" indent="0" algn="ctr">
              <a:lnSpc>
                <a:spcPct val="112000"/>
              </a:lnSpc>
              <a:buNone/>
            </a:pPr>
            <a:r>
              <a:rPr lang="en-US" sz="1000" dirty="0">
                <a:solidFill>
                  <a:srgbClr val="97A4AE"/>
                </a:solidFill>
                <a:latin typeface="Consolas" pitchFamily="34" charset="0"/>
                <a:ea typeface="Consolas" pitchFamily="34" charset="-122"/>
                <a:cs typeface="Consolas" pitchFamily="34" charset="-120"/>
              </a:rPr>
              <a:t>subscribers</a:t>
            </a:r>
            <a:endParaRPr lang="en-US" sz="1200" dirty="0"/>
          </a:p>
        </p:txBody>
      </p:sp>
      <p:sp>
        <p:nvSpPr>
          <p:cNvPr id="25" name="Text 23"/>
          <p:cNvSpPr/>
          <p:nvPr/>
        </p:nvSpPr>
        <p:spPr>
          <a:xfrm>
            <a:off x="685800" y="4800600"/>
            <a:ext cx="10820095" cy="365760"/>
          </a:xfrm>
          <a:prstGeom prst="rect">
            <a:avLst/>
          </a:prstGeom>
          <a:noFill/>
          <a:ln/>
        </p:spPr>
        <p:txBody>
          <a:bodyPr wrap="square" lIns="0" tIns="0" rIns="0" bIns="0" rtlCol="0" anchor="ctr"/>
          <a:lstStyle/>
          <a:p>
            <a:pPr marL="0" indent="0" algn="ctr">
              <a:buNone/>
            </a:pPr>
            <a:r>
              <a:rPr lang="en-US" sz="1300" dirty="0">
                <a:solidFill>
                  <a:srgbClr val="97A4AE"/>
                </a:solidFill>
                <a:latin typeface="Calibri" pitchFamily="34" charset="0"/>
                <a:ea typeface="Calibri" pitchFamily="34" charset="-122"/>
                <a:cs typeface="Calibri" pitchFamily="34" charset="-120"/>
              </a:rPr>
              <a:t>Two separate broadcasts: general market events on 5556, per-fill drop copy on 5557. They never share a socket.</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5800" y="5303520"/>
          <a:ext cx="10817352" cy="1263396"/>
        </p:xfrm>
        <a:graphic>
          <a:graphicData uri="http://schemas.openxmlformats.org/drawingml/2006/table">
            <a:tbl>
              <a:tblPr/>
              <a:tblGrid>
                <a:gridCol w="2743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782312">
                  <a:extLst>
                    <a:ext uri="{9D8B030D-6E8A-4147-A177-3AD203B41FA5}">
                      <a16:colId xmlns:a16="http://schemas.microsoft.com/office/drawing/2014/main" val="20002"/>
                    </a:ext>
                  </a:extLst>
                </a:gridCol>
              </a:tblGrid>
              <a:tr h="301752">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Socket</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Address</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Purpose</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extLst>
                  <a:ext uri="{0D108BD9-81ED-4DB2-BD59-A6C34878D82A}">
                    <a16:rowId xmlns:a16="http://schemas.microsoft.com/office/drawing/2014/main" val="10000"/>
                  </a:ext>
                </a:extLst>
              </a:tr>
              <a:tr h="301752">
                <a:tc>
                  <a:txBody>
                    <a:bodyPr/>
                    <a:lstStyle/>
                    <a:p>
                      <a:pPr marL="0" indent="0">
                        <a:buNone/>
                      </a:pPr>
                      <a:r>
                        <a:rPr lang="en-US" sz="1100" dirty="0">
                          <a:solidFill>
                            <a:srgbClr val="ECF1F5"/>
                          </a:solidFill>
                          <a:latin typeface="Calibri" pitchFamily="34" charset="0"/>
                          <a:ea typeface="Calibri" pitchFamily="34" charset="-122"/>
                          <a:cs typeface="Calibri" pitchFamily="34" charset="-120"/>
                        </a:rPr>
                        <a:t>Engine PULL</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onsolas" pitchFamily="34" charset="0"/>
                          <a:ea typeface="Consolas" pitchFamily="34" charset="-122"/>
                          <a:cs typeface="Consolas" pitchFamily="34" charset="-120"/>
                        </a:rPr>
                        <a:t>tcp://127.0.0.1:5555</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Engine receives orders from gateways</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1"/>
                  </a:ext>
                </a:extLst>
              </a:tr>
              <a:tr h="301752">
                <a:tc>
                  <a:txBody>
                    <a:bodyPr/>
                    <a:lstStyle/>
                    <a:p>
                      <a:pPr marL="0" indent="0">
                        <a:buNone/>
                      </a:pPr>
                      <a:r>
                        <a:rPr lang="en-US" sz="1100" dirty="0">
                          <a:solidFill>
                            <a:srgbClr val="ECF1F5"/>
                          </a:solidFill>
                          <a:latin typeface="Calibri" pitchFamily="34" charset="0"/>
                          <a:ea typeface="Calibri" pitchFamily="34" charset="-122"/>
                          <a:cs typeface="Calibri" pitchFamily="34" charset="-120"/>
                        </a:rPr>
                        <a:t>Engine PUB</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onsolas" pitchFamily="34" charset="0"/>
                          <a:ea typeface="Consolas" pitchFamily="34" charset="-122"/>
                          <a:cs typeface="Consolas" pitchFamily="34" charset="-120"/>
                        </a:rPr>
                        <a:t>tcp://127.0.0.1:5556</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Book snapshots, trades, session state</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2"/>
                  </a:ext>
                </a:extLst>
              </a:tr>
              <a:tr h="301752">
                <a:tc>
                  <a:txBody>
                    <a:bodyPr/>
                    <a:lstStyle/>
                    <a:p>
                      <a:pPr marL="0" indent="0">
                        <a:buNone/>
                      </a:pPr>
                      <a:r>
                        <a:rPr lang="en-US" sz="1100" b="1" dirty="0">
                          <a:solidFill>
                            <a:srgbClr val="3FD0C9"/>
                          </a:solidFill>
                          <a:latin typeface="Calibri" pitchFamily="34" charset="0"/>
                          <a:ea typeface="Calibri" pitchFamily="34" charset="-122"/>
                          <a:cs typeface="Calibri" pitchFamily="34" charset="-120"/>
                        </a:rPr>
                        <a:t>Drop copy PUB</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3FD0C9"/>
                          </a:solidFill>
                          <a:latin typeface="Consolas" pitchFamily="34" charset="0"/>
                          <a:ea typeface="Consolas" pitchFamily="34" charset="-122"/>
                          <a:cs typeface="Consolas" pitchFamily="34" charset="-120"/>
                        </a:rPr>
                        <a:t>tcp://127.0.0.1:5557</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Fill events to risk / audit / clearing</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01 · PURPOSE</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09</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DESIGN CHOICES</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Three decisions that explain the feed's behaviour</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These are not implementation trivia — each one produces a symptom you will meet as an operator.</a:t>
            </a:r>
            <a:endParaRPr lang="en-US" sz="1450" dirty="0"/>
          </a:p>
        </p:txBody>
      </p:sp>
      <p:sp>
        <p:nvSpPr>
          <p:cNvPr id="8" name="Shape 6"/>
          <p:cNvSpPr/>
          <p:nvPr/>
        </p:nvSpPr>
        <p:spPr>
          <a:xfrm>
            <a:off x="685800" y="2286000"/>
            <a:ext cx="10820095" cy="1097280"/>
          </a:xfrm>
          <a:prstGeom prst="roundRect">
            <a:avLst>
              <a:gd name="adj" fmla="val 5000"/>
            </a:avLst>
          </a:prstGeom>
          <a:solidFill>
            <a:srgbClr val="252B31"/>
          </a:solidFill>
          <a:ln w="12700">
            <a:solidFill>
              <a:srgbClr val="3A434B"/>
            </a:solidFill>
            <a:prstDash val="solid"/>
          </a:ln>
        </p:spPr>
        <p:txBody>
          <a:bodyPr/>
          <a:lstStyle/>
          <a:p>
            <a:endParaRPr lang="en-SE"/>
          </a:p>
        </p:txBody>
      </p:sp>
      <p:sp>
        <p:nvSpPr>
          <p:cNvPr id="9" name="Shape 7"/>
          <p:cNvSpPr/>
          <p:nvPr/>
        </p:nvSpPr>
        <p:spPr>
          <a:xfrm>
            <a:off x="685800" y="2286000"/>
            <a:ext cx="82296" cy="1097280"/>
          </a:xfrm>
          <a:prstGeom prst="rect">
            <a:avLst/>
          </a:prstGeom>
          <a:solidFill>
            <a:srgbClr val="F0A202"/>
          </a:solidFill>
          <a:ln/>
        </p:spPr>
        <p:txBody>
          <a:bodyPr/>
          <a:lstStyle/>
          <a:p>
            <a:endParaRPr lang="en-SE"/>
          </a:p>
        </p:txBody>
      </p:sp>
      <p:sp>
        <p:nvSpPr>
          <p:cNvPr id="10" name="Text 8"/>
          <p:cNvSpPr/>
          <p:nvPr/>
        </p:nvSpPr>
        <p:spPr>
          <a:xfrm>
            <a:off x="1005840" y="2414016"/>
            <a:ext cx="3291840" cy="822960"/>
          </a:xfrm>
          <a:prstGeom prst="rect">
            <a:avLst/>
          </a:prstGeom>
          <a:noFill/>
          <a:ln/>
        </p:spPr>
        <p:txBody>
          <a:bodyPr wrap="square" lIns="0" tIns="0" rIns="0" bIns="0" rtlCol="0" anchor="t"/>
          <a:lstStyle/>
          <a:p>
            <a:pPr marL="0" indent="0">
              <a:lnSpc>
                <a:spcPct val="108000"/>
              </a:lnSpc>
              <a:buNone/>
            </a:pPr>
            <a:r>
              <a:rPr lang="en-US" sz="1500" b="1" dirty="0">
                <a:solidFill>
                  <a:srgbClr val="F0A202"/>
                </a:solidFill>
                <a:latin typeface="Trebuchet MS" pitchFamily="34" charset="0"/>
                <a:ea typeface="Trebuchet MS" pitchFamily="34" charset="-122"/>
                <a:cs typeface="Trebuchet MS" pitchFamily="34" charset="-120"/>
              </a:rPr>
              <a:t>Bound late, in the run loop</a:t>
            </a:r>
            <a:endParaRPr lang="en-US" sz="1500" dirty="0"/>
          </a:p>
        </p:txBody>
      </p:sp>
      <p:sp>
        <p:nvSpPr>
          <p:cNvPr id="11" name="Text 9"/>
          <p:cNvSpPr/>
          <p:nvPr/>
        </p:nvSpPr>
        <p:spPr>
          <a:xfrm>
            <a:off x="4480560" y="2432304"/>
            <a:ext cx="3291840" cy="822960"/>
          </a:xfrm>
          <a:prstGeom prst="rect">
            <a:avLst/>
          </a:prstGeom>
          <a:noFill/>
          <a:ln/>
        </p:spPr>
        <p:txBody>
          <a:bodyPr wrap="square" lIns="0" tIns="0" rIns="0" bIns="0" rtlCol="0" anchor="t"/>
          <a:lstStyle/>
          <a:p>
            <a:pPr marL="0" indent="0">
              <a:lnSpc>
                <a:spcPct val="110000"/>
              </a:lnSpc>
              <a:buNone/>
            </a:pPr>
            <a:r>
              <a:rPr lang="en-US" sz="1250" dirty="0">
                <a:solidFill>
                  <a:srgbClr val="97A4AE"/>
                </a:solidFill>
                <a:latin typeface="Calibri" pitchFamily="34" charset="0"/>
                <a:ea typeface="Calibri" pitchFamily="34" charset="-122"/>
                <a:cs typeface="Calibri" pitchFamily="34" charset="-120"/>
              </a:rPr>
              <a:t>The publisher binds its socket when the engine starts running, not when it is constructed.</a:t>
            </a:r>
            <a:endParaRPr lang="en-US" sz="1250" dirty="0"/>
          </a:p>
        </p:txBody>
      </p:sp>
      <p:sp>
        <p:nvSpPr>
          <p:cNvPr id="12" name="Text 10"/>
          <p:cNvSpPr/>
          <p:nvPr/>
        </p:nvSpPr>
        <p:spPr>
          <a:xfrm>
            <a:off x="8001000" y="2432304"/>
            <a:ext cx="3474720" cy="822960"/>
          </a:xfrm>
          <a:prstGeom prst="rect">
            <a:avLst/>
          </a:prstGeom>
          <a:noFill/>
          <a:ln/>
        </p:spPr>
        <p:txBody>
          <a:bodyPr wrap="square" lIns="0" tIns="0" rIns="0" bIns="0" rtlCol="0" anchor="t"/>
          <a:lstStyle/>
          <a:p>
            <a:pPr marL="0" indent="0">
              <a:lnSpc>
                <a:spcPct val="110000"/>
              </a:lnSpc>
              <a:buNone/>
            </a:pPr>
            <a:r>
              <a:rPr lang="en-US" sz="1250" dirty="0">
                <a:solidFill>
                  <a:srgbClr val="ECF1F5"/>
                </a:solidFill>
                <a:latin typeface="Calibri" pitchFamily="34" charset="0"/>
                <a:ea typeface="Calibri" pitchFamily="34" charset="-122"/>
                <a:cs typeface="Calibri" pitchFamily="34" charset="-120"/>
              </a:rPr>
              <a:t>So: a fresh engine that never entered its run loop holds no port — and nothing is published.</a:t>
            </a:r>
            <a:endParaRPr lang="en-US" sz="1250" dirty="0"/>
          </a:p>
        </p:txBody>
      </p:sp>
      <p:sp>
        <p:nvSpPr>
          <p:cNvPr id="13" name="Shape 11"/>
          <p:cNvSpPr/>
          <p:nvPr/>
        </p:nvSpPr>
        <p:spPr>
          <a:xfrm>
            <a:off x="685800" y="3566160"/>
            <a:ext cx="10820095" cy="1097280"/>
          </a:xfrm>
          <a:prstGeom prst="roundRect">
            <a:avLst>
              <a:gd name="adj" fmla="val 5000"/>
            </a:avLst>
          </a:prstGeom>
          <a:solidFill>
            <a:srgbClr val="252B31"/>
          </a:solidFill>
          <a:ln w="12700">
            <a:solidFill>
              <a:srgbClr val="3A434B"/>
            </a:solidFill>
            <a:prstDash val="solid"/>
          </a:ln>
        </p:spPr>
        <p:txBody>
          <a:bodyPr/>
          <a:lstStyle/>
          <a:p>
            <a:endParaRPr lang="en-SE"/>
          </a:p>
        </p:txBody>
      </p:sp>
      <p:sp>
        <p:nvSpPr>
          <p:cNvPr id="14" name="Shape 12"/>
          <p:cNvSpPr/>
          <p:nvPr/>
        </p:nvSpPr>
        <p:spPr>
          <a:xfrm>
            <a:off x="685800" y="3566160"/>
            <a:ext cx="82296" cy="1097280"/>
          </a:xfrm>
          <a:prstGeom prst="rect">
            <a:avLst/>
          </a:prstGeom>
          <a:solidFill>
            <a:srgbClr val="E5566B"/>
          </a:solidFill>
          <a:ln/>
        </p:spPr>
        <p:txBody>
          <a:bodyPr/>
          <a:lstStyle/>
          <a:p>
            <a:endParaRPr lang="en-SE"/>
          </a:p>
        </p:txBody>
      </p:sp>
      <p:sp>
        <p:nvSpPr>
          <p:cNvPr id="15" name="Text 13"/>
          <p:cNvSpPr/>
          <p:nvPr/>
        </p:nvSpPr>
        <p:spPr>
          <a:xfrm>
            <a:off x="1005840" y="3694176"/>
            <a:ext cx="3291840" cy="822960"/>
          </a:xfrm>
          <a:prstGeom prst="rect">
            <a:avLst/>
          </a:prstGeom>
          <a:noFill/>
          <a:ln/>
        </p:spPr>
        <p:txBody>
          <a:bodyPr wrap="square" lIns="0" tIns="0" rIns="0" bIns="0" rtlCol="0" anchor="t"/>
          <a:lstStyle/>
          <a:p>
            <a:pPr marL="0" indent="0">
              <a:lnSpc>
                <a:spcPct val="108000"/>
              </a:lnSpc>
              <a:buNone/>
            </a:pPr>
            <a:r>
              <a:rPr lang="en-US" sz="1500" b="1" dirty="0">
                <a:solidFill>
                  <a:srgbClr val="E5566B"/>
                </a:solidFill>
                <a:latin typeface="Trebuchet MS" pitchFamily="34" charset="0"/>
                <a:ea typeface="Trebuchet MS" pitchFamily="34" charset="-122"/>
                <a:cs typeface="Trebuchet MS" pitchFamily="34" charset="-120"/>
              </a:rPr>
              <a:t>A failed bind does not stop trading</a:t>
            </a:r>
            <a:endParaRPr lang="en-US" sz="1500" dirty="0"/>
          </a:p>
        </p:txBody>
      </p:sp>
      <p:sp>
        <p:nvSpPr>
          <p:cNvPr id="16" name="Text 14"/>
          <p:cNvSpPr/>
          <p:nvPr/>
        </p:nvSpPr>
        <p:spPr>
          <a:xfrm>
            <a:off x="4480560" y="3712464"/>
            <a:ext cx="3291840" cy="822960"/>
          </a:xfrm>
          <a:prstGeom prst="rect">
            <a:avLst/>
          </a:prstGeom>
          <a:noFill/>
          <a:ln/>
        </p:spPr>
        <p:txBody>
          <a:bodyPr wrap="square" lIns="0" tIns="0" rIns="0" bIns="0" rtlCol="0" anchor="t"/>
          <a:lstStyle/>
          <a:p>
            <a:pPr marL="0" indent="0">
              <a:lnSpc>
                <a:spcPct val="110000"/>
              </a:lnSpc>
              <a:buNone/>
            </a:pPr>
            <a:r>
              <a:rPr lang="en-US" sz="1250" dirty="0">
                <a:solidFill>
                  <a:srgbClr val="97A4AE"/>
                </a:solidFill>
                <a:latin typeface="Calibri" pitchFamily="34" charset="0"/>
                <a:ea typeface="Calibri" pitchFamily="34" charset="-122"/>
                <a:cs typeface="Calibri" pitchFamily="34" charset="-120"/>
              </a:rPr>
              <a:t>If port 5557 is already in use, the engine logs a warning and carries on without a Drop Copy publisher.</a:t>
            </a:r>
            <a:endParaRPr lang="en-US" sz="1250" dirty="0"/>
          </a:p>
        </p:txBody>
      </p:sp>
      <p:sp>
        <p:nvSpPr>
          <p:cNvPr id="17" name="Text 15"/>
          <p:cNvSpPr/>
          <p:nvPr/>
        </p:nvSpPr>
        <p:spPr>
          <a:xfrm>
            <a:off x="8001000" y="3712464"/>
            <a:ext cx="3474720" cy="822960"/>
          </a:xfrm>
          <a:prstGeom prst="rect">
            <a:avLst/>
          </a:prstGeom>
          <a:noFill/>
          <a:ln/>
        </p:spPr>
        <p:txBody>
          <a:bodyPr wrap="square" lIns="0" tIns="0" rIns="0" bIns="0" rtlCol="0" anchor="t"/>
          <a:lstStyle/>
          <a:p>
            <a:pPr marL="0" indent="0">
              <a:lnSpc>
                <a:spcPct val="110000"/>
              </a:lnSpc>
              <a:buNone/>
            </a:pPr>
            <a:r>
              <a:rPr lang="en-US" sz="1250" dirty="0">
                <a:solidFill>
                  <a:srgbClr val="ECF1F5"/>
                </a:solidFill>
                <a:latin typeface="Calibri" pitchFamily="34" charset="0"/>
                <a:ea typeface="Calibri" pitchFamily="34" charset="-122"/>
                <a:cs typeface="Calibri" pitchFamily="34" charset="-120"/>
              </a:rPr>
              <a:t>So: the exchange can be happily matching trades while the audit feed is silent. Always check the engine log at startup.</a:t>
            </a:r>
            <a:endParaRPr lang="en-US" sz="1250" dirty="0"/>
          </a:p>
        </p:txBody>
      </p:sp>
      <p:sp>
        <p:nvSpPr>
          <p:cNvPr id="18" name="Shape 16"/>
          <p:cNvSpPr/>
          <p:nvPr/>
        </p:nvSpPr>
        <p:spPr>
          <a:xfrm>
            <a:off x="685800" y="4846320"/>
            <a:ext cx="10820095" cy="1097280"/>
          </a:xfrm>
          <a:prstGeom prst="roundRect">
            <a:avLst>
              <a:gd name="adj" fmla="val 5000"/>
            </a:avLst>
          </a:prstGeom>
          <a:solidFill>
            <a:srgbClr val="252B31"/>
          </a:solidFill>
          <a:ln w="12700">
            <a:solidFill>
              <a:srgbClr val="3A434B"/>
            </a:solidFill>
            <a:prstDash val="solid"/>
          </a:ln>
        </p:spPr>
        <p:txBody>
          <a:bodyPr/>
          <a:lstStyle/>
          <a:p>
            <a:endParaRPr lang="en-SE"/>
          </a:p>
        </p:txBody>
      </p:sp>
      <p:sp>
        <p:nvSpPr>
          <p:cNvPr id="19" name="Shape 17"/>
          <p:cNvSpPr/>
          <p:nvPr/>
        </p:nvSpPr>
        <p:spPr>
          <a:xfrm>
            <a:off x="685800" y="4846320"/>
            <a:ext cx="82296" cy="1097280"/>
          </a:xfrm>
          <a:prstGeom prst="rect">
            <a:avLst/>
          </a:prstGeom>
          <a:solidFill>
            <a:srgbClr val="3FD0C9"/>
          </a:solidFill>
          <a:ln/>
        </p:spPr>
        <p:txBody>
          <a:bodyPr/>
          <a:lstStyle/>
          <a:p>
            <a:endParaRPr lang="en-SE"/>
          </a:p>
        </p:txBody>
      </p:sp>
      <p:sp>
        <p:nvSpPr>
          <p:cNvPr id="20" name="Text 18"/>
          <p:cNvSpPr/>
          <p:nvPr/>
        </p:nvSpPr>
        <p:spPr>
          <a:xfrm>
            <a:off x="1005840" y="4974336"/>
            <a:ext cx="3291840" cy="822960"/>
          </a:xfrm>
          <a:prstGeom prst="rect">
            <a:avLst/>
          </a:prstGeom>
          <a:noFill/>
          <a:ln/>
        </p:spPr>
        <p:txBody>
          <a:bodyPr wrap="square" lIns="0" tIns="0" rIns="0" bIns="0" rtlCol="0" anchor="t"/>
          <a:lstStyle/>
          <a:p>
            <a:pPr marL="0" indent="0">
              <a:lnSpc>
                <a:spcPct val="108000"/>
              </a:lnSpc>
              <a:buNone/>
            </a:pPr>
            <a:r>
              <a:rPr lang="en-US" sz="1500" b="1" dirty="0">
                <a:solidFill>
                  <a:srgbClr val="3FD0C9"/>
                </a:solidFill>
                <a:latin typeface="Trebuchet MS" pitchFamily="34" charset="0"/>
                <a:ea typeface="Trebuchet MS" pitchFamily="34" charset="-122"/>
                <a:cs typeface="Trebuchet MS" pitchFamily="34" charset="-120"/>
              </a:rPr>
              <a:t>Closed explicitly on shutdown</a:t>
            </a:r>
            <a:endParaRPr lang="en-US" sz="1500" dirty="0"/>
          </a:p>
        </p:txBody>
      </p:sp>
      <p:sp>
        <p:nvSpPr>
          <p:cNvPr id="21" name="Text 19"/>
          <p:cNvSpPr/>
          <p:nvPr/>
        </p:nvSpPr>
        <p:spPr>
          <a:xfrm>
            <a:off x="4480560" y="4992624"/>
            <a:ext cx="3291840" cy="822960"/>
          </a:xfrm>
          <a:prstGeom prst="rect">
            <a:avLst/>
          </a:prstGeom>
          <a:noFill/>
          <a:ln/>
        </p:spPr>
        <p:txBody>
          <a:bodyPr wrap="square" lIns="0" tIns="0" rIns="0" bIns="0" rtlCol="0" anchor="t"/>
          <a:lstStyle/>
          <a:p>
            <a:pPr marL="0" indent="0">
              <a:lnSpc>
                <a:spcPct val="110000"/>
              </a:lnSpc>
              <a:buNone/>
            </a:pPr>
            <a:r>
              <a:rPr lang="en-US" sz="1250" dirty="0">
                <a:solidFill>
                  <a:srgbClr val="97A4AE"/>
                </a:solidFill>
                <a:latin typeface="Calibri" pitchFamily="34" charset="0"/>
                <a:ea typeface="Calibri" pitchFamily="34" charset="-122"/>
                <a:cs typeface="Calibri" pitchFamily="34" charset="-120"/>
              </a:rPr>
              <a:t>The publisher is closed cleanly when the engine stops, releasing the socket.</a:t>
            </a:r>
            <a:endParaRPr lang="en-US" sz="1250" dirty="0"/>
          </a:p>
        </p:txBody>
      </p:sp>
      <p:sp>
        <p:nvSpPr>
          <p:cNvPr id="22" name="Text 20"/>
          <p:cNvSpPr/>
          <p:nvPr/>
        </p:nvSpPr>
        <p:spPr>
          <a:xfrm>
            <a:off x="8001000" y="4992624"/>
            <a:ext cx="3474720" cy="822960"/>
          </a:xfrm>
          <a:prstGeom prst="rect">
            <a:avLst/>
          </a:prstGeom>
          <a:noFill/>
          <a:ln/>
        </p:spPr>
        <p:txBody>
          <a:bodyPr wrap="square" lIns="0" tIns="0" rIns="0" bIns="0" rtlCol="0" anchor="t"/>
          <a:lstStyle/>
          <a:p>
            <a:pPr marL="0" indent="0">
              <a:lnSpc>
                <a:spcPct val="110000"/>
              </a:lnSpc>
              <a:buNone/>
            </a:pPr>
            <a:r>
              <a:rPr lang="en-US" sz="1250" dirty="0">
                <a:solidFill>
                  <a:srgbClr val="ECF1F5"/>
                </a:solidFill>
                <a:latin typeface="Calibri" pitchFamily="34" charset="0"/>
                <a:ea typeface="Calibri" pitchFamily="34" charset="-122"/>
                <a:cs typeface="Calibri" pitchFamily="34" charset="-120"/>
              </a:rPr>
              <a:t>So: a clean shutdown frees 5557 for the next run; a hard kill may not.</a:t>
            </a:r>
            <a:endParaRPr lang="en-US" sz="1250" dirty="0"/>
          </a:p>
        </p:txBody>
      </p:sp>
      <p:sp>
        <p:nvSpPr>
          <p:cNvPr id="23" name="Text 21"/>
          <p:cNvSpPr/>
          <p:nvPr/>
        </p:nvSpPr>
        <p:spPr>
          <a:xfrm>
            <a:off x="4480560" y="1965960"/>
            <a:ext cx="3291840" cy="274320"/>
          </a:xfrm>
          <a:prstGeom prst="rect">
            <a:avLst/>
          </a:prstGeom>
          <a:noFill/>
          <a:ln/>
        </p:spPr>
        <p:txBody>
          <a:bodyPr wrap="square" lIns="0" tIns="0" rIns="0" bIns="0" rtlCol="0" anchor="ctr"/>
          <a:lstStyle/>
          <a:p>
            <a:pPr marL="0" indent="0">
              <a:buNone/>
            </a:pPr>
            <a:r>
              <a:rPr lang="en-US" sz="950" kern="0" spc="180" dirty="0">
                <a:solidFill>
                  <a:srgbClr val="6E7C87"/>
                </a:solidFill>
                <a:latin typeface="Calibri" pitchFamily="34" charset="0"/>
                <a:ea typeface="Calibri" pitchFamily="34" charset="-122"/>
                <a:cs typeface="Calibri" pitchFamily="34" charset="-120"/>
              </a:rPr>
              <a:t>WHAT IT DOES</a:t>
            </a:r>
            <a:endParaRPr lang="en-US" sz="950" dirty="0"/>
          </a:p>
        </p:txBody>
      </p:sp>
      <p:sp>
        <p:nvSpPr>
          <p:cNvPr id="24" name="Text 22"/>
          <p:cNvSpPr/>
          <p:nvPr/>
        </p:nvSpPr>
        <p:spPr>
          <a:xfrm>
            <a:off x="8001000" y="1965960"/>
            <a:ext cx="3474720" cy="274320"/>
          </a:xfrm>
          <a:prstGeom prst="rect">
            <a:avLst/>
          </a:prstGeom>
          <a:noFill/>
          <a:ln/>
        </p:spPr>
        <p:txBody>
          <a:bodyPr wrap="square" lIns="0" tIns="0" rIns="0" bIns="0" rtlCol="0" anchor="ctr"/>
          <a:lstStyle/>
          <a:p>
            <a:pPr marL="0" indent="0">
              <a:buNone/>
            </a:pPr>
            <a:r>
              <a:rPr lang="en-US" sz="950" kern="0" spc="180" dirty="0">
                <a:solidFill>
                  <a:srgbClr val="6E7C87"/>
                </a:solidFill>
                <a:latin typeface="Calibri" pitchFamily="34" charset="0"/>
                <a:ea typeface="Calibri" pitchFamily="34" charset="-122"/>
                <a:cs typeface="Calibri" pitchFamily="34" charset="-120"/>
              </a:rPr>
              <a:t>WHAT IT MEANS FOR YOU</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01 · PURPOSE</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10</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NAME COLLISION</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Drop Copy feed vs. the RALF DROP_COPY channel</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Two different things share a name. Confusing them is the single most common misunderstanding for new operators.</a:t>
            </a:r>
            <a:endParaRPr lang="en-US" sz="1450" dirty="0"/>
          </a:p>
        </p:txBody>
      </p:sp>
      <p:sp>
        <p:nvSpPr>
          <p:cNvPr id="8" name="Shape 6"/>
          <p:cNvSpPr/>
          <p:nvPr/>
        </p:nvSpPr>
        <p:spPr>
          <a:xfrm>
            <a:off x="685800" y="2286000"/>
            <a:ext cx="5257800" cy="3246120"/>
          </a:xfrm>
          <a:prstGeom prst="roundRect">
            <a:avLst>
              <a:gd name="adj" fmla="val 1690"/>
            </a:avLst>
          </a:prstGeom>
          <a:solidFill>
            <a:srgbClr val="252B31"/>
          </a:solidFill>
          <a:ln w="12700">
            <a:solidFill>
              <a:srgbClr val="3A434B"/>
            </a:solidFill>
            <a:prstDash val="solid"/>
          </a:ln>
        </p:spPr>
        <p:txBody>
          <a:bodyPr/>
          <a:lstStyle/>
          <a:p>
            <a:endParaRPr lang="en-SE"/>
          </a:p>
        </p:txBody>
      </p:sp>
      <p:sp>
        <p:nvSpPr>
          <p:cNvPr id="9" name="Shape 7"/>
          <p:cNvSpPr/>
          <p:nvPr/>
        </p:nvSpPr>
        <p:spPr>
          <a:xfrm>
            <a:off x="685800" y="2286000"/>
            <a:ext cx="5257800" cy="91440"/>
          </a:xfrm>
          <a:prstGeom prst="rect">
            <a:avLst/>
          </a:prstGeom>
          <a:solidFill>
            <a:srgbClr val="3FD0C9"/>
          </a:solidFill>
          <a:ln/>
        </p:spPr>
        <p:txBody>
          <a:bodyPr/>
          <a:lstStyle/>
          <a:p>
            <a:endParaRPr lang="en-SE"/>
          </a:p>
        </p:txBody>
      </p:sp>
      <p:sp>
        <p:nvSpPr>
          <p:cNvPr id="10" name="Text 8"/>
          <p:cNvSpPr/>
          <p:nvPr/>
        </p:nvSpPr>
        <p:spPr>
          <a:xfrm>
            <a:off x="960120" y="2514600"/>
            <a:ext cx="4709160" cy="384048"/>
          </a:xfrm>
          <a:prstGeom prst="rect">
            <a:avLst/>
          </a:prstGeom>
          <a:noFill/>
          <a:ln/>
        </p:spPr>
        <p:txBody>
          <a:bodyPr wrap="square" lIns="0" tIns="0" rIns="0" bIns="0" rtlCol="0" anchor="ctr"/>
          <a:lstStyle/>
          <a:p>
            <a:pPr marL="0" indent="0">
              <a:buNone/>
            </a:pPr>
            <a:r>
              <a:rPr lang="en-US" sz="1700" b="1" dirty="0">
                <a:solidFill>
                  <a:srgbClr val="3FD0C9"/>
                </a:solidFill>
                <a:latin typeface="Trebuchet MS" pitchFamily="34" charset="0"/>
                <a:ea typeface="Trebuchet MS" pitchFamily="34" charset="-122"/>
                <a:cs typeface="Trebuchet MS" pitchFamily="34" charset="-120"/>
              </a:rPr>
              <a:t>Engine Drop Copy feed</a:t>
            </a:r>
            <a:endParaRPr lang="en-US" sz="1700" dirty="0"/>
          </a:p>
        </p:txBody>
      </p:sp>
      <p:sp>
        <p:nvSpPr>
          <p:cNvPr id="11" name="Text 9"/>
          <p:cNvSpPr/>
          <p:nvPr/>
        </p:nvSpPr>
        <p:spPr>
          <a:xfrm>
            <a:off x="960120" y="2889504"/>
            <a:ext cx="4709160" cy="274320"/>
          </a:xfrm>
          <a:prstGeom prst="rect">
            <a:avLst/>
          </a:prstGeom>
          <a:noFill/>
          <a:ln/>
        </p:spPr>
        <p:txBody>
          <a:bodyPr wrap="square" lIns="0" tIns="0" rIns="0" bIns="0" rtlCol="0" anchor="ctr"/>
          <a:lstStyle/>
          <a:p>
            <a:pPr marL="0" indent="0">
              <a:buNone/>
            </a:pPr>
            <a:r>
              <a:rPr lang="en-US" sz="1000" dirty="0">
                <a:solidFill>
                  <a:srgbClr val="6E7C87"/>
                </a:solidFill>
                <a:latin typeface="Consolas" pitchFamily="34" charset="0"/>
                <a:ea typeface="Consolas" pitchFamily="34" charset="-122"/>
                <a:cs typeface="Consolas" pitchFamily="34" charset="-120"/>
              </a:rPr>
              <a:t>This deck</a:t>
            </a:r>
            <a:endParaRPr lang="en-US" sz="1000" dirty="0"/>
          </a:p>
        </p:txBody>
      </p:sp>
      <p:sp>
        <p:nvSpPr>
          <p:cNvPr id="12" name="Shape 10"/>
          <p:cNvSpPr/>
          <p:nvPr/>
        </p:nvSpPr>
        <p:spPr>
          <a:xfrm>
            <a:off x="978408" y="3493008"/>
            <a:ext cx="109728" cy="109728"/>
          </a:xfrm>
          <a:prstGeom prst="rect">
            <a:avLst/>
          </a:prstGeom>
          <a:solidFill>
            <a:srgbClr val="3FD0C9"/>
          </a:solidFill>
          <a:ln/>
        </p:spPr>
        <p:txBody>
          <a:bodyPr/>
          <a:lstStyle/>
          <a:p>
            <a:endParaRPr lang="en-SE"/>
          </a:p>
        </p:txBody>
      </p:sp>
      <p:sp>
        <p:nvSpPr>
          <p:cNvPr id="13" name="Text 11"/>
          <p:cNvSpPr/>
          <p:nvPr/>
        </p:nvSpPr>
        <p:spPr>
          <a:xfrm>
            <a:off x="1252728" y="3310128"/>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Published by the DropCopyPublisher on its own socket, port 5557</a:t>
            </a:r>
            <a:endParaRPr lang="en-US" sz="1200" dirty="0"/>
          </a:p>
        </p:txBody>
      </p:sp>
      <p:sp>
        <p:nvSpPr>
          <p:cNvPr id="14" name="Shape 12"/>
          <p:cNvSpPr/>
          <p:nvPr/>
        </p:nvSpPr>
        <p:spPr>
          <a:xfrm>
            <a:off x="978408" y="4041648"/>
            <a:ext cx="109728" cy="109728"/>
          </a:xfrm>
          <a:prstGeom prst="rect">
            <a:avLst/>
          </a:prstGeom>
          <a:solidFill>
            <a:srgbClr val="3FD0C9"/>
          </a:solidFill>
          <a:ln/>
        </p:spPr>
        <p:txBody>
          <a:bodyPr/>
          <a:lstStyle/>
          <a:p>
            <a:endParaRPr lang="en-SE"/>
          </a:p>
        </p:txBody>
      </p:sp>
      <p:sp>
        <p:nvSpPr>
          <p:cNvPr id="15" name="Text 13"/>
          <p:cNvSpPr/>
          <p:nvPr/>
        </p:nvSpPr>
        <p:spPr>
          <a:xfrm>
            <a:off x="1252728" y="3858768"/>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Carries fills only, with sequence numbers and an in-memory replay buffer</a:t>
            </a:r>
            <a:endParaRPr lang="en-US" sz="1200" dirty="0"/>
          </a:p>
        </p:txBody>
      </p:sp>
      <p:sp>
        <p:nvSpPr>
          <p:cNvPr id="16" name="Shape 14"/>
          <p:cNvSpPr/>
          <p:nvPr/>
        </p:nvSpPr>
        <p:spPr>
          <a:xfrm>
            <a:off x="978408" y="4590288"/>
            <a:ext cx="109728" cy="109728"/>
          </a:xfrm>
          <a:prstGeom prst="rect">
            <a:avLst/>
          </a:prstGeom>
          <a:solidFill>
            <a:srgbClr val="3FD0C9"/>
          </a:solidFill>
          <a:ln/>
        </p:spPr>
        <p:txBody>
          <a:bodyPr/>
          <a:lstStyle/>
          <a:p>
            <a:endParaRPr lang="en-SE"/>
          </a:p>
        </p:txBody>
      </p:sp>
      <p:sp>
        <p:nvSpPr>
          <p:cNvPr id="17" name="Text 15"/>
          <p:cNvSpPr/>
          <p:nvPr/>
        </p:nvSpPr>
        <p:spPr>
          <a:xfrm>
            <a:off x="1252728" y="4407408"/>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No role model — a subscriber filters by topic prefix</a:t>
            </a:r>
            <a:endParaRPr lang="en-US" sz="1200" dirty="0"/>
          </a:p>
        </p:txBody>
      </p:sp>
      <p:sp>
        <p:nvSpPr>
          <p:cNvPr id="18" name="Shape 16"/>
          <p:cNvSpPr/>
          <p:nvPr/>
        </p:nvSpPr>
        <p:spPr>
          <a:xfrm>
            <a:off x="978408" y="5138928"/>
            <a:ext cx="109728" cy="109728"/>
          </a:xfrm>
          <a:prstGeom prst="rect">
            <a:avLst/>
          </a:prstGeom>
          <a:solidFill>
            <a:srgbClr val="3FD0C9"/>
          </a:solidFill>
          <a:ln/>
        </p:spPr>
        <p:txBody>
          <a:bodyPr/>
          <a:lstStyle/>
          <a:p>
            <a:endParaRPr lang="en-SE"/>
          </a:p>
        </p:txBody>
      </p:sp>
      <p:sp>
        <p:nvSpPr>
          <p:cNvPr id="19" name="Text 17"/>
          <p:cNvSpPr/>
          <p:nvPr/>
        </p:nvSpPr>
        <p:spPr>
          <a:xfrm>
            <a:off x="1252728" y="4956048"/>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Use it for a per-participant, sequenced, replayable fill feed</a:t>
            </a:r>
            <a:endParaRPr lang="en-US" sz="1200" dirty="0"/>
          </a:p>
        </p:txBody>
      </p:sp>
      <p:sp>
        <p:nvSpPr>
          <p:cNvPr id="20" name="Shape 18"/>
          <p:cNvSpPr/>
          <p:nvPr/>
        </p:nvSpPr>
        <p:spPr>
          <a:xfrm>
            <a:off x="6217920" y="2286000"/>
            <a:ext cx="5257800" cy="3246120"/>
          </a:xfrm>
          <a:prstGeom prst="roundRect">
            <a:avLst>
              <a:gd name="adj" fmla="val 1690"/>
            </a:avLst>
          </a:prstGeom>
          <a:solidFill>
            <a:srgbClr val="252B31"/>
          </a:solidFill>
          <a:ln w="12700">
            <a:solidFill>
              <a:srgbClr val="3A434B"/>
            </a:solidFill>
            <a:prstDash val="solid"/>
          </a:ln>
        </p:spPr>
        <p:txBody>
          <a:bodyPr/>
          <a:lstStyle/>
          <a:p>
            <a:endParaRPr lang="en-SE"/>
          </a:p>
        </p:txBody>
      </p:sp>
      <p:sp>
        <p:nvSpPr>
          <p:cNvPr id="21" name="Shape 19"/>
          <p:cNvSpPr/>
          <p:nvPr/>
        </p:nvSpPr>
        <p:spPr>
          <a:xfrm>
            <a:off x="6217920" y="2286000"/>
            <a:ext cx="5257800" cy="91440"/>
          </a:xfrm>
          <a:prstGeom prst="rect">
            <a:avLst/>
          </a:prstGeom>
          <a:solidFill>
            <a:srgbClr val="9B8CFF"/>
          </a:solidFill>
          <a:ln/>
        </p:spPr>
        <p:txBody>
          <a:bodyPr/>
          <a:lstStyle/>
          <a:p>
            <a:endParaRPr lang="en-SE"/>
          </a:p>
        </p:txBody>
      </p:sp>
      <p:sp>
        <p:nvSpPr>
          <p:cNvPr id="22" name="Text 20"/>
          <p:cNvSpPr/>
          <p:nvPr/>
        </p:nvSpPr>
        <p:spPr>
          <a:xfrm>
            <a:off x="6492240" y="2514600"/>
            <a:ext cx="4709160" cy="384048"/>
          </a:xfrm>
          <a:prstGeom prst="rect">
            <a:avLst/>
          </a:prstGeom>
          <a:noFill/>
          <a:ln/>
        </p:spPr>
        <p:txBody>
          <a:bodyPr wrap="square" lIns="0" tIns="0" rIns="0" bIns="0" rtlCol="0" anchor="ctr"/>
          <a:lstStyle/>
          <a:p>
            <a:pPr marL="0" indent="0">
              <a:buNone/>
            </a:pPr>
            <a:r>
              <a:rPr lang="en-US" sz="1700" b="1" dirty="0">
                <a:solidFill>
                  <a:srgbClr val="9B8CFF"/>
                </a:solidFill>
                <a:latin typeface="Trebuchet MS" pitchFamily="34" charset="0"/>
                <a:ea typeface="Trebuchet MS" pitchFamily="34" charset="-122"/>
                <a:cs typeface="Trebuchet MS" pitchFamily="34" charset="-120"/>
              </a:rPr>
              <a:t>RALF DROP_COPY channel</a:t>
            </a:r>
            <a:endParaRPr lang="en-US" sz="1700" dirty="0"/>
          </a:p>
        </p:txBody>
      </p:sp>
      <p:sp>
        <p:nvSpPr>
          <p:cNvPr id="23" name="Text 21"/>
          <p:cNvSpPr/>
          <p:nvPr/>
        </p:nvSpPr>
        <p:spPr>
          <a:xfrm>
            <a:off x="6492240" y="2889504"/>
            <a:ext cx="4709160" cy="274320"/>
          </a:xfrm>
          <a:prstGeom prst="rect">
            <a:avLst/>
          </a:prstGeom>
          <a:noFill/>
          <a:ln/>
        </p:spPr>
        <p:txBody>
          <a:bodyPr wrap="square" lIns="0" tIns="0" rIns="0" bIns="0" rtlCol="0" anchor="ctr"/>
          <a:lstStyle/>
          <a:p>
            <a:pPr marL="0" indent="0">
              <a:buNone/>
            </a:pPr>
            <a:r>
              <a:rPr lang="en-US" sz="1000" dirty="0">
                <a:solidFill>
                  <a:srgbClr val="6E7C87"/>
                </a:solidFill>
                <a:latin typeface="Consolas" pitchFamily="34" charset="0"/>
                <a:ea typeface="Consolas" pitchFamily="34" charset="-122"/>
                <a:cs typeface="Consolas" pitchFamily="34" charset="-120"/>
              </a:rPr>
              <a:t>A different mechanism</a:t>
            </a:r>
            <a:endParaRPr lang="en-US" sz="1000" dirty="0"/>
          </a:p>
        </p:txBody>
      </p:sp>
      <p:sp>
        <p:nvSpPr>
          <p:cNvPr id="24" name="Shape 22"/>
          <p:cNvSpPr/>
          <p:nvPr/>
        </p:nvSpPr>
        <p:spPr>
          <a:xfrm>
            <a:off x="6510528" y="3493008"/>
            <a:ext cx="109728" cy="109728"/>
          </a:xfrm>
          <a:prstGeom prst="rect">
            <a:avLst/>
          </a:prstGeom>
          <a:solidFill>
            <a:srgbClr val="9B8CFF"/>
          </a:solidFill>
          <a:ln/>
        </p:spPr>
        <p:txBody>
          <a:bodyPr/>
          <a:lstStyle/>
          <a:p>
            <a:endParaRPr lang="en-SE"/>
          </a:p>
        </p:txBody>
      </p:sp>
      <p:sp>
        <p:nvSpPr>
          <p:cNvPr id="25" name="Text 23"/>
          <p:cNvSpPr/>
          <p:nvPr/>
        </p:nvSpPr>
        <p:spPr>
          <a:xfrm>
            <a:off x="6784848" y="3310128"/>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One of three role-based channels on the RALF text protocol: CLEARING, DROP_COPY, AUDIT</a:t>
            </a:r>
            <a:endParaRPr lang="en-US" sz="1200" dirty="0"/>
          </a:p>
        </p:txBody>
      </p:sp>
      <p:sp>
        <p:nvSpPr>
          <p:cNvPr id="26" name="Shape 24"/>
          <p:cNvSpPr/>
          <p:nvPr/>
        </p:nvSpPr>
        <p:spPr>
          <a:xfrm>
            <a:off x="6510528" y="4041648"/>
            <a:ext cx="109728" cy="109728"/>
          </a:xfrm>
          <a:prstGeom prst="rect">
            <a:avLst/>
          </a:prstGeom>
          <a:solidFill>
            <a:srgbClr val="9B8CFF"/>
          </a:solidFill>
          <a:ln/>
        </p:spPr>
        <p:txBody>
          <a:bodyPr/>
          <a:lstStyle/>
          <a:p>
            <a:endParaRPr lang="en-SE"/>
          </a:p>
        </p:txBody>
      </p:sp>
      <p:sp>
        <p:nvSpPr>
          <p:cNvPr id="27" name="Text 25"/>
          <p:cNvSpPr/>
          <p:nvPr/>
        </p:nvSpPr>
        <p:spPr>
          <a:xfrm>
            <a:off x="6784848" y="3858768"/>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Sourced from the trade broadcast on port 5556 — not from 5557</a:t>
            </a:r>
            <a:endParaRPr lang="en-US" sz="1200" dirty="0"/>
          </a:p>
        </p:txBody>
      </p:sp>
      <p:sp>
        <p:nvSpPr>
          <p:cNvPr id="28" name="Shape 26"/>
          <p:cNvSpPr/>
          <p:nvPr/>
        </p:nvSpPr>
        <p:spPr>
          <a:xfrm>
            <a:off x="6510528" y="4590288"/>
            <a:ext cx="109728" cy="109728"/>
          </a:xfrm>
          <a:prstGeom prst="rect">
            <a:avLst/>
          </a:prstGeom>
          <a:solidFill>
            <a:srgbClr val="9B8CFF"/>
          </a:solidFill>
          <a:ln/>
        </p:spPr>
        <p:txBody>
          <a:bodyPr/>
          <a:lstStyle/>
          <a:p>
            <a:endParaRPr lang="en-SE"/>
          </a:p>
        </p:txBody>
      </p:sp>
      <p:sp>
        <p:nvSpPr>
          <p:cNvPr id="29" name="Text 27"/>
          <p:cNvSpPr/>
          <p:nvPr/>
        </p:nvSpPr>
        <p:spPr>
          <a:xfrm>
            <a:off x="6784848" y="4407408"/>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All three channels carry identical trade content; only the entitlement role differs</a:t>
            </a:r>
            <a:endParaRPr lang="en-US" sz="1200" dirty="0"/>
          </a:p>
        </p:txBody>
      </p:sp>
      <p:sp>
        <p:nvSpPr>
          <p:cNvPr id="30" name="Shape 28"/>
          <p:cNvSpPr/>
          <p:nvPr/>
        </p:nvSpPr>
        <p:spPr>
          <a:xfrm>
            <a:off x="6510528" y="5138928"/>
            <a:ext cx="109728" cy="109728"/>
          </a:xfrm>
          <a:prstGeom prst="rect">
            <a:avLst/>
          </a:prstGeom>
          <a:solidFill>
            <a:srgbClr val="9B8CFF"/>
          </a:solidFill>
          <a:ln/>
        </p:spPr>
        <p:txBody>
          <a:bodyPr/>
          <a:lstStyle/>
          <a:p>
            <a:endParaRPr lang="en-SE"/>
          </a:p>
        </p:txBody>
      </p:sp>
      <p:sp>
        <p:nvSpPr>
          <p:cNvPr id="31" name="Text 29"/>
          <p:cNvSpPr/>
          <p:nvPr/>
        </p:nvSpPr>
        <p:spPr>
          <a:xfrm>
            <a:off x="6784848" y="4956048"/>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Use it when you need role-gated access enforced per connection</a:t>
            </a:r>
            <a:endParaRPr lang="en-US" sz="1200" dirty="0"/>
          </a:p>
        </p:txBody>
      </p:sp>
      <p:sp>
        <p:nvSpPr>
          <p:cNvPr id="32" name="Shape 30"/>
          <p:cNvSpPr/>
          <p:nvPr/>
        </p:nvSpPr>
        <p:spPr>
          <a:xfrm>
            <a:off x="685800" y="5715000"/>
            <a:ext cx="10820095" cy="658368"/>
          </a:xfrm>
          <a:prstGeom prst="roundRect">
            <a:avLst>
              <a:gd name="adj" fmla="val 8333"/>
            </a:avLst>
          </a:prstGeom>
          <a:solidFill>
            <a:srgbClr val="252B31"/>
          </a:solidFill>
          <a:ln w="19050">
            <a:solidFill>
              <a:srgbClr val="E5566B"/>
            </a:solidFill>
            <a:prstDash val="solid"/>
          </a:ln>
        </p:spPr>
        <p:txBody>
          <a:bodyPr/>
          <a:lstStyle/>
          <a:p>
            <a:endParaRPr lang="en-SE"/>
          </a:p>
        </p:txBody>
      </p:sp>
      <p:sp>
        <p:nvSpPr>
          <p:cNvPr id="33" name="Shape 31"/>
          <p:cNvSpPr/>
          <p:nvPr/>
        </p:nvSpPr>
        <p:spPr>
          <a:xfrm>
            <a:off x="923544" y="5861304"/>
            <a:ext cx="365760" cy="365760"/>
          </a:xfrm>
          <a:prstGeom prst="roundRect">
            <a:avLst>
              <a:gd name="adj" fmla="val 125000"/>
            </a:avLst>
          </a:prstGeom>
          <a:solidFill>
            <a:srgbClr val="E5566B"/>
          </a:solidFill>
          <a:ln/>
        </p:spPr>
        <p:txBody>
          <a:bodyPr/>
          <a:lstStyle/>
          <a:p>
            <a:endParaRPr lang="en-SE"/>
          </a:p>
        </p:txBody>
      </p:sp>
      <p:sp>
        <p:nvSpPr>
          <p:cNvPr id="34" name="Text 32"/>
          <p:cNvSpPr/>
          <p:nvPr/>
        </p:nvSpPr>
        <p:spPr>
          <a:xfrm>
            <a:off x="923544" y="5861304"/>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35" name="Text 33"/>
          <p:cNvSpPr/>
          <p:nvPr/>
        </p:nvSpPr>
        <p:spPr>
          <a:xfrm>
            <a:off x="1453896" y="5861304"/>
            <a:ext cx="9814255" cy="365760"/>
          </a:xfrm>
          <a:prstGeom prst="rect">
            <a:avLst/>
          </a:prstGeom>
          <a:noFill/>
          <a:ln/>
        </p:spPr>
        <p:txBody>
          <a:bodyPr wrap="square" lIns="0" tIns="0" rIns="0" bIns="0" rtlCol="0" anchor="ctr"/>
          <a:lstStyle/>
          <a:p>
            <a:pPr marL="0" indent="0">
              <a:lnSpc>
                <a:spcPct val="110000"/>
              </a:lnSpc>
              <a:buNone/>
            </a:pPr>
            <a:r>
              <a:rPr lang="en-US" sz="1350" b="1" dirty="0">
                <a:solidFill>
                  <a:srgbClr val="E5566B"/>
                </a:solidFill>
                <a:latin typeface="Trebuchet MS" pitchFamily="34" charset="0"/>
                <a:ea typeface="Trebuchet MS" pitchFamily="34" charset="-122"/>
                <a:cs typeface="Trebuchet MS" pitchFamily="34" charset="-120"/>
              </a:rPr>
              <a:t>Rule of thumb</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If someone says "drop copy" and means port 5557, they mean this feed. If they mention CLEARING or AUDIT alongside it, they mean RALF's channels.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10454335" y="4572000"/>
            <a:ext cx="237744" cy="237744"/>
          </a:xfrm>
          <a:prstGeom prst="rect">
            <a:avLst/>
          </a:prstGeom>
          <a:solidFill>
            <a:srgbClr val="F0A202"/>
          </a:solidFill>
          <a:ln/>
        </p:spPr>
        <p:txBody>
          <a:bodyPr/>
          <a:lstStyle/>
          <a:p>
            <a:endParaRPr lang="en-SE"/>
          </a:p>
        </p:txBody>
      </p:sp>
      <p:sp>
        <p:nvSpPr>
          <p:cNvPr id="3" name="Shape 1"/>
          <p:cNvSpPr/>
          <p:nvPr/>
        </p:nvSpPr>
        <p:spPr>
          <a:xfrm>
            <a:off x="10838383" y="4572000"/>
            <a:ext cx="237744" cy="237744"/>
          </a:xfrm>
          <a:prstGeom prst="rect">
            <a:avLst/>
          </a:prstGeom>
          <a:solidFill>
            <a:srgbClr val="2E353C"/>
          </a:solidFill>
          <a:ln/>
        </p:spPr>
        <p:txBody>
          <a:bodyPr/>
          <a:lstStyle/>
          <a:p>
            <a:endParaRPr lang="en-SE"/>
          </a:p>
        </p:txBody>
      </p:sp>
      <p:sp>
        <p:nvSpPr>
          <p:cNvPr id="4" name="Shape 2"/>
          <p:cNvSpPr/>
          <p:nvPr/>
        </p:nvSpPr>
        <p:spPr>
          <a:xfrm>
            <a:off x="11222431" y="4572000"/>
            <a:ext cx="237744" cy="237744"/>
          </a:xfrm>
          <a:prstGeom prst="rect">
            <a:avLst/>
          </a:prstGeom>
          <a:solidFill>
            <a:srgbClr val="2E353C"/>
          </a:solidFill>
          <a:ln/>
        </p:spPr>
        <p:txBody>
          <a:bodyPr/>
          <a:lstStyle/>
          <a:p>
            <a:endParaRPr lang="en-SE"/>
          </a:p>
        </p:txBody>
      </p:sp>
      <p:sp>
        <p:nvSpPr>
          <p:cNvPr id="5" name="Shape 3"/>
          <p:cNvSpPr/>
          <p:nvPr/>
        </p:nvSpPr>
        <p:spPr>
          <a:xfrm>
            <a:off x="10454335" y="4956048"/>
            <a:ext cx="237744" cy="237744"/>
          </a:xfrm>
          <a:prstGeom prst="rect">
            <a:avLst/>
          </a:prstGeom>
          <a:solidFill>
            <a:srgbClr val="3FD0C9"/>
          </a:solidFill>
          <a:ln/>
        </p:spPr>
        <p:txBody>
          <a:bodyPr/>
          <a:lstStyle/>
          <a:p>
            <a:endParaRPr lang="en-SE"/>
          </a:p>
        </p:txBody>
      </p:sp>
      <p:sp>
        <p:nvSpPr>
          <p:cNvPr id="6" name="Shape 4"/>
          <p:cNvSpPr/>
          <p:nvPr/>
        </p:nvSpPr>
        <p:spPr>
          <a:xfrm>
            <a:off x="10838383" y="4956048"/>
            <a:ext cx="237744" cy="237744"/>
          </a:xfrm>
          <a:prstGeom prst="rect">
            <a:avLst/>
          </a:prstGeom>
          <a:solidFill>
            <a:srgbClr val="F0A202"/>
          </a:solidFill>
          <a:ln/>
        </p:spPr>
        <p:txBody>
          <a:bodyPr/>
          <a:lstStyle/>
          <a:p>
            <a:endParaRPr lang="en-SE"/>
          </a:p>
        </p:txBody>
      </p:sp>
      <p:sp>
        <p:nvSpPr>
          <p:cNvPr id="7" name="Shape 5"/>
          <p:cNvSpPr/>
          <p:nvPr/>
        </p:nvSpPr>
        <p:spPr>
          <a:xfrm>
            <a:off x="11222431" y="4956048"/>
            <a:ext cx="237744" cy="237744"/>
          </a:xfrm>
          <a:prstGeom prst="rect">
            <a:avLst/>
          </a:prstGeom>
          <a:solidFill>
            <a:srgbClr val="2E353C"/>
          </a:solidFill>
          <a:ln/>
        </p:spPr>
        <p:txBody>
          <a:bodyPr/>
          <a:lstStyle/>
          <a:p>
            <a:endParaRPr lang="en-SE"/>
          </a:p>
        </p:txBody>
      </p:sp>
      <p:sp>
        <p:nvSpPr>
          <p:cNvPr id="8" name="Text 6"/>
          <p:cNvSpPr/>
          <p:nvPr/>
        </p:nvSpPr>
        <p:spPr>
          <a:xfrm>
            <a:off x="685800" y="1417320"/>
            <a:ext cx="2743200" cy="1737360"/>
          </a:xfrm>
          <a:prstGeom prst="rect">
            <a:avLst/>
          </a:prstGeom>
          <a:noFill/>
          <a:ln/>
        </p:spPr>
        <p:txBody>
          <a:bodyPr wrap="square" lIns="0" tIns="0" rIns="0" bIns="0" rtlCol="0" anchor="ctr"/>
          <a:lstStyle/>
          <a:p>
            <a:pPr marL="0" indent="0">
              <a:buNone/>
            </a:pPr>
            <a:r>
              <a:rPr lang="en-US" sz="11000" b="1" dirty="0">
                <a:solidFill>
                  <a:srgbClr val="2E353C"/>
                </a:solidFill>
                <a:latin typeface="Trebuchet MS" pitchFamily="34" charset="0"/>
                <a:ea typeface="Trebuchet MS" pitchFamily="34" charset="-122"/>
                <a:cs typeface="Trebuchet MS" pitchFamily="34" charset="-120"/>
              </a:rPr>
              <a:t>02</a:t>
            </a:r>
            <a:endParaRPr lang="en-US" sz="11000" dirty="0"/>
          </a:p>
        </p:txBody>
      </p:sp>
      <p:sp>
        <p:nvSpPr>
          <p:cNvPr id="9" name="Text 7"/>
          <p:cNvSpPr/>
          <p:nvPr/>
        </p:nvSpPr>
        <p:spPr>
          <a:xfrm>
            <a:off x="2606040" y="1600200"/>
            <a:ext cx="8579815" cy="1371600"/>
          </a:xfrm>
          <a:prstGeom prst="rect">
            <a:avLst/>
          </a:prstGeom>
          <a:noFill/>
          <a:ln/>
        </p:spPr>
        <p:txBody>
          <a:bodyPr wrap="square" lIns="0" tIns="0" rIns="0" bIns="0" rtlCol="0" anchor="ctr"/>
          <a:lstStyle/>
          <a:p>
            <a:pPr marL="0" indent="0">
              <a:buNone/>
            </a:pPr>
            <a:r>
              <a:rPr lang="en-US" sz="4000" b="1" dirty="0">
                <a:solidFill>
                  <a:srgbClr val="ECF1F5"/>
                </a:solidFill>
                <a:latin typeface="Trebuchet MS" pitchFamily="34" charset="0"/>
                <a:ea typeface="Trebuchet MS" pitchFamily="34" charset="-122"/>
                <a:cs typeface="Trebuchet MS" pitchFamily="34" charset="-120"/>
              </a:rPr>
              <a:t>What information does it carry?</a:t>
            </a:r>
            <a:endParaRPr lang="en-US" sz="4000" dirty="0"/>
          </a:p>
        </p:txBody>
      </p:sp>
      <p:sp>
        <p:nvSpPr>
          <p:cNvPr id="10" name="Text 8"/>
          <p:cNvSpPr/>
          <p:nvPr/>
        </p:nvSpPr>
        <p:spPr>
          <a:xfrm>
            <a:off x="2651760" y="3017520"/>
            <a:ext cx="7680960" cy="822960"/>
          </a:xfrm>
          <a:prstGeom prst="rect">
            <a:avLst/>
          </a:prstGeom>
          <a:noFill/>
          <a:ln/>
        </p:spPr>
        <p:txBody>
          <a:bodyPr wrap="square" lIns="0" tIns="0" rIns="0" bIns="0" rtlCol="0" anchor="t"/>
          <a:lstStyle/>
          <a:p>
            <a:pPr marL="0" indent="0">
              <a:lnSpc>
                <a:spcPct val="115000"/>
              </a:lnSpc>
              <a:buNone/>
            </a:pPr>
            <a:r>
              <a:rPr lang="en-US" sz="1500" dirty="0">
                <a:solidFill>
                  <a:srgbClr val="97A4AE"/>
                </a:solidFill>
                <a:latin typeface="Calibri" pitchFamily="34" charset="0"/>
                <a:ea typeface="Calibri" pitchFamily="34" charset="-122"/>
                <a:cs typeface="Calibri" pitchFamily="34" charset="-120"/>
              </a:rPr>
              <a:t>Every drop copy message is a small, flat record of one side of one fill — plus an envelope that makes the stream auditable.</a:t>
            </a:r>
            <a:endParaRPr lang="en-US" sz="1500" dirty="0"/>
          </a:p>
        </p:txBody>
      </p:sp>
      <p:sp>
        <p:nvSpPr>
          <p:cNvPr id="11" name="Shape 9"/>
          <p:cNvSpPr/>
          <p:nvPr/>
        </p:nvSpPr>
        <p:spPr>
          <a:xfrm>
            <a:off x="2651760" y="4142232"/>
            <a:ext cx="128016" cy="128016"/>
          </a:xfrm>
          <a:prstGeom prst="rect">
            <a:avLst/>
          </a:prstGeom>
          <a:solidFill>
            <a:srgbClr val="3FD0C9"/>
          </a:solidFill>
          <a:ln/>
        </p:spPr>
        <p:txBody>
          <a:bodyPr/>
          <a:lstStyle/>
          <a:p>
            <a:endParaRPr lang="en-SE"/>
          </a:p>
        </p:txBody>
      </p:sp>
      <p:sp>
        <p:nvSpPr>
          <p:cNvPr id="12" name="Text 10"/>
          <p:cNvSpPr/>
          <p:nvPr/>
        </p:nvSpPr>
        <p:spPr>
          <a:xfrm>
            <a:off x="2971800" y="4041648"/>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two frames</a:t>
            </a:r>
            <a:endParaRPr lang="en-US" sz="1250" dirty="0"/>
          </a:p>
        </p:txBody>
      </p:sp>
      <p:sp>
        <p:nvSpPr>
          <p:cNvPr id="13" name="Shape 11"/>
          <p:cNvSpPr/>
          <p:nvPr/>
        </p:nvSpPr>
        <p:spPr>
          <a:xfrm>
            <a:off x="2651760" y="4526280"/>
            <a:ext cx="128016" cy="128016"/>
          </a:xfrm>
          <a:prstGeom prst="rect">
            <a:avLst/>
          </a:prstGeom>
          <a:solidFill>
            <a:srgbClr val="3FD0C9"/>
          </a:solidFill>
          <a:ln/>
        </p:spPr>
        <p:txBody>
          <a:bodyPr/>
          <a:lstStyle/>
          <a:p>
            <a:endParaRPr lang="en-SE"/>
          </a:p>
        </p:txBody>
      </p:sp>
      <p:sp>
        <p:nvSpPr>
          <p:cNvPr id="14" name="Text 12"/>
          <p:cNvSpPr/>
          <p:nvPr/>
        </p:nvSpPr>
        <p:spPr>
          <a:xfrm>
            <a:off x="2971800" y="4425696"/>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Envelope fields vs. event fields</a:t>
            </a:r>
            <a:endParaRPr lang="en-US" sz="1250" dirty="0"/>
          </a:p>
        </p:txBody>
      </p:sp>
      <p:sp>
        <p:nvSpPr>
          <p:cNvPr id="15" name="Shape 13"/>
          <p:cNvSpPr/>
          <p:nvPr/>
        </p:nvSpPr>
        <p:spPr>
          <a:xfrm>
            <a:off x="2651760" y="4910328"/>
            <a:ext cx="128016" cy="128016"/>
          </a:xfrm>
          <a:prstGeom prst="rect">
            <a:avLst/>
          </a:prstGeom>
          <a:solidFill>
            <a:srgbClr val="3FD0C9"/>
          </a:solidFill>
          <a:ln/>
        </p:spPr>
        <p:txBody>
          <a:bodyPr/>
          <a:lstStyle/>
          <a:p>
            <a:endParaRPr lang="en-SE"/>
          </a:p>
        </p:txBody>
      </p:sp>
      <p:sp>
        <p:nvSpPr>
          <p:cNvPr id="16" name="Text 14"/>
          <p:cNvSpPr/>
          <p:nvPr/>
        </p:nvSpPr>
        <p:spPr>
          <a:xfrm>
            <a:off x="2971800" y="4809744"/>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What is deliberately absent</a:t>
            </a:r>
            <a:endParaRPr lang="en-US" sz="1250" dirty="0"/>
          </a:p>
        </p:txBody>
      </p:sp>
      <p:sp>
        <p:nvSpPr>
          <p:cNvPr id="17" name="Shape 15"/>
          <p:cNvSpPr/>
          <p:nvPr/>
        </p:nvSpPr>
        <p:spPr>
          <a:xfrm>
            <a:off x="2651760" y="5294376"/>
            <a:ext cx="128016" cy="128016"/>
          </a:xfrm>
          <a:prstGeom prst="rect">
            <a:avLst/>
          </a:prstGeom>
          <a:solidFill>
            <a:srgbClr val="3FD0C9"/>
          </a:solidFill>
          <a:ln/>
        </p:spPr>
        <p:txBody>
          <a:bodyPr/>
          <a:lstStyle/>
          <a:p>
            <a:endParaRPr lang="en-SE"/>
          </a:p>
        </p:txBody>
      </p:sp>
      <p:sp>
        <p:nvSpPr>
          <p:cNvPr id="18" name="Text 16"/>
          <p:cNvSpPr/>
          <p:nvPr/>
        </p:nvSpPr>
        <p:spPr>
          <a:xfrm>
            <a:off x="2971800" y="5193792"/>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Sequence numbers and why they matter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02 · CONTENT</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12</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ANATOMY</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One message, two frames</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A drop copy message is a two-part message: an addressing line, then the data.</a:t>
            </a:r>
            <a:endParaRPr lang="en-US" sz="1450" dirty="0"/>
          </a:p>
        </p:txBody>
      </p:sp>
      <p:sp>
        <p:nvSpPr>
          <p:cNvPr id="8" name="Shape 6"/>
          <p:cNvSpPr/>
          <p:nvPr/>
        </p:nvSpPr>
        <p:spPr>
          <a:xfrm>
            <a:off x="685800" y="2240280"/>
            <a:ext cx="5120640" cy="1417320"/>
          </a:xfrm>
          <a:prstGeom prst="roundRect">
            <a:avLst>
              <a:gd name="adj" fmla="val 3871"/>
            </a:avLst>
          </a:prstGeom>
          <a:solidFill>
            <a:srgbClr val="252B31"/>
          </a:solidFill>
          <a:ln w="12700">
            <a:solidFill>
              <a:srgbClr val="F0A202"/>
            </a:solidFill>
            <a:prstDash val="solid"/>
          </a:ln>
        </p:spPr>
        <p:txBody>
          <a:bodyPr/>
          <a:lstStyle/>
          <a:p>
            <a:endParaRPr lang="en-SE"/>
          </a:p>
        </p:txBody>
      </p:sp>
      <p:sp>
        <p:nvSpPr>
          <p:cNvPr id="9" name="Text 7"/>
          <p:cNvSpPr/>
          <p:nvPr/>
        </p:nvSpPr>
        <p:spPr>
          <a:xfrm>
            <a:off x="960120" y="2377440"/>
            <a:ext cx="4572000" cy="274320"/>
          </a:xfrm>
          <a:prstGeom prst="rect">
            <a:avLst/>
          </a:prstGeom>
          <a:noFill/>
          <a:ln/>
        </p:spPr>
        <p:txBody>
          <a:bodyPr wrap="square" lIns="0" tIns="0" rIns="0" bIns="0" rtlCol="0" anchor="ctr"/>
          <a:lstStyle/>
          <a:p>
            <a:pPr marL="0" indent="0">
              <a:buNone/>
            </a:pPr>
            <a:r>
              <a:rPr lang="en-US" sz="1000" kern="0" spc="180" dirty="0">
                <a:solidFill>
                  <a:srgbClr val="F0A202"/>
                </a:solidFill>
                <a:latin typeface="Calibri" pitchFamily="34" charset="0"/>
                <a:ea typeface="Calibri" pitchFamily="34" charset="-122"/>
                <a:cs typeface="Calibri" pitchFamily="34" charset="-120"/>
              </a:rPr>
              <a:t>FRAME 0 — TOPIC</a:t>
            </a:r>
            <a:endParaRPr lang="en-US" sz="1000" dirty="0"/>
          </a:p>
        </p:txBody>
      </p:sp>
      <p:sp>
        <p:nvSpPr>
          <p:cNvPr id="10" name="Text 8"/>
          <p:cNvSpPr/>
          <p:nvPr/>
        </p:nvSpPr>
        <p:spPr>
          <a:xfrm>
            <a:off x="960120" y="2697480"/>
            <a:ext cx="4572000" cy="384048"/>
          </a:xfrm>
          <a:prstGeom prst="rect">
            <a:avLst/>
          </a:prstGeom>
          <a:noFill/>
          <a:ln/>
        </p:spPr>
        <p:txBody>
          <a:bodyPr wrap="square" lIns="0" tIns="0" rIns="0" bIns="0" rtlCol="0" anchor="ctr"/>
          <a:lstStyle/>
          <a:p>
            <a:pPr marL="0" indent="0">
              <a:buNone/>
            </a:pPr>
            <a:r>
              <a:rPr lang="en-US" sz="1450" dirty="0">
                <a:solidFill>
                  <a:srgbClr val="ECF1F5"/>
                </a:solidFill>
                <a:latin typeface="Consolas" pitchFamily="34" charset="0"/>
                <a:ea typeface="Consolas" pitchFamily="34" charset="-122"/>
                <a:cs typeface="Consolas" pitchFamily="34" charset="-120"/>
              </a:rPr>
              <a:t>drop_copy.event.&lt;gateway_id&gt;</a:t>
            </a:r>
            <a:endParaRPr lang="en-US" sz="1450" dirty="0"/>
          </a:p>
        </p:txBody>
      </p:sp>
      <p:sp>
        <p:nvSpPr>
          <p:cNvPr id="11" name="Text 9"/>
          <p:cNvSpPr/>
          <p:nvPr/>
        </p:nvSpPr>
        <p:spPr>
          <a:xfrm>
            <a:off x="960120" y="3108960"/>
            <a:ext cx="4572000" cy="457200"/>
          </a:xfrm>
          <a:prstGeom prst="rect">
            <a:avLst/>
          </a:prstGeom>
          <a:noFill/>
          <a:ln/>
        </p:spPr>
        <p:txBody>
          <a:bodyPr wrap="square" lIns="0" tIns="0" rIns="0" bIns="0" rtlCol="0" anchor="t"/>
          <a:lstStyle/>
          <a:p>
            <a:pPr marL="0" indent="0">
              <a:buNone/>
            </a:pPr>
            <a:r>
              <a:rPr lang="en-US" sz="1150" dirty="0">
                <a:solidFill>
                  <a:srgbClr val="97A4AE"/>
                </a:solidFill>
                <a:latin typeface="Calibri" pitchFamily="34" charset="0"/>
                <a:ea typeface="Calibri" pitchFamily="34" charset="-122"/>
                <a:cs typeface="Calibri" pitchFamily="34" charset="-120"/>
              </a:rPr>
              <a:t>The address label. Subscribers filter on the start of this string, so it decides who receives the message.</a:t>
            </a:r>
            <a:endParaRPr lang="en-US" sz="1150" dirty="0"/>
          </a:p>
        </p:txBody>
      </p:sp>
      <p:sp>
        <p:nvSpPr>
          <p:cNvPr id="12" name="Shape 10"/>
          <p:cNvSpPr/>
          <p:nvPr/>
        </p:nvSpPr>
        <p:spPr>
          <a:xfrm>
            <a:off x="6172200" y="2240280"/>
            <a:ext cx="5330952" cy="1417320"/>
          </a:xfrm>
          <a:prstGeom prst="roundRect">
            <a:avLst>
              <a:gd name="adj" fmla="val 3871"/>
            </a:avLst>
          </a:prstGeom>
          <a:solidFill>
            <a:srgbClr val="252B31"/>
          </a:solidFill>
          <a:ln w="12700">
            <a:solidFill>
              <a:srgbClr val="3FD0C9"/>
            </a:solidFill>
            <a:prstDash val="solid"/>
          </a:ln>
        </p:spPr>
        <p:txBody>
          <a:bodyPr/>
          <a:lstStyle/>
          <a:p>
            <a:endParaRPr lang="en-SE"/>
          </a:p>
        </p:txBody>
      </p:sp>
      <p:sp>
        <p:nvSpPr>
          <p:cNvPr id="13" name="Text 11"/>
          <p:cNvSpPr/>
          <p:nvPr/>
        </p:nvSpPr>
        <p:spPr>
          <a:xfrm>
            <a:off x="6446520" y="2377440"/>
            <a:ext cx="4572000" cy="274320"/>
          </a:xfrm>
          <a:prstGeom prst="rect">
            <a:avLst/>
          </a:prstGeom>
          <a:noFill/>
          <a:ln/>
        </p:spPr>
        <p:txBody>
          <a:bodyPr wrap="square" lIns="0" tIns="0" rIns="0" bIns="0" rtlCol="0" anchor="ctr"/>
          <a:lstStyle/>
          <a:p>
            <a:pPr marL="0" indent="0">
              <a:buNone/>
            </a:pPr>
            <a:r>
              <a:rPr lang="en-US" sz="1000" kern="0" spc="180" dirty="0">
                <a:solidFill>
                  <a:srgbClr val="3FD0C9"/>
                </a:solidFill>
                <a:latin typeface="Calibri" pitchFamily="34" charset="0"/>
                <a:ea typeface="Calibri" pitchFamily="34" charset="-122"/>
                <a:cs typeface="Calibri" pitchFamily="34" charset="-120"/>
              </a:rPr>
              <a:t>FRAME 1 — PAYLOAD</a:t>
            </a:r>
            <a:endParaRPr lang="en-US" sz="1000" dirty="0"/>
          </a:p>
        </p:txBody>
      </p:sp>
      <p:sp>
        <p:nvSpPr>
          <p:cNvPr id="14" name="Text 12"/>
          <p:cNvSpPr/>
          <p:nvPr/>
        </p:nvSpPr>
        <p:spPr>
          <a:xfrm>
            <a:off x="6446520" y="2697480"/>
            <a:ext cx="4754880" cy="384048"/>
          </a:xfrm>
          <a:prstGeom prst="rect">
            <a:avLst/>
          </a:prstGeom>
          <a:noFill/>
          <a:ln/>
        </p:spPr>
        <p:txBody>
          <a:bodyPr wrap="square" lIns="0" tIns="0" rIns="0" bIns="0" rtlCol="0" anchor="ctr"/>
          <a:lstStyle/>
          <a:p>
            <a:pPr marL="0" indent="0">
              <a:buNone/>
            </a:pPr>
            <a:r>
              <a:rPr lang="en-US" sz="1450" dirty="0">
                <a:solidFill>
                  <a:srgbClr val="ECF1F5"/>
                </a:solidFill>
                <a:latin typeface="Consolas" pitchFamily="34" charset="0"/>
                <a:ea typeface="Consolas" pitchFamily="34" charset="-122"/>
                <a:cs typeface="Consolas" pitchFamily="34" charset="-120"/>
              </a:rPr>
              <a:t>{ "seq": 42, "symbol": "MSFT", ... }</a:t>
            </a:r>
            <a:endParaRPr lang="en-US" sz="1450" dirty="0"/>
          </a:p>
        </p:txBody>
      </p:sp>
      <p:sp>
        <p:nvSpPr>
          <p:cNvPr id="15" name="Text 13"/>
          <p:cNvSpPr/>
          <p:nvPr/>
        </p:nvSpPr>
        <p:spPr>
          <a:xfrm>
            <a:off x="6446520" y="3108960"/>
            <a:ext cx="4800600" cy="502920"/>
          </a:xfrm>
          <a:prstGeom prst="rect">
            <a:avLst/>
          </a:prstGeom>
          <a:noFill/>
          <a:ln/>
        </p:spPr>
        <p:txBody>
          <a:bodyPr wrap="square" lIns="0" tIns="0" rIns="0" bIns="0" rtlCol="0" anchor="t"/>
          <a:lstStyle/>
          <a:p>
            <a:pPr marL="0" indent="0">
              <a:buNone/>
            </a:pPr>
            <a:r>
              <a:rPr lang="en-US" sz="1150" dirty="0">
                <a:solidFill>
                  <a:srgbClr val="97A4AE"/>
                </a:solidFill>
                <a:latin typeface="Calibri" pitchFamily="34" charset="0"/>
                <a:ea typeface="Calibri" pitchFamily="34" charset="-122"/>
                <a:cs typeface="Calibri" pitchFamily="34" charset="-120"/>
              </a:rPr>
              <a:t>A JSON object. Encoded with a fast serializer when available, otherwise the standard one — the bytes on the wire are identical either way.</a:t>
            </a:r>
            <a:endParaRPr lang="en-US" sz="1150" dirty="0"/>
          </a:p>
        </p:txBody>
      </p:sp>
      <p:sp>
        <p:nvSpPr>
          <p:cNvPr id="16" name="Shape 14"/>
          <p:cNvSpPr/>
          <p:nvPr/>
        </p:nvSpPr>
        <p:spPr>
          <a:xfrm>
            <a:off x="685800" y="3931920"/>
            <a:ext cx="10820095" cy="1508760"/>
          </a:xfrm>
          <a:prstGeom prst="roundRect">
            <a:avLst>
              <a:gd name="adj" fmla="val 2424"/>
            </a:avLst>
          </a:prstGeom>
          <a:solidFill>
            <a:srgbClr val="141719"/>
          </a:solidFill>
          <a:ln w="12700">
            <a:solidFill>
              <a:srgbClr val="3A434B"/>
            </a:solidFill>
            <a:prstDash val="solid"/>
          </a:ln>
        </p:spPr>
        <p:txBody>
          <a:bodyPr/>
          <a:lstStyle/>
          <a:p>
            <a:endParaRPr lang="en-SE"/>
          </a:p>
        </p:txBody>
      </p:sp>
      <p:sp>
        <p:nvSpPr>
          <p:cNvPr id="17" name="Text 15"/>
          <p:cNvSpPr/>
          <p:nvPr/>
        </p:nvSpPr>
        <p:spPr>
          <a:xfrm>
            <a:off x="905256" y="4041648"/>
            <a:ext cx="10362895" cy="237744"/>
          </a:xfrm>
          <a:prstGeom prst="rect">
            <a:avLst/>
          </a:prstGeom>
          <a:noFill/>
          <a:ln/>
        </p:spPr>
        <p:txBody>
          <a:bodyPr wrap="square" lIns="0" tIns="0" rIns="0" bIns="0" rtlCol="0" anchor="ctr"/>
          <a:lstStyle/>
          <a:p>
            <a:pPr marL="0" indent="0">
              <a:buNone/>
            </a:pPr>
            <a:r>
              <a:rPr lang="en-US" sz="950" kern="0" spc="160" dirty="0">
                <a:solidFill>
                  <a:srgbClr val="6E7C87"/>
                </a:solidFill>
                <a:latin typeface="Calibri" pitchFamily="34" charset="0"/>
                <a:ea typeface="Calibri" pitchFamily="34" charset="-122"/>
                <a:cs typeface="Calibri" pitchFamily="34" charset="-120"/>
              </a:rPr>
              <a:t>A COMPLETE MESSAGE, AS PUBLISHED</a:t>
            </a:r>
            <a:endParaRPr lang="en-US" sz="950" dirty="0"/>
          </a:p>
        </p:txBody>
      </p:sp>
      <p:sp>
        <p:nvSpPr>
          <p:cNvPr id="18" name="Text 16"/>
          <p:cNvSpPr/>
          <p:nvPr/>
        </p:nvSpPr>
        <p:spPr>
          <a:xfrm>
            <a:off x="905256" y="4334256"/>
            <a:ext cx="10381183" cy="960120"/>
          </a:xfrm>
          <a:prstGeom prst="rect">
            <a:avLst/>
          </a:prstGeom>
          <a:noFill/>
          <a:ln/>
        </p:spPr>
        <p:txBody>
          <a:bodyPr wrap="square" lIns="0" tIns="0" rIns="0" bIns="0" rtlCol="0" anchor="t"/>
          <a:lstStyle/>
          <a:p>
            <a:pPr marL="0" indent="0">
              <a:lnSpc>
                <a:spcPct val="116000"/>
              </a:lnSpc>
              <a:buNone/>
            </a:pPr>
            <a:r>
              <a:rPr lang="en-US" sz="1100" dirty="0">
                <a:solidFill>
                  <a:srgbClr val="F0A202"/>
                </a:solidFill>
                <a:latin typeface="Consolas" pitchFamily="34" charset="0"/>
                <a:ea typeface="Consolas" pitchFamily="34" charset="-122"/>
                <a:cs typeface="Consolas" pitchFamily="34" charset="-120"/>
              </a:rPr>
              <a:t>drop_copy.event.TRADER01</a:t>
            </a:r>
            <a:endParaRPr lang="en-US" sz="1100" dirty="0"/>
          </a:p>
          <a:p>
            <a:pPr marL="0" indent="0">
              <a:lnSpc>
                <a:spcPct val="116000"/>
              </a:lnSpc>
              <a:buNone/>
            </a:pPr>
            <a:r>
              <a:rPr lang="en-US" sz="1100" dirty="0">
                <a:solidFill>
                  <a:srgbClr val="3FD0C9"/>
                </a:solidFill>
                <a:latin typeface="Consolas" pitchFamily="34" charset="0"/>
                <a:ea typeface="Consolas" pitchFamily="34" charset="-122"/>
                <a:cs typeface="Consolas" pitchFamily="34" charset="-120"/>
              </a:rPr>
              <a:t>{"seq":42,"timestamp":1700000000000000000,"gateway_id":"TRADER01","event_type":"order.fill",</a:t>
            </a:r>
            <a:endParaRPr lang="en-US" sz="1100" dirty="0"/>
          </a:p>
          <a:p>
            <a:pPr marL="0" indent="0">
              <a:lnSpc>
                <a:spcPct val="116000"/>
              </a:lnSpc>
              <a:buNone/>
            </a:pPr>
            <a:r>
              <a:rPr lang="en-US" sz="1100" dirty="0">
                <a:solidFill>
                  <a:srgbClr val="3FD0C9"/>
                </a:solidFill>
                <a:latin typeface="Consolas" pitchFamily="34" charset="0"/>
                <a:ea typeface="Consolas" pitchFamily="34" charset="-122"/>
                <a:cs typeface="Consolas" pitchFamily="34" charset="-120"/>
              </a:rPr>
              <a:t> "order_id":"ord-001","symbol":"MSFT","fill_qty":100,"fill_price":420.0,"liquidity_flag":"MAKER"}</a:t>
            </a:r>
            <a:endParaRPr lang="en-US" sz="1100" dirty="0"/>
          </a:p>
        </p:txBody>
      </p:sp>
      <p:sp>
        <p:nvSpPr>
          <p:cNvPr id="19" name="Text 17"/>
          <p:cNvSpPr/>
          <p:nvPr/>
        </p:nvSpPr>
        <p:spPr>
          <a:xfrm>
            <a:off x="685800" y="5623560"/>
            <a:ext cx="10820095" cy="365760"/>
          </a:xfrm>
          <a:prstGeom prst="rect">
            <a:avLst/>
          </a:prstGeom>
          <a:noFill/>
          <a:ln/>
        </p:spPr>
        <p:txBody>
          <a:bodyPr wrap="square" lIns="0" tIns="0" rIns="0" bIns="0" rtlCol="0" anchor="ctr"/>
          <a:lstStyle/>
          <a:p>
            <a:pPr marL="0" indent="0">
              <a:buNone/>
            </a:pPr>
            <a:r>
              <a:rPr lang="en-US" sz="1250" i="1" dirty="0">
                <a:solidFill>
                  <a:srgbClr val="97A4AE"/>
                </a:solidFill>
                <a:latin typeface="Calibri" pitchFamily="34" charset="0"/>
                <a:ea typeface="Calibri" pitchFamily="34" charset="-122"/>
                <a:cs typeface="Calibri" pitchFamily="34" charset="-120"/>
              </a:rPr>
              <a:t>Read it as: message number 42, from gateway TRADER01, order ord-001 traded 100 MSFT at 420.00 as the resting (MAKER) side.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02 · CONTENT</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13</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PAYLOAD FIELDS</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The envelope and the event, in one flat object</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Four envelope fields are always present. The event's own fields are merged in at the same level — there is no nesting.</a:t>
            </a:r>
            <a:endParaRPr lang="en-US" sz="1450" dirty="0"/>
          </a:p>
        </p:txBody>
      </p:sp>
      <p:sp>
        <p:nvSpPr>
          <p:cNvPr id="8" name="Text 6"/>
          <p:cNvSpPr/>
          <p:nvPr/>
        </p:nvSpPr>
        <p:spPr>
          <a:xfrm>
            <a:off x="685800" y="2194560"/>
            <a:ext cx="5120640" cy="274320"/>
          </a:xfrm>
          <a:prstGeom prst="rect">
            <a:avLst/>
          </a:prstGeom>
          <a:noFill/>
          <a:ln/>
        </p:spPr>
        <p:txBody>
          <a:bodyPr wrap="square" lIns="0" tIns="0" rIns="0" bIns="0" rtlCol="0" anchor="ctr"/>
          <a:lstStyle/>
          <a:p>
            <a:pPr marL="0" indent="0">
              <a:buNone/>
            </a:pPr>
            <a:r>
              <a:rPr lang="en-US" sz="1000" kern="0" spc="180" dirty="0">
                <a:solidFill>
                  <a:srgbClr val="F0A202"/>
                </a:solidFill>
                <a:latin typeface="Calibri" pitchFamily="34" charset="0"/>
                <a:ea typeface="Calibri" pitchFamily="34" charset="-122"/>
                <a:cs typeface="Calibri" pitchFamily="34" charset="-120"/>
              </a:rPr>
              <a:t>ENVELOPE — ALWAYS PRESENT</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2514600"/>
          <a:ext cx="5257800" cy="914400"/>
        </p:xfrm>
        <a:graphic>
          <a:graphicData uri="http://schemas.openxmlformats.org/drawingml/2006/table">
            <a:tbl>
              <a:tblPr/>
              <a:tblGrid>
                <a:gridCol w="16002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75488">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Field</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Type</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Meaning</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extLst>
                  <a:ext uri="{0D108BD9-81ED-4DB2-BD59-A6C34878D82A}">
                    <a16:rowId xmlns:a16="http://schemas.microsoft.com/office/drawing/2014/main" val="10000"/>
                  </a:ext>
                </a:extLst>
              </a:tr>
              <a:tr h="475488">
                <a:tc>
                  <a:txBody>
                    <a:bodyPr/>
                    <a:lstStyle/>
                    <a:p>
                      <a:pPr marL="0" indent="0">
                        <a:buNone/>
                      </a:pPr>
                      <a:r>
                        <a:rPr lang="en-US" sz="1100" dirty="0">
                          <a:solidFill>
                            <a:srgbClr val="F0A202"/>
                          </a:solidFill>
                          <a:latin typeface="Consolas" pitchFamily="34" charset="0"/>
                          <a:ea typeface="Consolas" pitchFamily="34" charset="-122"/>
                          <a:cs typeface="Consolas" pitchFamily="34" charset="-120"/>
                        </a:rPr>
                        <a:t>seq</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int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Message number: starts at 1, only ever increases</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1"/>
                  </a:ext>
                </a:extLst>
              </a:tr>
              <a:tr h="475488">
                <a:tc>
                  <a:txBody>
                    <a:bodyPr/>
                    <a:lstStyle/>
                    <a:p>
                      <a:pPr marL="0" indent="0">
                        <a:buNone/>
                      </a:pPr>
                      <a:r>
                        <a:rPr lang="en-US" sz="1100" dirty="0">
                          <a:solidFill>
                            <a:srgbClr val="F0A202"/>
                          </a:solidFill>
                          <a:latin typeface="Consolas" pitchFamily="34" charset="0"/>
                          <a:ea typeface="Consolas" pitchFamily="34" charset="-122"/>
                          <a:cs typeface="Consolas" pitchFamily="34" charset="-120"/>
                        </a:rPr>
                        <a:t>timestamp</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int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Nanosecond timestamp of the event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2"/>
                  </a:ext>
                </a:extLst>
              </a:tr>
              <a:tr h="475488">
                <a:tc>
                  <a:txBody>
                    <a:bodyPr/>
                    <a:lstStyle/>
                    <a:p>
                      <a:pPr marL="0" indent="0">
                        <a:buNone/>
                      </a:pPr>
                      <a:r>
                        <a:rPr lang="en-US" sz="1100" dirty="0">
                          <a:solidFill>
                            <a:srgbClr val="F0A202"/>
                          </a:solidFill>
                          <a:latin typeface="Consolas" pitchFamily="34" charset="0"/>
                          <a:ea typeface="Consolas" pitchFamily="34" charset="-122"/>
                          <a:cs typeface="Consolas" pitchFamily="34" charset="-120"/>
                        </a:rPr>
                        <a:t>gateway_id</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str</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Which gateway submitted the order</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3"/>
                  </a:ext>
                </a:extLst>
              </a:tr>
              <a:tr h="475488">
                <a:tc>
                  <a:txBody>
                    <a:bodyPr/>
                    <a:lstStyle/>
                    <a:p>
                      <a:pPr marL="0" indent="0">
                        <a:buNone/>
                      </a:pPr>
                      <a:r>
                        <a:rPr lang="en-US" sz="1100" dirty="0">
                          <a:solidFill>
                            <a:srgbClr val="F0A202"/>
                          </a:solidFill>
                          <a:latin typeface="Consolas" pitchFamily="34" charset="0"/>
                          <a:ea typeface="Consolas" pitchFamily="34" charset="-122"/>
                          <a:cs typeface="Consolas" pitchFamily="34" charset="-120"/>
                        </a:rPr>
                        <a:t>event_type</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str</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Currently always order.fill</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4"/>
                  </a:ext>
                </a:extLst>
              </a:tr>
            </a:tbl>
          </a:graphicData>
        </a:graphic>
      </p:graphicFrame>
      <p:sp>
        <p:nvSpPr>
          <p:cNvPr id="10" name="Text 7"/>
          <p:cNvSpPr/>
          <p:nvPr/>
        </p:nvSpPr>
        <p:spPr>
          <a:xfrm>
            <a:off x="6217920" y="2194560"/>
            <a:ext cx="5303520" cy="274320"/>
          </a:xfrm>
          <a:prstGeom prst="rect">
            <a:avLst/>
          </a:prstGeom>
          <a:noFill/>
          <a:ln/>
        </p:spPr>
        <p:txBody>
          <a:bodyPr wrap="square" lIns="0" tIns="0" rIns="0" bIns="0" rtlCol="0" anchor="ctr"/>
          <a:lstStyle/>
          <a:p>
            <a:pPr marL="0" indent="0">
              <a:buNone/>
            </a:pPr>
            <a:r>
              <a:rPr lang="en-US" sz="1000" kern="0" spc="180" dirty="0">
                <a:solidFill>
                  <a:srgbClr val="3FD0C9"/>
                </a:solidFill>
                <a:latin typeface="Calibri" pitchFamily="34" charset="0"/>
                <a:ea typeface="Calibri" pitchFamily="34" charset="-122"/>
                <a:cs typeface="Calibri" pitchFamily="34" charset="-120"/>
              </a:rPr>
              <a:t>EVENT FIELDS — MERGED IN AT TOP LEVEL</a:t>
            </a:r>
            <a:endParaRPr lang="en-US" sz="10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217920" y="2514600"/>
          <a:ext cx="5285232" cy="914400"/>
        </p:xfrm>
        <a:graphic>
          <a:graphicData uri="http://schemas.openxmlformats.org/drawingml/2006/table">
            <a:tbl>
              <a:tblPr/>
              <a:tblGrid>
                <a:gridCol w="16916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2633472">
                  <a:extLst>
                    <a:ext uri="{9D8B030D-6E8A-4147-A177-3AD203B41FA5}">
                      <a16:colId xmlns:a16="http://schemas.microsoft.com/office/drawing/2014/main" val="20002"/>
                    </a:ext>
                  </a:extLst>
                </a:gridCol>
              </a:tblGrid>
              <a:tr h="384048">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Field</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Example</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Meaning</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3FD0C9"/>
                          </a:solidFill>
                          <a:latin typeface="Consolas" pitchFamily="34" charset="0"/>
                          <a:ea typeface="Consolas" pitchFamily="34" charset="-122"/>
                          <a:cs typeface="Consolas" pitchFamily="34" charset="-120"/>
                        </a:rPr>
                        <a:t>order_id</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onsolas" pitchFamily="34" charset="0"/>
                          <a:ea typeface="Consolas" pitchFamily="34" charset="-122"/>
                          <a:cs typeface="Consolas" pitchFamily="34" charset="-120"/>
                        </a:rPr>
                        <a:t>ord-001</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The order that was filled</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3FD0C9"/>
                          </a:solidFill>
                          <a:latin typeface="Consolas" pitchFamily="34" charset="0"/>
                          <a:ea typeface="Consolas" pitchFamily="34" charset="-122"/>
                          <a:cs typeface="Consolas" pitchFamily="34" charset="-120"/>
                        </a:rPr>
                        <a:t>symbol</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onsolas" pitchFamily="34" charset="0"/>
                          <a:ea typeface="Consolas" pitchFamily="34" charset="-122"/>
                          <a:cs typeface="Consolas" pitchFamily="34" charset="-120"/>
                        </a:rPr>
                        <a:t>MSFT</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Instrument traded</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3FD0C9"/>
                          </a:solidFill>
                          <a:latin typeface="Consolas" pitchFamily="34" charset="0"/>
                          <a:ea typeface="Consolas" pitchFamily="34" charset="-122"/>
                          <a:cs typeface="Consolas" pitchFamily="34" charset="-120"/>
                        </a:rPr>
                        <a:t>fill_qty</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Quantity of this fill</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3FD0C9"/>
                          </a:solidFill>
                          <a:latin typeface="Consolas" pitchFamily="34" charset="0"/>
                          <a:ea typeface="Consolas" pitchFamily="34" charset="-122"/>
                          <a:cs typeface="Consolas" pitchFamily="34" charset="-120"/>
                        </a:rPr>
                        <a:t>fill_price</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onsolas" pitchFamily="34" charset="0"/>
                          <a:ea typeface="Consolas" pitchFamily="34" charset="-122"/>
                          <a:cs typeface="Consolas" pitchFamily="34" charset="-120"/>
                        </a:rPr>
                        <a:t>420.0</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Display price as a decimal, not raw ticks</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3FD0C9"/>
                          </a:solidFill>
                          <a:latin typeface="Consolas" pitchFamily="34" charset="0"/>
                          <a:ea typeface="Consolas" pitchFamily="34" charset="-122"/>
                          <a:cs typeface="Consolas" pitchFamily="34" charset="-120"/>
                        </a:rPr>
                        <a:t>liquidity_flag</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onsolas" pitchFamily="34" charset="0"/>
                          <a:ea typeface="Consolas" pitchFamily="34" charset="-122"/>
                          <a:cs typeface="Consolas" pitchFamily="34" charset="-120"/>
                        </a:rPr>
                        <a:t>MAKER</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Resting side, or TAKER for the aggressor</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5"/>
                  </a:ext>
                </a:extLst>
              </a:tr>
            </a:tbl>
          </a:graphicData>
        </a:graphic>
      </p:graphicFrame>
      <p:sp>
        <p:nvSpPr>
          <p:cNvPr id="12" name="Shape 8"/>
          <p:cNvSpPr/>
          <p:nvPr/>
        </p:nvSpPr>
        <p:spPr>
          <a:xfrm>
            <a:off x="685800" y="5074920"/>
            <a:ext cx="10820095" cy="960120"/>
          </a:xfrm>
          <a:prstGeom prst="roundRect">
            <a:avLst>
              <a:gd name="adj" fmla="val 5714"/>
            </a:avLst>
          </a:prstGeom>
          <a:solidFill>
            <a:srgbClr val="252B31"/>
          </a:solidFill>
          <a:ln w="19050">
            <a:solidFill>
              <a:srgbClr val="E5566B"/>
            </a:solidFill>
            <a:prstDash val="solid"/>
          </a:ln>
        </p:spPr>
        <p:txBody>
          <a:bodyPr/>
          <a:lstStyle/>
          <a:p>
            <a:endParaRPr lang="en-SE"/>
          </a:p>
        </p:txBody>
      </p:sp>
      <p:sp>
        <p:nvSpPr>
          <p:cNvPr id="13" name="Shape 9"/>
          <p:cNvSpPr/>
          <p:nvPr/>
        </p:nvSpPr>
        <p:spPr>
          <a:xfrm>
            <a:off x="923544" y="5372100"/>
            <a:ext cx="365760" cy="365760"/>
          </a:xfrm>
          <a:prstGeom prst="roundRect">
            <a:avLst>
              <a:gd name="adj" fmla="val 125000"/>
            </a:avLst>
          </a:prstGeom>
          <a:solidFill>
            <a:srgbClr val="E5566B"/>
          </a:solidFill>
          <a:ln/>
        </p:spPr>
        <p:txBody>
          <a:bodyPr/>
          <a:lstStyle/>
          <a:p>
            <a:endParaRPr lang="en-SE"/>
          </a:p>
        </p:txBody>
      </p:sp>
      <p:sp>
        <p:nvSpPr>
          <p:cNvPr id="9" name="Text 10"/>
          <p:cNvSpPr/>
          <p:nvPr/>
        </p:nvSpPr>
        <p:spPr>
          <a:xfrm>
            <a:off x="923544" y="537210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15" name="Text 11"/>
          <p:cNvSpPr/>
          <p:nvPr/>
        </p:nvSpPr>
        <p:spPr>
          <a:xfrm>
            <a:off x="1453896" y="5221224"/>
            <a:ext cx="9814255" cy="667512"/>
          </a:xfrm>
          <a:prstGeom prst="rect">
            <a:avLst/>
          </a:prstGeom>
          <a:noFill/>
          <a:ln/>
        </p:spPr>
        <p:txBody>
          <a:bodyPr wrap="square" lIns="0" tIns="0" rIns="0" bIns="0" rtlCol="0" anchor="ctr"/>
          <a:lstStyle/>
          <a:p>
            <a:pPr marL="0" indent="0">
              <a:lnSpc>
                <a:spcPct val="110000"/>
              </a:lnSpc>
              <a:buNone/>
            </a:pPr>
            <a:r>
              <a:rPr lang="en-US" sz="1350" b="1" dirty="0">
                <a:solidFill>
                  <a:srgbClr val="E5566B"/>
                </a:solidFill>
                <a:latin typeface="Trebuchet MS" pitchFamily="34" charset="0"/>
                <a:ea typeface="Trebuchet MS" pitchFamily="34" charset="-122"/>
                <a:cs typeface="Trebuchet MS" pitchFamily="34" charset="-120"/>
              </a:rPr>
              <a:t>Three fields you might expect, and will not get</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There is no remaining_qty, no side (buy/sell) and no leaves_qty in the published payload. A consumer that needs order state must track it itself from order_id, or get it from the trading session.</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02 · CONTENT</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14</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ONE TRADE, TWO MESSAGES</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Every match produces a drop copy event per counterparty</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This surprises almost every new operator: the message count is twice the trade count.</a:t>
            </a:r>
            <a:endParaRPr lang="en-US" sz="1450" dirty="0"/>
          </a:p>
        </p:txBody>
      </p:sp>
      <p:sp>
        <p:nvSpPr>
          <p:cNvPr id="8" name="Shape 6"/>
          <p:cNvSpPr/>
          <p:nvPr/>
        </p:nvSpPr>
        <p:spPr>
          <a:xfrm>
            <a:off x="4434840" y="2194560"/>
            <a:ext cx="3291840" cy="777240"/>
          </a:xfrm>
          <a:prstGeom prst="roundRect">
            <a:avLst>
              <a:gd name="adj" fmla="val 9412"/>
            </a:avLst>
          </a:prstGeom>
          <a:solidFill>
            <a:srgbClr val="252B31"/>
          </a:solidFill>
          <a:ln w="25400">
            <a:solidFill>
              <a:srgbClr val="F0A202"/>
            </a:solidFill>
            <a:prstDash val="solid"/>
          </a:ln>
        </p:spPr>
        <p:txBody>
          <a:bodyPr/>
          <a:lstStyle/>
          <a:p>
            <a:endParaRPr lang="en-SE"/>
          </a:p>
        </p:txBody>
      </p:sp>
      <p:sp>
        <p:nvSpPr>
          <p:cNvPr id="9" name="Text 7"/>
          <p:cNvSpPr/>
          <p:nvPr/>
        </p:nvSpPr>
        <p:spPr>
          <a:xfrm>
            <a:off x="4526280" y="2194560"/>
            <a:ext cx="3108960" cy="777240"/>
          </a:xfrm>
          <a:prstGeom prst="rect">
            <a:avLst/>
          </a:prstGeom>
          <a:noFill/>
          <a:ln/>
        </p:spPr>
        <p:txBody>
          <a:bodyPr wrap="square" lIns="0" tIns="0" rIns="0" bIns="0" rtlCol="0" anchor="ctr"/>
          <a:lstStyle/>
          <a:p>
            <a:pPr marL="0" indent="0" algn="ctr">
              <a:lnSpc>
                <a:spcPct val="112000"/>
              </a:lnSpc>
              <a:buNone/>
            </a:pPr>
            <a:r>
              <a:rPr lang="en-US" sz="1350" b="1" dirty="0">
                <a:solidFill>
                  <a:srgbClr val="F0A202"/>
                </a:solidFill>
                <a:latin typeface="Trebuchet MS" pitchFamily="34" charset="0"/>
                <a:ea typeface="Trebuchet MS" pitchFamily="34" charset="-122"/>
                <a:cs typeface="Trebuchet MS" pitchFamily="34" charset="-120"/>
              </a:rPr>
              <a:t>One matched trade</a:t>
            </a:r>
            <a:endParaRPr lang="en-US" sz="1350" dirty="0"/>
          </a:p>
          <a:p>
            <a:pPr marL="0" indent="0" algn="ctr">
              <a:lnSpc>
                <a:spcPct val="112000"/>
              </a:lnSpc>
              <a:buNone/>
            </a:pPr>
            <a:r>
              <a:rPr lang="en-US" sz="1000" dirty="0">
                <a:solidFill>
                  <a:srgbClr val="97A4AE"/>
                </a:solidFill>
                <a:latin typeface="Consolas" pitchFamily="34" charset="0"/>
                <a:ea typeface="Consolas" pitchFamily="34" charset="-122"/>
                <a:cs typeface="Consolas" pitchFamily="34" charset="-120"/>
              </a:rPr>
              <a:t>AAPL  100 @ 150.05</a:t>
            </a:r>
            <a:endParaRPr lang="en-US" sz="1350" dirty="0"/>
          </a:p>
        </p:txBody>
      </p:sp>
      <p:sp>
        <p:nvSpPr>
          <p:cNvPr id="10" name="Shape 8"/>
          <p:cNvSpPr/>
          <p:nvPr/>
        </p:nvSpPr>
        <p:spPr>
          <a:xfrm>
            <a:off x="6080760" y="2971800"/>
            <a:ext cx="0" cy="320040"/>
          </a:xfrm>
          <a:prstGeom prst="line">
            <a:avLst/>
          </a:prstGeom>
          <a:noFill/>
          <a:ln w="22225">
            <a:solidFill>
              <a:srgbClr val="6E7C87"/>
            </a:solidFill>
            <a:prstDash val="solid"/>
          </a:ln>
        </p:spPr>
        <p:txBody>
          <a:bodyPr/>
          <a:lstStyle/>
          <a:p>
            <a:endParaRPr lang="en-SE"/>
          </a:p>
        </p:txBody>
      </p:sp>
      <p:sp>
        <p:nvSpPr>
          <p:cNvPr id="11" name="Shape 9"/>
          <p:cNvSpPr/>
          <p:nvPr/>
        </p:nvSpPr>
        <p:spPr>
          <a:xfrm>
            <a:off x="3108960" y="3291840"/>
            <a:ext cx="5943600" cy="0"/>
          </a:xfrm>
          <a:prstGeom prst="line">
            <a:avLst/>
          </a:prstGeom>
          <a:noFill/>
          <a:ln w="22225">
            <a:solidFill>
              <a:srgbClr val="6E7C87"/>
            </a:solidFill>
            <a:prstDash val="solid"/>
          </a:ln>
        </p:spPr>
        <p:txBody>
          <a:bodyPr/>
          <a:lstStyle/>
          <a:p>
            <a:endParaRPr lang="en-SE"/>
          </a:p>
        </p:txBody>
      </p:sp>
      <p:sp>
        <p:nvSpPr>
          <p:cNvPr id="12" name="Shape 10"/>
          <p:cNvSpPr/>
          <p:nvPr/>
        </p:nvSpPr>
        <p:spPr>
          <a:xfrm>
            <a:off x="3108960" y="3291840"/>
            <a:ext cx="0" cy="365760"/>
          </a:xfrm>
          <a:prstGeom prst="line">
            <a:avLst/>
          </a:prstGeom>
          <a:noFill/>
          <a:ln w="22225">
            <a:solidFill>
              <a:srgbClr val="E5566B"/>
            </a:solidFill>
            <a:prstDash val="solid"/>
            <a:tailEnd type="triangle"/>
          </a:ln>
        </p:spPr>
        <p:txBody>
          <a:bodyPr/>
          <a:lstStyle/>
          <a:p>
            <a:endParaRPr lang="en-SE"/>
          </a:p>
        </p:txBody>
      </p:sp>
      <p:sp>
        <p:nvSpPr>
          <p:cNvPr id="13" name="Shape 11"/>
          <p:cNvSpPr/>
          <p:nvPr/>
        </p:nvSpPr>
        <p:spPr>
          <a:xfrm>
            <a:off x="9052560" y="3291840"/>
            <a:ext cx="0" cy="365760"/>
          </a:xfrm>
          <a:prstGeom prst="line">
            <a:avLst/>
          </a:prstGeom>
          <a:noFill/>
          <a:ln w="22225">
            <a:solidFill>
              <a:srgbClr val="3FD0C9"/>
            </a:solidFill>
            <a:prstDash val="solid"/>
            <a:tailEnd type="triangle"/>
          </a:ln>
        </p:spPr>
        <p:txBody>
          <a:bodyPr/>
          <a:lstStyle/>
          <a:p>
            <a:endParaRPr lang="en-SE"/>
          </a:p>
        </p:txBody>
      </p:sp>
      <p:sp>
        <p:nvSpPr>
          <p:cNvPr id="14" name="Shape 12"/>
          <p:cNvSpPr/>
          <p:nvPr/>
        </p:nvSpPr>
        <p:spPr>
          <a:xfrm>
            <a:off x="1737360" y="3657600"/>
            <a:ext cx="2743200" cy="1417320"/>
          </a:xfrm>
          <a:prstGeom prst="roundRect">
            <a:avLst>
              <a:gd name="adj" fmla="val 3871"/>
            </a:avLst>
          </a:prstGeom>
          <a:solidFill>
            <a:srgbClr val="252B31"/>
          </a:solidFill>
          <a:ln w="12700">
            <a:solidFill>
              <a:srgbClr val="E5566B"/>
            </a:solidFill>
            <a:prstDash val="solid"/>
          </a:ln>
        </p:spPr>
        <p:txBody>
          <a:bodyPr/>
          <a:lstStyle/>
          <a:p>
            <a:endParaRPr lang="en-SE"/>
          </a:p>
        </p:txBody>
      </p:sp>
      <p:sp>
        <p:nvSpPr>
          <p:cNvPr id="15" name="Text 13"/>
          <p:cNvSpPr/>
          <p:nvPr/>
        </p:nvSpPr>
        <p:spPr>
          <a:xfrm>
            <a:off x="1965960" y="3794760"/>
            <a:ext cx="2286000" cy="365760"/>
          </a:xfrm>
          <a:prstGeom prst="rect">
            <a:avLst/>
          </a:prstGeom>
          <a:noFill/>
          <a:ln/>
        </p:spPr>
        <p:txBody>
          <a:bodyPr wrap="square" lIns="0" tIns="0" rIns="0" bIns="0" rtlCol="0" anchor="ctr"/>
          <a:lstStyle/>
          <a:p>
            <a:pPr marL="0" indent="0">
              <a:buNone/>
            </a:pPr>
            <a:r>
              <a:rPr lang="en-US" sz="1800" b="1" dirty="0">
                <a:solidFill>
                  <a:srgbClr val="E5566B"/>
                </a:solidFill>
                <a:latin typeface="Trebuchet MS" pitchFamily="34" charset="0"/>
                <a:ea typeface="Trebuchet MS" pitchFamily="34" charset="-122"/>
                <a:cs typeface="Trebuchet MS" pitchFamily="34" charset="-120"/>
              </a:rPr>
              <a:t>TAKER</a:t>
            </a:r>
            <a:endParaRPr lang="en-US" sz="1800" dirty="0"/>
          </a:p>
        </p:txBody>
      </p:sp>
      <p:sp>
        <p:nvSpPr>
          <p:cNvPr id="16" name="Text 14"/>
          <p:cNvSpPr/>
          <p:nvPr/>
        </p:nvSpPr>
        <p:spPr>
          <a:xfrm>
            <a:off x="1965960" y="4187952"/>
            <a:ext cx="2286000" cy="548640"/>
          </a:xfrm>
          <a:prstGeom prst="rect">
            <a:avLst/>
          </a:prstGeom>
          <a:noFill/>
          <a:ln/>
        </p:spPr>
        <p:txBody>
          <a:bodyPr wrap="square" lIns="0" tIns="0" rIns="0" bIns="0" rtlCol="0" anchor="t"/>
          <a:lstStyle/>
          <a:p>
            <a:pPr marL="0" indent="0">
              <a:buNone/>
            </a:pPr>
            <a:r>
              <a:rPr lang="en-US" sz="1150" dirty="0">
                <a:solidFill>
                  <a:srgbClr val="97A4AE"/>
                </a:solidFill>
                <a:latin typeface="Calibri" pitchFamily="34" charset="0"/>
                <a:ea typeface="Calibri" pitchFamily="34" charset="-122"/>
                <a:cs typeface="Calibri" pitchFamily="34" charset="-120"/>
              </a:rPr>
              <a:t>The aggressor — the order that arrived and crossed the book.</a:t>
            </a:r>
            <a:endParaRPr lang="en-US" sz="1150" dirty="0"/>
          </a:p>
        </p:txBody>
      </p:sp>
      <p:sp>
        <p:nvSpPr>
          <p:cNvPr id="17" name="Text 15"/>
          <p:cNvSpPr/>
          <p:nvPr/>
        </p:nvSpPr>
        <p:spPr>
          <a:xfrm>
            <a:off x="1965960" y="4709160"/>
            <a:ext cx="2377440" cy="274320"/>
          </a:xfrm>
          <a:prstGeom prst="rect">
            <a:avLst/>
          </a:prstGeom>
          <a:noFill/>
          <a:ln/>
        </p:spPr>
        <p:txBody>
          <a:bodyPr wrap="square" lIns="0" tIns="0" rIns="0" bIns="0" rtlCol="0" anchor="ctr"/>
          <a:lstStyle/>
          <a:p>
            <a:pPr marL="0" indent="0">
              <a:buNone/>
            </a:pPr>
            <a:r>
              <a:rPr lang="en-US" sz="1000" dirty="0">
                <a:solidFill>
                  <a:srgbClr val="ECF1F5"/>
                </a:solidFill>
                <a:latin typeface="Consolas" pitchFamily="34" charset="0"/>
                <a:ea typeface="Consolas" pitchFamily="34" charset="-122"/>
                <a:cs typeface="Consolas" pitchFamily="34" charset="-120"/>
              </a:rPr>
              <a:t>seq=1  gateway=TRADER01</a:t>
            </a:r>
            <a:endParaRPr lang="en-US" sz="1000" dirty="0"/>
          </a:p>
        </p:txBody>
      </p:sp>
      <p:sp>
        <p:nvSpPr>
          <p:cNvPr id="18" name="Shape 16"/>
          <p:cNvSpPr/>
          <p:nvPr/>
        </p:nvSpPr>
        <p:spPr>
          <a:xfrm>
            <a:off x="7680960" y="3657600"/>
            <a:ext cx="2743200" cy="1417320"/>
          </a:xfrm>
          <a:prstGeom prst="roundRect">
            <a:avLst>
              <a:gd name="adj" fmla="val 3871"/>
            </a:avLst>
          </a:prstGeom>
          <a:solidFill>
            <a:srgbClr val="252B31"/>
          </a:solidFill>
          <a:ln w="12700">
            <a:solidFill>
              <a:srgbClr val="3FD0C9"/>
            </a:solidFill>
            <a:prstDash val="solid"/>
          </a:ln>
        </p:spPr>
        <p:txBody>
          <a:bodyPr/>
          <a:lstStyle/>
          <a:p>
            <a:endParaRPr lang="en-SE"/>
          </a:p>
        </p:txBody>
      </p:sp>
      <p:sp>
        <p:nvSpPr>
          <p:cNvPr id="19" name="Text 17"/>
          <p:cNvSpPr/>
          <p:nvPr/>
        </p:nvSpPr>
        <p:spPr>
          <a:xfrm>
            <a:off x="7909560" y="3794760"/>
            <a:ext cx="2286000" cy="365760"/>
          </a:xfrm>
          <a:prstGeom prst="rect">
            <a:avLst/>
          </a:prstGeom>
          <a:noFill/>
          <a:ln/>
        </p:spPr>
        <p:txBody>
          <a:bodyPr wrap="square" lIns="0" tIns="0" rIns="0" bIns="0" rtlCol="0" anchor="ctr"/>
          <a:lstStyle/>
          <a:p>
            <a:pPr marL="0" indent="0">
              <a:buNone/>
            </a:pPr>
            <a:r>
              <a:rPr lang="en-US" sz="1800" b="1" dirty="0">
                <a:solidFill>
                  <a:srgbClr val="3FD0C9"/>
                </a:solidFill>
                <a:latin typeface="Trebuchet MS" pitchFamily="34" charset="0"/>
                <a:ea typeface="Trebuchet MS" pitchFamily="34" charset="-122"/>
                <a:cs typeface="Trebuchet MS" pitchFamily="34" charset="-120"/>
              </a:rPr>
              <a:t>MAKER</a:t>
            </a:r>
            <a:endParaRPr lang="en-US" sz="1800" dirty="0"/>
          </a:p>
        </p:txBody>
      </p:sp>
      <p:sp>
        <p:nvSpPr>
          <p:cNvPr id="20" name="Text 18"/>
          <p:cNvSpPr/>
          <p:nvPr/>
        </p:nvSpPr>
        <p:spPr>
          <a:xfrm>
            <a:off x="7909560" y="4187952"/>
            <a:ext cx="2286000" cy="548640"/>
          </a:xfrm>
          <a:prstGeom prst="rect">
            <a:avLst/>
          </a:prstGeom>
          <a:noFill/>
          <a:ln/>
        </p:spPr>
        <p:txBody>
          <a:bodyPr wrap="square" lIns="0" tIns="0" rIns="0" bIns="0" rtlCol="0" anchor="t"/>
          <a:lstStyle/>
          <a:p>
            <a:pPr marL="0" indent="0">
              <a:buNone/>
            </a:pPr>
            <a:r>
              <a:rPr lang="en-US" sz="1150" dirty="0">
                <a:solidFill>
                  <a:srgbClr val="97A4AE"/>
                </a:solidFill>
                <a:latin typeface="Calibri" pitchFamily="34" charset="0"/>
                <a:ea typeface="Calibri" pitchFamily="34" charset="-122"/>
                <a:cs typeface="Calibri" pitchFamily="34" charset="-120"/>
              </a:rPr>
              <a:t>The resting side — the order that was already sitting in the book.</a:t>
            </a:r>
            <a:endParaRPr lang="en-US" sz="1150" dirty="0"/>
          </a:p>
        </p:txBody>
      </p:sp>
      <p:sp>
        <p:nvSpPr>
          <p:cNvPr id="21" name="Text 19"/>
          <p:cNvSpPr/>
          <p:nvPr/>
        </p:nvSpPr>
        <p:spPr>
          <a:xfrm>
            <a:off x="7909560" y="4709160"/>
            <a:ext cx="2377440" cy="274320"/>
          </a:xfrm>
          <a:prstGeom prst="rect">
            <a:avLst/>
          </a:prstGeom>
          <a:noFill/>
          <a:ln/>
        </p:spPr>
        <p:txBody>
          <a:bodyPr wrap="square" lIns="0" tIns="0" rIns="0" bIns="0" rtlCol="0" anchor="ctr"/>
          <a:lstStyle/>
          <a:p>
            <a:pPr marL="0" indent="0">
              <a:buNone/>
            </a:pPr>
            <a:r>
              <a:rPr lang="en-US" sz="1000" dirty="0">
                <a:solidFill>
                  <a:srgbClr val="ECF1F5"/>
                </a:solidFill>
                <a:latin typeface="Consolas" pitchFamily="34" charset="0"/>
                <a:ea typeface="Consolas" pitchFamily="34" charset="-122"/>
                <a:cs typeface="Consolas" pitchFamily="34" charset="-120"/>
              </a:rPr>
              <a:t>seq=2  gateway=TRADER02</a:t>
            </a:r>
            <a:endParaRPr lang="en-US" sz="1000" dirty="0"/>
          </a:p>
        </p:txBody>
      </p:sp>
      <p:sp>
        <p:nvSpPr>
          <p:cNvPr id="22" name="Shape 20"/>
          <p:cNvSpPr/>
          <p:nvPr/>
        </p:nvSpPr>
        <p:spPr>
          <a:xfrm>
            <a:off x="4709160" y="3657600"/>
            <a:ext cx="2743200" cy="1417320"/>
          </a:xfrm>
          <a:prstGeom prst="roundRect">
            <a:avLst>
              <a:gd name="adj" fmla="val 3871"/>
            </a:avLst>
          </a:prstGeom>
          <a:solidFill>
            <a:srgbClr val="252B31"/>
          </a:solidFill>
          <a:ln w="12700">
            <a:solidFill>
              <a:srgbClr val="3A434B"/>
            </a:solidFill>
            <a:prstDash val="solid"/>
          </a:ln>
        </p:spPr>
        <p:txBody>
          <a:bodyPr/>
          <a:lstStyle/>
          <a:p>
            <a:endParaRPr lang="en-SE"/>
          </a:p>
        </p:txBody>
      </p:sp>
      <p:sp>
        <p:nvSpPr>
          <p:cNvPr id="23" name="Text 21"/>
          <p:cNvSpPr/>
          <p:nvPr/>
        </p:nvSpPr>
        <p:spPr>
          <a:xfrm>
            <a:off x="4965192" y="3913632"/>
            <a:ext cx="2231136" cy="310896"/>
          </a:xfrm>
          <a:prstGeom prst="rect">
            <a:avLst/>
          </a:prstGeom>
          <a:noFill/>
          <a:ln/>
        </p:spPr>
        <p:txBody>
          <a:bodyPr wrap="square" lIns="0" tIns="0" rIns="0" bIns="0" rtlCol="0" anchor="t"/>
          <a:lstStyle/>
          <a:p>
            <a:pPr marL="0" indent="0">
              <a:buNone/>
            </a:pPr>
            <a:r>
              <a:rPr lang="en-US" sz="1400" b="1" dirty="0">
                <a:solidFill>
                  <a:srgbClr val="F0A202"/>
                </a:solidFill>
                <a:latin typeface="Trebuchet MS" pitchFamily="34" charset="0"/>
                <a:ea typeface="Trebuchet MS" pitchFamily="34" charset="-122"/>
                <a:cs typeface="Trebuchet MS" pitchFamily="34" charset="-120"/>
              </a:rPr>
              <a:t>Why it matters</a:t>
            </a:r>
            <a:endParaRPr lang="en-US" sz="1400" dirty="0"/>
          </a:p>
        </p:txBody>
      </p:sp>
      <p:sp>
        <p:nvSpPr>
          <p:cNvPr id="24" name="Text 22"/>
          <p:cNvSpPr/>
          <p:nvPr/>
        </p:nvSpPr>
        <p:spPr>
          <a:xfrm>
            <a:off x="4965192" y="4297680"/>
            <a:ext cx="2231136" cy="61264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Sum fill_qty naively across the feed and you will double-count volume. Each event belongs to one participant, and each participant only cares about its own.</a:t>
            </a:r>
            <a:endParaRPr lang="en-US" sz="1250" dirty="0"/>
          </a:p>
        </p:txBody>
      </p:sp>
      <p:sp>
        <p:nvSpPr>
          <p:cNvPr id="25" name="Text 23"/>
          <p:cNvSpPr/>
          <p:nvPr/>
        </p:nvSpPr>
        <p:spPr>
          <a:xfrm>
            <a:off x="685800" y="5394960"/>
            <a:ext cx="10820095" cy="365760"/>
          </a:xfrm>
          <a:prstGeom prst="rect">
            <a:avLst/>
          </a:prstGeom>
          <a:noFill/>
          <a:ln/>
        </p:spPr>
        <p:txBody>
          <a:bodyPr wrap="square" lIns="0" tIns="0" rIns="0" bIns="0" rtlCol="0" anchor="ctr"/>
          <a:lstStyle/>
          <a:p>
            <a:pPr marL="0" indent="0" algn="ctr">
              <a:buNone/>
            </a:pPr>
            <a:r>
              <a:rPr lang="en-US" sz="1250" dirty="0">
                <a:solidFill>
                  <a:srgbClr val="6E7C87"/>
                </a:solidFill>
                <a:latin typeface="Calibri" pitchFamily="34" charset="0"/>
                <a:ea typeface="Calibri" pitchFamily="34" charset="-122"/>
                <a:cs typeface="Calibri" pitchFamily="34" charset="-120"/>
              </a:rPr>
              <a:t>The liquidity_flag is derived from which side was the aggressor — it is not something a trader sets.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02 · CONTENT</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15</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SEQUENCE NUMBERS</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The single field that makes the feed auditable</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seq is a process-wide counter: it starts at 1, increases by exactly 1 per event, and never resets while the process lives.</a:t>
            </a:r>
            <a:endParaRPr lang="en-US" sz="1450" dirty="0"/>
          </a:p>
        </p:txBody>
      </p:sp>
      <p:sp>
        <p:nvSpPr>
          <p:cNvPr id="8" name="Shape 6"/>
          <p:cNvSpPr/>
          <p:nvPr/>
        </p:nvSpPr>
        <p:spPr>
          <a:xfrm>
            <a:off x="1234440" y="2286000"/>
            <a:ext cx="1005840" cy="777240"/>
          </a:xfrm>
          <a:prstGeom prst="roundRect">
            <a:avLst>
              <a:gd name="adj" fmla="val 9412"/>
            </a:avLst>
          </a:prstGeom>
          <a:solidFill>
            <a:srgbClr val="252B31"/>
          </a:solidFill>
          <a:ln w="12700">
            <a:solidFill>
              <a:srgbClr val="3A434B"/>
            </a:solidFill>
            <a:prstDash val="solid"/>
          </a:ln>
        </p:spPr>
        <p:txBody>
          <a:bodyPr/>
          <a:lstStyle/>
          <a:p>
            <a:endParaRPr lang="en-SE"/>
          </a:p>
        </p:txBody>
      </p:sp>
      <p:sp>
        <p:nvSpPr>
          <p:cNvPr id="9" name="Text 7"/>
          <p:cNvSpPr/>
          <p:nvPr/>
        </p:nvSpPr>
        <p:spPr>
          <a:xfrm>
            <a:off x="1234440" y="2286000"/>
            <a:ext cx="1005840" cy="777240"/>
          </a:xfrm>
          <a:prstGeom prst="rect">
            <a:avLst/>
          </a:prstGeom>
          <a:noFill/>
          <a:ln/>
        </p:spPr>
        <p:txBody>
          <a:bodyPr wrap="square" lIns="0" tIns="0" rIns="0" bIns="0" rtlCol="0" anchor="ctr"/>
          <a:lstStyle/>
          <a:p>
            <a:pPr marL="0" indent="0" algn="ctr">
              <a:buNone/>
            </a:pPr>
            <a:r>
              <a:rPr lang="en-US" sz="1700" b="1" dirty="0">
                <a:solidFill>
                  <a:srgbClr val="ECF1F5"/>
                </a:solidFill>
                <a:latin typeface="Consolas" pitchFamily="34" charset="0"/>
                <a:ea typeface="Consolas" pitchFamily="34" charset="-122"/>
                <a:cs typeface="Consolas" pitchFamily="34" charset="-120"/>
              </a:rPr>
              <a:t>#1</a:t>
            </a:r>
            <a:endParaRPr lang="en-US" sz="1700" dirty="0"/>
          </a:p>
        </p:txBody>
      </p:sp>
      <p:sp>
        <p:nvSpPr>
          <p:cNvPr id="10" name="Shape 8"/>
          <p:cNvSpPr/>
          <p:nvPr/>
        </p:nvSpPr>
        <p:spPr>
          <a:xfrm>
            <a:off x="2468880" y="2286000"/>
            <a:ext cx="1005840" cy="777240"/>
          </a:xfrm>
          <a:prstGeom prst="roundRect">
            <a:avLst>
              <a:gd name="adj" fmla="val 9412"/>
            </a:avLst>
          </a:prstGeom>
          <a:solidFill>
            <a:srgbClr val="252B31"/>
          </a:solidFill>
          <a:ln w="12700">
            <a:solidFill>
              <a:srgbClr val="3A434B"/>
            </a:solidFill>
            <a:prstDash val="solid"/>
          </a:ln>
        </p:spPr>
        <p:txBody>
          <a:bodyPr/>
          <a:lstStyle/>
          <a:p>
            <a:endParaRPr lang="en-SE"/>
          </a:p>
        </p:txBody>
      </p:sp>
      <p:sp>
        <p:nvSpPr>
          <p:cNvPr id="11" name="Text 9"/>
          <p:cNvSpPr/>
          <p:nvPr/>
        </p:nvSpPr>
        <p:spPr>
          <a:xfrm>
            <a:off x="2468880" y="2286000"/>
            <a:ext cx="1005840" cy="777240"/>
          </a:xfrm>
          <a:prstGeom prst="rect">
            <a:avLst/>
          </a:prstGeom>
          <a:noFill/>
          <a:ln/>
        </p:spPr>
        <p:txBody>
          <a:bodyPr wrap="square" lIns="0" tIns="0" rIns="0" bIns="0" rtlCol="0" anchor="ctr"/>
          <a:lstStyle/>
          <a:p>
            <a:pPr marL="0" indent="0" algn="ctr">
              <a:buNone/>
            </a:pPr>
            <a:r>
              <a:rPr lang="en-US" sz="1700" b="1" dirty="0">
                <a:solidFill>
                  <a:srgbClr val="ECF1F5"/>
                </a:solidFill>
                <a:latin typeface="Consolas" pitchFamily="34" charset="0"/>
                <a:ea typeface="Consolas" pitchFamily="34" charset="-122"/>
                <a:cs typeface="Consolas" pitchFamily="34" charset="-120"/>
              </a:rPr>
              <a:t>#2</a:t>
            </a:r>
            <a:endParaRPr lang="en-US" sz="1700" dirty="0"/>
          </a:p>
        </p:txBody>
      </p:sp>
      <p:sp>
        <p:nvSpPr>
          <p:cNvPr id="12" name="Shape 10"/>
          <p:cNvSpPr/>
          <p:nvPr/>
        </p:nvSpPr>
        <p:spPr>
          <a:xfrm>
            <a:off x="3703320" y="2286000"/>
            <a:ext cx="1005840" cy="777240"/>
          </a:xfrm>
          <a:prstGeom prst="roundRect">
            <a:avLst>
              <a:gd name="adj" fmla="val 9412"/>
            </a:avLst>
          </a:prstGeom>
          <a:solidFill>
            <a:srgbClr val="252B31"/>
          </a:solidFill>
          <a:ln w="12700">
            <a:solidFill>
              <a:srgbClr val="3A434B"/>
            </a:solidFill>
            <a:prstDash val="solid"/>
          </a:ln>
        </p:spPr>
        <p:txBody>
          <a:bodyPr/>
          <a:lstStyle/>
          <a:p>
            <a:endParaRPr lang="en-SE"/>
          </a:p>
        </p:txBody>
      </p:sp>
      <p:sp>
        <p:nvSpPr>
          <p:cNvPr id="13" name="Text 11"/>
          <p:cNvSpPr/>
          <p:nvPr/>
        </p:nvSpPr>
        <p:spPr>
          <a:xfrm>
            <a:off x="3703320" y="2286000"/>
            <a:ext cx="1005840" cy="777240"/>
          </a:xfrm>
          <a:prstGeom prst="rect">
            <a:avLst/>
          </a:prstGeom>
          <a:noFill/>
          <a:ln/>
        </p:spPr>
        <p:txBody>
          <a:bodyPr wrap="square" lIns="0" tIns="0" rIns="0" bIns="0" rtlCol="0" anchor="ctr"/>
          <a:lstStyle/>
          <a:p>
            <a:pPr marL="0" indent="0" algn="ctr">
              <a:buNone/>
            </a:pPr>
            <a:r>
              <a:rPr lang="en-US" sz="1700" b="1" dirty="0">
                <a:solidFill>
                  <a:srgbClr val="ECF1F5"/>
                </a:solidFill>
                <a:latin typeface="Consolas" pitchFamily="34" charset="0"/>
                <a:ea typeface="Consolas" pitchFamily="34" charset="-122"/>
                <a:cs typeface="Consolas" pitchFamily="34" charset="-120"/>
              </a:rPr>
              <a:t>#3</a:t>
            </a:r>
            <a:endParaRPr lang="en-US" sz="1700" dirty="0"/>
          </a:p>
        </p:txBody>
      </p:sp>
      <p:sp>
        <p:nvSpPr>
          <p:cNvPr id="14" name="Shape 12"/>
          <p:cNvSpPr/>
          <p:nvPr/>
        </p:nvSpPr>
        <p:spPr>
          <a:xfrm>
            <a:off x="4937760" y="2286000"/>
            <a:ext cx="1005840" cy="777240"/>
          </a:xfrm>
          <a:prstGeom prst="roundRect">
            <a:avLst>
              <a:gd name="adj" fmla="val 9412"/>
            </a:avLst>
          </a:prstGeom>
          <a:solidFill>
            <a:srgbClr val="141719"/>
          </a:solidFill>
          <a:ln w="25400">
            <a:solidFill>
              <a:srgbClr val="E5566B"/>
            </a:solidFill>
            <a:prstDash val="dash"/>
          </a:ln>
        </p:spPr>
        <p:txBody>
          <a:bodyPr/>
          <a:lstStyle/>
          <a:p>
            <a:endParaRPr lang="en-SE"/>
          </a:p>
        </p:txBody>
      </p:sp>
      <p:sp>
        <p:nvSpPr>
          <p:cNvPr id="15" name="Text 13"/>
          <p:cNvSpPr/>
          <p:nvPr/>
        </p:nvSpPr>
        <p:spPr>
          <a:xfrm>
            <a:off x="4937760" y="2286000"/>
            <a:ext cx="1005840" cy="777240"/>
          </a:xfrm>
          <a:prstGeom prst="rect">
            <a:avLst/>
          </a:prstGeom>
          <a:noFill/>
          <a:ln/>
        </p:spPr>
        <p:txBody>
          <a:bodyPr wrap="square" lIns="0" tIns="0" rIns="0" bIns="0" rtlCol="0" anchor="ctr"/>
          <a:lstStyle/>
          <a:p>
            <a:pPr marL="0" indent="0" algn="ctr">
              <a:buNone/>
            </a:pPr>
            <a:r>
              <a:rPr lang="en-US" sz="1700" b="1" dirty="0">
                <a:solidFill>
                  <a:srgbClr val="E5566B"/>
                </a:solidFill>
                <a:latin typeface="Consolas" pitchFamily="34" charset="0"/>
                <a:ea typeface="Consolas" pitchFamily="34" charset="-122"/>
                <a:cs typeface="Consolas" pitchFamily="34" charset="-120"/>
              </a:rPr>
              <a:t>#?</a:t>
            </a:r>
            <a:endParaRPr lang="en-US" sz="1700" dirty="0"/>
          </a:p>
        </p:txBody>
      </p:sp>
      <p:sp>
        <p:nvSpPr>
          <p:cNvPr id="16" name="Shape 14"/>
          <p:cNvSpPr/>
          <p:nvPr/>
        </p:nvSpPr>
        <p:spPr>
          <a:xfrm>
            <a:off x="6172200" y="2286000"/>
            <a:ext cx="1005840" cy="777240"/>
          </a:xfrm>
          <a:prstGeom prst="roundRect">
            <a:avLst>
              <a:gd name="adj" fmla="val 9412"/>
            </a:avLst>
          </a:prstGeom>
          <a:solidFill>
            <a:srgbClr val="252B31"/>
          </a:solidFill>
          <a:ln w="12700">
            <a:solidFill>
              <a:srgbClr val="3A434B"/>
            </a:solidFill>
            <a:prstDash val="solid"/>
          </a:ln>
        </p:spPr>
        <p:txBody>
          <a:bodyPr/>
          <a:lstStyle/>
          <a:p>
            <a:endParaRPr lang="en-SE"/>
          </a:p>
        </p:txBody>
      </p:sp>
      <p:sp>
        <p:nvSpPr>
          <p:cNvPr id="17" name="Text 15"/>
          <p:cNvSpPr/>
          <p:nvPr/>
        </p:nvSpPr>
        <p:spPr>
          <a:xfrm>
            <a:off x="6172200" y="2286000"/>
            <a:ext cx="1005840" cy="777240"/>
          </a:xfrm>
          <a:prstGeom prst="rect">
            <a:avLst/>
          </a:prstGeom>
          <a:noFill/>
          <a:ln/>
        </p:spPr>
        <p:txBody>
          <a:bodyPr wrap="square" lIns="0" tIns="0" rIns="0" bIns="0" rtlCol="0" anchor="ctr"/>
          <a:lstStyle/>
          <a:p>
            <a:pPr marL="0" indent="0" algn="ctr">
              <a:buNone/>
            </a:pPr>
            <a:r>
              <a:rPr lang="en-US" sz="1700" b="1" dirty="0">
                <a:solidFill>
                  <a:srgbClr val="ECF1F5"/>
                </a:solidFill>
                <a:latin typeface="Consolas" pitchFamily="34" charset="0"/>
                <a:ea typeface="Consolas" pitchFamily="34" charset="-122"/>
                <a:cs typeface="Consolas" pitchFamily="34" charset="-120"/>
              </a:rPr>
              <a:t>#5</a:t>
            </a:r>
            <a:endParaRPr lang="en-US" sz="1700" dirty="0"/>
          </a:p>
        </p:txBody>
      </p:sp>
      <p:sp>
        <p:nvSpPr>
          <p:cNvPr id="18" name="Shape 16"/>
          <p:cNvSpPr/>
          <p:nvPr/>
        </p:nvSpPr>
        <p:spPr>
          <a:xfrm>
            <a:off x="7406640" y="2286000"/>
            <a:ext cx="1005840" cy="777240"/>
          </a:xfrm>
          <a:prstGeom prst="roundRect">
            <a:avLst>
              <a:gd name="adj" fmla="val 9412"/>
            </a:avLst>
          </a:prstGeom>
          <a:solidFill>
            <a:srgbClr val="252B31"/>
          </a:solidFill>
          <a:ln w="12700">
            <a:solidFill>
              <a:srgbClr val="3A434B"/>
            </a:solidFill>
            <a:prstDash val="solid"/>
          </a:ln>
        </p:spPr>
        <p:txBody>
          <a:bodyPr/>
          <a:lstStyle/>
          <a:p>
            <a:endParaRPr lang="en-SE"/>
          </a:p>
        </p:txBody>
      </p:sp>
      <p:sp>
        <p:nvSpPr>
          <p:cNvPr id="19" name="Text 17"/>
          <p:cNvSpPr/>
          <p:nvPr/>
        </p:nvSpPr>
        <p:spPr>
          <a:xfrm>
            <a:off x="7406640" y="2286000"/>
            <a:ext cx="1005840" cy="777240"/>
          </a:xfrm>
          <a:prstGeom prst="rect">
            <a:avLst/>
          </a:prstGeom>
          <a:noFill/>
          <a:ln/>
        </p:spPr>
        <p:txBody>
          <a:bodyPr wrap="square" lIns="0" tIns="0" rIns="0" bIns="0" rtlCol="0" anchor="ctr"/>
          <a:lstStyle/>
          <a:p>
            <a:pPr marL="0" indent="0" algn="ctr">
              <a:buNone/>
            </a:pPr>
            <a:r>
              <a:rPr lang="en-US" sz="1700" b="1" dirty="0">
                <a:solidFill>
                  <a:srgbClr val="ECF1F5"/>
                </a:solidFill>
                <a:latin typeface="Consolas" pitchFamily="34" charset="0"/>
                <a:ea typeface="Consolas" pitchFamily="34" charset="-122"/>
                <a:cs typeface="Consolas" pitchFamily="34" charset="-120"/>
              </a:rPr>
              <a:t>#6</a:t>
            </a:r>
            <a:endParaRPr lang="en-US" sz="1700" dirty="0"/>
          </a:p>
        </p:txBody>
      </p:sp>
      <p:sp>
        <p:nvSpPr>
          <p:cNvPr id="20" name="Text 18"/>
          <p:cNvSpPr/>
          <p:nvPr/>
        </p:nvSpPr>
        <p:spPr>
          <a:xfrm>
            <a:off x="1234440" y="3154680"/>
            <a:ext cx="7680960" cy="320040"/>
          </a:xfrm>
          <a:prstGeom prst="rect">
            <a:avLst/>
          </a:prstGeom>
          <a:noFill/>
          <a:ln/>
        </p:spPr>
        <p:txBody>
          <a:bodyPr wrap="square" lIns="0" tIns="0" rIns="0" bIns="0" rtlCol="0" anchor="ctr"/>
          <a:lstStyle/>
          <a:p>
            <a:pPr marL="0" indent="0">
              <a:buNone/>
            </a:pPr>
            <a:r>
              <a:rPr lang="en-US" sz="1250" dirty="0">
                <a:solidFill>
                  <a:srgbClr val="E5566B"/>
                </a:solidFill>
                <a:latin typeface="Calibri" pitchFamily="34" charset="0"/>
                <a:ea typeface="Calibri" pitchFamily="34" charset="-122"/>
                <a:cs typeface="Calibri" pitchFamily="34" charset="-120"/>
              </a:rPr>
              <a:t>seq 4 never arrived → the consumer knows, immediately and for certain, that it is missing a fill.</a:t>
            </a:r>
            <a:endParaRPr lang="en-US" sz="1250" dirty="0"/>
          </a:p>
        </p:txBody>
      </p:sp>
      <p:sp>
        <p:nvSpPr>
          <p:cNvPr id="21" name="Shape 19"/>
          <p:cNvSpPr/>
          <p:nvPr/>
        </p:nvSpPr>
        <p:spPr>
          <a:xfrm>
            <a:off x="685800" y="3703320"/>
            <a:ext cx="3423818" cy="1554480"/>
          </a:xfrm>
          <a:prstGeom prst="roundRect">
            <a:avLst>
              <a:gd name="adj" fmla="val 3529"/>
            </a:avLst>
          </a:prstGeom>
          <a:solidFill>
            <a:srgbClr val="252B31"/>
          </a:solidFill>
          <a:ln w="12700">
            <a:solidFill>
              <a:srgbClr val="3A434B"/>
            </a:solidFill>
            <a:prstDash val="solid"/>
          </a:ln>
        </p:spPr>
        <p:txBody>
          <a:bodyPr/>
          <a:lstStyle/>
          <a:p>
            <a:endParaRPr lang="en-SE"/>
          </a:p>
        </p:txBody>
      </p:sp>
      <p:sp>
        <p:nvSpPr>
          <p:cNvPr id="22" name="Shape 20"/>
          <p:cNvSpPr/>
          <p:nvPr/>
        </p:nvSpPr>
        <p:spPr>
          <a:xfrm>
            <a:off x="941832" y="3959352"/>
            <a:ext cx="384048" cy="384048"/>
          </a:xfrm>
          <a:prstGeom prst="roundRect">
            <a:avLst>
              <a:gd name="adj" fmla="val 119048"/>
            </a:avLst>
          </a:prstGeom>
          <a:solidFill>
            <a:srgbClr val="F0A202"/>
          </a:solidFill>
          <a:ln/>
        </p:spPr>
        <p:txBody>
          <a:bodyPr/>
          <a:lstStyle/>
          <a:p>
            <a:endParaRPr lang="en-SE"/>
          </a:p>
        </p:txBody>
      </p:sp>
      <p:sp>
        <p:nvSpPr>
          <p:cNvPr id="23" name="Text 21"/>
          <p:cNvSpPr/>
          <p:nvPr/>
        </p:nvSpPr>
        <p:spPr>
          <a:xfrm>
            <a:off x="941832" y="3959352"/>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1</a:t>
            </a:r>
            <a:endParaRPr lang="en-US" sz="1300" dirty="0"/>
          </a:p>
        </p:txBody>
      </p:sp>
      <p:sp>
        <p:nvSpPr>
          <p:cNvPr id="24" name="Text 22"/>
          <p:cNvSpPr/>
          <p:nvPr/>
        </p:nvSpPr>
        <p:spPr>
          <a:xfrm>
            <a:off x="941832" y="4526280"/>
            <a:ext cx="2911754" cy="310896"/>
          </a:xfrm>
          <a:prstGeom prst="rect">
            <a:avLst/>
          </a:prstGeom>
          <a:noFill/>
          <a:ln/>
        </p:spPr>
        <p:txBody>
          <a:bodyPr wrap="square" lIns="0" tIns="0" rIns="0" bIns="0" rtlCol="0" anchor="t"/>
          <a:lstStyle/>
          <a:p>
            <a:pPr marL="0" indent="0">
              <a:buNone/>
            </a:pPr>
            <a:r>
              <a:rPr lang="en-US" sz="1550" b="1" dirty="0">
                <a:solidFill>
                  <a:srgbClr val="F0A202"/>
                </a:solidFill>
                <a:latin typeface="Trebuchet MS" pitchFamily="34" charset="0"/>
                <a:ea typeface="Trebuchet MS" pitchFamily="34" charset="-122"/>
                <a:cs typeface="Trebuchet MS" pitchFamily="34" charset="-120"/>
              </a:rPr>
              <a:t>Detect gaps</a:t>
            </a:r>
            <a:endParaRPr lang="en-US" sz="1550" dirty="0"/>
          </a:p>
        </p:txBody>
      </p:sp>
      <p:sp>
        <p:nvSpPr>
          <p:cNvPr id="25" name="Text 23"/>
          <p:cNvSpPr/>
          <p:nvPr/>
        </p:nvSpPr>
        <p:spPr>
          <a:xfrm>
            <a:off x="941832" y="4910328"/>
            <a:ext cx="2911754" cy="18288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Receive 5 straight after 3 and you know 4 was missed — then request a replay or fall back to the audit log.</a:t>
            </a:r>
            <a:endParaRPr lang="en-US" sz="1250" dirty="0"/>
          </a:p>
        </p:txBody>
      </p:sp>
      <p:sp>
        <p:nvSpPr>
          <p:cNvPr id="26" name="Shape 24"/>
          <p:cNvSpPr/>
          <p:nvPr/>
        </p:nvSpPr>
        <p:spPr>
          <a:xfrm>
            <a:off x="4383938" y="3703320"/>
            <a:ext cx="3423818" cy="1554480"/>
          </a:xfrm>
          <a:prstGeom prst="roundRect">
            <a:avLst>
              <a:gd name="adj" fmla="val 3529"/>
            </a:avLst>
          </a:prstGeom>
          <a:solidFill>
            <a:srgbClr val="252B31"/>
          </a:solidFill>
          <a:ln w="12700">
            <a:solidFill>
              <a:srgbClr val="3A434B"/>
            </a:solidFill>
            <a:prstDash val="solid"/>
          </a:ln>
        </p:spPr>
        <p:txBody>
          <a:bodyPr/>
          <a:lstStyle/>
          <a:p>
            <a:endParaRPr lang="en-SE"/>
          </a:p>
        </p:txBody>
      </p:sp>
      <p:sp>
        <p:nvSpPr>
          <p:cNvPr id="27" name="Shape 25"/>
          <p:cNvSpPr/>
          <p:nvPr/>
        </p:nvSpPr>
        <p:spPr>
          <a:xfrm>
            <a:off x="4639970" y="3959352"/>
            <a:ext cx="384048" cy="384048"/>
          </a:xfrm>
          <a:prstGeom prst="roundRect">
            <a:avLst>
              <a:gd name="adj" fmla="val 119048"/>
            </a:avLst>
          </a:prstGeom>
          <a:solidFill>
            <a:srgbClr val="3FD0C9"/>
          </a:solidFill>
          <a:ln/>
        </p:spPr>
        <p:txBody>
          <a:bodyPr/>
          <a:lstStyle/>
          <a:p>
            <a:endParaRPr lang="en-SE"/>
          </a:p>
        </p:txBody>
      </p:sp>
      <p:sp>
        <p:nvSpPr>
          <p:cNvPr id="28" name="Text 26"/>
          <p:cNvSpPr/>
          <p:nvPr/>
        </p:nvSpPr>
        <p:spPr>
          <a:xfrm>
            <a:off x="4639970" y="3959352"/>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2</a:t>
            </a:r>
            <a:endParaRPr lang="en-US" sz="1300" dirty="0"/>
          </a:p>
        </p:txBody>
      </p:sp>
      <p:sp>
        <p:nvSpPr>
          <p:cNvPr id="29" name="Text 27"/>
          <p:cNvSpPr/>
          <p:nvPr/>
        </p:nvSpPr>
        <p:spPr>
          <a:xfrm>
            <a:off x="4639970" y="4526280"/>
            <a:ext cx="2911754" cy="310896"/>
          </a:xfrm>
          <a:prstGeom prst="rect">
            <a:avLst/>
          </a:prstGeom>
          <a:noFill/>
          <a:ln/>
        </p:spPr>
        <p:txBody>
          <a:bodyPr wrap="square" lIns="0" tIns="0" rIns="0" bIns="0" rtlCol="0" anchor="t"/>
          <a:lstStyle/>
          <a:p>
            <a:pPr marL="0" indent="0">
              <a:buNone/>
            </a:pPr>
            <a:r>
              <a:rPr lang="en-US" sz="1550" b="1" dirty="0">
                <a:solidFill>
                  <a:srgbClr val="3FD0C9"/>
                </a:solidFill>
                <a:latin typeface="Trebuchet MS" pitchFamily="34" charset="0"/>
                <a:ea typeface="Trebuchet MS" pitchFamily="34" charset="-122"/>
                <a:cs typeface="Trebuchet MS" pitchFamily="34" charset="-120"/>
              </a:rPr>
              <a:t>De-duplicate</a:t>
            </a:r>
            <a:endParaRPr lang="en-US" sz="1550" dirty="0"/>
          </a:p>
        </p:txBody>
      </p:sp>
      <p:sp>
        <p:nvSpPr>
          <p:cNvPr id="30" name="Text 28"/>
          <p:cNvSpPr/>
          <p:nvPr/>
        </p:nvSpPr>
        <p:spPr>
          <a:xfrm>
            <a:off x="4639970" y="4910328"/>
            <a:ext cx="2911754" cy="18288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If a reconnect re-delivers a message, a consumer that remembers processed seq values simply discards the duplicate.</a:t>
            </a:r>
            <a:endParaRPr lang="en-US" sz="1250" dirty="0"/>
          </a:p>
        </p:txBody>
      </p:sp>
      <p:sp>
        <p:nvSpPr>
          <p:cNvPr id="31" name="Shape 29"/>
          <p:cNvSpPr/>
          <p:nvPr/>
        </p:nvSpPr>
        <p:spPr>
          <a:xfrm>
            <a:off x="8082077" y="3703320"/>
            <a:ext cx="3423818" cy="1554480"/>
          </a:xfrm>
          <a:prstGeom prst="roundRect">
            <a:avLst>
              <a:gd name="adj" fmla="val 3529"/>
            </a:avLst>
          </a:prstGeom>
          <a:solidFill>
            <a:srgbClr val="252B31"/>
          </a:solidFill>
          <a:ln w="12700">
            <a:solidFill>
              <a:srgbClr val="3A434B"/>
            </a:solidFill>
            <a:prstDash val="solid"/>
          </a:ln>
        </p:spPr>
        <p:txBody>
          <a:bodyPr/>
          <a:lstStyle/>
          <a:p>
            <a:endParaRPr lang="en-SE"/>
          </a:p>
        </p:txBody>
      </p:sp>
      <p:sp>
        <p:nvSpPr>
          <p:cNvPr id="32" name="Shape 30"/>
          <p:cNvSpPr/>
          <p:nvPr/>
        </p:nvSpPr>
        <p:spPr>
          <a:xfrm>
            <a:off x="8338109" y="3959352"/>
            <a:ext cx="384048" cy="384048"/>
          </a:xfrm>
          <a:prstGeom prst="roundRect">
            <a:avLst>
              <a:gd name="adj" fmla="val 119048"/>
            </a:avLst>
          </a:prstGeom>
          <a:solidFill>
            <a:srgbClr val="9B8CFF"/>
          </a:solidFill>
          <a:ln/>
        </p:spPr>
        <p:txBody>
          <a:bodyPr/>
          <a:lstStyle/>
          <a:p>
            <a:endParaRPr lang="en-SE"/>
          </a:p>
        </p:txBody>
      </p:sp>
      <p:sp>
        <p:nvSpPr>
          <p:cNvPr id="33" name="Text 31"/>
          <p:cNvSpPr/>
          <p:nvPr/>
        </p:nvSpPr>
        <p:spPr>
          <a:xfrm>
            <a:off x="8338109" y="3959352"/>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3</a:t>
            </a:r>
            <a:endParaRPr lang="en-US" sz="1300" dirty="0"/>
          </a:p>
        </p:txBody>
      </p:sp>
      <p:sp>
        <p:nvSpPr>
          <p:cNvPr id="34" name="Text 32"/>
          <p:cNvSpPr/>
          <p:nvPr/>
        </p:nvSpPr>
        <p:spPr>
          <a:xfrm>
            <a:off x="8338109" y="4526280"/>
            <a:ext cx="2911754" cy="310896"/>
          </a:xfrm>
          <a:prstGeom prst="rect">
            <a:avLst/>
          </a:prstGeom>
          <a:noFill/>
          <a:ln/>
        </p:spPr>
        <p:txBody>
          <a:bodyPr wrap="square" lIns="0" tIns="0" rIns="0" bIns="0" rtlCol="0" anchor="t"/>
          <a:lstStyle/>
          <a:p>
            <a:pPr marL="0" indent="0">
              <a:buNone/>
            </a:pPr>
            <a:r>
              <a:rPr lang="en-US" sz="1550" b="1" dirty="0">
                <a:solidFill>
                  <a:srgbClr val="9B8CFF"/>
                </a:solidFill>
                <a:latin typeface="Trebuchet MS" pitchFamily="34" charset="0"/>
                <a:ea typeface="Trebuchet MS" pitchFamily="34" charset="-122"/>
                <a:cs typeface="Trebuchet MS" pitchFamily="34" charset="-120"/>
              </a:rPr>
              <a:t>Prove completeness</a:t>
            </a:r>
            <a:endParaRPr lang="en-US" sz="1550" dirty="0"/>
          </a:p>
        </p:txBody>
      </p:sp>
      <p:sp>
        <p:nvSpPr>
          <p:cNvPr id="35" name="Text 33"/>
          <p:cNvSpPr/>
          <p:nvPr/>
        </p:nvSpPr>
        <p:spPr>
          <a:xfrm>
            <a:off x="8338109" y="4910328"/>
            <a:ext cx="2911754" cy="18288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An unbroken run of sequence numbers is evidence for an auditor that nothing was dropped between two points in time.</a:t>
            </a:r>
            <a:endParaRPr lang="en-US" sz="1250" dirty="0"/>
          </a:p>
        </p:txBody>
      </p:sp>
      <p:sp>
        <p:nvSpPr>
          <p:cNvPr id="36" name="Shape 34"/>
          <p:cNvSpPr/>
          <p:nvPr/>
        </p:nvSpPr>
        <p:spPr>
          <a:xfrm>
            <a:off x="685800" y="5486400"/>
            <a:ext cx="10820095" cy="868680"/>
          </a:xfrm>
          <a:prstGeom prst="roundRect">
            <a:avLst>
              <a:gd name="adj" fmla="val 6316"/>
            </a:avLst>
          </a:prstGeom>
          <a:solidFill>
            <a:srgbClr val="252B31"/>
          </a:solidFill>
          <a:ln w="19050">
            <a:solidFill>
              <a:srgbClr val="E5566B"/>
            </a:solidFill>
            <a:prstDash val="solid"/>
          </a:ln>
        </p:spPr>
        <p:txBody>
          <a:bodyPr/>
          <a:lstStyle/>
          <a:p>
            <a:endParaRPr lang="en-SE"/>
          </a:p>
        </p:txBody>
      </p:sp>
      <p:sp>
        <p:nvSpPr>
          <p:cNvPr id="37" name="Shape 35"/>
          <p:cNvSpPr/>
          <p:nvPr/>
        </p:nvSpPr>
        <p:spPr>
          <a:xfrm>
            <a:off x="923544" y="5737860"/>
            <a:ext cx="365760" cy="365760"/>
          </a:xfrm>
          <a:prstGeom prst="roundRect">
            <a:avLst>
              <a:gd name="adj" fmla="val 125000"/>
            </a:avLst>
          </a:prstGeom>
          <a:solidFill>
            <a:srgbClr val="E5566B"/>
          </a:solidFill>
          <a:ln/>
        </p:spPr>
        <p:txBody>
          <a:bodyPr/>
          <a:lstStyle/>
          <a:p>
            <a:endParaRPr lang="en-SE"/>
          </a:p>
        </p:txBody>
      </p:sp>
      <p:sp>
        <p:nvSpPr>
          <p:cNvPr id="38" name="Text 36"/>
          <p:cNvSpPr/>
          <p:nvPr/>
        </p:nvSpPr>
        <p:spPr>
          <a:xfrm>
            <a:off x="923544" y="573786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39" name="Text 37"/>
          <p:cNvSpPr/>
          <p:nvPr/>
        </p:nvSpPr>
        <p:spPr>
          <a:xfrm>
            <a:off x="1453896" y="5632704"/>
            <a:ext cx="9814255" cy="576072"/>
          </a:xfrm>
          <a:prstGeom prst="rect">
            <a:avLst/>
          </a:prstGeom>
          <a:noFill/>
          <a:ln/>
        </p:spPr>
        <p:txBody>
          <a:bodyPr wrap="square" lIns="0" tIns="0" rIns="0" bIns="0" rtlCol="0" anchor="ctr"/>
          <a:lstStyle/>
          <a:p>
            <a:pPr marL="0" indent="0">
              <a:lnSpc>
                <a:spcPct val="110000"/>
              </a:lnSpc>
              <a:buNone/>
            </a:pPr>
            <a:r>
              <a:rPr lang="en-US" sz="1350" b="1" dirty="0">
                <a:solidFill>
                  <a:srgbClr val="E5566B"/>
                </a:solidFill>
                <a:latin typeface="Trebuchet MS" pitchFamily="34" charset="0"/>
                <a:ea typeface="Trebuchet MS" pitchFamily="34" charset="-122"/>
                <a:cs typeface="Trebuchet MS" pitchFamily="34" charset="-120"/>
              </a:rPr>
              <a:t>The counter is per process, not per engine instance</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Every publisher created inside the same process shares one counter. Build two publishers in one process — as tests and tools sometimes do — and seq keeps climbing rather than restarting at 1.</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10454335" y="4572000"/>
            <a:ext cx="237744" cy="237744"/>
          </a:xfrm>
          <a:prstGeom prst="rect">
            <a:avLst/>
          </a:prstGeom>
          <a:solidFill>
            <a:srgbClr val="F0A202"/>
          </a:solidFill>
          <a:ln/>
        </p:spPr>
        <p:txBody>
          <a:bodyPr/>
          <a:lstStyle/>
          <a:p>
            <a:endParaRPr lang="en-SE"/>
          </a:p>
        </p:txBody>
      </p:sp>
      <p:sp>
        <p:nvSpPr>
          <p:cNvPr id="3" name="Shape 1"/>
          <p:cNvSpPr/>
          <p:nvPr/>
        </p:nvSpPr>
        <p:spPr>
          <a:xfrm>
            <a:off x="10838383" y="4572000"/>
            <a:ext cx="237744" cy="237744"/>
          </a:xfrm>
          <a:prstGeom prst="rect">
            <a:avLst/>
          </a:prstGeom>
          <a:solidFill>
            <a:srgbClr val="2E353C"/>
          </a:solidFill>
          <a:ln/>
        </p:spPr>
        <p:txBody>
          <a:bodyPr/>
          <a:lstStyle/>
          <a:p>
            <a:endParaRPr lang="en-SE"/>
          </a:p>
        </p:txBody>
      </p:sp>
      <p:sp>
        <p:nvSpPr>
          <p:cNvPr id="4" name="Shape 2"/>
          <p:cNvSpPr/>
          <p:nvPr/>
        </p:nvSpPr>
        <p:spPr>
          <a:xfrm>
            <a:off x="11222431" y="4572000"/>
            <a:ext cx="237744" cy="237744"/>
          </a:xfrm>
          <a:prstGeom prst="rect">
            <a:avLst/>
          </a:prstGeom>
          <a:solidFill>
            <a:srgbClr val="2E353C"/>
          </a:solidFill>
          <a:ln/>
        </p:spPr>
        <p:txBody>
          <a:bodyPr/>
          <a:lstStyle/>
          <a:p>
            <a:endParaRPr lang="en-SE"/>
          </a:p>
        </p:txBody>
      </p:sp>
      <p:sp>
        <p:nvSpPr>
          <p:cNvPr id="5" name="Shape 3"/>
          <p:cNvSpPr/>
          <p:nvPr/>
        </p:nvSpPr>
        <p:spPr>
          <a:xfrm>
            <a:off x="10454335" y="4956048"/>
            <a:ext cx="237744" cy="237744"/>
          </a:xfrm>
          <a:prstGeom prst="rect">
            <a:avLst/>
          </a:prstGeom>
          <a:solidFill>
            <a:srgbClr val="3FD0C9"/>
          </a:solidFill>
          <a:ln/>
        </p:spPr>
        <p:txBody>
          <a:bodyPr/>
          <a:lstStyle/>
          <a:p>
            <a:endParaRPr lang="en-SE"/>
          </a:p>
        </p:txBody>
      </p:sp>
      <p:sp>
        <p:nvSpPr>
          <p:cNvPr id="6" name="Shape 4"/>
          <p:cNvSpPr/>
          <p:nvPr/>
        </p:nvSpPr>
        <p:spPr>
          <a:xfrm>
            <a:off x="10838383" y="4956048"/>
            <a:ext cx="237744" cy="237744"/>
          </a:xfrm>
          <a:prstGeom prst="rect">
            <a:avLst/>
          </a:prstGeom>
          <a:solidFill>
            <a:srgbClr val="F0A202"/>
          </a:solidFill>
          <a:ln/>
        </p:spPr>
        <p:txBody>
          <a:bodyPr/>
          <a:lstStyle/>
          <a:p>
            <a:endParaRPr lang="en-SE"/>
          </a:p>
        </p:txBody>
      </p:sp>
      <p:sp>
        <p:nvSpPr>
          <p:cNvPr id="7" name="Shape 5"/>
          <p:cNvSpPr/>
          <p:nvPr/>
        </p:nvSpPr>
        <p:spPr>
          <a:xfrm>
            <a:off x="11222431" y="4956048"/>
            <a:ext cx="237744" cy="237744"/>
          </a:xfrm>
          <a:prstGeom prst="rect">
            <a:avLst/>
          </a:prstGeom>
          <a:solidFill>
            <a:srgbClr val="2E353C"/>
          </a:solidFill>
          <a:ln/>
        </p:spPr>
        <p:txBody>
          <a:bodyPr/>
          <a:lstStyle/>
          <a:p>
            <a:endParaRPr lang="en-SE"/>
          </a:p>
        </p:txBody>
      </p:sp>
      <p:sp>
        <p:nvSpPr>
          <p:cNvPr id="8" name="Text 6"/>
          <p:cNvSpPr/>
          <p:nvPr/>
        </p:nvSpPr>
        <p:spPr>
          <a:xfrm>
            <a:off x="685800" y="1417320"/>
            <a:ext cx="2743200" cy="1737360"/>
          </a:xfrm>
          <a:prstGeom prst="rect">
            <a:avLst/>
          </a:prstGeom>
          <a:noFill/>
          <a:ln/>
        </p:spPr>
        <p:txBody>
          <a:bodyPr wrap="square" lIns="0" tIns="0" rIns="0" bIns="0" rtlCol="0" anchor="ctr"/>
          <a:lstStyle/>
          <a:p>
            <a:pPr marL="0" indent="0">
              <a:buNone/>
            </a:pPr>
            <a:r>
              <a:rPr lang="en-US" sz="11000" b="1" dirty="0">
                <a:solidFill>
                  <a:srgbClr val="2E353C"/>
                </a:solidFill>
                <a:latin typeface="Trebuchet MS" pitchFamily="34" charset="0"/>
                <a:ea typeface="Trebuchet MS" pitchFamily="34" charset="-122"/>
                <a:cs typeface="Trebuchet MS" pitchFamily="34" charset="-120"/>
              </a:rPr>
              <a:t>03</a:t>
            </a:r>
            <a:endParaRPr lang="en-US" sz="11000" dirty="0"/>
          </a:p>
        </p:txBody>
      </p:sp>
      <p:sp>
        <p:nvSpPr>
          <p:cNvPr id="9" name="Text 7"/>
          <p:cNvSpPr/>
          <p:nvPr/>
        </p:nvSpPr>
        <p:spPr>
          <a:xfrm>
            <a:off x="2606040" y="1600200"/>
            <a:ext cx="8579815" cy="1371600"/>
          </a:xfrm>
          <a:prstGeom prst="rect">
            <a:avLst/>
          </a:prstGeom>
          <a:noFill/>
          <a:ln/>
        </p:spPr>
        <p:txBody>
          <a:bodyPr wrap="square" lIns="0" tIns="0" rIns="0" bIns="0" rtlCol="0" anchor="ctr"/>
          <a:lstStyle/>
          <a:p>
            <a:pPr marL="0" indent="0">
              <a:buNone/>
            </a:pPr>
            <a:r>
              <a:rPr lang="en-US" sz="4000" b="1" dirty="0">
                <a:solidFill>
                  <a:srgbClr val="ECF1F5"/>
                </a:solidFill>
                <a:latin typeface="Trebuchet MS" pitchFamily="34" charset="0"/>
                <a:ea typeface="Trebuchet MS" pitchFamily="34" charset="-122"/>
                <a:cs typeface="Trebuchet MS" pitchFamily="34" charset="-120"/>
              </a:rPr>
              <a:t>When is it created and disseminated?</a:t>
            </a:r>
            <a:endParaRPr lang="en-US" sz="4000" dirty="0"/>
          </a:p>
        </p:txBody>
      </p:sp>
      <p:sp>
        <p:nvSpPr>
          <p:cNvPr id="10" name="Text 8"/>
          <p:cNvSpPr/>
          <p:nvPr/>
        </p:nvSpPr>
        <p:spPr>
          <a:xfrm>
            <a:off x="2651760" y="3017520"/>
            <a:ext cx="7680960" cy="822960"/>
          </a:xfrm>
          <a:prstGeom prst="rect">
            <a:avLst/>
          </a:prstGeom>
          <a:noFill/>
          <a:ln/>
        </p:spPr>
        <p:txBody>
          <a:bodyPr wrap="square" lIns="0" tIns="0" rIns="0" bIns="0" rtlCol="0" anchor="t"/>
          <a:lstStyle/>
          <a:p>
            <a:pPr marL="0" indent="0">
              <a:lnSpc>
                <a:spcPct val="115000"/>
              </a:lnSpc>
              <a:buNone/>
            </a:pPr>
            <a:r>
              <a:rPr lang="en-US" sz="1500" dirty="0">
                <a:solidFill>
                  <a:srgbClr val="97A4AE"/>
                </a:solidFill>
                <a:latin typeface="Calibri" pitchFamily="34" charset="0"/>
                <a:ea typeface="Calibri" pitchFamily="34" charset="-122"/>
                <a:cs typeface="Calibri" pitchFamily="34" charset="-120"/>
              </a:rPr>
              <a:t>Drop copy is not a batch or an end-of-day file. It is produced at the moment of the fill and pushed out immediately.</a:t>
            </a:r>
            <a:endParaRPr lang="en-US" sz="1500" dirty="0"/>
          </a:p>
        </p:txBody>
      </p:sp>
      <p:sp>
        <p:nvSpPr>
          <p:cNvPr id="11" name="Shape 9"/>
          <p:cNvSpPr/>
          <p:nvPr/>
        </p:nvSpPr>
        <p:spPr>
          <a:xfrm>
            <a:off x="2651760" y="4142232"/>
            <a:ext cx="128016" cy="128016"/>
          </a:xfrm>
          <a:prstGeom prst="rect">
            <a:avLst/>
          </a:prstGeom>
          <a:solidFill>
            <a:srgbClr val="3FD0C9"/>
          </a:solidFill>
          <a:ln/>
        </p:spPr>
        <p:txBody>
          <a:bodyPr/>
          <a:lstStyle/>
          <a:p>
            <a:endParaRPr lang="en-SE"/>
          </a:p>
        </p:txBody>
      </p:sp>
      <p:sp>
        <p:nvSpPr>
          <p:cNvPr id="12" name="Text 10"/>
          <p:cNvSpPr/>
          <p:nvPr/>
        </p:nvSpPr>
        <p:spPr>
          <a:xfrm>
            <a:off x="2971800" y="4041648"/>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moment of publication</a:t>
            </a:r>
            <a:endParaRPr lang="en-US" sz="1250" dirty="0"/>
          </a:p>
        </p:txBody>
      </p:sp>
      <p:sp>
        <p:nvSpPr>
          <p:cNvPr id="13" name="Shape 11"/>
          <p:cNvSpPr/>
          <p:nvPr/>
        </p:nvSpPr>
        <p:spPr>
          <a:xfrm>
            <a:off x="2651760" y="4526280"/>
            <a:ext cx="128016" cy="128016"/>
          </a:xfrm>
          <a:prstGeom prst="rect">
            <a:avLst/>
          </a:prstGeom>
          <a:solidFill>
            <a:srgbClr val="3FD0C9"/>
          </a:solidFill>
          <a:ln/>
        </p:spPr>
        <p:txBody>
          <a:bodyPr/>
          <a:lstStyle/>
          <a:p>
            <a:endParaRPr lang="en-SE"/>
          </a:p>
        </p:txBody>
      </p:sp>
      <p:sp>
        <p:nvSpPr>
          <p:cNvPr id="14" name="Text 12"/>
          <p:cNvSpPr/>
          <p:nvPr/>
        </p:nvSpPr>
        <p:spPr>
          <a:xfrm>
            <a:off x="2971800" y="4425696"/>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Which trading flows are covered</a:t>
            </a:r>
            <a:endParaRPr lang="en-US" sz="1250" dirty="0"/>
          </a:p>
        </p:txBody>
      </p:sp>
      <p:sp>
        <p:nvSpPr>
          <p:cNvPr id="15" name="Shape 13"/>
          <p:cNvSpPr/>
          <p:nvPr/>
        </p:nvSpPr>
        <p:spPr>
          <a:xfrm>
            <a:off x="2651760" y="4910328"/>
            <a:ext cx="128016" cy="128016"/>
          </a:xfrm>
          <a:prstGeom prst="rect">
            <a:avLst/>
          </a:prstGeom>
          <a:solidFill>
            <a:srgbClr val="3FD0C9"/>
          </a:solidFill>
          <a:ln/>
        </p:spPr>
        <p:txBody>
          <a:bodyPr/>
          <a:lstStyle/>
          <a:p>
            <a:endParaRPr lang="en-SE"/>
          </a:p>
        </p:txBody>
      </p:sp>
      <p:sp>
        <p:nvSpPr>
          <p:cNvPr id="16" name="Text 14"/>
          <p:cNvSpPr/>
          <p:nvPr/>
        </p:nvSpPr>
        <p:spPr>
          <a:xfrm>
            <a:off x="2971800" y="4809744"/>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Where it sits in engine startup</a:t>
            </a:r>
            <a:endParaRPr lang="en-US" sz="1250" dirty="0"/>
          </a:p>
        </p:txBody>
      </p:sp>
      <p:sp>
        <p:nvSpPr>
          <p:cNvPr id="17" name="Shape 15"/>
          <p:cNvSpPr/>
          <p:nvPr/>
        </p:nvSpPr>
        <p:spPr>
          <a:xfrm>
            <a:off x="2651760" y="5294376"/>
            <a:ext cx="128016" cy="128016"/>
          </a:xfrm>
          <a:prstGeom prst="rect">
            <a:avLst/>
          </a:prstGeom>
          <a:solidFill>
            <a:srgbClr val="3FD0C9"/>
          </a:solidFill>
          <a:ln/>
        </p:spPr>
        <p:txBody>
          <a:bodyPr/>
          <a:lstStyle/>
          <a:p>
            <a:endParaRPr lang="en-SE"/>
          </a:p>
        </p:txBody>
      </p:sp>
      <p:sp>
        <p:nvSpPr>
          <p:cNvPr id="18" name="Text 16"/>
          <p:cNvSpPr/>
          <p:nvPr/>
        </p:nvSpPr>
        <p:spPr>
          <a:xfrm>
            <a:off x="2971800" y="5193792"/>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buffer and the replay window</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03 · TIMING</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17</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THE MOMENT OF PUBLICATION</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From match to subscriber, in one pass</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There is no store-and-forward stage and no scheduler. The publish happens inline as the engine processes the trade.</a:t>
            </a:r>
            <a:endParaRPr lang="en-US" sz="1450" dirty="0"/>
          </a:p>
        </p:txBody>
      </p:sp>
      <p:sp>
        <p:nvSpPr>
          <p:cNvPr id="8" name="Shape 6"/>
          <p:cNvSpPr/>
          <p:nvPr/>
        </p:nvSpPr>
        <p:spPr>
          <a:xfrm>
            <a:off x="685800" y="2331720"/>
            <a:ext cx="1920240" cy="1600200"/>
          </a:xfrm>
          <a:prstGeom prst="roundRect">
            <a:avLst>
              <a:gd name="adj" fmla="val 4571"/>
            </a:avLst>
          </a:prstGeom>
          <a:solidFill>
            <a:srgbClr val="252B31"/>
          </a:solidFill>
          <a:ln w="19050">
            <a:solidFill>
              <a:srgbClr val="9B8CFF"/>
            </a:solidFill>
            <a:prstDash val="solid"/>
          </a:ln>
        </p:spPr>
        <p:txBody>
          <a:bodyPr/>
          <a:lstStyle/>
          <a:p>
            <a:endParaRPr lang="en-SE"/>
          </a:p>
        </p:txBody>
      </p:sp>
      <p:sp>
        <p:nvSpPr>
          <p:cNvPr id="9" name="Shape 7"/>
          <p:cNvSpPr/>
          <p:nvPr/>
        </p:nvSpPr>
        <p:spPr>
          <a:xfrm>
            <a:off x="1417320" y="2514600"/>
            <a:ext cx="457200" cy="457200"/>
          </a:xfrm>
          <a:prstGeom prst="roundRect">
            <a:avLst>
              <a:gd name="adj" fmla="val 100000"/>
            </a:avLst>
          </a:prstGeom>
          <a:solidFill>
            <a:srgbClr val="9B8CFF"/>
          </a:solidFill>
          <a:ln/>
        </p:spPr>
        <p:txBody>
          <a:bodyPr/>
          <a:lstStyle/>
          <a:p>
            <a:endParaRPr lang="en-SE"/>
          </a:p>
        </p:txBody>
      </p:sp>
      <p:sp>
        <p:nvSpPr>
          <p:cNvPr id="10" name="Text 8"/>
          <p:cNvSpPr/>
          <p:nvPr/>
        </p:nvSpPr>
        <p:spPr>
          <a:xfrm>
            <a:off x="1417320" y="2514600"/>
            <a:ext cx="457200" cy="457200"/>
          </a:xfrm>
          <a:prstGeom prst="rect">
            <a:avLst/>
          </a:prstGeom>
          <a:noFill/>
          <a:ln/>
        </p:spPr>
        <p:txBody>
          <a:bodyPr wrap="square" lIns="0" tIns="0" rIns="0" bIns="0" rtlCol="0" anchor="ctr"/>
          <a:lstStyle/>
          <a:p>
            <a:pPr marL="0" indent="0" algn="ctr">
              <a:buNone/>
            </a:pPr>
            <a:r>
              <a:rPr lang="en-US" sz="1400" b="1" dirty="0">
                <a:solidFill>
                  <a:srgbClr val="141719"/>
                </a:solidFill>
                <a:latin typeface="Trebuchet MS" pitchFamily="34" charset="0"/>
                <a:ea typeface="Trebuchet MS" pitchFamily="34" charset="-122"/>
                <a:cs typeface="Trebuchet MS" pitchFamily="34" charset="-120"/>
              </a:rPr>
              <a:t>1</a:t>
            </a:r>
            <a:endParaRPr lang="en-US" sz="1400" dirty="0"/>
          </a:p>
        </p:txBody>
      </p:sp>
      <p:sp>
        <p:nvSpPr>
          <p:cNvPr id="11" name="Text 9"/>
          <p:cNvSpPr/>
          <p:nvPr/>
        </p:nvSpPr>
        <p:spPr>
          <a:xfrm>
            <a:off x="822960" y="3063240"/>
            <a:ext cx="1645920" cy="320040"/>
          </a:xfrm>
          <a:prstGeom prst="rect">
            <a:avLst/>
          </a:prstGeom>
          <a:noFill/>
          <a:ln/>
        </p:spPr>
        <p:txBody>
          <a:bodyPr wrap="square" lIns="0" tIns="0" rIns="0" bIns="0" rtlCol="0" anchor="ctr"/>
          <a:lstStyle/>
          <a:p>
            <a:pPr marL="0" indent="0" algn="ctr">
              <a:buNone/>
            </a:pPr>
            <a:r>
              <a:rPr lang="en-US" sz="1400" b="1" dirty="0">
                <a:solidFill>
                  <a:srgbClr val="9B8CFF"/>
                </a:solidFill>
                <a:latin typeface="Trebuchet MS" pitchFamily="34" charset="0"/>
                <a:ea typeface="Trebuchet MS" pitchFamily="34" charset="-122"/>
                <a:cs typeface="Trebuchet MS" pitchFamily="34" charset="-120"/>
              </a:rPr>
              <a:t>Orders meet</a:t>
            </a:r>
            <a:endParaRPr lang="en-US" sz="1400" dirty="0"/>
          </a:p>
        </p:txBody>
      </p:sp>
      <p:sp>
        <p:nvSpPr>
          <p:cNvPr id="12" name="Text 10"/>
          <p:cNvSpPr/>
          <p:nvPr/>
        </p:nvSpPr>
        <p:spPr>
          <a:xfrm>
            <a:off x="822960" y="3383280"/>
            <a:ext cx="1645920" cy="502920"/>
          </a:xfrm>
          <a:prstGeom prst="rect">
            <a:avLst/>
          </a:prstGeom>
          <a:noFill/>
          <a:ln/>
        </p:spPr>
        <p:txBody>
          <a:bodyPr wrap="square" lIns="0" tIns="0" rIns="0" bIns="0" rtlCol="0" anchor="t"/>
          <a:lstStyle/>
          <a:p>
            <a:pPr marL="0" indent="0" algn="ctr">
              <a:lnSpc>
                <a:spcPct val="105000"/>
              </a:lnSpc>
              <a:buNone/>
            </a:pPr>
            <a:r>
              <a:rPr lang="en-US" sz="1100" dirty="0">
                <a:solidFill>
                  <a:srgbClr val="97A4AE"/>
                </a:solidFill>
                <a:latin typeface="Calibri" pitchFamily="34" charset="0"/>
                <a:ea typeface="Calibri" pitchFamily="34" charset="-122"/>
                <a:cs typeface="Calibri" pitchFamily="34" charset="-120"/>
              </a:rPr>
              <a:t>Two orders cross in the book</a:t>
            </a:r>
            <a:endParaRPr lang="en-US" sz="1100" dirty="0"/>
          </a:p>
        </p:txBody>
      </p:sp>
      <p:sp>
        <p:nvSpPr>
          <p:cNvPr id="13" name="Shape 11"/>
          <p:cNvSpPr/>
          <p:nvPr/>
        </p:nvSpPr>
        <p:spPr>
          <a:xfrm>
            <a:off x="2642616" y="3127248"/>
            <a:ext cx="219456" cy="0"/>
          </a:xfrm>
          <a:prstGeom prst="line">
            <a:avLst/>
          </a:prstGeom>
          <a:noFill/>
          <a:ln w="22225">
            <a:solidFill>
              <a:srgbClr val="6E7C87"/>
            </a:solidFill>
            <a:prstDash val="solid"/>
            <a:tailEnd type="triangle"/>
          </a:ln>
        </p:spPr>
        <p:txBody>
          <a:bodyPr/>
          <a:lstStyle/>
          <a:p>
            <a:endParaRPr lang="en-SE"/>
          </a:p>
        </p:txBody>
      </p:sp>
      <p:sp>
        <p:nvSpPr>
          <p:cNvPr id="14" name="Shape 12"/>
          <p:cNvSpPr/>
          <p:nvPr/>
        </p:nvSpPr>
        <p:spPr>
          <a:xfrm>
            <a:off x="2898648" y="2331720"/>
            <a:ext cx="1920240" cy="1600200"/>
          </a:xfrm>
          <a:prstGeom prst="roundRect">
            <a:avLst>
              <a:gd name="adj" fmla="val 4571"/>
            </a:avLst>
          </a:prstGeom>
          <a:solidFill>
            <a:srgbClr val="252B31"/>
          </a:solidFill>
          <a:ln w="19050">
            <a:solidFill>
              <a:srgbClr val="F0A202"/>
            </a:solidFill>
            <a:prstDash val="solid"/>
          </a:ln>
        </p:spPr>
        <p:txBody>
          <a:bodyPr/>
          <a:lstStyle/>
          <a:p>
            <a:endParaRPr lang="en-SE"/>
          </a:p>
        </p:txBody>
      </p:sp>
      <p:sp>
        <p:nvSpPr>
          <p:cNvPr id="15" name="Shape 13"/>
          <p:cNvSpPr/>
          <p:nvPr/>
        </p:nvSpPr>
        <p:spPr>
          <a:xfrm>
            <a:off x="3630168" y="2514600"/>
            <a:ext cx="457200" cy="457200"/>
          </a:xfrm>
          <a:prstGeom prst="roundRect">
            <a:avLst>
              <a:gd name="adj" fmla="val 100000"/>
            </a:avLst>
          </a:prstGeom>
          <a:solidFill>
            <a:srgbClr val="F0A202"/>
          </a:solidFill>
          <a:ln/>
        </p:spPr>
        <p:txBody>
          <a:bodyPr/>
          <a:lstStyle/>
          <a:p>
            <a:endParaRPr lang="en-SE"/>
          </a:p>
        </p:txBody>
      </p:sp>
      <p:sp>
        <p:nvSpPr>
          <p:cNvPr id="16" name="Text 14"/>
          <p:cNvSpPr/>
          <p:nvPr/>
        </p:nvSpPr>
        <p:spPr>
          <a:xfrm>
            <a:off x="3630168" y="2514600"/>
            <a:ext cx="457200" cy="457200"/>
          </a:xfrm>
          <a:prstGeom prst="rect">
            <a:avLst/>
          </a:prstGeom>
          <a:noFill/>
          <a:ln/>
        </p:spPr>
        <p:txBody>
          <a:bodyPr wrap="square" lIns="0" tIns="0" rIns="0" bIns="0" rtlCol="0" anchor="ctr"/>
          <a:lstStyle/>
          <a:p>
            <a:pPr marL="0" indent="0" algn="ctr">
              <a:buNone/>
            </a:pPr>
            <a:r>
              <a:rPr lang="en-US" sz="1400" b="1" dirty="0">
                <a:solidFill>
                  <a:srgbClr val="141719"/>
                </a:solidFill>
                <a:latin typeface="Trebuchet MS" pitchFamily="34" charset="0"/>
                <a:ea typeface="Trebuchet MS" pitchFamily="34" charset="-122"/>
                <a:cs typeface="Trebuchet MS" pitchFamily="34" charset="-120"/>
              </a:rPr>
              <a:t>2</a:t>
            </a:r>
            <a:endParaRPr lang="en-US" sz="1400" dirty="0"/>
          </a:p>
        </p:txBody>
      </p:sp>
      <p:sp>
        <p:nvSpPr>
          <p:cNvPr id="17" name="Text 15"/>
          <p:cNvSpPr/>
          <p:nvPr/>
        </p:nvSpPr>
        <p:spPr>
          <a:xfrm>
            <a:off x="3035808" y="3063240"/>
            <a:ext cx="1645920" cy="320040"/>
          </a:xfrm>
          <a:prstGeom prst="rect">
            <a:avLst/>
          </a:prstGeom>
          <a:noFill/>
          <a:ln/>
        </p:spPr>
        <p:txBody>
          <a:bodyPr wrap="square" lIns="0" tIns="0" rIns="0" bIns="0" rtlCol="0" anchor="ctr"/>
          <a:lstStyle/>
          <a:p>
            <a:pPr marL="0" indent="0" algn="ctr">
              <a:buNone/>
            </a:pPr>
            <a:r>
              <a:rPr lang="en-US" sz="1400" b="1" dirty="0">
                <a:solidFill>
                  <a:srgbClr val="F0A202"/>
                </a:solidFill>
                <a:latin typeface="Trebuchet MS" pitchFamily="34" charset="0"/>
                <a:ea typeface="Trebuchet MS" pitchFamily="34" charset="-122"/>
                <a:cs typeface="Trebuchet MS" pitchFamily="34" charset="-120"/>
              </a:rPr>
              <a:t>Trade recorded</a:t>
            </a:r>
            <a:endParaRPr lang="en-US" sz="1400" dirty="0"/>
          </a:p>
        </p:txBody>
      </p:sp>
      <p:sp>
        <p:nvSpPr>
          <p:cNvPr id="18" name="Text 16"/>
          <p:cNvSpPr/>
          <p:nvPr/>
        </p:nvSpPr>
        <p:spPr>
          <a:xfrm>
            <a:off x="3035808" y="3383280"/>
            <a:ext cx="1645920" cy="502920"/>
          </a:xfrm>
          <a:prstGeom prst="rect">
            <a:avLst/>
          </a:prstGeom>
          <a:noFill/>
          <a:ln/>
        </p:spPr>
        <p:txBody>
          <a:bodyPr wrap="square" lIns="0" tIns="0" rIns="0" bIns="0" rtlCol="0" anchor="t"/>
          <a:lstStyle/>
          <a:p>
            <a:pPr marL="0" indent="0" algn="ctr">
              <a:lnSpc>
                <a:spcPct val="105000"/>
              </a:lnSpc>
              <a:buNone/>
            </a:pPr>
            <a:r>
              <a:rPr lang="en-US" sz="1100" dirty="0">
                <a:solidFill>
                  <a:srgbClr val="97A4AE"/>
                </a:solidFill>
                <a:latin typeface="Calibri" pitchFamily="34" charset="0"/>
                <a:ea typeface="Calibri" pitchFamily="34" charset="-122"/>
                <a:cs typeface="Calibri" pitchFamily="34" charset="-120"/>
              </a:rPr>
              <a:t>The engine books the trade</a:t>
            </a:r>
            <a:endParaRPr lang="en-US" sz="1100" dirty="0"/>
          </a:p>
        </p:txBody>
      </p:sp>
      <p:sp>
        <p:nvSpPr>
          <p:cNvPr id="19" name="Shape 17"/>
          <p:cNvSpPr/>
          <p:nvPr/>
        </p:nvSpPr>
        <p:spPr>
          <a:xfrm>
            <a:off x="4855464" y="3127248"/>
            <a:ext cx="219456" cy="0"/>
          </a:xfrm>
          <a:prstGeom prst="line">
            <a:avLst/>
          </a:prstGeom>
          <a:noFill/>
          <a:ln w="22225">
            <a:solidFill>
              <a:srgbClr val="6E7C87"/>
            </a:solidFill>
            <a:prstDash val="solid"/>
            <a:tailEnd type="triangle"/>
          </a:ln>
        </p:spPr>
        <p:txBody>
          <a:bodyPr/>
          <a:lstStyle/>
          <a:p>
            <a:endParaRPr lang="en-SE"/>
          </a:p>
        </p:txBody>
      </p:sp>
      <p:sp>
        <p:nvSpPr>
          <p:cNvPr id="20" name="Shape 18"/>
          <p:cNvSpPr/>
          <p:nvPr/>
        </p:nvSpPr>
        <p:spPr>
          <a:xfrm>
            <a:off x="5111496" y="2331720"/>
            <a:ext cx="1920240" cy="1600200"/>
          </a:xfrm>
          <a:prstGeom prst="roundRect">
            <a:avLst>
              <a:gd name="adj" fmla="val 4571"/>
            </a:avLst>
          </a:prstGeom>
          <a:solidFill>
            <a:srgbClr val="252B31"/>
          </a:solidFill>
          <a:ln w="19050">
            <a:solidFill>
              <a:srgbClr val="3FD0C9"/>
            </a:solidFill>
            <a:prstDash val="solid"/>
          </a:ln>
        </p:spPr>
        <p:txBody>
          <a:bodyPr/>
          <a:lstStyle/>
          <a:p>
            <a:endParaRPr lang="en-SE"/>
          </a:p>
        </p:txBody>
      </p:sp>
      <p:sp>
        <p:nvSpPr>
          <p:cNvPr id="21" name="Shape 19"/>
          <p:cNvSpPr/>
          <p:nvPr/>
        </p:nvSpPr>
        <p:spPr>
          <a:xfrm>
            <a:off x="5843016" y="2514600"/>
            <a:ext cx="457200" cy="457200"/>
          </a:xfrm>
          <a:prstGeom prst="roundRect">
            <a:avLst>
              <a:gd name="adj" fmla="val 100000"/>
            </a:avLst>
          </a:prstGeom>
          <a:solidFill>
            <a:srgbClr val="3FD0C9"/>
          </a:solidFill>
          <a:ln/>
        </p:spPr>
        <p:txBody>
          <a:bodyPr/>
          <a:lstStyle/>
          <a:p>
            <a:endParaRPr lang="en-SE"/>
          </a:p>
        </p:txBody>
      </p:sp>
      <p:sp>
        <p:nvSpPr>
          <p:cNvPr id="22" name="Text 20"/>
          <p:cNvSpPr/>
          <p:nvPr/>
        </p:nvSpPr>
        <p:spPr>
          <a:xfrm>
            <a:off x="5843016" y="2514600"/>
            <a:ext cx="457200" cy="457200"/>
          </a:xfrm>
          <a:prstGeom prst="rect">
            <a:avLst/>
          </a:prstGeom>
          <a:noFill/>
          <a:ln/>
        </p:spPr>
        <p:txBody>
          <a:bodyPr wrap="square" lIns="0" tIns="0" rIns="0" bIns="0" rtlCol="0" anchor="ctr"/>
          <a:lstStyle/>
          <a:p>
            <a:pPr marL="0" indent="0" algn="ctr">
              <a:buNone/>
            </a:pPr>
            <a:r>
              <a:rPr lang="en-US" sz="1400" b="1" dirty="0">
                <a:solidFill>
                  <a:srgbClr val="141719"/>
                </a:solidFill>
                <a:latin typeface="Trebuchet MS" pitchFamily="34" charset="0"/>
                <a:ea typeface="Trebuchet MS" pitchFamily="34" charset="-122"/>
                <a:cs typeface="Trebuchet MS" pitchFamily="34" charset="-120"/>
              </a:rPr>
              <a:t>3</a:t>
            </a:r>
            <a:endParaRPr lang="en-US" sz="1400" dirty="0"/>
          </a:p>
        </p:txBody>
      </p:sp>
      <p:sp>
        <p:nvSpPr>
          <p:cNvPr id="23" name="Text 21"/>
          <p:cNvSpPr/>
          <p:nvPr/>
        </p:nvSpPr>
        <p:spPr>
          <a:xfrm>
            <a:off x="5248656" y="3063240"/>
            <a:ext cx="1645920" cy="320040"/>
          </a:xfrm>
          <a:prstGeom prst="rect">
            <a:avLst/>
          </a:prstGeom>
          <a:noFill/>
          <a:ln/>
        </p:spPr>
        <p:txBody>
          <a:bodyPr wrap="square" lIns="0" tIns="0" rIns="0" bIns="0" rtlCol="0" anchor="ctr"/>
          <a:lstStyle/>
          <a:p>
            <a:pPr marL="0" indent="0" algn="ctr">
              <a:buNone/>
            </a:pPr>
            <a:r>
              <a:rPr lang="en-US" sz="1400" b="1" dirty="0">
                <a:solidFill>
                  <a:srgbClr val="3FD0C9"/>
                </a:solidFill>
                <a:latin typeface="Trebuchet MS" pitchFamily="34" charset="0"/>
                <a:ea typeface="Trebuchet MS" pitchFamily="34" charset="-122"/>
                <a:cs typeface="Trebuchet MS" pitchFamily="34" charset="-120"/>
              </a:rPr>
              <a:t>Copies dropped</a:t>
            </a:r>
            <a:endParaRPr lang="en-US" sz="1400" dirty="0"/>
          </a:p>
        </p:txBody>
      </p:sp>
      <p:sp>
        <p:nvSpPr>
          <p:cNvPr id="24" name="Text 22"/>
          <p:cNvSpPr/>
          <p:nvPr/>
        </p:nvSpPr>
        <p:spPr>
          <a:xfrm>
            <a:off x="5248656" y="3383280"/>
            <a:ext cx="1645920" cy="502920"/>
          </a:xfrm>
          <a:prstGeom prst="rect">
            <a:avLst/>
          </a:prstGeom>
          <a:noFill/>
          <a:ln/>
        </p:spPr>
        <p:txBody>
          <a:bodyPr wrap="square" lIns="0" tIns="0" rIns="0" bIns="0" rtlCol="0" anchor="t"/>
          <a:lstStyle/>
          <a:p>
            <a:pPr marL="0" indent="0" algn="ctr">
              <a:lnSpc>
                <a:spcPct val="105000"/>
              </a:lnSpc>
              <a:buNone/>
            </a:pPr>
            <a:r>
              <a:rPr lang="en-US" sz="1100" dirty="0">
                <a:solidFill>
                  <a:srgbClr val="97A4AE"/>
                </a:solidFill>
                <a:latin typeface="Calibri" pitchFamily="34" charset="0"/>
                <a:ea typeface="Calibri" pitchFamily="34" charset="-122"/>
                <a:cs typeface="Calibri" pitchFamily="34" charset="-120"/>
              </a:rPr>
              <a:t>One event per counterparty</a:t>
            </a:r>
            <a:endParaRPr lang="en-US" sz="1100" dirty="0"/>
          </a:p>
        </p:txBody>
      </p:sp>
      <p:sp>
        <p:nvSpPr>
          <p:cNvPr id="25" name="Shape 23"/>
          <p:cNvSpPr/>
          <p:nvPr/>
        </p:nvSpPr>
        <p:spPr>
          <a:xfrm>
            <a:off x="7068312" y="3127248"/>
            <a:ext cx="219456" cy="0"/>
          </a:xfrm>
          <a:prstGeom prst="line">
            <a:avLst/>
          </a:prstGeom>
          <a:noFill/>
          <a:ln w="22225">
            <a:solidFill>
              <a:srgbClr val="6E7C87"/>
            </a:solidFill>
            <a:prstDash val="solid"/>
            <a:tailEnd type="triangle"/>
          </a:ln>
        </p:spPr>
        <p:txBody>
          <a:bodyPr/>
          <a:lstStyle/>
          <a:p>
            <a:endParaRPr lang="en-SE"/>
          </a:p>
        </p:txBody>
      </p:sp>
      <p:sp>
        <p:nvSpPr>
          <p:cNvPr id="26" name="Shape 24"/>
          <p:cNvSpPr/>
          <p:nvPr/>
        </p:nvSpPr>
        <p:spPr>
          <a:xfrm>
            <a:off x="7324344" y="2331720"/>
            <a:ext cx="1920240" cy="1600200"/>
          </a:xfrm>
          <a:prstGeom prst="roundRect">
            <a:avLst>
              <a:gd name="adj" fmla="val 4571"/>
            </a:avLst>
          </a:prstGeom>
          <a:solidFill>
            <a:srgbClr val="252B31"/>
          </a:solidFill>
          <a:ln w="19050">
            <a:solidFill>
              <a:srgbClr val="3FD0C9"/>
            </a:solidFill>
            <a:prstDash val="solid"/>
          </a:ln>
        </p:spPr>
        <p:txBody>
          <a:bodyPr/>
          <a:lstStyle/>
          <a:p>
            <a:endParaRPr lang="en-SE"/>
          </a:p>
        </p:txBody>
      </p:sp>
      <p:sp>
        <p:nvSpPr>
          <p:cNvPr id="27" name="Shape 25"/>
          <p:cNvSpPr/>
          <p:nvPr/>
        </p:nvSpPr>
        <p:spPr>
          <a:xfrm>
            <a:off x="8055864" y="2514600"/>
            <a:ext cx="457200" cy="457200"/>
          </a:xfrm>
          <a:prstGeom prst="roundRect">
            <a:avLst>
              <a:gd name="adj" fmla="val 100000"/>
            </a:avLst>
          </a:prstGeom>
          <a:solidFill>
            <a:srgbClr val="3FD0C9"/>
          </a:solidFill>
          <a:ln/>
        </p:spPr>
        <p:txBody>
          <a:bodyPr/>
          <a:lstStyle/>
          <a:p>
            <a:endParaRPr lang="en-SE"/>
          </a:p>
        </p:txBody>
      </p:sp>
      <p:sp>
        <p:nvSpPr>
          <p:cNvPr id="28" name="Text 26"/>
          <p:cNvSpPr/>
          <p:nvPr/>
        </p:nvSpPr>
        <p:spPr>
          <a:xfrm>
            <a:off x="8055864" y="2514600"/>
            <a:ext cx="457200" cy="457200"/>
          </a:xfrm>
          <a:prstGeom prst="rect">
            <a:avLst/>
          </a:prstGeom>
          <a:noFill/>
          <a:ln/>
        </p:spPr>
        <p:txBody>
          <a:bodyPr wrap="square" lIns="0" tIns="0" rIns="0" bIns="0" rtlCol="0" anchor="ctr"/>
          <a:lstStyle/>
          <a:p>
            <a:pPr marL="0" indent="0" algn="ctr">
              <a:buNone/>
            </a:pPr>
            <a:r>
              <a:rPr lang="en-US" sz="1400" b="1" dirty="0">
                <a:solidFill>
                  <a:srgbClr val="141719"/>
                </a:solidFill>
                <a:latin typeface="Trebuchet MS" pitchFamily="34" charset="0"/>
                <a:ea typeface="Trebuchet MS" pitchFamily="34" charset="-122"/>
                <a:cs typeface="Trebuchet MS" pitchFamily="34" charset="-120"/>
              </a:rPr>
              <a:t>4</a:t>
            </a:r>
            <a:endParaRPr lang="en-US" sz="1400" dirty="0"/>
          </a:p>
        </p:txBody>
      </p:sp>
      <p:sp>
        <p:nvSpPr>
          <p:cNvPr id="29" name="Text 27"/>
          <p:cNvSpPr/>
          <p:nvPr/>
        </p:nvSpPr>
        <p:spPr>
          <a:xfrm>
            <a:off x="7461504" y="3063240"/>
            <a:ext cx="1645920" cy="320040"/>
          </a:xfrm>
          <a:prstGeom prst="rect">
            <a:avLst/>
          </a:prstGeom>
          <a:noFill/>
          <a:ln/>
        </p:spPr>
        <p:txBody>
          <a:bodyPr wrap="square" lIns="0" tIns="0" rIns="0" bIns="0" rtlCol="0" anchor="ctr"/>
          <a:lstStyle/>
          <a:p>
            <a:pPr marL="0" indent="0" algn="ctr">
              <a:buNone/>
            </a:pPr>
            <a:r>
              <a:rPr lang="en-US" sz="1400" b="1" dirty="0">
                <a:solidFill>
                  <a:srgbClr val="3FD0C9"/>
                </a:solidFill>
                <a:latin typeface="Trebuchet MS" pitchFamily="34" charset="0"/>
                <a:ea typeface="Trebuchet MS" pitchFamily="34" charset="-122"/>
                <a:cs typeface="Trebuchet MS" pitchFamily="34" charset="-120"/>
              </a:rPr>
              <a:t>Buffered</a:t>
            </a:r>
            <a:endParaRPr lang="en-US" sz="1400" dirty="0"/>
          </a:p>
        </p:txBody>
      </p:sp>
      <p:sp>
        <p:nvSpPr>
          <p:cNvPr id="30" name="Text 28"/>
          <p:cNvSpPr/>
          <p:nvPr/>
        </p:nvSpPr>
        <p:spPr>
          <a:xfrm>
            <a:off x="7461504" y="3383280"/>
            <a:ext cx="1645920" cy="502920"/>
          </a:xfrm>
          <a:prstGeom prst="rect">
            <a:avLst/>
          </a:prstGeom>
          <a:noFill/>
          <a:ln/>
        </p:spPr>
        <p:txBody>
          <a:bodyPr wrap="square" lIns="0" tIns="0" rIns="0" bIns="0" rtlCol="0" anchor="t"/>
          <a:lstStyle/>
          <a:p>
            <a:pPr marL="0" indent="0" algn="ctr">
              <a:lnSpc>
                <a:spcPct val="105000"/>
              </a:lnSpc>
              <a:buNone/>
            </a:pPr>
            <a:r>
              <a:rPr lang="en-US" sz="1100" dirty="0">
                <a:solidFill>
                  <a:srgbClr val="97A4AE"/>
                </a:solidFill>
                <a:latin typeface="Calibri" pitchFamily="34" charset="0"/>
                <a:ea typeface="Calibri" pitchFamily="34" charset="-122"/>
                <a:cs typeface="Calibri" pitchFamily="34" charset="-120"/>
              </a:rPr>
              <a:t>Appended to the replay buffer</a:t>
            </a:r>
            <a:endParaRPr lang="en-US" sz="1100" dirty="0"/>
          </a:p>
        </p:txBody>
      </p:sp>
      <p:sp>
        <p:nvSpPr>
          <p:cNvPr id="31" name="Shape 29"/>
          <p:cNvSpPr/>
          <p:nvPr/>
        </p:nvSpPr>
        <p:spPr>
          <a:xfrm>
            <a:off x="9281160" y="3127248"/>
            <a:ext cx="219456" cy="0"/>
          </a:xfrm>
          <a:prstGeom prst="line">
            <a:avLst/>
          </a:prstGeom>
          <a:noFill/>
          <a:ln w="22225">
            <a:solidFill>
              <a:srgbClr val="6E7C87"/>
            </a:solidFill>
            <a:prstDash val="solid"/>
            <a:tailEnd type="triangle"/>
          </a:ln>
        </p:spPr>
        <p:txBody>
          <a:bodyPr/>
          <a:lstStyle/>
          <a:p>
            <a:endParaRPr lang="en-SE"/>
          </a:p>
        </p:txBody>
      </p:sp>
      <p:sp>
        <p:nvSpPr>
          <p:cNvPr id="32" name="Shape 30"/>
          <p:cNvSpPr/>
          <p:nvPr/>
        </p:nvSpPr>
        <p:spPr>
          <a:xfrm>
            <a:off x="9537192" y="2331720"/>
            <a:ext cx="1920240" cy="1600200"/>
          </a:xfrm>
          <a:prstGeom prst="roundRect">
            <a:avLst>
              <a:gd name="adj" fmla="val 4571"/>
            </a:avLst>
          </a:prstGeom>
          <a:solidFill>
            <a:srgbClr val="252B31"/>
          </a:solidFill>
          <a:ln w="19050">
            <a:solidFill>
              <a:srgbClr val="5FC97F"/>
            </a:solidFill>
            <a:prstDash val="solid"/>
          </a:ln>
        </p:spPr>
        <p:txBody>
          <a:bodyPr/>
          <a:lstStyle/>
          <a:p>
            <a:endParaRPr lang="en-SE"/>
          </a:p>
        </p:txBody>
      </p:sp>
      <p:sp>
        <p:nvSpPr>
          <p:cNvPr id="33" name="Shape 31"/>
          <p:cNvSpPr/>
          <p:nvPr/>
        </p:nvSpPr>
        <p:spPr>
          <a:xfrm>
            <a:off x="10268712" y="2514600"/>
            <a:ext cx="457200" cy="457200"/>
          </a:xfrm>
          <a:prstGeom prst="roundRect">
            <a:avLst>
              <a:gd name="adj" fmla="val 100000"/>
            </a:avLst>
          </a:prstGeom>
          <a:solidFill>
            <a:srgbClr val="5FC97F"/>
          </a:solidFill>
          <a:ln/>
        </p:spPr>
        <p:txBody>
          <a:bodyPr/>
          <a:lstStyle/>
          <a:p>
            <a:endParaRPr lang="en-SE"/>
          </a:p>
        </p:txBody>
      </p:sp>
      <p:sp>
        <p:nvSpPr>
          <p:cNvPr id="34" name="Text 32"/>
          <p:cNvSpPr/>
          <p:nvPr/>
        </p:nvSpPr>
        <p:spPr>
          <a:xfrm>
            <a:off x="10268712" y="2514600"/>
            <a:ext cx="457200" cy="457200"/>
          </a:xfrm>
          <a:prstGeom prst="rect">
            <a:avLst/>
          </a:prstGeom>
          <a:noFill/>
          <a:ln/>
        </p:spPr>
        <p:txBody>
          <a:bodyPr wrap="square" lIns="0" tIns="0" rIns="0" bIns="0" rtlCol="0" anchor="ctr"/>
          <a:lstStyle/>
          <a:p>
            <a:pPr marL="0" indent="0" algn="ctr">
              <a:buNone/>
            </a:pPr>
            <a:r>
              <a:rPr lang="en-US" sz="1400" b="1" dirty="0">
                <a:solidFill>
                  <a:srgbClr val="141719"/>
                </a:solidFill>
                <a:latin typeface="Trebuchet MS" pitchFamily="34" charset="0"/>
                <a:ea typeface="Trebuchet MS" pitchFamily="34" charset="-122"/>
                <a:cs typeface="Trebuchet MS" pitchFamily="34" charset="-120"/>
              </a:rPr>
              <a:t>5</a:t>
            </a:r>
            <a:endParaRPr lang="en-US" sz="1400" dirty="0"/>
          </a:p>
        </p:txBody>
      </p:sp>
      <p:sp>
        <p:nvSpPr>
          <p:cNvPr id="35" name="Text 33"/>
          <p:cNvSpPr/>
          <p:nvPr/>
        </p:nvSpPr>
        <p:spPr>
          <a:xfrm>
            <a:off x="9674352" y="3063240"/>
            <a:ext cx="1645920" cy="320040"/>
          </a:xfrm>
          <a:prstGeom prst="rect">
            <a:avLst/>
          </a:prstGeom>
          <a:noFill/>
          <a:ln/>
        </p:spPr>
        <p:txBody>
          <a:bodyPr wrap="square" lIns="0" tIns="0" rIns="0" bIns="0" rtlCol="0" anchor="ctr"/>
          <a:lstStyle/>
          <a:p>
            <a:pPr marL="0" indent="0" algn="ctr">
              <a:buNone/>
            </a:pPr>
            <a:r>
              <a:rPr lang="en-US" sz="1400" b="1" dirty="0">
                <a:solidFill>
                  <a:srgbClr val="5FC97F"/>
                </a:solidFill>
                <a:latin typeface="Trebuchet MS" pitchFamily="34" charset="0"/>
                <a:ea typeface="Trebuchet MS" pitchFamily="34" charset="-122"/>
                <a:cs typeface="Trebuchet MS" pitchFamily="34" charset="-120"/>
              </a:rPr>
              <a:t>Broadcast</a:t>
            </a:r>
            <a:endParaRPr lang="en-US" sz="1400" dirty="0"/>
          </a:p>
        </p:txBody>
      </p:sp>
      <p:sp>
        <p:nvSpPr>
          <p:cNvPr id="36" name="Text 34"/>
          <p:cNvSpPr/>
          <p:nvPr/>
        </p:nvSpPr>
        <p:spPr>
          <a:xfrm>
            <a:off x="9674352" y="3383280"/>
            <a:ext cx="1645920" cy="502920"/>
          </a:xfrm>
          <a:prstGeom prst="rect">
            <a:avLst/>
          </a:prstGeom>
          <a:noFill/>
          <a:ln/>
        </p:spPr>
        <p:txBody>
          <a:bodyPr wrap="square" lIns="0" tIns="0" rIns="0" bIns="0" rtlCol="0" anchor="t"/>
          <a:lstStyle/>
          <a:p>
            <a:pPr marL="0" indent="0" algn="ctr">
              <a:lnSpc>
                <a:spcPct val="105000"/>
              </a:lnSpc>
              <a:buNone/>
            </a:pPr>
            <a:r>
              <a:rPr lang="en-US" sz="1100" dirty="0">
                <a:solidFill>
                  <a:srgbClr val="97A4AE"/>
                </a:solidFill>
                <a:latin typeface="Calibri" pitchFamily="34" charset="0"/>
                <a:ea typeface="Calibri" pitchFamily="34" charset="-122"/>
                <a:cs typeface="Calibri" pitchFamily="34" charset="-120"/>
              </a:rPr>
              <a:t>Sent on :5557 to every subscriber</a:t>
            </a:r>
            <a:endParaRPr lang="en-US" sz="1100" dirty="0"/>
          </a:p>
        </p:txBody>
      </p:sp>
      <p:sp>
        <p:nvSpPr>
          <p:cNvPr id="37" name="Shape 35"/>
          <p:cNvSpPr/>
          <p:nvPr/>
        </p:nvSpPr>
        <p:spPr>
          <a:xfrm>
            <a:off x="685800" y="4251960"/>
            <a:ext cx="3423818" cy="1234440"/>
          </a:xfrm>
          <a:prstGeom prst="roundRect">
            <a:avLst>
              <a:gd name="adj" fmla="val 4444"/>
            </a:avLst>
          </a:prstGeom>
          <a:solidFill>
            <a:srgbClr val="252B31"/>
          </a:solidFill>
          <a:ln w="12700">
            <a:solidFill>
              <a:srgbClr val="3A434B"/>
            </a:solidFill>
            <a:prstDash val="solid"/>
          </a:ln>
        </p:spPr>
        <p:txBody>
          <a:bodyPr/>
          <a:lstStyle/>
          <a:p>
            <a:endParaRPr lang="en-SE"/>
          </a:p>
        </p:txBody>
      </p:sp>
      <p:sp>
        <p:nvSpPr>
          <p:cNvPr id="38" name="Text 36"/>
          <p:cNvSpPr/>
          <p:nvPr/>
        </p:nvSpPr>
        <p:spPr>
          <a:xfrm>
            <a:off x="941832" y="4507992"/>
            <a:ext cx="2911754" cy="310896"/>
          </a:xfrm>
          <a:prstGeom prst="rect">
            <a:avLst/>
          </a:prstGeom>
          <a:noFill/>
          <a:ln/>
        </p:spPr>
        <p:txBody>
          <a:bodyPr wrap="square" lIns="0" tIns="0" rIns="0" bIns="0" rtlCol="0" anchor="t"/>
          <a:lstStyle/>
          <a:p>
            <a:pPr marL="0" indent="0">
              <a:buNone/>
            </a:pPr>
            <a:r>
              <a:rPr lang="en-US" sz="1400" b="1" dirty="0">
                <a:solidFill>
                  <a:srgbClr val="ECF1F5"/>
                </a:solidFill>
                <a:latin typeface="Trebuchet MS" pitchFamily="34" charset="0"/>
                <a:ea typeface="Trebuchet MS" pitchFamily="34" charset="-122"/>
                <a:cs typeface="Trebuchet MS" pitchFamily="34" charset="-120"/>
              </a:rPr>
              <a:t>No batching, no end-of-day</a:t>
            </a:r>
            <a:endParaRPr lang="en-US" sz="1400" dirty="0"/>
          </a:p>
        </p:txBody>
      </p:sp>
      <p:sp>
        <p:nvSpPr>
          <p:cNvPr id="39" name="Text 37"/>
          <p:cNvSpPr/>
          <p:nvPr/>
        </p:nvSpPr>
        <p:spPr>
          <a:xfrm>
            <a:off x="941832" y="4892040"/>
            <a:ext cx="2911754" cy="42976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Consumers see fills as they happen, not on a timer.</a:t>
            </a:r>
            <a:endParaRPr lang="en-US" sz="1250" dirty="0"/>
          </a:p>
        </p:txBody>
      </p:sp>
      <p:sp>
        <p:nvSpPr>
          <p:cNvPr id="40" name="Shape 38"/>
          <p:cNvSpPr/>
          <p:nvPr/>
        </p:nvSpPr>
        <p:spPr>
          <a:xfrm>
            <a:off x="4383938" y="4251960"/>
            <a:ext cx="3423818" cy="1234440"/>
          </a:xfrm>
          <a:prstGeom prst="roundRect">
            <a:avLst>
              <a:gd name="adj" fmla="val 4444"/>
            </a:avLst>
          </a:prstGeom>
          <a:solidFill>
            <a:srgbClr val="252B31"/>
          </a:solidFill>
          <a:ln w="12700">
            <a:solidFill>
              <a:srgbClr val="3A434B"/>
            </a:solidFill>
            <a:prstDash val="solid"/>
          </a:ln>
        </p:spPr>
        <p:txBody>
          <a:bodyPr/>
          <a:lstStyle/>
          <a:p>
            <a:endParaRPr lang="en-SE"/>
          </a:p>
        </p:txBody>
      </p:sp>
      <p:sp>
        <p:nvSpPr>
          <p:cNvPr id="41" name="Text 39"/>
          <p:cNvSpPr/>
          <p:nvPr/>
        </p:nvSpPr>
        <p:spPr>
          <a:xfrm>
            <a:off x="4639970" y="4507992"/>
            <a:ext cx="2911754" cy="310896"/>
          </a:xfrm>
          <a:prstGeom prst="rect">
            <a:avLst/>
          </a:prstGeom>
          <a:noFill/>
          <a:ln/>
        </p:spPr>
        <p:txBody>
          <a:bodyPr wrap="square" lIns="0" tIns="0" rIns="0" bIns="0" rtlCol="0" anchor="t"/>
          <a:lstStyle/>
          <a:p>
            <a:pPr marL="0" indent="0">
              <a:buNone/>
            </a:pPr>
            <a:r>
              <a:rPr lang="en-US" sz="1400" b="1" dirty="0">
                <a:solidFill>
                  <a:srgbClr val="ECF1F5"/>
                </a:solidFill>
                <a:latin typeface="Trebuchet MS" pitchFamily="34" charset="0"/>
                <a:ea typeface="Trebuchet MS" pitchFamily="34" charset="-122"/>
                <a:cs typeface="Trebuchet MS" pitchFamily="34" charset="-120"/>
              </a:rPr>
              <a:t>Fire-and-forget broadcast</a:t>
            </a:r>
            <a:endParaRPr lang="en-US" sz="1400" dirty="0"/>
          </a:p>
        </p:txBody>
      </p:sp>
      <p:sp>
        <p:nvSpPr>
          <p:cNvPr id="42" name="Text 40"/>
          <p:cNvSpPr/>
          <p:nvPr/>
        </p:nvSpPr>
        <p:spPr>
          <a:xfrm>
            <a:off x="4639970" y="4892040"/>
            <a:ext cx="2911754" cy="42976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The engine does not wait for or track subscriber acknowledgements.</a:t>
            </a:r>
            <a:endParaRPr lang="en-US" sz="1250" dirty="0"/>
          </a:p>
        </p:txBody>
      </p:sp>
      <p:sp>
        <p:nvSpPr>
          <p:cNvPr id="43" name="Shape 41"/>
          <p:cNvSpPr/>
          <p:nvPr/>
        </p:nvSpPr>
        <p:spPr>
          <a:xfrm>
            <a:off x="8082077" y="4251960"/>
            <a:ext cx="3423818" cy="1234440"/>
          </a:xfrm>
          <a:prstGeom prst="roundRect">
            <a:avLst>
              <a:gd name="adj" fmla="val 4444"/>
            </a:avLst>
          </a:prstGeom>
          <a:solidFill>
            <a:srgbClr val="252B31"/>
          </a:solidFill>
          <a:ln w="12700">
            <a:solidFill>
              <a:srgbClr val="3A434B"/>
            </a:solidFill>
            <a:prstDash val="solid"/>
          </a:ln>
        </p:spPr>
        <p:txBody>
          <a:bodyPr/>
          <a:lstStyle/>
          <a:p>
            <a:endParaRPr lang="en-SE"/>
          </a:p>
        </p:txBody>
      </p:sp>
      <p:sp>
        <p:nvSpPr>
          <p:cNvPr id="44" name="Text 42"/>
          <p:cNvSpPr/>
          <p:nvPr/>
        </p:nvSpPr>
        <p:spPr>
          <a:xfrm>
            <a:off x="8338109" y="4507992"/>
            <a:ext cx="2911754" cy="310896"/>
          </a:xfrm>
          <a:prstGeom prst="rect">
            <a:avLst/>
          </a:prstGeom>
          <a:noFill/>
          <a:ln/>
        </p:spPr>
        <p:txBody>
          <a:bodyPr wrap="square" lIns="0" tIns="0" rIns="0" bIns="0" rtlCol="0" anchor="t"/>
          <a:lstStyle/>
          <a:p>
            <a:pPr marL="0" indent="0">
              <a:buNone/>
            </a:pPr>
            <a:r>
              <a:rPr lang="en-US" sz="1400" b="1" dirty="0">
                <a:solidFill>
                  <a:srgbClr val="ECF1F5"/>
                </a:solidFill>
                <a:latin typeface="Trebuchet MS" pitchFamily="34" charset="0"/>
                <a:ea typeface="Trebuchet MS" pitchFamily="34" charset="-122"/>
                <a:cs typeface="Trebuchet MS" pitchFamily="34" charset="-120"/>
              </a:rPr>
              <a:t>Nothing to poll</a:t>
            </a:r>
            <a:endParaRPr lang="en-US" sz="1400" dirty="0"/>
          </a:p>
        </p:txBody>
      </p:sp>
      <p:sp>
        <p:nvSpPr>
          <p:cNvPr id="45" name="Text 43"/>
          <p:cNvSpPr/>
          <p:nvPr/>
        </p:nvSpPr>
        <p:spPr>
          <a:xfrm>
            <a:off x="8338109" y="4892040"/>
            <a:ext cx="2911754" cy="42976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A subscriber connects once and messages arrive unprompted from then on.</a:t>
            </a:r>
            <a:endParaRPr lang="en-US" sz="1250" dirty="0"/>
          </a:p>
        </p:txBody>
      </p:sp>
      <p:sp>
        <p:nvSpPr>
          <p:cNvPr id="46" name="Text 44"/>
          <p:cNvSpPr/>
          <p:nvPr/>
        </p:nvSpPr>
        <p:spPr>
          <a:xfrm>
            <a:off x="685800" y="5623560"/>
            <a:ext cx="10820095" cy="365760"/>
          </a:xfrm>
          <a:prstGeom prst="rect">
            <a:avLst/>
          </a:prstGeom>
          <a:noFill/>
          <a:ln/>
        </p:spPr>
        <p:txBody>
          <a:bodyPr wrap="square" lIns="0" tIns="0" rIns="0" bIns="0" rtlCol="0" anchor="ctr"/>
          <a:lstStyle/>
          <a:p>
            <a:pPr marL="0" indent="0" algn="ctr">
              <a:buNone/>
            </a:pPr>
            <a:r>
              <a:rPr lang="en-US" sz="1250" i="1" dirty="0">
                <a:solidFill>
                  <a:srgbClr val="6E7C87"/>
                </a:solidFill>
                <a:latin typeface="Calibri" pitchFamily="34" charset="0"/>
                <a:ea typeface="Calibri" pitchFamily="34" charset="-122"/>
                <a:cs typeface="Calibri" pitchFamily="34" charset="-120"/>
              </a:rPr>
              <a:t>Because publication is inline, a slow or absent subscriber never slows down matching — it simply misses messages.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03 · TIMING</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18</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COVERAGE</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Every fill-producing flow reaches the feed</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Drop copy is fed from the engine's single trade-publication path, so it is not limited to simple new-order fills.</a:t>
            </a:r>
            <a:endParaRPr lang="en-US" sz="1450" dirty="0"/>
          </a:p>
        </p:txBody>
      </p:sp>
      <p:sp>
        <p:nvSpPr>
          <p:cNvPr id="8" name="Shape 6"/>
          <p:cNvSpPr/>
          <p:nvPr/>
        </p:nvSpPr>
        <p:spPr>
          <a:xfrm>
            <a:off x="685800" y="2286000"/>
            <a:ext cx="2514600" cy="685800"/>
          </a:xfrm>
          <a:prstGeom prst="roundRect">
            <a:avLst>
              <a:gd name="adj" fmla="val 8000"/>
            </a:avLst>
          </a:prstGeom>
          <a:solidFill>
            <a:srgbClr val="252B31"/>
          </a:solidFill>
          <a:ln w="12700">
            <a:solidFill>
              <a:srgbClr val="3A434B"/>
            </a:solidFill>
            <a:prstDash val="solid"/>
          </a:ln>
        </p:spPr>
        <p:txBody>
          <a:bodyPr/>
          <a:lstStyle/>
          <a:p>
            <a:endParaRPr lang="en-SE"/>
          </a:p>
        </p:txBody>
      </p:sp>
      <p:sp>
        <p:nvSpPr>
          <p:cNvPr id="9" name="Shape 7"/>
          <p:cNvSpPr/>
          <p:nvPr/>
        </p:nvSpPr>
        <p:spPr>
          <a:xfrm>
            <a:off x="923544" y="2569464"/>
            <a:ext cx="128016" cy="128016"/>
          </a:xfrm>
          <a:prstGeom prst="rect">
            <a:avLst/>
          </a:prstGeom>
          <a:solidFill>
            <a:srgbClr val="3FD0C9"/>
          </a:solidFill>
          <a:ln/>
        </p:spPr>
        <p:txBody>
          <a:bodyPr/>
          <a:lstStyle/>
          <a:p>
            <a:endParaRPr lang="en-SE"/>
          </a:p>
        </p:txBody>
      </p:sp>
      <p:sp>
        <p:nvSpPr>
          <p:cNvPr id="10" name="Text 8"/>
          <p:cNvSpPr/>
          <p:nvPr/>
        </p:nvSpPr>
        <p:spPr>
          <a:xfrm>
            <a:off x="1216152" y="2286000"/>
            <a:ext cx="1874520" cy="685800"/>
          </a:xfrm>
          <a:prstGeom prst="rect">
            <a:avLst/>
          </a:prstGeom>
          <a:noFill/>
          <a:ln/>
        </p:spPr>
        <p:txBody>
          <a:bodyPr wrap="square" lIns="0" tIns="0" rIns="0" bIns="0" rtlCol="0" anchor="ctr"/>
          <a:lstStyle/>
          <a:p>
            <a:pPr marL="0" indent="0">
              <a:buNone/>
            </a:pPr>
            <a:r>
              <a:rPr lang="en-US" sz="1300" dirty="0">
                <a:solidFill>
                  <a:srgbClr val="ECF1F5"/>
                </a:solidFill>
                <a:latin typeface="Calibri" pitchFamily="34" charset="0"/>
                <a:ea typeface="Calibri" pitchFamily="34" charset="-122"/>
                <a:cs typeface="Calibri" pitchFamily="34" charset="-120"/>
              </a:rPr>
              <a:t>New orders</a:t>
            </a:r>
            <a:endParaRPr lang="en-US" sz="1300" dirty="0"/>
          </a:p>
        </p:txBody>
      </p:sp>
      <p:sp>
        <p:nvSpPr>
          <p:cNvPr id="11" name="Shape 9"/>
          <p:cNvSpPr/>
          <p:nvPr/>
        </p:nvSpPr>
        <p:spPr>
          <a:xfrm>
            <a:off x="3429000" y="2286000"/>
            <a:ext cx="2514600" cy="685800"/>
          </a:xfrm>
          <a:prstGeom prst="roundRect">
            <a:avLst>
              <a:gd name="adj" fmla="val 8000"/>
            </a:avLst>
          </a:prstGeom>
          <a:solidFill>
            <a:srgbClr val="252B31"/>
          </a:solidFill>
          <a:ln w="12700">
            <a:solidFill>
              <a:srgbClr val="3A434B"/>
            </a:solidFill>
            <a:prstDash val="solid"/>
          </a:ln>
        </p:spPr>
        <p:txBody>
          <a:bodyPr/>
          <a:lstStyle/>
          <a:p>
            <a:endParaRPr lang="en-SE"/>
          </a:p>
        </p:txBody>
      </p:sp>
      <p:sp>
        <p:nvSpPr>
          <p:cNvPr id="12" name="Shape 10"/>
          <p:cNvSpPr/>
          <p:nvPr/>
        </p:nvSpPr>
        <p:spPr>
          <a:xfrm>
            <a:off x="3666744" y="2569464"/>
            <a:ext cx="128016" cy="128016"/>
          </a:xfrm>
          <a:prstGeom prst="rect">
            <a:avLst/>
          </a:prstGeom>
          <a:solidFill>
            <a:srgbClr val="3FD0C9"/>
          </a:solidFill>
          <a:ln/>
        </p:spPr>
        <p:txBody>
          <a:bodyPr/>
          <a:lstStyle/>
          <a:p>
            <a:endParaRPr lang="en-SE"/>
          </a:p>
        </p:txBody>
      </p:sp>
      <p:sp>
        <p:nvSpPr>
          <p:cNvPr id="13" name="Text 11"/>
          <p:cNvSpPr/>
          <p:nvPr/>
        </p:nvSpPr>
        <p:spPr>
          <a:xfrm>
            <a:off x="3959352" y="2286000"/>
            <a:ext cx="1874520" cy="685800"/>
          </a:xfrm>
          <a:prstGeom prst="rect">
            <a:avLst/>
          </a:prstGeom>
          <a:noFill/>
          <a:ln/>
        </p:spPr>
        <p:txBody>
          <a:bodyPr wrap="square" lIns="0" tIns="0" rIns="0" bIns="0" rtlCol="0" anchor="ctr"/>
          <a:lstStyle/>
          <a:p>
            <a:pPr marL="0" indent="0">
              <a:buNone/>
            </a:pPr>
            <a:r>
              <a:rPr lang="en-US" sz="1300" dirty="0">
                <a:solidFill>
                  <a:srgbClr val="ECF1F5"/>
                </a:solidFill>
                <a:latin typeface="Calibri" pitchFamily="34" charset="0"/>
                <a:ea typeface="Calibri" pitchFamily="34" charset="-122"/>
                <a:cs typeface="Calibri" pitchFamily="34" charset="-120"/>
              </a:rPr>
              <a:t>Quotes</a:t>
            </a:r>
            <a:endParaRPr lang="en-US" sz="1300" dirty="0"/>
          </a:p>
        </p:txBody>
      </p:sp>
      <p:sp>
        <p:nvSpPr>
          <p:cNvPr id="14" name="Shape 12"/>
          <p:cNvSpPr/>
          <p:nvPr/>
        </p:nvSpPr>
        <p:spPr>
          <a:xfrm>
            <a:off x="6172200" y="2286000"/>
            <a:ext cx="2514600" cy="685800"/>
          </a:xfrm>
          <a:prstGeom prst="roundRect">
            <a:avLst>
              <a:gd name="adj" fmla="val 8000"/>
            </a:avLst>
          </a:prstGeom>
          <a:solidFill>
            <a:srgbClr val="252B31"/>
          </a:solidFill>
          <a:ln w="12700">
            <a:solidFill>
              <a:srgbClr val="3A434B"/>
            </a:solidFill>
            <a:prstDash val="solid"/>
          </a:ln>
        </p:spPr>
        <p:txBody>
          <a:bodyPr/>
          <a:lstStyle/>
          <a:p>
            <a:endParaRPr lang="en-SE"/>
          </a:p>
        </p:txBody>
      </p:sp>
      <p:sp>
        <p:nvSpPr>
          <p:cNvPr id="15" name="Shape 13"/>
          <p:cNvSpPr/>
          <p:nvPr/>
        </p:nvSpPr>
        <p:spPr>
          <a:xfrm>
            <a:off x="6409944" y="2569464"/>
            <a:ext cx="128016" cy="128016"/>
          </a:xfrm>
          <a:prstGeom prst="rect">
            <a:avLst/>
          </a:prstGeom>
          <a:solidFill>
            <a:srgbClr val="3FD0C9"/>
          </a:solidFill>
          <a:ln/>
        </p:spPr>
        <p:txBody>
          <a:bodyPr/>
          <a:lstStyle/>
          <a:p>
            <a:endParaRPr lang="en-SE"/>
          </a:p>
        </p:txBody>
      </p:sp>
      <p:sp>
        <p:nvSpPr>
          <p:cNvPr id="16" name="Text 14"/>
          <p:cNvSpPr/>
          <p:nvPr/>
        </p:nvSpPr>
        <p:spPr>
          <a:xfrm>
            <a:off x="6702552" y="2286000"/>
            <a:ext cx="1874520" cy="685800"/>
          </a:xfrm>
          <a:prstGeom prst="rect">
            <a:avLst/>
          </a:prstGeom>
          <a:noFill/>
          <a:ln/>
        </p:spPr>
        <p:txBody>
          <a:bodyPr wrap="square" lIns="0" tIns="0" rIns="0" bIns="0" rtlCol="0" anchor="ctr"/>
          <a:lstStyle/>
          <a:p>
            <a:pPr marL="0" indent="0">
              <a:buNone/>
            </a:pPr>
            <a:r>
              <a:rPr lang="en-US" sz="1300" dirty="0">
                <a:solidFill>
                  <a:srgbClr val="ECF1F5"/>
                </a:solidFill>
                <a:latin typeface="Calibri" pitchFamily="34" charset="0"/>
                <a:ea typeface="Calibri" pitchFamily="34" charset="-122"/>
                <a:cs typeface="Calibri" pitchFamily="34" charset="-120"/>
              </a:rPr>
              <a:t>Combination legs</a:t>
            </a:r>
            <a:endParaRPr lang="en-US" sz="1300" dirty="0"/>
          </a:p>
        </p:txBody>
      </p:sp>
      <p:sp>
        <p:nvSpPr>
          <p:cNvPr id="17" name="Shape 15"/>
          <p:cNvSpPr/>
          <p:nvPr/>
        </p:nvSpPr>
        <p:spPr>
          <a:xfrm>
            <a:off x="8915400" y="2286000"/>
            <a:ext cx="2514600" cy="685800"/>
          </a:xfrm>
          <a:prstGeom prst="roundRect">
            <a:avLst>
              <a:gd name="adj" fmla="val 8000"/>
            </a:avLst>
          </a:prstGeom>
          <a:solidFill>
            <a:srgbClr val="252B31"/>
          </a:solidFill>
          <a:ln w="12700">
            <a:solidFill>
              <a:srgbClr val="3A434B"/>
            </a:solidFill>
            <a:prstDash val="solid"/>
          </a:ln>
        </p:spPr>
        <p:txBody>
          <a:bodyPr/>
          <a:lstStyle/>
          <a:p>
            <a:endParaRPr lang="en-SE"/>
          </a:p>
        </p:txBody>
      </p:sp>
      <p:sp>
        <p:nvSpPr>
          <p:cNvPr id="18" name="Shape 16"/>
          <p:cNvSpPr/>
          <p:nvPr/>
        </p:nvSpPr>
        <p:spPr>
          <a:xfrm>
            <a:off x="9153144" y="2569464"/>
            <a:ext cx="128016" cy="128016"/>
          </a:xfrm>
          <a:prstGeom prst="rect">
            <a:avLst/>
          </a:prstGeom>
          <a:solidFill>
            <a:srgbClr val="3FD0C9"/>
          </a:solidFill>
          <a:ln/>
        </p:spPr>
        <p:txBody>
          <a:bodyPr/>
          <a:lstStyle/>
          <a:p>
            <a:endParaRPr lang="en-SE"/>
          </a:p>
        </p:txBody>
      </p:sp>
      <p:sp>
        <p:nvSpPr>
          <p:cNvPr id="19" name="Text 17"/>
          <p:cNvSpPr/>
          <p:nvPr/>
        </p:nvSpPr>
        <p:spPr>
          <a:xfrm>
            <a:off x="9445752" y="2286000"/>
            <a:ext cx="1874520" cy="685800"/>
          </a:xfrm>
          <a:prstGeom prst="rect">
            <a:avLst/>
          </a:prstGeom>
          <a:noFill/>
          <a:ln/>
        </p:spPr>
        <p:txBody>
          <a:bodyPr wrap="square" lIns="0" tIns="0" rIns="0" bIns="0" rtlCol="0" anchor="ctr"/>
          <a:lstStyle/>
          <a:p>
            <a:pPr marL="0" indent="0">
              <a:buNone/>
            </a:pPr>
            <a:r>
              <a:rPr lang="en-US" sz="1300" dirty="0">
                <a:solidFill>
                  <a:srgbClr val="ECF1F5"/>
                </a:solidFill>
                <a:latin typeface="Calibri" pitchFamily="34" charset="0"/>
                <a:ea typeface="Calibri" pitchFamily="34" charset="-122"/>
                <a:cs typeface="Calibri" pitchFamily="34" charset="-120"/>
              </a:rPr>
              <a:t>OCO legs</a:t>
            </a:r>
            <a:endParaRPr lang="en-US" sz="1300" dirty="0"/>
          </a:p>
        </p:txBody>
      </p:sp>
      <p:sp>
        <p:nvSpPr>
          <p:cNvPr id="20" name="Shape 18"/>
          <p:cNvSpPr/>
          <p:nvPr/>
        </p:nvSpPr>
        <p:spPr>
          <a:xfrm>
            <a:off x="685800" y="3154680"/>
            <a:ext cx="2514600" cy="685800"/>
          </a:xfrm>
          <a:prstGeom prst="roundRect">
            <a:avLst>
              <a:gd name="adj" fmla="val 8000"/>
            </a:avLst>
          </a:prstGeom>
          <a:solidFill>
            <a:srgbClr val="252B31"/>
          </a:solidFill>
          <a:ln w="12700">
            <a:solidFill>
              <a:srgbClr val="3A434B"/>
            </a:solidFill>
            <a:prstDash val="solid"/>
          </a:ln>
        </p:spPr>
        <p:txBody>
          <a:bodyPr/>
          <a:lstStyle/>
          <a:p>
            <a:endParaRPr lang="en-SE"/>
          </a:p>
        </p:txBody>
      </p:sp>
      <p:sp>
        <p:nvSpPr>
          <p:cNvPr id="21" name="Shape 19"/>
          <p:cNvSpPr/>
          <p:nvPr/>
        </p:nvSpPr>
        <p:spPr>
          <a:xfrm>
            <a:off x="923544" y="3438144"/>
            <a:ext cx="128016" cy="128016"/>
          </a:xfrm>
          <a:prstGeom prst="rect">
            <a:avLst/>
          </a:prstGeom>
          <a:solidFill>
            <a:srgbClr val="3FD0C9"/>
          </a:solidFill>
          <a:ln/>
        </p:spPr>
        <p:txBody>
          <a:bodyPr/>
          <a:lstStyle/>
          <a:p>
            <a:endParaRPr lang="en-SE"/>
          </a:p>
        </p:txBody>
      </p:sp>
      <p:sp>
        <p:nvSpPr>
          <p:cNvPr id="22" name="Text 20"/>
          <p:cNvSpPr/>
          <p:nvPr/>
        </p:nvSpPr>
        <p:spPr>
          <a:xfrm>
            <a:off x="1216152" y="3154680"/>
            <a:ext cx="1874520" cy="685800"/>
          </a:xfrm>
          <a:prstGeom prst="rect">
            <a:avLst/>
          </a:prstGeom>
          <a:noFill/>
          <a:ln/>
        </p:spPr>
        <p:txBody>
          <a:bodyPr wrap="square" lIns="0" tIns="0" rIns="0" bIns="0" rtlCol="0" anchor="ctr"/>
          <a:lstStyle/>
          <a:p>
            <a:pPr marL="0" indent="0">
              <a:buNone/>
            </a:pPr>
            <a:r>
              <a:rPr lang="en-US" sz="1300" dirty="0">
                <a:solidFill>
                  <a:srgbClr val="ECF1F5"/>
                </a:solidFill>
                <a:latin typeface="Calibri" pitchFamily="34" charset="0"/>
                <a:ea typeface="Calibri" pitchFamily="34" charset="-122"/>
                <a:cs typeface="Calibri" pitchFamily="34" charset="-120"/>
              </a:rPr>
              <a:t>Auction uncrosses</a:t>
            </a:r>
            <a:endParaRPr lang="en-US" sz="1300" dirty="0"/>
          </a:p>
        </p:txBody>
      </p:sp>
      <p:sp>
        <p:nvSpPr>
          <p:cNvPr id="23" name="Shape 21"/>
          <p:cNvSpPr/>
          <p:nvPr/>
        </p:nvSpPr>
        <p:spPr>
          <a:xfrm>
            <a:off x="3429000" y="3154680"/>
            <a:ext cx="2514600" cy="685800"/>
          </a:xfrm>
          <a:prstGeom prst="roundRect">
            <a:avLst>
              <a:gd name="adj" fmla="val 8000"/>
            </a:avLst>
          </a:prstGeom>
          <a:solidFill>
            <a:srgbClr val="252B31"/>
          </a:solidFill>
          <a:ln w="12700">
            <a:solidFill>
              <a:srgbClr val="3A434B"/>
            </a:solidFill>
            <a:prstDash val="solid"/>
          </a:ln>
        </p:spPr>
        <p:txBody>
          <a:bodyPr/>
          <a:lstStyle/>
          <a:p>
            <a:endParaRPr lang="en-SE"/>
          </a:p>
        </p:txBody>
      </p:sp>
      <p:sp>
        <p:nvSpPr>
          <p:cNvPr id="24" name="Shape 22"/>
          <p:cNvSpPr/>
          <p:nvPr/>
        </p:nvSpPr>
        <p:spPr>
          <a:xfrm>
            <a:off x="3666744" y="3438144"/>
            <a:ext cx="128016" cy="128016"/>
          </a:xfrm>
          <a:prstGeom prst="rect">
            <a:avLst/>
          </a:prstGeom>
          <a:solidFill>
            <a:srgbClr val="3FD0C9"/>
          </a:solidFill>
          <a:ln/>
        </p:spPr>
        <p:txBody>
          <a:bodyPr/>
          <a:lstStyle/>
          <a:p>
            <a:endParaRPr lang="en-SE"/>
          </a:p>
        </p:txBody>
      </p:sp>
      <p:sp>
        <p:nvSpPr>
          <p:cNvPr id="25" name="Text 23"/>
          <p:cNvSpPr/>
          <p:nvPr/>
        </p:nvSpPr>
        <p:spPr>
          <a:xfrm>
            <a:off x="3959352" y="3154680"/>
            <a:ext cx="1874520" cy="685800"/>
          </a:xfrm>
          <a:prstGeom prst="rect">
            <a:avLst/>
          </a:prstGeom>
          <a:noFill/>
          <a:ln/>
        </p:spPr>
        <p:txBody>
          <a:bodyPr wrap="square" lIns="0" tIns="0" rIns="0" bIns="0" rtlCol="0" anchor="ctr"/>
          <a:lstStyle/>
          <a:p>
            <a:pPr marL="0" indent="0">
              <a:buNone/>
            </a:pPr>
            <a:r>
              <a:rPr lang="en-US" sz="1300" dirty="0">
                <a:solidFill>
                  <a:srgbClr val="ECF1F5"/>
                </a:solidFill>
                <a:latin typeface="Calibri" pitchFamily="34" charset="0"/>
                <a:ea typeface="Calibri" pitchFamily="34" charset="-122"/>
                <a:cs typeface="Calibri" pitchFamily="34" charset="-120"/>
              </a:rPr>
              <a:t>Stop cascades</a:t>
            </a:r>
            <a:endParaRPr lang="en-US" sz="1300" dirty="0"/>
          </a:p>
        </p:txBody>
      </p:sp>
      <p:sp>
        <p:nvSpPr>
          <p:cNvPr id="26" name="Shape 24"/>
          <p:cNvSpPr/>
          <p:nvPr/>
        </p:nvSpPr>
        <p:spPr>
          <a:xfrm>
            <a:off x="6172200" y="3154680"/>
            <a:ext cx="2514600" cy="685800"/>
          </a:xfrm>
          <a:prstGeom prst="roundRect">
            <a:avLst>
              <a:gd name="adj" fmla="val 8000"/>
            </a:avLst>
          </a:prstGeom>
          <a:solidFill>
            <a:srgbClr val="252B31"/>
          </a:solidFill>
          <a:ln w="12700">
            <a:solidFill>
              <a:srgbClr val="3A434B"/>
            </a:solidFill>
            <a:prstDash val="solid"/>
          </a:ln>
        </p:spPr>
        <p:txBody>
          <a:bodyPr/>
          <a:lstStyle/>
          <a:p>
            <a:endParaRPr lang="en-SE"/>
          </a:p>
        </p:txBody>
      </p:sp>
      <p:sp>
        <p:nvSpPr>
          <p:cNvPr id="27" name="Shape 25"/>
          <p:cNvSpPr/>
          <p:nvPr/>
        </p:nvSpPr>
        <p:spPr>
          <a:xfrm>
            <a:off x="6409944" y="3438144"/>
            <a:ext cx="128016" cy="128016"/>
          </a:xfrm>
          <a:prstGeom prst="rect">
            <a:avLst/>
          </a:prstGeom>
          <a:solidFill>
            <a:srgbClr val="3FD0C9"/>
          </a:solidFill>
          <a:ln/>
        </p:spPr>
        <p:txBody>
          <a:bodyPr/>
          <a:lstStyle/>
          <a:p>
            <a:endParaRPr lang="en-SE"/>
          </a:p>
        </p:txBody>
      </p:sp>
      <p:sp>
        <p:nvSpPr>
          <p:cNvPr id="28" name="Text 26"/>
          <p:cNvSpPr/>
          <p:nvPr/>
        </p:nvSpPr>
        <p:spPr>
          <a:xfrm>
            <a:off x="6702552" y="3154680"/>
            <a:ext cx="1874520" cy="685800"/>
          </a:xfrm>
          <a:prstGeom prst="rect">
            <a:avLst/>
          </a:prstGeom>
          <a:noFill/>
          <a:ln/>
        </p:spPr>
        <p:txBody>
          <a:bodyPr wrap="square" lIns="0" tIns="0" rIns="0" bIns="0" rtlCol="0" anchor="ctr"/>
          <a:lstStyle/>
          <a:p>
            <a:pPr marL="0" indent="0">
              <a:buNone/>
            </a:pPr>
            <a:r>
              <a:rPr lang="en-US" sz="1300" dirty="0">
                <a:solidFill>
                  <a:srgbClr val="ECF1F5"/>
                </a:solidFill>
                <a:latin typeface="Calibri" pitchFamily="34" charset="0"/>
                <a:ea typeface="Calibri" pitchFamily="34" charset="-122"/>
                <a:cs typeface="Calibri" pitchFamily="34" charset="-120"/>
              </a:rPr>
              <a:t>Amend re-matches</a:t>
            </a:r>
            <a:endParaRPr lang="en-US" sz="1300" dirty="0"/>
          </a:p>
        </p:txBody>
      </p:sp>
      <p:sp>
        <p:nvSpPr>
          <p:cNvPr id="29" name="Shape 27"/>
          <p:cNvSpPr/>
          <p:nvPr/>
        </p:nvSpPr>
        <p:spPr>
          <a:xfrm>
            <a:off x="8961120" y="3154680"/>
            <a:ext cx="2542032" cy="685800"/>
          </a:xfrm>
          <a:prstGeom prst="roundRect">
            <a:avLst>
              <a:gd name="adj" fmla="val 8000"/>
            </a:avLst>
          </a:prstGeom>
          <a:solidFill>
            <a:srgbClr val="141719"/>
          </a:solidFill>
          <a:ln w="12700">
            <a:solidFill>
              <a:srgbClr val="3A434B"/>
            </a:solidFill>
            <a:prstDash val="solid"/>
          </a:ln>
        </p:spPr>
        <p:txBody>
          <a:bodyPr/>
          <a:lstStyle/>
          <a:p>
            <a:endParaRPr lang="en-SE"/>
          </a:p>
        </p:txBody>
      </p:sp>
      <p:sp>
        <p:nvSpPr>
          <p:cNvPr id="30" name="Text 28"/>
          <p:cNvSpPr/>
          <p:nvPr/>
        </p:nvSpPr>
        <p:spPr>
          <a:xfrm>
            <a:off x="9217152" y="3410712"/>
            <a:ext cx="2029968" cy="310896"/>
          </a:xfrm>
          <a:prstGeom prst="rect">
            <a:avLst/>
          </a:prstGeom>
          <a:noFill/>
          <a:ln/>
        </p:spPr>
        <p:txBody>
          <a:bodyPr wrap="square" lIns="0" tIns="0" rIns="0" bIns="0" rtlCol="0" anchor="t"/>
          <a:lstStyle/>
          <a:p>
            <a:pPr marL="0" indent="0">
              <a:buNone/>
            </a:pPr>
            <a:r>
              <a:rPr lang="en-US" sz="1500" b="1" dirty="0">
                <a:solidFill>
                  <a:srgbClr val="F0A202"/>
                </a:solidFill>
                <a:latin typeface="Trebuchet MS" pitchFamily="34" charset="0"/>
                <a:ea typeface="Trebuchet MS" pitchFamily="34" charset="-122"/>
                <a:cs typeface="Trebuchet MS" pitchFamily="34" charset="-120"/>
              </a:rPr>
              <a:t>…all of them</a:t>
            </a:r>
            <a:endParaRPr lang="en-US" sz="1500" dirty="0"/>
          </a:p>
        </p:txBody>
      </p:sp>
      <p:sp>
        <p:nvSpPr>
          <p:cNvPr id="31" name="Shape 29"/>
          <p:cNvSpPr/>
          <p:nvPr/>
        </p:nvSpPr>
        <p:spPr>
          <a:xfrm>
            <a:off x="685800" y="4206240"/>
            <a:ext cx="10820095" cy="914400"/>
          </a:xfrm>
          <a:prstGeom prst="roundRect">
            <a:avLst>
              <a:gd name="adj" fmla="val 6000"/>
            </a:avLst>
          </a:prstGeom>
          <a:solidFill>
            <a:srgbClr val="252B31"/>
          </a:solidFill>
          <a:ln w="19050">
            <a:solidFill>
              <a:srgbClr val="3FD0C9"/>
            </a:solidFill>
            <a:prstDash val="solid"/>
          </a:ln>
        </p:spPr>
        <p:txBody>
          <a:bodyPr/>
          <a:lstStyle/>
          <a:p>
            <a:endParaRPr lang="en-SE"/>
          </a:p>
        </p:txBody>
      </p:sp>
      <p:sp>
        <p:nvSpPr>
          <p:cNvPr id="32" name="Shape 30"/>
          <p:cNvSpPr/>
          <p:nvPr/>
        </p:nvSpPr>
        <p:spPr>
          <a:xfrm>
            <a:off x="923544" y="4480560"/>
            <a:ext cx="365760" cy="365760"/>
          </a:xfrm>
          <a:prstGeom prst="roundRect">
            <a:avLst>
              <a:gd name="adj" fmla="val 125000"/>
            </a:avLst>
          </a:prstGeom>
          <a:solidFill>
            <a:srgbClr val="3FD0C9"/>
          </a:solidFill>
          <a:ln/>
        </p:spPr>
        <p:txBody>
          <a:bodyPr/>
          <a:lstStyle/>
          <a:p>
            <a:endParaRPr lang="en-SE"/>
          </a:p>
        </p:txBody>
      </p:sp>
      <p:sp>
        <p:nvSpPr>
          <p:cNvPr id="33" name="Text 31"/>
          <p:cNvSpPr/>
          <p:nvPr/>
        </p:nvSpPr>
        <p:spPr>
          <a:xfrm>
            <a:off x="923544" y="448056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i</a:t>
            </a:r>
            <a:endParaRPr lang="en-US" sz="1500" dirty="0"/>
          </a:p>
        </p:txBody>
      </p:sp>
      <p:sp>
        <p:nvSpPr>
          <p:cNvPr id="34" name="Text 32"/>
          <p:cNvSpPr/>
          <p:nvPr/>
        </p:nvSpPr>
        <p:spPr>
          <a:xfrm>
            <a:off x="1453896" y="4352544"/>
            <a:ext cx="9814255" cy="621792"/>
          </a:xfrm>
          <a:prstGeom prst="rect">
            <a:avLst/>
          </a:prstGeom>
          <a:noFill/>
          <a:ln/>
        </p:spPr>
        <p:txBody>
          <a:bodyPr wrap="square" lIns="0" tIns="0" rIns="0" bIns="0" rtlCol="0" anchor="ctr"/>
          <a:lstStyle/>
          <a:p>
            <a:pPr marL="0" indent="0">
              <a:lnSpc>
                <a:spcPct val="110000"/>
              </a:lnSpc>
              <a:buNone/>
            </a:pPr>
            <a:r>
              <a:rPr lang="en-US" sz="1350" b="1" dirty="0">
                <a:solidFill>
                  <a:srgbClr val="3FD0C9"/>
                </a:solidFill>
                <a:latin typeface="Trebuchet MS" pitchFamily="34" charset="0"/>
                <a:ea typeface="Trebuchet MS" pitchFamily="34" charset="-122"/>
                <a:cs typeface="Trebuchet MS" pitchFamily="34" charset="-120"/>
              </a:rPr>
              <a:t>Why one publication path matters operationally</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Because there is exactly one place in the engine where a trade is published, a new trading feature cannot accidentally bypass drop copy. If a fill happened, a drop copy event was emitted for it.</a:t>
            </a:r>
            <a:endParaRPr lang="en-US" sz="1350" dirty="0"/>
          </a:p>
        </p:txBody>
      </p:sp>
      <p:sp>
        <p:nvSpPr>
          <p:cNvPr id="35" name="Text 33"/>
          <p:cNvSpPr/>
          <p:nvPr/>
        </p:nvSpPr>
        <p:spPr>
          <a:xfrm>
            <a:off x="685800" y="5349240"/>
            <a:ext cx="5029200" cy="320040"/>
          </a:xfrm>
          <a:prstGeom prst="rect">
            <a:avLst/>
          </a:prstGeom>
          <a:noFill/>
          <a:ln/>
        </p:spPr>
        <p:txBody>
          <a:bodyPr wrap="square" lIns="0" tIns="0" rIns="0" bIns="0" rtlCol="0" anchor="ctr"/>
          <a:lstStyle/>
          <a:p>
            <a:pPr marL="0" indent="0">
              <a:buNone/>
            </a:pPr>
            <a:r>
              <a:rPr lang="en-US" sz="1500" b="1" dirty="0">
                <a:solidFill>
                  <a:srgbClr val="ECF1F5"/>
                </a:solidFill>
                <a:latin typeface="Trebuchet MS" pitchFamily="34" charset="0"/>
                <a:ea typeface="Trebuchet MS" pitchFamily="34" charset="-122"/>
                <a:cs typeface="Trebuchet MS" pitchFamily="34" charset="-120"/>
              </a:rPr>
              <a:t>One live event type today</a:t>
            </a:r>
            <a:endParaRPr lang="en-US" sz="1500" dirty="0"/>
          </a:p>
        </p:txBody>
      </p:sp>
      <p:sp>
        <p:nvSpPr>
          <p:cNvPr id="36" name="Text 34"/>
          <p:cNvSpPr/>
          <p:nvPr/>
        </p:nvSpPr>
        <p:spPr>
          <a:xfrm>
            <a:off x="685800" y="5669280"/>
            <a:ext cx="10789920" cy="548640"/>
          </a:xfrm>
          <a:prstGeom prst="rect">
            <a:avLst/>
          </a:prstGeom>
          <a:noFill/>
          <a:ln/>
        </p:spPr>
        <p:txBody>
          <a:bodyPr wrap="square" lIns="0" tIns="0" rIns="0" bIns="0" rtlCol="0" anchor="t"/>
          <a:lstStyle/>
          <a:p>
            <a:pPr marL="0" indent="0">
              <a:buNone/>
            </a:pPr>
            <a:r>
              <a:rPr lang="en-US" sz="1250" dirty="0">
                <a:solidFill>
                  <a:srgbClr val="97A4AE"/>
                </a:solidFill>
                <a:latin typeface="Calibri" pitchFamily="34" charset="0"/>
                <a:ea typeface="Calibri" pitchFamily="34" charset="-122"/>
                <a:cs typeface="Calibri" pitchFamily="34" charset="-120"/>
              </a:rPr>
              <a:t>The engine currently emits only order.fill on this feed. The event_type field exists so more types can be added without breaking consumers that already parse the envelope.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03 · TIMING</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19</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ENGINE STARTUP</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Drop copy binds at step 8 of 9</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Knowing the order tells you what has already happened when the audit feed comes alive.</a:t>
            </a:r>
            <a:endParaRPr lang="en-US" sz="1450" dirty="0"/>
          </a:p>
        </p:txBody>
      </p:sp>
      <p:sp>
        <p:nvSpPr>
          <p:cNvPr id="8" name="Shape 6"/>
          <p:cNvSpPr/>
          <p:nvPr/>
        </p:nvSpPr>
        <p:spPr>
          <a:xfrm>
            <a:off x="685800" y="2212848"/>
            <a:ext cx="7223760" cy="365760"/>
          </a:xfrm>
          <a:prstGeom prst="roundRect">
            <a:avLst>
              <a:gd name="adj" fmla="val 12500"/>
            </a:avLst>
          </a:prstGeom>
          <a:solidFill>
            <a:srgbClr val="252B31"/>
          </a:solidFill>
          <a:ln w="12700">
            <a:solidFill>
              <a:srgbClr val="3A434B"/>
            </a:solidFill>
            <a:prstDash val="solid"/>
          </a:ln>
        </p:spPr>
        <p:txBody>
          <a:bodyPr/>
          <a:lstStyle/>
          <a:p>
            <a:endParaRPr lang="en-SE"/>
          </a:p>
        </p:txBody>
      </p:sp>
      <p:sp>
        <p:nvSpPr>
          <p:cNvPr id="9" name="Text 7"/>
          <p:cNvSpPr/>
          <p:nvPr/>
        </p:nvSpPr>
        <p:spPr>
          <a:xfrm>
            <a:off x="822960" y="2212848"/>
            <a:ext cx="365760" cy="365760"/>
          </a:xfrm>
          <a:prstGeom prst="rect">
            <a:avLst/>
          </a:prstGeom>
          <a:noFill/>
          <a:ln/>
        </p:spPr>
        <p:txBody>
          <a:bodyPr wrap="square" lIns="0" tIns="0" rIns="0" bIns="0" rtlCol="0" anchor="ctr"/>
          <a:lstStyle/>
          <a:p>
            <a:pPr marL="0" indent="0" algn="ctr">
              <a:buNone/>
            </a:pPr>
            <a:r>
              <a:rPr lang="en-US" sz="1150" b="1" dirty="0">
                <a:solidFill>
                  <a:srgbClr val="6E7C87"/>
                </a:solidFill>
                <a:latin typeface="Consolas" pitchFamily="34" charset="0"/>
                <a:ea typeface="Consolas" pitchFamily="34" charset="-122"/>
                <a:cs typeface="Consolas" pitchFamily="34" charset="-120"/>
              </a:rPr>
              <a:t>1</a:t>
            </a:r>
            <a:endParaRPr lang="en-US" sz="1150" dirty="0"/>
          </a:p>
        </p:txBody>
      </p:sp>
      <p:sp>
        <p:nvSpPr>
          <p:cNvPr id="10" name="Text 8"/>
          <p:cNvSpPr/>
          <p:nvPr/>
        </p:nvSpPr>
        <p:spPr>
          <a:xfrm>
            <a:off x="1280160" y="2212848"/>
            <a:ext cx="6492240" cy="365760"/>
          </a:xfrm>
          <a:prstGeom prst="rect">
            <a:avLst/>
          </a:prstGeom>
          <a:noFill/>
          <a:ln/>
        </p:spPr>
        <p:txBody>
          <a:bodyPr wrap="square" lIns="0" tIns="0" rIns="0" bIns="0" rtlCol="0" anchor="ctr"/>
          <a:lstStyle/>
          <a:p>
            <a:pPr marL="0" indent="0">
              <a:buNone/>
            </a:pPr>
            <a:r>
              <a:rPr lang="en-US" sz="1200" dirty="0">
                <a:solidFill>
                  <a:srgbClr val="97A4AE"/>
                </a:solidFill>
                <a:latin typeface="Calibri" pitchFamily="34" charset="0"/>
                <a:ea typeface="Calibri" pitchFamily="34" charset="-122"/>
                <a:cs typeface="Calibri" pitchFamily="34" charset="-120"/>
              </a:rPr>
              <a:t>Parse configuration, if a config file is present</a:t>
            </a:r>
            <a:endParaRPr lang="en-US" sz="1200" dirty="0"/>
          </a:p>
        </p:txBody>
      </p:sp>
      <p:sp>
        <p:nvSpPr>
          <p:cNvPr id="11" name="Shape 9"/>
          <p:cNvSpPr/>
          <p:nvPr/>
        </p:nvSpPr>
        <p:spPr>
          <a:xfrm>
            <a:off x="685800" y="2647188"/>
            <a:ext cx="7223760" cy="365760"/>
          </a:xfrm>
          <a:prstGeom prst="roundRect">
            <a:avLst>
              <a:gd name="adj" fmla="val 12500"/>
            </a:avLst>
          </a:prstGeom>
          <a:solidFill>
            <a:srgbClr val="252B31"/>
          </a:solidFill>
          <a:ln w="12700">
            <a:solidFill>
              <a:srgbClr val="3A434B"/>
            </a:solidFill>
            <a:prstDash val="solid"/>
          </a:ln>
        </p:spPr>
        <p:txBody>
          <a:bodyPr/>
          <a:lstStyle/>
          <a:p>
            <a:endParaRPr lang="en-SE"/>
          </a:p>
        </p:txBody>
      </p:sp>
      <p:sp>
        <p:nvSpPr>
          <p:cNvPr id="12" name="Text 10"/>
          <p:cNvSpPr/>
          <p:nvPr/>
        </p:nvSpPr>
        <p:spPr>
          <a:xfrm>
            <a:off x="822960" y="2647188"/>
            <a:ext cx="365760" cy="365760"/>
          </a:xfrm>
          <a:prstGeom prst="rect">
            <a:avLst/>
          </a:prstGeom>
          <a:noFill/>
          <a:ln/>
        </p:spPr>
        <p:txBody>
          <a:bodyPr wrap="square" lIns="0" tIns="0" rIns="0" bIns="0" rtlCol="0" anchor="ctr"/>
          <a:lstStyle/>
          <a:p>
            <a:pPr marL="0" indent="0" algn="ctr">
              <a:buNone/>
            </a:pPr>
            <a:r>
              <a:rPr lang="en-US" sz="1150" b="1" dirty="0">
                <a:solidFill>
                  <a:srgbClr val="6E7C87"/>
                </a:solidFill>
                <a:latin typeface="Consolas" pitchFamily="34" charset="0"/>
                <a:ea typeface="Consolas" pitchFamily="34" charset="-122"/>
                <a:cs typeface="Consolas" pitchFamily="34" charset="-120"/>
              </a:rPr>
              <a:t>2</a:t>
            </a:r>
            <a:endParaRPr lang="en-US" sz="1150" dirty="0"/>
          </a:p>
        </p:txBody>
      </p:sp>
      <p:sp>
        <p:nvSpPr>
          <p:cNvPr id="13" name="Text 11"/>
          <p:cNvSpPr/>
          <p:nvPr/>
        </p:nvSpPr>
        <p:spPr>
          <a:xfrm>
            <a:off x="1280160" y="2647188"/>
            <a:ext cx="6492240" cy="365760"/>
          </a:xfrm>
          <a:prstGeom prst="rect">
            <a:avLst/>
          </a:prstGeom>
          <a:noFill/>
          <a:ln/>
        </p:spPr>
        <p:txBody>
          <a:bodyPr wrap="square" lIns="0" tIns="0" rIns="0" bIns="0" rtlCol="0" anchor="ctr"/>
          <a:lstStyle/>
          <a:p>
            <a:pPr marL="0" indent="0">
              <a:buNone/>
            </a:pPr>
            <a:r>
              <a:rPr lang="en-US" sz="1200" dirty="0">
                <a:solidFill>
                  <a:srgbClr val="97A4AE"/>
                </a:solidFill>
                <a:latin typeface="Calibri" pitchFamily="34" charset="0"/>
                <a:ea typeface="Calibri" pitchFamily="34" charset="-122"/>
                <a:cs typeface="Calibri" pitchFamily="34" charset="-120"/>
              </a:rPr>
              <a:t>Bind the main order and broadcast sockets</a:t>
            </a:r>
            <a:endParaRPr lang="en-US" sz="1200" dirty="0"/>
          </a:p>
        </p:txBody>
      </p:sp>
      <p:sp>
        <p:nvSpPr>
          <p:cNvPr id="14" name="Shape 12"/>
          <p:cNvSpPr/>
          <p:nvPr/>
        </p:nvSpPr>
        <p:spPr>
          <a:xfrm>
            <a:off x="685800" y="3081528"/>
            <a:ext cx="7223760" cy="365760"/>
          </a:xfrm>
          <a:prstGeom prst="roundRect">
            <a:avLst>
              <a:gd name="adj" fmla="val 12500"/>
            </a:avLst>
          </a:prstGeom>
          <a:solidFill>
            <a:srgbClr val="252B31"/>
          </a:solidFill>
          <a:ln w="12700">
            <a:solidFill>
              <a:srgbClr val="3A434B"/>
            </a:solidFill>
            <a:prstDash val="solid"/>
          </a:ln>
        </p:spPr>
        <p:txBody>
          <a:bodyPr/>
          <a:lstStyle/>
          <a:p>
            <a:endParaRPr lang="en-SE"/>
          </a:p>
        </p:txBody>
      </p:sp>
      <p:sp>
        <p:nvSpPr>
          <p:cNvPr id="15" name="Text 13"/>
          <p:cNvSpPr/>
          <p:nvPr/>
        </p:nvSpPr>
        <p:spPr>
          <a:xfrm>
            <a:off x="822960" y="3081528"/>
            <a:ext cx="365760" cy="365760"/>
          </a:xfrm>
          <a:prstGeom prst="rect">
            <a:avLst/>
          </a:prstGeom>
          <a:noFill/>
          <a:ln/>
        </p:spPr>
        <p:txBody>
          <a:bodyPr wrap="square" lIns="0" tIns="0" rIns="0" bIns="0" rtlCol="0" anchor="ctr"/>
          <a:lstStyle/>
          <a:p>
            <a:pPr marL="0" indent="0" algn="ctr">
              <a:buNone/>
            </a:pPr>
            <a:r>
              <a:rPr lang="en-US" sz="1150" b="1" dirty="0">
                <a:solidFill>
                  <a:srgbClr val="6E7C87"/>
                </a:solidFill>
                <a:latin typeface="Consolas" pitchFamily="34" charset="0"/>
                <a:ea typeface="Consolas" pitchFamily="34" charset="-122"/>
                <a:cs typeface="Consolas" pitchFamily="34" charset="-120"/>
              </a:rPr>
              <a:t>3</a:t>
            </a:r>
            <a:endParaRPr lang="en-US" sz="1150" dirty="0"/>
          </a:p>
        </p:txBody>
      </p:sp>
      <p:sp>
        <p:nvSpPr>
          <p:cNvPr id="16" name="Text 14"/>
          <p:cNvSpPr/>
          <p:nvPr/>
        </p:nvSpPr>
        <p:spPr>
          <a:xfrm>
            <a:off x="1280160" y="3081528"/>
            <a:ext cx="6492240" cy="365760"/>
          </a:xfrm>
          <a:prstGeom prst="rect">
            <a:avLst/>
          </a:prstGeom>
          <a:noFill/>
          <a:ln/>
        </p:spPr>
        <p:txBody>
          <a:bodyPr wrap="square" lIns="0" tIns="0" rIns="0" bIns="0" rtlCol="0" anchor="ctr"/>
          <a:lstStyle/>
          <a:p>
            <a:pPr marL="0" indent="0">
              <a:buNone/>
            </a:pPr>
            <a:r>
              <a:rPr lang="en-US" sz="1200" dirty="0">
                <a:solidFill>
                  <a:srgbClr val="97A4AE"/>
                </a:solidFill>
                <a:latin typeface="Calibri" pitchFamily="34" charset="0"/>
                <a:ea typeface="Calibri" pitchFamily="34" charset="-122"/>
                <a:cs typeface="Calibri" pitchFamily="34" charset="-120"/>
              </a:rPr>
              <a:t>Load persisted book statistics</a:t>
            </a:r>
            <a:endParaRPr lang="en-US" sz="1200" dirty="0"/>
          </a:p>
        </p:txBody>
      </p:sp>
      <p:sp>
        <p:nvSpPr>
          <p:cNvPr id="17" name="Shape 15"/>
          <p:cNvSpPr/>
          <p:nvPr/>
        </p:nvSpPr>
        <p:spPr>
          <a:xfrm>
            <a:off x="685800" y="3515868"/>
            <a:ext cx="7223760" cy="365760"/>
          </a:xfrm>
          <a:prstGeom prst="roundRect">
            <a:avLst>
              <a:gd name="adj" fmla="val 12500"/>
            </a:avLst>
          </a:prstGeom>
          <a:solidFill>
            <a:srgbClr val="252B31"/>
          </a:solidFill>
          <a:ln w="12700">
            <a:solidFill>
              <a:srgbClr val="3A434B"/>
            </a:solidFill>
            <a:prstDash val="solid"/>
          </a:ln>
        </p:spPr>
        <p:txBody>
          <a:bodyPr/>
          <a:lstStyle/>
          <a:p>
            <a:endParaRPr lang="en-SE"/>
          </a:p>
        </p:txBody>
      </p:sp>
      <p:sp>
        <p:nvSpPr>
          <p:cNvPr id="18" name="Text 16"/>
          <p:cNvSpPr/>
          <p:nvPr/>
        </p:nvSpPr>
        <p:spPr>
          <a:xfrm>
            <a:off x="822960" y="3515868"/>
            <a:ext cx="365760" cy="365760"/>
          </a:xfrm>
          <a:prstGeom prst="rect">
            <a:avLst/>
          </a:prstGeom>
          <a:noFill/>
          <a:ln/>
        </p:spPr>
        <p:txBody>
          <a:bodyPr wrap="square" lIns="0" tIns="0" rIns="0" bIns="0" rtlCol="0" anchor="ctr"/>
          <a:lstStyle/>
          <a:p>
            <a:pPr marL="0" indent="0" algn="ctr">
              <a:buNone/>
            </a:pPr>
            <a:r>
              <a:rPr lang="en-US" sz="1150" b="1" dirty="0">
                <a:solidFill>
                  <a:srgbClr val="6E7C87"/>
                </a:solidFill>
                <a:latin typeface="Consolas" pitchFamily="34" charset="0"/>
                <a:ea typeface="Consolas" pitchFamily="34" charset="-122"/>
                <a:cs typeface="Consolas" pitchFamily="34" charset="-120"/>
              </a:rPr>
              <a:t>4</a:t>
            </a:r>
            <a:endParaRPr lang="en-US" sz="1150" dirty="0"/>
          </a:p>
        </p:txBody>
      </p:sp>
      <p:sp>
        <p:nvSpPr>
          <p:cNvPr id="19" name="Text 17"/>
          <p:cNvSpPr/>
          <p:nvPr/>
        </p:nvSpPr>
        <p:spPr>
          <a:xfrm>
            <a:off x="1280160" y="3515868"/>
            <a:ext cx="6492240" cy="365760"/>
          </a:xfrm>
          <a:prstGeom prst="rect">
            <a:avLst/>
          </a:prstGeom>
          <a:noFill/>
          <a:ln/>
        </p:spPr>
        <p:txBody>
          <a:bodyPr wrap="square" lIns="0" tIns="0" rIns="0" bIns="0" rtlCol="0" anchor="ctr"/>
          <a:lstStyle/>
          <a:p>
            <a:pPr marL="0" indent="0">
              <a:buNone/>
            </a:pPr>
            <a:r>
              <a:rPr lang="en-US" sz="1200" dirty="0">
                <a:solidFill>
                  <a:srgbClr val="97A4AE"/>
                </a:solidFill>
                <a:latin typeface="Calibri" pitchFamily="34" charset="0"/>
                <a:ea typeface="Calibri" pitchFamily="34" charset="-122"/>
                <a:cs typeface="Calibri" pitchFamily="34" charset="-120"/>
              </a:rPr>
              <a:t>Restore persisted GTC orders</a:t>
            </a:r>
            <a:endParaRPr lang="en-US" sz="1200" dirty="0"/>
          </a:p>
        </p:txBody>
      </p:sp>
      <p:sp>
        <p:nvSpPr>
          <p:cNvPr id="20" name="Shape 18"/>
          <p:cNvSpPr/>
          <p:nvPr/>
        </p:nvSpPr>
        <p:spPr>
          <a:xfrm>
            <a:off x="685800" y="3950208"/>
            <a:ext cx="7223760" cy="365760"/>
          </a:xfrm>
          <a:prstGeom prst="roundRect">
            <a:avLst>
              <a:gd name="adj" fmla="val 12500"/>
            </a:avLst>
          </a:prstGeom>
          <a:solidFill>
            <a:srgbClr val="252B31"/>
          </a:solidFill>
          <a:ln w="12700">
            <a:solidFill>
              <a:srgbClr val="3A434B"/>
            </a:solidFill>
            <a:prstDash val="solid"/>
          </a:ln>
        </p:spPr>
        <p:txBody>
          <a:bodyPr/>
          <a:lstStyle/>
          <a:p>
            <a:endParaRPr lang="en-SE"/>
          </a:p>
        </p:txBody>
      </p:sp>
      <p:sp>
        <p:nvSpPr>
          <p:cNvPr id="21" name="Text 19"/>
          <p:cNvSpPr/>
          <p:nvPr/>
        </p:nvSpPr>
        <p:spPr>
          <a:xfrm>
            <a:off x="822960" y="3950208"/>
            <a:ext cx="365760" cy="365760"/>
          </a:xfrm>
          <a:prstGeom prst="rect">
            <a:avLst/>
          </a:prstGeom>
          <a:noFill/>
          <a:ln/>
        </p:spPr>
        <p:txBody>
          <a:bodyPr wrap="square" lIns="0" tIns="0" rIns="0" bIns="0" rtlCol="0" anchor="ctr"/>
          <a:lstStyle/>
          <a:p>
            <a:pPr marL="0" indent="0" algn="ctr">
              <a:buNone/>
            </a:pPr>
            <a:r>
              <a:rPr lang="en-US" sz="1150" b="1" dirty="0">
                <a:solidFill>
                  <a:srgbClr val="6E7C87"/>
                </a:solidFill>
                <a:latin typeface="Consolas" pitchFamily="34" charset="0"/>
                <a:ea typeface="Consolas" pitchFamily="34" charset="-122"/>
                <a:cs typeface="Consolas" pitchFamily="34" charset="-120"/>
              </a:rPr>
              <a:t>5</a:t>
            </a:r>
            <a:endParaRPr lang="en-US" sz="1150" dirty="0"/>
          </a:p>
        </p:txBody>
      </p:sp>
      <p:sp>
        <p:nvSpPr>
          <p:cNvPr id="22" name="Text 20"/>
          <p:cNvSpPr/>
          <p:nvPr/>
        </p:nvSpPr>
        <p:spPr>
          <a:xfrm>
            <a:off x="1280160" y="3950208"/>
            <a:ext cx="6492240" cy="365760"/>
          </a:xfrm>
          <a:prstGeom prst="rect">
            <a:avLst/>
          </a:prstGeom>
          <a:noFill/>
          <a:ln/>
        </p:spPr>
        <p:txBody>
          <a:bodyPr wrap="square" lIns="0" tIns="0" rIns="0" bIns="0" rtlCol="0" anchor="ctr"/>
          <a:lstStyle/>
          <a:p>
            <a:pPr marL="0" indent="0">
              <a:buNone/>
            </a:pPr>
            <a:r>
              <a:rPr lang="en-US" sz="1200" dirty="0">
                <a:solidFill>
                  <a:srgbClr val="97A4AE"/>
                </a:solidFill>
                <a:latin typeface="Calibri" pitchFamily="34" charset="0"/>
                <a:ea typeface="Calibri" pitchFamily="34" charset="-122"/>
                <a:cs typeface="Calibri" pitchFamily="34" charset="-120"/>
              </a:rPr>
              <a:t>Restore persisted GTC combos</a:t>
            </a:r>
            <a:endParaRPr lang="en-US" sz="1200" dirty="0"/>
          </a:p>
        </p:txBody>
      </p:sp>
      <p:sp>
        <p:nvSpPr>
          <p:cNvPr id="23" name="Shape 21"/>
          <p:cNvSpPr/>
          <p:nvPr/>
        </p:nvSpPr>
        <p:spPr>
          <a:xfrm>
            <a:off x="685800" y="4384548"/>
            <a:ext cx="7223760" cy="365760"/>
          </a:xfrm>
          <a:prstGeom prst="roundRect">
            <a:avLst>
              <a:gd name="adj" fmla="val 12500"/>
            </a:avLst>
          </a:prstGeom>
          <a:solidFill>
            <a:srgbClr val="252B31"/>
          </a:solidFill>
          <a:ln w="12700">
            <a:solidFill>
              <a:srgbClr val="3A434B"/>
            </a:solidFill>
            <a:prstDash val="solid"/>
          </a:ln>
        </p:spPr>
        <p:txBody>
          <a:bodyPr/>
          <a:lstStyle/>
          <a:p>
            <a:endParaRPr lang="en-SE"/>
          </a:p>
        </p:txBody>
      </p:sp>
      <p:sp>
        <p:nvSpPr>
          <p:cNvPr id="24" name="Text 22"/>
          <p:cNvSpPr/>
          <p:nvPr/>
        </p:nvSpPr>
        <p:spPr>
          <a:xfrm>
            <a:off x="822960" y="4384548"/>
            <a:ext cx="365760" cy="365760"/>
          </a:xfrm>
          <a:prstGeom prst="rect">
            <a:avLst/>
          </a:prstGeom>
          <a:noFill/>
          <a:ln/>
        </p:spPr>
        <p:txBody>
          <a:bodyPr wrap="square" lIns="0" tIns="0" rIns="0" bIns="0" rtlCol="0" anchor="ctr"/>
          <a:lstStyle/>
          <a:p>
            <a:pPr marL="0" indent="0" algn="ctr">
              <a:buNone/>
            </a:pPr>
            <a:r>
              <a:rPr lang="en-US" sz="1150" b="1" dirty="0">
                <a:solidFill>
                  <a:srgbClr val="6E7C87"/>
                </a:solidFill>
                <a:latin typeface="Consolas" pitchFamily="34" charset="0"/>
                <a:ea typeface="Consolas" pitchFamily="34" charset="-122"/>
                <a:cs typeface="Consolas" pitchFamily="34" charset="-120"/>
              </a:rPr>
              <a:t>6</a:t>
            </a:r>
            <a:endParaRPr lang="en-US" sz="1150" dirty="0"/>
          </a:p>
        </p:txBody>
      </p:sp>
      <p:sp>
        <p:nvSpPr>
          <p:cNvPr id="25" name="Text 23"/>
          <p:cNvSpPr/>
          <p:nvPr/>
        </p:nvSpPr>
        <p:spPr>
          <a:xfrm>
            <a:off x="1280160" y="4384548"/>
            <a:ext cx="6492240" cy="365760"/>
          </a:xfrm>
          <a:prstGeom prst="rect">
            <a:avLst/>
          </a:prstGeom>
          <a:noFill/>
          <a:ln/>
        </p:spPr>
        <p:txBody>
          <a:bodyPr wrap="square" lIns="0" tIns="0" rIns="0" bIns="0" rtlCol="0" anchor="ctr"/>
          <a:lstStyle/>
          <a:p>
            <a:pPr marL="0" indent="0">
              <a:buNone/>
            </a:pPr>
            <a:r>
              <a:rPr lang="en-US" sz="1200" dirty="0">
                <a:solidFill>
                  <a:srgbClr val="97A4AE"/>
                </a:solidFill>
                <a:latin typeface="Calibri" pitchFamily="34" charset="0"/>
                <a:ea typeface="Calibri" pitchFamily="34" charset="-122"/>
                <a:cs typeface="Calibri" pitchFamily="34" charset="-120"/>
              </a:rPr>
              <a:t>Inject configured market-maker quotes</a:t>
            </a:r>
            <a:endParaRPr lang="en-US" sz="1200" dirty="0"/>
          </a:p>
        </p:txBody>
      </p:sp>
      <p:sp>
        <p:nvSpPr>
          <p:cNvPr id="26" name="Shape 24"/>
          <p:cNvSpPr/>
          <p:nvPr/>
        </p:nvSpPr>
        <p:spPr>
          <a:xfrm>
            <a:off x="685800" y="4818888"/>
            <a:ext cx="7223760" cy="365760"/>
          </a:xfrm>
          <a:prstGeom prst="roundRect">
            <a:avLst>
              <a:gd name="adj" fmla="val 12500"/>
            </a:avLst>
          </a:prstGeom>
          <a:solidFill>
            <a:srgbClr val="252B31"/>
          </a:solidFill>
          <a:ln w="12700">
            <a:solidFill>
              <a:srgbClr val="3A434B"/>
            </a:solidFill>
            <a:prstDash val="solid"/>
          </a:ln>
        </p:spPr>
        <p:txBody>
          <a:bodyPr/>
          <a:lstStyle/>
          <a:p>
            <a:endParaRPr lang="en-SE"/>
          </a:p>
        </p:txBody>
      </p:sp>
      <p:sp>
        <p:nvSpPr>
          <p:cNvPr id="27" name="Text 25"/>
          <p:cNvSpPr/>
          <p:nvPr/>
        </p:nvSpPr>
        <p:spPr>
          <a:xfrm>
            <a:off x="822960" y="4818888"/>
            <a:ext cx="365760" cy="365760"/>
          </a:xfrm>
          <a:prstGeom prst="rect">
            <a:avLst/>
          </a:prstGeom>
          <a:noFill/>
          <a:ln/>
        </p:spPr>
        <p:txBody>
          <a:bodyPr wrap="square" lIns="0" tIns="0" rIns="0" bIns="0" rtlCol="0" anchor="ctr"/>
          <a:lstStyle/>
          <a:p>
            <a:pPr marL="0" indent="0" algn="ctr">
              <a:buNone/>
            </a:pPr>
            <a:r>
              <a:rPr lang="en-US" sz="1150" b="1" dirty="0">
                <a:solidFill>
                  <a:srgbClr val="6E7C87"/>
                </a:solidFill>
                <a:latin typeface="Consolas" pitchFamily="34" charset="0"/>
                <a:ea typeface="Consolas" pitchFamily="34" charset="-122"/>
                <a:cs typeface="Consolas" pitchFamily="34" charset="-120"/>
              </a:rPr>
              <a:t>7</a:t>
            </a:r>
            <a:endParaRPr lang="en-US" sz="1150" dirty="0"/>
          </a:p>
        </p:txBody>
      </p:sp>
      <p:sp>
        <p:nvSpPr>
          <p:cNvPr id="28" name="Text 26"/>
          <p:cNvSpPr/>
          <p:nvPr/>
        </p:nvSpPr>
        <p:spPr>
          <a:xfrm>
            <a:off x="1280160" y="4818888"/>
            <a:ext cx="6492240" cy="365760"/>
          </a:xfrm>
          <a:prstGeom prst="rect">
            <a:avLst/>
          </a:prstGeom>
          <a:noFill/>
          <a:ln/>
        </p:spPr>
        <p:txBody>
          <a:bodyPr wrap="square" lIns="0" tIns="0" rIns="0" bIns="0" rtlCol="0" anchor="ctr"/>
          <a:lstStyle/>
          <a:p>
            <a:pPr marL="0" indent="0">
              <a:buNone/>
            </a:pPr>
            <a:r>
              <a:rPr lang="en-US" sz="1200" dirty="0">
                <a:solidFill>
                  <a:srgbClr val="97A4AE"/>
                </a:solidFill>
                <a:latin typeface="Calibri" pitchFamily="34" charset="0"/>
                <a:ea typeface="Calibri" pitchFamily="34" charset="-122"/>
                <a:cs typeface="Calibri" pitchFamily="34" charset="-120"/>
              </a:rPr>
              <a:t>Inject configured market-maker combos</a:t>
            </a:r>
            <a:endParaRPr lang="en-US" sz="1200" dirty="0"/>
          </a:p>
        </p:txBody>
      </p:sp>
      <p:sp>
        <p:nvSpPr>
          <p:cNvPr id="29" name="Shape 27"/>
          <p:cNvSpPr/>
          <p:nvPr/>
        </p:nvSpPr>
        <p:spPr>
          <a:xfrm>
            <a:off x="685800" y="5253228"/>
            <a:ext cx="7223760" cy="365760"/>
          </a:xfrm>
          <a:prstGeom prst="roundRect">
            <a:avLst>
              <a:gd name="adj" fmla="val 12500"/>
            </a:avLst>
          </a:prstGeom>
          <a:solidFill>
            <a:srgbClr val="2E353C"/>
          </a:solidFill>
          <a:ln w="19050">
            <a:solidFill>
              <a:srgbClr val="3FD0C9"/>
            </a:solidFill>
            <a:prstDash val="solid"/>
          </a:ln>
        </p:spPr>
        <p:txBody>
          <a:bodyPr/>
          <a:lstStyle/>
          <a:p>
            <a:endParaRPr lang="en-SE"/>
          </a:p>
        </p:txBody>
      </p:sp>
      <p:sp>
        <p:nvSpPr>
          <p:cNvPr id="30" name="Text 28"/>
          <p:cNvSpPr/>
          <p:nvPr/>
        </p:nvSpPr>
        <p:spPr>
          <a:xfrm>
            <a:off x="822960" y="5253228"/>
            <a:ext cx="365760" cy="365760"/>
          </a:xfrm>
          <a:prstGeom prst="rect">
            <a:avLst/>
          </a:prstGeom>
          <a:noFill/>
          <a:ln/>
        </p:spPr>
        <p:txBody>
          <a:bodyPr wrap="square" lIns="0" tIns="0" rIns="0" bIns="0" rtlCol="0" anchor="ctr"/>
          <a:lstStyle/>
          <a:p>
            <a:pPr marL="0" indent="0" algn="ctr">
              <a:buNone/>
            </a:pPr>
            <a:r>
              <a:rPr lang="en-US" sz="1150" b="1" dirty="0">
                <a:solidFill>
                  <a:srgbClr val="3FD0C9"/>
                </a:solidFill>
                <a:latin typeface="Consolas" pitchFamily="34" charset="0"/>
                <a:ea typeface="Consolas" pitchFamily="34" charset="-122"/>
                <a:cs typeface="Consolas" pitchFamily="34" charset="-120"/>
              </a:rPr>
              <a:t>8</a:t>
            </a:r>
            <a:endParaRPr lang="en-US" sz="1150" dirty="0"/>
          </a:p>
        </p:txBody>
      </p:sp>
      <p:sp>
        <p:nvSpPr>
          <p:cNvPr id="31" name="Text 29"/>
          <p:cNvSpPr/>
          <p:nvPr/>
        </p:nvSpPr>
        <p:spPr>
          <a:xfrm>
            <a:off x="1280160" y="5253228"/>
            <a:ext cx="6492240" cy="365760"/>
          </a:xfrm>
          <a:prstGeom prst="rect">
            <a:avLst/>
          </a:prstGeom>
          <a:noFill/>
          <a:ln/>
        </p:spPr>
        <p:txBody>
          <a:bodyPr wrap="square" lIns="0" tIns="0" rIns="0" bIns="0" rtlCol="0" anchor="ctr"/>
          <a:lstStyle/>
          <a:p>
            <a:pPr marL="0" indent="0">
              <a:buNone/>
            </a:pPr>
            <a:r>
              <a:rPr lang="en-US" sz="1200" dirty="0">
                <a:solidFill>
                  <a:srgbClr val="ECF1F5"/>
                </a:solidFill>
                <a:latin typeface="Calibri" pitchFamily="34" charset="0"/>
                <a:ea typeface="Calibri" pitchFamily="34" charset="-122"/>
                <a:cs typeface="Calibri" pitchFamily="34" charset="-120"/>
              </a:rPr>
              <a:t>Bind the drop-copy publisher on :5557, if available</a:t>
            </a:r>
            <a:endParaRPr lang="en-US" sz="1200" dirty="0"/>
          </a:p>
        </p:txBody>
      </p:sp>
      <p:sp>
        <p:nvSpPr>
          <p:cNvPr id="32" name="Shape 30"/>
          <p:cNvSpPr/>
          <p:nvPr/>
        </p:nvSpPr>
        <p:spPr>
          <a:xfrm>
            <a:off x="685800" y="5687568"/>
            <a:ext cx="7223760" cy="365760"/>
          </a:xfrm>
          <a:prstGeom prst="roundRect">
            <a:avLst>
              <a:gd name="adj" fmla="val 12500"/>
            </a:avLst>
          </a:prstGeom>
          <a:solidFill>
            <a:srgbClr val="252B31"/>
          </a:solidFill>
          <a:ln w="12700">
            <a:solidFill>
              <a:srgbClr val="3A434B"/>
            </a:solidFill>
            <a:prstDash val="solid"/>
          </a:ln>
        </p:spPr>
        <p:txBody>
          <a:bodyPr/>
          <a:lstStyle/>
          <a:p>
            <a:endParaRPr lang="en-SE"/>
          </a:p>
        </p:txBody>
      </p:sp>
      <p:sp>
        <p:nvSpPr>
          <p:cNvPr id="33" name="Text 31"/>
          <p:cNvSpPr/>
          <p:nvPr/>
        </p:nvSpPr>
        <p:spPr>
          <a:xfrm>
            <a:off x="822960" y="5687568"/>
            <a:ext cx="365760" cy="365760"/>
          </a:xfrm>
          <a:prstGeom prst="rect">
            <a:avLst/>
          </a:prstGeom>
          <a:noFill/>
          <a:ln/>
        </p:spPr>
        <p:txBody>
          <a:bodyPr wrap="square" lIns="0" tIns="0" rIns="0" bIns="0" rtlCol="0" anchor="ctr"/>
          <a:lstStyle/>
          <a:p>
            <a:pPr marL="0" indent="0" algn="ctr">
              <a:buNone/>
            </a:pPr>
            <a:r>
              <a:rPr lang="en-US" sz="1150" b="1" dirty="0">
                <a:solidFill>
                  <a:srgbClr val="6E7C87"/>
                </a:solidFill>
                <a:latin typeface="Consolas" pitchFamily="34" charset="0"/>
                <a:ea typeface="Consolas" pitchFamily="34" charset="-122"/>
                <a:cs typeface="Consolas" pitchFamily="34" charset="-120"/>
              </a:rPr>
              <a:t>9</a:t>
            </a:r>
            <a:endParaRPr lang="en-US" sz="1150" dirty="0"/>
          </a:p>
        </p:txBody>
      </p:sp>
      <p:sp>
        <p:nvSpPr>
          <p:cNvPr id="34" name="Text 32"/>
          <p:cNvSpPr/>
          <p:nvPr/>
        </p:nvSpPr>
        <p:spPr>
          <a:xfrm>
            <a:off x="1280160" y="5687568"/>
            <a:ext cx="6492240" cy="365760"/>
          </a:xfrm>
          <a:prstGeom prst="rect">
            <a:avLst/>
          </a:prstGeom>
          <a:noFill/>
          <a:ln/>
        </p:spPr>
        <p:txBody>
          <a:bodyPr wrap="square" lIns="0" tIns="0" rIns="0" bIns="0" rtlCol="0" anchor="ctr"/>
          <a:lstStyle/>
          <a:p>
            <a:pPr marL="0" indent="0">
              <a:buNone/>
            </a:pPr>
            <a:r>
              <a:rPr lang="en-US" sz="1200" dirty="0">
                <a:solidFill>
                  <a:srgbClr val="97A4AE"/>
                </a:solidFill>
                <a:latin typeface="Calibri" pitchFamily="34" charset="0"/>
                <a:ea typeface="Calibri" pitchFamily="34" charset="-122"/>
                <a:cs typeface="Calibri" pitchFamily="34" charset="-120"/>
              </a:rPr>
              <a:t>Publish the initial book snapshots</a:t>
            </a:r>
            <a:endParaRPr lang="en-US" sz="1200" dirty="0"/>
          </a:p>
        </p:txBody>
      </p:sp>
      <p:sp>
        <p:nvSpPr>
          <p:cNvPr id="35" name="Shape 33"/>
          <p:cNvSpPr/>
          <p:nvPr/>
        </p:nvSpPr>
        <p:spPr>
          <a:xfrm>
            <a:off x="8229600" y="2212848"/>
            <a:ext cx="3273552" cy="1691640"/>
          </a:xfrm>
          <a:prstGeom prst="roundRect">
            <a:avLst>
              <a:gd name="adj" fmla="val 3243"/>
            </a:avLst>
          </a:prstGeom>
          <a:solidFill>
            <a:srgbClr val="252B31"/>
          </a:solidFill>
          <a:ln w="12700">
            <a:solidFill>
              <a:srgbClr val="3A434B"/>
            </a:solidFill>
            <a:prstDash val="solid"/>
          </a:ln>
        </p:spPr>
        <p:txBody>
          <a:bodyPr/>
          <a:lstStyle/>
          <a:p>
            <a:endParaRPr lang="en-SE"/>
          </a:p>
        </p:txBody>
      </p:sp>
      <p:sp>
        <p:nvSpPr>
          <p:cNvPr id="36" name="Text 34"/>
          <p:cNvSpPr/>
          <p:nvPr/>
        </p:nvSpPr>
        <p:spPr>
          <a:xfrm>
            <a:off x="8485632" y="2468880"/>
            <a:ext cx="2761488" cy="310896"/>
          </a:xfrm>
          <a:prstGeom prst="rect">
            <a:avLst/>
          </a:prstGeom>
          <a:noFill/>
          <a:ln/>
        </p:spPr>
        <p:txBody>
          <a:bodyPr wrap="square" lIns="0" tIns="0" rIns="0" bIns="0" rtlCol="0" anchor="t"/>
          <a:lstStyle/>
          <a:p>
            <a:pPr marL="0" indent="0">
              <a:buNone/>
            </a:pPr>
            <a:r>
              <a:rPr lang="en-US" sz="1500" b="1" dirty="0">
                <a:solidFill>
                  <a:srgbClr val="F0A202"/>
                </a:solidFill>
                <a:latin typeface="Trebuchet MS" pitchFamily="34" charset="0"/>
                <a:ea typeface="Trebuchet MS" pitchFamily="34" charset="-122"/>
                <a:cs typeface="Trebuchet MS" pitchFamily="34" charset="-120"/>
              </a:rPr>
              <a:t>Read it as a checklist</a:t>
            </a:r>
            <a:endParaRPr lang="en-US" sz="1500" dirty="0"/>
          </a:p>
        </p:txBody>
      </p:sp>
      <p:sp>
        <p:nvSpPr>
          <p:cNvPr id="37" name="Text 35"/>
          <p:cNvSpPr/>
          <p:nvPr/>
        </p:nvSpPr>
        <p:spPr>
          <a:xfrm>
            <a:off x="8485632" y="2852928"/>
            <a:ext cx="2761488" cy="88696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If the engine log shows a drop-copy bind warning at step 8, the exchange will still trade normally — and the audit feed will stay silent all session.</a:t>
            </a:r>
            <a:endParaRPr lang="en-US" sz="1250" dirty="0"/>
          </a:p>
        </p:txBody>
      </p:sp>
      <p:sp>
        <p:nvSpPr>
          <p:cNvPr id="38" name="Shape 36"/>
          <p:cNvSpPr/>
          <p:nvPr/>
        </p:nvSpPr>
        <p:spPr>
          <a:xfrm>
            <a:off x="8229600" y="4069080"/>
            <a:ext cx="3273552" cy="1828800"/>
          </a:xfrm>
          <a:prstGeom prst="roundRect">
            <a:avLst>
              <a:gd name="adj" fmla="val 3000"/>
            </a:avLst>
          </a:prstGeom>
          <a:solidFill>
            <a:srgbClr val="252B31"/>
          </a:solidFill>
          <a:ln w="12700">
            <a:solidFill>
              <a:srgbClr val="3A434B"/>
            </a:solidFill>
            <a:prstDash val="solid"/>
          </a:ln>
        </p:spPr>
        <p:txBody>
          <a:bodyPr/>
          <a:lstStyle/>
          <a:p>
            <a:endParaRPr lang="en-SE"/>
          </a:p>
        </p:txBody>
      </p:sp>
      <p:sp>
        <p:nvSpPr>
          <p:cNvPr id="39" name="Text 37"/>
          <p:cNvSpPr/>
          <p:nvPr/>
        </p:nvSpPr>
        <p:spPr>
          <a:xfrm>
            <a:off x="8485632" y="4325112"/>
            <a:ext cx="2761488" cy="310896"/>
          </a:xfrm>
          <a:prstGeom prst="rect">
            <a:avLst/>
          </a:prstGeom>
          <a:noFill/>
          <a:ln/>
        </p:spPr>
        <p:txBody>
          <a:bodyPr wrap="square" lIns="0" tIns="0" rIns="0" bIns="0" rtlCol="0" anchor="t"/>
          <a:lstStyle/>
          <a:p>
            <a:pPr marL="0" indent="0">
              <a:buNone/>
            </a:pPr>
            <a:r>
              <a:rPr lang="en-US" sz="1500" b="1" dirty="0">
                <a:solidFill>
                  <a:srgbClr val="3FD0C9"/>
                </a:solidFill>
                <a:latin typeface="Trebuchet MS" pitchFamily="34" charset="0"/>
                <a:ea typeface="Trebuchet MS" pitchFamily="34" charset="-122"/>
                <a:cs typeface="Trebuchet MS" pitchFamily="34" charset="-120"/>
              </a:rPr>
              <a:t>Order has consequences</a:t>
            </a:r>
            <a:endParaRPr lang="en-US" sz="1500" dirty="0"/>
          </a:p>
        </p:txBody>
      </p:sp>
      <p:sp>
        <p:nvSpPr>
          <p:cNvPr id="40" name="Text 38"/>
          <p:cNvSpPr/>
          <p:nvPr/>
        </p:nvSpPr>
        <p:spPr>
          <a:xfrm>
            <a:off x="8485632" y="4709160"/>
            <a:ext cx="2761488" cy="102412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Restored state and seeded liquidity are already in place before 5557 binds, so those are not announced as fills on the feed. Drop copy describes trading, not initialisation.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03 · TIMING</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20</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THE REPLAY BUFFER</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The last 10,000 events are kept in memory</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A fixed-size circular buffer: when it is full, the oldest event is discarded to make room for the newest.</a:t>
            </a:r>
            <a:endParaRPr lang="en-US" sz="1450" dirty="0"/>
          </a:p>
        </p:txBody>
      </p:sp>
      <p:sp>
        <p:nvSpPr>
          <p:cNvPr id="8" name="Text 6"/>
          <p:cNvSpPr/>
          <p:nvPr/>
        </p:nvSpPr>
        <p:spPr>
          <a:xfrm>
            <a:off x="685800" y="2286000"/>
            <a:ext cx="2743200" cy="749808"/>
          </a:xfrm>
          <a:prstGeom prst="rect">
            <a:avLst/>
          </a:prstGeom>
          <a:noFill/>
          <a:ln/>
        </p:spPr>
        <p:txBody>
          <a:bodyPr wrap="square" lIns="0" tIns="0" rIns="0" bIns="0" rtlCol="0" anchor="ctr"/>
          <a:lstStyle/>
          <a:p>
            <a:pPr marL="0" indent="0">
              <a:buNone/>
            </a:pPr>
            <a:r>
              <a:rPr lang="en-US" sz="4200" b="1" dirty="0">
                <a:solidFill>
                  <a:srgbClr val="F0A202"/>
                </a:solidFill>
                <a:latin typeface="Trebuchet MS" pitchFamily="34" charset="0"/>
                <a:ea typeface="Trebuchet MS" pitchFamily="34" charset="-122"/>
                <a:cs typeface="Trebuchet MS" pitchFamily="34" charset="-120"/>
              </a:rPr>
              <a:t>10,000</a:t>
            </a:r>
            <a:endParaRPr lang="en-US" sz="4200" dirty="0"/>
          </a:p>
        </p:txBody>
      </p:sp>
      <p:sp>
        <p:nvSpPr>
          <p:cNvPr id="9" name="Text 7"/>
          <p:cNvSpPr/>
          <p:nvPr/>
        </p:nvSpPr>
        <p:spPr>
          <a:xfrm>
            <a:off x="685800" y="3054096"/>
            <a:ext cx="2743200" cy="548640"/>
          </a:xfrm>
          <a:prstGeom prst="rect">
            <a:avLst/>
          </a:prstGeom>
          <a:noFill/>
          <a:ln/>
        </p:spPr>
        <p:txBody>
          <a:bodyPr wrap="square" lIns="0" tIns="0" rIns="0" bIns="0" rtlCol="0" anchor="t"/>
          <a:lstStyle/>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events retained by default</a:t>
            </a:r>
            <a:endParaRPr lang="en-US" sz="120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(engine_tuning.drop_copy_buffer_size)</a:t>
            </a:r>
            <a:endParaRPr lang="en-US" sz="1200" dirty="0"/>
          </a:p>
        </p:txBody>
      </p:sp>
      <p:sp>
        <p:nvSpPr>
          <p:cNvPr id="10" name="Text 8"/>
          <p:cNvSpPr/>
          <p:nvPr/>
        </p:nvSpPr>
        <p:spPr>
          <a:xfrm>
            <a:off x="3977640" y="2286000"/>
            <a:ext cx="2743200" cy="749808"/>
          </a:xfrm>
          <a:prstGeom prst="rect">
            <a:avLst/>
          </a:prstGeom>
          <a:noFill/>
          <a:ln/>
        </p:spPr>
        <p:txBody>
          <a:bodyPr wrap="square" lIns="0" tIns="0" rIns="0" bIns="0" rtlCol="0" anchor="ctr"/>
          <a:lstStyle/>
          <a:p>
            <a:pPr marL="0" indent="0">
              <a:buNone/>
            </a:pPr>
            <a:r>
              <a:rPr lang="en-US" sz="4200" b="1" dirty="0">
                <a:solidFill>
                  <a:srgbClr val="3FD0C9"/>
                </a:solidFill>
                <a:latin typeface="Trebuchet MS" pitchFamily="34" charset="0"/>
                <a:ea typeface="Trebuchet MS" pitchFamily="34" charset="-122"/>
                <a:cs typeface="Trebuchet MS" pitchFamily="34" charset="-120"/>
              </a:rPr>
              <a:t>~16 min</a:t>
            </a:r>
            <a:endParaRPr lang="en-US" sz="4200" dirty="0"/>
          </a:p>
        </p:txBody>
      </p:sp>
      <p:sp>
        <p:nvSpPr>
          <p:cNvPr id="11" name="Text 9"/>
          <p:cNvSpPr/>
          <p:nvPr/>
        </p:nvSpPr>
        <p:spPr>
          <a:xfrm>
            <a:off x="3977640" y="3054096"/>
            <a:ext cx="2743200" cy="548640"/>
          </a:xfrm>
          <a:prstGeom prst="rect">
            <a:avLst/>
          </a:prstGeom>
          <a:noFill/>
          <a:ln/>
        </p:spPr>
        <p:txBody>
          <a:bodyPr wrap="square" lIns="0" tIns="0" rIns="0" bIns="0" rtlCol="0" anchor="t"/>
          <a:lstStyle/>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of history at a sustained</a:t>
            </a:r>
            <a:endParaRPr lang="en-US" sz="120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rate of ~10 fills per second</a:t>
            </a:r>
            <a:endParaRPr lang="en-US" sz="1200" dirty="0"/>
          </a:p>
        </p:txBody>
      </p:sp>
      <p:sp>
        <p:nvSpPr>
          <p:cNvPr id="12" name="Text 10"/>
          <p:cNvSpPr/>
          <p:nvPr/>
        </p:nvSpPr>
        <p:spPr>
          <a:xfrm>
            <a:off x="7269480" y="2286000"/>
            <a:ext cx="3657600" cy="749808"/>
          </a:xfrm>
          <a:prstGeom prst="rect">
            <a:avLst/>
          </a:prstGeom>
          <a:noFill/>
          <a:ln/>
        </p:spPr>
        <p:txBody>
          <a:bodyPr wrap="square" lIns="0" tIns="0" rIns="0" bIns="0" rtlCol="0" anchor="ctr"/>
          <a:lstStyle/>
          <a:p>
            <a:pPr marL="0" indent="0">
              <a:buNone/>
            </a:pPr>
            <a:r>
              <a:rPr lang="en-US" sz="4200" b="1" dirty="0">
                <a:solidFill>
                  <a:srgbClr val="E5566B"/>
                </a:solidFill>
                <a:latin typeface="Trebuchet MS" pitchFamily="34" charset="0"/>
                <a:ea typeface="Trebuchet MS" pitchFamily="34" charset="-122"/>
                <a:cs typeface="Trebuchet MS" pitchFamily="34" charset="-120"/>
              </a:rPr>
              <a:t>0</a:t>
            </a:r>
            <a:endParaRPr lang="en-US" sz="4200" dirty="0"/>
          </a:p>
        </p:txBody>
      </p:sp>
      <p:sp>
        <p:nvSpPr>
          <p:cNvPr id="13" name="Text 11"/>
          <p:cNvSpPr/>
          <p:nvPr/>
        </p:nvSpPr>
        <p:spPr>
          <a:xfrm>
            <a:off x="7269480" y="3054096"/>
            <a:ext cx="3657600" cy="548640"/>
          </a:xfrm>
          <a:prstGeom prst="rect">
            <a:avLst/>
          </a:prstGeom>
          <a:noFill/>
          <a:ln/>
        </p:spPr>
        <p:txBody>
          <a:bodyPr wrap="square" lIns="0" tIns="0" rIns="0" bIns="0" rtlCol="0" anchor="t"/>
          <a:lstStyle/>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events survive a restart —</a:t>
            </a:r>
            <a:endParaRPr lang="en-US" sz="120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the buffer is memory only</a:t>
            </a:r>
            <a:endParaRPr lang="en-US" sz="1200" dirty="0"/>
          </a:p>
        </p:txBody>
      </p:sp>
      <p:sp>
        <p:nvSpPr>
          <p:cNvPr id="14" name="Shape 12"/>
          <p:cNvSpPr/>
          <p:nvPr/>
        </p:nvSpPr>
        <p:spPr>
          <a:xfrm>
            <a:off x="685800" y="3977640"/>
            <a:ext cx="10820095" cy="777240"/>
          </a:xfrm>
          <a:prstGeom prst="roundRect">
            <a:avLst>
              <a:gd name="adj" fmla="val 7059"/>
            </a:avLst>
          </a:prstGeom>
          <a:solidFill>
            <a:srgbClr val="141719"/>
          </a:solidFill>
          <a:ln w="12700">
            <a:solidFill>
              <a:srgbClr val="3A434B"/>
            </a:solidFill>
            <a:prstDash val="solid"/>
          </a:ln>
        </p:spPr>
        <p:txBody>
          <a:bodyPr/>
          <a:lstStyle/>
          <a:p>
            <a:endParaRPr lang="en-SE"/>
          </a:p>
        </p:txBody>
      </p:sp>
      <p:sp>
        <p:nvSpPr>
          <p:cNvPr id="15" name="Shape 13"/>
          <p:cNvSpPr/>
          <p:nvPr/>
        </p:nvSpPr>
        <p:spPr>
          <a:xfrm>
            <a:off x="914400" y="4206240"/>
            <a:ext cx="347472" cy="320040"/>
          </a:xfrm>
          <a:prstGeom prst="rect">
            <a:avLst/>
          </a:prstGeom>
          <a:solidFill>
            <a:srgbClr val="E5566B"/>
          </a:solidFill>
          <a:ln/>
        </p:spPr>
        <p:txBody>
          <a:bodyPr/>
          <a:lstStyle/>
          <a:p>
            <a:endParaRPr lang="en-SE"/>
          </a:p>
        </p:txBody>
      </p:sp>
      <p:sp>
        <p:nvSpPr>
          <p:cNvPr id="16" name="Shape 14"/>
          <p:cNvSpPr/>
          <p:nvPr/>
        </p:nvSpPr>
        <p:spPr>
          <a:xfrm>
            <a:off x="1380744" y="4206240"/>
            <a:ext cx="347472" cy="320040"/>
          </a:xfrm>
          <a:prstGeom prst="rect">
            <a:avLst/>
          </a:prstGeom>
          <a:solidFill>
            <a:srgbClr val="2E353C"/>
          </a:solidFill>
          <a:ln/>
        </p:spPr>
        <p:txBody>
          <a:bodyPr/>
          <a:lstStyle/>
          <a:p>
            <a:endParaRPr lang="en-SE"/>
          </a:p>
        </p:txBody>
      </p:sp>
      <p:sp>
        <p:nvSpPr>
          <p:cNvPr id="17" name="Shape 15"/>
          <p:cNvSpPr/>
          <p:nvPr/>
        </p:nvSpPr>
        <p:spPr>
          <a:xfrm>
            <a:off x="1847088" y="4206240"/>
            <a:ext cx="347472" cy="320040"/>
          </a:xfrm>
          <a:prstGeom prst="rect">
            <a:avLst/>
          </a:prstGeom>
          <a:solidFill>
            <a:srgbClr val="2E353C"/>
          </a:solidFill>
          <a:ln/>
        </p:spPr>
        <p:txBody>
          <a:bodyPr/>
          <a:lstStyle/>
          <a:p>
            <a:endParaRPr lang="en-SE"/>
          </a:p>
        </p:txBody>
      </p:sp>
      <p:sp>
        <p:nvSpPr>
          <p:cNvPr id="18" name="Shape 16"/>
          <p:cNvSpPr/>
          <p:nvPr/>
        </p:nvSpPr>
        <p:spPr>
          <a:xfrm>
            <a:off x="2313432" y="4206240"/>
            <a:ext cx="347472" cy="320040"/>
          </a:xfrm>
          <a:prstGeom prst="rect">
            <a:avLst/>
          </a:prstGeom>
          <a:solidFill>
            <a:srgbClr val="2E353C"/>
          </a:solidFill>
          <a:ln/>
        </p:spPr>
        <p:txBody>
          <a:bodyPr/>
          <a:lstStyle/>
          <a:p>
            <a:endParaRPr lang="en-SE"/>
          </a:p>
        </p:txBody>
      </p:sp>
      <p:sp>
        <p:nvSpPr>
          <p:cNvPr id="19" name="Shape 17"/>
          <p:cNvSpPr/>
          <p:nvPr/>
        </p:nvSpPr>
        <p:spPr>
          <a:xfrm>
            <a:off x="2779776" y="4206240"/>
            <a:ext cx="347472" cy="320040"/>
          </a:xfrm>
          <a:prstGeom prst="rect">
            <a:avLst/>
          </a:prstGeom>
          <a:solidFill>
            <a:srgbClr val="2E353C"/>
          </a:solidFill>
          <a:ln/>
        </p:spPr>
        <p:txBody>
          <a:bodyPr/>
          <a:lstStyle/>
          <a:p>
            <a:endParaRPr lang="en-SE"/>
          </a:p>
        </p:txBody>
      </p:sp>
      <p:sp>
        <p:nvSpPr>
          <p:cNvPr id="20" name="Shape 18"/>
          <p:cNvSpPr/>
          <p:nvPr/>
        </p:nvSpPr>
        <p:spPr>
          <a:xfrm>
            <a:off x="3246120" y="4206240"/>
            <a:ext cx="347472" cy="320040"/>
          </a:xfrm>
          <a:prstGeom prst="rect">
            <a:avLst/>
          </a:prstGeom>
          <a:solidFill>
            <a:srgbClr val="2E353C"/>
          </a:solidFill>
          <a:ln/>
        </p:spPr>
        <p:txBody>
          <a:bodyPr/>
          <a:lstStyle/>
          <a:p>
            <a:endParaRPr lang="en-SE"/>
          </a:p>
        </p:txBody>
      </p:sp>
      <p:sp>
        <p:nvSpPr>
          <p:cNvPr id="21" name="Shape 19"/>
          <p:cNvSpPr/>
          <p:nvPr/>
        </p:nvSpPr>
        <p:spPr>
          <a:xfrm>
            <a:off x="3712464" y="4206240"/>
            <a:ext cx="347472" cy="320040"/>
          </a:xfrm>
          <a:prstGeom prst="rect">
            <a:avLst/>
          </a:prstGeom>
          <a:solidFill>
            <a:srgbClr val="2E353C"/>
          </a:solidFill>
          <a:ln/>
        </p:spPr>
        <p:txBody>
          <a:bodyPr/>
          <a:lstStyle/>
          <a:p>
            <a:endParaRPr lang="en-SE"/>
          </a:p>
        </p:txBody>
      </p:sp>
      <p:sp>
        <p:nvSpPr>
          <p:cNvPr id="22" name="Shape 20"/>
          <p:cNvSpPr/>
          <p:nvPr/>
        </p:nvSpPr>
        <p:spPr>
          <a:xfrm>
            <a:off x="4178808" y="4206240"/>
            <a:ext cx="347472" cy="320040"/>
          </a:xfrm>
          <a:prstGeom prst="rect">
            <a:avLst/>
          </a:prstGeom>
          <a:solidFill>
            <a:srgbClr val="2E353C"/>
          </a:solidFill>
          <a:ln/>
        </p:spPr>
        <p:txBody>
          <a:bodyPr/>
          <a:lstStyle/>
          <a:p>
            <a:endParaRPr lang="en-SE"/>
          </a:p>
        </p:txBody>
      </p:sp>
      <p:sp>
        <p:nvSpPr>
          <p:cNvPr id="23" name="Shape 21"/>
          <p:cNvSpPr/>
          <p:nvPr/>
        </p:nvSpPr>
        <p:spPr>
          <a:xfrm>
            <a:off x="4645152" y="4206240"/>
            <a:ext cx="347472" cy="320040"/>
          </a:xfrm>
          <a:prstGeom prst="rect">
            <a:avLst/>
          </a:prstGeom>
          <a:solidFill>
            <a:srgbClr val="2E353C"/>
          </a:solidFill>
          <a:ln/>
        </p:spPr>
        <p:txBody>
          <a:bodyPr/>
          <a:lstStyle/>
          <a:p>
            <a:endParaRPr lang="en-SE"/>
          </a:p>
        </p:txBody>
      </p:sp>
      <p:sp>
        <p:nvSpPr>
          <p:cNvPr id="24" name="Shape 22"/>
          <p:cNvSpPr/>
          <p:nvPr/>
        </p:nvSpPr>
        <p:spPr>
          <a:xfrm>
            <a:off x="5111496" y="4206240"/>
            <a:ext cx="347472" cy="320040"/>
          </a:xfrm>
          <a:prstGeom prst="rect">
            <a:avLst/>
          </a:prstGeom>
          <a:solidFill>
            <a:srgbClr val="2E353C"/>
          </a:solidFill>
          <a:ln/>
        </p:spPr>
        <p:txBody>
          <a:bodyPr/>
          <a:lstStyle/>
          <a:p>
            <a:endParaRPr lang="en-SE"/>
          </a:p>
        </p:txBody>
      </p:sp>
      <p:sp>
        <p:nvSpPr>
          <p:cNvPr id="25" name="Shape 23"/>
          <p:cNvSpPr/>
          <p:nvPr/>
        </p:nvSpPr>
        <p:spPr>
          <a:xfrm>
            <a:off x="5577840" y="4206240"/>
            <a:ext cx="347472" cy="320040"/>
          </a:xfrm>
          <a:prstGeom prst="rect">
            <a:avLst/>
          </a:prstGeom>
          <a:solidFill>
            <a:srgbClr val="2E353C"/>
          </a:solidFill>
          <a:ln/>
        </p:spPr>
        <p:txBody>
          <a:bodyPr/>
          <a:lstStyle/>
          <a:p>
            <a:endParaRPr lang="en-SE"/>
          </a:p>
        </p:txBody>
      </p:sp>
      <p:sp>
        <p:nvSpPr>
          <p:cNvPr id="26" name="Shape 24"/>
          <p:cNvSpPr/>
          <p:nvPr/>
        </p:nvSpPr>
        <p:spPr>
          <a:xfrm>
            <a:off x="6044184" y="4206240"/>
            <a:ext cx="347472" cy="320040"/>
          </a:xfrm>
          <a:prstGeom prst="rect">
            <a:avLst/>
          </a:prstGeom>
          <a:solidFill>
            <a:srgbClr val="2E353C"/>
          </a:solidFill>
          <a:ln/>
        </p:spPr>
        <p:txBody>
          <a:bodyPr/>
          <a:lstStyle/>
          <a:p>
            <a:endParaRPr lang="en-SE"/>
          </a:p>
        </p:txBody>
      </p:sp>
      <p:sp>
        <p:nvSpPr>
          <p:cNvPr id="27" name="Shape 25"/>
          <p:cNvSpPr/>
          <p:nvPr/>
        </p:nvSpPr>
        <p:spPr>
          <a:xfrm>
            <a:off x="6510528" y="4206240"/>
            <a:ext cx="347472" cy="320040"/>
          </a:xfrm>
          <a:prstGeom prst="rect">
            <a:avLst/>
          </a:prstGeom>
          <a:solidFill>
            <a:srgbClr val="2E353C"/>
          </a:solidFill>
          <a:ln/>
        </p:spPr>
        <p:txBody>
          <a:bodyPr/>
          <a:lstStyle/>
          <a:p>
            <a:endParaRPr lang="en-SE"/>
          </a:p>
        </p:txBody>
      </p:sp>
      <p:sp>
        <p:nvSpPr>
          <p:cNvPr id="28" name="Shape 26"/>
          <p:cNvSpPr/>
          <p:nvPr/>
        </p:nvSpPr>
        <p:spPr>
          <a:xfrm>
            <a:off x="6976872" y="4206240"/>
            <a:ext cx="347472" cy="320040"/>
          </a:xfrm>
          <a:prstGeom prst="rect">
            <a:avLst/>
          </a:prstGeom>
          <a:solidFill>
            <a:srgbClr val="2E353C"/>
          </a:solidFill>
          <a:ln/>
        </p:spPr>
        <p:txBody>
          <a:bodyPr/>
          <a:lstStyle/>
          <a:p>
            <a:endParaRPr lang="en-SE"/>
          </a:p>
        </p:txBody>
      </p:sp>
      <p:sp>
        <p:nvSpPr>
          <p:cNvPr id="29" name="Shape 27"/>
          <p:cNvSpPr/>
          <p:nvPr/>
        </p:nvSpPr>
        <p:spPr>
          <a:xfrm>
            <a:off x="7443216" y="4206240"/>
            <a:ext cx="347472" cy="320040"/>
          </a:xfrm>
          <a:prstGeom prst="rect">
            <a:avLst/>
          </a:prstGeom>
          <a:solidFill>
            <a:srgbClr val="2E353C"/>
          </a:solidFill>
          <a:ln/>
        </p:spPr>
        <p:txBody>
          <a:bodyPr/>
          <a:lstStyle/>
          <a:p>
            <a:endParaRPr lang="en-SE"/>
          </a:p>
        </p:txBody>
      </p:sp>
      <p:sp>
        <p:nvSpPr>
          <p:cNvPr id="30" name="Shape 28"/>
          <p:cNvSpPr/>
          <p:nvPr/>
        </p:nvSpPr>
        <p:spPr>
          <a:xfrm>
            <a:off x="7909560" y="4206240"/>
            <a:ext cx="347472" cy="320040"/>
          </a:xfrm>
          <a:prstGeom prst="rect">
            <a:avLst/>
          </a:prstGeom>
          <a:solidFill>
            <a:srgbClr val="2E353C"/>
          </a:solidFill>
          <a:ln/>
        </p:spPr>
        <p:txBody>
          <a:bodyPr/>
          <a:lstStyle/>
          <a:p>
            <a:endParaRPr lang="en-SE"/>
          </a:p>
        </p:txBody>
      </p:sp>
      <p:sp>
        <p:nvSpPr>
          <p:cNvPr id="31" name="Shape 29"/>
          <p:cNvSpPr/>
          <p:nvPr/>
        </p:nvSpPr>
        <p:spPr>
          <a:xfrm>
            <a:off x="8375904" y="4206240"/>
            <a:ext cx="347472" cy="320040"/>
          </a:xfrm>
          <a:prstGeom prst="rect">
            <a:avLst/>
          </a:prstGeom>
          <a:solidFill>
            <a:srgbClr val="2E353C"/>
          </a:solidFill>
          <a:ln/>
        </p:spPr>
        <p:txBody>
          <a:bodyPr/>
          <a:lstStyle/>
          <a:p>
            <a:endParaRPr lang="en-SE"/>
          </a:p>
        </p:txBody>
      </p:sp>
      <p:sp>
        <p:nvSpPr>
          <p:cNvPr id="32" name="Shape 30"/>
          <p:cNvSpPr/>
          <p:nvPr/>
        </p:nvSpPr>
        <p:spPr>
          <a:xfrm>
            <a:off x="8842248" y="4206240"/>
            <a:ext cx="347472" cy="320040"/>
          </a:xfrm>
          <a:prstGeom prst="rect">
            <a:avLst/>
          </a:prstGeom>
          <a:solidFill>
            <a:srgbClr val="2E353C"/>
          </a:solidFill>
          <a:ln/>
        </p:spPr>
        <p:txBody>
          <a:bodyPr/>
          <a:lstStyle/>
          <a:p>
            <a:endParaRPr lang="en-SE"/>
          </a:p>
        </p:txBody>
      </p:sp>
      <p:sp>
        <p:nvSpPr>
          <p:cNvPr id="33" name="Shape 31"/>
          <p:cNvSpPr/>
          <p:nvPr/>
        </p:nvSpPr>
        <p:spPr>
          <a:xfrm>
            <a:off x="9308592" y="4206240"/>
            <a:ext cx="347472" cy="320040"/>
          </a:xfrm>
          <a:prstGeom prst="rect">
            <a:avLst/>
          </a:prstGeom>
          <a:solidFill>
            <a:srgbClr val="2E353C"/>
          </a:solidFill>
          <a:ln/>
        </p:spPr>
        <p:txBody>
          <a:bodyPr/>
          <a:lstStyle/>
          <a:p>
            <a:endParaRPr lang="en-SE"/>
          </a:p>
        </p:txBody>
      </p:sp>
      <p:sp>
        <p:nvSpPr>
          <p:cNvPr id="34" name="Shape 32"/>
          <p:cNvSpPr/>
          <p:nvPr/>
        </p:nvSpPr>
        <p:spPr>
          <a:xfrm>
            <a:off x="9774936" y="4206240"/>
            <a:ext cx="347472" cy="320040"/>
          </a:xfrm>
          <a:prstGeom prst="rect">
            <a:avLst/>
          </a:prstGeom>
          <a:solidFill>
            <a:srgbClr val="2E353C"/>
          </a:solidFill>
          <a:ln/>
        </p:spPr>
        <p:txBody>
          <a:bodyPr/>
          <a:lstStyle/>
          <a:p>
            <a:endParaRPr lang="en-SE"/>
          </a:p>
        </p:txBody>
      </p:sp>
      <p:sp>
        <p:nvSpPr>
          <p:cNvPr id="35" name="Shape 33"/>
          <p:cNvSpPr/>
          <p:nvPr/>
        </p:nvSpPr>
        <p:spPr>
          <a:xfrm>
            <a:off x="10241280" y="4206240"/>
            <a:ext cx="347472" cy="320040"/>
          </a:xfrm>
          <a:prstGeom prst="rect">
            <a:avLst/>
          </a:prstGeom>
          <a:solidFill>
            <a:srgbClr val="3FD0C9"/>
          </a:solidFill>
          <a:ln/>
        </p:spPr>
        <p:txBody>
          <a:bodyPr/>
          <a:lstStyle/>
          <a:p>
            <a:endParaRPr lang="en-SE"/>
          </a:p>
        </p:txBody>
      </p:sp>
      <p:sp>
        <p:nvSpPr>
          <p:cNvPr id="36" name="Shape 34"/>
          <p:cNvSpPr/>
          <p:nvPr/>
        </p:nvSpPr>
        <p:spPr>
          <a:xfrm>
            <a:off x="10707624" y="4206240"/>
            <a:ext cx="347472" cy="320040"/>
          </a:xfrm>
          <a:prstGeom prst="rect">
            <a:avLst/>
          </a:prstGeom>
          <a:solidFill>
            <a:srgbClr val="3FD0C9"/>
          </a:solidFill>
          <a:ln/>
        </p:spPr>
        <p:txBody>
          <a:bodyPr/>
          <a:lstStyle/>
          <a:p>
            <a:endParaRPr lang="en-SE"/>
          </a:p>
        </p:txBody>
      </p:sp>
      <p:sp>
        <p:nvSpPr>
          <p:cNvPr id="37" name="Text 35"/>
          <p:cNvSpPr/>
          <p:nvPr/>
        </p:nvSpPr>
        <p:spPr>
          <a:xfrm>
            <a:off x="777240" y="4754880"/>
            <a:ext cx="2743200" cy="274320"/>
          </a:xfrm>
          <a:prstGeom prst="rect">
            <a:avLst/>
          </a:prstGeom>
          <a:noFill/>
          <a:ln/>
        </p:spPr>
        <p:txBody>
          <a:bodyPr wrap="square" lIns="0" tIns="0" rIns="0" bIns="0" rtlCol="0" anchor="ctr"/>
          <a:lstStyle/>
          <a:p>
            <a:pPr marL="0" indent="0">
              <a:buNone/>
            </a:pPr>
            <a:r>
              <a:rPr lang="en-US" sz="950" dirty="0">
                <a:solidFill>
                  <a:srgbClr val="E5566B"/>
                </a:solidFill>
                <a:latin typeface="Consolas" pitchFamily="34" charset="0"/>
                <a:ea typeface="Consolas" pitchFamily="34" charset="-122"/>
                <a:cs typeface="Consolas" pitchFamily="34" charset="-120"/>
              </a:rPr>
              <a:t>oldest — discarded first</a:t>
            </a:r>
            <a:endParaRPr lang="en-US" sz="950" dirty="0"/>
          </a:p>
        </p:txBody>
      </p:sp>
      <p:sp>
        <p:nvSpPr>
          <p:cNvPr id="38" name="Text 36"/>
          <p:cNvSpPr/>
          <p:nvPr/>
        </p:nvSpPr>
        <p:spPr>
          <a:xfrm>
            <a:off x="8671255" y="4754880"/>
            <a:ext cx="2743200" cy="274320"/>
          </a:xfrm>
          <a:prstGeom prst="rect">
            <a:avLst/>
          </a:prstGeom>
          <a:noFill/>
          <a:ln/>
        </p:spPr>
        <p:txBody>
          <a:bodyPr wrap="square" lIns="0" tIns="0" rIns="0" bIns="0" rtlCol="0" anchor="ctr"/>
          <a:lstStyle/>
          <a:p>
            <a:pPr marL="0" indent="0" algn="r">
              <a:buNone/>
            </a:pPr>
            <a:r>
              <a:rPr lang="en-US" sz="950" dirty="0">
                <a:solidFill>
                  <a:srgbClr val="3FD0C9"/>
                </a:solidFill>
                <a:latin typeface="Consolas" pitchFamily="34" charset="0"/>
                <a:ea typeface="Consolas" pitchFamily="34" charset="-122"/>
                <a:cs typeface="Consolas" pitchFamily="34" charset="-120"/>
              </a:rPr>
              <a:t>newest arrivals</a:t>
            </a:r>
            <a:endParaRPr lang="en-US" sz="950" dirty="0"/>
          </a:p>
        </p:txBody>
      </p:sp>
      <p:sp>
        <p:nvSpPr>
          <p:cNvPr id="39" name="Shape 37"/>
          <p:cNvSpPr/>
          <p:nvPr/>
        </p:nvSpPr>
        <p:spPr>
          <a:xfrm>
            <a:off x="685800" y="5212080"/>
            <a:ext cx="10820095" cy="914400"/>
          </a:xfrm>
          <a:prstGeom prst="roundRect">
            <a:avLst>
              <a:gd name="adj" fmla="val 6000"/>
            </a:avLst>
          </a:prstGeom>
          <a:solidFill>
            <a:srgbClr val="252B31"/>
          </a:solidFill>
          <a:ln w="19050">
            <a:solidFill>
              <a:srgbClr val="E5566B"/>
            </a:solidFill>
            <a:prstDash val="solid"/>
          </a:ln>
        </p:spPr>
        <p:txBody>
          <a:bodyPr/>
          <a:lstStyle/>
          <a:p>
            <a:endParaRPr lang="en-SE"/>
          </a:p>
        </p:txBody>
      </p:sp>
      <p:sp>
        <p:nvSpPr>
          <p:cNvPr id="40" name="Shape 38"/>
          <p:cNvSpPr/>
          <p:nvPr/>
        </p:nvSpPr>
        <p:spPr>
          <a:xfrm>
            <a:off x="923544" y="5486400"/>
            <a:ext cx="365760" cy="365760"/>
          </a:xfrm>
          <a:prstGeom prst="roundRect">
            <a:avLst>
              <a:gd name="adj" fmla="val 125000"/>
            </a:avLst>
          </a:prstGeom>
          <a:solidFill>
            <a:srgbClr val="E5566B"/>
          </a:solidFill>
          <a:ln/>
        </p:spPr>
        <p:txBody>
          <a:bodyPr/>
          <a:lstStyle/>
          <a:p>
            <a:endParaRPr lang="en-SE"/>
          </a:p>
        </p:txBody>
      </p:sp>
      <p:sp>
        <p:nvSpPr>
          <p:cNvPr id="41" name="Text 39"/>
          <p:cNvSpPr/>
          <p:nvPr/>
        </p:nvSpPr>
        <p:spPr>
          <a:xfrm>
            <a:off x="923544" y="548640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42" name="Text 40"/>
          <p:cNvSpPr/>
          <p:nvPr/>
        </p:nvSpPr>
        <p:spPr>
          <a:xfrm>
            <a:off x="1453896" y="5358384"/>
            <a:ext cx="9814255" cy="621792"/>
          </a:xfrm>
          <a:prstGeom prst="rect">
            <a:avLst/>
          </a:prstGeom>
          <a:noFill/>
          <a:ln/>
        </p:spPr>
        <p:txBody>
          <a:bodyPr wrap="square" lIns="0" tIns="0" rIns="0" bIns="0" rtlCol="0" anchor="ctr"/>
          <a:lstStyle/>
          <a:p>
            <a:pPr marL="0" indent="0">
              <a:lnSpc>
                <a:spcPct val="110000"/>
              </a:lnSpc>
              <a:buNone/>
            </a:pPr>
            <a:r>
              <a:rPr lang="en-US" sz="1350" b="1" dirty="0">
                <a:solidFill>
                  <a:srgbClr val="E5566B"/>
                </a:solidFill>
                <a:latin typeface="Trebuchet MS" pitchFamily="34" charset="0"/>
                <a:ea typeface="Trebuchet MS" pitchFamily="34" charset="-122"/>
                <a:cs typeface="Trebuchet MS" pitchFamily="34" charset="-120"/>
              </a:rPr>
              <a:t>Size the buffer against your worst case, not your average</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The window is measured in events, not minutes. A busy session burns through 10,000 events far faster than a quiet one, so a consumer that can be offline for an hour needs either a larger buffer or a durable audit log to fall back on.</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03 · TIMING</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21</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REPLAY</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Powerful in principle, limited in practice today</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Replay re-publishes buffered events on a dedicated topic so a reconnecting consumer can fill its gap.</a:t>
            </a:r>
            <a:endParaRPr lang="en-US" sz="1450" dirty="0"/>
          </a:p>
        </p:txBody>
      </p:sp>
      <p:sp>
        <p:nvSpPr>
          <p:cNvPr id="8" name="Shape 6"/>
          <p:cNvSpPr/>
          <p:nvPr/>
        </p:nvSpPr>
        <p:spPr>
          <a:xfrm>
            <a:off x="685800" y="2240280"/>
            <a:ext cx="6675120" cy="2286000"/>
          </a:xfrm>
          <a:prstGeom prst="roundRect">
            <a:avLst>
              <a:gd name="adj" fmla="val 2400"/>
            </a:avLst>
          </a:prstGeom>
          <a:solidFill>
            <a:srgbClr val="252B31"/>
          </a:solidFill>
          <a:ln w="12700">
            <a:solidFill>
              <a:srgbClr val="3A434B"/>
            </a:solidFill>
            <a:prstDash val="solid"/>
          </a:ln>
        </p:spPr>
        <p:txBody>
          <a:bodyPr/>
          <a:lstStyle/>
          <a:p>
            <a:endParaRPr lang="en-SE"/>
          </a:p>
        </p:txBody>
      </p:sp>
      <p:sp>
        <p:nvSpPr>
          <p:cNvPr id="9" name="Text 7"/>
          <p:cNvSpPr/>
          <p:nvPr/>
        </p:nvSpPr>
        <p:spPr>
          <a:xfrm>
            <a:off x="960120" y="2377440"/>
            <a:ext cx="6126480" cy="365760"/>
          </a:xfrm>
          <a:prstGeom prst="rect">
            <a:avLst/>
          </a:prstGeom>
          <a:noFill/>
          <a:ln/>
        </p:spPr>
        <p:txBody>
          <a:bodyPr wrap="square" lIns="0" tIns="0" rIns="0" bIns="0" rtlCol="0" anchor="ctr"/>
          <a:lstStyle/>
          <a:p>
            <a:pPr marL="0" indent="0">
              <a:buNone/>
            </a:pPr>
            <a:r>
              <a:rPr lang="en-US" sz="1600" b="1" dirty="0">
                <a:solidFill>
                  <a:srgbClr val="ECF1F5"/>
                </a:solidFill>
                <a:latin typeface="Trebuchet MS" pitchFamily="34" charset="0"/>
                <a:ea typeface="Trebuchet MS" pitchFamily="34" charset="-122"/>
                <a:cs typeface="Trebuchet MS" pitchFamily="34" charset="-120"/>
              </a:rPr>
              <a:t>How a replay is triggered</a:t>
            </a:r>
            <a:endParaRPr lang="en-US" sz="1600" dirty="0"/>
          </a:p>
        </p:txBody>
      </p:sp>
      <p:sp>
        <p:nvSpPr>
          <p:cNvPr id="10" name="Text 8"/>
          <p:cNvSpPr/>
          <p:nvPr/>
        </p:nvSpPr>
        <p:spPr>
          <a:xfrm>
            <a:off x="960120" y="2761488"/>
            <a:ext cx="6126480" cy="82296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The publisher exposes a replay call taking a recipient id and a starting sequence number. Every buffered event from that sequence onward is re-published, and the call reports how many messages it sent.</a:t>
            </a:r>
            <a:endParaRPr lang="en-US" sz="1250" dirty="0"/>
          </a:p>
        </p:txBody>
      </p:sp>
      <p:sp>
        <p:nvSpPr>
          <p:cNvPr id="11" name="Shape 9"/>
          <p:cNvSpPr/>
          <p:nvPr/>
        </p:nvSpPr>
        <p:spPr>
          <a:xfrm>
            <a:off x="960120" y="3611880"/>
            <a:ext cx="6126480" cy="777240"/>
          </a:xfrm>
          <a:prstGeom prst="roundRect">
            <a:avLst>
              <a:gd name="adj" fmla="val 4706"/>
            </a:avLst>
          </a:prstGeom>
          <a:solidFill>
            <a:srgbClr val="141719"/>
          </a:solidFill>
          <a:ln w="12700">
            <a:solidFill>
              <a:srgbClr val="3A434B"/>
            </a:solidFill>
            <a:prstDash val="solid"/>
          </a:ln>
        </p:spPr>
        <p:txBody>
          <a:bodyPr/>
          <a:lstStyle/>
          <a:p>
            <a:endParaRPr lang="en-SE"/>
          </a:p>
        </p:txBody>
      </p:sp>
      <p:sp>
        <p:nvSpPr>
          <p:cNvPr id="12" name="Text 10"/>
          <p:cNvSpPr/>
          <p:nvPr/>
        </p:nvSpPr>
        <p:spPr>
          <a:xfrm>
            <a:off x="1179576" y="3794760"/>
            <a:ext cx="5687568" cy="448056"/>
          </a:xfrm>
          <a:prstGeom prst="rect">
            <a:avLst/>
          </a:prstGeom>
          <a:noFill/>
          <a:ln/>
        </p:spPr>
        <p:txBody>
          <a:bodyPr wrap="square" lIns="0" tIns="0" rIns="0" bIns="0" rtlCol="0" anchor="t"/>
          <a:lstStyle/>
          <a:p>
            <a:pPr marL="0" indent="0">
              <a:lnSpc>
                <a:spcPct val="116000"/>
              </a:lnSpc>
              <a:buNone/>
            </a:pPr>
            <a:r>
              <a:rPr lang="en-US" sz="1150" dirty="0">
                <a:solidFill>
                  <a:srgbClr val="F0A202"/>
                </a:solidFill>
                <a:latin typeface="Consolas" pitchFamily="34" charset="0"/>
                <a:ea typeface="Consolas" pitchFamily="34" charset="-122"/>
                <a:cs typeface="Consolas" pitchFamily="34" charset="-120"/>
              </a:rPr>
              <a:t>drop_copy.replay.&lt;recipient_id&gt;</a:t>
            </a:r>
            <a:endParaRPr lang="en-US" sz="1150" dirty="0"/>
          </a:p>
          <a:p>
            <a:pPr marL="0" indent="0">
              <a:lnSpc>
                <a:spcPct val="116000"/>
              </a:lnSpc>
              <a:buNone/>
            </a:pPr>
            <a:r>
              <a:rPr lang="en-US" sz="1150" dirty="0">
                <a:solidFill>
                  <a:srgbClr val="6E7C87"/>
                </a:solidFill>
                <a:latin typeface="Consolas" pitchFamily="34" charset="0"/>
                <a:ea typeface="Consolas" pitchFamily="34" charset="-122"/>
                <a:cs typeface="Consolas" pitchFamily="34" charset="-120"/>
              </a:rPr>
              <a:t>same payload format as a live event</a:t>
            </a:r>
            <a:endParaRPr lang="en-US" sz="1150" dirty="0"/>
          </a:p>
        </p:txBody>
      </p:sp>
      <p:sp>
        <p:nvSpPr>
          <p:cNvPr id="13" name="Shape 11"/>
          <p:cNvSpPr/>
          <p:nvPr/>
        </p:nvSpPr>
        <p:spPr>
          <a:xfrm>
            <a:off x="7635240" y="2240280"/>
            <a:ext cx="3867912" cy="1143000"/>
          </a:xfrm>
          <a:prstGeom prst="roundRect">
            <a:avLst>
              <a:gd name="adj" fmla="val 4800"/>
            </a:avLst>
          </a:prstGeom>
          <a:solidFill>
            <a:srgbClr val="252B31"/>
          </a:solidFill>
          <a:ln w="12700">
            <a:solidFill>
              <a:srgbClr val="3A434B"/>
            </a:solidFill>
            <a:prstDash val="solid"/>
          </a:ln>
        </p:spPr>
        <p:txBody>
          <a:bodyPr/>
          <a:lstStyle/>
          <a:p>
            <a:endParaRPr lang="en-SE"/>
          </a:p>
        </p:txBody>
      </p:sp>
      <p:sp>
        <p:nvSpPr>
          <p:cNvPr id="14" name="Text 12"/>
          <p:cNvSpPr/>
          <p:nvPr/>
        </p:nvSpPr>
        <p:spPr>
          <a:xfrm>
            <a:off x="7891272" y="2496312"/>
            <a:ext cx="3355848" cy="310896"/>
          </a:xfrm>
          <a:prstGeom prst="rect">
            <a:avLst/>
          </a:prstGeom>
          <a:noFill/>
          <a:ln/>
        </p:spPr>
        <p:txBody>
          <a:bodyPr wrap="square" lIns="0" tIns="0" rIns="0" bIns="0" rtlCol="0" anchor="t"/>
          <a:lstStyle/>
          <a:p>
            <a:pPr marL="0" indent="0">
              <a:buNone/>
            </a:pPr>
            <a:r>
              <a:rPr lang="en-US" sz="1400" b="1" dirty="0">
                <a:solidFill>
                  <a:srgbClr val="3FD0C9"/>
                </a:solidFill>
                <a:latin typeface="Trebuchet MS" pitchFamily="34" charset="0"/>
                <a:ea typeface="Trebuchet MS" pitchFamily="34" charset="-122"/>
                <a:cs typeface="Trebuchet MS" pitchFamily="34" charset="-120"/>
              </a:rPr>
              <a:t>Separate topic by design</a:t>
            </a:r>
            <a:endParaRPr lang="en-US" sz="1400" dirty="0"/>
          </a:p>
        </p:txBody>
      </p:sp>
      <p:sp>
        <p:nvSpPr>
          <p:cNvPr id="15" name="Text 13"/>
          <p:cNvSpPr/>
          <p:nvPr/>
        </p:nvSpPr>
        <p:spPr>
          <a:xfrm>
            <a:off x="7891272" y="2880360"/>
            <a:ext cx="3355848" cy="338328"/>
          </a:xfrm>
          <a:prstGeom prst="rect">
            <a:avLst/>
          </a:prstGeom>
          <a:noFill/>
          <a:ln/>
        </p:spPr>
        <p:txBody>
          <a:bodyPr wrap="square" lIns="0" tIns="0" rIns="0" bIns="0" rtlCol="0" anchor="t"/>
          <a:lstStyle/>
          <a:p>
            <a:pPr marL="0" indent="0">
              <a:lnSpc>
                <a:spcPct val="112000"/>
              </a:lnSpc>
              <a:buNone/>
            </a:pPr>
            <a:r>
              <a:rPr lang="en-US" sz="1150" dirty="0">
                <a:solidFill>
                  <a:srgbClr val="97A4AE"/>
                </a:solidFill>
                <a:latin typeface="Calibri" pitchFamily="34" charset="0"/>
                <a:ea typeface="Calibri" pitchFamily="34" charset="-122"/>
                <a:cs typeface="Calibri" pitchFamily="34" charset="-120"/>
              </a:rPr>
              <a:t>Replay traffic uses its own prefix, so one client's catch-up never pollutes the live stream.</a:t>
            </a:r>
            <a:endParaRPr lang="en-US" sz="1150" dirty="0"/>
          </a:p>
        </p:txBody>
      </p:sp>
      <p:sp>
        <p:nvSpPr>
          <p:cNvPr id="16" name="Shape 14"/>
          <p:cNvSpPr/>
          <p:nvPr/>
        </p:nvSpPr>
        <p:spPr>
          <a:xfrm>
            <a:off x="7635240" y="3474720"/>
            <a:ext cx="3867912" cy="1051560"/>
          </a:xfrm>
          <a:prstGeom prst="roundRect">
            <a:avLst>
              <a:gd name="adj" fmla="val 5217"/>
            </a:avLst>
          </a:prstGeom>
          <a:solidFill>
            <a:srgbClr val="252B31"/>
          </a:solidFill>
          <a:ln w="12700">
            <a:solidFill>
              <a:srgbClr val="3A434B"/>
            </a:solidFill>
            <a:prstDash val="solid"/>
          </a:ln>
        </p:spPr>
        <p:txBody>
          <a:bodyPr/>
          <a:lstStyle/>
          <a:p>
            <a:endParaRPr lang="en-SE"/>
          </a:p>
        </p:txBody>
      </p:sp>
      <p:sp>
        <p:nvSpPr>
          <p:cNvPr id="17" name="Text 15"/>
          <p:cNvSpPr/>
          <p:nvPr/>
        </p:nvSpPr>
        <p:spPr>
          <a:xfrm>
            <a:off x="7891272" y="3730752"/>
            <a:ext cx="3355848" cy="310896"/>
          </a:xfrm>
          <a:prstGeom prst="rect">
            <a:avLst/>
          </a:prstGeom>
          <a:noFill/>
          <a:ln/>
        </p:spPr>
        <p:txBody>
          <a:bodyPr wrap="square" lIns="0" tIns="0" rIns="0" bIns="0" rtlCol="0" anchor="t"/>
          <a:lstStyle/>
          <a:p>
            <a:pPr marL="0" indent="0">
              <a:buNone/>
            </a:pPr>
            <a:r>
              <a:rPr lang="en-US" sz="1400" b="1" dirty="0">
                <a:solidFill>
                  <a:srgbClr val="3FD0C9"/>
                </a:solidFill>
                <a:latin typeface="Trebuchet MS" pitchFamily="34" charset="0"/>
                <a:ea typeface="Trebuchet MS" pitchFamily="34" charset="-122"/>
                <a:cs typeface="Trebuchet MS" pitchFamily="34" charset="-120"/>
              </a:rPr>
              <a:t>Easy to tell apart</a:t>
            </a:r>
            <a:endParaRPr lang="en-US" sz="1400" dirty="0"/>
          </a:p>
        </p:txBody>
      </p:sp>
      <p:sp>
        <p:nvSpPr>
          <p:cNvPr id="18" name="Text 16"/>
          <p:cNvSpPr/>
          <p:nvPr/>
        </p:nvSpPr>
        <p:spPr>
          <a:xfrm>
            <a:off x="7891272" y="4114800"/>
            <a:ext cx="3355848" cy="246888"/>
          </a:xfrm>
          <a:prstGeom prst="rect">
            <a:avLst/>
          </a:prstGeom>
          <a:noFill/>
          <a:ln/>
        </p:spPr>
        <p:txBody>
          <a:bodyPr wrap="square" lIns="0" tIns="0" rIns="0" bIns="0" rtlCol="0" anchor="t"/>
          <a:lstStyle/>
          <a:p>
            <a:pPr marL="0" indent="0">
              <a:lnSpc>
                <a:spcPct val="112000"/>
              </a:lnSpc>
              <a:buNone/>
            </a:pPr>
            <a:r>
              <a:rPr lang="en-US" sz="1150" dirty="0">
                <a:solidFill>
                  <a:srgbClr val="97A4AE"/>
                </a:solidFill>
                <a:latin typeface="Calibri" pitchFamily="34" charset="0"/>
                <a:ea typeface="Calibri" pitchFamily="34" charset="-122"/>
                <a:cs typeface="Calibri" pitchFamily="34" charset="-120"/>
              </a:rPr>
              <a:t>Replayed messages are marked as replay and can be consumed alongside live traffic.</a:t>
            </a:r>
            <a:endParaRPr lang="en-US" sz="1150" dirty="0"/>
          </a:p>
        </p:txBody>
      </p:sp>
      <p:sp>
        <p:nvSpPr>
          <p:cNvPr id="19" name="Shape 17"/>
          <p:cNvSpPr/>
          <p:nvPr/>
        </p:nvSpPr>
        <p:spPr>
          <a:xfrm>
            <a:off x="685800" y="4709160"/>
            <a:ext cx="10820095" cy="868680"/>
          </a:xfrm>
          <a:prstGeom prst="roundRect">
            <a:avLst>
              <a:gd name="adj" fmla="val 6316"/>
            </a:avLst>
          </a:prstGeom>
          <a:solidFill>
            <a:srgbClr val="252B31"/>
          </a:solidFill>
          <a:ln w="19050">
            <a:solidFill>
              <a:srgbClr val="E5566B"/>
            </a:solidFill>
            <a:prstDash val="solid"/>
          </a:ln>
        </p:spPr>
        <p:txBody>
          <a:bodyPr/>
          <a:lstStyle/>
          <a:p>
            <a:endParaRPr lang="en-SE"/>
          </a:p>
        </p:txBody>
      </p:sp>
      <p:sp>
        <p:nvSpPr>
          <p:cNvPr id="20" name="Shape 18"/>
          <p:cNvSpPr/>
          <p:nvPr/>
        </p:nvSpPr>
        <p:spPr>
          <a:xfrm>
            <a:off x="923544" y="4960620"/>
            <a:ext cx="365760" cy="365760"/>
          </a:xfrm>
          <a:prstGeom prst="roundRect">
            <a:avLst>
              <a:gd name="adj" fmla="val 125000"/>
            </a:avLst>
          </a:prstGeom>
          <a:solidFill>
            <a:srgbClr val="E5566B"/>
          </a:solidFill>
          <a:ln/>
        </p:spPr>
        <p:txBody>
          <a:bodyPr/>
          <a:lstStyle/>
          <a:p>
            <a:endParaRPr lang="en-SE"/>
          </a:p>
        </p:txBody>
      </p:sp>
      <p:sp>
        <p:nvSpPr>
          <p:cNvPr id="21" name="Text 19"/>
          <p:cNvSpPr/>
          <p:nvPr/>
        </p:nvSpPr>
        <p:spPr>
          <a:xfrm>
            <a:off x="923544" y="496062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22" name="Text 20"/>
          <p:cNvSpPr/>
          <p:nvPr/>
        </p:nvSpPr>
        <p:spPr>
          <a:xfrm>
            <a:off x="1453896" y="4855464"/>
            <a:ext cx="9814255" cy="576072"/>
          </a:xfrm>
          <a:prstGeom prst="rect">
            <a:avLst/>
          </a:prstGeom>
          <a:noFill/>
          <a:ln/>
        </p:spPr>
        <p:txBody>
          <a:bodyPr wrap="square" lIns="0" tIns="0" rIns="0" bIns="0" rtlCol="0" anchor="ctr"/>
          <a:lstStyle/>
          <a:p>
            <a:pPr marL="0" indent="0">
              <a:lnSpc>
                <a:spcPct val="110000"/>
              </a:lnSpc>
              <a:buNone/>
            </a:pPr>
            <a:r>
              <a:rPr lang="en-US" sz="1350" b="1" dirty="0">
                <a:solidFill>
                  <a:srgbClr val="E5566B"/>
                </a:solidFill>
                <a:latin typeface="Trebuchet MS" pitchFamily="34" charset="0"/>
                <a:ea typeface="Trebuchet MS" pitchFamily="34" charset="-122"/>
                <a:cs typeface="Trebuchet MS" pitchFamily="34" charset="-120"/>
              </a:rPr>
              <a:t>There is no over-the-wire replay protocol today</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Replay is an in-process call: no external consumer can ask for one, because nothing accepts replay requests. Useful for tests and embedded consumers — not yet a reconnect protocol to rely on.</a:t>
            </a:r>
            <a:endParaRPr lang="en-US" sz="1350" dirty="0"/>
          </a:p>
        </p:txBody>
      </p:sp>
      <p:sp>
        <p:nvSpPr>
          <p:cNvPr id="23" name="Text 21"/>
          <p:cNvSpPr/>
          <p:nvPr/>
        </p:nvSpPr>
        <p:spPr>
          <a:xfrm>
            <a:off x="685800" y="5669280"/>
            <a:ext cx="10820095" cy="411480"/>
          </a:xfrm>
          <a:prstGeom prst="rect">
            <a:avLst/>
          </a:prstGeom>
          <a:noFill/>
          <a:ln/>
        </p:spPr>
        <p:txBody>
          <a:bodyPr wrap="square" lIns="0" tIns="0" rIns="0" bIns="0" rtlCol="0" anchor="ctr"/>
          <a:lstStyle/>
          <a:p>
            <a:pPr marL="0" indent="0">
              <a:buNone/>
            </a:pPr>
            <a:r>
              <a:rPr lang="en-US" sz="1250" i="1" dirty="0">
                <a:solidFill>
                  <a:srgbClr val="6E7C87"/>
                </a:solidFill>
                <a:latin typeface="Calibri" pitchFamily="34" charset="0"/>
                <a:ea typeface="Calibri" pitchFamily="34" charset="-122"/>
                <a:cs typeface="Calibri" pitchFamily="34" charset="-120"/>
              </a:rPr>
              <a:t>So what does a real consumer do after a long outage? It reconciles from the durable audit log. Drop copy covers the short gap; persistence covers the long one.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10454335" y="4572000"/>
            <a:ext cx="237744" cy="237744"/>
          </a:xfrm>
          <a:prstGeom prst="rect">
            <a:avLst/>
          </a:prstGeom>
          <a:solidFill>
            <a:srgbClr val="F0A202"/>
          </a:solidFill>
          <a:ln/>
        </p:spPr>
        <p:txBody>
          <a:bodyPr/>
          <a:lstStyle/>
          <a:p>
            <a:endParaRPr lang="en-SE"/>
          </a:p>
        </p:txBody>
      </p:sp>
      <p:sp>
        <p:nvSpPr>
          <p:cNvPr id="3" name="Shape 1"/>
          <p:cNvSpPr/>
          <p:nvPr/>
        </p:nvSpPr>
        <p:spPr>
          <a:xfrm>
            <a:off x="10838383" y="4572000"/>
            <a:ext cx="237744" cy="237744"/>
          </a:xfrm>
          <a:prstGeom prst="rect">
            <a:avLst/>
          </a:prstGeom>
          <a:solidFill>
            <a:srgbClr val="2E353C"/>
          </a:solidFill>
          <a:ln/>
        </p:spPr>
        <p:txBody>
          <a:bodyPr/>
          <a:lstStyle/>
          <a:p>
            <a:endParaRPr lang="en-SE"/>
          </a:p>
        </p:txBody>
      </p:sp>
      <p:sp>
        <p:nvSpPr>
          <p:cNvPr id="4" name="Shape 2"/>
          <p:cNvSpPr/>
          <p:nvPr/>
        </p:nvSpPr>
        <p:spPr>
          <a:xfrm>
            <a:off x="11222431" y="4572000"/>
            <a:ext cx="237744" cy="237744"/>
          </a:xfrm>
          <a:prstGeom prst="rect">
            <a:avLst/>
          </a:prstGeom>
          <a:solidFill>
            <a:srgbClr val="2E353C"/>
          </a:solidFill>
          <a:ln/>
        </p:spPr>
        <p:txBody>
          <a:bodyPr/>
          <a:lstStyle/>
          <a:p>
            <a:endParaRPr lang="en-SE"/>
          </a:p>
        </p:txBody>
      </p:sp>
      <p:sp>
        <p:nvSpPr>
          <p:cNvPr id="5" name="Shape 3"/>
          <p:cNvSpPr/>
          <p:nvPr/>
        </p:nvSpPr>
        <p:spPr>
          <a:xfrm>
            <a:off x="10454335" y="4956048"/>
            <a:ext cx="237744" cy="237744"/>
          </a:xfrm>
          <a:prstGeom prst="rect">
            <a:avLst/>
          </a:prstGeom>
          <a:solidFill>
            <a:srgbClr val="3FD0C9"/>
          </a:solidFill>
          <a:ln/>
        </p:spPr>
        <p:txBody>
          <a:bodyPr/>
          <a:lstStyle/>
          <a:p>
            <a:endParaRPr lang="en-SE"/>
          </a:p>
        </p:txBody>
      </p:sp>
      <p:sp>
        <p:nvSpPr>
          <p:cNvPr id="6" name="Shape 4"/>
          <p:cNvSpPr/>
          <p:nvPr/>
        </p:nvSpPr>
        <p:spPr>
          <a:xfrm>
            <a:off x="10838383" y="4956048"/>
            <a:ext cx="237744" cy="237744"/>
          </a:xfrm>
          <a:prstGeom prst="rect">
            <a:avLst/>
          </a:prstGeom>
          <a:solidFill>
            <a:srgbClr val="F0A202"/>
          </a:solidFill>
          <a:ln/>
        </p:spPr>
        <p:txBody>
          <a:bodyPr/>
          <a:lstStyle/>
          <a:p>
            <a:endParaRPr lang="en-SE"/>
          </a:p>
        </p:txBody>
      </p:sp>
      <p:sp>
        <p:nvSpPr>
          <p:cNvPr id="7" name="Shape 5"/>
          <p:cNvSpPr/>
          <p:nvPr/>
        </p:nvSpPr>
        <p:spPr>
          <a:xfrm>
            <a:off x="11222431" y="4956048"/>
            <a:ext cx="237744" cy="237744"/>
          </a:xfrm>
          <a:prstGeom prst="rect">
            <a:avLst/>
          </a:prstGeom>
          <a:solidFill>
            <a:srgbClr val="2E353C"/>
          </a:solidFill>
          <a:ln/>
        </p:spPr>
        <p:txBody>
          <a:bodyPr/>
          <a:lstStyle/>
          <a:p>
            <a:endParaRPr lang="en-SE"/>
          </a:p>
        </p:txBody>
      </p:sp>
      <p:sp>
        <p:nvSpPr>
          <p:cNvPr id="8" name="Text 6"/>
          <p:cNvSpPr/>
          <p:nvPr/>
        </p:nvSpPr>
        <p:spPr>
          <a:xfrm>
            <a:off x="685800" y="1417320"/>
            <a:ext cx="2743200" cy="1737360"/>
          </a:xfrm>
          <a:prstGeom prst="rect">
            <a:avLst/>
          </a:prstGeom>
          <a:noFill/>
          <a:ln/>
        </p:spPr>
        <p:txBody>
          <a:bodyPr wrap="square" lIns="0" tIns="0" rIns="0" bIns="0" rtlCol="0" anchor="ctr"/>
          <a:lstStyle/>
          <a:p>
            <a:pPr marL="0" indent="0">
              <a:buNone/>
            </a:pPr>
            <a:r>
              <a:rPr lang="en-US" sz="11000" b="1" dirty="0">
                <a:solidFill>
                  <a:srgbClr val="2E353C"/>
                </a:solidFill>
                <a:latin typeface="Trebuchet MS" pitchFamily="34" charset="0"/>
                <a:ea typeface="Trebuchet MS" pitchFamily="34" charset="-122"/>
                <a:cs typeface="Trebuchet MS" pitchFamily="34" charset="-120"/>
              </a:rPr>
              <a:t>04</a:t>
            </a:r>
            <a:endParaRPr lang="en-US" sz="11000" dirty="0"/>
          </a:p>
        </p:txBody>
      </p:sp>
      <p:sp>
        <p:nvSpPr>
          <p:cNvPr id="9" name="Text 7"/>
          <p:cNvSpPr/>
          <p:nvPr/>
        </p:nvSpPr>
        <p:spPr>
          <a:xfrm>
            <a:off x="2606040" y="1600200"/>
            <a:ext cx="8579815" cy="1371600"/>
          </a:xfrm>
          <a:prstGeom prst="rect">
            <a:avLst/>
          </a:prstGeom>
          <a:noFill/>
          <a:ln/>
        </p:spPr>
        <p:txBody>
          <a:bodyPr wrap="square" lIns="0" tIns="0" rIns="0" bIns="0" rtlCol="0" anchor="ctr"/>
          <a:lstStyle/>
          <a:p>
            <a:pPr marL="0" indent="0">
              <a:buNone/>
            </a:pPr>
            <a:r>
              <a:rPr lang="en-US" sz="4000" b="1" dirty="0">
                <a:solidFill>
                  <a:srgbClr val="ECF1F5"/>
                </a:solidFill>
                <a:latin typeface="Trebuchet MS" pitchFamily="34" charset="0"/>
                <a:ea typeface="Trebuchet MS" pitchFamily="34" charset="-122"/>
                <a:cs typeface="Trebuchet MS" pitchFamily="34" charset="-120"/>
              </a:rPr>
              <a:t>What is the format?</a:t>
            </a:r>
            <a:endParaRPr lang="en-US" sz="4000" dirty="0"/>
          </a:p>
        </p:txBody>
      </p:sp>
      <p:sp>
        <p:nvSpPr>
          <p:cNvPr id="10" name="Text 8"/>
          <p:cNvSpPr/>
          <p:nvPr/>
        </p:nvSpPr>
        <p:spPr>
          <a:xfrm>
            <a:off x="2651760" y="3017520"/>
            <a:ext cx="7680960" cy="822960"/>
          </a:xfrm>
          <a:prstGeom prst="rect">
            <a:avLst/>
          </a:prstGeom>
          <a:noFill/>
          <a:ln/>
        </p:spPr>
        <p:txBody>
          <a:bodyPr wrap="square" lIns="0" tIns="0" rIns="0" bIns="0" rtlCol="0" anchor="t"/>
          <a:lstStyle/>
          <a:p>
            <a:pPr marL="0" indent="0">
              <a:lnSpc>
                <a:spcPct val="115000"/>
              </a:lnSpc>
              <a:buNone/>
            </a:pPr>
            <a:r>
              <a:rPr lang="en-US" sz="1500" dirty="0">
                <a:solidFill>
                  <a:srgbClr val="97A4AE"/>
                </a:solidFill>
                <a:latin typeface="Calibri" pitchFamily="34" charset="0"/>
                <a:ea typeface="Calibri" pitchFamily="34" charset="-122"/>
                <a:cs typeface="Calibri" pitchFamily="34" charset="-120"/>
              </a:rPr>
              <a:t>The same fill appears in three shapes depending on how you receive it. All three carry the same facts.</a:t>
            </a:r>
            <a:endParaRPr lang="en-US" sz="1500" dirty="0"/>
          </a:p>
        </p:txBody>
      </p:sp>
      <p:sp>
        <p:nvSpPr>
          <p:cNvPr id="11" name="Shape 9"/>
          <p:cNvSpPr/>
          <p:nvPr/>
        </p:nvSpPr>
        <p:spPr>
          <a:xfrm>
            <a:off x="2651760" y="4142232"/>
            <a:ext cx="128016" cy="128016"/>
          </a:xfrm>
          <a:prstGeom prst="rect">
            <a:avLst/>
          </a:prstGeom>
          <a:solidFill>
            <a:srgbClr val="3FD0C9"/>
          </a:solidFill>
          <a:ln/>
        </p:spPr>
        <p:txBody>
          <a:bodyPr/>
          <a:lstStyle/>
          <a:p>
            <a:endParaRPr lang="en-SE"/>
          </a:p>
        </p:txBody>
      </p:sp>
      <p:sp>
        <p:nvSpPr>
          <p:cNvPr id="12" name="Text 10"/>
          <p:cNvSpPr/>
          <p:nvPr/>
        </p:nvSpPr>
        <p:spPr>
          <a:xfrm>
            <a:off x="2971800" y="4041648"/>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native wire format</a:t>
            </a:r>
            <a:endParaRPr lang="en-US" sz="1250" dirty="0"/>
          </a:p>
        </p:txBody>
      </p:sp>
      <p:sp>
        <p:nvSpPr>
          <p:cNvPr id="13" name="Shape 11"/>
          <p:cNvSpPr/>
          <p:nvPr/>
        </p:nvSpPr>
        <p:spPr>
          <a:xfrm>
            <a:off x="2651760" y="4526280"/>
            <a:ext cx="128016" cy="128016"/>
          </a:xfrm>
          <a:prstGeom prst="rect">
            <a:avLst/>
          </a:prstGeom>
          <a:solidFill>
            <a:srgbClr val="3FD0C9"/>
          </a:solidFill>
          <a:ln/>
        </p:spPr>
        <p:txBody>
          <a:bodyPr/>
          <a:lstStyle/>
          <a:p>
            <a:endParaRPr lang="en-SE"/>
          </a:p>
        </p:txBody>
      </p:sp>
      <p:sp>
        <p:nvSpPr>
          <p:cNvPr id="14" name="Text 12"/>
          <p:cNvSpPr/>
          <p:nvPr/>
        </p:nvSpPr>
        <p:spPr>
          <a:xfrm>
            <a:off x="2971800" y="4425696"/>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Topic subscription patterns</a:t>
            </a:r>
            <a:endParaRPr lang="en-US" sz="1250" dirty="0"/>
          </a:p>
        </p:txBody>
      </p:sp>
      <p:sp>
        <p:nvSpPr>
          <p:cNvPr id="15" name="Shape 13"/>
          <p:cNvSpPr/>
          <p:nvPr/>
        </p:nvSpPr>
        <p:spPr>
          <a:xfrm>
            <a:off x="2651760" y="4910328"/>
            <a:ext cx="128016" cy="128016"/>
          </a:xfrm>
          <a:prstGeom prst="rect">
            <a:avLst/>
          </a:prstGeom>
          <a:solidFill>
            <a:srgbClr val="3FD0C9"/>
          </a:solidFill>
          <a:ln/>
        </p:spPr>
        <p:txBody>
          <a:bodyPr/>
          <a:lstStyle/>
          <a:p>
            <a:endParaRPr lang="en-SE"/>
          </a:p>
        </p:txBody>
      </p:sp>
      <p:sp>
        <p:nvSpPr>
          <p:cNvPr id="16" name="Text 14"/>
          <p:cNvSpPr/>
          <p:nvPr/>
        </p:nvSpPr>
        <p:spPr>
          <a:xfrm>
            <a:off x="2971800" y="4809744"/>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JSON, DC1 text, and the spy line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04 · FORMAT</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23</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NATIVE FORMAT</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A topic frame and a JSON frame</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This is what the engine itself publishes. Everything else in the system is a re-shaping of these two frames.</a:t>
            </a:r>
            <a:endParaRPr lang="en-US" sz="1450" dirty="0"/>
          </a:p>
        </p:txBody>
      </p:sp>
      <p:sp>
        <p:nvSpPr>
          <p:cNvPr id="8" name="Shape 6"/>
          <p:cNvSpPr/>
          <p:nvPr/>
        </p:nvSpPr>
        <p:spPr>
          <a:xfrm>
            <a:off x="685800" y="2194560"/>
            <a:ext cx="5257800" cy="1920240"/>
          </a:xfrm>
          <a:prstGeom prst="roundRect">
            <a:avLst>
              <a:gd name="adj" fmla="val 1905"/>
            </a:avLst>
          </a:prstGeom>
          <a:solidFill>
            <a:srgbClr val="141719"/>
          </a:solidFill>
          <a:ln w="12700">
            <a:solidFill>
              <a:srgbClr val="3A434B"/>
            </a:solidFill>
            <a:prstDash val="solid"/>
          </a:ln>
        </p:spPr>
        <p:txBody>
          <a:bodyPr/>
          <a:lstStyle/>
          <a:p>
            <a:endParaRPr lang="en-SE"/>
          </a:p>
        </p:txBody>
      </p:sp>
      <p:sp>
        <p:nvSpPr>
          <p:cNvPr id="9" name="Text 7"/>
          <p:cNvSpPr/>
          <p:nvPr/>
        </p:nvSpPr>
        <p:spPr>
          <a:xfrm>
            <a:off x="905256" y="2304288"/>
            <a:ext cx="4800600" cy="237744"/>
          </a:xfrm>
          <a:prstGeom prst="rect">
            <a:avLst/>
          </a:prstGeom>
          <a:noFill/>
          <a:ln/>
        </p:spPr>
        <p:txBody>
          <a:bodyPr wrap="square" lIns="0" tIns="0" rIns="0" bIns="0" rtlCol="0" anchor="ctr"/>
          <a:lstStyle/>
          <a:p>
            <a:pPr marL="0" indent="0">
              <a:buNone/>
            </a:pPr>
            <a:r>
              <a:rPr lang="en-US" sz="950" kern="0" spc="160" dirty="0">
                <a:solidFill>
                  <a:srgbClr val="6E7C87"/>
                </a:solidFill>
                <a:latin typeface="Calibri" pitchFamily="34" charset="0"/>
                <a:ea typeface="Calibri" pitchFamily="34" charset="-122"/>
                <a:cs typeface="Calibri" pitchFamily="34" charset="-120"/>
              </a:rPr>
              <a:t>TWO-FRAME MULTIPART MESSAGE</a:t>
            </a:r>
            <a:endParaRPr lang="en-US" sz="950" dirty="0"/>
          </a:p>
        </p:txBody>
      </p:sp>
      <p:sp>
        <p:nvSpPr>
          <p:cNvPr id="10" name="Text 8"/>
          <p:cNvSpPr/>
          <p:nvPr/>
        </p:nvSpPr>
        <p:spPr>
          <a:xfrm>
            <a:off x="905256" y="2596896"/>
            <a:ext cx="4818888" cy="1371600"/>
          </a:xfrm>
          <a:prstGeom prst="rect">
            <a:avLst/>
          </a:prstGeom>
          <a:noFill/>
          <a:ln/>
        </p:spPr>
        <p:txBody>
          <a:bodyPr wrap="square" lIns="0" tIns="0" rIns="0" bIns="0" rtlCol="0" anchor="t"/>
          <a:lstStyle/>
          <a:p>
            <a:pPr marL="0" indent="0">
              <a:lnSpc>
                <a:spcPct val="116000"/>
              </a:lnSpc>
              <a:buNone/>
            </a:pPr>
            <a:r>
              <a:rPr lang="en-US" sz="1200" dirty="0">
                <a:solidFill>
                  <a:srgbClr val="6E7C87"/>
                </a:solidFill>
                <a:latin typeface="Consolas" pitchFamily="34" charset="0"/>
                <a:ea typeface="Consolas" pitchFamily="34" charset="-122"/>
                <a:cs typeface="Consolas" pitchFamily="34" charset="-120"/>
              </a:rPr>
              <a:t>Frame 0  (topic)</a:t>
            </a:r>
            <a:endParaRPr lang="en-US" sz="1200" dirty="0"/>
          </a:p>
          <a:p>
            <a:pPr marL="0" indent="0">
              <a:lnSpc>
                <a:spcPct val="116000"/>
              </a:lnSpc>
              <a:buNone/>
            </a:pPr>
            <a:r>
              <a:rPr lang="en-US" sz="1200" dirty="0">
                <a:solidFill>
                  <a:srgbClr val="F0A202"/>
                </a:solidFill>
                <a:latin typeface="Consolas" pitchFamily="34" charset="0"/>
                <a:ea typeface="Consolas" pitchFamily="34" charset="-122"/>
                <a:cs typeface="Consolas" pitchFamily="34" charset="-120"/>
              </a:rPr>
              <a:t>drop_copy.event.TRADER01</a:t>
            </a:r>
            <a:endParaRPr lang="en-US" sz="1200" dirty="0"/>
          </a:p>
          <a:p>
            <a:pPr marL="0" indent="0">
              <a:lnSpc>
                <a:spcPct val="116000"/>
              </a:lnSpc>
              <a:buNone/>
            </a:pPr>
            <a:endParaRPr lang="en-US" sz="1200" dirty="0"/>
          </a:p>
          <a:p>
            <a:pPr marL="0" indent="0">
              <a:lnSpc>
                <a:spcPct val="116000"/>
              </a:lnSpc>
              <a:buNone/>
            </a:pPr>
            <a:r>
              <a:rPr lang="en-US" sz="1200" dirty="0">
                <a:solidFill>
                  <a:srgbClr val="6E7C87"/>
                </a:solidFill>
                <a:latin typeface="Consolas" pitchFamily="34" charset="0"/>
                <a:ea typeface="Consolas" pitchFamily="34" charset="-122"/>
                <a:cs typeface="Consolas" pitchFamily="34" charset="-120"/>
              </a:rPr>
              <a:t>Frame 1  (payload)</a:t>
            </a:r>
            <a:endParaRPr lang="en-US" sz="1200" dirty="0"/>
          </a:p>
          <a:p>
            <a:pPr marL="0" indent="0">
              <a:lnSpc>
                <a:spcPct val="116000"/>
              </a:lnSpc>
              <a:buNone/>
            </a:pPr>
            <a:r>
              <a:rPr lang="en-US" sz="1200" dirty="0">
                <a:solidFill>
                  <a:srgbClr val="3FD0C9"/>
                </a:solidFill>
                <a:latin typeface="Consolas" pitchFamily="34" charset="0"/>
                <a:ea typeface="Consolas" pitchFamily="34" charset="-122"/>
                <a:cs typeface="Consolas" pitchFamily="34" charset="-120"/>
              </a:rPr>
              <a:t>orjson-encoded JSON object</a:t>
            </a:r>
            <a:endParaRPr lang="en-US" sz="1200" dirty="0"/>
          </a:p>
        </p:txBody>
      </p:sp>
      <p:sp>
        <p:nvSpPr>
          <p:cNvPr id="11" name="Shape 9"/>
          <p:cNvSpPr/>
          <p:nvPr/>
        </p:nvSpPr>
        <p:spPr>
          <a:xfrm>
            <a:off x="6309360" y="2359152"/>
            <a:ext cx="128016" cy="128016"/>
          </a:xfrm>
          <a:prstGeom prst="rect">
            <a:avLst/>
          </a:prstGeom>
          <a:solidFill>
            <a:srgbClr val="3FD0C9"/>
          </a:solidFill>
          <a:ln/>
        </p:spPr>
        <p:txBody>
          <a:bodyPr/>
          <a:lstStyle/>
          <a:p>
            <a:endParaRPr lang="en-SE"/>
          </a:p>
        </p:txBody>
      </p:sp>
      <p:sp>
        <p:nvSpPr>
          <p:cNvPr id="12" name="Text 10"/>
          <p:cNvSpPr/>
          <p:nvPr/>
        </p:nvSpPr>
        <p:spPr>
          <a:xfrm>
            <a:off x="6583680" y="2194560"/>
            <a:ext cx="4892040" cy="457200"/>
          </a:xfrm>
          <a:prstGeom prst="rect">
            <a:avLst/>
          </a:prstGeom>
          <a:noFill/>
          <a:ln/>
        </p:spPr>
        <p:txBody>
          <a:bodyPr wrap="square" lIns="0" tIns="0" rIns="0" bIns="0" rtlCol="0" anchor="ctr"/>
          <a:lstStyle/>
          <a:p>
            <a:pPr marL="0" indent="0">
              <a:buNone/>
            </a:pPr>
            <a:r>
              <a:rPr lang="en-US" sz="1300" b="1" dirty="0">
                <a:solidFill>
                  <a:srgbClr val="ECF1F5"/>
                </a:solidFill>
                <a:latin typeface="Trebuchet MS" pitchFamily="34" charset="0"/>
                <a:ea typeface="Trebuchet MS" pitchFamily="34" charset="-122"/>
                <a:cs typeface="Trebuchet MS" pitchFamily="34" charset="-120"/>
              </a:rPr>
              <a:t>Text, not binary  </a:t>
            </a:r>
            <a:r>
              <a:rPr lang="en-US" sz="1200" dirty="0">
                <a:solidFill>
                  <a:srgbClr val="97A4AE"/>
                </a:solidFill>
                <a:latin typeface="Calibri" pitchFamily="34" charset="0"/>
                <a:ea typeface="Calibri" pitchFamily="34" charset="-122"/>
                <a:cs typeface="Calibri" pitchFamily="34" charset="-120"/>
              </a:rPr>
              <a:t>The payload is ordinary JSON — readable with any tool, in any language.</a:t>
            </a:r>
            <a:endParaRPr lang="en-US" sz="1300" dirty="0"/>
          </a:p>
        </p:txBody>
      </p:sp>
      <p:sp>
        <p:nvSpPr>
          <p:cNvPr id="13" name="Shape 11"/>
          <p:cNvSpPr/>
          <p:nvPr/>
        </p:nvSpPr>
        <p:spPr>
          <a:xfrm>
            <a:off x="6309360" y="2871216"/>
            <a:ext cx="128016" cy="128016"/>
          </a:xfrm>
          <a:prstGeom prst="rect">
            <a:avLst/>
          </a:prstGeom>
          <a:solidFill>
            <a:srgbClr val="3FD0C9"/>
          </a:solidFill>
          <a:ln/>
        </p:spPr>
        <p:txBody>
          <a:bodyPr/>
          <a:lstStyle/>
          <a:p>
            <a:endParaRPr lang="en-SE"/>
          </a:p>
        </p:txBody>
      </p:sp>
      <p:sp>
        <p:nvSpPr>
          <p:cNvPr id="14" name="Text 12"/>
          <p:cNvSpPr/>
          <p:nvPr/>
        </p:nvSpPr>
        <p:spPr>
          <a:xfrm>
            <a:off x="6583680" y="2706624"/>
            <a:ext cx="4892040" cy="457200"/>
          </a:xfrm>
          <a:prstGeom prst="rect">
            <a:avLst/>
          </a:prstGeom>
          <a:noFill/>
          <a:ln/>
        </p:spPr>
        <p:txBody>
          <a:bodyPr wrap="square" lIns="0" tIns="0" rIns="0" bIns="0" rtlCol="0" anchor="ctr"/>
          <a:lstStyle/>
          <a:p>
            <a:pPr marL="0" indent="0">
              <a:buNone/>
            </a:pPr>
            <a:r>
              <a:rPr lang="en-US" sz="1300" b="1" dirty="0">
                <a:solidFill>
                  <a:srgbClr val="ECF1F5"/>
                </a:solidFill>
                <a:latin typeface="Trebuchet MS" pitchFamily="34" charset="0"/>
                <a:ea typeface="Trebuchet MS" pitchFamily="34" charset="-122"/>
                <a:cs typeface="Trebuchet MS" pitchFamily="34" charset="-120"/>
              </a:rPr>
              <a:t>Flat, not nested  </a:t>
            </a:r>
            <a:r>
              <a:rPr lang="en-US" sz="1200" dirty="0">
                <a:solidFill>
                  <a:srgbClr val="97A4AE"/>
                </a:solidFill>
                <a:latin typeface="Calibri" pitchFamily="34" charset="0"/>
                <a:ea typeface="Calibri" pitchFamily="34" charset="-122"/>
                <a:cs typeface="Calibri" pitchFamily="34" charset="-120"/>
              </a:rPr>
              <a:t>Every field sits at the top level. No sub-objects to walk.</a:t>
            </a:r>
            <a:endParaRPr lang="en-US" sz="1300" dirty="0"/>
          </a:p>
        </p:txBody>
      </p:sp>
      <p:sp>
        <p:nvSpPr>
          <p:cNvPr id="15" name="Shape 13"/>
          <p:cNvSpPr/>
          <p:nvPr/>
        </p:nvSpPr>
        <p:spPr>
          <a:xfrm>
            <a:off x="6309360" y="3383280"/>
            <a:ext cx="128016" cy="128016"/>
          </a:xfrm>
          <a:prstGeom prst="rect">
            <a:avLst/>
          </a:prstGeom>
          <a:solidFill>
            <a:srgbClr val="3FD0C9"/>
          </a:solidFill>
          <a:ln/>
        </p:spPr>
        <p:txBody>
          <a:bodyPr/>
          <a:lstStyle/>
          <a:p>
            <a:endParaRPr lang="en-SE"/>
          </a:p>
        </p:txBody>
      </p:sp>
      <p:sp>
        <p:nvSpPr>
          <p:cNvPr id="16" name="Text 14"/>
          <p:cNvSpPr/>
          <p:nvPr/>
        </p:nvSpPr>
        <p:spPr>
          <a:xfrm>
            <a:off x="6583680" y="3218688"/>
            <a:ext cx="4892040" cy="457200"/>
          </a:xfrm>
          <a:prstGeom prst="rect">
            <a:avLst/>
          </a:prstGeom>
          <a:noFill/>
          <a:ln/>
        </p:spPr>
        <p:txBody>
          <a:bodyPr wrap="square" lIns="0" tIns="0" rIns="0" bIns="0" rtlCol="0" anchor="ctr"/>
          <a:lstStyle/>
          <a:p>
            <a:pPr marL="0" indent="0">
              <a:buNone/>
            </a:pPr>
            <a:r>
              <a:rPr lang="en-US" sz="1300" b="1" dirty="0">
                <a:solidFill>
                  <a:srgbClr val="ECF1F5"/>
                </a:solidFill>
                <a:latin typeface="Trebuchet MS" pitchFamily="34" charset="0"/>
                <a:ea typeface="Trebuchet MS" pitchFamily="34" charset="-122"/>
                <a:cs typeface="Trebuchet MS" pitchFamily="34" charset="-120"/>
              </a:rPr>
              <a:t>Stable across encoders  </a:t>
            </a:r>
            <a:r>
              <a:rPr lang="en-US" sz="1200" dirty="0">
                <a:solidFill>
                  <a:srgbClr val="97A4AE"/>
                </a:solidFill>
                <a:latin typeface="Calibri" pitchFamily="34" charset="0"/>
                <a:ea typeface="Calibri" pitchFamily="34" charset="-122"/>
                <a:cs typeface="Calibri" pitchFamily="34" charset="-120"/>
              </a:rPr>
              <a:t>A faster encoder is used when installed, the standard one otherwise; the bytes are identical.</a:t>
            </a:r>
            <a:endParaRPr lang="en-US" sz="1300" dirty="0"/>
          </a:p>
        </p:txBody>
      </p:sp>
      <p:sp>
        <p:nvSpPr>
          <p:cNvPr id="17" name="Shape 15"/>
          <p:cNvSpPr/>
          <p:nvPr/>
        </p:nvSpPr>
        <p:spPr>
          <a:xfrm>
            <a:off x="6309360" y="3895344"/>
            <a:ext cx="128016" cy="128016"/>
          </a:xfrm>
          <a:prstGeom prst="rect">
            <a:avLst/>
          </a:prstGeom>
          <a:solidFill>
            <a:srgbClr val="3FD0C9"/>
          </a:solidFill>
          <a:ln/>
        </p:spPr>
        <p:txBody>
          <a:bodyPr/>
          <a:lstStyle/>
          <a:p>
            <a:endParaRPr lang="en-SE"/>
          </a:p>
        </p:txBody>
      </p:sp>
      <p:sp>
        <p:nvSpPr>
          <p:cNvPr id="18" name="Text 16"/>
          <p:cNvSpPr/>
          <p:nvPr/>
        </p:nvSpPr>
        <p:spPr>
          <a:xfrm>
            <a:off x="6583680" y="3730752"/>
            <a:ext cx="4892040" cy="457200"/>
          </a:xfrm>
          <a:prstGeom prst="rect">
            <a:avLst/>
          </a:prstGeom>
          <a:noFill/>
          <a:ln/>
        </p:spPr>
        <p:txBody>
          <a:bodyPr wrap="square" lIns="0" tIns="0" rIns="0" bIns="0" rtlCol="0" anchor="ctr"/>
          <a:lstStyle/>
          <a:p>
            <a:pPr marL="0" indent="0">
              <a:buNone/>
            </a:pPr>
            <a:r>
              <a:rPr lang="en-US" sz="1300" b="1" dirty="0">
                <a:solidFill>
                  <a:srgbClr val="ECF1F5"/>
                </a:solidFill>
                <a:latin typeface="Trebuchet MS" pitchFamily="34" charset="0"/>
                <a:ea typeface="Trebuchet MS" pitchFamily="34" charset="-122"/>
                <a:cs typeface="Trebuchet MS" pitchFamily="34" charset="-120"/>
              </a:rPr>
              <a:t>Prices are decimals  </a:t>
            </a:r>
            <a:r>
              <a:rPr lang="en-US" sz="1200" dirty="0">
                <a:solidFill>
                  <a:srgbClr val="97A4AE"/>
                </a:solidFill>
                <a:latin typeface="Calibri" pitchFamily="34" charset="0"/>
                <a:ea typeface="Calibri" pitchFamily="34" charset="-122"/>
                <a:cs typeface="Calibri" pitchFamily="34" charset="-120"/>
              </a:rPr>
              <a:t>fill_price is a display price such as 420.0 — not raw integer ticks.</a:t>
            </a:r>
            <a:endParaRPr lang="en-US" sz="1300" dirty="0"/>
          </a:p>
        </p:txBody>
      </p:sp>
      <p:sp>
        <p:nvSpPr>
          <p:cNvPr id="19" name="Shape 17"/>
          <p:cNvSpPr/>
          <p:nvPr/>
        </p:nvSpPr>
        <p:spPr>
          <a:xfrm>
            <a:off x="685800" y="4343400"/>
            <a:ext cx="10820095" cy="868680"/>
          </a:xfrm>
          <a:prstGeom prst="roundRect">
            <a:avLst>
              <a:gd name="adj" fmla="val 6316"/>
            </a:avLst>
          </a:prstGeom>
          <a:solidFill>
            <a:srgbClr val="252B31"/>
          </a:solidFill>
          <a:ln w="19050">
            <a:solidFill>
              <a:srgbClr val="F0A202"/>
            </a:solidFill>
            <a:prstDash val="solid"/>
          </a:ln>
        </p:spPr>
        <p:txBody>
          <a:bodyPr/>
          <a:lstStyle/>
          <a:p>
            <a:endParaRPr lang="en-SE"/>
          </a:p>
        </p:txBody>
      </p:sp>
      <p:sp>
        <p:nvSpPr>
          <p:cNvPr id="20" name="Shape 18"/>
          <p:cNvSpPr/>
          <p:nvPr/>
        </p:nvSpPr>
        <p:spPr>
          <a:xfrm>
            <a:off x="923544" y="4594860"/>
            <a:ext cx="365760" cy="365760"/>
          </a:xfrm>
          <a:prstGeom prst="roundRect">
            <a:avLst>
              <a:gd name="adj" fmla="val 125000"/>
            </a:avLst>
          </a:prstGeom>
          <a:solidFill>
            <a:srgbClr val="F0A202"/>
          </a:solidFill>
          <a:ln/>
        </p:spPr>
        <p:txBody>
          <a:bodyPr/>
          <a:lstStyle/>
          <a:p>
            <a:endParaRPr lang="en-SE"/>
          </a:p>
        </p:txBody>
      </p:sp>
      <p:sp>
        <p:nvSpPr>
          <p:cNvPr id="21" name="Text 19"/>
          <p:cNvSpPr/>
          <p:nvPr/>
        </p:nvSpPr>
        <p:spPr>
          <a:xfrm>
            <a:off x="923544" y="459486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22" name="Text 20"/>
          <p:cNvSpPr/>
          <p:nvPr/>
        </p:nvSpPr>
        <p:spPr>
          <a:xfrm>
            <a:off x="1453896" y="4489704"/>
            <a:ext cx="9814255" cy="576072"/>
          </a:xfrm>
          <a:prstGeom prst="rect">
            <a:avLst/>
          </a:prstGeom>
          <a:noFill/>
          <a:ln/>
        </p:spPr>
        <p:txBody>
          <a:bodyPr wrap="square" lIns="0" tIns="0" rIns="0" bIns="0" rtlCol="0" anchor="ctr"/>
          <a:lstStyle/>
          <a:p>
            <a:pPr marL="0" indent="0">
              <a:lnSpc>
                <a:spcPct val="110000"/>
              </a:lnSpc>
              <a:buNone/>
            </a:pPr>
            <a:r>
              <a:rPr lang="en-US" sz="1350" b="1" dirty="0">
                <a:solidFill>
                  <a:srgbClr val="F0A202"/>
                </a:solidFill>
                <a:latin typeface="Trebuchet MS" pitchFamily="34" charset="0"/>
                <a:ea typeface="Trebuchet MS" pitchFamily="34" charset="-122"/>
                <a:cs typeface="Trebuchet MS" pitchFamily="34" charset="-120"/>
              </a:rPr>
              <a:t>Why the topic is a separate frame</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Subscribers filter on the beginning of the topic frame before the payload is ever examined. Putting the routing key in its own frame is what makes "only TRADER01's fills" cheap to ask for.</a:t>
            </a:r>
            <a:endParaRPr lang="en-US" sz="1350" dirty="0"/>
          </a:p>
        </p:txBody>
      </p:sp>
      <p:sp>
        <p:nvSpPr>
          <p:cNvPr id="23" name="Text 21"/>
          <p:cNvSpPr/>
          <p:nvPr/>
        </p:nvSpPr>
        <p:spPr>
          <a:xfrm>
            <a:off x="685800" y="5394960"/>
            <a:ext cx="10820095" cy="365760"/>
          </a:xfrm>
          <a:prstGeom prst="rect">
            <a:avLst/>
          </a:prstGeom>
          <a:noFill/>
          <a:ln/>
        </p:spPr>
        <p:txBody>
          <a:bodyPr wrap="square" lIns="0" tIns="0" rIns="0" bIns="0" rtlCol="0" anchor="ctr"/>
          <a:lstStyle/>
          <a:p>
            <a:pPr marL="0" indent="0" algn="ctr">
              <a:buNone/>
            </a:pPr>
            <a:r>
              <a:rPr lang="en-US" sz="1250" i="1" dirty="0">
                <a:solidFill>
                  <a:srgbClr val="6E7C87"/>
                </a:solidFill>
                <a:latin typeface="Calibri" pitchFamily="34" charset="0"/>
                <a:ea typeface="Calibri" pitchFamily="34" charset="-122"/>
                <a:cs typeface="Calibri" pitchFamily="34" charset="-120"/>
              </a:rPr>
              <a:t>Everything downstream — the DC1 text protocol, the spy output, your own subscriber — is a rendering of exactly these fields.</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04 · FORMAT</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24</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TOPIC PATTERNS</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You subscribe to a prefix, not to a query</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Filtering is a simple "does the topic start with this text?" test. That single rule gives you three useful patterns.</a:t>
            </a:r>
            <a:endParaRPr lang="en-US" sz="1450" dirty="0"/>
          </a:p>
        </p:txBody>
      </p:sp>
      <p:sp>
        <p:nvSpPr>
          <p:cNvPr id="8" name="Shape 6"/>
          <p:cNvSpPr/>
          <p:nvPr/>
        </p:nvSpPr>
        <p:spPr>
          <a:xfrm>
            <a:off x="685800" y="2286000"/>
            <a:ext cx="10820095" cy="960120"/>
          </a:xfrm>
          <a:prstGeom prst="roundRect">
            <a:avLst>
              <a:gd name="adj" fmla="val 5714"/>
            </a:avLst>
          </a:prstGeom>
          <a:solidFill>
            <a:srgbClr val="252B31"/>
          </a:solidFill>
          <a:ln w="12700">
            <a:solidFill>
              <a:srgbClr val="3A434B"/>
            </a:solidFill>
            <a:prstDash val="solid"/>
          </a:ln>
        </p:spPr>
        <p:txBody>
          <a:bodyPr/>
          <a:lstStyle/>
          <a:p>
            <a:endParaRPr lang="en-SE"/>
          </a:p>
        </p:txBody>
      </p:sp>
      <p:sp>
        <p:nvSpPr>
          <p:cNvPr id="9" name="Shape 7"/>
          <p:cNvSpPr/>
          <p:nvPr/>
        </p:nvSpPr>
        <p:spPr>
          <a:xfrm>
            <a:off x="685800" y="2286000"/>
            <a:ext cx="82296" cy="960120"/>
          </a:xfrm>
          <a:prstGeom prst="rect">
            <a:avLst/>
          </a:prstGeom>
          <a:solidFill>
            <a:srgbClr val="F0A202"/>
          </a:solidFill>
          <a:ln/>
        </p:spPr>
        <p:txBody>
          <a:bodyPr/>
          <a:lstStyle/>
          <a:p>
            <a:endParaRPr lang="en-SE"/>
          </a:p>
        </p:txBody>
      </p:sp>
      <p:sp>
        <p:nvSpPr>
          <p:cNvPr id="10" name="Text 8"/>
          <p:cNvSpPr/>
          <p:nvPr/>
        </p:nvSpPr>
        <p:spPr>
          <a:xfrm>
            <a:off x="1005840" y="2395728"/>
            <a:ext cx="4023360" cy="384048"/>
          </a:xfrm>
          <a:prstGeom prst="rect">
            <a:avLst/>
          </a:prstGeom>
          <a:noFill/>
          <a:ln/>
        </p:spPr>
        <p:txBody>
          <a:bodyPr wrap="square" lIns="0" tIns="0" rIns="0" bIns="0" rtlCol="0" anchor="ctr"/>
          <a:lstStyle/>
          <a:p>
            <a:pPr marL="0" indent="0">
              <a:buNone/>
            </a:pPr>
            <a:r>
              <a:rPr lang="en-US" sz="1350" dirty="0">
                <a:solidFill>
                  <a:srgbClr val="F0A202"/>
                </a:solidFill>
                <a:latin typeface="Consolas" pitchFamily="34" charset="0"/>
                <a:ea typeface="Consolas" pitchFamily="34" charset="-122"/>
                <a:cs typeface="Consolas" pitchFamily="34" charset="-120"/>
              </a:rPr>
              <a:t>drop_copy.event.</a:t>
            </a:r>
            <a:endParaRPr lang="en-US" sz="1350" dirty="0"/>
          </a:p>
        </p:txBody>
      </p:sp>
      <p:sp>
        <p:nvSpPr>
          <p:cNvPr id="11" name="Text 9"/>
          <p:cNvSpPr/>
          <p:nvPr/>
        </p:nvSpPr>
        <p:spPr>
          <a:xfrm>
            <a:off x="1005840" y="2788920"/>
            <a:ext cx="4206240" cy="347472"/>
          </a:xfrm>
          <a:prstGeom prst="rect">
            <a:avLst/>
          </a:prstGeom>
          <a:noFill/>
          <a:ln/>
        </p:spPr>
        <p:txBody>
          <a:bodyPr wrap="square" lIns="0" tIns="0" rIns="0" bIns="0" rtlCol="0" anchor="ctr"/>
          <a:lstStyle/>
          <a:p>
            <a:pPr marL="0" indent="0">
              <a:buNone/>
            </a:pPr>
            <a:r>
              <a:rPr lang="en-US" sz="1200" dirty="0">
                <a:solidFill>
                  <a:srgbClr val="ECF1F5"/>
                </a:solidFill>
                <a:latin typeface="Calibri" pitchFamily="34" charset="0"/>
                <a:ea typeface="Calibri" pitchFamily="34" charset="-122"/>
                <a:cs typeface="Calibri" pitchFamily="34" charset="-120"/>
              </a:rPr>
              <a:t>Every live fill, from every gateway</a:t>
            </a:r>
            <a:endParaRPr lang="en-US" sz="1200" dirty="0"/>
          </a:p>
        </p:txBody>
      </p:sp>
      <p:sp>
        <p:nvSpPr>
          <p:cNvPr id="12" name="Text 10"/>
          <p:cNvSpPr/>
          <p:nvPr/>
        </p:nvSpPr>
        <p:spPr>
          <a:xfrm>
            <a:off x="5440680" y="2286000"/>
            <a:ext cx="5943600" cy="960120"/>
          </a:xfrm>
          <a:prstGeom prst="rect">
            <a:avLst/>
          </a:prstGeom>
          <a:noFill/>
          <a:ln/>
        </p:spPr>
        <p:txBody>
          <a:bodyPr wrap="square" lIns="0" tIns="0" rIns="0" bIns="0" rtlCol="0" anchor="ctr"/>
          <a:lstStyle/>
          <a:p>
            <a:pPr marL="0" indent="0">
              <a:buNone/>
            </a:pPr>
            <a:r>
              <a:rPr lang="en-US" sz="1250" dirty="0">
                <a:solidFill>
                  <a:srgbClr val="97A4AE"/>
                </a:solidFill>
                <a:latin typeface="Calibri" pitchFamily="34" charset="0"/>
                <a:ea typeface="Calibri" pitchFamily="34" charset="-122"/>
                <a:cs typeface="Calibri" pitchFamily="34" charset="-120"/>
              </a:rPr>
              <a:t>Compliance monitors and observability tools that need the whole picture</a:t>
            </a:r>
            <a:endParaRPr lang="en-US" sz="1250" dirty="0"/>
          </a:p>
        </p:txBody>
      </p:sp>
      <p:sp>
        <p:nvSpPr>
          <p:cNvPr id="13" name="Shape 11"/>
          <p:cNvSpPr/>
          <p:nvPr/>
        </p:nvSpPr>
        <p:spPr>
          <a:xfrm>
            <a:off x="685800" y="3429000"/>
            <a:ext cx="10820095" cy="960120"/>
          </a:xfrm>
          <a:prstGeom prst="roundRect">
            <a:avLst>
              <a:gd name="adj" fmla="val 5714"/>
            </a:avLst>
          </a:prstGeom>
          <a:solidFill>
            <a:srgbClr val="252B31"/>
          </a:solidFill>
          <a:ln w="12700">
            <a:solidFill>
              <a:srgbClr val="3A434B"/>
            </a:solidFill>
            <a:prstDash val="solid"/>
          </a:ln>
        </p:spPr>
        <p:txBody>
          <a:bodyPr/>
          <a:lstStyle/>
          <a:p>
            <a:endParaRPr lang="en-SE"/>
          </a:p>
        </p:txBody>
      </p:sp>
      <p:sp>
        <p:nvSpPr>
          <p:cNvPr id="14" name="Shape 12"/>
          <p:cNvSpPr/>
          <p:nvPr/>
        </p:nvSpPr>
        <p:spPr>
          <a:xfrm>
            <a:off x="685800" y="3429000"/>
            <a:ext cx="82296" cy="960120"/>
          </a:xfrm>
          <a:prstGeom prst="rect">
            <a:avLst/>
          </a:prstGeom>
          <a:solidFill>
            <a:srgbClr val="3FD0C9"/>
          </a:solidFill>
          <a:ln/>
        </p:spPr>
        <p:txBody>
          <a:bodyPr/>
          <a:lstStyle/>
          <a:p>
            <a:endParaRPr lang="en-SE"/>
          </a:p>
        </p:txBody>
      </p:sp>
      <p:sp>
        <p:nvSpPr>
          <p:cNvPr id="15" name="Text 13"/>
          <p:cNvSpPr/>
          <p:nvPr/>
        </p:nvSpPr>
        <p:spPr>
          <a:xfrm>
            <a:off x="1005840" y="3538728"/>
            <a:ext cx="4023360" cy="384048"/>
          </a:xfrm>
          <a:prstGeom prst="rect">
            <a:avLst/>
          </a:prstGeom>
          <a:noFill/>
          <a:ln/>
        </p:spPr>
        <p:txBody>
          <a:bodyPr wrap="square" lIns="0" tIns="0" rIns="0" bIns="0" rtlCol="0" anchor="ctr"/>
          <a:lstStyle/>
          <a:p>
            <a:pPr marL="0" indent="0">
              <a:buNone/>
            </a:pPr>
            <a:r>
              <a:rPr lang="en-US" sz="1350" dirty="0">
                <a:solidFill>
                  <a:srgbClr val="3FD0C9"/>
                </a:solidFill>
                <a:latin typeface="Consolas" pitchFamily="34" charset="0"/>
                <a:ea typeface="Consolas" pitchFamily="34" charset="-122"/>
                <a:cs typeface="Consolas" pitchFamily="34" charset="-120"/>
              </a:rPr>
              <a:t>drop_copy.event.TRADER01</a:t>
            </a:r>
            <a:endParaRPr lang="en-US" sz="1350" dirty="0"/>
          </a:p>
        </p:txBody>
      </p:sp>
      <p:sp>
        <p:nvSpPr>
          <p:cNvPr id="16" name="Text 14"/>
          <p:cNvSpPr/>
          <p:nvPr/>
        </p:nvSpPr>
        <p:spPr>
          <a:xfrm>
            <a:off x="1005840" y="3931920"/>
            <a:ext cx="4206240" cy="347472"/>
          </a:xfrm>
          <a:prstGeom prst="rect">
            <a:avLst/>
          </a:prstGeom>
          <a:noFill/>
          <a:ln/>
        </p:spPr>
        <p:txBody>
          <a:bodyPr wrap="square" lIns="0" tIns="0" rIns="0" bIns="0" rtlCol="0" anchor="ctr"/>
          <a:lstStyle/>
          <a:p>
            <a:pPr marL="0" indent="0">
              <a:buNone/>
            </a:pPr>
            <a:r>
              <a:rPr lang="en-US" sz="1200" dirty="0">
                <a:solidFill>
                  <a:srgbClr val="ECF1F5"/>
                </a:solidFill>
                <a:latin typeface="Calibri" pitchFamily="34" charset="0"/>
                <a:ea typeface="Calibri" pitchFamily="34" charset="-122"/>
                <a:cs typeface="Calibri" pitchFamily="34" charset="-120"/>
              </a:rPr>
              <a:t>Live fills from one gateway only</a:t>
            </a:r>
            <a:endParaRPr lang="en-US" sz="1200" dirty="0"/>
          </a:p>
        </p:txBody>
      </p:sp>
      <p:sp>
        <p:nvSpPr>
          <p:cNvPr id="17" name="Text 15"/>
          <p:cNvSpPr/>
          <p:nvPr/>
        </p:nvSpPr>
        <p:spPr>
          <a:xfrm>
            <a:off x="5440680" y="3429000"/>
            <a:ext cx="5943600" cy="960120"/>
          </a:xfrm>
          <a:prstGeom prst="rect">
            <a:avLst/>
          </a:prstGeom>
          <a:noFill/>
          <a:ln/>
        </p:spPr>
        <p:txBody>
          <a:bodyPr wrap="square" lIns="0" tIns="0" rIns="0" bIns="0" rtlCol="0" anchor="ctr"/>
          <a:lstStyle/>
          <a:p>
            <a:pPr marL="0" indent="0">
              <a:buNone/>
            </a:pPr>
            <a:r>
              <a:rPr lang="en-US" sz="1250" dirty="0">
                <a:solidFill>
                  <a:srgbClr val="97A4AE"/>
                </a:solidFill>
                <a:latin typeface="Calibri" pitchFamily="34" charset="0"/>
                <a:ea typeface="Calibri" pitchFamily="34" charset="-122"/>
                <a:cs typeface="Calibri" pitchFamily="34" charset="-120"/>
              </a:rPr>
              <a:t>A risk system that is responsible for a single participant</a:t>
            </a:r>
            <a:endParaRPr lang="en-US" sz="1250" dirty="0"/>
          </a:p>
        </p:txBody>
      </p:sp>
      <p:sp>
        <p:nvSpPr>
          <p:cNvPr id="18" name="Shape 16"/>
          <p:cNvSpPr/>
          <p:nvPr/>
        </p:nvSpPr>
        <p:spPr>
          <a:xfrm>
            <a:off x="685800" y="4572000"/>
            <a:ext cx="10820095" cy="960120"/>
          </a:xfrm>
          <a:prstGeom prst="roundRect">
            <a:avLst>
              <a:gd name="adj" fmla="val 5714"/>
            </a:avLst>
          </a:prstGeom>
          <a:solidFill>
            <a:srgbClr val="252B31"/>
          </a:solidFill>
          <a:ln w="12700">
            <a:solidFill>
              <a:srgbClr val="3A434B"/>
            </a:solidFill>
            <a:prstDash val="solid"/>
          </a:ln>
        </p:spPr>
        <p:txBody>
          <a:bodyPr/>
          <a:lstStyle/>
          <a:p>
            <a:endParaRPr lang="en-SE"/>
          </a:p>
        </p:txBody>
      </p:sp>
      <p:sp>
        <p:nvSpPr>
          <p:cNvPr id="19" name="Shape 17"/>
          <p:cNvSpPr/>
          <p:nvPr/>
        </p:nvSpPr>
        <p:spPr>
          <a:xfrm>
            <a:off x="685800" y="4572000"/>
            <a:ext cx="82296" cy="960120"/>
          </a:xfrm>
          <a:prstGeom prst="rect">
            <a:avLst/>
          </a:prstGeom>
          <a:solidFill>
            <a:srgbClr val="9B8CFF"/>
          </a:solidFill>
          <a:ln/>
        </p:spPr>
        <p:txBody>
          <a:bodyPr/>
          <a:lstStyle/>
          <a:p>
            <a:endParaRPr lang="en-SE"/>
          </a:p>
        </p:txBody>
      </p:sp>
      <p:sp>
        <p:nvSpPr>
          <p:cNvPr id="20" name="Text 18"/>
          <p:cNvSpPr/>
          <p:nvPr/>
        </p:nvSpPr>
        <p:spPr>
          <a:xfrm>
            <a:off x="1005840" y="4681728"/>
            <a:ext cx="4023360" cy="384048"/>
          </a:xfrm>
          <a:prstGeom prst="rect">
            <a:avLst/>
          </a:prstGeom>
          <a:noFill/>
          <a:ln/>
        </p:spPr>
        <p:txBody>
          <a:bodyPr wrap="square" lIns="0" tIns="0" rIns="0" bIns="0" rtlCol="0" anchor="ctr"/>
          <a:lstStyle/>
          <a:p>
            <a:pPr marL="0" indent="0">
              <a:buNone/>
            </a:pPr>
            <a:r>
              <a:rPr lang="en-US" sz="1350" dirty="0">
                <a:solidFill>
                  <a:srgbClr val="9B8CFF"/>
                </a:solidFill>
                <a:latin typeface="Consolas" pitchFamily="34" charset="0"/>
                <a:ea typeface="Consolas" pitchFamily="34" charset="-122"/>
                <a:cs typeface="Consolas" pitchFamily="34" charset="-120"/>
              </a:rPr>
              <a:t>drop_copy.replay.MY_RISK_SYS</a:t>
            </a:r>
            <a:endParaRPr lang="en-US" sz="1350" dirty="0"/>
          </a:p>
        </p:txBody>
      </p:sp>
      <p:sp>
        <p:nvSpPr>
          <p:cNvPr id="21" name="Text 19"/>
          <p:cNvSpPr/>
          <p:nvPr/>
        </p:nvSpPr>
        <p:spPr>
          <a:xfrm>
            <a:off x="1005840" y="5074920"/>
            <a:ext cx="4206240" cy="347472"/>
          </a:xfrm>
          <a:prstGeom prst="rect">
            <a:avLst/>
          </a:prstGeom>
          <a:noFill/>
          <a:ln/>
        </p:spPr>
        <p:txBody>
          <a:bodyPr wrap="square" lIns="0" tIns="0" rIns="0" bIns="0" rtlCol="0" anchor="ctr"/>
          <a:lstStyle/>
          <a:p>
            <a:pPr marL="0" indent="0">
              <a:buNone/>
            </a:pPr>
            <a:r>
              <a:rPr lang="en-US" sz="1200" dirty="0">
                <a:solidFill>
                  <a:srgbClr val="ECF1F5"/>
                </a:solidFill>
                <a:latin typeface="Calibri" pitchFamily="34" charset="0"/>
                <a:ea typeface="Calibri" pitchFamily="34" charset="-122"/>
                <a:cs typeface="Calibri" pitchFamily="34" charset="-120"/>
              </a:rPr>
              <a:t>Replay messages addressed to you</a:t>
            </a:r>
            <a:endParaRPr lang="en-US" sz="1200" dirty="0"/>
          </a:p>
        </p:txBody>
      </p:sp>
      <p:sp>
        <p:nvSpPr>
          <p:cNvPr id="22" name="Text 20"/>
          <p:cNvSpPr/>
          <p:nvPr/>
        </p:nvSpPr>
        <p:spPr>
          <a:xfrm>
            <a:off x="5440680" y="4572000"/>
            <a:ext cx="5943600" cy="960120"/>
          </a:xfrm>
          <a:prstGeom prst="rect">
            <a:avLst/>
          </a:prstGeom>
          <a:noFill/>
          <a:ln/>
        </p:spPr>
        <p:txBody>
          <a:bodyPr wrap="square" lIns="0" tIns="0" rIns="0" bIns="0" rtlCol="0" anchor="ctr"/>
          <a:lstStyle/>
          <a:p>
            <a:pPr marL="0" indent="0">
              <a:buNone/>
            </a:pPr>
            <a:r>
              <a:rPr lang="en-US" sz="1250" dirty="0">
                <a:solidFill>
                  <a:srgbClr val="97A4AE"/>
                </a:solidFill>
                <a:latin typeface="Calibri" pitchFamily="34" charset="0"/>
                <a:ea typeface="Calibri" pitchFamily="34" charset="-122"/>
                <a:cs typeface="Calibri" pitchFamily="34" charset="-120"/>
              </a:rPr>
              <a:t>Catching up after a reconnect, without disturbing other consumers</a:t>
            </a:r>
            <a:endParaRPr lang="en-US" sz="1250" dirty="0"/>
          </a:p>
        </p:txBody>
      </p:sp>
      <p:sp>
        <p:nvSpPr>
          <p:cNvPr id="23" name="Shape 21"/>
          <p:cNvSpPr/>
          <p:nvPr/>
        </p:nvSpPr>
        <p:spPr>
          <a:xfrm>
            <a:off x="685800" y="5760720"/>
            <a:ext cx="10820095" cy="658368"/>
          </a:xfrm>
          <a:prstGeom prst="roundRect">
            <a:avLst>
              <a:gd name="adj" fmla="val 8333"/>
            </a:avLst>
          </a:prstGeom>
          <a:solidFill>
            <a:srgbClr val="252B31"/>
          </a:solidFill>
          <a:ln w="19050">
            <a:solidFill>
              <a:srgbClr val="3FD0C9"/>
            </a:solidFill>
            <a:prstDash val="solid"/>
          </a:ln>
        </p:spPr>
        <p:txBody>
          <a:bodyPr/>
          <a:lstStyle/>
          <a:p>
            <a:endParaRPr lang="en-SE"/>
          </a:p>
        </p:txBody>
      </p:sp>
      <p:sp>
        <p:nvSpPr>
          <p:cNvPr id="24" name="Shape 22"/>
          <p:cNvSpPr/>
          <p:nvPr/>
        </p:nvSpPr>
        <p:spPr>
          <a:xfrm>
            <a:off x="923544" y="5907024"/>
            <a:ext cx="365760" cy="365760"/>
          </a:xfrm>
          <a:prstGeom prst="roundRect">
            <a:avLst>
              <a:gd name="adj" fmla="val 125000"/>
            </a:avLst>
          </a:prstGeom>
          <a:solidFill>
            <a:srgbClr val="3FD0C9"/>
          </a:solidFill>
          <a:ln/>
        </p:spPr>
        <p:txBody>
          <a:bodyPr/>
          <a:lstStyle/>
          <a:p>
            <a:endParaRPr lang="en-SE"/>
          </a:p>
        </p:txBody>
      </p:sp>
      <p:sp>
        <p:nvSpPr>
          <p:cNvPr id="25" name="Text 23"/>
          <p:cNvSpPr/>
          <p:nvPr/>
        </p:nvSpPr>
        <p:spPr>
          <a:xfrm>
            <a:off x="923544" y="5907024"/>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i</a:t>
            </a:r>
            <a:endParaRPr lang="en-US" sz="1500" dirty="0"/>
          </a:p>
        </p:txBody>
      </p:sp>
      <p:sp>
        <p:nvSpPr>
          <p:cNvPr id="26" name="Text 24"/>
          <p:cNvSpPr/>
          <p:nvPr/>
        </p:nvSpPr>
        <p:spPr>
          <a:xfrm>
            <a:off x="1453896" y="5907024"/>
            <a:ext cx="9814255" cy="365760"/>
          </a:xfrm>
          <a:prstGeom prst="rect">
            <a:avLst/>
          </a:prstGeom>
          <a:noFill/>
          <a:ln/>
        </p:spPr>
        <p:txBody>
          <a:bodyPr wrap="square" lIns="0" tIns="0" rIns="0" bIns="0" rtlCol="0" anchor="ctr"/>
          <a:lstStyle/>
          <a:p>
            <a:pPr marL="0" indent="0">
              <a:lnSpc>
                <a:spcPct val="110000"/>
              </a:lnSpc>
              <a:buNone/>
            </a:pPr>
            <a:r>
              <a:rPr lang="en-US" sz="1350" b="1" dirty="0">
                <a:solidFill>
                  <a:srgbClr val="3FD0C9"/>
                </a:solidFill>
                <a:latin typeface="Trebuchet MS" pitchFamily="34" charset="0"/>
                <a:ea typeface="Trebuchet MS" pitchFamily="34" charset="-122"/>
                <a:cs typeface="Trebuchet MS" pitchFamily="34" charset="-120"/>
              </a:rPr>
              <a:t>Prefer the narrowest prefix that does the job</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Subscribing to one gateway rather than the firehose keeps a production consumer's traffic proportional to what it actually needs.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04 · FORMAT</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25</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SAME FILL, THREE RENDERINGS</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Recognise the same trade wherever you meet it</a:t>
            </a:r>
            <a:endParaRPr lang="en-US" sz="3100" dirty="0"/>
          </a:p>
        </p:txBody>
      </p:sp>
      <p:sp>
        <p:nvSpPr>
          <p:cNvPr id="7" name="Text 5"/>
          <p:cNvSpPr/>
          <p:nvPr/>
        </p:nvSpPr>
        <p:spPr>
          <a:xfrm>
            <a:off x="685800" y="2011680"/>
            <a:ext cx="3364992" cy="320040"/>
          </a:xfrm>
          <a:prstGeom prst="rect">
            <a:avLst/>
          </a:prstGeom>
          <a:noFill/>
          <a:ln/>
        </p:spPr>
        <p:txBody>
          <a:bodyPr wrap="square" lIns="0" tIns="0" rIns="0" bIns="0" rtlCol="0" anchor="ctr"/>
          <a:lstStyle/>
          <a:p>
            <a:pPr marL="0" indent="0">
              <a:buNone/>
            </a:pPr>
            <a:r>
              <a:rPr lang="en-US" sz="1350" b="1" dirty="0">
                <a:solidFill>
                  <a:srgbClr val="3FD0C9"/>
                </a:solidFill>
                <a:latin typeface="Trebuchet MS" pitchFamily="34" charset="0"/>
                <a:ea typeface="Trebuchet MS" pitchFamily="34" charset="-122"/>
                <a:cs typeface="Trebuchet MS" pitchFamily="34" charset="-120"/>
              </a:rPr>
              <a:t>Native JSON — port 5557</a:t>
            </a:r>
            <a:endParaRPr lang="en-US" sz="1350" dirty="0"/>
          </a:p>
        </p:txBody>
      </p:sp>
      <p:sp>
        <p:nvSpPr>
          <p:cNvPr id="8" name="Shape 6"/>
          <p:cNvSpPr/>
          <p:nvPr/>
        </p:nvSpPr>
        <p:spPr>
          <a:xfrm>
            <a:off x="685800" y="2359152"/>
            <a:ext cx="3364992" cy="2103120"/>
          </a:xfrm>
          <a:prstGeom prst="roundRect">
            <a:avLst>
              <a:gd name="adj" fmla="val 1739"/>
            </a:avLst>
          </a:prstGeom>
          <a:solidFill>
            <a:srgbClr val="141719"/>
          </a:solidFill>
          <a:ln w="12700">
            <a:solidFill>
              <a:srgbClr val="3A434B"/>
            </a:solidFill>
            <a:prstDash val="solid"/>
          </a:ln>
        </p:spPr>
        <p:txBody>
          <a:bodyPr/>
          <a:lstStyle/>
          <a:p>
            <a:endParaRPr lang="en-SE"/>
          </a:p>
        </p:txBody>
      </p:sp>
      <p:sp>
        <p:nvSpPr>
          <p:cNvPr id="9" name="Text 7"/>
          <p:cNvSpPr/>
          <p:nvPr/>
        </p:nvSpPr>
        <p:spPr>
          <a:xfrm>
            <a:off x="905256" y="2542032"/>
            <a:ext cx="2926080" cy="1773936"/>
          </a:xfrm>
          <a:prstGeom prst="rect">
            <a:avLst/>
          </a:prstGeom>
          <a:noFill/>
          <a:ln/>
        </p:spPr>
        <p:txBody>
          <a:bodyPr wrap="square" lIns="0" tIns="0" rIns="0" bIns="0" rtlCol="0" anchor="t"/>
          <a:lstStyle/>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{"seq":42,"gateway_id":"TRADER01",</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"event_type":"order.fill",</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"order_id":"ord-001",</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"symbol":"AAPL","fill_qty":100,</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"fill_price":150.05,</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"liquidity_flag":"TAKER"}</a:t>
            </a:r>
            <a:endParaRPr lang="en-US" sz="1050" dirty="0"/>
          </a:p>
        </p:txBody>
      </p:sp>
      <p:sp>
        <p:nvSpPr>
          <p:cNvPr id="10" name="Text 8"/>
          <p:cNvSpPr/>
          <p:nvPr/>
        </p:nvSpPr>
        <p:spPr>
          <a:xfrm>
            <a:off x="685800" y="4572000"/>
            <a:ext cx="3364992" cy="457200"/>
          </a:xfrm>
          <a:prstGeom prst="rect">
            <a:avLst/>
          </a:prstGeom>
          <a:noFill/>
          <a:ln/>
        </p:spPr>
        <p:txBody>
          <a:bodyPr wrap="square" lIns="0" tIns="0" rIns="0" bIns="0" rtlCol="0" anchor="t"/>
          <a:lstStyle/>
          <a:p>
            <a:pPr marL="0" indent="0">
              <a:buNone/>
            </a:pPr>
            <a:r>
              <a:rPr lang="en-US" sz="1200" dirty="0">
                <a:solidFill>
                  <a:srgbClr val="97A4AE"/>
                </a:solidFill>
                <a:latin typeface="Calibri" pitchFamily="34" charset="0"/>
                <a:ea typeface="Calibri" pitchFamily="34" charset="-122"/>
                <a:cs typeface="Calibri" pitchFamily="34" charset="-120"/>
              </a:rPr>
              <a:t>For programmatic consumers that speak ZeroMQ.</a:t>
            </a:r>
            <a:endParaRPr lang="en-US" sz="1200" dirty="0"/>
          </a:p>
        </p:txBody>
      </p:sp>
      <p:sp>
        <p:nvSpPr>
          <p:cNvPr id="11" name="Text 9"/>
          <p:cNvSpPr/>
          <p:nvPr/>
        </p:nvSpPr>
        <p:spPr>
          <a:xfrm>
            <a:off x="4325112" y="2011680"/>
            <a:ext cx="3364992" cy="320040"/>
          </a:xfrm>
          <a:prstGeom prst="rect">
            <a:avLst/>
          </a:prstGeom>
          <a:noFill/>
          <a:ln/>
        </p:spPr>
        <p:txBody>
          <a:bodyPr wrap="square" lIns="0" tIns="0" rIns="0" bIns="0" rtlCol="0" anchor="ctr"/>
          <a:lstStyle/>
          <a:p>
            <a:pPr marL="0" indent="0">
              <a:buNone/>
            </a:pPr>
            <a:r>
              <a:rPr lang="en-US" sz="1350" b="1" dirty="0">
                <a:solidFill>
                  <a:srgbClr val="F0A202"/>
                </a:solidFill>
                <a:latin typeface="Trebuchet MS" pitchFamily="34" charset="0"/>
                <a:ea typeface="Trebuchet MS" pitchFamily="34" charset="-122"/>
                <a:cs typeface="Trebuchet MS" pitchFamily="34" charset="-120"/>
              </a:rPr>
              <a:t>DC1 text — DC Gateway :5590</a:t>
            </a:r>
            <a:endParaRPr lang="en-US" sz="1350" dirty="0"/>
          </a:p>
        </p:txBody>
      </p:sp>
      <p:sp>
        <p:nvSpPr>
          <p:cNvPr id="12" name="Shape 10"/>
          <p:cNvSpPr/>
          <p:nvPr/>
        </p:nvSpPr>
        <p:spPr>
          <a:xfrm>
            <a:off x="4325112" y="2359152"/>
            <a:ext cx="3364992" cy="2103120"/>
          </a:xfrm>
          <a:prstGeom prst="roundRect">
            <a:avLst>
              <a:gd name="adj" fmla="val 1739"/>
            </a:avLst>
          </a:prstGeom>
          <a:solidFill>
            <a:srgbClr val="141719"/>
          </a:solidFill>
          <a:ln w="12700">
            <a:solidFill>
              <a:srgbClr val="3A434B"/>
            </a:solidFill>
            <a:prstDash val="solid"/>
          </a:ln>
        </p:spPr>
        <p:txBody>
          <a:bodyPr/>
          <a:lstStyle/>
          <a:p>
            <a:endParaRPr lang="en-SE"/>
          </a:p>
        </p:txBody>
      </p:sp>
      <p:sp>
        <p:nvSpPr>
          <p:cNvPr id="13" name="Text 11"/>
          <p:cNvSpPr/>
          <p:nvPr/>
        </p:nvSpPr>
        <p:spPr>
          <a:xfrm>
            <a:off x="4544568" y="2542032"/>
            <a:ext cx="2926080" cy="1773936"/>
          </a:xfrm>
          <a:prstGeom prst="rect">
            <a:avLst/>
          </a:prstGeom>
          <a:noFill/>
          <a:ln/>
        </p:spPr>
        <p:txBody>
          <a:bodyPr wrap="square" lIns="0" tIns="0" rIns="0" bIns="0" rtlCol="0" anchor="t"/>
          <a:lstStyle/>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DC_FILL|SEQ=42</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|ORDER_ID=ORD-001</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|SYMBOL=AAPL</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|FILL_QTY=100</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|FILL_PRICE=150.05</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|LIQUIDITY=TAKER</a:t>
            </a:r>
            <a:endParaRPr lang="en-US" sz="1050" dirty="0"/>
          </a:p>
        </p:txBody>
      </p:sp>
      <p:sp>
        <p:nvSpPr>
          <p:cNvPr id="14" name="Text 12"/>
          <p:cNvSpPr/>
          <p:nvPr/>
        </p:nvSpPr>
        <p:spPr>
          <a:xfrm>
            <a:off x="4325112" y="4572000"/>
            <a:ext cx="3364992" cy="457200"/>
          </a:xfrm>
          <a:prstGeom prst="rect">
            <a:avLst/>
          </a:prstGeom>
          <a:noFill/>
          <a:ln/>
        </p:spPr>
        <p:txBody>
          <a:bodyPr wrap="square" lIns="0" tIns="0" rIns="0" bIns="0" rtlCol="0" anchor="t"/>
          <a:lstStyle/>
          <a:p>
            <a:pPr marL="0" indent="0">
              <a:buNone/>
            </a:pPr>
            <a:r>
              <a:rPr lang="en-US" sz="1200" dirty="0">
                <a:solidFill>
                  <a:srgbClr val="97A4AE"/>
                </a:solidFill>
                <a:latin typeface="Calibri" pitchFamily="34" charset="0"/>
                <a:ea typeface="Calibri" pitchFamily="34" charset="-122"/>
                <a:cs typeface="Calibri" pitchFamily="34" charset="-120"/>
              </a:rPr>
              <a:t>For plain TCP clients in any language.</a:t>
            </a:r>
            <a:endParaRPr lang="en-US" sz="1200" dirty="0"/>
          </a:p>
        </p:txBody>
      </p:sp>
      <p:sp>
        <p:nvSpPr>
          <p:cNvPr id="15" name="Text 13"/>
          <p:cNvSpPr/>
          <p:nvPr/>
        </p:nvSpPr>
        <p:spPr>
          <a:xfrm>
            <a:off x="7964424" y="2011680"/>
            <a:ext cx="3364992" cy="320040"/>
          </a:xfrm>
          <a:prstGeom prst="rect">
            <a:avLst/>
          </a:prstGeom>
          <a:noFill/>
          <a:ln/>
        </p:spPr>
        <p:txBody>
          <a:bodyPr wrap="square" lIns="0" tIns="0" rIns="0" bIns="0" rtlCol="0" anchor="ctr"/>
          <a:lstStyle/>
          <a:p>
            <a:pPr marL="0" indent="0">
              <a:buNone/>
            </a:pPr>
            <a:r>
              <a:rPr lang="en-US" sz="1350" b="1" dirty="0">
                <a:solidFill>
                  <a:srgbClr val="9B8CFF"/>
                </a:solidFill>
                <a:latin typeface="Trebuchet MS" pitchFamily="34" charset="0"/>
                <a:ea typeface="Trebuchet MS" pitchFamily="34" charset="-122"/>
                <a:cs typeface="Trebuchet MS" pitchFamily="34" charset="-120"/>
              </a:rPr>
              <a:t>Spy line — pm-dc-spy</a:t>
            </a:r>
            <a:endParaRPr lang="en-US" sz="1350" dirty="0"/>
          </a:p>
        </p:txBody>
      </p:sp>
      <p:sp>
        <p:nvSpPr>
          <p:cNvPr id="16" name="Shape 14"/>
          <p:cNvSpPr/>
          <p:nvPr/>
        </p:nvSpPr>
        <p:spPr>
          <a:xfrm>
            <a:off x="7964424" y="2359152"/>
            <a:ext cx="3364992" cy="2103120"/>
          </a:xfrm>
          <a:prstGeom prst="roundRect">
            <a:avLst>
              <a:gd name="adj" fmla="val 1739"/>
            </a:avLst>
          </a:prstGeom>
          <a:solidFill>
            <a:srgbClr val="141719"/>
          </a:solidFill>
          <a:ln w="12700">
            <a:solidFill>
              <a:srgbClr val="3A434B"/>
            </a:solidFill>
            <a:prstDash val="solid"/>
          </a:ln>
        </p:spPr>
        <p:txBody>
          <a:bodyPr/>
          <a:lstStyle/>
          <a:p>
            <a:endParaRPr lang="en-SE"/>
          </a:p>
        </p:txBody>
      </p:sp>
      <p:sp>
        <p:nvSpPr>
          <p:cNvPr id="17" name="Text 15"/>
          <p:cNvSpPr/>
          <p:nvPr/>
        </p:nvSpPr>
        <p:spPr>
          <a:xfrm>
            <a:off x="8183880" y="2542032"/>
            <a:ext cx="2926080" cy="1773936"/>
          </a:xfrm>
          <a:prstGeom prst="rect">
            <a:avLst/>
          </a:prstGeom>
          <a:noFill/>
          <a:ln/>
        </p:spPr>
        <p:txBody>
          <a:bodyPr wrap="square" lIns="0" tIns="0" rIns="0" bIns="0" rtlCol="0" anchor="t"/>
          <a:lstStyle/>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10:02:17.512  FILL</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TRADER01  AAPL</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#42  100@150.05</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TAKER</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order_id=ord-001</a:t>
            </a:r>
            <a:endParaRPr lang="en-US" sz="1050" dirty="0"/>
          </a:p>
        </p:txBody>
      </p:sp>
      <p:sp>
        <p:nvSpPr>
          <p:cNvPr id="18" name="Text 16"/>
          <p:cNvSpPr/>
          <p:nvPr/>
        </p:nvSpPr>
        <p:spPr>
          <a:xfrm>
            <a:off x="7964424" y="4572000"/>
            <a:ext cx="3364992" cy="457200"/>
          </a:xfrm>
          <a:prstGeom prst="rect">
            <a:avLst/>
          </a:prstGeom>
          <a:noFill/>
          <a:ln/>
        </p:spPr>
        <p:txBody>
          <a:bodyPr wrap="square" lIns="0" tIns="0" rIns="0" bIns="0" rtlCol="0" anchor="t"/>
          <a:lstStyle/>
          <a:p>
            <a:pPr marL="0" indent="0">
              <a:buNone/>
            </a:pPr>
            <a:r>
              <a:rPr lang="en-US" sz="1200" dirty="0">
                <a:solidFill>
                  <a:srgbClr val="97A4AE"/>
                </a:solidFill>
                <a:latin typeface="Calibri" pitchFamily="34" charset="0"/>
                <a:ea typeface="Calibri" pitchFamily="34" charset="-122"/>
                <a:cs typeface="Calibri" pitchFamily="34" charset="-120"/>
              </a:rPr>
              <a:t>For a human reading a terminal.</a:t>
            </a:r>
            <a:endParaRPr lang="en-US" sz="1200" dirty="0"/>
          </a:p>
        </p:txBody>
      </p:sp>
      <p:sp>
        <p:nvSpPr>
          <p:cNvPr id="19" name="Shape 17"/>
          <p:cNvSpPr/>
          <p:nvPr/>
        </p:nvSpPr>
        <p:spPr>
          <a:xfrm>
            <a:off x="685800" y="5212080"/>
            <a:ext cx="10820095" cy="868680"/>
          </a:xfrm>
          <a:prstGeom prst="roundRect">
            <a:avLst>
              <a:gd name="adj" fmla="val 6316"/>
            </a:avLst>
          </a:prstGeom>
          <a:solidFill>
            <a:srgbClr val="252B31"/>
          </a:solidFill>
          <a:ln w="19050">
            <a:solidFill>
              <a:srgbClr val="F0A202"/>
            </a:solidFill>
            <a:prstDash val="solid"/>
          </a:ln>
        </p:spPr>
        <p:txBody>
          <a:bodyPr/>
          <a:lstStyle/>
          <a:p>
            <a:endParaRPr lang="en-SE"/>
          </a:p>
        </p:txBody>
      </p:sp>
      <p:sp>
        <p:nvSpPr>
          <p:cNvPr id="20" name="Shape 18"/>
          <p:cNvSpPr/>
          <p:nvPr/>
        </p:nvSpPr>
        <p:spPr>
          <a:xfrm>
            <a:off x="923544" y="5463540"/>
            <a:ext cx="365760" cy="365760"/>
          </a:xfrm>
          <a:prstGeom prst="roundRect">
            <a:avLst>
              <a:gd name="adj" fmla="val 125000"/>
            </a:avLst>
          </a:prstGeom>
          <a:solidFill>
            <a:srgbClr val="F0A202"/>
          </a:solidFill>
          <a:ln/>
        </p:spPr>
        <p:txBody>
          <a:bodyPr/>
          <a:lstStyle/>
          <a:p>
            <a:endParaRPr lang="en-SE"/>
          </a:p>
        </p:txBody>
      </p:sp>
      <p:sp>
        <p:nvSpPr>
          <p:cNvPr id="21" name="Text 19"/>
          <p:cNvSpPr/>
          <p:nvPr/>
        </p:nvSpPr>
        <p:spPr>
          <a:xfrm>
            <a:off x="923544" y="546354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22" name="Text 20"/>
          <p:cNvSpPr/>
          <p:nvPr/>
        </p:nvSpPr>
        <p:spPr>
          <a:xfrm>
            <a:off x="1453896" y="5358384"/>
            <a:ext cx="9814255" cy="576072"/>
          </a:xfrm>
          <a:prstGeom prst="rect">
            <a:avLst/>
          </a:prstGeom>
          <a:noFill/>
          <a:ln/>
        </p:spPr>
        <p:txBody>
          <a:bodyPr wrap="square" lIns="0" tIns="0" rIns="0" bIns="0" rtlCol="0" anchor="ctr"/>
          <a:lstStyle/>
          <a:p>
            <a:pPr marL="0" indent="0">
              <a:lnSpc>
                <a:spcPct val="110000"/>
              </a:lnSpc>
              <a:buNone/>
            </a:pPr>
            <a:r>
              <a:rPr lang="en-US" sz="1350" b="1" dirty="0">
                <a:solidFill>
                  <a:srgbClr val="F0A202"/>
                </a:solidFill>
                <a:latin typeface="Trebuchet MS" pitchFamily="34" charset="0"/>
                <a:ea typeface="Trebuchet MS" pitchFamily="34" charset="-122"/>
                <a:cs typeface="Trebuchet MS" pitchFamily="34" charset="-120"/>
              </a:rPr>
              <a:t>The mapping is direct</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DC1's SEQ and LIQUIDITY come straight from the drop copy envelope and payload. Nothing is added and nothing is invented — the text protocol is a re-encoding, not a richer message.</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10454335" y="4572000"/>
            <a:ext cx="237744" cy="237744"/>
          </a:xfrm>
          <a:prstGeom prst="rect">
            <a:avLst/>
          </a:prstGeom>
          <a:solidFill>
            <a:srgbClr val="F0A202"/>
          </a:solidFill>
          <a:ln/>
        </p:spPr>
        <p:txBody>
          <a:bodyPr/>
          <a:lstStyle/>
          <a:p>
            <a:endParaRPr lang="en-SE"/>
          </a:p>
        </p:txBody>
      </p:sp>
      <p:sp>
        <p:nvSpPr>
          <p:cNvPr id="3" name="Shape 1"/>
          <p:cNvSpPr/>
          <p:nvPr/>
        </p:nvSpPr>
        <p:spPr>
          <a:xfrm>
            <a:off x="10838383" y="4572000"/>
            <a:ext cx="237744" cy="237744"/>
          </a:xfrm>
          <a:prstGeom prst="rect">
            <a:avLst/>
          </a:prstGeom>
          <a:solidFill>
            <a:srgbClr val="2E353C"/>
          </a:solidFill>
          <a:ln/>
        </p:spPr>
        <p:txBody>
          <a:bodyPr/>
          <a:lstStyle/>
          <a:p>
            <a:endParaRPr lang="en-SE"/>
          </a:p>
        </p:txBody>
      </p:sp>
      <p:sp>
        <p:nvSpPr>
          <p:cNvPr id="4" name="Shape 2"/>
          <p:cNvSpPr/>
          <p:nvPr/>
        </p:nvSpPr>
        <p:spPr>
          <a:xfrm>
            <a:off x="11222431" y="4572000"/>
            <a:ext cx="237744" cy="237744"/>
          </a:xfrm>
          <a:prstGeom prst="rect">
            <a:avLst/>
          </a:prstGeom>
          <a:solidFill>
            <a:srgbClr val="2E353C"/>
          </a:solidFill>
          <a:ln/>
        </p:spPr>
        <p:txBody>
          <a:bodyPr/>
          <a:lstStyle/>
          <a:p>
            <a:endParaRPr lang="en-SE"/>
          </a:p>
        </p:txBody>
      </p:sp>
      <p:sp>
        <p:nvSpPr>
          <p:cNvPr id="5" name="Shape 3"/>
          <p:cNvSpPr/>
          <p:nvPr/>
        </p:nvSpPr>
        <p:spPr>
          <a:xfrm>
            <a:off x="10454335" y="4956048"/>
            <a:ext cx="237744" cy="237744"/>
          </a:xfrm>
          <a:prstGeom prst="rect">
            <a:avLst/>
          </a:prstGeom>
          <a:solidFill>
            <a:srgbClr val="3FD0C9"/>
          </a:solidFill>
          <a:ln/>
        </p:spPr>
        <p:txBody>
          <a:bodyPr/>
          <a:lstStyle/>
          <a:p>
            <a:endParaRPr lang="en-SE"/>
          </a:p>
        </p:txBody>
      </p:sp>
      <p:sp>
        <p:nvSpPr>
          <p:cNvPr id="6" name="Shape 4"/>
          <p:cNvSpPr/>
          <p:nvPr/>
        </p:nvSpPr>
        <p:spPr>
          <a:xfrm>
            <a:off x="10838383" y="4956048"/>
            <a:ext cx="237744" cy="237744"/>
          </a:xfrm>
          <a:prstGeom prst="rect">
            <a:avLst/>
          </a:prstGeom>
          <a:solidFill>
            <a:srgbClr val="F0A202"/>
          </a:solidFill>
          <a:ln/>
        </p:spPr>
        <p:txBody>
          <a:bodyPr/>
          <a:lstStyle/>
          <a:p>
            <a:endParaRPr lang="en-SE"/>
          </a:p>
        </p:txBody>
      </p:sp>
      <p:sp>
        <p:nvSpPr>
          <p:cNvPr id="7" name="Shape 5"/>
          <p:cNvSpPr/>
          <p:nvPr/>
        </p:nvSpPr>
        <p:spPr>
          <a:xfrm>
            <a:off x="11222431" y="4956048"/>
            <a:ext cx="237744" cy="237744"/>
          </a:xfrm>
          <a:prstGeom prst="rect">
            <a:avLst/>
          </a:prstGeom>
          <a:solidFill>
            <a:srgbClr val="2E353C"/>
          </a:solidFill>
          <a:ln/>
        </p:spPr>
        <p:txBody>
          <a:bodyPr/>
          <a:lstStyle/>
          <a:p>
            <a:endParaRPr lang="en-SE"/>
          </a:p>
        </p:txBody>
      </p:sp>
      <p:sp>
        <p:nvSpPr>
          <p:cNvPr id="8" name="Text 6"/>
          <p:cNvSpPr/>
          <p:nvPr/>
        </p:nvSpPr>
        <p:spPr>
          <a:xfrm>
            <a:off x="685800" y="1417320"/>
            <a:ext cx="2743200" cy="1737360"/>
          </a:xfrm>
          <a:prstGeom prst="rect">
            <a:avLst/>
          </a:prstGeom>
          <a:noFill/>
          <a:ln/>
        </p:spPr>
        <p:txBody>
          <a:bodyPr wrap="square" lIns="0" tIns="0" rIns="0" bIns="0" rtlCol="0" anchor="ctr"/>
          <a:lstStyle/>
          <a:p>
            <a:pPr marL="0" indent="0">
              <a:buNone/>
            </a:pPr>
            <a:r>
              <a:rPr lang="en-US" sz="11000" b="1" dirty="0">
                <a:solidFill>
                  <a:srgbClr val="2E353C"/>
                </a:solidFill>
                <a:latin typeface="Trebuchet MS" pitchFamily="34" charset="0"/>
                <a:ea typeface="Trebuchet MS" pitchFamily="34" charset="-122"/>
                <a:cs typeface="Trebuchet MS" pitchFamily="34" charset="-120"/>
              </a:rPr>
              <a:t>05</a:t>
            </a:r>
            <a:endParaRPr lang="en-US" sz="11000" dirty="0"/>
          </a:p>
        </p:txBody>
      </p:sp>
      <p:sp>
        <p:nvSpPr>
          <p:cNvPr id="9" name="Text 7"/>
          <p:cNvSpPr/>
          <p:nvPr/>
        </p:nvSpPr>
        <p:spPr>
          <a:xfrm>
            <a:off x="2606040" y="1600200"/>
            <a:ext cx="8579815" cy="1371600"/>
          </a:xfrm>
          <a:prstGeom prst="rect">
            <a:avLst/>
          </a:prstGeom>
          <a:noFill/>
          <a:ln/>
        </p:spPr>
        <p:txBody>
          <a:bodyPr wrap="square" lIns="0" tIns="0" rIns="0" bIns="0" rtlCol="0" anchor="ctr"/>
          <a:lstStyle/>
          <a:p>
            <a:pPr marL="0" indent="0">
              <a:buNone/>
            </a:pPr>
            <a:r>
              <a:rPr lang="en-US" sz="4000" b="1" dirty="0">
                <a:solidFill>
                  <a:srgbClr val="ECF1F5"/>
                </a:solidFill>
                <a:latin typeface="Trebuchet MS" pitchFamily="34" charset="0"/>
                <a:ea typeface="Trebuchet MS" pitchFamily="34" charset="-122"/>
                <a:cs typeface="Trebuchet MS" pitchFamily="34" charset="-120"/>
              </a:rPr>
              <a:t>How is ALF related to Drop Copy?</a:t>
            </a:r>
            <a:endParaRPr lang="en-US" sz="4000" dirty="0"/>
          </a:p>
        </p:txBody>
      </p:sp>
      <p:sp>
        <p:nvSpPr>
          <p:cNvPr id="10" name="Text 8"/>
          <p:cNvSpPr/>
          <p:nvPr/>
        </p:nvSpPr>
        <p:spPr>
          <a:xfrm>
            <a:off x="2651760" y="3017520"/>
            <a:ext cx="7680960" cy="822960"/>
          </a:xfrm>
          <a:prstGeom prst="rect">
            <a:avLst/>
          </a:prstGeom>
          <a:noFill/>
          <a:ln/>
        </p:spPr>
        <p:txBody>
          <a:bodyPr wrap="square" lIns="0" tIns="0" rIns="0" bIns="0" rtlCol="0" anchor="t"/>
          <a:lstStyle/>
          <a:p>
            <a:pPr marL="0" indent="0">
              <a:lnSpc>
                <a:spcPct val="115000"/>
              </a:lnSpc>
              <a:buNone/>
            </a:pPr>
            <a:r>
              <a:rPr lang="en-US" sz="1500" dirty="0">
                <a:solidFill>
                  <a:srgbClr val="97A4AE"/>
                </a:solidFill>
                <a:latin typeface="Calibri" pitchFamily="34" charset="0"/>
                <a:ea typeface="Calibri" pitchFamily="34" charset="-122"/>
                <a:cs typeface="Calibri" pitchFamily="34" charset="-120"/>
              </a:rPr>
              <a:t>ALF is the order-entry protocol. It can also relay your own drop copy back down the connection you already have.</a:t>
            </a:r>
            <a:endParaRPr lang="en-US" sz="1500" dirty="0"/>
          </a:p>
        </p:txBody>
      </p:sp>
      <p:sp>
        <p:nvSpPr>
          <p:cNvPr id="11" name="Shape 9"/>
          <p:cNvSpPr/>
          <p:nvPr/>
        </p:nvSpPr>
        <p:spPr>
          <a:xfrm>
            <a:off x="2651760" y="4142232"/>
            <a:ext cx="128016" cy="128016"/>
          </a:xfrm>
          <a:prstGeom prst="rect">
            <a:avLst/>
          </a:prstGeom>
          <a:solidFill>
            <a:srgbClr val="3FD0C9"/>
          </a:solidFill>
          <a:ln/>
        </p:spPr>
        <p:txBody>
          <a:bodyPr/>
          <a:lstStyle/>
          <a:p>
            <a:endParaRPr lang="en-SE"/>
          </a:p>
        </p:txBody>
      </p:sp>
      <p:sp>
        <p:nvSpPr>
          <p:cNvPr id="12" name="Text 10"/>
          <p:cNvSpPr/>
          <p:nvPr/>
        </p:nvSpPr>
        <p:spPr>
          <a:xfrm>
            <a:off x="2971800" y="4041648"/>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Three ways to receive the feed</a:t>
            </a:r>
            <a:endParaRPr lang="en-US" sz="1250" dirty="0"/>
          </a:p>
        </p:txBody>
      </p:sp>
      <p:sp>
        <p:nvSpPr>
          <p:cNvPr id="13" name="Shape 11"/>
          <p:cNvSpPr/>
          <p:nvPr/>
        </p:nvSpPr>
        <p:spPr>
          <a:xfrm>
            <a:off x="2651760" y="4526280"/>
            <a:ext cx="128016" cy="128016"/>
          </a:xfrm>
          <a:prstGeom prst="rect">
            <a:avLst/>
          </a:prstGeom>
          <a:solidFill>
            <a:srgbClr val="3FD0C9"/>
          </a:solidFill>
          <a:ln/>
        </p:spPr>
        <p:txBody>
          <a:bodyPr/>
          <a:lstStyle/>
          <a:p>
            <a:endParaRPr lang="en-SE"/>
          </a:p>
        </p:txBody>
      </p:sp>
      <p:sp>
        <p:nvSpPr>
          <p:cNvPr id="14" name="Text 12"/>
          <p:cNvSpPr/>
          <p:nvPr/>
        </p:nvSpPr>
        <p:spPr>
          <a:xfrm>
            <a:off x="2971800" y="4425696"/>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DC toggle on an ALF session</a:t>
            </a:r>
            <a:endParaRPr lang="en-US" sz="1250" dirty="0"/>
          </a:p>
        </p:txBody>
      </p:sp>
      <p:sp>
        <p:nvSpPr>
          <p:cNvPr id="15" name="Shape 13"/>
          <p:cNvSpPr/>
          <p:nvPr/>
        </p:nvSpPr>
        <p:spPr>
          <a:xfrm>
            <a:off x="2651760" y="4910328"/>
            <a:ext cx="128016" cy="128016"/>
          </a:xfrm>
          <a:prstGeom prst="rect">
            <a:avLst/>
          </a:prstGeom>
          <a:solidFill>
            <a:srgbClr val="3FD0C9"/>
          </a:solidFill>
          <a:ln/>
        </p:spPr>
        <p:txBody>
          <a:bodyPr/>
          <a:lstStyle/>
          <a:p>
            <a:endParaRPr lang="en-SE"/>
          </a:p>
        </p:txBody>
      </p:sp>
      <p:sp>
        <p:nvSpPr>
          <p:cNvPr id="16" name="Text 14"/>
          <p:cNvSpPr/>
          <p:nvPr/>
        </p:nvSpPr>
        <p:spPr>
          <a:xfrm>
            <a:off x="2971800" y="4809744"/>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How real exchanges do the same thing</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05 · ALF AND DC</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27</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CHOOSING A PATH</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Three ways to receive the same feed</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Start from what the recipient already is, and the choice makes itself.</a:t>
            </a:r>
            <a:endParaRPr lang="en-US" sz="1450" dirty="0"/>
          </a:p>
        </p:txBody>
      </p:sp>
      <p:sp>
        <p:nvSpPr>
          <p:cNvPr id="8" name="Shape 6"/>
          <p:cNvSpPr/>
          <p:nvPr/>
        </p:nvSpPr>
        <p:spPr>
          <a:xfrm>
            <a:off x="685800" y="2240280"/>
            <a:ext cx="3364992" cy="2880360"/>
          </a:xfrm>
          <a:prstGeom prst="roundRect">
            <a:avLst>
              <a:gd name="adj" fmla="val 1905"/>
            </a:avLst>
          </a:prstGeom>
          <a:solidFill>
            <a:srgbClr val="252B31"/>
          </a:solidFill>
          <a:ln w="12700">
            <a:solidFill>
              <a:srgbClr val="3A434B"/>
            </a:solidFill>
            <a:prstDash val="solid"/>
          </a:ln>
        </p:spPr>
        <p:txBody>
          <a:bodyPr/>
          <a:lstStyle/>
          <a:p>
            <a:endParaRPr lang="en-SE"/>
          </a:p>
        </p:txBody>
      </p:sp>
      <p:sp>
        <p:nvSpPr>
          <p:cNvPr id="9" name="Shape 7"/>
          <p:cNvSpPr/>
          <p:nvPr/>
        </p:nvSpPr>
        <p:spPr>
          <a:xfrm>
            <a:off x="685800" y="2240280"/>
            <a:ext cx="3364992" cy="91440"/>
          </a:xfrm>
          <a:prstGeom prst="rect">
            <a:avLst/>
          </a:prstGeom>
          <a:solidFill>
            <a:srgbClr val="3FD0C9"/>
          </a:solidFill>
          <a:ln/>
        </p:spPr>
        <p:txBody>
          <a:bodyPr/>
          <a:lstStyle/>
          <a:p>
            <a:endParaRPr lang="en-SE"/>
          </a:p>
        </p:txBody>
      </p:sp>
      <p:sp>
        <p:nvSpPr>
          <p:cNvPr id="10" name="Text 8"/>
          <p:cNvSpPr/>
          <p:nvPr/>
        </p:nvSpPr>
        <p:spPr>
          <a:xfrm>
            <a:off x="941832" y="2487168"/>
            <a:ext cx="2907792" cy="384048"/>
          </a:xfrm>
          <a:prstGeom prst="rect">
            <a:avLst/>
          </a:prstGeom>
          <a:noFill/>
          <a:ln/>
        </p:spPr>
        <p:txBody>
          <a:bodyPr wrap="square" lIns="0" tIns="0" rIns="0" bIns="0" rtlCol="0" anchor="ctr"/>
          <a:lstStyle/>
          <a:p>
            <a:pPr marL="0" indent="0">
              <a:buNone/>
            </a:pPr>
            <a:r>
              <a:rPr lang="en-US" sz="1700" b="1" dirty="0">
                <a:solidFill>
                  <a:srgbClr val="3FD0C9"/>
                </a:solidFill>
                <a:latin typeface="Trebuchet MS" pitchFamily="34" charset="0"/>
                <a:ea typeface="Trebuchet MS" pitchFamily="34" charset="-122"/>
                <a:cs typeface="Trebuchet MS" pitchFamily="34" charset="-120"/>
              </a:rPr>
              <a:t>Direct to :5557</a:t>
            </a:r>
            <a:endParaRPr lang="en-US" sz="1700" dirty="0"/>
          </a:p>
        </p:txBody>
      </p:sp>
      <p:sp>
        <p:nvSpPr>
          <p:cNvPr id="11" name="Text 9"/>
          <p:cNvSpPr/>
          <p:nvPr/>
        </p:nvSpPr>
        <p:spPr>
          <a:xfrm>
            <a:off x="941832" y="2871216"/>
            <a:ext cx="2907792" cy="329184"/>
          </a:xfrm>
          <a:prstGeom prst="rect">
            <a:avLst/>
          </a:prstGeom>
          <a:noFill/>
          <a:ln/>
        </p:spPr>
        <p:txBody>
          <a:bodyPr wrap="square" lIns="0" tIns="0" rIns="0" bIns="0" rtlCol="0" anchor="ctr"/>
          <a:lstStyle/>
          <a:p>
            <a:pPr marL="0" indent="0">
              <a:buNone/>
            </a:pPr>
            <a:r>
              <a:rPr lang="en-US" sz="1050" dirty="0">
                <a:solidFill>
                  <a:srgbClr val="ECF1F5"/>
                </a:solidFill>
                <a:latin typeface="Consolas" pitchFamily="34" charset="0"/>
                <a:ea typeface="Consolas" pitchFamily="34" charset="-122"/>
                <a:cs typeface="Consolas" pitchFamily="34" charset="-120"/>
              </a:rPr>
              <a:t>IF: You can speak ZeroMQ</a:t>
            </a:r>
            <a:endParaRPr lang="en-US" sz="1050" dirty="0"/>
          </a:p>
        </p:txBody>
      </p:sp>
      <p:sp>
        <p:nvSpPr>
          <p:cNvPr id="12" name="Shape 10"/>
          <p:cNvSpPr/>
          <p:nvPr/>
        </p:nvSpPr>
        <p:spPr>
          <a:xfrm>
            <a:off x="960120" y="3474720"/>
            <a:ext cx="109728" cy="109728"/>
          </a:xfrm>
          <a:prstGeom prst="rect">
            <a:avLst/>
          </a:prstGeom>
          <a:solidFill>
            <a:srgbClr val="3FD0C9"/>
          </a:solidFill>
          <a:ln/>
        </p:spPr>
        <p:txBody>
          <a:bodyPr/>
          <a:lstStyle/>
          <a:p>
            <a:endParaRPr lang="en-SE"/>
          </a:p>
        </p:txBody>
      </p:sp>
      <p:sp>
        <p:nvSpPr>
          <p:cNvPr id="13" name="Text 11"/>
          <p:cNvSpPr/>
          <p:nvPr/>
        </p:nvSpPr>
        <p:spPr>
          <a:xfrm>
            <a:off x="1234440" y="3291840"/>
            <a:ext cx="2587752"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Most general option</a:t>
            </a:r>
            <a:endParaRPr lang="en-US" sz="1200" dirty="0"/>
          </a:p>
        </p:txBody>
      </p:sp>
      <p:sp>
        <p:nvSpPr>
          <p:cNvPr id="14" name="Shape 12"/>
          <p:cNvSpPr/>
          <p:nvPr/>
        </p:nvSpPr>
        <p:spPr>
          <a:xfrm>
            <a:off x="960120" y="4023360"/>
            <a:ext cx="109728" cy="109728"/>
          </a:xfrm>
          <a:prstGeom prst="rect">
            <a:avLst/>
          </a:prstGeom>
          <a:solidFill>
            <a:srgbClr val="3FD0C9"/>
          </a:solidFill>
          <a:ln/>
        </p:spPr>
        <p:txBody>
          <a:bodyPr/>
          <a:lstStyle/>
          <a:p>
            <a:endParaRPr lang="en-SE"/>
          </a:p>
        </p:txBody>
      </p:sp>
      <p:sp>
        <p:nvSpPr>
          <p:cNvPr id="15" name="Text 13"/>
          <p:cNvSpPr/>
          <p:nvPr/>
        </p:nvSpPr>
        <p:spPr>
          <a:xfrm>
            <a:off x="1234440" y="3840480"/>
            <a:ext cx="2587752"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See all gateways or filter by prefix</a:t>
            </a:r>
            <a:endParaRPr lang="en-US" sz="1200" dirty="0"/>
          </a:p>
        </p:txBody>
      </p:sp>
      <p:sp>
        <p:nvSpPr>
          <p:cNvPr id="16" name="Shape 14"/>
          <p:cNvSpPr/>
          <p:nvPr/>
        </p:nvSpPr>
        <p:spPr>
          <a:xfrm>
            <a:off x="960120" y="4572000"/>
            <a:ext cx="109728" cy="109728"/>
          </a:xfrm>
          <a:prstGeom prst="rect">
            <a:avLst/>
          </a:prstGeom>
          <a:solidFill>
            <a:srgbClr val="3FD0C9"/>
          </a:solidFill>
          <a:ln/>
        </p:spPr>
        <p:txBody>
          <a:bodyPr/>
          <a:lstStyle/>
          <a:p>
            <a:endParaRPr lang="en-SE"/>
          </a:p>
        </p:txBody>
      </p:sp>
      <p:sp>
        <p:nvSpPr>
          <p:cNvPr id="17" name="Text 15"/>
          <p:cNvSpPr/>
          <p:nvPr/>
        </p:nvSpPr>
        <p:spPr>
          <a:xfrm>
            <a:off x="1234440" y="4389120"/>
            <a:ext cx="2587752"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Right for an independent risk, clearing or compliance system</a:t>
            </a:r>
            <a:endParaRPr lang="en-US" sz="1200" dirty="0"/>
          </a:p>
        </p:txBody>
      </p:sp>
      <p:sp>
        <p:nvSpPr>
          <p:cNvPr id="18" name="Shape 16"/>
          <p:cNvSpPr/>
          <p:nvPr/>
        </p:nvSpPr>
        <p:spPr>
          <a:xfrm>
            <a:off x="4325112" y="2240280"/>
            <a:ext cx="3364992" cy="2880360"/>
          </a:xfrm>
          <a:prstGeom prst="roundRect">
            <a:avLst>
              <a:gd name="adj" fmla="val 1905"/>
            </a:avLst>
          </a:prstGeom>
          <a:solidFill>
            <a:srgbClr val="252B31"/>
          </a:solidFill>
          <a:ln w="12700">
            <a:solidFill>
              <a:srgbClr val="3A434B"/>
            </a:solidFill>
            <a:prstDash val="solid"/>
          </a:ln>
        </p:spPr>
        <p:txBody>
          <a:bodyPr/>
          <a:lstStyle/>
          <a:p>
            <a:endParaRPr lang="en-SE"/>
          </a:p>
        </p:txBody>
      </p:sp>
      <p:sp>
        <p:nvSpPr>
          <p:cNvPr id="19" name="Shape 17"/>
          <p:cNvSpPr/>
          <p:nvPr/>
        </p:nvSpPr>
        <p:spPr>
          <a:xfrm>
            <a:off x="4325112" y="2240280"/>
            <a:ext cx="3364992" cy="91440"/>
          </a:xfrm>
          <a:prstGeom prst="rect">
            <a:avLst/>
          </a:prstGeom>
          <a:solidFill>
            <a:srgbClr val="F0A202"/>
          </a:solidFill>
          <a:ln/>
        </p:spPr>
        <p:txBody>
          <a:bodyPr/>
          <a:lstStyle/>
          <a:p>
            <a:endParaRPr lang="en-SE"/>
          </a:p>
        </p:txBody>
      </p:sp>
      <p:sp>
        <p:nvSpPr>
          <p:cNvPr id="20" name="Text 18"/>
          <p:cNvSpPr/>
          <p:nvPr/>
        </p:nvSpPr>
        <p:spPr>
          <a:xfrm>
            <a:off x="4581144" y="2487168"/>
            <a:ext cx="2907792" cy="384048"/>
          </a:xfrm>
          <a:prstGeom prst="rect">
            <a:avLst/>
          </a:prstGeom>
          <a:noFill/>
          <a:ln/>
        </p:spPr>
        <p:txBody>
          <a:bodyPr wrap="square" lIns="0" tIns="0" rIns="0" bIns="0" rtlCol="0" anchor="ctr"/>
          <a:lstStyle/>
          <a:p>
            <a:pPr marL="0" indent="0">
              <a:buNone/>
            </a:pPr>
            <a:r>
              <a:rPr lang="en-US" sz="1700" b="1" dirty="0">
                <a:solidFill>
                  <a:srgbClr val="F0A202"/>
                </a:solidFill>
                <a:latin typeface="Trebuchet MS" pitchFamily="34" charset="0"/>
                <a:ea typeface="Trebuchet MS" pitchFamily="34" charset="-122"/>
                <a:cs typeface="Trebuchet MS" pitchFamily="34" charset="-120"/>
              </a:rPr>
              <a:t>DC relay on ALF</a:t>
            </a:r>
            <a:endParaRPr lang="en-US" sz="1700" dirty="0"/>
          </a:p>
        </p:txBody>
      </p:sp>
      <p:sp>
        <p:nvSpPr>
          <p:cNvPr id="21" name="Text 19"/>
          <p:cNvSpPr/>
          <p:nvPr/>
        </p:nvSpPr>
        <p:spPr>
          <a:xfrm>
            <a:off x="4581144" y="2871216"/>
            <a:ext cx="2907792" cy="329184"/>
          </a:xfrm>
          <a:prstGeom prst="rect">
            <a:avLst/>
          </a:prstGeom>
          <a:noFill/>
          <a:ln/>
        </p:spPr>
        <p:txBody>
          <a:bodyPr wrap="square" lIns="0" tIns="0" rIns="0" bIns="0" rtlCol="0" anchor="ctr"/>
          <a:lstStyle/>
          <a:p>
            <a:pPr marL="0" indent="0">
              <a:buNone/>
            </a:pPr>
            <a:r>
              <a:rPr lang="en-US" sz="1050" dirty="0">
                <a:solidFill>
                  <a:srgbClr val="ECF1F5"/>
                </a:solidFill>
                <a:latin typeface="Consolas" pitchFamily="34" charset="0"/>
                <a:ea typeface="Consolas" pitchFamily="34" charset="-122"/>
                <a:cs typeface="Consolas" pitchFamily="34" charset="-120"/>
              </a:rPr>
              <a:t>IF: You already have a trading session</a:t>
            </a:r>
            <a:endParaRPr lang="en-US" sz="1050" dirty="0"/>
          </a:p>
        </p:txBody>
      </p:sp>
      <p:sp>
        <p:nvSpPr>
          <p:cNvPr id="22" name="Shape 20"/>
          <p:cNvSpPr/>
          <p:nvPr/>
        </p:nvSpPr>
        <p:spPr>
          <a:xfrm>
            <a:off x="4599432" y="3474720"/>
            <a:ext cx="109728" cy="109728"/>
          </a:xfrm>
          <a:prstGeom prst="rect">
            <a:avLst/>
          </a:prstGeom>
          <a:solidFill>
            <a:srgbClr val="F0A202"/>
          </a:solidFill>
          <a:ln/>
        </p:spPr>
        <p:txBody>
          <a:bodyPr/>
          <a:lstStyle/>
          <a:p>
            <a:endParaRPr lang="en-SE"/>
          </a:p>
        </p:txBody>
      </p:sp>
      <p:sp>
        <p:nvSpPr>
          <p:cNvPr id="23" name="Text 21"/>
          <p:cNvSpPr/>
          <p:nvPr/>
        </p:nvSpPr>
        <p:spPr>
          <a:xfrm>
            <a:off x="4873752" y="3291840"/>
            <a:ext cx="2587752"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No second connection to manage</a:t>
            </a:r>
            <a:endParaRPr lang="en-US" sz="1200" dirty="0"/>
          </a:p>
        </p:txBody>
      </p:sp>
      <p:sp>
        <p:nvSpPr>
          <p:cNvPr id="24" name="Shape 22"/>
          <p:cNvSpPr/>
          <p:nvPr/>
        </p:nvSpPr>
        <p:spPr>
          <a:xfrm>
            <a:off x="4599432" y="4023360"/>
            <a:ext cx="109728" cy="109728"/>
          </a:xfrm>
          <a:prstGeom prst="rect">
            <a:avLst/>
          </a:prstGeom>
          <a:solidFill>
            <a:srgbClr val="F0A202"/>
          </a:solidFill>
          <a:ln/>
        </p:spPr>
        <p:txBody>
          <a:bodyPr/>
          <a:lstStyle/>
          <a:p>
            <a:endParaRPr lang="en-SE"/>
          </a:p>
        </p:txBody>
      </p:sp>
      <p:sp>
        <p:nvSpPr>
          <p:cNvPr id="25" name="Text 23"/>
          <p:cNvSpPr/>
          <p:nvPr/>
        </p:nvSpPr>
        <p:spPr>
          <a:xfrm>
            <a:off x="4873752" y="3840480"/>
            <a:ext cx="2587752"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Scoped to your own gateway id only</a:t>
            </a:r>
            <a:endParaRPr lang="en-US" sz="1200" dirty="0"/>
          </a:p>
        </p:txBody>
      </p:sp>
      <p:sp>
        <p:nvSpPr>
          <p:cNvPr id="26" name="Shape 24"/>
          <p:cNvSpPr/>
          <p:nvPr/>
        </p:nvSpPr>
        <p:spPr>
          <a:xfrm>
            <a:off x="4599432" y="4572000"/>
            <a:ext cx="109728" cy="109728"/>
          </a:xfrm>
          <a:prstGeom prst="rect">
            <a:avLst/>
          </a:prstGeom>
          <a:solidFill>
            <a:srgbClr val="F0A202"/>
          </a:solidFill>
          <a:ln/>
        </p:spPr>
        <p:txBody>
          <a:bodyPr/>
          <a:lstStyle/>
          <a:p>
            <a:endParaRPr lang="en-SE"/>
          </a:p>
        </p:txBody>
      </p:sp>
      <p:sp>
        <p:nvSpPr>
          <p:cNvPr id="27" name="Text 25"/>
          <p:cNvSpPr/>
          <p:nvPr/>
        </p:nvSpPr>
        <p:spPr>
          <a:xfrm>
            <a:off x="4873752" y="4389120"/>
            <a:ext cx="2587752"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Closest match to how real venues deliver drop copy</a:t>
            </a:r>
            <a:endParaRPr lang="en-US" sz="1200" dirty="0"/>
          </a:p>
        </p:txBody>
      </p:sp>
      <p:sp>
        <p:nvSpPr>
          <p:cNvPr id="28" name="Shape 26"/>
          <p:cNvSpPr/>
          <p:nvPr/>
        </p:nvSpPr>
        <p:spPr>
          <a:xfrm>
            <a:off x="7964424" y="2240280"/>
            <a:ext cx="3364992" cy="2880360"/>
          </a:xfrm>
          <a:prstGeom prst="roundRect">
            <a:avLst>
              <a:gd name="adj" fmla="val 1905"/>
            </a:avLst>
          </a:prstGeom>
          <a:solidFill>
            <a:srgbClr val="252B31"/>
          </a:solidFill>
          <a:ln w="12700">
            <a:solidFill>
              <a:srgbClr val="3A434B"/>
            </a:solidFill>
            <a:prstDash val="solid"/>
          </a:ln>
        </p:spPr>
        <p:txBody>
          <a:bodyPr/>
          <a:lstStyle/>
          <a:p>
            <a:endParaRPr lang="en-SE"/>
          </a:p>
        </p:txBody>
      </p:sp>
      <p:sp>
        <p:nvSpPr>
          <p:cNvPr id="29" name="Shape 27"/>
          <p:cNvSpPr/>
          <p:nvPr/>
        </p:nvSpPr>
        <p:spPr>
          <a:xfrm>
            <a:off x="7964424" y="2240280"/>
            <a:ext cx="3364992" cy="91440"/>
          </a:xfrm>
          <a:prstGeom prst="rect">
            <a:avLst/>
          </a:prstGeom>
          <a:solidFill>
            <a:srgbClr val="9B8CFF"/>
          </a:solidFill>
          <a:ln/>
        </p:spPr>
        <p:txBody>
          <a:bodyPr/>
          <a:lstStyle/>
          <a:p>
            <a:endParaRPr lang="en-SE"/>
          </a:p>
        </p:txBody>
      </p:sp>
      <p:sp>
        <p:nvSpPr>
          <p:cNvPr id="30" name="Text 28"/>
          <p:cNvSpPr/>
          <p:nvPr/>
        </p:nvSpPr>
        <p:spPr>
          <a:xfrm>
            <a:off x="8220456" y="2487168"/>
            <a:ext cx="2907792" cy="384048"/>
          </a:xfrm>
          <a:prstGeom prst="rect">
            <a:avLst/>
          </a:prstGeom>
          <a:noFill/>
          <a:ln/>
        </p:spPr>
        <p:txBody>
          <a:bodyPr wrap="square" lIns="0" tIns="0" rIns="0" bIns="0" rtlCol="0" anchor="ctr"/>
          <a:lstStyle/>
          <a:p>
            <a:pPr marL="0" indent="0">
              <a:buNone/>
            </a:pPr>
            <a:r>
              <a:rPr lang="en-US" sz="1700" b="1" dirty="0">
                <a:solidFill>
                  <a:srgbClr val="9B8CFF"/>
                </a:solidFill>
                <a:latin typeface="Trebuchet MS" pitchFamily="34" charset="0"/>
                <a:ea typeface="Trebuchet MS" pitchFamily="34" charset="-122"/>
                <a:cs typeface="Trebuchet MS" pitchFamily="34" charset="-120"/>
              </a:rPr>
              <a:t>DC Gateway :5590</a:t>
            </a:r>
            <a:endParaRPr lang="en-US" sz="1700" dirty="0"/>
          </a:p>
        </p:txBody>
      </p:sp>
      <p:sp>
        <p:nvSpPr>
          <p:cNvPr id="31" name="Text 29"/>
          <p:cNvSpPr/>
          <p:nvPr/>
        </p:nvSpPr>
        <p:spPr>
          <a:xfrm>
            <a:off x="8220456" y="2871216"/>
            <a:ext cx="2907792" cy="329184"/>
          </a:xfrm>
          <a:prstGeom prst="rect">
            <a:avLst/>
          </a:prstGeom>
          <a:noFill/>
          <a:ln/>
        </p:spPr>
        <p:txBody>
          <a:bodyPr wrap="square" lIns="0" tIns="0" rIns="0" bIns="0" rtlCol="0" anchor="ctr"/>
          <a:lstStyle/>
          <a:p>
            <a:pPr marL="0" indent="0">
              <a:buNone/>
            </a:pPr>
            <a:r>
              <a:rPr lang="en-US" sz="1050" dirty="0">
                <a:solidFill>
                  <a:srgbClr val="ECF1F5"/>
                </a:solidFill>
                <a:latin typeface="Consolas" pitchFamily="34" charset="0"/>
                <a:ea typeface="Consolas" pitchFamily="34" charset="-122"/>
                <a:cs typeface="Consolas" pitchFamily="34" charset="-120"/>
              </a:rPr>
              <a:t>IF: Plain TCP, no ZeroMQ available</a:t>
            </a:r>
            <a:endParaRPr lang="en-US" sz="1050" dirty="0"/>
          </a:p>
        </p:txBody>
      </p:sp>
      <p:sp>
        <p:nvSpPr>
          <p:cNvPr id="32" name="Shape 30"/>
          <p:cNvSpPr/>
          <p:nvPr/>
        </p:nvSpPr>
        <p:spPr>
          <a:xfrm>
            <a:off x="8238744" y="3474720"/>
            <a:ext cx="109728" cy="109728"/>
          </a:xfrm>
          <a:prstGeom prst="rect">
            <a:avLst/>
          </a:prstGeom>
          <a:solidFill>
            <a:srgbClr val="9B8CFF"/>
          </a:solidFill>
          <a:ln/>
        </p:spPr>
        <p:txBody>
          <a:bodyPr/>
          <a:lstStyle/>
          <a:p>
            <a:endParaRPr lang="en-SE"/>
          </a:p>
        </p:txBody>
      </p:sp>
      <p:sp>
        <p:nvSpPr>
          <p:cNvPr id="33" name="Text 31"/>
          <p:cNvSpPr/>
          <p:nvPr/>
        </p:nvSpPr>
        <p:spPr>
          <a:xfrm>
            <a:off x="8513064" y="3291840"/>
            <a:ext cx="2587752"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Any language with a sockets library</a:t>
            </a:r>
            <a:endParaRPr lang="en-US" sz="1200" dirty="0"/>
          </a:p>
        </p:txBody>
      </p:sp>
      <p:sp>
        <p:nvSpPr>
          <p:cNvPr id="34" name="Shape 32"/>
          <p:cNvSpPr/>
          <p:nvPr/>
        </p:nvSpPr>
        <p:spPr>
          <a:xfrm>
            <a:off x="8238744" y="4023360"/>
            <a:ext cx="109728" cy="109728"/>
          </a:xfrm>
          <a:prstGeom prst="rect">
            <a:avLst/>
          </a:prstGeom>
          <a:solidFill>
            <a:srgbClr val="9B8CFF"/>
          </a:solidFill>
          <a:ln/>
        </p:spPr>
        <p:txBody>
          <a:bodyPr/>
          <a:lstStyle/>
          <a:p>
            <a:endParaRPr lang="en-SE"/>
          </a:p>
        </p:txBody>
      </p:sp>
      <p:sp>
        <p:nvSpPr>
          <p:cNvPr id="35" name="Text 33"/>
          <p:cNvSpPr/>
          <p:nvPr/>
        </p:nvSpPr>
        <p:spPr>
          <a:xfrm>
            <a:off x="8513064" y="3840480"/>
            <a:ext cx="2587752"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Simple text lines, one per fill</a:t>
            </a:r>
            <a:endParaRPr lang="en-US" sz="1200" dirty="0"/>
          </a:p>
        </p:txBody>
      </p:sp>
      <p:sp>
        <p:nvSpPr>
          <p:cNvPr id="36" name="Shape 34"/>
          <p:cNvSpPr/>
          <p:nvPr/>
        </p:nvSpPr>
        <p:spPr>
          <a:xfrm>
            <a:off x="8238744" y="4572000"/>
            <a:ext cx="109728" cy="109728"/>
          </a:xfrm>
          <a:prstGeom prst="rect">
            <a:avLst/>
          </a:prstGeom>
          <a:solidFill>
            <a:srgbClr val="9B8CFF"/>
          </a:solidFill>
          <a:ln/>
        </p:spPr>
        <p:txBody>
          <a:bodyPr/>
          <a:lstStyle/>
          <a:p>
            <a:endParaRPr lang="en-SE"/>
          </a:p>
        </p:txBody>
      </p:sp>
      <p:sp>
        <p:nvSpPr>
          <p:cNvPr id="37" name="Text 35"/>
          <p:cNvSpPr/>
          <p:nvPr/>
        </p:nvSpPr>
        <p:spPr>
          <a:xfrm>
            <a:off x="8513064" y="4389120"/>
            <a:ext cx="2587752"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Right for external partners and other hosts</a:t>
            </a:r>
            <a:endParaRPr lang="en-US" sz="1200" dirty="0"/>
          </a:p>
        </p:txBody>
      </p:sp>
      <p:sp>
        <p:nvSpPr>
          <p:cNvPr id="38" name="Shape 36"/>
          <p:cNvSpPr/>
          <p:nvPr/>
        </p:nvSpPr>
        <p:spPr>
          <a:xfrm>
            <a:off x="685800" y="5303520"/>
            <a:ext cx="10820095" cy="822960"/>
          </a:xfrm>
          <a:prstGeom prst="roundRect">
            <a:avLst>
              <a:gd name="adj" fmla="val 6667"/>
            </a:avLst>
          </a:prstGeom>
          <a:solidFill>
            <a:srgbClr val="252B31"/>
          </a:solidFill>
          <a:ln w="19050">
            <a:solidFill>
              <a:srgbClr val="3FD0C9"/>
            </a:solidFill>
            <a:prstDash val="solid"/>
          </a:ln>
        </p:spPr>
        <p:txBody>
          <a:bodyPr/>
          <a:lstStyle/>
          <a:p>
            <a:endParaRPr lang="en-SE"/>
          </a:p>
        </p:txBody>
      </p:sp>
      <p:sp>
        <p:nvSpPr>
          <p:cNvPr id="39" name="Shape 37"/>
          <p:cNvSpPr/>
          <p:nvPr/>
        </p:nvSpPr>
        <p:spPr>
          <a:xfrm>
            <a:off x="923544" y="5532120"/>
            <a:ext cx="365760" cy="365760"/>
          </a:xfrm>
          <a:prstGeom prst="roundRect">
            <a:avLst>
              <a:gd name="adj" fmla="val 125000"/>
            </a:avLst>
          </a:prstGeom>
          <a:solidFill>
            <a:srgbClr val="3FD0C9"/>
          </a:solidFill>
          <a:ln/>
        </p:spPr>
        <p:txBody>
          <a:bodyPr/>
          <a:lstStyle/>
          <a:p>
            <a:endParaRPr lang="en-SE"/>
          </a:p>
        </p:txBody>
      </p:sp>
      <p:sp>
        <p:nvSpPr>
          <p:cNvPr id="40" name="Text 38"/>
          <p:cNvSpPr/>
          <p:nvPr/>
        </p:nvSpPr>
        <p:spPr>
          <a:xfrm>
            <a:off x="923544" y="553212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i</a:t>
            </a:r>
            <a:endParaRPr lang="en-US" sz="1500" dirty="0"/>
          </a:p>
        </p:txBody>
      </p:sp>
      <p:sp>
        <p:nvSpPr>
          <p:cNvPr id="41" name="Text 39"/>
          <p:cNvSpPr/>
          <p:nvPr/>
        </p:nvSpPr>
        <p:spPr>
          <a:xfrm>
            <a:off x="1453896" y="5449824"/>
            <a:ext cx="9814255" cy="530352"/>
          </a:xfrm>
          <a:prstGeom prst="rect">
            <a:avLst/>
          </a:prstGeom>
          <a:noFill/>
          <a:ln/>
        </p:spPr>
        <p:txBody>
          <a:bodyPr wrap="square" lIns="0" tIns="0" rIns="0" bIns="0" rtlCol="0" anchor="ctr"/>
          <a:lstStyle/>
          <a:p>
            <a:pPr marL="0" indent="0">
              <a:lnSpc>
                <a:spcPct val="110000"/>
              </a:lnSpc>
              <a:buNone/>
            </a:pPr>
            <a:r>
              <a:rPr lang="en-US" sz="1350" b="1" dirty="0">
                <a:solidFill>
                  <a:srgbClr val="3FD0C9"/>
                </a:solidFill>
                <a:latin typeface="Trebuchet MS" pitchFamily="34" charset="0"/>
                <a:ea typeface="Trebuchet MS" pitchFamily="34" charset="-122"/>
                <a:cs typeface="Trebuchet MS" pitchFamily="34" charset="-120"/>
              </a:rPr>
              <a:t>They are not mutually exclusive</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All three read the same feed and can run at once. Turning on the DC relay for your ALF session does not stop a separate subscriber or spy from also watching port 5557.</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05 · ALF AND DC</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28</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THE ALF RELAY</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Turning your own fills on inside an existing session</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One command, and every fill for that gateway starts arriving asynchronously on the connection you already have open.</a:t>
            </a:r>
            <a:endParaRPr lang="en-US" sz="1450" dirty="0"/>
          </a:p>
        </p:txBody>
      </p:sp>
      <p:sp>
        <p:nvSpPr>
          <p:cNvPr id="8" name="Shape 6"/>
          <p:cNvSpPr/>
          <p:nvPr/>
        </p:nvSpPr>
        <p:spPr>
          <a:xfrm>
            <a:off x="685800" y="2240280"/>
            <a:ext cx="5257800" cy="1691640"/>
          </a:xfrm>
          <a:prstGeom prst="roundRect">
            <a:avLst>
              <a:gd name="adj" fmla="val 2162"/>
            </a:avLst>
          </a:prstGeom>
          <a:solidFill>
            <a:srgbClr val="141719"/>
          </a:solidFill>
          <a:ln w="12700">
            <a:solidFill>
              <a:srgbClr val="3A434B"/>
            </a:solidFill>
            <a:prstDash val="solid"/>
          </a:ln>
        </p:spPr>
        <p:txBody>
          <a:bodyPr/>
          <a:lstStyle/>
          <a:p>
            <a:endParaRPr lang="en-SE"/>
          </a:p>
        </p:txBody>
      </p:sp>
      <p:sp>
        <p:nvSpPr>
          <p:cNvPr id="9" name="Text 7"/>
          <p:cNvSpPr/>
          <p:nvPr/>
        </p:nvSpPr>
        <p:spPr>
          <a:xfrm>
            <a:off x="905256" y="2350008"/>
            <a:ext cx="4800600" cy="237744"/>
          </a:xfrm>
          <a:prstGeom prst="rect">
            <a:avLst/>
          </a:prstGeom>
          <a:noFill/>
          <a:ln/>
        </p:spPr>
        <p:txBody>
          <a:bodyPr wrap="square" lIns="0" tIns="0" rIns="0" bIns="0" rtlCol="0" anchor="ctr"/>
          <a:lstStyle/>
          <a:p>
            <a:pPr marL="0" indent="0">
              <a:buNone/>
            </a:pPr>
            <a:r>
              <a:rPr lang="en-US" sz="950" kern="0" spc="160" dirty="0">
                <a:solidFill>
                  <a:srgbClr val="6E7C87"/>
                </a:solidFill>
                <a:latin typeface="Calibri" pitchFamily="34" charset="0"/>
                <a:ea typeface="Calibri" pitchFamily="34" charset="-122"/>
                <a:cs typeface="Calibri" pitchFamily="34" charset="-120"/>
              </a:rPr>
              <a:t>ENABLING THE RELAY</a:t>
            </a:r>
            <a:endParaRPr lang="en-US" sz="950" dirty="0"/>
          </a:p>
        </p:txBody>
      </p:sp>
      <p:sp>
        <p:nvSpPr>
          <p:cNvPr id="10" name="Text 8"/>
          <p:cNvSpPr/>
          <p:nvPr/>
        </p:nvSpPr>
        <p:spPr>
          <a:xfrm>
            <a:off x="905256" y="2642616"/>
            <a:ext cx="4818888" cy="1143000"/>
          </a:xfrm>
          <a:prstGeom prst="rect">
            <a:avLst/>
          </a:prstGeom>
          <a:noFill/>
          <a:ln/>
        </p:spPr>
        <p:txBody>
          <a:bodyPr wrap="square" lIns="0" tIns="0" rIns="0" bIns="0" rtlCol="0" anchor="t"/>
          <a:lstStyle/>
          <a:p>
            <a:pPr marL="0" indent="0">
              <a:lnSpc>
                <a:spcPct val="116000"/>
              </a:lnSpc>
              <a:buNone/>
            </a:pPr>
            <a:r>
              <a:rPr lang="en-US" sz="1150" dirty="0">
                <a:solidFill>
                  <a:srgbClr val="6E7C87"/>
                </a:solidFill>
                <a:latin typeface="Consolas" pitchFamily="34" charset="0"/>
                <a:ea typeface="Consolas" pitchFamily="34" charset="-122"/>
                <a:cs typeface="Consolas" pitchFamily="34" charset="-120"/>
              </a:rPr>
              <a:t># enable from the start</a:t>
            </a:r>
            <a:endParaRPr lang="en-US" sz="1150" dirty="0"/>
          </a:p>
          <a:p>
            <a:pPr marL="0" indent="0">
              <a:lnSpc>
                <a:spcPct val="116000"/>
              </a:lnSpc>
              <a:buNone/>
            </a:pPr>
            <a:r>
              <a:rPr lang="en-US" sz="1150" dirty="0">
                <a:solidFill>
                  <a:srgbClr val="3FD0C9"/>
                </a:solidFill>
                <a:latin typeface="Consolas" pitchFamily="34" charset="0"/>
                <a:ea typeface="Consolas" pitchFamily="34" charset="-122"/>
                <a:cs typeface="Consolas" pitchFamily="34" charset="-120"/>
              </a:rPr>
              <a:t>pm-alf-console --id TRADER01 --drop-copy</a:t>
            </a:r>
            <a:endParaRPr lang="en-US" sz="1150" dirty="0"/>
          </a:p>
          <a:p>
            <a:pPr marL="0" indent="0">
              <a:lnSpc>
                <a:spcPct val="116000"/>
              </a:lnSpc>
              <a:buNone/>
            </a:pPr>
            <a:endParaRPr lang="en-US" sz="1150" dirty="0"/>
          </a:p>
          <a:p>
            <a:pPr marL="0" indent="0">
              <a:lnSpc>
                <a:spcPct val="116000"/>
              </a:lnSpc>
              <a:buNone/>
            </a:pPr>
            <a:r>
              <a:rPr lang="en-US" sz="1150" dirty="0">
                <a:solidFill>
                  <a:srgbClr val="6E7C87"/>
                </a:solidFill>
                <a:latin typeface="Consolas" pitchFamily="34" charset="0"/>
                <a:ea typeface="Consolas" pitchFamily="34" charset="-122"/>
                <a:cs typeface="Consolas" pitchFamily="34" charset="-120"/>
              </a:rPr>
              <a:t># or toggle at any time, on console or a TCP client</a:t>
            </a:r>
            <a:endParaRPr lang="en-US" sz="1150" dirty="0"/>
          </a:p>
          <a:p>
            <a:pPr marL="0" indent="0">
              <a:lnSpc>
                <a:spcPct val="116000"/>
              </a:lnSpc>
              <a:buNone/>
            </a:pPr>
            <a:r>
              <a:rPr lang="en-US" sz="1150" dirty="0">
                <a:solidFill>
                  <a:srgbClr val="F0A202"/>
                </a:solidFill>
                <a:latin typeface="Consolas" pitchFamily="34" charset="0"/>
                <a:ea typeface="Consolas" pitchFamily="34" charset="-122"/>
                <a:cs typeface="Consolas" pitchFamily="34" charset="-120"/>
              </a:rPr>
              <a:t>DC|STATE=ON</a:t>
            </a:r>
            <a:endParaRPr lang="en-US" sz="1150" dirty="0"/>
          </a:p>
        </p:txBody>
      </p:sp>
      <p:sp>
        <p:nvSpPr>
          <p:cNvPr id="11" name="Shape 9"/>
          <p:cNvSpPr/>
          <p:nvPr/>
        </p:nvSpPr>
        <p:spPr>
          <a:xfrm>
            <a:off x="685800" y="4069080"/>
            <a:ext cx="5257800" cy="1051560"/>
          </a:xfrm>
          <a:prstGeom prst="roundRect">
            <a:avLst>
              <a:gd name="adj" fmla="val 3478"/>
            </a:avLst>
          </a:prstGeom>
          <a:solidFill>
            <a:srgbClr val="141719"/>
          </a:solidFill>
          <a:ln w="12700">
            <a:solidFill>
              <a:srgbClr val="3A434B"/>
            </a:solidFill>
            <a:prstDash val="solid"/>
          </a:ln>
        </p:spPr>
        <p:txBody>
          <a:bodyPr/>
          <a:lstStyle/>
          <a:p>
            <a:endParaRPr lang="en-SE"/>
          </a:p>
        </p:txBody>
      </p:sp>
      <p:sp>
        <p:nvSpPr>
          <p:cNvPr id="12" name="Text 10"/>
          <p:cNvSpPr/>
          <p:nvPr/>
        </p:nvSpPr>
        <p:spPr>
          <a:xfrm>
            <a:off x="905256" y="4178808"/>
            <a:ext cx="4800600" cy="237744"/>
          </a:xfrm>
          <a:prstGeom prst="rect">
            <a:avLst/>
          </a:prstGeom>
          <a:noFill/>
          <a:ln/>
        </p:spPr>
        <p:txBody>
          <a:bodyPr wrap="square" lIns="0" tIns="0" rIns="0" bIns="0" rtlCol="0" anchor="ctr"/>
          <a:lstStyle/>
          <a:p>
            <a:pPr marL="0" indent="0">
              <a:buNone/>
            </a:pPr>
            <a:r>
              <a:rPr lang="en-US" sz="950" kern="0" spc="160" dirty="0">
                <a:solidFill>
                  <a:srgbClr val="6E7C87"/>
                </a:solidFill>
                <a:latin typeface="Calibri" pitchFamily="34" charset="0"/>
                <a:ea typeface="Calibri" pitchFamily="34" charset="-122"/>
                <a:cs typeface="Calibri" pitchFamily="34" charset="-120"/>
              </a:rPr>
              <a:t>WHAT THEN ARRIVES, UNPROMPTED</a:t>
            </a:r>
            <a:endParaRPr lang="en-US" sz="950" dirty="0"/>
          </a:p>
        </p:txBody>
      </p:sp>
      <p:sp>
        <p:nvSpPr>
          <p:cNvPr id="13" name="Text 11"/>
          <p:cNvSpPr/>
          <p:nvPr/>
        </p:nvSpPr>
        <p:spPr>
          <a:xfrm>
            <a:off x="905256" y="4471416"/>
            <a:ext cx="4818888" cy="502920"/>
          </a:xfrm>
          <a:prstGeom prst="rect">
            <a:avLst/>
          </a:prstGeom>
          <a:noFill/>
          <a:ln/>
        </p:spPr>
        <p:txBody>
          <a:bodyPr wrap="square" lIns="0" tIns="0" rIns="0" bIns="0" rtlCol="0" anchor="t"/>
          <a:lstStyle/>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DC_FILL|SEQ=42|ORDER_ID=ORD-001|SYMBOL=AAPL</a:t>
            </a:r>
            <a:endParaRPr lang="en-US" sz="1050" dirty="0"/>
          </a:p>
          <a:p>
            <a:pPr marL="0" indent="0">
              <a:lnSpc>
                <a:spcPct val="116000"/>
              </a:lnSpc>
              <a:buNone/>
            </a:pPr>
            <a:r>
              <a:rPr lang="en-US" sz="1050" dirty="0">
                <a:solidFill>
                  <a:srgbClr val="ECF1F5"/>
                </a:solidFill>
                <a:latin typeface="Consolas" pitchFamily="34" charset="0"/>
                <a:ea typeface="Consolas" pitchFamily="34" charset="-122"/>
                <a:cs typeface="Consolas" pitchFamily="34" charset="-120"/>
              </a:rPr>
              <a:t>        |FILL_QTY=100|FILL_PRICE=150.05|LIQUIDITY=TAKER</a:t>
            </a:r>
            <a:endParaRPr lang="en-US" sz="1050" dirty="0"/>
          </a:p>
        </p:txBody>
      </p:sp>
      <p:sp>
        <p:nvSpPr>
          <p:cNvPr id="14" name="Shape 12"/>
          <p:cNvSpPr/>
          <p:nvPr/>
        </p:nvSpPr>
        <p:spPr>
          <a:xfrm>
            <a:off x="6263640" y="2240280"/>
            <a:ext cx="5239512" cy="1371600"/>
          </a:xfrm>
          <a:prstGeom prst="roundRect">
            <a:avLst>
              <a:gd name="adj" fmla="val 4000"/>
            </a:avLst>
          </a:prstGeom>
          <a:solidFill>
            <a:srgbClr val="252B31"/>
          </a:solidFill>
          <a:ln w="12700">
            <a:solidFill>
              <a:srgbClr val="3A434B"/>
            </a:solidFill>
            <a:prstDash val="solid"/>
          </a:ln>
        </p:spPr>
        <p:txBody>
          <a:bodyPr/>
          <a:lstStyle/>
          <a:p>
            <a:endParaRPr lang="en-SE"/>
          </a:p>
        </p:txBody>
      </p:sp>
      <p:sp>
        <p:nvSpPr>
          <p:cNvPr id="15" name="Text 13"/>
          <p:cNvSpPr/>
          <p:nvPr/>
        </p:nvSpPr>
        <p:spPr>
          <a:xfrm>
            <a:off x="6519672" y="2496312"/>
            <a:ext cx="4727448" cy="310896"/>
          </a:xfrm>
          <a:prstGeom prst="rect">
            <a:avLst/>
          </a:prstGeom>
          <a:noFill/>
          <a:ln/>
        </p:spPr>
        <p:txBody>
          <a:bodyPr wrap="square" lIns="0" tIns="0" rIns="0" bIns="0" rtlCol="0" anchor="t"/>
          <a:lstStyle/>
          <a:p>
            <a:pPr marL="0" indent="0">
              <a:buNone/>
            </a:pPr>
            <a:r>
              <a:rPr lang="en-US" sz="1500" b="1" dirty="0">
                <a:solidFill>
                  <a:srgbClr val="3FD0C9"/>
                </a:solidFill>
                <a:latin typeface="Trebuchet MS" pitchFamily="34" charset="0"/>
                <a:ea typeface="Trebuchet MS" pitchFamily="34" charset="-122"/>
                <a:cs typeface="Trebuchet MS" pitchFamily="34" charset="-120"/>
              </a:rPr>
              <a:t>It is the same feed underneath</a:t>
            </a:r>
            <a:endParaRPr lang="en-US" sz="1500" dirty="0"/>
          </a:p>
        </p:txBody>
      </p:sp>
      <p:sp>
        <p:nvSpPr>
          <p:cNvPr id="16" name="Text 14"/>
          <p:cNvSpPr/>
          <p:nvPr/>
        </p:nvSpPr>
        <p:spPr>
          <a:xfrm>
            <a:off x="6519672" y="2880360"/>
            <a:ext cx="4727448" cy="56692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The gateway or console subscribes to your gateway's drop copy topic on your behalf and re-delivers it down your existing connection. Nothing new is generated.</a:t>
            </a:r>
            <a:endParaRPr lang="en-US" sz="1250" dirty="0"/>
          </a:p>
        </p:txBody>
      </p:sp>
      <p:sp>
        <p:nvSpPr>
          <p:cNvPr id="17" name="Shape 15"/>
          <p:cNvSpPr/>
          <p:nvPr/>
        </p:nvSpPr>
        <p:spPr>
          <a:xfrm>
            <a:off x="6263640" y="3703320"/>
            <a:ext cx="5239512" cy="1417320"/>
          </a:xfrm>
          <a:prstGeom prst="roundRect">
            <a:avLst>
              <a:gd name="adj" fmla="val 3871"/>
            </a:avLst>
          </a:prstGeom>
          <a:solidFill>
            <a:srgbClr val="252B31"/>
          </a:solidFill>
          <a:ln w="12700">
            <a:solidFill>
              <a:srgbClr val="3A434B"/>
            </a:solidFill>
            <a:prstDash val="solid"/>
          </a:ln>
        </p:spPr>
        <p:txBody>
          <a:bodyPr/>
          <a:lstStyle/>
          <a:p>
            <a:endParaRPr lang="en-SE"/>
          </a:p>
        </p:txBody>
      </p:sp>
      <p:sp>
        <p:nvSpPr>
          <p:cNvPr id="18" name="Text 16"/>
          <p:cNvSpPr/>
          <p:nvPr/>
        </p:nvSpPr>
        <p:spPr>
          <a:xfrm>
            <a:off x="6519672" y="3959352"/>
            <a:ext cx="4727448" cy="310896"/>
          </a:xfrm>
          <a:prstGeom prst="rect">
            <a:avLst/>
          </a:prstGeom>
          <a:noFill/>
          <a:ln/>
        </p:spPr>
        <p:txBody>
          <a:bodyPr wrap="square" lIns="0" tIns="0" rIns="0" bIns="0" rtlCol="0" anchor="t"/>
          <a:lstStyle/>
          <a:p>
            <a:pPr marL="0" indent="0">
              <a:buNone/>
            </a:pPr>
            <a:r>
              <a:rPr lang="en-US" sz="1500" b="1" dirty="0">
                <a:solidFill>
                  <a:srgbClr val="F0A202"/>
                </a:solidFill>
                <a:latin typeface="Trebuchet MS" pitchFamily="34" charset="0"/>
                <a:ea typeface="Trebuchet MS" pitchFamily="34" charset="-122"/>
                <a:cs typeface="Trebuchet MS" pitchFamily="34" charset="-120"/>
              </a:rPr>
              <a:t>Scoped to you, by construction</a:t>
            </a:r>
            <a:endParaRPr lang="en-US" sz="1500" dirty="0"/>
          </a:p>
        </p:txBody>
      </p:sp>
      <p:sp>
        <p:nvSpPr>
          <p:cNvPr id="19" name="Text 17"/>
          <p:cNvSpPr/>
          <p:nvPr/>
        </p:nvSpPr>
        <p:spPr>
          <a:xfrm>
            <a:off x="6519672" y="4343400"/>
            <a:ext cx="4727448" cy="61264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The relay only asks for your own gateway id, so a session sees its own fills. Note this is scoping, not enforcement — see the security slide in section 8.</a:t>
            </a:r>
            <a:endParaRPr lang="en-US" sz="1250" dirty="0"/>
          </a:p>
        </p:txBody>
      </p:sp>
      <p:sp>
        <p:nvSpPr>
          <p:cNvPr id="20" name="Shape 18"/>
          <p:cNvSpPr/>
          <p:nvPr/>
        </p:nvSpPr>
        <p:spPr>
          <a:xfrm>
            <a:off x="685800" y="5349240"/>
            <a:ext cx="10820095" cy="777240"/>
          </a:xfrm>
          <a:prstGeom prst="roundRect">
            <a:avLst>
              <a:gd name="adj" fmla="val 7059"/>
            </a:avLst>
          </a:prstGeom>
          <a:solidFill>
            <a:srgbClr val="252B31"/>
          </a:solidFill>
          <a:ln w="19050">
            <a:solidFill>
              <a:srgbClr val="F0A202"/>
            </a:solidFill>
            <a:prstDash val="solid"/>
          </a:ln>
        </p:spPr>
        <p:txBody>
          <a:bodyPr/>
          <a:lstStyle/>
          <a:p>
            <a:endParaRPr lang="en-SE"/>
          </a:p>
        </p:txBody>
      </p:sp>
      <p:sp>
        <p:nvSpPr>
          <p:cNvPr id="21" name="Shape 19"/>
          <p:cNvSpPr/>
          <p:nvPr/>
        </p:nvSpPr>
        <p:spPr>
          <a:xfrm>
            <a:off x="923544" y="5554980"/>
            <a:ext cx="365760" cy="365760"/>
          </a:xfrm>
          <a:prstGeom prst="roundRect">
            <a:avLst>
              <a:gd name="adj" fmla="val 125000"/>
            </a:avLst>
          </a:prstGeom>
          <a:solidFill>
            <a:srgbClr val="F0A202"/>
          </a:solidFill>
          <a:ln/>
        </p:spPr>
        <p:txBody>
          <a:bodyPr/>
          <a:lstStyle/>
          <a:p>
            <a:endParaRPr lang="en-SE"/>
          </a:p>
        </p:txBody>
      </p:sp>
      <p:sp>
        <p:nvSpPr>
          <p:cNvPr id="22" name="Text 20"/>
          <p:cNvSpPr/>
          <p:nvPr/>
        </p:nvSpPr>
        <p:spPr>
          <a:xfrm>
            <a:off x="923544" y="555498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23" name="Text 21"/>
          <p:cNvSpPr/>
          <p:nvPr/>
        </p:nvSpPr>
        <p:spPr>
          <a:xfrm>
            <a:off x="1453896" y="5495544"/>
            <a:ext cx="9814255" cy="484632"/>
          </a:xfrm>
          <a:prstGeom prst="rect">
            <a:avLst/>
          </a:prstGeom>
          <a:noFill/>
          <a:ln/>
        </p:spPr>
        <p:txBody>
          <a:bodyPr wrap="square" lIns="0" tIns="0" rIns="0" bIns="0" rtlCol="0" anchor="ctr"/>
          <a:lstStyle/>
          <a:p>
            <a:pPr marL="0" indent="0">
              <a:lnSpc>
                <a:spcPct val="110000"/>
              </a:lnSpc>
              <a:buNone/>
            </a:pPr>
            <a:r>
              <a:rPr lang="en-US" sz="1350" b="1" dirty="0">
                <a:solidFill>
                  <a:srgbClr val="F0A202"/>
                </a:solidFill>
                <a:latin typeface="Trebuchet MS" pitchFamily="34" charset="0"/>
                <a:ea typeface="Trebuchet MS" pitchFamily="34" charset="-122"/>
                <a:cs typeface="Trebuchet MS" pitchFamily="34" charset="-120"/>
              </a:rPr>
              <a:t>When to prefer the relay</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A participant who simply wants a durable record of their own executions gets it with one command and no extra infrastructure.</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05 · ALF AND DC</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29</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REALITY CHECK</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How production exchanges publish drop copy</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Worth knowing, because the vocabulary you will meet in the industry comes from this model.</a:t>
            </a:r>
            <a:endParaRPr lang="en-US" sz="14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85800" y="2240280"/>
          <a:ext cx="10820095" cy="914400"/>
        </p:xfrm>
        <a:graphic>
          <a:graphicData uri="http://schemas.openxmlformats.org/drawingml/2006/table">
            <a:tbl>
              <a:tblPr/>
              <a:tblGrid>
                <a:gridCol w="19202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548640">
                <a:tc>
                  <a:txBody>
                    <a:bodyPr/>
                    <a:lstStyle/>
                    <a:p>
                      <a:pPr marL="0" indent="0">
                        <a:buNone/>
                      </a:pP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A real venue</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EduMatcher</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extLst>
                  <a:ext uri="{0D108BD9-81ED-4DB2-BD59-A6C34878D82A}">
                    <a16:rowId xmlns:a16="http://schemas.microsoft.com/office/drawing/2014/main" val="10000"/>
                  </a:ext>
                </a:extLst>
              </a:tr>
              <a:tr h="548640">
                <a:tc>
                  <a:txBody>
                    <a:bodyPr/>
                    <a:lstStyle/>
                    <a:p>
                      <a:pPr marL="0" indent="0">
                        <a:buNone/>
                      </a:pPr>
                      <a:r>
                        <a:rPr lang="en-US" sz="1150" b="1" dirty="0">
                          <a:solidFill>
                            <a:srgbClr val="ECF1F5"/>
                          </a:solidFill>
                          <a:latin typeface="Calibri" pitchFamily="34" charset="0"/>
                          <a:ea typeface="Calibri" pitchFamily="34" charset="-122"/>
                          <a:cs typeface="Calibri" pitchFamily="34" charset="-120"/>
                        </a:rPr>
                        <a:t>Delivery</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50" dirty="0">
                          <a:solidFill>
                            <a:srgbClr val="97A4AE"/>
                          </a:solidFill>
                          <a:latin typeface="Calibri" pitchFamily="34" charset="0"/>
                          <a:ea typeface="Calibri" pitchFamily="34" charset="-122"/>
                          <a:cs typeface="Calibri" pitchFamily="34" charset="-120"/>
                        </a:rPr>
                        <a:t>A dedicated FIX session per recipient, separate from the trading session</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50" dirty="0">
                          <a:solidFill>
                            <a:srgbClr val="3FD0C9"/>
                          </a:solidFill>
                          <a:latin typeface="Calibri" pitchFamily="34" charset="0"/>
                          <a:ea typeface="Calibri" pitchFamily="34" charset="-122"/>
                          <a:cs typeface="Calibri" pitchFamily="34" charset="-120"/>
                        </a:rPr>
                        <a:t>EduMatcher: a ZeroMQ broadcast, or a relay on your existing session</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1"/>
                  </a:ext>
                </a:extLst>
              </a:tr>
              <a:tr h="548640">
                <a:tc>
                  <a:txBody>
                    <a:bodyPr/>
                    <a:lstStyle/>
                    <a:p>
                      <a:pPr marL="0" indent="0">
                        <a:buNone/>
                      </a:pPr>
                      <a:r>
                        <a:rPr lang="en-US" sz="1150" b="1" dirty="0">
                          <a:solidFill>
                            <a:srgbClr val="ECF1F5"/>
                          </a:solidFill>
                          <a:latin typeface="Calibri" pitchFamily="34" charset="0"/>
                          <a:ea typeface="Calibri" pitchFamily="34" charset="-122"/>
                          <a:cs typeface="Calibri" pitchFamily="34" charset="-120"/>
                        </a:rPr>
                        <a:t>Payload</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50" dirty="0">
                          <a:solidFill>
                            <a:srgbClr val="97A4AE"/>
                          </a:solidFill>
                          <a:latin typeface="Calibri" pitchFamily="34" charset="0"/>
                          <a:ea typeface="Calibri" pitchFamily="34" charset="-122"/>
                          <a:cs typeface="Calibri" pitchFamily="34" charset="-120"/>
                        </a:rPr>
                        <a:t>An Execution Report — the same message type used for live acks and fills</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50" dirty="0">
                          <a:solidFill>
                            <a:srgbClr val="3FD0C9"/>
                          </a:solidFill>
                          <a:latin typeface="Calibri" pitchFamily="34" charset="0"/>
                          <a:ea typeface="Calibri" pitchFamily="34" charset="-122"/>
                          <a:cs typeface="Calibri" pitchFamily="34" charset="-120"/>
                        </a:rPr>
                        <a:t>EduMatcher: a small JSON object, or a DC1 text line</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2"/>
                  </a:ext>
                </a:extLst>
              </a:tr>
              <a:tr h="548640">
                <a:tc>
                  <a:txBody>
                    <a:bodyPr/>
                    <a:lstStyle/>
                    <a:p>
                      <a:pPr marL="0" indent="0">
                        <a:buNone/>
                      </a:pPr>
                      <a:r>
                        <a:rPr lang="en-US" sz="1150" b="1" dirty="0">
                          <a:solidFill>
                            <a:srgbClr val="ECF1F5"/>
                          </a:solidFill>
                          <a:latin typeface="Calibri" pitchFamily="34" charset="0"/>
                          <a:ea typeface="Calibri" pitchFamily="34" charset="-122"/>
                          <a:cs typeface="Calibri" pitchFamily="34" charset="-120"/>
                        </a:rPr>
                        <a:t>Sequencing</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50" dirty="0">
                          <a:solidFill>
                            <a:srgbClr val="97A4AE"/>
                          </a:solidFill>
                          <a:latin typeface="Calibri" pitchFamily="34" charset="0"/>
                          <a:ea typeface="Calibri" pitchFamily="34" charset="-122"/>
                          <a:cs typeface="Calibri" pitchFamily="34" charset="-120"/>
                        </a:rPr>
                        <a:t>Session-scoped FIX sequence numbers</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50" dirty="0">
                          <a:solidFill>
                            <a:srgbClr val="3FD0C9"/>
                          </a:solidFill>
                          <a:latin typeface="Calibri" pitchFamily="34" charset="0"/>
                          <a:ea typeface="Calibri" pitchFamily="34" charset="-122"/>
                          <a:cs typeface="Calibri" pitchFamily="34" charset="-120"/>
                        </a:rPr>
                        <a:t>EduMatcher: a process-wide counter carried in seq</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3"/>
                  </a:ext>
                </a:extLst>
              </a:tr>
              <a:tr h="548640">
                <a:tc>
                  <a:txBody>
                    <a:bodyPr/>
                    <a:lstStyle/>
                    <a:p>
                      <a:pPr marL="0" indent="0">
                        <a:buNone/>
                      </a:pPr>
                      <a:r>
                        <a:rPr lang="en-US" sz="1150" b="1" dirty="0">
                          <a:solidFill>
                            <a:srgbClr val="ECF1F5"/>
                          </a:solidFill>
                          <a:latin typeface="Calibri" pitchFamily="34" charset="0"/>
                          <a:ea typeface="Calibri" pitchFamily="34" charset="-122"/>
                          <a:cs typeface="Calibri" pitchFamily="34" charset="-120"/>
                        </a:rPr>
                        <a:t>Gap recovery</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50" dirty="0">
                          <a:solidFill>
                            <a:srgbClr val="97A4AE"/>
                          </a:solidFill>
                          <a:latin typeface="Calibri" pitchFamily="34" charset="0"/>
                          <a:ea typeface="Calibri" pitchFamily="34" charset="-122"/>
                          <a:cs typeface="Calibri" pitchFamily="34" charset="-120"/>
                        </a:rPr>
                        <a:t>FIX's native resend request and sequence reset</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50" dirty="0">
                          <a:solidFill>
                            <a:srgbClr val="3FD0C9"/>
                          </a:solidFill>
                          <a:latin typeface="Calibri" pitchFamily="34" charset="0"/>
                          <a:ea typeface="Calibri" pitchFamily="34" charset="-122"/>
                          <a:cs typeface="Calibri" pitchFamily="34" charset="-120"/>
                        </a:rPr>
                        <a:t>EduMatcher: an in-process replay from a memory buffer</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4"/>
                  </a:ext>
                </a:extLst>
              </a:tr>
              <a:tr h="548640">
                <a:tc>
                  <a:txBody>
                    <a:bodyPr/>
                    <a:lstStyle/>
                    <a:p>
                      <a:pPr marL="0" indent="0">
                        <a:buNone/>
                      </a:pPr>
                      <a:r>
                        <a:rPr lang="en-US" sz="1150" b="1" dirty="0">
                          <a:solidFill>
                            <a:srgbClr val="ECF1F5"/>
                          </a:solidFill>
                          <a:latin typeface="Calibri" pitchFamily="34" charset="0"/>
                          <a:ea typeface="Calibri" pitchFamily="34" charset="-122"/>
                          <a:cs typeface="Calibri" pitchFamily="34" charset="-120"/>
                        </a:rPr>
                        <a:t>Entitlement</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50" dirty="0">
                          <a:solidFill>
                            <a:srgbClr val="97A4AE"/>
                          </a:solidFill>
                          <a:latin typeface="Calibri" pitchFamily="34" charset="0"/>
                          <a:ea typeface="Calibri" pitchFamily="34" charset="-122"/>
                          <a:cs typeface="Calibri" pitchFamily="34" charset="-120"/>
                        </a:rPr>
                        <a:t>Structural — the session itself is provisioned per participant</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50" dirty="0">
                          <a:solidFill>
                            <a:srgbClr val="3FD0C9"/>
                          </a:solidFill>
                          <a:latin typeface="Calibri" pitchFamily="34" charset="0"/>
                          <a:ea typeface="Calibri" pitchFamily="34" charset="-122"/>
                          <a:cs typeface="Calibri" pitchFamily="34" charset="-120"/>
                        </a:rPr>
                        <a:t>EduMatcher: none on the feed; scoping is by topic only</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5"/>
                  </a:ext>
                </a:extLst>
              </a:tr>
            </a:tbl>
          </a:graphicData>
        </a:graphic>
      </p:graphicFrame>
      <p:sp>
        <p:nvSpPr>
          <p:cNvPr id="9" name="Shape 6"/>
          <p:cNvSpPr/>
          <p:nvPr/>
        </p:nvSpPr>
        <p:spPr>
          <a:xfrm>
            <a:off x="685800" y="5486400"/>
            <a:ext cx="10820095" cy="868680"/>
          </a:xfrm>
          <a:prstGeom prst="roundRect">
            <a:avLst>
              <a:gd name="adj" fmla="val 6316"/>
            </a:avLst>
          </a:prstGeom>
          <a:solidFill>
            <a:srgbClr val="252B31"/>
          </a:solidFill>
          <a:ln w="19050">
            <a:solidFill>
              <a:srgbClr val="F0A202"/>
            </a:solidFill>
            <a:prstDash val="solid"/>
          </a:ln>
        </p:spPr>
        <p:txBody>
          <a:bodyPr/>
          <a:lstStyle/>
          <a:p>
            <a:endParaRPr lang="en-SE"/>
          </a:p>
        </p:txBody>
      </p:sp>
      <p:sp>
        <p:nvSpPr>
          <p:cNvPr id="10" name="Shape 7"/>
          <p:cNvSpPr/>
          <p:nvPr/>
        </p:nvSpPr>
        <p:spPr>
          <a:xfrm>
            <a:off x="923544" y="5737860"/>
            <a:ext cx="365760" cy="365760"/>
          </a:xfrm>
          <a:prstGeom prst="roundRect">
            <a:avLst>
              <a:gd name="adj" fmla="val 125000"/>
            </a:avLst>
          </a:prstGeom>
          <a:solidFill>
            <a:srgbClr val="F0A202"/>
          </a:solidFill>
          <a:ln/>
        </p:spPr>
        <p:txBody>
          <a:bodyPr/>
          <a:lstStyle/>
          <a:p>
            <a:endParaRPr lang="en-SE"/>
          </a:p>
        </p:txBody>
      </p:sp>
      <p:sp>
        <p:nvSpPr>
          <p:cNvPr id="11" name="Text 8"/>
          <p:cNvSpPr/>
          <p:nvPr/>
        </p:nvSpPr>
        <p:spPr>
          <a:xfrm>
            <a:off x="923544" y="573786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12" name="Text 9"/>
          <p:cNvSpPr/>
          <p:nvPr/>
        </p:nvSpPr>
        <p:spPr>
          <a:xfrm>
            <a:off x="1453896" y="5632704"/>
            <a:ext cx="9814255" cy="576072"/>
          </a:xfrm>
          <a:prstGeom prst="rect">
            <a:avLst/>
          </a:prstGeom>
          <a:noFill/>
          <a:ln/>
        </p:spPr>
        <p:txBody>
          <a:bodyPr wrap="square" lIns="0" tIns="0" rIns="0" bIns="0" rtlCol="0" anchor="ctr"/>
          <a:lstStyle/>
          <a:p>
            <a:pPr marL="0" indent="0">
              <a:lnSpc>
                <a:spcPct val="110000"/>
              </a:lnSpc>
              <a:buNone/>
            </a:pPr>
            <a:r>
              <a:rPr lang="en-US" sz="1350" b="1" dirty="0">
                <a:solidFill>
                  <a:srgbClr val="F0A202"/>
                </a:solidFill>
                <a:latin typeface="Trebuchet MS" pitchFamily="34" charset="0"/>
                <a:ea typeface="Trebuchet MS" pitchFamily="34" charset="-122"/>
                <a:cs typeface="Trebuchet MS" pitchFamily="34" charset="-120"/>
              </a:rPr>
              <a:t>Which EduMatcher path is the better simulation?</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The ALF relay — a per-participant feed layered on an existing session. The raw port-5557 connection is closer to tapping the wire between the exchange and its drop copy relay: ideal for building tooling, not how a participant would normally be served.</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10454335" y="4572000"/>
            <a:ext cx="237744" cy="237744"/>
          </a:xfrm>
          <a:prstGeom prst="rect">
            <a:avLst/>
          </a:prstGeom>
          <a:solidFill>
            <a:srgbClr val="F0A202"/>
          </a:solidFill>
          <a:ln/>
        </p:spPr>
        <p:txBody>
          <a:bodyPr/>
          <a:lstStyle/>
          <a:p>
            <a:endParaRPr lang="en-SE"/>
          </a:p>
        </p:txBody>
      </p:sp>
      <p:sp>
        <p:nvSpPr>
          <p:cNvPr id="3" name="Shape 1"/>
          <p:cNvSpPr/>
          <p:nvPr/>
        </p:nvSpPr>
        <p:spPr>
          <a:xfrm>
            <a:off x="10838383" y="4572000"/>
            <a:ext cx="237744" cy="237744"/>
          </a:xfrm>
          <a:prstGeom prst="rect">
            <a:avLst/>
          </a:prstGeom>
          <a:solidFill>
            <a:srgbClr val="2E353C"/>
          </a:solidFill>
          <a:ln/>
        </p:spPr>
        <p:txBody>
          <a:bodyPr/>
          <a:lstStyle/>
          <a:p>
            <a:endParaRPr lang="en-SE"/>
          </a:p>
        </p:txBody>
      </p:sp>
      <p:sp>
        <p:nvSpPr>
          <p:cNvPr id="4" name="Shape 2"/>
          <p:cNvSpPr/>
          <p:nvPr/>
        </p:nvSpPr>
        <p:spPr>
          <a:xfrm>
            <a:off x="11222431" y="4572000"/>
            <a:ext cx="237744" cy="237744"/>
          </a:xfrm>
          <a:prstGeom prst="rect">
            <a:avLst/>
          </a:prstGeom>
          <a:solidFill>
            <a:srgbClr val="2E353C"/>
          </a:solidFill>
          <a:ln/>
        </p:spPr>
        <p:txBody>
          <a:bodyPr/>
          <a:lstStyle/>
          <a:p>
            <a:endParaRPr lang="en-SE"/>
          </a:p>
        </p:txBody>
      </p:sp>
      <p:sp>
        <p:nvSpPr>
          <p:cNvPr id="5" name="Shape 3"/>
          <p:cNvSpPr/>
          <p:nvPr/>
        </p:nvSpPr>
        <p:spPr>
          <a:xfrm>
            <a:off x="10454335" y="4956048"/>
            <a:ext cx="237744" cy="237744"/>
          </a:xfrm>
          <a:prstGeom prst="rect">
            <a:avLst/>
          </a:prstGeom>
          <a:solidFill>
            <a:srgbClr val="3FD0C9"/>
          </a:solidFill>
          <a:ln/>
        </p:spPr>
        <p:txBody>
          <a:bodyPr/>
          <a:lstStyle/>
          <a:p>
            <a:endParaRPr lang="en-SE"/>
          </a:p>
        </p:txBody>
      </p:sp>
      <p:sp>
        <p:nvSpPr>
          <p:cNvPr id="6" name="Shape 4"/>
          <p:cNvSpPr/>
          <p:nvPr/>
        </p:nvSpPr>
        <p:spPr>
          <a:xfrm>
            <a:off x="10838383" y="4956048"/>
            <a:ext cx="237744" cy="237744"/>
          </a:xfrm>
          <a:prstGeom prst="rect">
            <a:avLst/>
          </a:prstGeom>
          <a:solidFill>
            <a:srgbClr val="F0A202"/>
          </a:solidFill>
          <a:ln/>
        </p:spPr>
        <p:txBody>
          <a:bodyPr/>
          <a:lstStyle/>
          <a:p>
            <a:endParaRPr lang="en-SE"/>
          </a:p>
        </p:txBody>
      </p:sp>
      <p:sp>
        <p:nvSpPr>
          <p:cNvPr id="7" name="Shape 5"/>
          <p:cNvSpPr/>
          <p:nvPr/>
        </p:nvSpPr>
        <p:spPr>
          <a:xfrm>
            <a:off x="11222431" y="4956048"/>
            <a:ext cx="237744" cy="237744"/>
          </a:xfrm>
          <a:prstGeom prst="rect">
            <a:avLst/>
          </a:prstGeom>
          <a:solidFill>
            <a:srgbClr val="2E353C"/>
          </a:solidFill>
          <a:ln/>
        </p:spPr>
        <p:txBody>
          <a:bodyPr/>
          <a:lstStyle/>
          <a:p>
            <a:endParaRPr lang="en-SE"/>
          </a:p>
        </p:txBody>
      </p:sp>
      <p:sp>
        <p:nvSpPr>
          <p:cNvPr id="8" name="Text 6"/>
          <p:cNvSpPr/>
          <p:nvPr/>
        </p:nvSpPr>
        <p:spPr>
          <a:xfrm>
            <a:off x="685800" y="1417320"/>
            <a:ext cx="2743200" cy="1737360"/>
          </a:xfrm>
          <a:prstGeom prst="rect">
            <a:avLst/>
          </a:prstGeom>
          <a:noFill/>
          <a:ln/>
        </p:spPr>
        <p:txBody>
          <a:bodyPr wrap="square" lIns="0" tIns="0" rIns="0" bIns="0" rtlCol="0" anchor="ctr"/>
          <a:lstStyle/>
          <a:p>
            <a:pPr marL="0" indent="0">
              <a:buNone/>
            </a:pPr>
            <a:r>
              <a:rPr lang="en-US" sz="11000" b="1" dirty="0">
                <a:solidFill>
                  <a:srgbClr val="2E353C"/>
                </a:solidFill>
                <a:latin typeface="Trebuchet MS" pitchFamily="34" charset="0"/>
                <a:ea typeface="Trebuchet MS" pitchFamily="34" charset="-122"/>
                <a:cs typeface="Trebuchet MS" pitchFamily="34" charset="-120"/>
              </a:rPr>
              <a:t>06</a:t>
            </a:r>
            <a:endParaRPr lang="en-US" sz="11000" dirty="0"/>
          </a:p>
        </p:txBody>
      </p:sp>
      <p:sp>
        <p:nvSpPr>
          <p:cNvPr id="9" name="Text 7"/>
          <p:cNvSpPr/>
          <p:nvPr/>
        </p:nvSpPr>
        <p:spPr>
          <a:xfrm>
            <a:off x="2606040" y="1600200"/>
            <a:ext cx="8579815" cy="1371600"/>
          </a:xfrm>
          <a:prstGeom prst="rect">
            <a:avLst/>
          </a:prstGeom>
          <a:noFill/>
          <a:ln/>
        </p:spPr>
        <p:txBody>
          <a:bodyPr wrap="square" lIns="0" tIns="0" rIns="0" bIns="0" rtlCol="0" anchor="ctr"/>
          <a:lstStyle/>
          <a:p>
            <a:pPr marL="0" indent="0">
              <a:buNone/>
            </a:pPr>
            <a:r>
              <a:rPr lang="en-US" sz="4000" b="1" dirty="0">
                <a:solidFill>
                  <a:srgbClr val="ECF1F5"/>
                </a:solidFill>
                <a:latin typeface="Trebuchet MS" pitchFamily="34" charset="0"/>
                <a:ea typeface="Trebuchet MS" pitchFamily="34" charset="-122"/>
                <a:cs typeface="Trebuchet MS" pitchFamily="34" charset="-120"/>
              </a:rPr>
              <a:t>How does a client use the DC Gateway?</a:t>
            </a:r>
            <a:endParaRPr lang="en-US" sz="4000" dirty="0"/>
          </a:p>
        </p:txBody>
      </p:sp>
      <p:sp>
        <p:nvSpPr>
          <p:cNvPr id="10" name="Text 8"/>
          <p:cNvSpPr/>
          <p:nvPr/>
        </p:nvSpPr>
        <p:spPr>
          <a:xfrm>
            <a:off x="2651760" y="3017520"/>
            <a:ext cx="7680960" cy="822960"/>
          </a:xfrm>
          <a:prstGeom prst="rect">
            <a:avLst/>
          </a:prstGeom>
          <a:noFill/>
          <a:ln/>
        </p:spPr>
        <p:txBody>
          <a:bodyPr wrap="square" lIns="0" tIns="0" rIns="0" bIns="0" rtlCol="0" anchor="t"/>
          <a:lstStyle/>
          <a:p>
            <a:pPr marL="0" indent="0">
              <a:lnSpc>
                <a:spcPct val="115000"/>
              </a:lnSpc>
              <a:buNone/>
            </a:pPr>
            <a:r>
              <a:rPr lang="en-US" sz="1500" dirty="0">
                <a:solidFill>
                  <a:srgbClr val="97A4AE"/>
                </a:solidFill>
                <a:latin typeface="Calibri" pitchFamily="34" charset="0"/>
                <a:ea typeface="Calibri" pitchFamily="34" charset="-122"/>
                <a:cs typeface="Calibri" pitchFamily="34" charset="-120"/>
              </a:rPr>
              <a:t>A gateway is a door: it translates an internal feed into a protocol an outside system can actually speak.</a:t>
            </a:r>
            <a:endParaRPr lang="en-US" sz="1500" dirty="0"/>
          </a:p>
        </p:txBody>
      </p:sp>
      <p:sp>
        <p:nvSpPr>
          <p:cNvPr id="11" name="Shape 9"/>
          <p:cNvSpPr/>
          <p:nvPr/>
        </p:nvSpPr>
        <p:spPr>
          <a:xfrm>
            <a:off x="2651760" y="4142232"/>
            <a:ext cx="128016" cy="128016"/>
          </a:xfrm>
          <a:prstGeom prst="rect">
            <a:avLst/>
          </a:prstGeom>
          <a:solidFill>
            <a:srgbClr val="3FD0C9"/>
          </a:solidFill>
          <a:ln/>
        </p:spPr>
        <p:txBody>
          <a:bodyPr/>
          <a:lstStyle/>
          <a:p>
            <a:endParaRPr lang="en-SE"/>
          </a:p>
        </p:txBody>
      </p:sp>
      <p:sp>
        <p:nvSpPr>
          <p:cNvPr id="12" name="Text 10"/>
          <p:cNvSpPr/>
          <p:nvPr/>
        </p:nvSpPr>
        <p:spPr>
          <a:xfrm>
            <a:off x="2971800" y="4041648"/>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What a gateway is for</a:t>
            </a:r>
            <a:endParaRPr lang="en-US" sz="1250" dirty="0"/>
          </a:p>
        </p:txBody>
      </p:sp>
      <p:sp>
        <p:nvSpPr>
          <p:cNvPr id="13" name="Shape 11"/>
          <p:cNvSpPr/>
          <p:nvPr/>
        </p:nvSpPr>
        <p:spPr>
          <a:xfrm>
            <a:off x="2651760" y="4526280"/>
            <a:ext cx="128016" cy="128016"/>
          </a:xfrm>
          <a:prstGeom prst="rect">
            <a:avLst/>
          </a:prstGeom>
          <a:solidFill>
            <a:srgbClr val="3FD0C9"/>
          </a:solidFill>
          <a:ln/>
        </p:spPr>
        <p:txBody>
          <a:bodyPr/>
          <a:lstStyle/>
          <a:p>
            <a:endParaRPr lang="en-SE"/>
          </a:p>
        </p:txBody>
      </p:sp>
      <p:sp>
        <p:nvSpPr>
          <p:cNvPr id="14" name="Text 12"/>
          <p:cNvSpPr/>
          <p:nvPr/>
        </p:nvSpPr>
        <p:spPr>
          <a:xfrm>
            <a:off x="2971800" y="4425696"/>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pm-dc-gwy topology</a:t>
            </a:r>
            <a:endParaRPr lang="en-US" sz="1250" dirty="0"/>
          </a:p>
        </p:txBody>
      </p:sp>
      <p:sp>
        <p:nvSpPr>
          <p:cNvPr id="15" name="Shape 13"/>
          <p:cNvSpPr/>
          <p:nvPr/>
        </p:nvSpPr>
        <p:spPr>
          <a:xfrm>
            <a:off x="2651760" y="4910328"/>
            <a:ext cx="128016" cy="128016"/>
          </a:xfrm>
          <a:prstGeom prst="rect">
            <a:avLst/>
          </a:prstGeom>
          <a:solidFill>
            <a:srgbClr val="3FD0C9"/>
          </a:solidFill>
          <a:ln/>
        </p:spPr>
        <p:txBody>
          <a:bodyPr/>
          <a:lstStyle/>
          <a:p>
            <a:endParaRPr lang="en-SE"/>
          </a:p>
        </p:txBody>
      </p:sp>
      <p:sp>
        <p:nvSpPr>
          <p:cNvPr id="16" name="Text 14"/>
          <p:cNvSpPr/>
          <p:nvPr/>
        </p:nvSpPr>
        <p:spPr>
          <a:xfrm>
            <a:off x="2971800" y="4809744"/>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session handshake</a:t>
            </a:r>
            <a:endParaRPr lang="en-US" sz="1250" dirty="0"/>
          </a:p>
        </p:txBody>
      </p:sp>
      <p:sp>
        <p:nvSpPr>
          <p:cNvPr id="17" name="Shape 15"/>
          <p:cNvSpPr/>
          <p:nvPr/>
        </p:nvSpPr>
        <p:spPr>
          <a:xfrm>
            <a:off x="2651760" y="5294376"/>
            <a:ext cx="128016" cy="128016"/>
          </a:xfrm>
          <a:prstGeom prst="rect">
            <a:avLst/>
          </a:prstGeom>
          <a:solidFill>
            <a:srgbClr val="3FD0C9"/>
          </a:solidFill>
          <a:ln/>
        </p:spPr>
        <p:txBody>
          <a:bodyPr/>
          <a:lstStyle/>
          <a:p>
            <a:endParaRPr lang="en-SE"/>
          </a:p>
        </p:txBody>
      </p:sp>
      <p:sp>
        <p:nvSpPr>
          <p:cNvPr id="18" name="Text 16"/>
          <p:cNvSpPr/>
          <p:nvPr/>
        </p:nvSpPr>
        <p:spPr>
          <a:xfrm>
            <a:off x="2971800" y="5193792"/>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DC1 message set</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06 · DC GATEWAY</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31</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WHAT A GATEWAY IS FOR</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Three jobs, in every gateway you will meet</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Before the specifics of pm-dc-gwy, the general idea — because the same pattern repeats across ALF, BALF, CALF and RALF.</a:t>
            </a:r>
            <a:endParaRPr lang="en-US" sz="1450" dirty="0"/>
          </a:p>
        </p:txBody>
      </p:sp>
      <p:sp>
        <p:nvSpPr>
          <p:cNvPr id="8" name="Shape 6"/>
          <p:cNvSpPr/>
          <p:nvPr/>
        </p:nvSpPr>
        <p:spPr>
          <a:xfrm>
            <a:off x="685800" y="2286000"/>
            <a:ext cx="3423818" cy="1920240"/>
          </a:xfrm>
          <a:prstGeom prst="roundRect">
            <a:avLst>
              <a:gd name="adj" fmla="val 2857"/>
            </a:avLst>
          </a:prstGeom>
          <a:solidFill>
            <a:srgbClr val="252B31"/>
          </a:solidFill>
          <a:ln w="12700">
            <a:solidFill>
              <a:srgbClr val="3A434B"/>
            </a:solidFill>
            <a:prstDash val="solid"/>
          </a:ln>
        </p:spPr>
        <p:txBody>
          <a:bodyPr/>
          <a:lstStyle/>
          <a:p>
            <a:endParaRPr lang="en-SE"/>
          </a:p>
        </p:txBody>
      </p:sp>
      <p:sp>
        <p:nvSpPr>
          <p:cNvPr id="9" name="Shape 7"/>
          <p:cNvSpPr/>
          <p:nvPr/>
        </p:nvSpPr>
        <p:spPr>
          <a:xfrm>
            <a:off x="941832" y="2542032"/>
            <a:ext cx="384048" cy="384048"/>
          </a:xfrm>
          <a:prstGeom prst="roundRect">
            <a:avLst>
              <a:gd name="adj" fmla="val 119048"/>
            </a:avLst>
          </a:prstGeom>
          <a:solidFill>
            <a:srgbClr val="F0A202"/>
          </a:solidFill>
          <a:ln/>
        </p:spPr>
        <p:txBody>
          <a:bodyPr/>
          <a:lstStyle/>
          <a:p>
            <a:endParaRPr lang="en-SE"/>
          </a:p>
        </p:txBody>
      </p:sp>
      <p:sp>
        <p:nvSpPr>
          <p:cNvPr id="10" name="Text 8"/>
          <p:cNvSpPr/>
          <p:nvPr/>
        </p:nvSpPr>
        <p:spPr>
          <a:xfrm>
            <a:off x="941832" y="2542032"/>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1</a:t>
            </a:r>
            <a:endParaRPr lang="en-US" sz="1300" dirty="0"/>
          </a:p>
        </p:txBody>
      </p:sp>
      <p:sp>
        <p:nvSpPr>
          <p:cNvPr id="11" name="Text 9"/>
          <p:cNvSpPr/>
          <p:nvPr/>
        </p:nvSpPr>
        <p:spPr>
          <a:xfrm>
            <a:off x="941832" y="3108960"/>
            <a:ext cx="2911754" cy="310896"/>
          </a:xfrm>
          <a:prstGeom prst="rect">
            <a:avLst/>
          </a:prstGeom>
          <a:noFill/>
          <a:ln/>
        </p:spPr>
        <p:txBody>
          <a:bodyPr wrap="square" lIns="0" tIns="0" rIns="0" bIns="0" rtlCol="0" anchor="t"/>
          <a:lstStyle/>
          <a:p>
            <a:pPr marL="0" indent="0">
              <a:buNone/>
            </a:pPr>
            <a:r>
              <a:rPr lang="en-US" sz="1550" b="1" dirty="0">
                <a:solidFill>
                  <a:srgbClr val="F0A202"/>
                </a:solidFill>
                <a:latin typeface="Trebuchet MS" pitchFamily="34" charset="0"/>
                <a:ea typeface="Trebuchet MS" pitchFamily="34" charset="-122"/>
                <a:cs typeface="Trebuchet MS" pitchFamily="34" charset="-120"/>
              </a:rPr>
              <a:t>Translate the protocol</a:t>
            </a:r>
            <a:endParaRPr lang="en-US" sz="1550" dirty="0"/>
          </a:p>
        </p:txBody>
      </p:sp>
      <p:sp>
        <p:nvSpPr>
          <p:cNvPr id="12" name="Text 10"/>
          <p:cNvSpPr/>
          <p:nvPr/>
        </p:nvSpPr>
        <p:spPr>
          <a:xfrm>
            <a:off x="941832" y="3493008"/>
            <a:ext cx="2911754" cy="54864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Inside, the exchange speaks its own message bus. Outside, clients speak plain TCP text. A gateway converts between the two so neither side has to change.</a:t>
            </a:r>
            <a:endParaRPr lang="en-US" sz="1250" dirty="0"/>
          </a:p>
        </p:txBody>
      </p:sp>
      <p:sp>
        <p:nvSpPr>
          <p:cNvPr id="13" name="Shape 11"/>
          <p:cNvSpPr/>
          <p:nvPr/>
        </p:nvSpPr>
        <p:spPr>
          <a:xfrm>
            <a:off x="4383938" y="2286000"/>
            <a:ext cx="3423818" cy="1920240"/>
          </a:xfrm>
          <a:prstGeom prst="roundRect">
            <a:avLst>
              <a:gd name="adj" fmla="val 2857"/>
            </a:avLst>
          </a:prstGeom>
          <a:solidFill>
            <a:srgbClr val="252B31"/>
          </a:solidFill>
          <a:ln w="12700">
            <a:solidFill>
              <a:srgbClr val="3A434B"/>
            </a:solidFill>
            <a:prstDash val="solid"/>
          </a:ln>
        </p:spPr>
        <p:txBody>
          <a:bodyPr/>
          <a:lstStyle/>
          <a:p>
            <a:endParaRPr lang="en-SE"/>
          </a:p>
        </p:txBody>
      </p:sp>
      <p:sp>
        <p:nvSpPr>
          <p:cNvPr id="14" name="Shape 12"/>
          <p:cNvSpPr/>
          <p:nvPr/>
        </p:nvSpPr>
        <p:spPr>
          <a:xfrm>
            <a:off x="4639970" y="2542032"/>
            <a:ext cx="384048" cy="384048"/>
          </a:xfrm>
          <a:prstGeom prst="roundRect">
            <a:avLst>
              <a:gd name="adj" fmla="val 119048"/>
            </a:avLst>
          </a:prstGeom>
          <a:solidFill>
            <a:srgbClr val="3FD0C9"/>
          </a:solidFill>
          <a:ln/>
        </p:spPr>
        <p:txBody>
          <a:bodyPr/>
          <a:lstStyle/>
          <a:p>
            <a:endParaRPr lang="en-SE"/>
          </a:p>
        </p:txBody>
      </p:sp>
      <p:sp>
        <p:nvSpPr>
          <p:cNvPr id="15" name="Text 13"/>
          <p:cNvSpPr/>
          <p:nvPr/>
        </p:nvSpPr>
        <p:spPr>
          <a:xfrm>
            <a:off x="4639970" y="2542032"/>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2</a:t>
            </a:r>
            <a:endParaRPr lang="en-US" sz="1300" dirty="0"/>
          </a:p>
        </p:txBody>
      </p:sp>
      <p:sp>
        <p:nvSpPr>
          <p:cNvPr id="16" name="Text 14"/>
          <p:cNvSpPr/>
          <p:nvPr/>
        </p:nvSpPr>
        <p:spPr>
          <a:xfrm>
            <a:off x="4639970" y="3108960"/>
            <a:ext cx="2911754" cy="310896"/>
          </a:xfrm>
          <a:prstGeom prst="rect">
            <a:avLst/>
          </a:prstGeom>
          <a:noFill/>
          <a:ln/>
        </p:spPr>
        <p:txBody>
          <a:bodyPr wrap="square" lIns="0" tIns="0" rIns="0" bIns="0" rtlCol="0" anchor="t"/>
          <a:lstStyle/>
          <a:p>
            <a:pPr marL="0" indent="0">
              <a:buNone/>
            </a:pPr>
            <a:r>
              <a:rPr lang="en-US" sz="1550" b="1" dirty="0">
                <a:solidFill>
                  <a:srgbClr val="3FD0C9"/>
                </a:solidFill>
                <a:latin typeface="Trebuchet MS" pitchFamily="34" charset="0"/>
                <a:ea typeface="Trebuchet MS" pitchFamily="34" charset="-122"/>
                <a:cs typeface="Trebuchet MS" pitchFamily="34" charset="-120"/>
              </a:rPr>
              <a:t>Manage the session</a:t>
            </a:r>
            <a:endParaRPr lang="en-US" sz="1550" dirty="0"/>
          </a:p>
        </p:txBody>
      </p:sp>
      <p:sp>
        <p:nvSpPr>
          <p:cNvPr id="17" name="Text 15"/>
          <p:cNvSpPr/>
          <p:nvPr/>
        </p:nvSpPr>
        <p:spPr>
          <a:xfrm>
            <a:off x="4639970" y="3493008"/>
            <a:ext cx="2911754" cy="54864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Connections need a handshake, heartbeats, an idle policy and a clean disconnect. The gateway owns all of that so the feed itself stays simple.</a:t>
            </a:r>
            <a:endParaRPr lang="en-US" sz="1250" dirty="0"/>
          </a:p>
        </p:txBody>
      </p:sp>
      <p:sp>
        <p:nvSpPr>
          <p:cNvPr id="18" name="Shape 16"/>
          <p:cNvSpPr/>
          <p:nvPr/>
        </p:nvSpPr>
        <p:spPr>
          <a:xfrm>
            <a:off x="8082077" y="2286000"/>
            <a:ext cx="3423818" cy="1920240"/>
          </a:xfrm>
          <a:prstGeom prst="roundRect">
            <a:avLst>
              <a:gd name="adj" fmla="val 2857"/>
            </a:avLst>
          </a:prstGeom>
          <a:solidFill>
            <a:srgbClr val="252B31"/>
          </a:solidFill>
          <a:ln w="12700">
            <a:solidFill>
              <a:srgbClr val="3A434B"/>
            </a:solidFill>
            <a:prstDash val="solid"/>
          </a:ln>
        </p:spPr>
        <p:txBody>
          <a:bodyPr/>
          <a:lstStyle/>
          <a:p>
            <a:endParaRPr lang="en-SE"/>
          </a:p>
        </p:txBody>
      </p:sp>
      <p:sp>
        <p:nvSpPr>
          <p:cNvPr id="19" name="Shape 17"/>
          <p:cNvSpPr/>
          <p:nvPr/>
        </p:nvSpPr>
        <p:spPr>
          <a:xfrm>
            <a:off x="8338109" y="2542032"/>
            <a:ext cx="384048" cy="384048"/>
          </a:xfrm>
          <a:prstGeom prst="roundRect">
            <a:avLst>
              <a:gd name="adj" fmla="val 119048"/>
            </a:avLst>
          </a:prstGeom>
          <a:solidFill>
            <a:srgbClr val="9B8CFF"/>
          </a:solidFill>
          <a:ln/>
        </p:spPr>
        <p:txBody>
          <a:bodyPr/>
          <a:lstStyle/>
          <a:p>
            <a:endParaRPr lang="en-SE"/>
          </a:p>
        </p:txBody>
      </p:sp>
      <p:sp>
        <p:nvSpPr>
          <p:cNvPr id="20" name="Text 18"/>
          <p:cNvSpPr/>
          <p:nvPr/>
        </p:nvSpPr>
        <p:spPr>
          <a:xfrm>
            <a:off x="8338109" y="2542032"/>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3</a:t>
            </a:r>
            <a:endParaRPr lang="en-US" sz="1300" dirty="0"/>
          </a:p>
        </p:txBody>
      </p:sp>
      <p:sp>
        <p:nvSpPr>
          <p:cNvPr id="21" name="Text 19"/>
          <p:cNvSpPr/>
          <p:nvPr/>
        </p:nvSpPr>
        <p:spPr>
          <a:xfrm>
            <a:off x="8338109" y="3108960"/>
            <a:ext cx="2911754" cy="310896"/>
          </a:xfrm>
          <a:prstGeom prst="rect">
            <a:avLst/>
          </a:prstGeom>
          <a:noFill/>
          <a:ln/>
        </p:spPr>
        <p:txBody>
          <a:bodyPr wrap="square" lIns="0" tIns="0" rIns="0" bIns="0" rtlCol="0" anchor="t"/>
          <a:lstStyle/>
          <a:p>
            <a:pPr marL="0" indent="0">
              <a:buNone/>
            </a:pPr>
            <a:r>
              <a:rPr lang="en-US" sz="1550" b="1" dirty="0">
                <a:solidFill>
                  <a:srgbClr val="9B8CFF"/>
                </a:solidFill>
                <a:latin typeface="Trebuchet MS" pitchFamily="34" charset="0"/>
                <a:ea typeface="Trebuchet MS" pitchFamily="34" charset="-122"/>
                <a:cs typeface="Trebuchet MS" pitchFamily="34" charset="-120"/>
              </a:rPr>
              <a:t>Protect the core</a:t>
            </a:r>
            <a:endParaRPr lang="en-US" sz="1550" dirty="0"/>
          </a:p>
        </p:txBody>
      </p:sp>
      <p:sp>
        <p:nvSpPr>
          <p:cNvPr id="22" name="Text 20"/>
          <p:cNvSpPr/>
          <p:nvPr/>
        </p:nvSpPr>
        <p:spPr>
          <a:xfrm>
            <a:off x="8338109" y="3493008"/>
            <a:ext cx="2911754" cy="54864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It absorbs slow clients, bad input and disconnects at the edge, keeping that behaviour away from the matching engine.</a:t>
            </a:r>
            <a:endParaRPr lang="en-US" sz="1250" dirty="0"/>
          </a:p>
        </p:txBody>
      </p:sp>
      <p:sp>
        <p:nvSpPr>
          <p:cNvPr id="23" name="Shape 21"/>
          <p:cNvSpPr/>
          <p:nvPr/>
        </p:nvSpPr>
        <p:spPr>
          <a:xfrm>
            <a:off x="685800" y="4480560"/>
            <a:ext cx="10820095" cy="1371600"/>
          </a:xfrm>
          <a:prstGeom prst="roundRect">
            <a:avLst>
              <a:gd name="adj" fmla="val 4000"/>
            </a:avLst>
          </a:prstGeom>
          <a:solidFill>
            <a:srgbClr val="252B31"/>
          </a:solidFill>
          <a:ln w="12700">
            <a:solidFill>
              <a:srgbClr val="3A434B"/>
            </a:solidFill>
            <a:prstDash val="solid"/>
          </a:ln>
        </p:spPr>
        <p:txBody>
          <a:bodyPr/>
          <a:lstStyle/>
          <a:p>
            <a:endParaRPr lang="en-SE"/>
          </a:p>
        </p:txBody>
      </p:sp>
      <p:sp>
        <p:nvSpPr>
          <p:cNvPr id="24" name="Text 22"/>
          <p:cNvSpPr/>
          <p:nvPr/>
        </p:nvSpPr>
        <p:spPr>
          <a:xfrm>
            <a:off x="1005840" y="4617720"/>
            <a:ext cx="3657600" cy="365760"/>
          </a:xfrm>
          <a:prstGeom prst="rect">
            <a:avLst/>
          </a:prstGeom>
          <a:noFill/>
          <a:ln/>
        </p:spPr>
        <p:txBody>
          <a:bodyPr wrap="square" lIns="0" tIns="0" rIns="0" bIns="0" rtlCol="0" anchor="ctr"/>
          <a:lstStyle/>
          <a:p>
            <a:pPr marL="0" indent="0">
              <a:buNone/>
            </a:pPr>
            <a:r>
              <a:rPr lang="en-US" sz="1600" b="1" dirty="0">
                <a:solidFill>
                  <a:srgbClr val="ECF1F5"/>
                </a:solidFill>
                <a:latin typeface="Trebuchet MS" pitchFamily="34" charset="0"/>
                <a:ea typeface="Trebuchet MS" pitchFamily="34" charset="-122"/>
                <a:cs typeface="Trebuchet MS" pitchFamily="34" charset="-120"/>
              </a:rPr>
              <a:t>Applied to Drop Copy</a:t>
            </a:r>
            <a:endParaRPr lang="en-US" sz="1600" dirty="0"/>
          </a:p>
        </p:txBody>
      </p:sp>
      <p:sp>
        <p:nvSpPr>
          <p:cNvPr id="25" name="Text 23"/>
          <p:cNvSpPr/>
          <p:nvPr/>
        </p:nvSpPr>
        <p:spPr>
          <a:xfrm>
            <a:off x="1005840" y="4983480"/>
            <a:ext cx="10180015" cy="777240"/>
          </a:xfrm>
          <a:prstGeom prst="rect">
            <a:avLst/>
          </a:prstGeom>
          <a:noFill/>
          <a:ln/>
        </p:spPr>
        <p:txBody>
          <a:bodyPr wrap="square" lIns="0" tIns="0" rIns="0" bIns="0" rtlCol="0" anchor="t"/>
          <a:lstStyle/>
          <a:p>
            <a:pPr marL="0" indent="0">
              <a:lnSpc>
                <a:spcPct val="112000"/>
              </a:lnSpc>
              <a:buNone/>
            </a:pPr>
            <a:r>
              <a:rPr lang="en-US" sz="1300" dirty="0">
                <a:solidFill>
                  <a:srgbClr val="97A4AE"/>
                </a:solidFill>
                <a:latin typeface="Calibri" pitchFamily="34" charset="0"/>
                <a:ea typeface="Calibri" pitchFamily="34" charset="-122"/>
                <a:cs typeface="Calibri" pitchFamily="34" charset="-120"/>
              </a:rPr>
              <a:t>pm-dc-gwy subscribes to the engine's drop copy feed on your behalf and relays it as DC1 text lines to any number of connected TCP clients — each scoped to whichever gateway id it asked for at connect time. It is deliberately the simplest protocol in the system: there is exactly one thing a client can ask for.</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06 · DC GATEWAY</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32</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TOPOLOGY</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One subscription in, many clients out</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The gateway holds a single internal subscription per gateway id and fans it out — clients watching the same participant share it.</a:t>
            </a:r>
            <a:endParaRPr lang="en-US" sz="1450" dirty="0"/>
          </a:p>
        </p:txBody>
      </p:sp>
      <p:sp>
        <p:nvSpPr>
          <p:cNvPr id="8" name="Shape 6"/>
          <p:cNvSpPr/>
          <p:nvPr/>
        </p:nvSpPr>
        <p:spPr>
          <a:xfrm>
            <a:off x="685800" y="2880360"/>
            <a:ext cx="2240280" cy="1143000"/>
          </a:xfrm>
          <a:prstGeom prst="roundRect">
            <a:avLst>
              <a:gd name="adj" fmla="val 6400"/>
            </a:avLst>
          </a:prstGeom>
          <a:solidFill>
            <a:srgbClr val="252B31"/>
          </a:solidFill>
          <a:ln w="25400">
            <a:solidFill>
              <a:srgbClr val="F0A202"/>
            </a:solidFill>
            <a:prstDash val="solid"/>
          </a:ln>
        </p:spPr>
        <p:txBody>
          <a:bodyPr/>
          <a:lstStyle/>
          <a:p>
            <a:endParaRPr lang="en-SE"/>
          </a:p>
        </p:txBody>
      </p:sp>
      <p:sp>
        <p:nvSpPr>
          <p:cNvPr id="9" name="Text 7"/>
          <p:cNvSpPr/>
          <p:nvPr/>
        </p:nvSpPr>
        <p:spPr>
          <a:xfrm>
            <a:off x="777240" y="2880360"/>
            <a:ext cx="2057400" cy="1143000"/>
          </a:xfrm>
          <a:prstGeom prst="rect">
            <a:avLst/>
          </a:prstGeom>
          <a:noFill/>
          <a:ln/>
        </p:spPr>
        <p:txBody>
          <a:bodyPr wrap="square" lIns="0" tIns="0" rIns="0" bIns="0" rtlCol="0" anchor="ctr"/>
          <a:lstStyle/>
          <a:p>
            <a:pPr marL="0" indent="0" algn="ctr">
              <a:lnSpc>
                <a:spcPct val="112000"/>
              </a:lnSpc>
              <a:buNone/>
            </a:pPr>
            <a:r>
              <a:rPr lang="en-US" sz="1350" b="1" dirty="0">
                <a:solidFill>
                  <a:srgbClr val="F0A202"/>
                </a:solidFill>
                <a:latin typeface="Trebuchet MS" pitchFamily="34" charset="0"/>
                <a:ea typeface="Trebuchet MS" pitchFamily="34" charset="-122"/>
                <a:cs typeface="Trebuchet MS" pitchFamily="34" charset="-120"/>
              </a:rPr>
              <a:t>pm-engine</a:t>
            </a:r>
            <a:endParaRPr lang="en-US" sz="1350" dirty="0"/>
          </a:p>
          <a:p>
            <a:pPr marL="0" indent="0" algn="ctr">
              <a:lnSpc>
                <a:spcPct val="112000"/>
              </a:lnSpc>
              <a:buNone/>
            </a:pPr>
            <a:r>
              <a:rPr lang="en-US" sz="1000" dirty="0">
                <a:solidFill>
                  <a:srgbClr val="97A4AE"/>
                </a:solidFill>
                <a:latin typeface="Consolas" pitchFamily="34" charset="0"/>
                <a:ea typeface="Consolas" pitchFamily="34" charset="-122"/>
                <a:cs typeface="Consolas" pitchFamily="34" charset="-120"/>
              </a:rPr>
              <a:t>PUB :5557</a:t>
            </a:r>
            <a:endParaRPr lang="en-US" sz="1350" dirty="0"/>
          </a:p>
        </p:txBody>
      </p:sp>
      <p:sp>
        <p:nvSpPr>
          <p:cNvPr id="10" name="Shape 8"/>
          <p:cNvSpPr/>
          <p:nvPr/>
        </p:nvSpPr>
        <p:spPr>
          <a:xfrm>
            <a:off x="3017520" y="3456432"/>
            <a:ext cx="640080" cy="0"/>
          </a:xfrm>
          <a:prstGeom prst="line">
            <a:avLst/>
          </a:prstGeom>
          <a:noFill/>
          <a:ln w="22225">
            <a:solidFill>
              <a:srgbClr val="F0A202"/>
            </a:solidFill>
            <a:prstDash val="solid"/>
            <a:tailEnd type="triangle"/>
          </a:ln>
        </p:spPr>
        <p:txBody>
          <a:bodyPr/>
          <a:lstStyle/>
          <a:p>
            <a:endParaRPr lang="en-SE"/>
          </a:p>
        </p:txBody>
      </p:sp>
      <p:sp>
        <p:nvSpPr>
          <p:cNvPr id="11" name="Shape 9"/>
          <p:cNvSpPr/>
          <p:nvPr/>
        </p:nvSpPr>
        <p:spPr>
          <a:xfrm>
            <a:off x="3749040" y="2194560"/>
            <a:ext cx="3794760" cy="2606040"/>
          </a:xfrm>
          <a:prstGeom prst="roundRect">
            <a:avLst>
              <a:gd name="adj" fmla="val 2105"/>
            </a:avLst>
          </a:prstGeom>
          <a:solidFill>
            <a:srgbClr val="141719"/>
          </a:solidFill>
          <a:ln w="12700">
            <a:solidFill>
              <a:srgbClr val="3FD0C9"/>
            </a:solidFill>
            <a:prstDash val="solid"/>
          </a:ln>
        </p:spPr>
        <p:txBody>
          <a:bodyPr/>
          <a:lstStyle/>
          <a:p>
            <a:endParaRPr lang="en-SE"/>
          </a:p>
        </p:txBody>
      </p:sp>
      <p:sp>
        <p:nvSpPr>
          <p:cNvPr id="12" name="Text 10"/>
          <p:cNvSpPr/>
          <p:nvPr/>
        </p:nvSpPr>
        <p:spPr>
          <a:xfrm>
            <a:off x="3931920" y="2331720"/>
            <a:ext cx="3474720" cy="320040"/>
          </a:xfrm>
          <a:prstGeom prst="rect">
            <a:avLst/>
          </a:prstGeom>
          <a:noFill/>
          <a:ln/>
        </p:spPr>
        <p:txBody>
          <a:bodyPr wrap="square" lIns="0" tIns="0" rIns="0" bIns="0" rtlCol="0" anchor="ctr"/>
          <a:lstStyle/>
          <a:p>
            <a:pPr marL="0" indent="0">
              <a:buNone/>
            </a:pPr>
            <a:r>
              <a:rPr lang="en-US" sz="1400" b="1" dirty="0">
                <a:solidFill>
                  <a:srgbClr val="3FD0C9"/>
                </a:solidFill>
                <a:latin typeface="Trebuchet MS" pitchFamily="34" charset="0"/>
                <a:ea typeface="Trebuchet MS" pitchFamily="34" charset="-122"/>
                <a:cs typeface="Trebuchet MS" pitchFamily="34" charset="-120"/>
              </a:rPr>
              <a:t>pm-dc-gwy    TCP :5590</a:t>
            </a:r>
            <a:endParaRPr lang="en-US" sz="1400" dirty="0"/>
          </a:p>
        </p:txBody>
      </p:sp>
      <p:sp>
        <p:nvSpPr>
          <p:cNvPr id="13" name="Shape 11"/>
          <p:cNvSpPr/>
          <p:nvPr/>
        </p:nvSpPr>
        <p:spPr>
          <a:xfrm>
            <a:off x="3931920" y="2761488"/>
            <a:ext cx="3429000" cy="411480"/>
          </a:xfrm>
          <a:prstGeom prst="roundRect">
            <a:avLst>
              <a:gd name="adj" fmla="val 11111"/>
            </a:avLst>
          </a:prstGeom>
          <a:solidFill>
            <a:srgbClr val="252B31"/>
          </a:solidFill>
          <a:ln w="12700">
            <a:solidFill>
              <a:srgbClr val="3A434B"/>
            </a:solidFill>
            <a:prstDash val="solid"/>
          </a:ln>
        </p:spPr>
        <p:txBody>
          <a:bodyPr/>
          <a:lstStyle/>
          <a:p>
            <a:endParaRPr lang="en-SE"/>
          </a:p>
        </p:txBody>
      </p:sp>
      <p:sp>
        <p:nvSpPr>
          <p:cNvPr id="14" name="Text 12"/>
          <p:cNvSpPr/>
          <p:nvPr/>
        </p:nvSpPr>
        <p:spPr>
          <a:xfrm>
            <a:off x="4069080" y="2761488"/>
            <a:ext cx="3200400" cy="411480"/>
          </a:xfrm>
          <a:prstGeom prst="rect">
            <a:avLst/>
          </a:prstGeom>
          <a:noFill/>
          <a:ln/>
        </p:spPr>
        <p:txBody>
          <a:bodyPr wrap="square" lIns="0" tIns="0" rIns="0" bIns="0" rtlCol="0" anchor="ct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Internal subscription  </a:t>
            </a:r>
            <a:r>
              <a:rPr lang="en-US" sz="1050" dirty="0">
                <a:solidFill>
                  <a:srgbClr val="6E7C87"/>
                </a:solidFill>
                <a:latin typeface="Calibri" pitchFamily="34" charset="0"/>
                <a:ea typeface="Calibri" pitchFamily="34" charset="-122"/>
                <a:cs typeface="Calibri" pitchFamily="34" charset="-120"/>
              </a:rPr>
              <a:t>shared per gateway id</a:t>
            </a:r>
            <a:endParaRPr lang="en-US" sz="1150" dirty="0"/>
          </a:p>
        </p:txBody>
      </p:sp>
      <p:sp>
        <p:nvSpPr>
          <p:cNvPr id="15" name="Shape 13"/>
          <p:cNvSpPr/>
          <p:nvPr/>
        </p:nvSpPr>
        <p:spPr>
          <a:xfrm>
            <a:off x="3931920" y="3264408"/>
            <a:ext cx="3429000" cy="411480"/>
          </a:xfrm>
          <a:prstGeom prst="roundRect">
            <a:avLst>
              <a:gd name="adj" fmla="val 11111"/>
            </a:avLst>
          </a:prstGeom>
          <a:solidFill>
            <a:srgbClr val="252B31"/>
          </a:solidFill>
          <a:ln w="12700">
            <a:solidFill>
              <a:srgbClr val="3A434B"/>
            </a:solidFill>
            <a:prstDash val="solid"/>
          </a:ln>
        </p:spPr>
        <p:txBody>
          <a:bodyPr/>
          <a:lstStyle/>
          <a:p>
            <a:endParaRPr lang="en-SE"/>
          </a:p>
        </p:txBody>
      </p:sp>
      <p:sp>
        <p:nvSpPr>
          <p:cNvPr id="16" name="Text 14"/>
          <p:cNvSpPr/>
          <p:nvPr/>
        </p:nvSpPr>
        <p:spPr>
          <a:xfrm>
            <a:off x="4069080" y="3264408"/>
            <a:ext cx="3200400" cy="411480"/>
          </a:xfrm>
          <a:prstGeom prst="rect">
            <a:avLst/>
          </a:prstGeom>
          <a:noFill/>
          <a:ln/>
        </p:spPr>
        <p:txBody>
          <a:bodyPr wrap="square" lIns="0" tIns="0" rIns="0" bIns="0" rtlCol="0" anchor="ct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Accept loop  </a:t>
            </a:r>
            <a:r>
              <a:rPr lang="en-US" sz="1050" dirty="0">
                <a:solidFill>
                  <a:srgbClr val="6E7C87"/>
                </a:solidFill>
                <a:latin typeface="Calibri" pitchFamily="34" charset="0"/>
                <a:ea typeface="Calibri" pitchFamily="34" charset="-122"/>
                <a:cs typeface="Calibri" pitchFamily="34" charset="-120"/>
              </a:rPr>
              <a:t>new TCP connections</a:t>
            </a:r>
            <a:endParaRPr lang="en-US" sz="1150" dirty="0"/>
          </a:p>
        </p:txBody>
      </p:sp>
      <p:sp>
        <p:nvSpPr>
          <p:cNvPr id="17" name="Shape 15"/>
          <p:cNvSpPr/>
          <p:nvPr/>
        </p:nvSpPr>
        <p:spPr>
          <a:xfrm>
            <a:off x="3931920" y="3767328"/>
            <a:ext cx="3429000" cy="411480"/>
          </a:xfrm>
          <a:prstGeom prst="roundRect">
            <a:avLst>
              <a:gd name="adj" fmla="val 11111"/>
            </a:avLst>
          </a:prstGeom>
          <a:solidFill>
            <a:srgbClr val="252B31"/>
          </a:solidFill>
          <a:ln w="12700">
            <a:solidFill>
              <a:srgbClr val="3A434B"/>
            </a:solidFill>
            <a:prstDash val="solid"/>
          </a:ln>
        </p:spPr>
        <p:txBody>
          <a:bodyPr/>
          <a:lstStyle/>
          <a:p>
            <a:endParaRPr lang="en-SE"/>
          </a:p>
        </p:txBody>
      </p:sp>
      <p:sp>
        <p:nvSpPr>
          <p:cNvPr id="18" name="Text 16"/>
          <p:cNvSpPr/>
          <p:nvPr/>
        </p:nvSpPr>
        <p:spPr>
          <a:xfrm>
            <a:off x="4069080" y="3767328"/>
            <a:ext cx="3200400" cy="411480"/>
          </a:xfrm>
          <a:prstGeom prst="rect">
            <a:avLst/>
          </a:prstGeom>
          <a:noFill/>
          <a:ln/>
        </p:spPr>
        <p:txBody>
          <a:bodyPr wrap="square" lIns="0" tIns="0" rIns="0" bIns="0" rtlCol="0" anchor="ct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Session manager  </a:t>
            </a:r>
            <a:r>
              <a:rPr lang="en-US" sz="1050" dirty="0">
                <a:solidFill>
                  <a:srgbClr val="6E7C87"/>
                </a:solidFill>
                <a:latin typeface="Calibri" pitchFamily="34" charset="0"/>
                <a:ea typeface="Calibri" pitchFamily="34" charset="-122"/>
                <a:cs typeface="Calibri" pitchFamily="34" charset="-120"/>
              </a:rPr>
              <a:t>handshake · heartbeat · idle</a:t>
            </a:r>
            <a:endParaRPr lang="en-US" sz="1150" dirty="0"/>
          </a:p>
        </p:txBody>
      </p:sp>
      <p:sp>
        <p:nvSpPr>
          <p:cNvPr id="19" name="Shape 17"/>
          <p:cNvSpPr/>
          <p:nvPr/>
        </p:nvSpPr>
        <p:spPr>
          <a:xfrm>
            <a:off x="3931920" y="4270248"/>
            <a:ext cx="3429000" cy="411480"/>
          </a:xfrm>
          <a:prstGeom prst="roundRect">
            <a:avLst>
              <a:gd name="adj" fmla="val 11111"/>
            </a:avLst>
          </a:prstGeom>
          <a:solidFill>
            <a:srgbClr val="252B31"/>
          </a:solidFill>
          <a:ln w="12700">
            <a:solidFill>
              <a:srgbClr val="3A434B"/>
            </a:solidFill>
            <a:prstDash val="solid"/>
          </a:ln>
        </p:spPr>
        <p:txBody>
          <a:bodyPr/>
          <a:lstStyle/>
          <a:p>
            <a:endParaRPr lang="en-SE"/>
          </a:p>
        </p:txBody>
      </p:sp>
      <p:sp>
        <p:nvSpPr>
          <p:cNvPr id="20" name="Text 18"/>
          <p:cNvSpPr/>
          <p:nvPr/>
        </p:nvSpPr>
        <p:spPr>
          <a:xfrm>
            <a:off x="4069080" y="4270248"/>
            <a:ext cx="3200400" cy="411480"/>
          </a:xfrm>
          <a:prstGeom prst="rect">
            <a:avLst/>
          </a:prstGeom>
          <a:noFill/>
          <a:ln/>
        </p:spPr>
        <p:txBody>
          <a:bodyPr wrap="square" lIns="0" tIns="0" rIns="0" bIns="0" rtlCol="0" anchor="ct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DC_FILL relay  </a:t>
            </a:r>
            <a:r>
              <a:rPr lang="en-US" sz="1050" dirty="0">
                <a:solidFill>
                  <a:srgbClr val="6E7C87"/>
                </a:solidFill>
                <a:latin typeface="Calibri" pitchFamily="34" charset="0"/>
                <a:ea typeface="Calibri" pitchFamily="34" charset="-122"/>
                <a:cs typeface="Calibri" pitchFamily="34" charset="-120"/>
              </a:rPr>
              <a:t>one line per fill</a:t>
            </a:r>
            <a:endParaRPr lang="en-US" sz="1150" dirty="0"/>
          </a:p>
        </p:txBody>
      </p:sp>
      <p:sp>
        <p:nvSpPr>
          <p:cNvPr id="21" name="Shape 19"/>
          <p:cNvSpPr/>
          <p:nvPr/>
        </p:nvSpPr>
        <p:spPr>
          <a:xfrm>
            <a:off x="7589520" y="2724912"/>
            <a:ext cx="594360" cy="0"/>
          </a:xfrm>
          <a:prstGeom prst="line">
            <a:avLst/>
          </a:prstGeom>
          <a:noFill/>
          <a:ln w="22225">
            <a:solidFill>
              <a:srgbClr val="E5566B"/>
            </a:solidFill>
            <a:prstDash val="solid"/>
            <a:tailEnd type="triangle"/>
          </a:ln>
        </p:spPr>
        <p:txBody>
          <a:bodyPr/>
          <a:lstStyle/>
          <a:p>
            <a:endParaRPr lang="en-SE"/>
          </a:p>
        </p:txBody>
      </p:sp>
      <p:sp>
        <p:nvSpPr>
          <p:cNvPr id="22" name="Shape 20"/>
          <p:cNvSpPr/>
          <p:nvPr/>
        </p:nvSpPr>
        <p:spPr>
          <a:xfrm>
            <a:off x="8275320" y="2377440"/>
            <a:ext cx="3227832" cy="713232"/>
          </a:xfrm>
          <a:prstGeom prst="roundRect">
            <a:avLst>
              <a:gd name="adj" fmla="val 10256"/>
            </a:avLst>
          </a:prstGeom>
          <a:solidFill>
            <a:srgbClr val="252B31"/>
          </a:solidFill>
          <a:ln w="19050">
            <a:solidFill>
              <a:srgbClr val="E5566B"/>
            </a:solidFill>
            <a:prstDash val="solid"/>
          </a:ln>
        </p:spPr>
        <p:txBody>
          <a:bodyPr/>
          <a:lstStyle/>
          <a:p>
            <a:endParaRPr lang="en-SE"/>
          </a:p>
        </p:txBody>
      </p:sp>
      <p:sp>
        <p:nvSpPr>
          <p:cNvPr id="23" name="Text 21"/>
          <p:cNvSpPr/>
          <p:nvPr/>
        </p:nvSpPr>
        <p:spPr>
          <a:xfrm>
            <a:off x="8366760" y="2377440"/>
            <a:ext cx="3044952" cy="713232"/>
          </a:xfrm>
          <a:prstGeom prst="rect">
            <a:avLst/>
          </a:prstGeom>
          <a:noFill/>
          <a:ln/>
        </p:spPr>
        <p:txBody>
          <a:bodyPr wrap="square" lIns="0" tIns="0" rIns="0" bIns="0" rtlCol="0" anchor="ctr"/>
          <a:lstStyle/>
          <a:p>
            <a:pPr marL="0" indent="0" algn="ctr">
              <a:lnSpc>
                <a:spcPct val="112000"/>
              </a:lnSpc>
              <a:buNone/>
            </a:pPr>
            <a:r>
              <a:rPr lang="en-US" sz="1250" b="1" dirty="0">
                <a:solidFill>
                  <a:srgbClr val="E5566B"/>
                </a:solidFill>
                <a:latin typeface="Trebuchet MS" pitchFamily="34" charset="0"/>
                <a:ea typeface="Trebuchet MS" pitchFamily="34" charset="-122"/>
                <a:cs typeface="Trebuchet MS" pitchFamily="34" charset="-120"/>
              </a:rPr>
              <a:t>Risk system</a:t>
            </a:r>
            <a:endParaRPr lang="en-US" sz="1250" dirty="0"/>
          </a:p>
          <a:p>
            <a:pPr marL="0" indent="0" algn="ctr">
              <a:lnSpc>
                <a:spcPct val="112000"/>
              </a:lnSpc>
              <a:buNone/>
            </a:pPr>
            <a:r>
              <a:rPr lang="en-US" sz="950" dirty="0">
                <a:solidFill>
                  <a:srgbClr val="97A4AE"/>
                </a:solidFill>
                <a:latin typeface="Consolas" pitchFamily="34" charset="0"/>
                <a:ea typeface="Consolas" pitchFamily="34" charset="-122"/>
                <a:cs typeface="Consolas" pitchFamily="34" charset="-120"/>
              </a:rPr>
              <a:t>watching TRADER01</a:t>
            </a:r>
            <a:endParaRPr lang="en-US" sz="1250" dirty="0"/>
          </a:p>
        </p:txBody>
      </p:sp>
      <p:sp>
        <p:nvSpPr>
          <p:cNvPr id="24" name="Shape 22"/>
          <p:cNvSpPr/>
          <p:nvPr/>
        </p:nvSpPr>
        <p:spPr>
          <a:xfrm>
            <a:off x="7589520" y="3593592"/>
            <a:ext cx="594360" cy="0"/>
          </a:xfrm>
          <a:prstGeom prst="line">
            <a:avLst/>
          </a:prstGeom>
          <a:noFill/>
          <a:ln w="22225">
            <a:solidFill>
              <a:srgbClr val="F0A202"/>
            </a:solidFill>
            <a:prstDash val="solid"/>
            <a:tailEnd type="triangle"/>
          </a:ln>
        </p:spPr>
        <p:txBody>
          <a:bodyPr/>
          <a:lstStyle/>
          <a:p>
            <a:endParaRPr lang="en-SE"/>
          </a:p>
        </p:txBody>
      </p:sp>
      <p:sp>
        <p:nvSpPr>
          <p:cNvPr id="25" name="Shape 23"/>
          <p:cNvSpPr/>
          <p:nvPr/>
        </p:nvSpPr>
        <p:spPr>
          <a:xfrm>
            <a:off x="8275320" y="3246120"/>
            <a:ext cx="3227832" cy="713232"/>
          </a:xfrm>
          <a:prstGeom prst="roundRect">
            <a:avLst>
              <a:gd name="adj" fmla="val 10256"/>
            </a:avLst>
          </a:prstGeom>
          <a:solidFill>
            <a:srgbClr val="252B31"/>
          </a:solidFill>
          <a:ln w="19050">
            <a:solidFill>
              <a:srgbClr val="F0A202"/>
            </a:solidFill>
            <a:prstDash val="solid"/>
          </a:ln>
        </p:spPr>
        <p:txBody>
          <a:bodyPr/>
          <a:lstStyle/>
          <a:p>
            <a:endParaRPr lang="en-SE"/>
          </a:p>
        </p:txBody>
      </p:sp>
      <p:sp>
        <p:nvSpPr>
          <p:cNvPr id="26" name="Text 24"/>
          <p:cNvSpPr/>
          <p:nvPr/>
        </p:nvSpPr>
        <p:spPr>
          <a:xfrm>
            <a:off x="8366760" y="3246120"/>
            <a:ext cx="3044952" cy="713232"/>
          </a:xfrm>
          <a:prstGeom prst="rect">
            <a:avLst/>
          </a:prstGeom>
          <a:noFill/>
          <a:ln/>
        </p:spPr>
        <p:txBody>
          <a:bodyPr wrap="square" lIns="0" tIns="0" rIns="0" bIns="0" rtlCol="0" anchor="ctr"/>
          <a:lstStyle/>
          <a:p>
            <a:pPr marL="0" indent="0" algn="ctr">
              <a:lnSpc>
                <a:spcPct val="112000"/>
              </a:lnSpc>
              <a:buNone/>
            </a:pPr>
            <a:r>
              <a:rPr lang="en-US" sz="1250" b="1" dirty="0">
                <a:solidFill>
                  <a:srgbClr val="F0A202"/>
                </a:solidFill>
                <a:latin typeface="Trebuchet MS" pitchFamily="34" charset="0"/>
                <a:ea typeface="Trebuchet MS" pitchFamily="34" charset="-122"/>
                <a:cs typeface="Trebuchet MS" pitchFamily="34" charset="-120"/>
              </a:rPr>
              <a:t>Compliance monitor</a:t>
            </a:r>
            <a:endParaRPr lang="en-US" sz="1250" dirty="0"/>
          </a:p>
          <a:p>
            <a:pPr marL="0" indent="0" algn="ctr">
              <a:lnSpc>
                <a:spcPct val="112000"/>
              </a:lnSpc>
              <a:buNone/>
            </a:pPr>
            <a:r>
              <a:rPr lang="en-US" sz="950" dirty="0">
                <a:solidFill>
                  <a:srgbClr val="97A4AE"/>
                </a:solidFill>
                <a:latin typeface="Consolas" pitchFamily="34" charset="0"/>
                <a:ea typeface="Consolas" pitchFamily="34" charset="-122"/>
                <a:cs typeface="Consolas" pitchFamily="34" charset="-120"/>
              </a:rPr>
              <a:t>watching TRADER01</a:t>
            </a:r>
            <a:endParaRPr lang="en-US" sz="1250" dirty="0"/>
          </a:p>
        </p:txBody>
      </p:sp>
      <p:sp>
        <p:nvSpPr>
          <p:cNvPr id="27" name="Shape 25"/>
          <p:cNvSpPr/>
          <p:nvPr/>
        </p:nvSpPr>
        <p:spPr>
          <a:xfrm>
            <a:off x="7589520" y="4462272"/>
            <a:ext cx="594360" cy="0"/>
          </a:xfrm>
          <a:prstGeom prst="line">
            <a:avLst/>
          </a:prstGeom>
          <a:noFill/>
          <a:ln w="22225">
            <a:solidFill>
              <a:srgbClr val="3FD0C9"/>
            </a:solidFill>
            <a:prstDash val="solid"/>
            <a:tailEnd type="triangle"/>
          </a:ln>
        </p:spPr>
        <p:txBody>
          <a:bodyPr/>
          <a:lstStyle/>
          <a:p>
            <a:endParaRPr lang="en-SE"/>
          </a:p>
        </p:txBody>
      </p:sp>
      <p:sp>
        <p:nvSpPr>
          <p:cNvPr id="28" name="Shape 26"/>
          <p:cNvSpPr/>
          <p:nvPr/>
        </p:nvSpPr>
        <p:spPr>
          <a:xfrm>
            <a:off x="8275320" y="4114800"/>
            <a:ext cx="3227832" cy="713232"/>
          </a:xfrm>
          <a:prstGeom prst="roundRect">
            <a:avLst>
              <a:gd name="adj" fmla="val 10256"/>
            </a:avLst>
          </a:prstGeom>
          <a:solidFill>
            <a:srgbClr val="252B31"/>
          </a:solidFill>
          <a:ln w="19050">
            <a:solidFill>
              <a:srgbClr val="3FD0C9"/>
            </a:solidFill>
            <a:prstDash val="solid"/>
          </a:ln>
        </p:spPr>
        <p:txBody>
          <a:bodyPr/>
          <a:lstStyle/>
          <a:p>
            <a:endParaRPr lang="en-SE"/>
          </a:p>
        </p:txBody>
      </p:sp>
      <p:sp>
        <p:nvSpPr>
          <p:cNvPr id="29" name="Text 27"/>
          <p:cNvSpPr/>
          <p:nvPr/>
        </p:nvSpPr>
        <p:spPr>
          <a:xfrm>
            <a:off x="8366760" y="4114800"/>
            <a:ext cx="3044952" cy="713232"/>
          </a:xfrm>
          <a:prstGeom prst="rect">
            <a:avLst/>
          </a:prstGeom>
          <a:noFill/>
          <a:ln/>
        </p:spPr>
        <p:txBody>
          <a:bodyPr wrap="square" lIns="0" tIns="0" rIns="0" bIns="0" rtlCol="0" anchor="ctr"/>
          <a:lstStyle/>
          <a:p>
            <a:pPr marL="0" indent="0" algn="ctr">
              <a:lnSpc>
                <a:spcPct val="112000"/>
              </a:lnSpc>
              <a:buNone/>
            </a:pPr>
            <a:r>
              <a:rPr lang="en-US" sz="1250" b="1" dirty="0">
                <a:solidFill>
                  <a:srgbClr val="3FD0C9"/>
                </a:solidFill>
                <a:latin typeface="Trebuchet MS" pitchFamily="34" charset="0"/>
                <a:ea typeface="Trebuchet MS" pitchFamily="34" charset="-122"/>
                <a:cs typeface="Trebuchet MS" pitchFamily="34" charset="-120"/>
              </a:rPr>
              <a:t>Clearing pipeline</a:t>
            </a:r>
            <a:endParaRPr lang="en-US" sz="1250" dirty="0"/>
          </a:p>
          <a:p>
            <a:pPr marL="0" indent="0" algn="ctr">
              <a:lnSpc>
                <a:spcPct val="112000"/>
              </a:lnSpc>
              <a:buNone/>
            </a:pPr>
            <a:r>
              <a:rPr lang="en-US" sz="950" dirty="0">
                <a:solidFill>
                  <a:srgbClr val="97A4AE"/>
                </a:solidFill>
                <a:latin typeface="Consolas" pitchFamily="34" charset="0"/>
                <a:ea typeface="Consolas" pitchFamily="34" charset="-122"/>
                <a:cs typeface="Consolas" pitchFamily="34" charset="-120"/>
              </a:rPr>
              <a:t>watching TRADER02</a:t>
            </a:r>
            <a:endParaRPr lang="en-US" sz="1250" dirty="0"/>
          </a:p>
        </p:txBody>
      </p:sp>
      <p:sp>
        <p:nvSpPr>
          <p:cNvPr id="30" name="Shape 28"/>
          <p:cNvSpPr/>
          <p:nvPr/>
        </p:nvSpPr>
        <p:spPr>
          <a:xfrm>
            <a:off x="685800" y="5166360"/>
            <a:ext cx="10820095" cy="868680"/>
          </a:xfrm>
          <a:prstGeom prst="roundRect">
            <a:avLst>
              <a:gd name="adj" fmla="val 6316"/>
            </a:avLst>
          </a:prstGeom>
          <a:solidFill>
            <a:srgbClr val="252B31"/>
          </a:solidFill>
          <a:ln w="19050">
            <a:solidFill>
              <a:srgbClr val="F0A202"/>
            </a:solidFill>
            <a:prstDash val="solid"/>
          </a:ln>
        </p:spPr>
        <p:txBody>
          <a:bodyPr/>
          <a:lstStyle/>
          <a:p>
            <a:endParaRPr lang="en-SE"/>
          </a:p>
        </p:txBody>
      </p:sp>
      <p:sp>
        <p:nvSpPr>
          <p:cNvPr id="31" name="Shape 29"/>
          <p:cNvSpPr/>
          <p:nvPr/>
        </p:nvSpPr>
        <p:spPr>
          <a:xfrm>
            <a:off x="923544" y="5417820"/>
            <a:ext cx="365760" cy="365760"/>
          </a:xfrm>
          <a:prstGeom prst="roundRect">
            <a:avLst>
              <a:gd name="adj" fmla="val 125000"/>
            </a:avLst>
          </a:prstGeom>
          <a:solidFill>
            <a:srgbClr val="F0A202"/>
          </a:solidFill>
          <a:ln/>
        </p:spPr>
        <p:txBody>
          <a:bodyPr/>
          <a:lstStyle/>
          <a:p>
            <a:endParaRPr lang="en-SE"/>
          </a:p>
        </p:txBody>
      </p:sp>
      <p:sp>
        <p:nvSpPr>
          <p:cNvPr id="32" name="Text 30"/>
          <p:cNvSpPr/>
          <p:nvPr/>
        </p:nvSpPr>
        <p:spPr>
          <a:xfrm>
            <a:off x="923544" y="541782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33" name="Text 31"/>
          <p:cNvSpPr/>
          <p:nvPr/>
        </p:nvSpPr>
        <p:spPr>
          <a:xfrm>
            <a:off x="1453896" y="5312664"/>
            <a:ext cx="9814255" cy="576072"/>
          </a:xfrm>
          <a:prstGeom prst="rect">
            <a:avLst/>
          </a:prstGeom>
          <a:noFill/>
          <a:ln/>
        </p:spPr>
        <p:txBody>
          <a:bodyPr wrap="square" lIns="0" tIns="0" rIns="0" bIns="0" rtlCol="0" anchor="ctr"/>
          <a:lstStyle/>
          <a:p>
            <a:pPr marL="0" indent="0">
              <a:lnSpc>
                <a:spcPct val="110000"/>
              </a:lnSpc>
              <a:buNone/>
            </a:pPr>
            <a:r>
              <a:rPr lang="en-US" sz="1350" b="1" dirty="0">
                <a:solidFill>
                  <a:srgbClr val="F0A202"/>
                </a:solidFill>
                <a:latin typeface="Trebuchet MS" pitchFamily="34" charset="0"/>
                <a:ea typeface="Trebuchet MS" pitchFamily="34" charset="-122"/>
                <a:cs typeface="Trebuchet MS" pitchFamily="34" charset="-120"/>
              </a:rPr>
              <a:t>Two things this buys you</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More than one client may watch the same gateway id at once — unlike a trading session, a drop copy connection does not occupy a trading identity. And the engine still sees only one subscriber, however many clients connect.</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06 · DC GATEWAY</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33</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WHAT IT DELIBERATELY DOES NOT DO</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A read-only relay, and nothing more</a:t>
            </a:r>
            <a:endParaRPr lang="en-US" sz="3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85800" y="2148840"/>
          <a:ext cx="10820095" cy="914400"/>
        </p:xfrm>
        <a:graphic>
          <a:graphicData uri="http://schemas.openxmlformats.org/drawingml/2006/table">
            <a:tbl>
              <a:tblPr/>
              <a:tblGrid>
                <a:gridCol w="4572000">
                  <a:extLst>
                    <a:ext uri="{9D8B030D-6E8A-4147-A177-3AD203B41FA5}">
                      <a16:colId xmlns:a16="http://schemas.microsoft.com/office/drawing/2014/main" val="20000"/>
                    </a:ext>
                  </a:extLst>
                </a:gridCol>
                <a:gridCol w="6245352">
                  <a:extLst>
                    <a:ext uri="{9D8B030D-6E8A-4147-A177-3AD203B41FA5}">
                      <a16:colId xmlns:a16="http://schemas.microsoft.com/office/drawing/2014/main" val="20001"/>
                    </a:ext>
                  </a:extLst>
                </a:gridCol>
              </a:tblGrid>
              <a:tr h="502920">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Not supported</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Why</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extLst>
                  <a:ext uri="{0D108BD9-81ED-4DB2-BD59-A6C34878D82A}">
                    <a16:rowId xmlns:a16="http://schemas.microsoft.com/office/drawing/2014/main" val="10000"/>
                  </a:ext>
                </a:extLst>
              </a:tr>
              <a:tr h="502920">
                <a:tc>
                  <a:txBody>
                    <a:bodyPr/>
                    <a:lstStyle/>
                    <a:p>
                      <a:pPr marL="0" indent="0">
                        <a:buNone/>
                      </a:pPr>
                      <a:r>
                        <a:rPr lang="en-US" sz="1150" b="1" dirty="0">
                          <a:solidFill>
                            <a:srgbClr val="E5566B"/>
                          </a:solidFill>
                          <a:latin typeface="Calibri" pitchFamily="34" charset="0"/>
                          <a:ea typeface="Calibri" pitchFamily="34" charset="-122"/>
                          <a:cs typeface="Calibri" pitchFamily="34" charset="-120"/>
                        </a:rPr>
                        <a:t>Authentication or entitlement checks</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50" dirty="0">
                          <a:solidFill>
                            <a:srgbClr val="97A4AE"/>
                          </a:solidFill>
                          <a:latin typeface="Calibri" pitchFamily="34" charset="0"/>
                          <a:ea typeface="Calibri" pitchFamily="34" charset="-122"/>
                          <a:cs typeface="Calibri" pitchFamily="34" charset="-120"/>
                        </a:rPr>
                        <a:t>Same scope decision as the raw feed — any client may request any gateway id</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1"/>
                  </a:ext>
                </a:extLst>
              </a:tr>
              <a:tr h="502920">
                <a:tc>
                  <a:txBody>
                    <a:bodyPr/>
                    <a:lstStyle/>
                    <a:p>
                      <a:pPr marL="0" indent="0">
                        <a:buNone/>
                      </a:pPr>
                      <a:r>
                        <a:rPr lang="en-US" sz="1150" b="1" dirty="0">
                          <a:solidFill>
                            <a:srgbClr val="E5566B"/>
                          </a:solidFill>
                          <a:latin typeface="Calibri" pitchFamily="34" charset="0"/>
                          <a:ea typeface="Calibri" pitchFamily="34" charset="-122"/>
                          <a:cs typeface="Calibri" pitchFamily="34" charset="-120"/>
                        </a:rPr>
                        <a:t>Replay by sequence over the wire</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50" dirty="0">
                          <a:solidFill>
                            <a:srgbClr val="97A4AE"/>
                          </a:solidFill>
                          <a:latin typeface="Calibri" pitchFamily="34" charset="0"/>
                          <a:ea typeface="Calibri" pitchFamily="34" charset="-122"/>
                          <a:cs typeface="Calibri" pitchFamily="34" charset="-120"/>
                        </a:rPr>
                        <a:t>Replay is in-process only with no external trigger, so the gateway does not expose it</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2"/>
                  </a:ext>
                </a:extLst>
              </a:tr>
              <a:tr h="502920">
                <a:tc>
                  <a:txBody>
                    <a:bodyPr/>
                    <a:lstStyle/>
                    <a:p>
                      <a:pPr marL="0" indent="0">
                        <a:buNone/>
                      </a:pPr>
                      <a:r>
                        <a:rPr lang="en-US" sz="1150" b="1" dirty="0">
                          <a:solidFill>
                            <a:srgbClr val="E5566B"/>
                          </a:solidFill>
                          <a:latin typeface="Calibri" pitchFamily="34" charset="0"/>
                          <a:ea typeface="Calibri" pitchFamily="34" charset="-122"/>
                          <a:cs typeface="Calibri" pitchFamily="34" charset="-120"/>
                        </a:rPr>
                        <a:t>Order entry, quoting, or any state change</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50" dirty="0">
                          <a:solidFill>
                            <a:srgbClr val="97A4AE"/>
                          </a:solidFill>
                          <a:latin typeface="Calibri" pitchFamily="34" charset="0"/>
                          <a:ea typeface="Calibri" pitchFamily="34" charset="-122"/>
                          <a:cs typeface="Calibri" pitchFamily="34" charset="-120"/>
                        </a:rPr>
                        <a:t>This is a read-only relay — use the trading gateways for anything that mutates state</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3"/>
                  </a:ext>
                </a:extLst>
              </a:tr>
              <a:tr h="502920">
                <a:tc>
                  <a:txBody>
                    <a:bodyPr/>
                    <a:lstStyle/>
                    <a:p>
                      <a:pPr marL="0" indent="0">
                        <a:buNone/>
                      </a:pPr>
                      <a:r>
                        <a:rPr lang="en-US" sz="1150" b="1" dirty="0">
                          <a:solidFill>
                            <a:srgbClr val="E5566B"/>
                          </a:solidFill>
                          <a:latin typeface="Calibri" pitchFamily="34" charset="0"/>
                          <a:ea typeface="Calibri" pitchFamily="34" charset="-122"/>
                          <a:cs typeface="Calibri" pitchFamily="34" charset="-120"/>
                        </a:rPr>
                        <a:t>A role or channel model</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50" dirty="0">
                          <a:solidFill>
                            <a:srgbClr val="97A4AE"/>
                          </a:solidFill>
                          <a:latin typeface="Calibri" pitchFamily="34" charset="0"/>
                          <a:ea typeface="Calibri" pitchFamily="34" charset="-122"/>
                          <a:cs typeface="Calibri" pitchFamily="34" charset="-120"/>
                        </a:rPr>
                        <a:t>Roles such as CLEARING and AUDIT belong to RALF's separate mechanism</a:t>
                      </a:r>
                      <a:endParaRPr lang="en-US" sz="11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4"/>
                  </a:ext>
                </a:extLst>
              </a:tr>
            </a:tbl>
          </a:graphicData>
        </a:graphic>
      </p:graphicFrame>
      <p:sp>
        <p:nvSpPr>
          <p:cNvPr id="8" name="Shape 5"/>
          <p:cNvSpPr/>
          <p:nvPr/>
        </p:nvSpPr>
        <p:spPr>
          <a:xfrm>
            <a:off x="685800" y="4892040"/>
            <a:ext cx="5257800" cy="1280160"/>
          </a:xfrm>
          <a:prstGeom prst="roundRect">
            <a:avLst>
              <a:gd name="adj" fmla="val 4286"/>
            </a:avLst>
          </a:prstGeom>
          <a:solidFill>
            <a:srgbClr val="252B31"/>
          </a:solidFill>
          <a:ln w="12700">
            <a:solidFill>
              <a:srgbClr val="3A434B"/>
            </a:solidFill>
            <a:prstDash val="solid"/>
          </a:ln>
        </p:spPr>
        <p:txBody>
          <a:bodyPr/>
          <a:lstStyle/>
          <a:p>
            <a:endParaRPr lang="en-SE"/>
          </a:p>
        </p:txBody>
      </p:sp>
      <p:sp>
        <p:nvSpPr>
          <p:cNvPr id="9" name="Text 6"/>
          <p:cNvSpPr/>
          <p:nvPr/>
        </p:nvSpPr>
        <p:spPr>
          <a:xfrm>
            <a:off x="941832" y="5148072"/>
            <a:ext cx="4745736" cy="310896"/>
          </a:xfrm>
          <a:prstGeom prst="rect">
            <a:avLst/>
          </a:prstGeom>
          <a:noFill/>
          <a:ln/>
        </p:spPr>
        <p:txBody>
          <a:bodyPr wrap="square" lIns="0" tIns="0" rIns="0" bIns="0" rtlCol="0" anchor="t"/>
          <a:lstStyle/>
          <a:p>
            <a:pPr marL="0" indent="0">
              <a:buNone/>
            </a:pPr>
            <a:r>
              <a:rPr lang="en-US" sz="1500" b="1" dirty="0">
                <a:solidFill>
                  <a:srgbClr val="3FD0C9"/>
                </a:solidFill>
                <a:latin typeface="Trebuchet MS" pitchFamily="34" charset="0"/>
                <a:ea typeface="Trebuchet MS" pitchFamily="34" charset="-122"/>
                <a:cs typeface="Trebuchet MS" pitchFamily="34" charset="-120"/>
              </a:rPr>
              <a:t>So what can a client ask for?</a:t>
            </a:r>
            <a:endParaRPr lang="en-US" sz="1500" dirty="0"/>
          </a:p>
        </p:txBody>
      </p:sp>
      <p:sp>
        <p:nvSpPr>
          <p:cNvPr id="10" name="Text 7"/>
          <p:cNvSpPr/>
          <p:nvPr/>
        </p:nvSpPr>
        <p:spPr>
          <a:xfrm>
            <a:off x="941832" y="5532120"/>
            <a:ext cx="4745736" cy="47548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Exactly one thing: fills for a given gateway id. That is why DC1 has no subscription grammar to learn.</a:t>
            </a:r>
            <a:endParaRPr lang="en-US" sz="1250" dirty="0"/>
          </a:p>
        </p:txBody>
      </p:sp>
      <p:sp>
        <p:nvSpPr>
          <p:cNvPr id="11" name="Shape 8"/>
          <p:cNvSpPr/>
          <p:nvPr/>
        </p:nvSpPr>
        <p:spPr>
          <a:xfrm>
            <a:off x="6245352" y="4892040"/>
            <a:ext cx="5257800" cy="1280160"/>
          </a:xfrm>
          <a:prstGeom prst="roundRect">
            <a:avLst>
              <a:gd name="adj" fmla="val 4286"/>
            </a:avLst>
          </a:prstGeom>
          <a:solidFill>
            <a:srgbClr val="252B31"/>
          </a:solidFill>
          <a:ln w="12700">
            <a:solidFill>
              <a:srgbClr val="3A434B"/>
            </a:solidFill>
            <a:prstDash val="solid"/>
          </a:ln>
        </p:spPr>
        <p:txBody>
          <a:bodyPr/>
          <a:lstStyle/>
          <a:p>
            <a:endParaRPr lang="en-SE"/>
          </a:p>
        </p:txBody>
      </p:sp>
      <p:sp>
        <p:nvSpPr>
          <p:cNvPr id="12" name="Text 9"/>
          <p:cNvSpPr/>
          <p:nvPr/>
        </p:nvSpPr>
        <p:spPr>
          <a:xfrm>
            <a:off x="6501384" y="5148072"/>
            <a:ext cx="4745736" cy="310896"/>
          </a:xfrm>
          <a:prstGeom prst="rect">
            <a:avLst/>
          </a:prstGeom>
          <a:noFill/>
          <a:ln/>
        </p:spPr>
        <p:txBody>
          <a:bodyPr wrap="square" lIns="0" tIns="0" rIns="0" bIns="0" rtlCol="0" anchor="t"/>
          <a:lstStyle/>
          <a:p>
            <a:pPr marL="0" indent="0">
              <a:buNone/>
            </a:pPr>
            <a:r>
              <a:rPr lang="en-US" sz="1500" b="1" dirty="0">
                <a:solidFill>
                  <a:srgbClr val="F0A202"/>
                </a:solidFill>
                <a:latin typeface="Trebuchet MS" pitchFamily="34" charset="0"/>
                <a:ea typeface="Trebuchet MS" pitchFamily="34" charset="-122"/>
                <a:cs typeface="Trebuchet MS" pitchFamily="34" charset="-120"/>
              </a:rPr>
              <a:t>Prerequisite before you start it</a:t>
            </a:r>
            <a:endParaRPr lang="en-US" sz="1500" dirty="0"/>
          </a:p>
        </p:txBody>
      </p:sp>
      <p:sp>
        <p:nvSpPr>
          <p:cNvPr id="13" name="Text 10"/>
          <p:cNvSpPr/>
          <p:nvPr/>
        </p:nvSpPr>
        <p:spPr>
          <a:xfrm>
            <a:off x="6501384" y="5532120"/>
            <a:ext cx="4745736" cy="47548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pm-engine must be running with its drop copy publisher bound on 5557. The gateway relays a feed — it does not create one.</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06 · DC GATEWAY</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34</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SESSION LIFECYCLE</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Four steps from connect to fills</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Validate the whole flow with a terminal before writing a single line of client code.</a:t>
            </a:r>
            <a:endParaRPr lang="en-US" sz="1450" dirty="0"/>
          </a:p>
        </p:txBody>
      </p:sp>
      <p:sp>
        <p:nvSpPr>
          <p:cNvPr id="8" name="Shape 6"/>
          <p:cNvSpPr/>
          <p:nvPr/>
        </p:nvSpPr>
        <p:spPr>
          <a:xfrm>
            <a:off x="685800" y="2194560"/>
            <a:ext cx="10820095" cy="822960"/>
          </a:xfrm>
          <a:prstGeom prst="roundRect">
            <a:avLst>
              <a:gd name="adj" fmla="val 6667"/>
            </a:avLst>
          </a:prstGeom>
          <a:solidFill>
            <a:srgbClr val="252B31"/>
          </a:solidFill>
          <a:ln w="12700">
            <a:solidFill>
              <a:srgbClr val="3A434B"/>
            </a:solidFill>
            <a:prstDash val="solid"/>
          </a:ln>
        </p:spPr>
        <p:txBody>
          <a:bodyPr/>
          <a:lstStyle/>
          <a:p>
            <a:endParaRPr lang="en-SE"/>
          </a:p>
        </p:txBody>
      </p:sp>
      <p:sp>
        <p:nvSpPr>
          <p:cNvPr id="9" name="Shape 7"/>
          <p:cNvSpPr/>
          <p:nvPr/>
        </p:nvSpPr>
        <p:spPr>
          <a:xfrm>
            <a:off x="886968" y="2395728"/>
            <a:ext cx="420624" cy="420624"/>
          </a:xfrm>
          <a:prstGeom prst="roundRect">
            <a:avLst>
              <a:gd name="adj" fmla="val 108696"/>
            </a:avLst>
          </a:prstGeom>
          <a:solidFill>
            <a:srgbClr val="9B8CFF"/>
          </a:solidFill>
          <a:ln/>
        </p:spPr>
        <p:txBody>
          <a:bodyPr/>
          <a:lstStyle/>
          <a:p>
            <a:endParaRPr lang="en-SE"/>
          </a:p>
        </p:txBody>
      </p:sp>
      <p:sp>
        <p:nvSpPr>
          <p:cNvPr id="10" name="Text 8"/>
          <p:cNvSpPr/>
          <p:nvPr/>
        </p:nvSpPr>
        <p:spPr>
          <a:xfrm>
            <a:off x="886968" y="2395728"/>
            <a:ext cx="420624" cy="420624"/>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1</a:t>
            </a:r>
            <a:endParaRPr lang="en-US" sz="1300" dirty="0"/>
          </a:p>
        </p:txBody>
      </p:sp>
      <p:sp>
        <p:nvSpPr>
          <p:cNvPr id="11" name="Text 9"/>
          <p:cNvSpPr/>
          <p:nvPr/>
        </p:nvSpPr>
        <p:spPr>
          <a:xfrm>
            <a:off x="1463040" y="2194560"/>
            <a:ext cx="1371600" cy="822960"/>
          </a:xfrm>
          <a:prstGeom prst="rect">
            <a:avLst/>
          </a:prstGeom>
          <a:noFill/>
          <a:ln/>
        </p:spPr>
        <p:txBody>
          <a:bodyPr wrap="square" lIns="0" tIns="0" rIns="0" bIns="0" rtlCol="0" anchor="ctr"/>
          <a:lstStyle/>
          <a:p>
            <a:pPr marL="0" indent="0">
              <a:buNone/>
            </a:pPr>
            <a:r>
              <a:rPr lang="en-US" sz="1450" b="1" dirty="0">
                <a:solidFill>
                  <a:srgbClr val="9B8CFF"/>
                </a:solidFill>
                <a:latin typeface="Trebuchet MS" pitchFamily="34" charset="0"/>
                <a:ea typeface="Trebuchet MS" pitchFamily="34" charset="-122"/>
                <a:cs typeface="Trebuchet MS" pitchFamily="34" charset="-120"/>
              </a:rPr>
              <a:t>Connect</a:t>
            </a:r>
            <a:endParaRPr lang="en-US" sz="1450" dirty="0"/>
          </a:p>
        </p:txBody>
      </p:sp>
      <p:sp>
        <p:nvSpPr>
          <p:cNvPr id="12" name="Text 10"/>
          <p:cNvSpPr/>
          <p:nvPr/>
        </p:nvSpPr>
        <p:spPr>
          <a:xfrm>
            <a:off x="2880360" y="2267712"/>
            <a:ext cx="3657600" cy="685800"/>
          </a:xfrm>
          <a:prstGeom prst="rect">
            <a:avLst/>
          </a:prstGeom>
          <a:noFill/>
          <a:ln/>
        </p:spPr>
        <p:txBody>
          <a:bodyPr wrap="square" lIns="0" tIns="0" rIns="0" bIns="0" rtlCol="0" anchor="ctr"/>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Open a TCP connection to the gateway port</a:t>
            </a:r>
            <a:endParaRPr lang="en-US" sz="1150" dirty="0"/>
          </a:p>
        </p:txBody>
      </p:sp>
      <p:sp>
        <p:nvSpPr>
          <p:cNvPr id="13" name="Text 11"/>
          <p:cNvSpPr/>
          <p:nvPr/>
        </p:nvSpPr>
        <p:spPr>
          <a:xfrm>
            <a:off x="6675120" y="2194560"/>
            <a:ext cx="4800600" cy="822960"/>
          </a:xfrm>
          <a:prstGeom prst="rect">
            <a:avLst/>
          </a:prstGeom>
          <a:noFill/>
          <a:ln/>
        </p:spPr>
        <p:txBody>
          <a:bodyPr wrap="square" lIns="0" tIns="0" rIns="0" bIns="0" rtlCol="0" anchor="ctr"/>
          <a:lstStyle/>
          <a:p>
            <a:pPr marL="0" indent="0">
              <a:buNone/>
            </a:pPr>
            <a:r>
              <a:rPr lang="en-US" sz="1050" dirty="0">
                <a:solidFill>
                  <a:srgbClr val="ECF1F5"/>
                </a:solidFill>
                <a:latin typeface="Consolas" pitchFamily="34" charset="0"/>
                <a:ea typeface="Consolas" pitchFamily="34" charset="-122"/>
                <a:cs typeface="Consolas" pitchFamily="34" charset="-120"/>
              </a:rPr>
              <a:t>nc 127.0.0.1 5590</a:t>
            </a:r>
            <a:endParaRPr lang="en-US" sz="1050" dirty="0"/>
          </a:p>
        </p:txBody>
      </p:sp>
      <p:sp>
        <p:nvSpPr>
          <p:cNvPr id="14" name="Shape 12"/>
          <p:cNvSpPr/>
          <p:nvPr/>
        </p:nvSpPr>
        <p:spPr>
          <a:xfrm>
            <a:off x="685800" y="3154680"/>
            <a:ext cx="10820095" cy="822960"/>
          </a:xfrm>
          <a:prstGeom prst="roundRect">
            <a:avLst>
              <a:gd name="adj" fmla="val 6667"/>
            </a:avLst>
          </a:prstGeom>
          <a:solidFill>
            <a:srgbClr val="252B31"/>
          </a:solidFill>
          <a:ln w="12700">
            <a:solidFill>
              <a:srgbClr val="3A434B"/>
            </a:solidFill>
            <a:prstDash val="solid"/>
          </a:ln>
        </p:spPr>
        <p:txBody>
          <a:bodyPr/>
          <a:lstStyle/>
          <a:p>
            <a:endParaRPr lang="en-SE"/>
          </a:p>
        </p:txBody>
      </p:sp>
      <p:sp>
        <p:nvSpPr>
          <p:cNvPr id="15" name="Shape 13"/>
          <p:cNvSpPr/>
          <p:nvPr/>
        </p:nvSpPr>
        <p:spPr>
          <a:xfrm>
            <a:off x="886968" y="3355848"/>
            <a:ext cx="420624" cy="420624"/>
          </a:xfrm>
          <a:prstGeom prst="roundRect">
            <a:avLst>
              <a:gd name="adj" fmla="val 108696"/>
            </a:avLst>
          </a:prstGeom>
          <a:solidFill>
            <a:srgbClr val="F0A202"/>
          </a:solidFill>
          <a:ln/>
        </p:spPr>
        <p:txBody>
          <a:bodyPr/>
          <a:lstStyle/>
          <a:p>
            <a:endParaRPr lang="en-SE"/>
          </a:p>
        </p:txBody>
      </p:sp>
      <p:sp>
        <p:nvSpPr>
          <p:cNvPr id="16" name="Text 14"/>
          <p:cNvSpPr/>
          <p:nvPr/>
        </p:nvSpPr>
        <p:spPr>
          <a:xfrm>
            <a:off x="886968" y="3355848"/>
            <a:ext cx="420624" cy="420624"/>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2</a:t>
            </a:r>
            <a:endParaRPr lang="en-US" sz="1300" dirty="0"/>
          </a:p>
        </p:txBody>
      </p:sp>
      <p:sp>
        <p:nvSpPr>
          <p:cNvPr id="17" name="Text 15"/>
          <p:cNvSpPr/>
          <p:nvPr/>
        </p:nvSpPr>
        <p:spPr>
          <a:xfrm>
            <a:off x="1463040" y="3154680"/>
            <a:ext cx="1371600" cy="822960"/>
          </a:xfrm>
          <a:prstGeom prst="rect">
            <a:avLst/>
          </a:prstGeom>
          <a:noFill/>
          <a:ln/>
        </p:spPr>
        <p:txBody>
          <a:bodyPr wrap="square" lIns="0" tIns="0" rIns="0" bIns="0" rtlCol="0" anchor="ctr"/>
          <a:lstStyle/>
          <a:p>
            <a:pPr marL="0" indent="0">
              <a:buNone/>
            </a:pPr>
            <a:r>
              <a:rPr lang="en-US" sz="1450" b="1" dirty="0">
                <a:solidFill>
                  <a:srgbClr val="F0A202"/>
                </a:solidFill>
                <a:latin typeface="Trebuchet MS" pitchFamily="34" charset="0"/>
                <a:ea typeface="Trebuchet MS" pitchFamily="34" charset="-122"/>
                <a:cs typeface="Trebuchet MS" pitchFamily="34" charset="-120"/>
              </a:rPr>
              <a:t>Say HELLO</a:t>
            </a:r>
            <a:endParaRPr lang="en-US" sz="1450" dirty="0"/>
          </a:p>
        </p:txBody>
      </p:sp>
      <p:sp>
        <p:nvSpPr>
          <p:cNvPr id="18" name="Text 16"/>
          <p:cNvSpPr/>
          <p:nvPr/>
        </p:nvSpPr>
        <p:spPr>
          <a:xfrm>
            <a:off x="2880360" y="3227832"/>
            <a:ext cx="3657600" cy="685800"/>
          </a:xfrm>
          <a:prstGeom prst="rect">
            <a:avLst/>
          </a:prstGeom>
          <a:noFill/>
          <a:ln/>
        </p:spPr>
        <p:txBody>
          <a:bodyPr wrap="square" lIns="0" tIns="0" rIns="0" bIns="0" rtlCol="0" anchor="ctr"/>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The very first line must be a HELLO, naming a client label, the protocol, and the gateway id you want</a:t>
            </a:r>
            <a:endParaRPr lang="en-US" sz="1150" dirty="0"/>
          </a:p>
        </p:txBody>
      </p:sp>
      <p:sp>
        <p:nvSpPr>
          <p:cNvPr id="19" name="Text 17"/>
          <p:cNvSpPr/>
          <p:nvPr/>
        </p:nvSpPr>
        <p:spPr>
          <a:xfrm>
            <a:off x="6675120" y="3154680"/>
            <a:ext cx="4800600" cy="822960"/>
          </a:xfrm>
          <a:prstGeom prst="rect">
            <a:avLst/>
          </a:prstGeom>
          <a:noFill/>
          <a:ln/>
        </p:spPr>
        <p:txBody>
          <a:bodyPr wrap="square" lIns="0" tIns="0" rIns="0" bIns="0" rtlCol="0" anchor="ctr"/>
          <a:lstStyle/>
          <a:p>
            <a:pPr marL="0" indent="0">
              <a:buNone/>
            </a:pPr>
            <a:r>
              <a:rPr lang="en-US" sz="1050" dirty="0">
                <a:solidFill>
                  <a:srgbClr val="ECF1F5"/>
                </a:solidFill>
                <a:latin typeface="Consolas" pitchFamily="34" charset="0"/>
                <a:ea typeface="Consolas" pitchFamily="34" charset="-122"/>
                <a:cs typeface="Consolas" pitchFamily="34" charset="-120"/>
              </a:rPr>
              <a:t>HELLO|CLIENT=risksys|PROTO=DC1|ID=TRADER01</a:t>
            </a:r>
            <a:endParaRPr lang="en-US" sz="1050" dirty="0"/>
          </a:p>
        </p:txBody>
      </p:sp>
      <p:sp>
        <p:nvSpPr>
          <p:cNvPr id="20" name="Shape 18"/>
          <p:cNvSpPr/>
          <p:nvPr/>
        </p:nvSpPr>
        <p:spPr>
          <a:xfrm>
            <a:off x="685800" y="4114800"/>
            <a:ext cx="10820095" cy="822960"/>
          </a:xfrm>
          <a:prstGeom prst="roundRect">
            <a:avLst>
              <a:gd name="adj" fmla="val 6667"/>
            </a:avLst>
          </a:prstGeom>
          <a:solidFill>
            <a:srgbClr val="252B31"/>
          </a:solidFill>
          <a:ln w="12700">
            <a:solidFill>
              <a:srgbClr val="3A434B"/>
            </a:solidFill>
            <a:prstDash val="solid"/>
          </a:ln>
        </p:spPr>
        <p:txBody>
          <a:bodyPr/>
          <a:lstStyle/>
          <a:p>
            <a:endParaRPr lang="en-SE"/>
          </a:p>
        </p:txBody>
      </p:sp>
      <p:sp>
        <p:nvSpPr>
          <p:cNvPr id="21" name="Shape 19"/>
          <p:cNvSpPr/>
          <p:nvPr/>
        </p:nvSpPr>
        <p:spPr>
          <a:xfrm>
            <a:off x="886968" y="4315968"/>
            <a:ext cx="420624" cy="420624"/>
          </a:xfrm>
          <a:prstGeom prst="roundRect">
            <a:avLst>
              <a:gd name="adj" fmla="val 108696"/>
            </a:avLst>
          </a:prstGeom>
          <a:solidFill>
            <a:srgbClr val="3FD0C9"/>
          </a:solidFill>
          <a:ln/>
        </p:spPr>
        <p:txBody>
          <a:bodyPr/>
          <a:lstStyle/>
          <a:p>
            <a:endParaRPr lang="en-SE"/>
          </a:p>
        </p:txBody>
      </p:sp>
      <p:sp>
        <p:nvSpPr>
          <p:cNvPr id="22" name="Text 20"/>
          <p:cNvSpPr/>
          <p:nvPr/>
        </p:nvSpPr>
        <p:spPr>
          <a:xfrm>
            <a:off x="886968" y="4315968"/>
            <a:ext cx="420624" cy="420624"/>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3</a:t>
            </a:r>
            <a:endParaRPr lang="en-US" sz="1300" dirty="0"/>
          </a:p>
        </p:txBody>
      </p:sp>
      <p:sp>
        <p:nvSpPr>
          <p:cNvPr id="23" name="Text 21"/>
          <p:cNvSpPr/>
          <p:nvPr/>
        </p:nvSpPr>
        <p:spPr>
          <a:xfrm>
            <a:off x="1463040" y="4114800"/>
            <a:ext cx="1371600" cy="822960"/>
          </a:xfrm>
          <a:prstGeom prst="rect">
            <a:avLst/>
          </a:prstGeom>
          <a:noFill/>
          <a:ln/>
        </p:spPr>
        <p:txBody>
          <a:bodyPr wrap="square" lIns="0" tIns="0" rIns="0" bIns="0" rtlCol="0" anchor="ctr"/>
          <a:lstStyle/>
          <a:p>
            <a:pPr marL="0" indent="0">
              <a:buNone/>
            </a:pPr>
            <a:r>
              <a:rPr lang="en-US" sz="1450" b="1" dirty="0">
                <a:solidFill>
                  <a:srgbClr val="3FD0C9"/>
                </a:solidFill>
                <a:latin typeface="Trebuchet MS" pitchFamily="34" charset="0"/>
                <a:ea typeface="Trebuchet MS" pitchFamily="34" charset="-122"/>
                <a:cs typeface="Trebuchet MS" pitchFamily="34" charset="-120"/>
              </a:rPr>
              <a:t>Get WELCOME</a:t>
            </a:r>
            <a:endParaRPr lang="en-US" sz="1450" dirty="0"/>
          </a:p>
        </p:txBody>
      </p:sp>
      <p:sp>
        <p:nvSpPr>
          <p:cNvPr id="24" name="Text 22"/>
          <p:cNvSpPr/>
          <p:nvPr/>
        </p:nvSpPr>
        <p:spPr>
          <a:xfrm>
            <a:off x="2880360" y="4187952"/>
            <a:ext cx="3657600" cy="685800"/>
          </a:xfrm>
          <a:prstGeom prst="rect">
            <a:avLst/>
          </a:prstGeom>
          <a:noFill/>
          <a:ln/>
        </p:spPr>
        <p:txBody>
          <a:bodyPr wrap="square" lIns="0" tIns="0" rIns="0" bIns="0" rtlCol="0" anchor="ctr"/>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The gateway subscribes you, then confirms with your id, its name, the heartbeat interval and idle timeout</a:t>
            </a:r>
            <a:endParaRPr lang="en-US" sz="1150" dirty="0"/>
          </a:p>
        </p:txBody>
      </p:sp>
      <p:sp>
        <p:nvSpPr>
          <p:cNvPr id="25" name="Text 23"/>
          <p:cNvSpPr/>
          <p:nvPr/>
        </p:nvSpPr>
        <p:spPr>
          <a:xfrm>
            <a:off x="6675120" y="4114800"/>
            <a:ext cx="4800600" cy="822960"/>
          </a:xfrm>
          <a:prstGeom prst="rect">
            <a:avLst/>
          </a:prstGeom>
          <a:noFill/>
          <a:ln/>
        </p:spPr>
        <p:txBody>
          <a:bodyPr wrap="square" lIns="0" tIns="0" rIns="0" bIns="0" rtlCol="0" anchor="ctr"/>
          <a:lstStyle/>
          <a:p>
            <a:pPr marL="0" indent="0">
              <a:buNone/>
            </a:pPr>
            <a:r>
              <a:rPr lang="en-US" sz="1050" dirty="0">
                <a:solidFill>
                  <a:srgbClr val="ECF1F5"/>
                </a:solidFill>
                <a:latin typeface="Consolas" pitchFamily="34" charset="0"/>
                <a:ea typeface="Consolas" pitchFamily="34" charset="-122"/>
                <a:cs typeface="Consolas" pitchFamily="34" charset="-120"/>
              </a:rPr>
              <a:t>WELCOME|PROTO=DC1|GW=dc-gwy01|ID=TRADER01|HBINT=5|IDLE=30</a:t>
            </a:r>
            <a:endParaRPr lang="en-US" sz="1050" dirty="0"/>
          </a:p>
        </p:txBody>
      </p:sp>
      <p:sp>
        <p:nvSpPr>
          <p:cNvPr id="26" name="Shape 24"/>
          <p:cNvSpPr/>
          <p:nvPr/>
        </p:nvSpPr>
        <p:spPr>
          <a:xfrm>
            <a:off x="685800" y="5074920"/>
            <a:ext cx="10820095" cy="822960"/>
          </a:xfrm>
          <a:prstGeom prst="roundRect">
            <a:avLst>
              <a:gd name="adj" fmla="val 6667"/>
            </a:avLst>
          </a:prstGeom>
          <a:solidFill>
            <a:srgbClr val="252B31"/>
          </a:solidFill>
          <a:ln w="12700">
            <a:solidFill>
              <a:srgbClr val="3A434B"/>
            </a:solidFill>
            <a:prstDash val="solid"/>
          </a:ln>
        </p:spPr>
        <p:txBody>
          <a:bodyPr/>
          <a:lstStyle/>
          <a:p>
            <a:endParaRPr lang="en-SE"/>
          </a:p>
        </p:txBody>
      </p:sp>
      <p:sp>
        <p:nvSpPr>
          <p:cNvPr id="27" name="Shape 25"/>
          <p:cNvSpPr/>
          <p:nvPr/>
        </p:nvSpPr>
        <p:spPr>
          <a:xfrm>
            <a:off x="886968" y="5276088"/>
            <a:ext cx="420624" cy="420624"/>
          </a:xfrm>
          <a:prstGeom prst="roundRect">
            <a:avLst>
              <a:gd name="adj" fmla="val 108696"/>
            </a:avLst>
          </a:prstGeom>
          <a:solidFill>
            <a:srgbClr val="5FC97F"/>
          </a:solidFill>
          <a:ln/>
        </p:spPr>
        <p:txBody>
          <a:bodyPr/>
          <a:lstStyle/>
          <a:p>
            <a:endParaRPr lang="en-SE"/>
          </a:p>
        </p:txBody>
      </p:sp>
      <p:sp>
        <p:nvSpPr>
          <p:cNvPr id="28" name="Text 26"/>
          <p:cNvSpPr/>
          <p:nvPr/>
        </p:nvSpPr>
        <p:spPr>
          <a:xfrm>
            <a:off x="886968" y="5276088"/>
            <a:ext cx="420624" cy="420624"/>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4</a:t>
            </a:r>
            <a:endParaRPr lang="en-US" sz="1300" dirty="0"/>
          </a:p>
        </p:txBody>
      </p:sp>
      <p:sp>
        <p:nvSpPr>
          <p:cNvPr id="29" name="Text 27"/>
          <p:cNvSpPr/>
          <p:nvPr/>
        </p:nvSpPr>
        <p:spPr>
          <a:xfrm>
            <a:off x="1463040" y="5074920"/>
            <a:ext cx="1371600" cy="822960"/>
          </a:xfrm>
          <a:prstGeom prst="rect">
            <a:avLst/>
          </a:prstGeom>
          <a:noFill/>
          <a:ln/>
        </p:spPr>
        <p:txBody>
          <a:bodyPr wrap="square" lIns="0" tIns="0" rIns="0" bIns="0" rtlCol="0" anchor="ctr"/>
          <a:lstStyle/>
          <a:p>
            <a:pPr marL="0" indent="0">
              <a:buNone/>
            </a:pPr>
            <a:r>
              <a:rPr lang="en-US" sz="1450" b="1" dirty="0">
                <a:solidFill>
                  <a:srgbClr val="5FC97F"/>
                </a:solidFill>
                <a:latin typeface="Trebuchet MS" pitchFamily="34" charset="0"/>
                <a:ea typeface="Trebuchet MS" pitchFamily="34" charset="-122"/>
                <a:cs typeface="Trebuchet MS" pitchFamily="34" charset="-120"/>
              </a:rPr>
              <a:t>Receive fills</a:t>
            </a:r>
            <a:endParaRPr lang="en-US" sz="1450" dirty="0"/>
          </a:p>
        </p:txBody>
      </p:sp>
      <p:sp>
        <p:nvSpPr>
          <p:cNvPr id="30" name="Text 28"/>
          <p:cNvSpPr/>
          <p:nvPr/>
        </p:nvSpPr>
        <p:spPr>
          <a:xfrm>
            <a:off x="2880360" y="5148072"/>
            <a:ext cx="3657600" cy="685800"/>
          </a:xfrm>
          <a:prstGeom prst="rect">
            <a:avLst/>
          </a:prstGeom>
          <a:noFill/>
          <a:ln/>
        </p:spPr>
        <p:txBody>
          <a:bodyPr wrap="square" lIns="0" tIns="0" rIns="0" bIns="0" rtlCol="0" anchor="ctr"/>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No further command is needed — every fill for that id arrives unprompted for as long as you stay connected</a:t>
            </a:r>
            <a:endParaRPr lang="en-US" sz="1150" dirty="0"/>
          </a:p>
        </p:txBody>
      </p:sp>
      <p:sp>
        <p:nvSpPr>
          <p:cNvPr id="31" name="Text 29"/>
          <p:cNvSpPr/>
          <p:nvPr/>
        </p:nvSpPr>
        <p:spPr>
          <a:xfrm>
            <a:off x="6675120" y="5074920"/>
            <a:ext cx="4800600" cy="822960"/>
          </a:xfrm>
          <a:prstGeom prst="rect">
            <a:avLst/>
          </a:prstGeom>
          <a:noFill/>
          <a:ln/>
        </p:spPr>
        <p:txBody>
          <a:bodyPr wrap="square" lIns="0" tIns="0" rIns="0" bIns="0" rtlCol="0" anchor="ctr"/>
          <a:lstStyle/>
          <a:p>
            <a:pPr marL="0" indent="0">
              <a:buNone/>
            </a:pPr>
            <a:r>
              <a:rPr lang="en-US" sz="1050" dirty="0">
                <a:solidFill>
                  <a:srgbClr val="ECF1F5"/>
                </a:solidFill>
                <a:latin typeface="Consolas" pitchFamily="34" charset="0"/>
                <a:ea typeface="Consolas" pitchFamily="34" charset="-122"/>
                <a:cs typeface="Consolas" pitchFamily="34" charset="-120"/>
              </a:rPr>
              <a:t>DC_FILL|SEQ=42|ORDER_ID=ORD-001|SYMBOL=AAPL|FILL_QTY=100|...</a:t>
            </a:r>
            <a:endParaRPr lang="en-US" sz="1050" dirty="0"/>
          </a:p>
        </p:txBody>
      </p:sp>
      <p:sp>
        <p:nvSpPr>
          <p:cNvPr id="32" name="Text 30"/>
          <p:cNvSpPr/>
          <p:nvPr/>
        </p:nvSpPr>
        <p:spPr>
          <a:xfrm>
            <a:off x="685800" y="6126480"/>
            <a:ext cx="10820095" cy="365760"/>
          </a:xfrm>
          <a:prstGeom prst="rect">
            <a:avLst/>
          </a:prstGeom>
          <a:noFill/>
          <a:ln/>
        </p:spPr>
        <p:txBody>
          <a:bodyPr wrap="square" lIns="0" tIns="0" rIns="0" bIns="0" rtlCol="0" anchor="ctr"/>
          <a:lstStyle/>
          <a:p>
            <a:pPr marL="0" indent="0">
              <a:buNone/>
            </a:pPr>
            <a:r>
              <a:rPr lang="en-US" sz="1200" dirty="0">
                <a:solidFill>
                  <a:srgbClr val="6E7C87"/>
                </a:solidFill>
                <a:latin typeface="Calibri" pitchFamily="34" charset="0"/>
                <a:ea typeface="Calibri" pitchFamily="34" charset="-122"/>
                <a:cs typeface="Calibri" pitchFamily="34" charset="-120"/>
              </a:rPr>
              <a:t>Send EXIT to close cleanly. The gateway then drops its internal subscription if no other client still wants that gateway id.</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06 · DC GATEWAY</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35</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THE DC1 MESSAGE SET</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Three things you can send, five you can receive</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All lines share one shape: a message type, then pipe-separated FIELD=VALUE pairs, terminated by a newline.</a:t>
            </a:r>
            <a:endParaRPr lang="en-US" sz="1450" dirty="0"/>
          </a:p>
        </p:txBody>
      </p:sp>
      <p:sp>
        <p:nvSpPr>
          <p:cNvPr id="8" name="Text 6"/>
          <p:cNvSpPr/>
          <p:nvPr/>
        </p:nvSpPr>
        <p:spPr>
          <a:xfrm>
            <a:off x="685800" y="2148840"/>
            <a:ext cx="5120640" cy="274320"/>
          </a:xfrm>
          <a:prstGeom prst="rect">
            <a:avLst/>
          </a:prstGeom>
          <a:noFill/>
          <a:ln/>
        </p:spPr>
        <p:txBody>
          <a:bodyPr wrap="square" lIns="0" tIns="0" rIns="0" bIns="0" rtlCol="0" anchor="ctr"/>
          <a:lstStyle/>
          <a:p>
            <a:pPr marL="0" indent="0">
              <a:buNone/>
            </a:pPr>
            <a:r>
              <a:rPr lang="en-US" sz="1000" kern="0" spc="180" dirty="0">
                <a:solidFill>
                  <a:srgbClr val="F0A202"/>
                </a:solidFill>
                <a:latin typeface="Calibri" pitchFamily="34" charset="0"/>
                <a:ea typeface="Calibri" pitchFamily="34" charset="-122"/>
                <a:cs typeface="Calibri" pitchFamily="34" charset="-120"/>
              </a:rPr>
              <a:t>CLIENT  →  GATEWAY</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85800" y="2468880"/>
          <a:ext cx="5257800" cy="914400"/>
        </p:xfrm>
        <a:graphic>
          <a:graphicData uri="http://schemas.openxmlformats.org/drawingml/2006/table">
            <a:tbl>
              <a:tblPr/>
              <a:tblGrid>
                <a:gridCol w="12344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438912">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Message</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Fields</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Notes</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extLst>
                  <a:ext uri="{0D108BD9-81ED-4DB2-BD59-A6C34878D82A}">
                    <a16:rowId xmlns:a16="http://schemas.microsoft.com/office/drawing/2014/main" val="10000"/>
                  </a:ext>
                </a:extLst>
              </a:tr>
              <a:tr h="438912">
                <a:tc>
                  <a:txBody>
                    <a:bodyPr/>
                    <a:lstStyle/>
                    <a:p>
                      <a:pPr marL="0" indent="0">
                        <a:buNone/>
                      </a:pPr>
                      <a:r>
                        <a:rPr lang="en-US" sz="1100" dirty="0">
                          <a:solidFill>
                            <a:srgbClr val="F0A202"/>
                          </a:solidFill>
                          <a:latin typeface="Consolas" pitchFamily="34" charset="0"/>
                          <a:ea typeface="Consolas" pitchFamily="34" charset="-122"/>
                          <a:cs typeface="Consolas" pitchFamily="34" charset="-120"/>
                        </a:rPr>
                        <a:t>HELLO</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000" dirty="0">
                          <a:solidFill>
                            <a:srgbClr val="97A4AE"/>
                          </a:solidFill>
                          <a:latin typeface="Consolas" pitchFamily="34" charset="0"/>
                          <a:ea typeface="Consolas" pitchFamily="34" charset="-122"/>
                          <a:cs typeface="Consolas" pitchFamily="34" charset="-120"/>
                        </a:rPr>
                        <a:t>CLIENT, PROTO, ID</a:t>
                      </a:r>
                      <a:endParaRPr lang="en-US" sz="10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Must be the first line</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1"/>
                  </a:ext>
                </a:extLst>
              </a:tr>
              <a:tr h="438912">
                <a:tc>
                  <a:txBody>
                    <a:bodyPr/>
                    <a:lstStyle/>
                    <a:p>
                      <a:pPr marL="0" indent="0">
                        <a:buNone/>
                      </a:pPr>
                      <a:r>
                        <a:rPr lang="en-US" sz="1100" dirty="0">
                          <a:solidFill>
                            <a:srgbClr val="F0A202"/>
                          </a:solidFill>
                          <a:latin typeface="Consolas" pitchFamily="34" charset="0"/>
                          <a:ea typeface="Consolas" pitchFamily="34" charset="-122"/>
                          <a:cs typeface="Consolas" pitchFamily="34" charset="-120"/>
                        </a:rPr>
                        <a:t>PING</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Gateway replies PONG</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2"/>
                  </a:ext>
                </a:extLst>
              </a:tr>
              <a:tr h="438912">
                <a:tc>
                  <a:txBody>
                    <a:bodyPr/>
                    <a:lstStyle/>
                    <a:p>
                      <a:pPr marL="0" indent="0">
                        <a:buNone/>
                      </a:pPr>
                      <a:r>
                        <a:rPr lang="en-US" sz="1100" dirty="0">
                          <a:solidFill>
                            <a:srgbClr val="F0A202"/>
                          </a:solidFill>
                          <a:latin typeface="Consolas" pitchFamily="34" charset="0"/>
                          <a:ea typeface="Consolas" pitchFamily="34" charset="-122"/>
                          <a:cs typeface="Consolas" pitchFamily="34" charset="-120"/>
                        </a:rPr>
                        <a:t>EXIT</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Graceful disconnect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3"/>
                  </a:ext>
                </a:extLst>
              </a:tr>
            </a:tbl>
          </a:graphicData>
        </a:graphic>
      </p:graphicFrame>
      <p:sp>
        <p:nvSpPr>
          <p:cNvPr id="10" name="Text 7"/>
          <p:cNvSpPr/>
          <p:nvPr/>
        </p:nvSpPr>
        <p:spPr>
          <a:xfrm>
            <a:off x="6217920" y="2148840"/>
            <a:ext cx="5303520" cy="274320"/>
          </a:xfrm>
          <a:prstGeom prst="rect">
            <a:avLst/>
          </a:prstGeom>
          <a:noFill/>
          <a:ln/>
        </p:spPr>
        <p:txBody>
          <a:bodyPr wrap="square" lIns="0" tIns="0" rIns="0" bIns="0" rtlCol="0" anchor="ctr"/>
          <a:lstStyle/>
          <a:p>
            <a:pPr marL="0" indent="0">
              <a:buNone/>
            </a:pPr>
            <a:r>
              <a:rPr lang="en-US" sz="1000" kern="0" spc="180" dirty="0">
                <a:solidFill>
                  <a:srgbClr val="3FD0C9"/>
                </a:solidFill>
                <a:latin typeface="Calibri" pitchFamily="34" charset="0"/>
                <a:ea typeface="Calibri" pitchFamily="34" charset="-122"/>
                <a:cs typeface="Calibri" pitchFamily="34" charset="-120"/>
              </a:rPr>
              <a:t>GATEWAY  →  CLIENT</a:t>
            </a:r>
            <a:endParaRPr lang="en-US" sz="1000" dirty="0"/>
          </a:p>
        </p:txBody>
      </p:sp>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6217920" y="2468880"/>
          <a:ext cx="5285232" cy="914400"/>
        </p:xfrm>
        <a:graphic>
          <a:graphicData uri="http://schemas.openxmlformats.org/drawingml/2006/table">
            <a:tbl>
              <a:tblPr/>
              <a:tblGrid>
                <a:gridCol w="12801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719072">
                  <a:extLst>
                    <a:ext uri="{9D8B030D-6E8A-4147-A177-3AD203B41FA5}">
                      <a16:colId xmlns:a16="http://schemas.microsoft.com/office/drawing/2014/main" val="20002"/>
                    </a:ext>
                  </a:extLst>
                </a:gridCol>
              </a:tblGrid>
              <a:tr h="429768">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Message</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Fields</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Trigger</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extLst>
                  <a:ext uri="{0D108BD9-81ED-4DB2-BD59-A6C34878D82A}">
                    <a16:rowId xmlns:a16="http://schemas.microsoft.com/office/drawing/2014/main" val="10000"/>
                  </a:ext>
                </a:extLst>
              </a:tr>
              <a:tr h="429768">
                <a:tc>
                  <a:txBody>
                    <a:bodyPr/>
                    <a:lstStyle/>
                    <a:p>
                      <a:pPr marL="0" indent="0">
                        <a:buNone/>
                      </a:pPr>
                      <a:r>
                        <a:rPr lang="en-US" sz="1100" dirty="0">
                          <a:solidFill>
                            <a:srgbClr val="3FD0C9"/>
                          </a:solidFill>
                          <a:latin typeface="Consolas" pitchFamily="34" charset="0"/>
                          <a:ea typeface="Consolas" pitchFamily="34" charset="-122"/>
                          <a:cs typeface="Consolas" pitchFamily="34" charset="-120"/>
                        </a:rPr>
                        <a:t>WELCOME</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950" dirty="0">
                          <a:solidFill>
                            <a:srgbClr val="97A4AE"/>
                          </a:solidFill>
                          <a:latin typeface="Consolas" pitchFamily="34" charset="0"/>
                          <a:ea typeface="Consolas" pitchFamily="34" charset="-122"/>
                          <a:cs typeface="Consolas" pitchFamily="34" charset="-120"/>
                        </a:rPr>
                        <a:t>PROTO, GW, ID, HBINT, IDLE</a:t>
                      </a:r>
                      <a:endParaRPr lang="en-US" sz="95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Reply to a valid HELLO</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1"/>
                  </a:ext>
                </a:extLst>
              </a:tr>
              <a:tr h="429768">
                <a:tc>
                  <a:txBody>
                    <a:bodyPr/>
                    <a:lstStyle/>
                    <a:p>
                      <a:pPr marL="0" indent="0">
                        <a:buNone/>
                      </a:pPr>
                      <a:r>
                        <a:rPr lang="en-US" sz="1100" dirty="0">
                          <a:solidFill>
                            <a:srgbClr val="3FD0C9"/>
                          </a:solidFill>
                          <a:latin typeface="Consolas" pitchFamily="34" charset="0"/>
                          <a:ea typeface="Consolas" pitchFamily="34" charset="-122"/>
                          <a:cs typeface="Consolas" pitchFamily="34" charset="-120"/>
                        </a:rPr>
                        <a:t>DC_FILL</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950" dirty="0">
                          <a:solidFill>
                            <a:srgbClr val="97A4AE"/>
                          </a:solidFill>
                          <a:latin typeface="Consolas" pitchFamily="34" charset="0"/>
                          <a:ea typeface="Consolas" pitchFamily="34" charset="-122"/>
                          <a:cs typeface="Consolas" pitchFamily="34" charset="-120"/>
                        </a:rPr>
                        <a:t>SEQ, ORDER_ID, SYMBOL, FILL_QTY, FILL_PRICE, LIQUIDITY</a:t>
                      </a:r>
                      <a:endParaRPr lang="en-US" sz="95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One per fill, unsolicited</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2"/>
                  </a:ext>
                </a:extLst>
              </a:tr>
              <a:tr h="429768">
                <a:tc>
                  <a:txBody>
                    <a:bodyPr/>
                    <a:lstStyle/>
                    <a:p>
                      <a:pPr marL="0" indent="0">
                        <a:buNone/>
                      </a:pPr>
                      <a:r>
                        <a:rPr lang="en-US" sz="1100" dirty="0">
                          <a:solidFill>
                            <a:srgbClr val="3FD0C9"/>
                          </a:solidFill>
                          <a:latin typeface="Consolas" pitchFamily="34" charset="0"/>
                          <a:ea typeface="Consolas" pitchFamily="34" charset="-122"/>
                          <a:cs typeface="Consolas" pitchFamily="34" charset="-120"/>
                        </a:rPr>
                        <a:t>PONG</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950" dirty="0">
                          <a:solidFill>
                            <a:srgbClr val="97A4AE"/>
                          </a:solidFill>
                          <a:latin typeface="Consolas" pitchFamily="34" charset="0"/>
                          <a:ea typeface="Consolas" pitchFamily="34" charset="-122"/>
                          <a:cs typeface="Consolas" pitchFamily="34" charset="-120"/>
                        </a:rPr>
                        <a:t>TS</a:t>
                      </a:r>
                      <a:endParaRPr lang="en-US" sz="95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Reply to PING</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3"/>
                  </a:ext>
                </a:extLst>
              </a:tr>
              <a:tr h="429768">
                <a:tc>
                  <a:txBody>
                    <a:bodyPr/>
                    <a:lstStyle/>
                    <a:p>
                      <a:pPr marL="0" indent="0">
                        <a:buNone/>
                      </a:pPr>
                      <a:r>
                        <a:rPr lang="en-US" sz="1100" dirty="0">
                          <a:solidFill>
                            <a:srgbClr val="3FD0C9"/>
                          </a:solidFill>
                          <a:latin typeface="Consolas" pitchFamily="34" charset="0"/>
                          <a:ea typeface="Consolas" pitchFamily="34" charset="-122"/>
                          <a:cs typeface="Consolas" pitchFamily="34" charset="-120"/>
                        </a:rPr>
                        <a:t>HB</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950" dirty="0">
                          <a:solidFill>
                            <a:srgbClr val="97A4AE"/>
                          </a:solidFill>
                          <a:latin typeface="Consolas" pitchFamily="34" charset="0"/>
                          <a:ea typeface="Consolas" pitchFamily="34" charset="-122"/>
                          <a:cs typeface="Consolas" pitchFamily="34" charset="-120"/>
                        </a:rPr>
                        <a:t>TS</a:t>
                      </a:r>
                      <a:endParaRPr lang="en-US" sz="95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Heartbeat when otherwise silent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4"/>
                  </a:ext>
                </a:extLst>
              </a:tr>
              <a:tr h="429768">
                <a:tc>
                  <a:txBody>
                    <a:bodyPr/>
                    <a:lstStyle/>
                    <a:p>
                      <a:pPr marL="0" indent="0">
                        <a:buNone/>
                      </a:pPr>
                      <a:r>
                        <a:rPr lang="en-US" sz="1100" dirty="0">
                          <a:solidFill>
                            <a:srgbClr val="E5566B"/>
                          </a:solidFill>
                          <a:latin typeface="Consolas" pitchFamily="34" charset="0"/>
                          <a:ea typeface="Consolas" pitchFamily="34" charset="-122"/>
                          <a:cs typeface="Consolas" pitchFamily="34" charset="-120"/>
                        </a:rPr>
                        <a:t>ERR</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950" dirty="0">
                          <a:solidFill>
                            <a:srgbClr val="97A4AE"/>
                          </a:solidFill>
                          <a:latin typeface="Consolas" pitchFamily="34" charset="0"/>
                          <a:ea typeface="Consolas" pitchFamily="34" charset="-122"/>
                          <a:cs typeface="Consolas" pitchFamily="34" charset="-120"/>
                        </a:rPr>
                        <a:t>CODE, DETAIL</a:t>
                      </a:r>
                      <a:endParaRPr lang="en-US" sz="95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Something went wrong</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5"/>
                  </a:ext>
                </a:extLst>
              </a:tr>
            </a:tbl>
          </a:graphicData>
        </a:graphic>
      </p:graphicFrame>
      <p:sp>
        <p:nvSpPr>
          <p:cNvPr id="12" name="Shape 8"/>
          <p:cNvSpPr/>
          <p:nvPr/>
        </p:nvSpPr>
        <p:spPr>
          <a:xfrm>
            <a:off x="685800" y="4937760"/>
            <a:ext cx="10820095" cy="1143000"/>
          </a:xfrm>
          <a:prstGeom prst="roundRect">
            <a:avLst>
              <a:gd name="adj" fmla="val 4800"/>
            </a:avLst>
          </a:prstGeom>
          <a:solidFill>
            <a:srgbClr val="252B31"/>
          </a:solidFill>
          <a:ln w="19050">
            <a:solidFill>
              <a:srgbClr val="E5566B"/>
            </a:solidFill>
            <a:prstDash val="solid"/>
          </a:ln>
        </p:spPr>
        <p:txBody>
          <a:bodyPr/>
          <a:lstStyle/>
          <a:p>
            <a:endParaRPr lang="en-SE"/>
          </a:p>
        </p:txBody>
      </p:sp>
      <p:sp>
        <p:nvSpPr>
          <p:cNvPr id="13" name="Shape 9"/>
          <p:cNvSpPr/>
          <p:nvPr/>
        </p:nvSpPr>
        <p:spPr>
          <a:xfrm>
            <a:off x="923544" y="5326380"/>
            <a:ext cx="365760" cy="365760"/>
          </a:xfrm>
          <a:prstGeom prst="roundRect">
            <a:avLst>
              <a:gd name="adj" fmla="val 125000"/>
            </a:avLst>
          </a:prstGeom>
          <a:solidFill>
            <a:srgbClr val="E5566B"/>
          </a:solidFill>
          <a:ln/>
        </p:spPr>
        <p:txBody>
          <a:bodyPr/>
          <a:lstStyle/>
          <a:p>
            <a:endParaRPr lang="en-SE"/>
          </a:p>
        </p:txBody>
      </p:sp>
      <p:sp>
        <p:nvSpPr>
          <p:cNvPr id="14" name="Text 10"/>
          <p:cNvSpPr/>
          <p:nvPr/>
        </p:nvSpPr>
        <p:spPr>
          <a:xfrm>
            <a:off x="923544" y="532638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15" name="Text 11"/>
          <p:cNvSpPr/>
          <p:nvPr/>
        </p:nvSpPr>
        <p:spPr>
          <a:xfrm>
            <a:off x="1453896" y="5084064"/>
            <a:ext cx="9814255" cy="850392"/>
          </a:xfrm>
          <a:prstGeom prst="rect">
            <a:avLst/>
          </a:prstGeom>
          <a:noFill/>
          <a:ln/>
        </p:spPr>
        <p:txBody>
          <a:bodyPr wrap="square" lIns="0" tIns="0" rIns="0" bIns="0" rtlCol="0" anchor="ctr"/>
          <a:lstStyle/>
          <a:p>
            <a:pPr marL="0" indent="0">
              <a:lnSpc>
                <a:spcPct val="110000"/>
              </a:lnSpc>
              <a:buNone/>
            </a:pPr>
            <a:r>
              <a:rPr lang="en-US" sz="1350" b="1" dirty="0">
                <a:solidFill>
                  <a:srgbClr val="E5566B"/>
                </a:solidFill>
                <a:latin typeface="Trebuchet MS" pitchFamily="34" charset="0"/>
                <a:ea typeface="Trebuchet MS" pitchFamily="34" charset="-122"/>
                <a:cs typeface="Trebuchet MS" pitchFamily="34" charset="-120"/>
              </a:rPr>
              <a:t>The mistake every first-time client makes</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TCP is a byte stream, not a stream of lines. One read is not one message: it may deliver half a line, or three at once. Always append to a buffer and split on newline. Also send a PING periodically, or the gateway will close your idle connection.</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10454335" y="4572000"/>
            <a:ext cx="237744" cy="237744"/>
          </a:xfrm>
          <a:prstGeom prst="rect">
            <a:avLst/>
          </a:prstGeom>
          <a:solidFill>
            <a:srgbClr val="F0A202"/>
          </a:solidFill>
          <a:ln/>
        </p:spPr>
        <p:txBody>
          <a:bodyPr/>
          <a:lstStyle/>
          <a:p>
            <a:endParaRPr lang="en-SE"/>
          </a:p>
        </p:txBody>
      </p:sp>
      <p:sp>
        <p:nvSpPr>
          <p:cNvPr id="3" name="Shape 1"/>
          <p:cNvSpPr/>
          <p:nvPr/>
        </p:nvSpPr>
        <p:spPr>
          <a:xfrm>
            <a:off x="10838383" y="4572000"/>
            <a:ext cx="237744" cy="237744"/>
          </a:xfrm>
          <a:prstGeom prst="rect">
            <a:avLst/>
          </a:prstGeom>
          <a:solidFill>
            <a:srgbClr val="2E353C"/>
          </a:solidFill>
          <a:ln/>
        </p:spPr>
        <p:txBody>
          <a:bodyPr/>
          <a:lstStyle/>
          <a:p>
            <a:endParaRPr lang="en-SE"/>
          </a:p>
        </p:txBody>
      </p:sp>
      <p:sp>
        <p:nvSpPr>
          <p:cNvPr id="4" name="Shape 2"/>
          <p:cNvSpPr/>
          <p:nvPr/>
        </p:nvSpPr>
        <p:spPr>
          <a:xfrm>
            <a:off x="11222431" y="4572000"/>
            <a:ext cx="237744" cy="237744"/>
          </a:xfrm>
          <a:prstGeom prst="rect">
            <a:avLst/>
          </a:prstGeom>
          <a:solidFill>
            <a:srgbClr val="2E353C"/>
          </a:solidFill>
          <a:ln/>
        </p:spPr>
        <p:txBody>
          <a:bodyPr/>
          <a:lstStyle/>
          <a:p>
            <a:endParaRPr lang="en-SE"/>
          </a:p>
        </p:txBody>
      </p:sp>
      <p:sp>
        <p:nvSpPr>
          <p:cNvPr id="5" name="Shape 3"/>
          <p:cNvSpPr/>
          <p:nvPr/>
        </p:nvSpPr>
        <p:spPr>
          <a:xfrm>
            <a:off x="10454335" y="4956048"/>
            <a:ext cx="237744" cy="237744"/>
          </a:xfrm>
          <a:prstGeom prst="rect">
            <a:avLst/>
          </a:prstGeom>
          <a:solidFill>
            <a:srgbClr val="3FD0C9"/>
          </a:solidFill>
          <a:ln/>
        </p:spPr>
        <p:txBody>
          <a:bodyPr/>
          <a:lstStyle/>
          <a:p>
            <a:endParaRPr lang="en-SE"/>
          </a:p>
        </p:txBody>
      </p:sp>
      <p:sp>
        <p:nvSpPr>
          <p:cNvPr id="6" name="Shape 4"/>
          <p:cNvSpPr/>
          <p:nvPr/>
        </p:nvSpPr>
        <p:spPr>
          <a:xfrm>
            <a:off x="10838383" y="4956048"/>
            <a:ext cx="237744" cy="237744"/>
          </a:xfrm>
          <a:prstGeom prst="rect">
            <a:avLst/>
          </a:prstGeom>
          <a:solidFill>
            <a:srgbClr val="F0A202"/>
          </a:solidFill>
          <a:ln/>
        </p:spPr>
        <p:txBody>
          <a:bodyPr/>
          <a:lstStyle/>
          <a:p>
            <a:endParaRPr lang="en-SE"/>
          </a:p>
        </p:txBody>
      </p:sp>
      <p:sp>
        <p:nvSpPr>
          <p:cNvPr id="7" name="Shape 5"/>
          <p:cNvSpPr/>
          <p:nvPr/>
        </p:nvSpPr>
        <p:spPr>
          <a:xfrm>
            <a:off x="11222431" y="4956048"/>
            <a:ext cx="237744" cy="237744"/>
          </a:xfrm>
          <a:prstGeom prst="rect">
            <a:avLst/>
          </a:prstGeom>
          <a:solidFill>
            <a:srgbClr val="2E353C"/>
          </a:solidFill>
          <a:ln/>
        </p:spPr>
        <p:txBody>
          <a:bodyPr/>
          <a:lstStyle/>
          <a:p>
            <a:endParaRPr lang="en-SE"/>
          </a:p>
        </p:txBody>
      </p:sp>
      <p:sp>
        <p:nvSpPr>
          <p:cNvPr id="8" name="Text 6"/>
          <p:cNvSpPr/>
          <p:nvPr/>
        </p:nvSpPr>
        <p:spPr>
          <a:xfrm>
            <a:off x="685800" y="1417320"/>
            <a:ext cx="2743200" cy="1737360"/>
          </a:xfrm>
          <a:prstGeom prst="rect">
            <a:avLst/>
          </a:prstGeom>
          <a:noFill/>
          <a:ln/>
        </p:spPr>
        <p:txBody>
          <a:bodyPr wrap="square" lIns="0" tIns="0" rIns="0" bIns="0" rtlCol="0" anchor="ctr"/>
          <a:lstStyle/>
          <a:p>
            <a:pPr marL="0" indent="0">
              <a:buNone/>
            </a:pPr>
            <a:r>
              <a:rPr lang="en-US" sz="11000" b="1" dirty="0">
                <a:solidFill>
                  <a:srgbClr val="2E353C"/>
                </a:solidFill>
                <a:latin typeface="Trebuchet MS" pitchFamily="34" charset="0"/>
                <a:ea typeface="Trebuchet MS" pitchFamily="34" charset="-122"/>
                <a:cs typeface="Trebuchet MS" pitchFamily="34" charset="-120"/>
              </a:rPr>
              <a:t>07</a:t>
            </a:r>
            <a:endParaRPr lang="en-US" sz="11000" dirty="0"/>
          </a:p>
        </p:txBody>
      </p:sp>
      <p:sp>
        <p:nvSpPr>
          <p:cNvPr id="9" name="Text 7"/>
          <p:cNvSpPr/>
          <p:nvPr/>
        </p:nvSpPr>
        <p:spPr>
          <a:xfrm>
            <a:off x="2606040" y="1600200"/>
            <a:ext cx="8579815" cy="1371600"/>
          </a:xfrm>
          <a:prstGeom prst="rect">
            <a:avLst/>
          </a:prstGeom>
          <a:noFill/>
          <a:ln/>
        </p:spPr>
        <p:txBody>
          <a:bodyPr wrap="square" lIns="0" tIns="0" rIns="0" bIns="0" rtlCol="0" anchor="ctr"/>
          <a:lstStyle/>
          <a:p>
            <a:pPr marL="0" indent="0">
              <a:buNone/>
            </a:pPr>
            <a:r>
              <a:rPr lang="en-US" sz="4000" b="1" dirty="0">
                <a:solidFill>
                  <a:srgbClr val="ECF1F5"/>
                </a:solidFill>
                <a:latin typeface="Trebuchet MS" pitchFamily="34" charset="0"/>
                <a:ea typeface="Trebuchet MS" pitchFamily="34" charset="-122"/>
                <a:cs typeface="Trebuchet MS" pitchFamily="34" charset="-120"/>
              </a:rPr>
              <a:t>What is the DC Spy client for?</a:t>
            </a:r>
            <a:endParaRPr lang="en-US" sz="4000" dirty="0"/>
          </a:p>
        </p:txBody>
      </p:sp>
      <p:sp>
        <p:nvSpPr>
          <p:cNvPr id="10" name="Text 8"/>
          <p:cNvSpPr/>
          <p:nvPr/>
        </p:nvSpPr>
        <p:spPr>
          <a:xfrm>
            <a:off x="2651760" y="3017520"/>
            <a:ext cx="7680960" cy="822960"/>
          </a:xfrm>
          <a:prstGeom prst="rect">
            <a:avLst/>
          </a:prstGeom>
          <a:noFill/>
          <a:ln/>
        </p:spPr>
        <p:txBody>
          <a:bodyPr wrap="square" lIns="0" tIns="0" rIns="0" bIns="0" rtlCol="0" anchor="t"/>
          <a:lstStyle/>
          <a:p>
            <a:pPr marL="0" indent="0">
              <a:lnSpc>
                <a:spcPct val="115000"/>
              </a:lnSpc>
              <a:buNone/>
            </a:pPr>
            <a:r>
              <a:rPr lang="en-US" sz="1500" dirty="0">
                <a:solidFill>
                  <a:srgbClr val="97A4AE"/>
                </a:solidFill>
                <a:latin typeface="Calibri" pitchFamily="34" charset="0"/>
                <a:ea typeface="Calibri" pitchFamily="34" charset="-122"/>
                <a:cs typeface="Calibri" pitchFamily="34" charset="-120"/>
              </a:rPr>
              <a:t>pm-dc-spy answers one question fast: what is the engine actually publishing right now?</a:t>
            </a:r>
            <a:endParaRPr lang="en-US" sz="1500" dirty="0"/>
          </a:p>
        </p:txBody>
      </p:sp>
      <p:sp>
        <p:nvSpPr>
          <p:cNvPr id="11" name="Shape 9"/>
          <p:cNvSpPr/>
          <p:nvPr/>
        </p:nvSpPr>
        <p:spPr>
          <a:xfrm>
            <a:off x="2651760" y="4142232"/>
            <a:ext cx="128016" cy="128016"/>
          </a:xfrm>
          <a:prstGeom prst="rect">
            <a:avLst/>
          </a:prstGeom>
          <a:solidFill>
            <a:srgbClr val="3FD0C9"/>
          </a:solidFill>
          <a:ln/>
        </p:spPr>
        <p:txBody>
          <a:bodyPr/>
          <a:lstStyle/>
          <a:p>
            <a:endParaRPr lang="en-SE"/>
          </a:p>
        </p:txBody>
      </p:sp>
      <p:sp>
        <p:nvSpPr>
          <p:cNvPr id="12" name="Text 10"/>
          <p:cNvSpPr/>
          <p:nvPr/>
        </p:nvSpPr>
        <p:spPr>
          <a:xfrm>
            <a:off x="2971800" y="4041648"/>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What it is, and what it is not</a:t>
            </a:r>
            <a:endParaRPr lang="en-US" sz="1250" dirty="0"/>
          </a:p>
        </p:txBody>
      </p:sp>
      <p:sp>
        <p:nvSpPr>
          <p:cNvPr id="13" name="Shape 11"/>
          <p:cNvSpPr/>
          <p:nvPr/>
        </p:nvSpPr>
        <p:spPr>
          <a:xfrm>
            <a:off x="2651760" y="4526280"/>
            <a:ext cx="128016" cy="128016"/>
          </a:xfrm>
          <a:prstGeom prst="rect">
            <a:avLst/>
          </a:prstGeom>
          <a:solidFill>
            <a:srgbClr val="3FD0C9"/>
          </a:solidFill>
          <a:ln/>
        </p:spPr>
        <p:txBody>
          <a:bodyPr/>
          <a:lstStyle/>
          <a:p>
            <a:endParaRPr lang="en-SE"/>
          </a:p>
        </p:txBody>
      </p:sp>
      <p:sp>
        <p:nvSpPr>
          <p:cNvPr id="14" name="Text 12"/>
          <p:cNvSpPr/>
          <p:nvPr/>
        </p:nvSpPr>
        <p:spPr>
          <a:xfrm>
            <a:off x="2971800" y="4425696"/>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flags that matter</a:t>
            </a:r>
            <a:endParaRPr lang="en-US" sz="1250" dirty="0"/>
          </a:p>
        </p:txBody>
      </p:sp>
      <p:sp>
        <p:nvSpPr>
          <p:cNvPr id="15" name="Shape 13"/>
          <p:cNvSpPr/>
          <p:nvPr/>
        </p:nvSpPr>
        <p:spPr>
          <a:xfrm>
            <a:off x="2651760" y="4910328"/>
            <a:ext cx="128016" cy="128016"/>
          </a:xfrm>
          <a:prstGeom prst="rect">
            <a:avLst/>
          </a:prstGeom>
          <a:solidFill>
            <a:srgbClr val="3FD0C9"/>
          </a:solidFill>
          <a:ln/>
        </p:spPr>
        <p:txBody>
          <a:bodyPr/>
          <a:lstStyle/>
          <a:p>
            <a:endParaRPr lang="en-SE"/>
          </a:p>
        </p:txBody>
      </p:sp>
      <p:sp>
        <p:nvSpPr>
          <p:cNvPr id="16" name="Text 14"/>
          <p:cNvSpPr/>
          <p:nvPr/>
        </p:nvSpPr>
        <p:spPr>
          <a:xfrm>
            <a:off x="2971800" y="4809744"/>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Reading its output</a:t>
            </a:r>
            <a:endParaRPr lang="en-US" sz="1250" dirty="0"/>
          </a:p>
        </p:txBody>
      </p:sp>
      <p:sp>
        <p:nvSpPr>
          <p:cNvPr id="17" name="Shape 15"/>
          <p:cNvSpPr/>
          <p:nvPr/>
        </p:nvSpPr>
        <p:spPr>
          <a:xfrm>
            <a:off x="2651760" y="5294376"/>
            <a:ext cx="128016" cy="128016"/>
          </a:xfrm>
          <a:prstGeom prst="rect">
            <a:avLst/>
          </a:prstGeom>
          <a:solidFill>
            <a:srgbClr val="3FD0C9"/>
          </a:solidFill>
          <a:ln/>
        </p:spPr>
        <p:txBody>
          <a:bodyPr/>
          <a:lstStyle/>
          <a:p>
            <a:endParaRPr lang="en-SE"/>
          </a:p>
        </p:txBody>
      </p:sp>
      <p:sp>
        <p:nvSpPr>
          <p:cNvPr id="18" name="Text 16"/>
          <p:cNvSpPr/>
          <p:nvPr/>
        </p:nvSpPr>
        <p:spPr>
          <a:xfrm>
            <a:off x="2971800" y="5193792"/>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Everyday recipes</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07 · DC SPY</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37</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PM-DC-SPY</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A read-only window onto the feed</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It connects to the drop copy port, subscribes for one gateway or all of them, and prints everything it receives.</a:t>
            </a:r>
            <a:endParaRPr lang="en-US" sz="1450" dirty="0"/>
          </a:p>
        </p:txBody>
      </p:sp>
      <p:sp>
        <p:nvSpPr>
          <p:cNvPr id="8" name="Shape 6"/>
          <p:cNvSpPr/>
          <p:nvPr/>
        </p:nvSpPr>
        <p:spPr>
          <a:xfrm>
            <a:off x="685800" y="2286000"/>
            <a:ext cx="3423818" cy="1737360"/>
          </a:xfrm>
          <a:prstGeom prst="roundRect">
            <a:avLst>
              <a:gd name="adj" fmla="val 3158"/>
            </a:avLst>
          </a:prstGeom>
          <a:solidFill>
            <a:srgbClr val="252B31"/>
          </a:solidFill>
          <a:ln w="12700">
            <a:solidFill>
              <a:srgbClr val="3A434B"/>
            </a:solidFill>
            <a:prstDash val="solid"/>
          </a:ln>
        </p:spPr>
        <p:txBody>
          <a:bodyPr/>
          <a:lstStyle/>
          <a:p>
            <a:endParaRPr lang="en-SE"/>
          </a:p>
        </p:txBody>
      </p:sp>
      <p:sp>
        <p:nvSpPr>
          <p:cNvPr id="9" name="Shape 7"/>
          <p:cNvSpPr/>
          <p:nvPr/>
        </p:nvSpPr>
        <p:spPr>
          <a:xfrm>
            <a:off x="941832" y="2542032"/>
            <a:ext cx="384048" cy="384048"/>
          </a:xfrm>
          <a:prstGeom prst="roundRect">
            <a:avLst>
              <a:gd name="adj" fmla="val 119048"/>
            </a:avLst>
          </a:prstGeom>
          <a:solidFill>
            <a:srgbClr val="F0A202"/>
          </a:solidFill>
          <a:ln/>
        </p:spPr>
        <p:txBody>
          <a:bodyPr/>
          <a:lstStyle/>
          <a:p>
            <a:endParaRPr lang="en-SE"/>
          </a:p>
        </p:txBody>
      </p:sp>
      <p:sp>
        <p:nvSpPr>
          <p:cNvPr id="10" name="Text 8"/>
          <p:cNvSpPr/>
          <p:nvPr/>
        </p:nvSpPr>
        <p:spPr>
          <a:xfrm>
            <a:off x="941832" y="2542032"/>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a:t>
            </a:r>
            <a:endParaRPr lang="en-US" sz="1300" dirty="0"/>
          </a:p>
        </p:txBody>
      </p:sp>
      <p:sp>
        <p:nvSpPr>
          <p:cNvPr id="11" name="Text 9"/>
          <p:cNvSpPr/>
          <p:nvPr/>
        </p:nvSpPr>
        <p:spPr>
          <a:xfrm>
            <a:off x="941832" y="3108960"/>
            <a:ext cx="2911754" cy="310896"/>
          </a:xfrm>
          <a:prstGeom prst="rect">
            <a:avLst/>
          </a:prstGeom>
          <a:noFill/>
          <a:ln/>
        </p:spPr>
        <p:txBody>
          <a:bodyPr wrap="square" lIns="0" tIns="0" rIns="0" bIns="0" rtlCol="0" anchor="t"/>
          <a:lstStyle/>
          <a:p>
            <a:pPr marL="0" indent="0">
              <a:buNone/>
            </a:pPr>
            <a:r>
              <a:rPr lang="en-US" sz="1550" b="1" dirty="0">
                <a:solidFill>
                  <a:srgbClr val="F0A202"/>
                </a:solidFill>
                <a:latin typeface="Trebuchet MS" pitchFamily="34" charset="0"/>
                <a:ea typeface="Trebuchet MS" pitchFamily="34" charset="-122"/>
                <a:cs typeface="Trebuchet MS" pitchFamily="34" charset="-120"/>
              </a:rPr>
              <a:t>What it answers</a:t>
            </a:r>
            <a:endParaRPr lang="en-US" sz="1550" dirty="0"/>
          </a:p>
        </p:txBody>
      </p:sp>
      <p:sp>
        <p:nvSpPr>
          <p:cNvPr id="12" name="Text 10"/>
          <p:cNvSpPr/>
          <p:nvPr/>
        </p:nvSpPr>
        <p:spPr>
          <a:xfrm>
            <a:off x="941832" y="3493008"/>
            <a:ext cx="2911754" cy="36576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"Is anything being published at all, and does it contain what I expect?" — without writing a subscriber first.</a:t>
            </a:r>
            <a:endParaRPr lang="en-US" sz="1250" dirty="0"/>
          </a:p>
        </p:txBody>
      </p:sp>
      <p:sp>
        <p:nvSpPr>
          <p:cNvPr id="13" name="Shape 11"/>
          <p:cNvSpPr/>
          <p:nvPr/>
        </p:nvSpPr>
        <p:spPr>
          <a:xfrm>
            <a:off x="4383938" y="2286000"/>
            <a:ext cx="3423818" cy="1737360"/>
          </a:xfrm>
          <a:prstGeom prst="roundRect">
            <a:avLst>
              <a:gd name="adj" fmla="val 3158"/>
            </a:avLst>
          </a:prstGeom>
          <a:solidFill>
            <a:srgbClr val="252B31"/>
          </a:solidFill>
          <a:ln w="12700">
            <a:solidFill>
              <a:srgbClr val="3A434B"/>
            </a:solidFill>
            <a:prstDash val="solid"/>
          </a:ln>
        </p:spPr>
        <p:txBody>
          <a:bodyPr/>
          <a:lstStyle/>
          <a:p>
            <a:endParaRPr lang="en-SE"/>
          </a:p>
        </p:txBody>
      </p:sp>
      <p:sp>
        <p:nvSpPr>
          <p:cNvPr id="14" name="Shape 12"/>
          <p:cNvSpPr/>
          <p:nvPr/>
        </p:nvSpPr>
        <p:spPr>
          <a:xfrm>
            <a:off x="4639970" y="2542032"/>
            <a:ext cx="384048" cy="384048"/>
          </a:xfrm>
          <a:prstGeom prst="roundRect">
            <a:avLst>
              <a:gd name="adj" fmla="val 119048"/>
            </a:avLst>
          </a:prstGeom>
          <a:solidFill>
            <a:srgbClr val="3FD0C9"/>
          </a:solidFill>
          <a:ln/>
        </p:spPr>
        <p:txBody>
          <a:bodyPr/>
          <a:lstStyle/>
          <a:p>
            <a:endParaRPr lang="en-SE"/>
          </a:p>
        </p:txBody>
      </p:sp>
      <p:sp>
        <p:nvSpPr>
          <p:cNvPr id="15" name="Text 13"/>
          <p:cNvSpPr/>
          <p:nvPr/>
        </p:nvSpPr>
        <p:spPr>
          <a:xfrm>
            <a:off x="4639970" y="2542032"/>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a:t>
            </a:r>
            <a:endParaRPr lang="en-US" sz="1300" dirty="0"/>
          </a:p>
        </p:txBody>
      </p:sp>
      <p:sp>
        <p:nvSpPr>
          <p:cNvPr id="16" name="Text 14"/>
          <p:cNvSpPr/>
          <p:nvPr/>
        </p:nvSpPr>
        <p:spPr>
          <a:xfrm>
            <a:off x="4639970" y="3108960"/>
            <a:ext cx="2911754" cy="310896"/>
          </a:xfrm>
          <a:prstGeom prst="rect">
            <a:avLst/>
          </a:prstGeom>
          <a:noFill/>
          <a:ln/>
        </p:spPr>
        <p:txBody>
          <a:bodyPr wrap="square" lIns="0" tIns="0" rIns="0" bIns="0" rtlCol="0" anchor="t"/>
          <a:lstStyle/>
          <a:p>
            <a:pPr marL="0" indent="0">
              <a:buNone/>
            </a:pPr>
            <a:r>
              <a:rPr lang="en-US" sz="1550" b="1" dirty="0">
                <a:solidFill>
                  <a:srgbClr val="3FD0C9"/>
                </a:solidFill>
                <a:latin typeface="Trebuchet MS" pitchFamily="34" charset="0"/>
                <a:ea typeface="Trebuchet MS" pitchFamily="34" charset="-122"/>
                <a:cs typeface="Trebuchet MS" pitchFamily="34" charset="-120"/>
              </a:rPr>
              <a:t>Safe by construction</a:t>
            </a:r>
            <a:endParaRPr lang="en-US" sz="1550" dirty="0"/>
          </a:p>
        </p:txBody>
      </p:sp>
      <p:sp>
        <p:nvSpPr>
          <p:cNvPr id="17" name="Text 15"/>
          <p:cNvSpPr/>
          <p:nvPr/>
        </p:nvSpPr>
        <p:spPr>
          <a:xfrm>
            <a:off x="4639970" y="3493008"/>
            <a:ext cx="2911754" cy="36576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It never publishes anything back. Run as many instances as you like: the feed fans out independently to every subscriber.</a:t>
            </a:r>
            <a:endParaRPr lang="en-US" sz="1250" dirty="0"/>
          </a:p>
        </p:txBody>
      </p:sp>
      <p:sp>
        <p:nvSpPr>
          <p:cNvPr id="18" name="Shape 16"/>
          <p:cNvSpPr/>
          <p:nvPr/>
        </p:nvSpPr>
        <p:spPr>
          <a:xfrm>
            <a:off x="8082077" y="2286000"/>
            <a:ext cx="3423818" cy="1737360"/>
          </a:xfrm>
          <a:prstGeom prst="roundRect">
            <a:avLst>
              <a:gd name="adj" fmla="val 3158"/>
            </a:avLst>
          </a:prstGeom>
          <a:solidFill>
            <a:srgbClr val="252B31"/>
          </a:solidFill>
          <a:ln w="12700">
            <a:solidFill>
              <a:srgbClr val="3A434B"/>
            </a:solidFill>
            <a:prstDash val="solid"/>
          </a:ln>
        </p:spPr>
        <p:txBody>
          <a:bodyPr/>
          <a:lstStyle/>
          <a:p>
            <a:endParaRPr lang="en-SE"/>
          </a:p>
        </p:txBody>
      </p:sp>
      <p:sp>
        <p:nvSpPr>
          <p:cNvPr id="19" name="Shape 17"/>
          <p:cNvSpPr/>
          <p:nvPr/>
        </p:nvSpPr>
        <p:spPr>
          <a:xfrm>
            <a:off x="8338109" y="2542032"/>
            <a:ext cx="384048" cy="384048"/>
          </a:xfrm>
          <a:prstGeom prst="roundRect">
            <a:avLst>
              <a:gd name="adj" fmla="val 119048"/>
            </a:avLst>
          </a:prstGeom>
          <a:solidFill>
            <a:srgbClr val="9B8CFF"/>
          </a:solidFill>
          <a:ln/>
        </p:spPr>
        <p:txBody>
          <a:bodyPr/>
          <a:lstStyle/>
          <a:p>
            <a:endParaRPr lang="en-SE"/>
          </a:p>
        </p:txBody>
      </p:sp>
      <p:sp>
        <p:nvSpPr>
          <p:cNvPr id="20" name="Text 18"/>
          <p:cNvSpPr/>
          <p:nvPr/>
        </p:nvSpPr>
        <p:spPr>
          <a:xfrm>
            <a:off x="8338109" y="2542032"/>
            <a:ext cx="384048" cy="384048"/>
          </a:xfrm>
          <a:prstGeom prst="rect">
            <a:avLst/>
          </a:prstGeom>
          <a:noFill/>
          <a:ln/>
        </p:spPr>
        <p:txBody>
          <a:bodyPr wrap="square" lIns="0" tIns="0" rIns="0" bIns="0" rtlCol="0" anchor="ctr"/>
          <a:lstStyle/>
          <a:p>
            <a:pPr marL="0" indent="0" algn="ctr">
              <a:buNone/>
            </a:pPr>
            <a:r>
              <a:rPr lang="en-US" sz="1300" b="1" dirty="0">
                <a:solidFill>
                  <a:srgbClr val="141719"/>
                </a:solidFill>
                <a:latin typeface="Trebuchet MS" pitchFamily="34" charset="0"/>
                <a:ea typeface="Trebuchet MS" pitchFamily="34" charset="-122"/>
                <a:cs typeface="Trebuchet MS" pitchFamily="34" charset="-120"/>
              </a:rPr>
              <a:t>#</a:t>
            </a:r>
            <a:endParaRPr lang="en-US" sz="1300" dirty="0"/>
          </a:p>
        </p:txBody>
      </p:sp>
      <p:sp>
        <p:nvSpPr>
          <p:cNvPr id="21" name="Text 19"/>
          <p:cNvSpPr/>
          <p:nvPr/>
        </p:nvSpPr>
        <p:spPr>
          <a:xfrm>
            <a:off x="8338109" y="3108960"/>
            <a:ext cx="2911754" cy="310896"/>
          </a:xfrm>
          <a:prstGeom prst="rect">
            <a:avLst/>
          </a:prstGeom>
          <a:noFill/>
          <a:ln/>
        </p:spPr>
        <p:txBody>
          <a:bodyPr wrap="square" lIns="0" tIns="0" rIns="0" bIns="0" rtlCol="0" anchor="t"/>
          <a:lstStyle/>
          <a:p>
            <a:pPr marL="0" indent="0">
              <a:buNone/>
            </a:pPr>
            <a:r>
              <a:rPr lang="en-US" sz="1550" b="1" dirty="0">
                <a:solidFill>
                  <a:srgbClr val="9B8CFF"/>
                </a:solidFill>
                <a:latin typeface="Trebuchet MS" pitchFamily="34" charset="0"/>
                <a:ea typeface="Trebuchet MS" pitchFamily="34" charset="-122"/>
                <a:cs typeface="Trebuchet MS" pitchFamily="34" charset="-120"/>
              </a:rPr>
              <a:t>Machine-readable too</a:t>
            </a:r>
            <a:endParaRPr lang="en-US" sz="1550" dirty="0"/>
          </a:p>
        </p:txBody>
      </p:sp>
      <p:sp>
        <p:nvSpPr>
          <p:cNvPr id="22" name="Text 20"/>
          <p:cNvSpPr/>
          <p:nvPr/>
        </p:nvSpPr>
        <p:spPr>
          <a:xfrm>
            <a:off x="8338109" y="3493008"/>
            <a:ext cx="2911754" cy="36576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A JSON mode makes it a capture tool: pipe it into a filter, or redirect it to a file for later analysis.</a:t>
            </a:r>
            <a:endParaRPr lang="en-US" sz="1250" dirty="0"/>
          </a:p>
        </p:txBody>
      </p:sp>
      <p:sp>
        <p:nvSpPr>
          <p:cNvPr id="23" name="Shape 21"/>
          <p:cNvSpPr/>
          <p:nvPr/>
        </p:nvSpPr>
        <p:spPr>
          <a:xfrm>
            <a:off x="685800" y="4206240"/>
            <a:ext cx="10820095" cy="1783080"/>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24" name="Text 22"/>
          <p:cNvSpPr/>
          <p:nvPr/>
        </p:nvSpPr>
        <p:spPr>
          <a:xfrm>
            <a:off x="1005840" y="4343400"/>
            <a:ext cx="5943600" cy="365760"/>
          </a:xfrm>
          <a:prstGeom prst="rect">
            <a:avLst/>
          </a:prstGeom>
          <a:noFill/>
          <a:ln/>
        </p:spPr>
        <p:txBody>
          <a:bodyPr wrap="square" lIns="0" tIns="0" rIns="0" bIns="0" rtlCol="0" anchor="ctr"/>
          <a:lstStyle/>
          <a:p>
            <a:pPr marL="0" indent="0">
              <a:buNone/>
            </a:pPr>
            <a:r>
              <a:rPr lang="en-US" sz="1600" b="1" dirty="0">
                <a:solidFill>
                  <a:srgbClr val="ECF1F5"/>
                </a:solidFill>
                <a:latin typeface="Trebuchet MS" pitchFamily="34" charset="0"/>
                <a:ea typeface="Trebuchet MS" pitchFamily="34" charset="-122"/>
                <a:cs typeface="Trebuchet MS" pitchFamily="34" charset="-120"/>
              </a:rPr>
              <a:t>Not a protocol client — this trips people up</a:t>
            </a:r>
            <a:endParaRPr lang="en-US" sz="1600" dirty="0"/>
          </a:p>
        </p:txBody>
      </p:sp>
      <p:sp>
        <p:nvSpPr>
          <p:cNvPr id="25" name="Text 23"/>
          <p:cNvSpPr/>
          <p:nvPr/>
        </p:nvSpPr>
        <p:spPr>
          <a:xfrm>
            <a:off x="1005840" y="4754880"/>
            <a:ext cx="3291840" cy="320040"/>
          </a:xfrm>
          <a:prstGeom prst="rect">
            <a:avLst/>
          </a:prstGeom>
          <a:noFill/>
          <a:ln/>
        </p:spPr>
        <p:txBody>
          <a:bodyPr wrap="square" lIns="0" tIns="0" rIns="0" bIns="0" rtlCol="0" anchor="ctr"/>
          <a:lstStyle/>
          <a:p>
            <a:pPr marL="0" indent="0">
              <a:buNone/>
            </a:pPr>
            <a:r>
              <a:rPr lang="en-US" sz="1250" b="1" dirty="0">
                <a:solidFill>
                  <a:srgbClr val="3FD0C9"/>
                </a:solidFill>
                <a:latin typeface="Trebuchet MS" pitchFamily="34" charset="0"/>
                <a:ea typeface="Trebuchet MS" pitchFamily="34" charset="-122"/>
                <a:cs typeface="Trebuchet MS" pitchFamily="34" charset="-120"/>
              </a:rPr>
              <a:t>No handshake, no heartbeat</a:t>
            </a:r>
            <a:endParaRPr lang="en-US" sz="1250" dirty="0"/>
          </a:p>
        </p:txBody>
      </p:sp>
      <p:sp>
        <p:nvSpPr>
          <p:cNvPr id="26" name="Text 24"/>
          <p:cNvSpPr/>
          <p:nvPr/>
        </p:nvSpPr>
        <p:spPr>
          <a:xfrm>
            <a:off x="1005840" y="5074920"/>
            <a:ext cx="3291840" cy="777240"/>
          </a:xfrm>
          <a:prstGeom prst="rect">
            <a:avLst/>
          </a:prstGeom>
          <a:noFill/>
          <a:ln/>
        </p:spPr>
        <p:txBody>
          <a:bodyPr wrap="square" lIns="0" tIns="0" rIns="0" bIns="0" rtlCol="0" anchor="t"/>
          <a:lstStyle/>
          <a:p>
            <a:pPr marL="0" indent="0">
              <a:lnSpc>
                <a:spcPct val="108000"/>
              </a:lnSpc>
              <a:buNone/>
            </a:pPr>
            <a:r>
              <a:rPr lang="en-US" sz="1150" dirty="0">
                <a:solidFill>
                  <a:srgbClr val="97A4AE"/>
                </a:solidFill>
                <a:latin typeface="Calibri" pitchFamily="34" charset="0"/>
                <a:ea typeface="Calibri" pitchFamily="34" charset="-122"/>
                <a:cs typeface="Calibri" pitchFamily="34" charset="-120"/>
              </a:rPr>
              <a:t>There is no session to establish, so there are no client-name, ping-interval or show-heartbeat flags.</a:t>
            </a:r>
            <a:endParaRPr lang="en-US" sz="1150" dirty="0"/>
          </a:p>
        </p:txBody>
      </p:sp>
      <p:sp>
        <p:nvSpPr>
          <p:cNvPr id="27" name="Text 25"/>
          <p:cNvSpPr/>
          <p:nvPr/>
        </p:nvSpPr>
        <p:spPr>
          <a:xfrm>
            <a:off x="4526280" y="4754880"/>
            <a:ext cx="3291840" cy="320040"/>
          </a:xfrm>
          <a:prstGeom prst="rect">
            <a:avLst/>
          </a:prstGeom>
          <a:noFill/>
          <a:ln/>
        </p:spPr>
        <p:txBody>
          <a:bodyPr wrap="square" lIns="0" tIns="0" rIns="0" bIns="0" rtlCol="0" anchor="ctr"/>
          <a:lstStyle/>
          <a:p>
            <a:pPr marL="0" indent="0">
              <a:buNone/>
            </a:pPr>
            <a:r>
              <a:rPr lang="en-US" sz="1250" b="1" dirty="0">
                <a:solidFill>
                  <a:srgbClr val="3FD0C9"/>
                </a:solidFill>
                <a:latin typeface="Trebuchet MS" pitchFamily="34" charset="0"/>
                <a:ea typeface="Trebuchet MS" pitchFamily="34" charset="-122"/>
                <a:cs typeface="Trebuchet MS" pitchFamily="34" charset="-120"/>
              </a:rPr>
              <a:t>No WELCOME banner</a:t>
            </a:r>
            <a:endParaRPr lang="en-US" sz="1250" dirty="0"/>
          </a:p>
        </p:txBody>
      </p:sp>
      <p:sp>
        <p:nvSpPr>
          <p:cNvPr id="28" name="Text 26"/>
          <p:cNvSpPr/>
          <p:nvPr/>
        </p:nvSpPr>
        <p:spPr>
          <a:xfrm>
            <a:off x="4526280" y="5074920"/>
            <a:ext cx="3291840" cy="777240"/>
          </a:xfrm>
          <a:prstGeom prst="rect">
            <a:avLst/>
          </a:prstGeom>
          <a:noFill/>
          <a:ln/>
        </p:spPr>
        <p:txBody>
          <a:bodyPr wrap="square" lIns="0" tIns="0" rIns="0" bIns="0" rtlCol="0" anchor="t"/>
          <a:lstStyle/>
          <a:p>
            <a:pPr marL="0" indent="0">
              <a:lnSpc>
                <a:spcPct val="108000"/>
              </a:lnSpc>
              <a:buNone/>
            </a:pPr>
            <a:r>
              <a:rPr lang="en-US" sz="1150" dirty="0">
                <a:solidFill>
                  <a:srgbClr val="97A4AE"/>
                </a:solidFill>
                <a:latin typeface="Calibri" pitchFamily="34" charset="0"/>
                <a:ea typeface="Calibri" pitchFamily="34" charset="-122"/>
                <a:cs typeface="Calibri" pitchFamily="34" charset="-120"/>
              </a:rPr>
              <a:t>The connection line you see is printed locally by the tool — the engine did not send it.</a:t>
            </a:r>
            <a:endParaRPr lang="en-US" sz="1150" dirty="0"/>
          </a:p>
        </p:txBody>
      </p:sp>
      <p:sp>
        <p:nvSpPr>
          <p:cNvPr id="29" name="Text 27"/>
          <p:cNvSpPr/>
          <p:nvPr/>
        </p:nvSpPr>
        <p:spPr>
          <a:xfrm>
            <a:off x="8046720" y="4754880"/>
            <a:ext cx="3291840" cy="320040"/>
          </a:xfrm>
          <a:prstGeom prst="rect">
            <a:avLst/>
          </a:prstGeom>
          <a:noFill/>
          <a:ln/>
        </p:spPr>
        <p:txBody>
          <a:bodyPr wrap="square" lIns="0" tIns="0" rIns="0" bIns="0" rtlCol="0" anchor="ctr"/>
          <a:lstStyle/>
          <a:p>
            <a:pPr marL="0" indent="0">
              <a:buNone/>
            </a:pPr>
            <a:r>
              <a:rPr lang="en-US" sz="1250" b="1" dirty="0">
                <a:solidFill>
                  <a:srgbClr val="3FD0C9"/>
                </a:solidFill>
                <a:latin typeface="Trebuchet MS" pitchFamily="34" charset="0"/>
                <a:ea typeface="Trebuchet MS" pitchFamily="34" charset="-122"/>
                <a:cs typeface="Trebuchet MS" pitchFamily="34" charset="-120"/>
              </a:rPr>
              <a:t>It never fails to "connect"</a:t>
            </a:r>
            <a:endParaRPr lang="en-US" sz="1250" dirty="0"/>
          </a:p>
        </p:txBody>
      </p:sp>
      <p:sp>
        <p:nvSpPr>
          <p:cNvPr id="30" name="Text 28"/>
          <p:cNvSpPr/>
          <p:nvPr/>
        </p:nvSpPr>
        <p:spPr>
          <a:xfrm>
            <a:off x="8046720" y="5074920"/>
            <a:ext cx="3291840" cy="777240"/>
          </a:xfrm>
          <a:prstGeom prst="rect">
            <a:avLst/>
          </a:prstGeom>
          <a:noFill/>
          <a:ln/>
        </p:spPr>
        <p:txBody>
          <a:bodyPr wrap="square" lIns="0" tIns="0" rIns="0" bIns="0" rtlCol="0" anchor="t"/>
          <a:lstStyle/>
          <a:p>
            <a:pPr marL="0" indent="0">
              <a:lnSpc>
                <a:spcPct val="108000"/>
              </a:lnSpc>
              <a:buNone/>
            </a:pPr>
            <a:r>
              <a:rPr lang="en-US" sz="1150" dirty="0">
                <a:solidFill>
                  <a:srgbClr val="97A4AE"/>
                </a:solidFill>
                <a:latin typeface="Calibri" pitchFamily="34" charset="0"/>
                <a:ea typeface="Calibri" pitchFamily="34" charset="-122"/>
                <a:cs typeface="Calibri" pitchFamily="34" charset="-120"/>
              </a:rPr>
              <a:t>Subscribing succeeds even if the engine is not running yet; it starts delivering once a publisher appears.</a:t>
            </a:r>
            <a:endParaRPr lang="en-US" sz="1150" dirty="0"/>
          </a:p>
        </p:txBody>
      </p:sp>
      <p:sp>
        <p:nvSpPr>
          <p:cNvPr id="31" name="Text 29"/>
          <p:cNvSpPr/>
          <p:nvPr/>
        </p:nvSpPr>
        <p:spPr>
          <a:xfrm>
            <a:off x="685800" y="6080760"/>
            <a:ext cx="10820095" cy="365760"/>
          </a:xfrm>
          <a:prstGeom prst="rect">
            <a:avLst/>
          </a:prstGeom>
          <a:noFill/>
          <a:ln/>
        </p:spPr>
        <p:txBody>
          <a:bodyPr wrap="square" lIns="0" tIns="0" rIns="0" bIns="0" rtlCol="0" anchor="ctr"/>
          <a:lstStyle/>
          <a:p>
            <a:pPr marL="0" indent="0">
              <a:buNone/>
            </a:pPr>
            <a:r>
              <a:rPr lang="en-US" sz="1200" i="1" dirty="0">
                <a:solidFill>
                  <a:srgbClr val="F0A202"/>
                </a:solidFill>
                <a:latin typeface="Calibri" pitchFamily="34" charset="0"/>
                <a:ea typeface="Calibri" pitchFamily="34" charset="-122"/>
                <a:cs typeface="Calibri" pitchFamily="34" charset="-120"/>
              </a:rPr>
              <a:t>Consequence: silence on screen means "no fills yet", not "not connected". Cause a trade to prove the path.</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07 · DC SPY</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38</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READING THE OUTPUT</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One line per fill, in a fixed order</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Learn the column order once and you can scan a session at a glance.</a:t>
            </a:r>
            <a:endParaRPr lang="en-US" sz="1450" dirty="0"/>
          </a:p>
        </p:txBody>
      </p:sp>
      <p:sp>
        <p:nvSpPr>
          <p:cNvPr id="8" name="Shape 6"/>
          <p:cNvSpPr/>
          <p:nvPr/>
        </p:nvSpPr>
        <p:spPr>
          <a:xfrm>
            <a:off x="685800" y="2194560"/>
            <a:ext cx="10820095" cy="1234440"/>
          </a:xfrm>
          <a:prstGeom prst="roundRect">
            <a:avLst>
              <a:gd name="adj" fmla="val 2963"/>
            </a:avLst>
          </a:prstGeom>
          <a:solidFill>
            <a:srgbClr val="141719"/>
          </a:solidFill>
          <a:ln w="12700">
            <a:solidFill>
              <a:srgbClr val="3A434B"/>
            </a:solidFill>
            <a:prstDash val="solid"/>
          </a:ln>
        </p:spPr>
        <p:txBody>
          <a:bodyPr/>
          <a:lstStyle/>
          <a:p>
            <a:endParaRPr lang="en-SE"/>
          </a:p>
        </p:txBody>
      </p:sp>
      <p:sp>
        <p:nvSpPr>
          <p:cNvPr id="9" name="Text 7"/>
          <p:cNvSpPr/>
          <p:nvPr/>
        </p:nvSpPr>
        <p:spPr>
          <a:xfrm>
            <a:off x="905256" y="2304288"/>
            <a:ext cx="10362895" cy="237744"/>
          </a:xfrm>
          <a:prstGeom prst="rect">
            <a:avLst/>
          </a:prstGeom>
          <a:noFill/>
          <a:ln/>
        </p:spPr>
        <p:txBody>
          <a:bodyPr wrap="square" lIns="0" tIns="0" rIns="0" bIns="0" rtlCol="0" anchor="ctr"/>
          <a:lstStyle/>
          <a:p>
            <a:pPr marL="0" indent="0">
              <a:buNone/>
            </a:pPr>
            <a:r>
              <a:rPr lang="en-US" sz="950" kern="0" spc="160" dirty="0">
                <a:solidFill>
                  <a:srgbClr val="6E7C87"/>
                </a:solidFill>
                <a:latin typeface="Calibri" pitchFamily="34" charset="0"/>
                <a:ea typeface="Calibri" pitchFamily="34" charset="-122"/>
                <a:cs typeface="Calibri" pitchFamily="34" charset="-120"/>
              </a:rPr>
              <a:t>HUMAN FORMAT — THE TWO SIDES OF ONE TRADE</a:t>
            </a:r>
            <a:endParaRPr lang="en-US" sz="950" dirty="0"/>
          </a:p>
        </p:txBody>
      </p:sp>
      <p:sp>
        <p:nvSpPr>
          <p:cNvPr id="10" name="Text 8"/>
          <p:cNvSpPr/>
          <p:nvPr/>
        </p:nvSpPr>
        <p:spPr>
          <a:xfrm>
            <a:off x="905256" y="2596896"/>
            <a:ext cx="10381183" cy="685800"/>
          </a:xfrm>
          <a:prstGeom prst="rect">
            <a:avLst/>
          </a:prstGeom>
          <a:noFill/>
          <a:ln/>
        </p:spPr>
        <p:txBody>
          <a:bodyPr wrap="square" lIns="0" tIns="0" rIns="0" bIns="0" rtlCol="0" anchor="t"/>
          <a:lstStyle/>
          <a:p>
            <a:pPr marL="0" indent="0">
              <a:lnSpc>
                <a:spcPct val="116000"/>
              </a:lnSpc>
              <a:buNone/>
            </a:pPr>
            <a:r>
              <a:rPr lang="en-US" sz="1100" dirty="0">
                <a:solidFill>
                  <a:srgbClr val="ECF1F5"/>
                </a:solidFill>
                <a:latin typeface="Consolas" pitchFamily="34" charset="0"/>
                <a:ea typeface="Consolas" pitchFamily="34" charset="-122"/>
                <a:cs typeface="Consolas" pitchFamily="34" charset="-120"/>
              </a:rPr>
              <a:t>10:02:17.512  FILL     TRADER01   AAPL       #1      100@150.05       TAKER  order_id=ord-001</a:t>
            </a:r>
            <a:endParaRPr lang="en-US" sz="1100" dirty="0"/>
          </a:p>
          <a:p>
            <a:pPr marL="0" indent="0">
              <a:lnSpc>
                <a:spcPct val="116000"/>
              </a:lnSpc>
              <a:buNone/>
            </a:pPr>
            <a:r>
              <a:rPr lang="en-US" sz="1100" dirty="0">
                <a:solidFill>
                  <a:srgbClr val="ECF1F5"/>
                </a:solidFill>
                <a:latin typeface="Consolas" pitchFamily="34" charset="0"/>
                <a:ea typeface="Consolas" pitchFamily="34" charset="-122"/>
                <a:cs typeface="Consolas" pitchFamily="34" charset="-120"/>
              </a:rPr>
              <a:t>10:02:17.520  FILL     TRADER02   AAPL       #2      100@150.05       MAKER  order_id=ord-104</a:t>
            </a:r>
            <a:endParaRPr lang="en-US" sz="1100" dirty="0"/>
          </a:p>
        </p:txBody>
      </p:sp>
      <p:sp>
        <p:nvSpPr>
          <p:cNvPr id="11" name="Shape 9"/>
          <p:cNvSpPr/>
          <p:nvPr/>
        </p:nvSpPr>
        <p:spPr>
          <a:xfrm>
            <a:off x="685800" y="3657600"/>
            <a:ext cx="1417320" cy="914400"/>
          </a:xfrm>
          <a:prstGeom prst="roundRect">
            <a:avLst>
              <a:gd name="adj" fmla="val 6000"/>
            </a:avLst>
          </a:prstGeom>
          <a:solidFill>
            <a:srgbClr val="252B31"/>
          </a:solidFill>
          <a:ln w="12700">
            <a:solidFill>
              <a:srgbClr val="3A434B"/>
            </a:solidFill>
            <a:prstDash val="solid"/>
          </a:ln>
        </p:spPr>
        <p:txBody>
          <a:bodyPr/>
          <a:lstStyle/>
          <a:p>
            <a:endParaRPr lang="en-SE"/>
          </a:p>
        </p:txBody>
      </p:sp>
      <p:sp>
        <p:nvSpPr>
          <p:cNvPr id="12" name="Text 10"/>
          <p:cNvSpPr/>
          <p:nvPr/>
        </p:nvSpPr>
        <p:spPr>
          <a:xfrm>
            <a:off x="777240" y="3767328"/>
            <a:ext cx="1234440" cy="310896"/>
          </a:xfrm>
          <a:prstGeom prst="rect">
            <a:avLst/>
          </a:prstGeom>
          <a:noFill/>
          <a:ln/>
        </p:spPr>
        <p:txBody>
          <a:bodyPr wrap="square" lIns="0" tIns="0" rIns="0" bIns="0" rtlCol="0" anchor="ctr"/>
          <a:lstStyle/>
          <a:p>
            <a:pPr marL="0" indent="0" algn="ctr">
              <a:buNone/>
            </a:pPr>
            <a:r>
              <a:rPr lang="en-US" sz="1200" b="1" dirty="0">
                <a:solidFill>
                  <a:srgbClr val="6E7C87"/>
                </a:solidFill>
                <a:latin typeface="Trebuchet MS" pitchFamily="34" charset="0"/>
                <a:ea typeface="Trebuchet MS" pitchFamily="34" charset="-122"/>
                <a:cs typeface="Trebuchet MS" pitchFamily="34" charset="-120"/>
              </a:rPr>
              <a:t>Time</a:t>
            </a:r>
            <a:endParaRPr lang="en-US" sz="1200" dirty="0"/>
          </a:p>
        </p:txBody>
      </p:sp>
      <p:sp>
        <p:nvSpPr>
          <p:cNvPr id="13" name="Text 11"/>
          <p:cNvSpPr/>
          <p:nvPr/>
        </p:nvSpPr>
        <p:spPr>
          <a:xfrm>
            <a:off x="777240" y="4078224"/>
            <a:ext cx="1234440" cy="411480"/>
          </a:xfrm>
          <a:prstGeom prst="rect">
            <a:avLst/>
          </a:prstGeom>
          <a:noFill/>
          <a:ln/>
        </p:spPr>
        <p:txBody>
          <a:bodyPr wrap="square" lIns="0" tIns="0" rIns="0" bIns="0" rtlCol="0" anchor="t"/>
          <a:lstStyle/>
          <a:p>
            <a:pPr marL="0" indent="0" algn="ctr">
              <a:lnSpc>
                <a:spcPct val="100000"/>
              </a:lnSpc>
              <a:buNone/>
            </a:pPr>
            <a:r>
              <a:rPr lang="en-US" sz="1000" dirty="0">
                <a:solidFill>
                  <a:srgbClr val="97A4AE"/>
                </a:solidFill>
                <a:latin typeface="Calibri" pitchFamily="34" charset="0"/>
                <a:ea typeface="Calibri" pitchFamily="34" charset="-122"/>
                <a:cs typeface="Calibri" pitchFamily="34" charset="-120"/>
              </a:rPr>
              <a:t>local wall clock</a:t>
            </a:r>
            <a:endParaRPr lang="en-US" sz="1000" dirty="0"/>
          </a:p>
        </p:txBody>
      </p:sp>
      <p:sp>
        <p:nvSpPr>
          <p:cNvPr id="14" name="Shape 12"/>
          <p:cNvSpPr/>
          <p:nvPr/>
        </p:nvSpPr>
        <p:spPr>
          <a:xfrm>
            <a:off x="2249424" y="3657600"/>
            <a:ext cx="1417320" cy="914400"/>
          </a:xfrm>
          <a:prstGeom prst="roundRect">
            <a:avLst>
              <a:gd name="adj" fmla="val 6000"/>
            </a:avLst>
          </a:prstGeom>
          <a:solidFill>
            <a:srgbClr val="252B31"/>
          </a:solidFill>
          <a:ln w="12700">
            <a:solidFill>
              <a:srgbClr val="3A434B"/>
            </a:solidFill>
            <a:prstDash val="solid"/>
          </a:ln>
        </p:spPr>
        <p:txBody>
          <a:bodyPr/>
          <a:lstStyle/>
          <a:p>
            <a:endParaRPr lang="en-SE"/>
          </a:p>
        </p:txBody>
      </p:sp>
      <p:sp>
        <p:nvSpPr>
          <p:cNvPr id="15" name="Text 13"/>
          <p:cNvSpPr/>
          <p:nvPr/>
        </p:nvSpPr>
        <p:spPr>
          <a:xfrm>
            <a:off x="2340864" y="3767328"/>
            <a:ext cx="1234440" cy="310896"/>
          </a:xfrm>
          <a:prstGeom prst="rect">
            <a:avLst/>
          </a:prstGeom>
          <a:noFill/>
          <a:ln/>
        </p:spPr>
        <p:txBody>
          <a:bodyPr wrap="square" lIns="0" tIns="0" rIns="0" bIns="0" rtlCol="0" anchor="ctr"/>
          <a:lstStyle/>
          <a:p>
            <a:pPr marL="0" indent="0" algn="ctr">
              <a:buNone/>
            </a:pPr>
            <a:r>
              <a:rPr lang="en-US" sz="1200" b="1" dirty="0">
                <a:solidFill>
                  <a:srgbClr val="F0A202"/>
                </a:solidFill>
                <a:latin typeface="Trebuchet MS" pitchFamily="34" charset="0"/>
                <a:ea typeface="Trebuchet MS" pitchFamily="34" charset="-122"/>
                <a:cs typeface="Trebuchet MS" pitchFamily="34" charset="-120"/>
              </a:rPr>
              <a:t>Kind</a:t>
            </a:r>
            <a:endParaRPr lang="en-US" sz="1200" dirty="0"/>
          </a:p>
        </p:txBody>
      </p:sp>
      <p:sp>
        <p:nvSpPr>
          <p:cNvPr id="16" name="Text 14"/>
          <p:cNvSpPr/>
          <p:nvPr/>
        </p:nvSpPr>
        <p:spPr>
          <a:xfrm>
            <a:off x="2340864" y="4078224"/>
            <a:ext cx="1234440" cy="411480"/>
          </a:xfrm>
          <a:prstGeom prst="rect">
            <a:avLst/>
          </a:prstGeom>
          <a:noFill/>
          <a:ln/>
        </p:spPr>
        <p:txBody>
          <a:bodyPr wrap="square" lIns="0" tIns="0" rIns="0" bIns="0" rtlCol="0" anchor="t"/>
          <a:lstStyle/>
          <a:p>
            <a:pPr marL="0" indent="0" algn="ctr">
              <a:lnSpc>
                <a:spcPct val="100000"/>
              </a:lnSpc>
              <a:buNone/>
            </a:pPr>
            <a:r>
              <a:rPr lang="en-US" sz="1000" dirty="0">
                <a:solidFill>
                  <a:srgbClr val="97A4AE"/>
                </a:solidFill>
                <a:latin typeface="Calibri" pitchFamily="34" charset="0"/>
                <a:ea typeface="Calibri" pitchFamily="34" charset="-122"/>
                <a:cs typeface="Calibri" pitchFamily="34" charset="-120"/>
              </a:rPr>
              <a:t>FILL or REPLAY</a:t>
            </a:r>
            <a:endParaRPr lang="en-US" sz="1000" dirty="0"/>
          </a:p>
        </p:txBody>
      </p:sp>
      <p:sp>
        <p:nvSpPr>
          <p:cNvPr id="17" name="Shape 15"/>
          <p:cNvSpPr/>
          <p:nvPr/>
        </p:nvSpPr>
        <p:spPr>
          <a:xfrm>
            <a:off x="3813048" y="3657600"/>
            <a:ext cx="1417320" cy="914400"/>
          </a:xfrm>
          <a:prstGeom prst="roundRect">
            <a:avLst>
              <a:gd name="adj" fmla="val 6000"/>
            </a:avLst>
          </a:prstGeom>
          <a:solidFill>
            <a:srgbClr val="252B31"/>
          </a:solidFill>
          <a:ln w="12700">
            <a:solidFill>
              <a:srgbClr val="3A434B"/>
            </a:solidFill>
            <a:prstDash val="solid"/>
          </a:ln>
        </p:spPr>
        <p:txBody>
          <a:bodyPr/>
          <a:lstStyle/>
          <a:p>
            <a:endParaRPr lang="en-SE"/>
          </a:p>
        </p:txBody>
      </p:sp>
      <p:sp>
        <p:nvSpPr>
          <p:cNvPr id="18" name="Text 16"/>
          <p:cNvSpPr/>
          <p:nvPr/>
        </p:nvSpPr>
        <p:spPr>
          <a:xfrm>
            <a:off x="3904488" y="3767328"/>
            <a:ext cx="1234440" cy="310896"/>
          </a:xfrm>
          <a:prstGeom prst="rect">
            <a:avLst/>
          </a:prstGeom>
          <a:noFill/>
          <a:ln/>
        </p:spPr>
        <p:txBody>
          <a:bodyPr wrap="square" lIns="0" tIns="0" rIns="0" bIns="0" rtlCol="0" anchor="ctr"/>
          <a:lstStyle/>
          <a:p>
            <a:pPr marL="0" indent="0" algn="ctr">
              <a:buNone/>
            </a:pPr>
            <a:r>
              <a:rPr lang="en-US" sz="1200" b="1" dirty="0">
                <a:solidFill>
                  <a:srgbClr val="3FD0C9"/>
                </a:solidFill>
                <a:latin typeface="Trebuchet MS" pitchFamily="34" charset="0"/>
                <a:ea typeface="Trebuchet MS" pitchFamily="34" charset="-122"/>
                <a:cs typeface="Trebuchet MS" pitchFamily="34" charset="-120"/>
              </a:rPr>
              <a:t>Gateway</a:t>
            </a:r>
            <a:endParaRPr lang="en-US" sz="1200" dirty="0"/>
          </a:p>
        </p:txBody>
      </p:sp>
      <p:sp>
        <p:nvSpPr>
          <p:cNvPr id="19" name="Text 17"/>
          <p:cNvSpPr/>
          <p:nvPr/>
        </p:nvSpPr>
        <p:spPr>
          <a:xfrm>
            <a:off x="3904488" y="4078224"/>
            <a:ext cx="1234440" cy="411480"/>
          </a:xfrm>
          <a:prstGeom prst="rect">
            <a:avLst/>
          </a:prstGeom>
          <a:noFill/>
          <a:ln/>
        </p:spPr>
        <p:txBody>
          <a:bodyPr wrap="square" lIns="0" tIns="0" rIns="0" bIns="0" rtlCol="0" anchor="t"/>
          <a:lstStyle/>
          <a:p>
            <a:pPr marL="0" indent="0" algn="ctr">
              <a:lnSpc>
                <a:spcPct val="100000"/>
              </a:lnSpc>
              <a:buNone/>
            </a:pPr>
            <a:r>
              <a:rPr lang="en-US" sz="1000" dirty="0">
                <a:solidFill>
                  <a:srgbClr val="97A4AE"/>
                </a:solidFill>
                <a:latin typeface="Calibri" pitchFamily="34" charset="0"/>
                <a:ea typeface="Calibri" pitchFamily="34" charset="-122"/>
                <a:cs typeface="Calibri" pitchFamily="34" charset="-120"/>
              </a:rPr>
              <a:t>whose fill it is</a:t>
            </a:r>
            <a:endParaRPr lang="en-US" sz="1000" dirty="0"/>
          </a:p>
        </p:txBody>
      </p:sp>
      <p:sp>
        <p:nvSpPr>
          <p:cNvPr id="20" name="Shape 18"/>
          <p:cNvSpPr/>
          <p:nvPr/>
        </p:nvSpPr>
        <p:spPr>
          <a:xfrm>
            <a:off x="5376672" y="3657600"/>
            <a:ext cx="1417320" cy="914400"/>
          </a:xfrm>
          <a:prstGeom prst="roundRect">
            <a:avLst>
              <a:gd name="adj" fmla="val 6000"/>
            </a:avLst>
          </a:prstGeom>
          <a:solidFill>
            <a:srgbClr val="252B31"/>
          </a:solidFill>
          <a:ln w="12700">
            <a:solidFill>
              <a:srgbClr val="3A434B"/>
            </a:solidFill>
            <a:prstDash val="solid"/>
          </a:ln>
        </p:spPr>
        <p:txBody>
          <a:bodyPr/>
          <a:lstStyle/>
          <a:p>
            <a:endParaRPr lang="en-SE"/>
          </a:p>
        </p:txBody>
      </p:sp>
      <p:sp>
        <p:nvSpPr>
          <p:cNvPr id="21" name="Text 19"/>
          <p:cNvSpPr/>
          <p:nvPr/>
        </p:nvSpPr>
        <p:spPr>
          <a:xfrm>
            <a:off x="5468112" y="3767328"/>
            <a:ext cx="1234440" cy="310896"/>
          </a:xfrm>
          <a:prstGeom prst="rect">
            <a:avLst/>
          </a:prstGeom>
          <a:noFill/>
          <a:ln/>
        </p:spPr>
        <p:txBody>
          <a:bodyPr wrap="square" lIns="0" tIns="0" rIns="0" bIns="0" rtlCol="0" anchor="ctr"/>
          <a:lstStyle/>
          <a:p>
            <a:pPr marL="0" indent="0" algn="ctr">
              <a:buNone/>
            </a:pPr>
            <a:r>
              <a:rPr lang="en-US" sz="1200" b="1" dirty="0">
                <a:solidFill>
                  <a:srgbClr val="3FD0C9"/>
                </a:solidFill>
                <a:latin typeface="Trebuchet MS" pitchFamily="34" charset="0"/>
                <a:ea typeface="Trebuchet MS" pitchFamily="34" charset="-122"/>
                <a:cs typeface="Trebuchet MS" pitchFamily="34" charset="-120"/>
              </a:rPr>
              <a:t>Symbol</a:t>
            </a:r>
            <a:endParaRPr lang="en-US" sz="1200" dirty="0"/>
          </a:p>
        </p:txBody>
      </p:sp>
      <p:sp>
        <p:nvSpPr>
          <p:cNvPr id="22" name="Text 20"/>
          <p:cNvSpPr/>
          <p:nvPr/>
        </p:nvSpPr>
        <p:spPr>
          <a:xfrm>
            <a:off x="5468112" y="4078224"/>
            <a:ext cx="1234440" cy="411480"/>
          </a:xfrm>
          <a:prstGeom prst="rect">
            <a:avLst/>
          </a:prstGeom>
          <a:noFill/>
          <a:ln/>
        </p:spPr>
        <p:txBody>
          <a:bodyPr wrap="square" lIns="0" tIns="0" rIns="0" bIns="0" rtlCol="0" anchor="t"/>
          <a:lstStyle/>
          <a:p>
            <a:pPr marL="0" indent="0" algn="ctr">
              <a:lnSpc>
                <a:spcPct val="100000"/>
              </a:lnSpc>
              <a:buNone/>
            </a:pPr>
            <a:r>
              <a:rPr lang="en-US" sz="1000" dirty="0">
                <a:solidFill>
                  <a:srgbClr val="97A4AE"/>
                </a:solidFill>
                <a:latin typeface="Calibri" pitchFamily="34" charset="0"/>
                <a:ea typeface="Calibri" pitchFamily="34" charset="-122"/>
                <a:cs typeface="Calibri" pitchFamily="34" charset="-120"/>
              </a:rPr>
              <a:t>instrument</a:t>
            </a:r>
            <a:endParaRPr lang="en-US" sz="1000" dirty="0"/>
          </a:p>
        </p:txBody>
      </p:sp>
      <p:sp>
        <p:nvSpPr>
          <p:cNvPr id="23" name="Shape 21"/>
          <p:cNvSpPr/>
          <p:nvPr/>
        </p:nvSpPr>
        <p:spPr>
          <a:xfrm>
            <a:off x="6940296" y="3657600"/>
            <a:ext cx="1417320" cy="914400"/>
          </a:xfrm>
          <a:prstGeom prst="roundRect">
            <a:avLst>
              <a:gd name="adj" fmla="val 6000"/>
            </a:avLst>
          </a:prstGeom>
          <a:solidFill>
            <a:srgbClr val="252B31"/>
          </a:solidFill>
          <a:ln w="12700">
            <a:solidFill>
              <a:srgbClr val="3A434B"/>
            </a:solidFill>
            <a:prstDash val="solid"/>
          </a:ln>
        </p:spPr>
        <p:txBody>
          <a:bodyPr/>
          <a:lstStyle/>
          <a:p>
            <a:endParaRPr lang="en-SE"/>
          </a:p>
        </p:txBody>
      </p:sp>
      <p:sp>
        <p:nvSpPr>
          <p:cNvPr id="24" name="Text 22"/>
          <p:cNvSpPr/>
          <p:nvPr/>
        </p:nvSpPr>
        <p:spPr>
          <a:xfrm>
            <a:off x="7031736" y="3767328"/>
            <a:ext cx="1234440" cy="310896"/>
          </a:xfrm>
          <a:prstGeom prst="rect">
            <a:avLst/>
          </a:prstGeom>
          <a:noFill/>
          <a:ln/>
        </p:spPr>
        <p:txBody>
          <a:bodyPr wrap="square" lIns="0" tIns="0" rIns="0" bIns="0" rtlCol="0" anchor="ctr"/>
          <a:lstStyle/>
          <a:p>
            <a:pPr marL="0" indent="0" algn="ctr">
              <a:buNone/>
            </a:pPr>
            <a:r>
              <a:rPr lang="en-US" sz="1200" b="1" dirty="0">
                <a:solidFill>
                  <a:srgbClr val="F0A202"/>
                </a:solidFill>
                <a:latin typeface="Trebuchet MS" pitchFamily="34" charset="0"/>
                <a:ea typeface="Trebuchet MS" pitchFamily="34" charset="-122"/>
                <a:cs typeface="Trebuchet MS" pitchFamily="34" charset="-120"/>
              </a:rPr>
              <a:t>#Seq</a:t>
            </a:r>
            <a:endParaRPr lang="en-US" sz="1200" dirty="0"/>
          </a:p>
        </p:txBody>
      </p:sp>
      <p:sp>
        <p:nvSpPr>
          <p:cNvPr id="25" name="Text 23"/>
          <p:cNvSpPr/>
          <p:nvPr/>
        </p:nvSpPr>
        <p:spPr>
          <a:xfrm>
            <a:off x="7031736" y="4078224"/>
            <a:ext cx="1234440" cy="411480"/>
          </a:xfrm>
          <a:prstGeom prst="rect">
            <a:avLst/>
          </a:prstGeom>
          <a:noFill/>
          <a:ln/>
        </p:spPr>
        <p:txBody>
          <a:bodyPr wrap="square" lIns="0" tIns="0" rIns="0" bIns="0" rtlCol="0" anchor="t"/>
          <a:lstStyle/>
          <a:p>
            <a:pPr marL="0" indent="0" algn="ctr">
              <a:lnSpc>
                <a:spcPct val="100000"/>
              </a:lnSpc>
              <a:buNone/>
            </a:pPr>
            <a:r>
              <a:rPr lang="en-US" sz="1000" dirty="0">
                <a:solidFill>
                  <a:srgbClr val="97A4AE"/>
                </a:solidFill>
                <a:latin typeface="Calibri" pitchFamily="34" charset="0"/>
                <a:ea typeface="Calibri" pitchFamily="34" charset="-122"/>
                <a:cs typeface="Calibri" pitchFamily="34" charset="-120"/>
              </a:rPr>
              <a:t>sequence number</a:t>
            </a:r>
            <a:endParaRPr lang="en-US" sz="1000" dirty="0"/>
          </a:p>
        </p:txBody>
      </p:sp>
      <p:sp>
        <p:nvSpPr>
          <p:cNvPr id="26" name="Shape 24"/>
          <p:cNvSpPr/>
          <p:nvPr/>
        </p:nvSpPr>
        <p:spPr>
          <a:xfrm>
            <a:off x="8503920" y="3657600"/>
            <a:ext cx="1417320" cy="914400"/>
          </a:xfrm>
          <a:prstGeom prst="roundRect">
            <a:avLst>
              <a:gd name="adj" fmla="val 6000"/>
            </a:avLst>
          </a:prstGeom>
          <a:solidFill>
            <a:srgbClr val="252B31"/>
          </a:solidFill>
          <a:ln w="12700">
            <a:solidFill>
              <a:srgbClr val="3A434B"/>
            </a:solidFill>
            <a:prstDash val="solid"/>
          </a:ln>
        </p:spPr>
        <p:txBody>
          <a:bodyPr/>
          <a:lstStyle/>
          <a:p>
            <a:endParaRPr lang="en-SE"/>
          </a:p>
        </p:txBody>
      </p:sp>
      <p:sp>
        <p:nvSpPr>
          <p:cNvPr id="27" name="Text 25"/>
          <p:cNvSpPr/>
          <p:nvPr/>
        </p:nvSpPr>
        <p:spPr>
          <a:xfrm>
            <a:off x="8595360" y="3767328"/>
            <a:ext cx="1234440" cy="310896"/>
          </a:xfrm>
          <a:prstGeom prst="rect">
            <a:avLst/>
          </a:prstGeom>
          <a:noFill/>
          <a:ln/>
        </p:spPr>
        <p:txBody>
          <a:bodyPr wrap="square" lIns="0" tIns="0" rIns="0" bIns="0" rtlCol="0" anchor="ctr"/>
          <a:lstStyle/>
          <a:p>
            <a:pPr marL="0" indent="0" algn="ctr">
              <a:buNone/>
            </a:pPr>
            <a:r>
              <a:rPr lang="en-US" sz="1200" b="1" dirty="0">
                <a:solidFill>
                  <a:srgbClr val="ECF1F5"/>
                </a:solidFill>
                <a:latin typeface="Trebuchet MS" pitchFamily="34" charset="0"/>
                <a:ea typeface="Trebuchet MS" pitchFamily="34" charset="-122"/>
                <a:cs typeface="Trebuchet MS" pitchFamily="34" charset="-120"/>
              </a:rPr>
              <a:t>Qty@Price</a:t>
            </a:r>
            <a:endParaRPr lang="en-US" sz="1200" dirty="0"/>
          </a:p>
        </p:txBody>
      </p:sp>
      <p:sp>
        <p:nvSpPr>
          <p:cNvPr id="28" name="Text 26"/>
          <p:cNvSpPr/>
          <p:nvPr/>
        </p:nvSpPr>
        <p:spPr>
          <a:xfrm>
            <a:off x="8595360" y="4078224"/>
            <a:ext cx="1234440" cy="411480"/>
          </a:xfrm>
          <a:prstGeom prst="rect">
            <a:avLst/>
          </a:prstGeom>
          <a:noFill/>
          <a:ln/>
        </p:spPr>
        <p:txBody>
          <a:bodyPr wrap="square" lIns="0" tIns="0" rIns="0" bIns="0" rtlCol="0" anchor="t"/>
          <a:lstStyle/>
          <a:p>
            <a:pPr marL="0" indent="0" algn="ctr">
              <a:lnSpc>
                <a:spcPct val="100000"/>
              </a:lnSpc>
              <a:buNone/>
            </a:pPr>
            <a:r>
              <a:rPr lang="en-US" sz="1000" dirty="0">
                <a:solidFill>
                  <a:srgbClr val="97A4AE"/>
                </a:solidFill>
                <a:latin typeface="Calibri" pitchFamily="34" charset="0"/>
                <a:ea typeface="Calibri" pitchFamily="34" charset="-122"/>
                <a:cs typeface="Calibri" pitchFamily="34" charset="-120"/>
              </a:rPr>
              <a:t>the execution</a:t>
            </a:r>
            <a:endParaRPr lang="en-US" sz="1000" dirty="0"/>
          </a:p>
        </p:txBody>
      </p:sp>
      <p:sp>
        <p:nvSpPr>
          <p:cNvPr id="29" name="Shape 27"/>
          <p:cNvSpPr/>
          <p:nvPr/>
        </p:nvSpPr>
        <p:spPr>
          <a:xfrm>
            <a:off x="10067544" y="3657600"/>
            <a:ext cx="1417320" cy="914400"/>
          </a:xfrm>
          <a:prstGeom prst="roundRect">
            <a:avLst>
              <a:gd name="adj" fmla="val 6000"/>
            </a:avLst>
          </a:prstGeom>
          <a:solidFill>
            <a:srgbClr val="252B31"/>
          </a:solidFill>
          <a:ln w="12700">
            <a:solidFill>
              <a:srgbClr val="3A434B"/>
            </a:solidFill>
            <a:prstDash val="solid"/>
          </a:ln>
        </p:spPr>
        <p:txBody>
          <a:bodyPr/>
          <a:lstStyle/>
          <a:p>
            <a:endParaRPr lang="en-SE"/>
          </a:p>
        </p:txBody>
      </p:sp>
      <p:sp>
        <p:nvSpPr>
          <p:cNvPr id="30" name="Text 28"/>
          <p:cNvSpPr/>
          <p:nvPr/>
        </p:nvSpPr>
        <p:spPr>
          <a:xfrm>
            <a:off x="10158984" y="3767328"/>
            <a:ext cx="1234440" cy="310896"/>
          </a:xfrm>
          <a:prstGeom prst="rect">
            <a:avLst/>
          </a:prstGeom>
          <a:noFill/>
          <a:ln/>
        </p:spPr>
        <p:txBody>
          <a:bodyPr wrap="square" lIns="0" tIns="0" rIns="0" bIns="0" rtlCol="0" anchor="ctr"/>
          <a:lstStyle/>
          <a:p>
            <a:pPr marL="0" indent="0" algn="ctr">
              <a:buNone/>
            </a:pPr>
            <a:r>
              <a:rPr lang="en-US" sz="1200" b="1" dirty="0">
                <a:solidFill>
                  <a:srgbClr val="9B8CFF"/>
                </a:solidFill>
                <a:latin typeface="Trebuchet MS" pitchFamily="34" charset="0"/>
                <a:ea typeface="Trebuchet MS" pitchFamily="34" charset="-122"/>
                <a:cs typeface="Trebuchet MS" pitchFamily="34" charset="-120"/>
              </a:rPr>
              <a:t>Liquidity</a:t>
            </a:r>
            <a:endParaRPr lang="en-US" sz="1200" dirty="0"/>
          </a:p>
        </p:txBody>
      </p:sp>
      <p:sp>
        <p:nvSpPr>
          <p:cNvPr id="31" name="Text 29"/>
          <p:cNvSpPr/>
          <p:nvPr/>
        </p:nvSpPr>
        <p:spPr>
          <a:xfrm>
            <a:off x="10158984" y="4078224"/>
            <a:ext cx="1234440" cy="411480"/>
          </a:xfrm>
          <a:prstGeom prst="rect">
            <a:avLst/>
          </a:prstGeom>
          <a:noFill/>
          <a:ln/>
        </p:spPr>
        <p:txBody>
          <a:bodyPr wrap="square" lIns="0" tIns="0" rIns="0" bIns="0" rtlCol="0" anchor="t"/>
          <a:lstStyle/>
          <a:p>
            <a:pPr marL="0" indent="0" algn="ctr">
              <a:lnSpc>
                <a:spcPct val="100000"/>
              </a:lnSpc>
              <a:buNone/>
            </a:pPr>
            <a:r>
              <a:rPr lang="en-US" sz="1000" dirty="0">
                <a:solidFill>
                  <a:srgbClr val="97A4AE"/>
                </a:solidFill>
                <a:latin typeface="Calibri" pitchFamily="34" charset="0"/>
                <a:ea typeface="Calibri" pitchFamily="34" charset="-122"/>
                <a:cs typeface="Calibri" pitchFamily="34" charset="-120"/>
              </a:rPr>
              <a:t>MAKER or TAKER</a:t>
            </a:r>
            <a:endParaRPr lang="en-US" sz="1000" dirty="0"/>
          </a:p>
        </p:txBody>
      </p:sp>
      <p:sp>
        <p:nvSpPr>
          <p:cNvPr id="32" name="Shape 30"/>
          <p:cNvSpPr/>
          <p:nvPr/>
        </p:nvSpPr>
        <p:spPr>
          <a:xfrm>
            <a:off x="685800" y="4800600"/>
            <a:ext cx="3423818" cy="1143000"/>
          </a:xfrm>
          <a:prstGeom prst="roundRect">
            <a:avLst>
              <a:gd name="adj" fmla="val 4800"/>
            </a:avLst>
          </a:prstGeom>
          <a:solidFill>
            <a:srgbClr val="252B31"/>
          </a:solidFill>
          <a:ln w="12700">
            <a:solidFill>
              <a:srgbClr val="3A434B"/>
            </a:solidFill>
            <a:prstDash val="solid"/>
          </a:ln>
        </p:spPr>
        <p:txBody>
          <a:bodyPr/>
          <a:lstStyle/>
          <a:p>
            <a:endParaRPr lang="en-SE"/>
          </a:p>
        </p:txBody>
      </p:sp>
      <p:sp>
        <p:nvSpPr>
          <p:cNvPr id="33" name="Text 31"/>
          <p:cNvSpPr/>
          <p:nvPr/>
        </p:nvSpPr>
        <p:spPr>
          <a:xfrm>
            <a:off x="941832" y="5056632"/>
            <a:ext cx="2911754" cy="310896"/>
          </a:xfrm>
          <a:prstGeom prst="rect">
            <a:avLst/>
          </a:prstGeom>
          <a:noFill/>
          <a:ln/>
        </p:spPr>
        <p:txBody>
          <a:bodyPr wrap="square" lIns="0" tIns="0" rIns="0" bIns="0" rtlCol="0" anchor="t"/>
          <a:lstStyle/>
          <a:p>
            <a:pPr marL="0" indent="0">
              <a:buNone/>
            </a:pPr>
            <a:r>
              <a:rPr lang="en-US" sz="1350" b="1" dirty="0">
                <a:solidFill>
                  <a:srgbClr val="ECF1F5"/>
                </a:solidFill>
                <a:latin typeface="Trebuchet MS" pitchFamily="34" charset="0"/>
                <a:ea typeface="Trebuchet MS" pitchFamily="34" charset="-122"/>
                <a:cs typeface="Trebuchet MS" pitchFamily="34" charset="-120"/>
              </a:rPr>
              <a:t>Colour tells you the side</a:t>
            </a:r>
            <a:endParaRPr lang="en-US" sz="1350" dirty="0"/>
          </a:p>
        </p:txBody>
      </p:sp>
      <p:sp>
        <p:nvSpPr>
          <p:cNvPr id="34" name="Text 32"/>
          <p:cNvSpPr/>
          <p:nvPr/>
        </p:nvSpPr>
        <p:spPr>
          <a:xfrm>
            <a:off x="941832" y="5440680"/>
            <a:ext cx="2911754" cy="33832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MAKER and TAKER are colour-coded, so the shape of a busy session is visible without reading every word.</a:t>
            </a:r>
            <a:endParaRPr lang="en-US" sz="1250" dirty="0"/>
          </a:p>
        </p:txBody>
      </p:sp>
      <p:sp>
        <p:nvSpPr>
          <p:cNvPr id="35" name="Shape 33"/>
          <p:cNvSpPr/>
          <p:nvPr/>
        </p:nvSpPr>
        <p:spPr>
          <a:xfrm>
            <a:off x="4383938" y="4800600"/>
            <a:ext cx="3423818" cy="1143000"/>
          </a:xfrm>
          <a:prstGeom prst="roundRect">
            <a:avLst>
              <a:gd name="adj" fmla="val 4800"/>
            </a:avLst>
          </a:prstGeom>
          <a:solidFill>
            <a:srgbClr val="252B31"/>
          </a:solidFill>
          <a:ln w="12700">
            <a:solidFill>
              <a:srgbClr val="3A434B"/>
            </a:solidFill>
            <a:prstDash val="solid"/>
          </a:ln>
        </p:spPr>
        <p:txBody>
          <a:bodyPr/>
          <a:lstStyle/>
          <a:p>
            <a:endParaRPr lang="en-SE"/>
          </a:p>
        </p:txBody>
      </p:sp>
      <p:sp>
        <p:nvSpPr>
          <p:cNvPr id="36" name="Text 34"/>
          <p:cNvSpPr/>
          <p:nvPr/>
        </p:nvSpPr>
        <p:spPr>
          <a:xfrm>
            <a:off x="4639970" y="5056632"/>
            <a:ext cx="2911754" cy="310896"/>
          </a:xfrm>
          <a:prstGeom prst="rect">
            <a:avLst/>
          </a:prstGeom>
          <a:noFill/>
          <a:ln/>
        </p:spPr>
        <p:txBody>
          <a:bodyPr wrap="square" lIns="0" tIns="0" rIns="0" bIns="0" rtlCol="0" anchor="t"/>
          <a:lstStyle/>
          <a:p>
            <a:pPr marL="0" indent="0">
              <a:buNone/>
            </a:pPr>
            <a:r>
              <a:rPr lang="en-US" sz="1350" b="1" dirty="0">
                <a:solidFill>
                  <a:srgbClr val="ECF1F5"/>
                </a:solidFill>
                <a:latin typeface="Trebuchet MS" pitchFamily="34" charset="0"/>
                <a:ea typeface="Trebuchet MS" pitchFamily="34" charset="-122"/>
                <a:cs typeface="Trebuchet MS" pitchFamily="34" charset="-120"/>
              </a:rPr>
              <a:t>Add the raw payload</a:t>
            </a:r>
            <a:endParaRPr lang="en-US" sz="1350" dirty="0"/>
          </a:p>
        </p:txBody>
      </p:sp>
      <p:sp>
        <p:nvSpPr>
          <p:cNvPr id="37" name="Text 35"/>
          <p:cNvSpPr/>
          <p:nvPr/>
        </p:nvSpPr>
        <p:spPr>
          <a:xfrm>
            <a:off x="4639970" y="5440680"/>
            <a:ext cx="2911754" cy="33832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A raw option echoes the exact topic and JSON under each line — ideal when you are verifying a field by eye.</a:t>
            </a:r>
            <a:endParaRPr lang="en-US" sz="1250" dirty="0"/>
          </a:p>
        </p:txBody>
      </p:sp>
      <p:sp>
        <p:nvSpPr>
          <p:cNvPr id="38" name="Shape 36"/>
          <p:cNvSpPr/>
          <p:nvPr/>
        </p:nvSpPr>
        <p:spPr>
          <a:xfrm>
            <a:off x="8082077" y="4800600"/>
            <a:ext cx="3423818" cy="1143000"/>
          </a:xfrm>
          <a:prstGeom prst="roundRect">
            <a:avLst>
              <a:gd name="adj" fmla="val 4800"/>
            </a:avLst>
          </a:prstGeom>
          <a:solidFill>
            <a:srgbClr val="252B31"/>
          </a:solidFill>
          <a:ln w="12700">
            <a:solidFill>
              <a:srgbClr val="3A434B"/>
            </a:solidFill>
            <a:prstDash val="solid"/>
          </a:ln>
        </p:spPr>
        <p:txBody>
          <a:bodyPr/>
          <a:lstStyle/>
          <a:p>
            <a:endParaRPr lang="en-SE"/>
          </a:p>
        </p:txBody>
      </p:sp>
      <p:sp>
        <p:nvSpPr>
          <p:cNvPr id="39" name="Text 37"/>
          <p:cNvSpPr/>
          <p:nvPr/>
        </p:nvSpPr>
        <p:spPr>
          <a:xfrm>
            <a:off x="8338109" y="5056632"/>
            <a:ext cx="2911754" cy="310896"/>
          </a:xfrm>
          <a:prstGeom prst="rect">
            <a:avLst/>
          </a:prstGeom>
          <a:noFill/>
          <a:ln/>
        </p:spPr>
        <p:txBody>
          <a:bodyPr wrap="square" lIns="0" tIns="0" rIns="0" bIns="0" rtlCol="0" anchor="t"/>
          <a:lstStyle/>
          <a:p>
            <a:pPr marL="0" indent="0">
              <a:buNone/>
            </a:pPr>
            <a:r>
              <a:rPr lang="en-US" sz="1350" b="1" dirty="0">
                <a:solidFill>
                  <a:srgbClr val="ECF1F5"/>
                </a:solidFill>
                <a:latin typeface="Trebuchet MS" pitchFamily="34" charset="0"/>
                <a:ea typeface="Trebuchet MS" pitchFamily="34" charset="-122"/>
                <a:cs typeface="Trebuchet MS" pitchFamily="34" charset="-120"/>
              </a:rPr>
              <a:t>Replays stand out</a:t>
            </a:r>
            <a:endParaRPr lang="en-US" sz="1350" dirty="0"/>
          </a:p>
        </p:txBody>
      </p:sp>
      <p:sp>
        <p:nvSpPr>
          <p:cNvPr id="40" name="Text 38"/>
          <p:cNvSpPr/>
          <p:nvPr/>
        </p:nvSpPr>
        <p:spPr>
          <a:xfrm>
            <a:off x="8338109" y="5440680"/>
            <a:ext cx="2911754" cy="33832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Replayed messages read REPLAY instead of FILL, so catch-up traffic is never mistaken for live trading.</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07 · DC SPY</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39</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EVERYDAY RECIPES</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Four commands worth memorising</a:t>
            </a:r>
            <a:endParaRPr lang="en-US" sz="3100" dirty="0"/>
          </a:p>
        </p:txBody>
      </p:sp>
      <p:sp>
        <p:nvSpPr>
          <p:cNvPr id="7" name="Shape 5"/>
          <p:cNvSpPr/>
          <p:nvPr/>
        </p:nvSpPr>
        <p:spPr>
          <a:xfrm>
            <a:off x="685800" y="2057400"/>
            <a:ext cx="10820095" cy="896112"/>
          </a:xfrm>
          <a:prstGeom prst="roundRect">
            <a:avLst>
              <a:gd name="adj" fmla="val 6122"/>
            </a:avLst>
          </a:prstGeom>
          <a:solidFill>
            <a:srgbClr val="252B31"/>
          </a:solidFill>
          <a:ln w="12700">
            <a:solidFill>
              <a:srgbClr val="3A434B"/>
            </a:solidFill>
            <a:prstDash val="solid"/>
          </a:ln>
        </p:spPr>
        <p:txBody>
          <a:bodyPr/>
          <a:lstStyle/>
          <a:p>
            <a:endParaRPr lang="en-SE"/>
          </a:p>
        </p:txBody>
      </p:sp>
      <p:sp>
        <p:nvSpPr>
          <p:cNvPr id="8" name="Shape 6"/>
          <p:cNvSpPr/>
          <p:nvPr/>
        </p:nvSpPr>
        <p:spPr>
          <a:xfrm>
            <a:off x="685800" y="2057400"/>
            <a:ext cx="82296" cy="896112"/>
          </a:xfrm>
          <a:prstGeom prst="rect">
            <a:avLst/>
          </a:prstGeom>
          <a:solidFill>
            <a:srgbClr val="3FD0C9"/>
          </a:solidFill>
          <a:ln/>
        </p:spPr>
        <p:txBody>
          <a:bodyPr/>
          <a:lstStyle/>
          <a:p>
            <a:endParaRPr lang="en-SE"/>
          </a:p>
        </p:txBody>
      </p:sp>
      <p:sp>
        <p:nvSpPr>
          <p:cNvPr id="9" name="Text 7"/>
          <p:cNvSpPr/>
          <p:nvPr/>
        </p:nvSpPr>
        <p:spPr>
          <a:xfrm>
            <a:off x="1005840" y="2057400"/>
            <a:ext cx="2880360" cy="896112"/>
          </a:xfrm>
          <a:prstGeom prst="rect">
            <a:avLst/>
          </a:prstGeom>
          <a:noFill/>
          <a:ln/>
        </p:spPr>
        <p:txBody>
          <a:bodyPr wrap="square" lIns="0" tIns="0" rIns="0" bIns="0" rtlCol="0" anchor="ctr"/>
          <a:lstStyle/>
          <a:p>
            <a:pPr marL="0" indent="0">
              <a:buNone/>
            </a:pPr>
            <a:r>
              <a:rPr lang="en-US" sz="1400" b="1" dirty="0">
                <a:solidFill>
                  <a:srgbClr val="3FD0C9"/>
                </a:solidFill>
                <a:latin typeface="Trebuchet MS" pitchFamily="34" charset="0"/>
                <a:ea typeface="Trebuchet MS" pitchFamily="34" charset="-122"/>
                <a:cs typeface="Trebuchet MS" pitchFamily="34" charset="-120"/>
              </a:rPr>
              <a:t>Watch one participant live</a:t>
            </a:r>
            <a:endParaRPr lang="en-US" sz="1400" dirty="0"/>
          </a:p>
        </p:txBody>
      </p:sp>
      <p:sp>
        <p:nvSpPr>
          <p:cNvPr id="10" name="Text 8"/>
          <p:cNvSpPr/>
          <p:nvPr/>
        </p:nvSpPr>
        <p:spPr>
          <a:xfrm>
            <a:off x="3977640" y="2057400"/>
            <a:ext cx="4663440" cy="896112"/>
          </a:xfrm>
          <a:prstGeom prst="rect">
            <a:avLst/>
          </a:prstGeom>
          <a:noFill/>
          <a:ln/>
        </p:spPr>
        <p:txBody>
          <a:bodyPr wrap="square" lIns="0" tIns="0" rIns="0" bIns="0" rtlCol="0" anchor="ctr"/>
          <a:lstStyle/>
          <a:p>
            <a:pPr marL="0" indent="0">
              <a:buNone/>
            </a:pPr>
            <a:r>
              <a:rPr lang="en-US" sz="1100" dirty="0">
                <a:solidFill>
                  <a:srgbClr val="ECF1F5"/>
                </a:solidFill>
                <a:latin typeface="Consolas" pitchFamily="34" charset="0"/>
                <a:ea typeface="Consolas" pitchFamily="34" charset="-122"/>
                <a:cs typeface="Consolas" pitchFamily="34" charset="-120"/>
              </a:rPr>
              <a:t>pm-dc-spy --gateway TRADER01</a:t>
            </a:r>
            <a:endParaRPr lang="en-US" sz="1100" dirty="0"/>
          </a:p>
        </p:txBody>
      </p:sp>
      <p:sp>
        <p:nvSpPr>
          <p:cNvPr id="11" name="Text 9"/>
          <p:cNvSpPr/>
          <p:nvPr/>
        </p:nvSpPr>
        <p:spPr>
          <a:xfrm>
            <a:off x="8778240" y="2148840"/>
            <a:ext cx="2697480" cy="731520"/>
          </a:xfrm>
          <a:prstGeom prst="rect">
            <a:avLst/>
          </a:prstGeom>
          <a:noFill/>
          <a:ln/>
        </p:spPr>
        <p:txBody>
          <a:bodyPr wrap="square" lIns="0" tIns="0" rIns="0" bIns="0" rtlCol="0" anchor="ctr"/>
          <a:lstStyle/>
          <a:p>
            <a:pPr marL="0" indent="0">
              <a:lnSpc>
                <a:spcPct val="105000"/>
              </a:lnSpc>
              <a:buNone/>
            </a:pPr>
            <a:r>
              <a:rPr lang="en-US" sz="1100" dirty="0">
                <a:solidFill>
                  <a:srgbClr val="97A4AE"/>
                </a:solidFill>
                <a:latin typeface="Calibri" pitchFamily="34" charset="0"/>
                <a:ea typeface="Calibri" pitchFamily="34" charset="-122"/>
                <a:cs typeface="Calibri" pitchFamily="34" charset="-120"/>
              </a:rPr>
              <a:t>The everyday check when a trader reports a missing fill.</a:t>
            </a:r>
            <a:endParaRPr lang="en-US" sz="1100" dirty="0"/>
          </a:p>
        </p:txBody>
      </p:sp>
      <p:sp>
        <p:nvSpPr>
          <p:cNvPr id="12" name="Shape 10"/>
          <p:cNvSpPr/>
          <p:nvPr/>
        </p:nvSpPr>
        <p:spPr>
          <a:xfrm>
            <a:off x="685800" y="3044952"/>
            <a:ext cx="10820095" cy="896112"/>
          </a:xfrm>
          <a:prstGeom prst="roundRect">
            <a:avLst>
              <a:gd name="adj" fmla="val 6122"/>
            </a:avLst>
          </a:prstGeom>
          <a:solidFill>
            <a:srgbClr val="252B31"/>
          </a:solidFill>
          <a:ln w="12700">
            <a:solidFill>
              <a:srgbClr val="3A434B"/>
            </a:solidFill>
            <a:prstDash val="solid"/>
          </a:ln>
        </p:spPr>
        <p:txBody>
          <a:bodyPr/>
          <a:lstStyle/>
          <a:p>
            <a:endParaRPr lang="en-SE"/>
          </a:p>
        </p:txBody>
      </p:sp>
      <p:sp>
        <p:nvSpPr>
          <p:cNvPr id="13" name="Shape 11"/>
          <p:cNvSpPr/>
          <p:nvPr/>
        </p:nvSpPr>
        <p:spPr>
          <a:xfrm>
            <a:off x="685800" y="3044952"/>
            <a:ext cx="82296" cy="896112"/>
          </a:xfrm>
          <a:prstGeom prst="rect">
            <a:avLst/>
          </a:prstGeom>
          <a:solidFill>
            <a:srgbClr val="F0A202"/>
          </a:solidFill>
          <a:ln/>
        </p:spPr>
        <p:txBody>
          <a:bodyPr/>
          <a:lstStyle/>
          <a:p>
            <a:endParaRPr lang="en-SE"/>
          </a:p>
        </p:txBody>
      </p:sp>
      <p:sp>
        <p:nvSpPr>
          <p:cNvPr id="14" name="Text 12"/>
          <p:cNvSpPr/>
          <p:nvPr/>
        </p:nvSpPr>
        <p:spPr>
          <a:xfrm>
            <a:off x="1005840" y="3044952"/>
            <a:ext cx="2880360" cy="896112"/>
          </a:xfrm>
          <a:prstGeom prst="rect">
            <a:avLst/>
          </a:prstGeom>
          <a:noFill/>
          <a:ln/>
        </p:spPr>
        <p:txBody>
          <a:bodyPr wrap="square" lIns="0" tIns="0" rIns="0" bIns="0" rtlCol="0" anchor="ctr"/>
          <a:lstStyle/>
          <a:p>
            <a:pPr marL="0" indent="0">
              <a:buNone/>
            </a:pPr>
            <a:r>
              <a:rPr lang="en-US" sz="1400" b="1" dirty="0">
                <a:solidFill>
                  <a:srgbClr val="F0A202"/>
                </a:solidFill>
                <a:latin typeface="Trebuchet MS" pitchFamily="34" charset="0"/>
                <a:ea typeface="Trebuchet MS" pitchFamily="34" charset="-122"/>
                <a:cs typeface="Trebuchet MS" pitchFamily="34" charset="-120"/>
              </a:rPr>
              <a:t>Capture a sample for analysis</a:t>
            </a:r>
            <a:endParaRPr lang="en-US" sz="1400" dirty="0"/>
          </a:p>
        </p:txBody>
      </p:sp>
      <p:sp>
        <p:nvSpPr>
          <p:cNvPr id="15" name="Text 13"/>
          <p:cNvSpPr/>
          <p:nvPr/>
        </p:nvSpPr>
        <p:spPr>
          <a:xfrm>
            <a:off x="3977640" y="3044952"/>
            <a:ext cx="4663440" cy="896112"/>
          </a:xfrm>
          <a:prstGeom prst="rect">
            <a:avLst/>
          </a:prstGeom>
          <a:noFill/>
          <a:ln/>
        </p:spPr>
        <p:txBody>
          <a:bodyPr wrap="square" lIns="0" tIns="0" rIns="0" bIns="0" rtlCol="0" anchor="ctr"/>
          <a:lstStyle/>
          <a:p>
            <a:pPr marL="0" indent="0">
              <a:buNone/>
            </a:pPr>
            <a:r>
              <a:rPr lang="en-US" sz="1100" dirty="0">
                <a:solidFill>
                  <a:srgbClr val="ECF1F5"/>
                </a:solidFill>
                <a:latin typeface="Consolas" pitchFamily="34" charset="0"/>
                <a:ea typeface="Consolas" pitchFamily="34" charset="-122"/>
                <a:cs typeface="Consolas" pitchFamily="34" charset="-120"/>
              </a:rPr>
              <a:t>pm-dc-spy --format json --count 100 &gt; fills.jsonl</a:t>
            </a:r>
            <a:endParaRPr lang="en-US" sz="1100" dirty="0"/>
          </a:p>
        </p:txBody>
      </p:sp>
      <p:sp>
        <p:nvSpPr>
          <p:cNvPr id="16" name="Text 14"/>
          <p:cNvSpPr/>
          <p:nvPr/>
        </p:nvSpPr>
        <p:spPr>
          <a:xfrm>
            <a:off x="8778240" y="3136392"/>
            <a:ext cx="2697480" cy="731520"/>
          </a:xfrm>
          <a:prstGeom prst="rect">
            <a:avLst/>
          </a:prstGeom>
          <a:noFill/>
          <a:ln/>
        </p:spPr>
        <p:txBody>
          <a:bodyPr wrap="square" lIns="0" tIns="0" rIns="0" bIns="0" rtlCol="0" anchor="ctr"/>
          <a:lstStyle/>
          <a:p>
            <a:pPr marL="0" indent="0">
              <a:lnSpc>
                <a:spcPct val="105000"/>
              </a:lnSpc>
              <a:buNone/>
            </a:pPr>
            <a:r>
              <a:rPr lang="en-US" sz="1100" dirty="0">
                <a:solidFill>
                  <a:srgbClr val="97A4AE"/>
                </a:solidFill>
                <a:latin typeface="Calibri" pitchFamily="34" charset="0"/>
                <a:ea typeface="Calibri" pitchFamily="34" charset="-122"/>
                <a:cs typeface="Calibri" pitchFamily="34" charset="-120"/>
              </a:rPr>
              <a:t>Stops itself after 100 messages — safe to run in a script.</a:t>
            </a:r>
            <a:endParaRPr lang="en-US" sz="1100" dirty="0"/>
          </a:p>
        </p:txBody>
      </p:sp>
      <p:sp>
        <p:nvSpPr>
          <p:cNvPr id="17" name="Shape 15"/>
          <p:cNvSpPr/>
          <p:nvPr/>
        </p:nvSpPr>
        <p:spPr>
          <a:xfrm>
            <a:off x="685800" y="4032504"/>
            <a:ext cx="10820095" cy="896112"/>
          </a:xfrm>
          <a:prstGeom prst="roundRect">
            <a:avLst>
              <a:gd name="adj" fmla="val 6122"/>
            </a:avLst>
          </a:prstGeom>
          <a:solidFill>
            <a:srgbClr val="252B31"/>
          </a:solidFill>
          <a:ln w="12700">
            <a:solidFill>
              <a:srgbClr val="3A434B"/>
            </a:solidFill>
            <a:prstDash val="solid"/>
          </a:ln>
        </p:spPr>
        <p:txBody>
          <a:bodyPr/>
          <a:lstStyle/>
          <a:p>
            <a:endParaRPr lang="en-SE"/>
          </a:p>
        </p:txBody>
      </p:sp>
      <p:sp>
        <p:nvSpPr>
          <p:cNvPr id="18" name="Shape 16"/>
          <p:cNvSpPr/>
          <p:nvPr/>
        </p:nvSpPr>
        <p:spPr>
          <a:xfrm>
            <a:off x="685800" y="4032504"/>
            <a:ext cx="82296" cy="896112"/>
          </a:xfrm>
          <a:prstGeom prst="rect">
            <a:avLst/>
          </a:prstGeom>
          <a:solidFill>
            <a:srgbClr val="9B8CFF"/>
          </a:solidFill>
          <a:ln/>
        </p:spPr>
        <p:txBody>
          <a:bodyPr/>
          <a:lstStyle/>
          <a:p>
            <a:endParaRPr lang="en-SE"/>
          </a:p>
        </p:txBody>
      </p:sp>
      <p:sp>
        <p:nvSpPr>
          <p:cNvPr id="19" name="Text 17"/>
          <p:cNvSpPr/>
          <p:nvPr/>
        </p:nvSpPr>
        <p:spPr>
          <a:xfrm>
            <a:off x="1005840" y="4032504"/>
            <a:ext cx="2880360" cy="896112"/>
          </a:xfrm>
          <a:prstGeom prst="rect">
            <a:avLst/>
          </a:prstGeom>
          <a:noFill/>
          <a:ln/>
        </p:spPr>
        <p:txBody>
          <a:bodyPr wrap="square" lIns="0" tIns="0" rIns="0" bIns="0" rtlCol="0" anchor="ctr"/>
          <a:lstStyle/>
          <a:p>
            <a:pPr marL="0" indent="0">
              <a:buNone/>
            </a:pPr>
            <a:r>
              <a:rPr lang="en-US" sz="1400" b="1" dirty="0">
                <a:solidFill>
                  <a:srgbClr val="9B8CFF"/>
                </a:solidFill>
                <a:latin typeface="Trebuchet MS" pitchFamily="34" charset="0"/>
                <a:ea typeface="Trebuchet MS" pitchFamily="34" charset="-122"/>
                <a:cs typeface="Trebuchet MS" pitchFamily="34" charset="-120"/>
              </a:rPr>
              <a:t>Filter by symbol</a:t>
            </a:r>
            <a:endParaRPr lang="en-US" sz="1400" dirty="0"/>
          </a:p>
        </p:txBody>
      </p:sp>
      <p:sp>
        <p:nvSpPr>
          <p:cNvPr id="20" name="Text 18"/>
          <p:cNvSpPr/>
          <p:nvPr/>
        </p:nvSpPr>
        <p:spPr>
          <a:xfrm>
            <a:off x="3977640" y="4032504"/>
            <a:ext cx="4663440" cy="896112"/>
          </a:xfrm>
          <a:prstGeom prst="rect">
            <a:avLst/>
          </a:prstGeom>
          <a:noFill/>
          <a:ln/>
        </p:spPr>
        <p:txBody>
          <a:bodyPr wrap="square" lIns="0" tIns="0" rIns="0" bIns="0" rtlCol="0" anchor="ctr"/>
          <a:lstStyle/>
          <a:p>
            <a:pPr marL="0" indent="0">
              <a:buNone/>
            </a:pPr>
            <a:r>
              <a:rPr lang="en-US" sz="1100" dirty="0">
                <a:solidFill>
                  <a:srgbClr val="ECF1F5"/>
                </a:solidFill>
                <a:latin typeface="Consolas" pitchFamily="34" charset="0"/>
                <a:ea typeface="Consolas" pitchFamily="34" charset="-122"/>
                <a:cs typeface="Consolas" pitchFamily="34" charset="-120"/>
              </a:rPr>
              <a:t>pm-dc-spy --format json | jq 'select(.symbol == "AAPL")'</a:t>
            </a:r>
            <a:endParaRPr lang="en-US" sz="1100" dirty="0"/>
          </a:p>
        </p:txBody>
      </p:sp>
      <p:sp>
        <p:nvSpPr>
          <p:cNvPr id="21" name="Text 19"/>
          <p:cNvSpPr/>
          <p:nvPr/>
        </p:nvSpPr>
        <p:spPr>
          <a:xfrm>
            <a:off x="8778240" y="4123944"/>
            <a:ext cx="2697480" cy="731520"/>
          </a:xfrm>
          <a:prstGeom prst="rect">
            <a:avLst/>
          </a:prstGeom>
          <a:noFill/>
          <a:ln/>
        </p:spPr>
        <p:txBody>
          <a:bodyPr wrap="square" lIns="0" tIns="0" rIns="0" bIns="0" rtlCol="0" anchor="ctr"/>
          <a:lstStyle/>
          <a:p>
            <a:pPr marL="0" indent="0">
              <a:lnSpc>
                <a:spcPct val="105000"/>
              </a:lnSpc>
              <a:buNone/>
            </a:pPr>
            <a:r>
              <a:rPr lang="en-US" sz="1100" dirty="0">
                <a:solidFill>
                  <a:srgbClr val="97A4AE"/>
                </a:solidFill>
                <a:latin typeface="Calibri" pitchFamily="34" charset="0"/>
                <a:ea typeface="Calibri" pitchFamily="34" charset="-122"/>
                <a:cs typeface="Calibri" pitchFamily="34" charset="-120"/>
              </a:rPr>
              <a:t>JSON mode preserves every field, so any filter you like works.</a:t>
            </a:r>
            <a:endParaRPr lang="en-US" sz="1100" dirty="0"/>
          </a:p>
        </p:txBody>
      </p:sp>
      <p:sp>
        <p:nvSpPr>
          <p:cNvPr id="22" name="Shape 20"/>
          <p:cNvSpPr/>
          <p:nvPr/>
        </p:nvSpPr>
        <p:spPr>
          <a:xfrm>
            <a:off x="685800" y="5020056"/>
            <a:ext cx="10820095" cy="896112"/>
          </a:xfrm>
          <a:prstGeom prst="roundRect">
            <a:avLst>
              <a:gd name="adj" fmla="val 6122"/>
            </a:avLst>
          </a:prstGeom>
          <a:solidFill>
            <a:srgbClr val="252B31"/>
          </a:solidFill>
          <a:ln w="12700">
            <a:solidFill>
              <a:srgbClr val="3A434B"/>
            </a:solidFill>
            <a:prstDash val="solid"/>
          </a:ln>
        </p:spPr>
        <p:txBody>
          <a:bodyPr/>
          <a:lstStyle/>
          <a:p>
            <a:endParaRPr lang="en-SE"/>
          </a:p>
        </p:txBody>
      </p:sp>
      <p:sp>
        <p:nvSpPr>
          <p:cNvPr id="23" name="Shape 21"/>
          <p:cNvSpPr/>
          <p:nvPr/>
        </p:nvSpPr>
        <p:spPr>
          <a:xfrm>
            <a:off x="685800" y="5020056"/>
            <a:ext cx="82296" cy="896112"/>
          </a:xfrm>
          <a:prstGeom prst="rect">
            <a:avLst/>
          </a:prstGeom>
          <a:solidFill>
            <a:srgbClr val="E5566B"/>
          </a:solidFill>
          <a:ln/>
        </p:spPr>
        <p:txBody>
          <a:bodyPr/>
          <a:lstStyle/>
          <a:p>
            <a:endParaRPr lang="en-SE"/>
          </a:p>
        </p:txBody>
      </p:sp>
      <p:sp>
        <p:nvSpPr>
          <p:cNvPr id="24" name="Text 22"/>
          <p:cNvSpPr/>
          <p:nvPr/>
        </p:nvSpPr>
        <p:spPr>
          <a:xfrm>
            <a:off x="1005840" y="5020056"/>
            <a:ext cx="2880360" cy="896112"/>
          </a:xfrm>
          <a:prstGeom prst="rect">
            <a:avLst/>
          </a:prstGeom>
          <a:noFill/>
          <a:ln/>
        </p:spPr>
        <p:txBody>
          <a:bodyPr wrap="square" lIns="0" tIns="0" rIns="0" bIns="0" rtlCol="0" anchor="ctr"/>
          <a:lstStyle/>
          <a:p>
            <a:pPr marL="0" indent="0">
              <a:buNone/>
            </a:pPr>
            <a:r>
              <a:rPr lang="en-US" sz="1400" b="1" dirty="0">
                <a:solidFill>
                  <a:srgbClr val="E5566B"/>
                </a:solidFill>
                <a:latin typeface="Trebuchet MS" pitchFamily="34" charset="0"/>
                <a:ea typeface="Trebuchet MS" pitchFamily="34" charset="-122"/>
                <a:cs typeface="Trebuchet MS" pitchFamily="34" charset="-120"/>
              </a:rPr>
              <a:t>Watch a replay happen</a:t>
            </a:r>
            <a:endParaRPr lang="en-US" sz="1400" dirty="0"/>
          </a:p>
        </p:txBody>
      </p:sp>
      <p:sp>
        <p:nvSpPr>
          <p:cNvPr id="25" name="Text 23"/>
          <p:cNvSpPr/>
          <p:nvPr/>
        </p:nvSpPr>
        <p:spPr>
          <a:xfrm>
            <a:off x="3977640" y="5020056"/>
            <a:ext cx="4663440" cy="896112"/>
          </a:xfrm>
          <a:prstGeom prst="rect">
            <a:avLst/>
          </a:prstGeom>
          <a:noFill/>
          <a:ln/>
        </p:spPr>
        <p:txBody>
          <a:bodyPr wrap="square" lIns="0" tIns="0" rIns="0" bIns="0" rtlCol="0" anchor="ctr"/>
          <a:lstStyle/>
          <a:p>
            <a:pPr marL="0" indent="0">
              <a:buNone/>
            </a:pPr>
            <a:r>
              <a:rPr lang="en-US" sz="1100" dirty="0">
                <a:solidFill>
                  <a:srgbClr val="ECF1F5"/>
                </a:solidFill>
                <a:latin typeface="Consolas" pitchFamily="34" charset="0"/>
                <a:ea typeface="Consolas" pitchFamily="34" charset="-122"/>
                <a:cs typeface="Consolas" pitchFamily="34" charset="-120"/>
              </a:rPr>
              <a:t>pm-dc-spy --replay-of MY_RISK_SYS</a:t>
            </a:r>
            <a:endParaRPr lang="en-US" sz="1100" dirty="0"/>
          </a:p>
        </p:txBody>
      </p:sp>
      <p:sp>
        <p:nvSpPr>
          <p:cNvPr id="26" name="Text 24"/>
          <p:cNvSpPr/>
          <p:nvPr/>
        </p:nvSpPr>
        <p:spPr>
          <a:xfrm>
            <a:off x="8778240" y="5111496"/>
            <a:ext cx="2697480" cy="731520"/>
          </a:xfrm>
          <a:prstGeom prst="rect">
            <a:avLst/>
          </a:prstGeom>
          <a:noFill/>
          <a:ln/>
        </p:spPr>
        <p:txBody>
          <a:bodyPr wrap="square" lIns="0" tIns="0" rIns="0" bIns="0" rtlCol="0" anchor="ctr"/>
          <a:lstStyle/>
          <a:p>
            <a:pPr marL="0" indent="0">
              <a:lnSpc>
                <a:spcPct val="105000"/>
              </a:lnSpc>
              <a:buNone/>
            </a:pPr>
            <a:r>
              <a:rPr lang="en-US" sz="1100" dirty="0">
                <a:solidFill>
                  <a:srgbClr val="97A4AE"/>
                </a:solidFill>
                <a:latin typeface="Calibri" pitchFamily="34" charset="0"/>
                <a:ea typeface="Calibri" pitchFamily="34" charset="-122"/>
                <a:cs typeface="Calibri" pitchFamily="34" charset="-120"/>
              </a:rPr>
              <a:t>You cannot trigger a replay from here — but you can see exactly what one re-publishes.</a:t>
            </a:r>
            <a:endParaRPr lang="en-US" sz="1100" dirty="0"/>
          </a:p>
        </p:txBody>
      </p:sp>
      <p:sp>
        <p:nvSpPr>
          <p:cNvPr id="27" name="Text 25"/>
          <p:cNvSpPr/>
          <p:nvPr/>
        </p:nvSpPr>
        <p:spPr>
          <a:xfrm>
            <a:off x="685800" y="5943600"/>
            <a:ext cx="10820095" cy="320040"/>
          </a:xfrm>
          <a:prstGeom prst="rect">
            <a:avLst/>
          </a:prstGeom>
          <a:noFill/>
          <a:ln/>
        </p:spPr>
        <p:txBody>
          <a:bodyPr wrap="square" lIns="0" tIns="0" rIns="0" bIns="0" rtlCol="0" anchor="ctr"/>
          <a:lstStyle/>
          <a:p>
            <a:pPr marL="0" indent="0">
              <a:buNone/>
            </a:pPr>
            <a:r>
              <a:rPr lang="en-US" sz="1150" i="1" dirty="0">
                <a:solidFill>
                  <a:srgbClr val="6E7C87"/>
                </a:solidFill>
                <a:latin typeface="Calibri" pitchFamily="34" charset="0"/>
                <a:ea typeface="Calibri" pitchFamily="34" charset="-122"/>
                <a:cs typeface="Calibri" pitchFamily="34" charset="-120"/>
              </a:rPr>
              <a:t>Independent instances do not interfere — run one per gateway across several terminals instead of filtering one stream by eye.</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10454335" y="4572000"/>
            <a:ext cx="237744" cy="237744"/>
          </a:xfrm>
          <a:prstGeom prst="rect">
            <a:avLst/>
          </a:prstGeom>
          <a:solidFill>
            <a:srgbClr val="F0A202"/>
          </a:solidFill>
          <a:ln/>
        </p:spPr>
        <p:txBody>
          <a:bodyPr/>
          <a:lstStyle/>
          <a:p>
            <a:endParaRPr lang="en-SE"/>
          </a:p>
        </p:txBody>
      </p:sp>
      <p:sp>
        <p:nvSpPr>
          <p:cNvPr id="3" name="Shape 1"/>
          <p:cNvSpPr/>
          <p:nvPr/>
        </p:nvSpPr>
        <p:spPr>
          <a:xfrm>
            <a:off x="10838383" y="4572000"/>
            <a:ext cx="237744" cy="237744"/>
          </a:xfrm>
          <a:prstGeom prst="rect">
            <a:avLst/>
          </a:prstGeom>
          <a:solidFill>
            <a:srgbClr val="2E353C"/>
          </a:solidFill>
          <a:ln/>
        </p:spPr>
        <p:txBody>
          <a:bodyPr/>
          <a:lstStyle/>
          <a:p>
            <a:endParaRPr lang="en-SE"/>
          </a:p>
        </p:txBody>
      </p:sp>
      <p:sp>
        <p:nvSpPr>
          <p:cNvPr id="4" name="Shape 2"/>
          <p:cNvSpPr/>
          <p:nvPr/>
        </p:nvSpPr>
        <p:spPr>
          <a:xfrm>
            <a:off x="11222431" y="4572000"/>
            <a:ext cx="237744" cy="237744"/>
          </a:xfrm>
          <a:prstGeom prst="rect">
            <a:avLst/>
          </a:prstGeom>
          <a:solidFill>
            <a:srgbClr val="2E353C"/>
          </a:solidFill>
          <a:ln/>
        </p:spPr>
        <p:txBody>
          <a:bodyPr/>
          <a:lstStyle/>
          <a:p>
            <a:endParaRPr lang="en-SE"/>
          </a:p>
        </p:txBody>
      </p:sp>
      <p:sp>
        <p:nvSpPr>
          <p:cNvPr id="5" name="Shape 3"/>
          <p:cNvSpPr/>
          <p:nvPr/>
        </p:nvSpPr>
        <p:spPr>
          <a:xfrm>
            <a:off x="10454335" y="4956048"/>
            <a:ext cx="237744" cy="237744"/>
          </a:xfrm>
          <a:prstGeom prst="rect">
            <a:avLst/>
          </a:prstGeom>
          <a:solidFill>
            <a:srgbClr val="3FD0C9"/>
          </a:solidFill>
          <a:ln/>
        </p:spPr>
        <p:txBody>
          <a:bodyPr/>
          <a:lstStyle/>
          <a:p>
            <a:endParaRPr lang="en-SE"/>
          </a:p>
        </p:txBody>
      </p:sp>
      <p:sp>
        <p:nvSpPr>
          <p:cNvPr id="6" name="Shape 4"/>
          <p:cNvSpPr/>
          <p:nvPr/>
        </p:nvSpPr>
        <p:spPr>
          <a:xfrm>
            <a:off x="10838383" y="4956048"/>
            <a:ext cx="237744" cy="237744"/>
          </a:xfrm>
          <a:prstGeom prst="rect">
            <a:avLst/>
          </a:prstGeom>
          <a:solidFill>
            <a:srgbClr val="F0A202"/>
          </a:solidFill>
          <a:ln/>
        </p:spPr>
        <p:txBody>
          <a:bodyPr/>
          <a:lstStyle/>
          <a:p>
            <a:endParaRPr lang="en-SE"/>
          </a:p>
        </p:txBody>
      </p:sp>
      <p:sp>
        <p:nvSpPr>
          <p:cNvPr id="7" name="Shape 5"/>
          <p:cNvSpPr/>
          <p:nvPr/>
        </p:nvSpPr>
        <p:spPr>
          <a:xfrm>
            <a:off x="11222431" y="4956048"/>
            <a:ext cx="237744" cy="237744"/>
          </a:xfrm>
          <a:prstGeom prst="rect">
            <a:avLst/>
          </a:prstGeom>
          <a:solidFill>
            <a:srgbClr val="2E353C"/>
          </a:solidFill>
          <a:ln/>
        </p:spPr>
        <p:txBody>
          <a:bodyPr/>
          <a:lstStyle/>
          <a:p>
            <a:endParaRPr lang="en-SE"/>
          </a:p>
        </p:txBody>
      </p:sp>
      <p:sp>
        <p:nvSpPr>
          <p:cNvPr id="8" name="Text 6"/>
          <p:cNvSpPr/>
          <p:nvPr/>
        </p:nvSpPr>
        <p:spPr>
          <a:xfrm>
            <a:off x="685800" y="1417320"/>
            <a:ext cx="2743200" cy="1737360"/>
          </a:xfrm>
          <a:prstGeom prst="rect">
            <a:avLst/>
          </a:prstGeom>
          <a:noFill/>
          <a:ln/>
        </p:spPr>
        <p:txBody>
          <a:bodyPr wrap="square" lIns="0" tIns="0" rIns="0" bIns="0" rtlCol="0" anchor="ctr"/>
          <a:lstStyle/>
          <a:p>
            <a:pPr marL="0" indent="0">
              <a:buNone/>
            </a:pPr>
            <a:r>
              <a:rPr lang="en-US" sz="11000" b="1" dirty="0">
                <a:solidFill>
                  <a:srgbClr val="2E353C"/>
                </a:solidFill>
                <a:latin typeface="Trebuchet MS" pitchFamily="34" charset="0"/>
                <a:ea typeface="Trebuchet MS" pitchFamily="34" charset="-122"/>
                <a:cs typeface="Trebuchet MS" pitchFamily="34" charset="-120"/>
              </a:rPr>
              <a:t>08</a:t>
            </a:r>
            <a:endParaRPr lang="en-US" sz="11000" dirty="0"/>
          </a:p>
        </p:txBody>
      </p:sp>
      <p:sp>
        <p:nvSpPr>
          <p:cNvPr id="9" name="Text 7"/>
          <p:cNvSpPr/>
          <p:nvPr/>
        </p:nvSpPr>
        <p:spPr>
          <a:xfrm>
            <a:off x="2606040" y="1600200"/>
            <a:ext cx="8579815" cy="1371600"/>
          </a:xfrm>
          <a:prstGeom prst="rect">
            <a:avLst/>
          </a:prstGeom>
          <a:noFill/>
          <a:ln/>
        </p:spPr>
        <p:txBody>
          <a:bodyPr wrap="square" lIns="0" tIns="0" rIns="0" bIns="0" rtlCol="0" anchor="ctr"/>
          <a:lstStyle/>
          <a:p>
            <a:pPr marL="0" indent="0">
              <a:buNone/>
            </a:pPr>
            <a:r>
              <a:rPr lang="en-US" sz="4000" b="1" dirty="0">
                <a:solidFill>
                  <a:srgbClr val="ECF1F5"/>
                </a:solidFill>
                <a:latin typeface="Trebuchet MS" pitchFamily="34" charset="0"/>
                <a:ea typeface="Trebuchet MS" pitchFamily="34" charset="-122"/>
                <a:cs typeface="Trebuchet MS" pitchFamily="34" charset="-120"/>
              </a:rPr>
              <a:t>Good to know when using Drop Copy</a:t>
            </a:r>
            <a:endParaRPr lang="en-US" sz="4000" dirty="0"/>
          </a:p>
        </p:txBody>
      </p:sp>
      <p:sp>
        <p:nvSpPr>
          <p:cNvPr id="10" name="Text 8"/>
          <p:cNvSpPr/>
          <p:nvPr/>
        </p:nvSpPr>
        <p:spPr>
          <a:xfrm>
            <a:off x="2651760" y="3017520"/>
            <a:ext cx="7680960" cy="822960"/>
          </a:xfrm>
          <a:prstGeom prst="rect">
            <a:avLst/>
          </a:prstGeom>
          <a:noFill/>
          <a:ln/>
        </p:spPr>
        <p:txBody>
          <a:bodyPr wrap="square" lIns="0" tIns="0" rIns="0" bIns="0" rtlCol="0" anchor="t"/>
          <a:lstStyle/>
          <a:p>
            <a:pPr marL="0" indent="0">
              <a:lnSpc>
                <a:spcPct val="115000"/>
              </a:lnSpc>
              <a:buNone/>
            </a:pPr>
            <a:r>
              <a:rPr lang="en-US" sz="1500" dirty="0">
                <a:solidFill>
                  <a:srgbClr val="97A4AE"/>
                </a:solidFill>
                <a:latin typeface="Calibri" pitchFamily="34" charset="0"/>
                <a:ea typeface="Calibri" pitchFamily="34" charset="-122"/>
                <a:cs typeface="Calibri" pitchFamily="34" charset="-120"/>
              </a:rPr>
              <a:t>The facts that separate an operator who trusts the feed from one who is surprised by it.</a:t>
            </a:r>
            <a:endParaRPr lang="en-US" sz="1500" dirty="0"/>
          </a:p>
        </p:txBody>
      </p:sp>
      <p:sp>
        <p:nvSpPr>
          <p:cNvPr id="11" name="Shape 9"/>
          <p:cNvSpPr/>
          <p:nvPr/>
        </p:nvSpPr>
        <p:spPr>
          <a:xfrm>
            <a:off x="2651760" y="4142232"/>
            <a:ext cx="128016" cy="128016"/>
          </a:xfrm>
          <a:prstGeom prst="rect">
            <a:avLst/>
          </a:prstGeom>
          <a:solidFill>
            <a:srgbClr val="3FD0C9"/>
          </a:solidFill>
          <a:ln/>
        </p:spPr>
        <p:txBody>
          <a:bodyPr/>
          <a:lstStyle/>
          <a:p>
            <a:endParaRPr lang="en-SE"/>
          </a:p>
        </p:txBody>
      </p:sp>
      <p:sp>
        <p:nvSpPr>
          <p:cNvPr id="12" name="Text 10"/>
          <p:cNvSpPr/>
          <p:nvPr/>
        </p:nvSpPr>
        <p:spPr>
          <a:xfrm>
            <a:off x="2971800" y="4041648"/>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Eight operating truths</a:t>
            </a:r>
            <a:endParaRPr lang="en-US" sz="1250" dirty="0"/>
          </a:p>
        </p:txBody>
      </p:sp>
      <p:sp>
        <p:nvSpPr>
          <p:cNvPr id="13" name="Shape 11"/>
          <p:cNvSpPr/>
          <p:nvPr/>
        </p:nvSpPr>
        <p:spPr>
          <a:xfrm>
            <a:off x="2651760" y="4526280"/>
            <a:ext cx="128016" cy="128016"/>
          </a:xfrm>
          <a:prstGeom prst="rect">
            <a:avLst/>
          </a:prstGeom>
          <a:solidFill>
            <a:srgbClr val="3FD0C9"/>
          </a:solidFill>
          <a:ln/>
        </p:spPr>
        <p:txBody>
          <a:bodyPr/>
          <a:lstStyle/>
          <a:p>
            <a:endParaRPr lang="en-SE"/>
          </a:p>
        </p:txBody>
      </p:sp>
      <p:sp>
        <p:nvSpPr>
          <p:cNvPr id="14" name="Text 12"/>
          <p:cNvSpPr/>
          <p:nvPr/>
        </p:nvSpPr>
        <p:spPr>
          <a:xfrm>
            <a:off x="2971800" y="4425696"/>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security reality</a:t>
            </a:r>
            <a:endParaRPr lang="en-US" sz="1250" dirty="0"/>
          </a:p>
        </p:txBody>
      </p:sp>
      <p:sp>
        <p:nvSpPr>
          <p:cNvPr id="15" name="Shape 13"/>
          <p:cNvSpPr/>
          <p:nvPr/>
        </p:nvSpPr>
        <p:spPr>
          <a:xfrm>
            <a:off x="2651760" y="4910328"/>
            <a:ext cx="128016" cy="128016"/>
          </a:xfrm>
          <a:prstGeom prst="rect">
            <a:avLst/>
          </a:prstGeom>
          <a:solidFill>
            <a:srgbClr val="3FD0C9"/>
          </a:solidFill>
          <a:ln/>
        </p:spPr>
        <p:txBody>
          <a:bodyPr/>
          <a:lstStyle/>
          <a:p>
            <a:endParaRPr lang="en-SE"/>
          </a:p>
        </p:txBody>
      </p:sp>
      <p:sp>
        <p:nvSpPr>
          <p:cNvPr id="16" name="Text 14"/>
          <p:cNvSpPr/>
          <p:nvPr/>
        </p:nvSpPr>
        <p:spPr>
          <a:xfrm>
            <a:off x="2971800" y="4809744"/>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A pre-flight checklist</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08 · GOOD TO KNOW</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41</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OPERATING TRUTHS</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Eight facts to internalise before you rely on the feed</a:t>
            </a:r>
            <a:endParaRPr lang="en-US" sz="3100" dirty="0"/>
          </a:p>
        </p:txBody>
      </p:sp>
      <p:sp>
        <p:nvSpPr>
          <p:cNvPr id="7" name="Shape 5"/>
          <p:cNvSpPr/>
          <p:nvPr/>
        </p:nvSpPr>
        <p:spPr>
          <a:xfrm>
            <a:off x="685800" y="2148840"/>
            <a:ext cx="2542032" cy="1783080"/>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8" name="Shape 6"/>
          <p:cNvSpPr/>
          <p:nvPr/>
        </p:nvSpPr>
        <p:spPr>
          <a:xfrm>
            <a:off x="685800" y="2148840"/>
            <a:ext cx="2542032" cy="82296"/>
          </a:xfrm>
          <a:prstGeom prst="rect">
            <a:avLst/>
          </a:prstGeom>
          <a:solidFill>
            <a:srgbClr val="F0A202"/>
          </a:solidFill>
          <a:ln/>
        </p:spPr>
        <p:txBody>
          <a:bodyPr/>
          <a:lstStyle/>
          <a:p>
            <a:endParaRPr lang="en-SE"/>
          </a:p>
        </p:txBody>
      </p:sp>
      <p:sp>
        <p:nvSpPr>
          <p:cNvPr id="9" name="Text 7"/>
          <p:cNvSpPr/>
          <p:nvPr/>
        </p:nvSpPr>
        <p:spPr>
          <a:xfrm>
            <a:off x="941832" y="2350008"/>
            <a:ext cx="914400" cy="292608"/>
          </a:xfrm>
          <a:prstGeom prst="rect">
            <a:avLst/>
          </a:prstGeom>
          <a:noFill/>
          <a:ln/>
        </p:spPr>
        <p:txBody>
          <a:bodyPr wrap="square" lIns="0" tIns="0" rIns="0" bIns="0" rtlCol="0" anchor="ctr"/>
          <a:lstStyle/>
          <a:p>
            <a:pPr marL="0" indent="0">
              <a:buNone/>
            </a:pPr>
            <a:r>
              <a:rPr lang="en-US" sz="1200" b="1" dirty="0">
                <a:solidFill>
                  <a:srgbClr val="F0A202"/>
                </a:solidFill>
                <a:latin typeface="Consolas" pitchFamily="34" charset="0"/>
                <a:ea typeface="Consolas" pitchFamily="34" charset="-122"/>
                <a:cs typeface="Consolas" pitchFamily="34" charset="-120"/>
              </a:rPr>
              <a:t>01</a:t>
            </a:r>
            <a:endParaRPr lang="en-US" sz="1200" dirty="0"/>
          </a:p>
        </p:txBody>
      </p:sp>
      <p:sp>
        <p:nvSpPr>
          <p:cNvPr id="10" name="Text 8"/>
          <p:cNvSpPr/>
          <p:nvPr/>
        </p:nvSpPr>
        <p:spPr>
          <a:xfrm>
            <a:off x="941832" y="2679192"/>
            <a:ext cx="2057400" cy="548640"/>
          </a:xfrm>
          <a:prstGeom prst="rect">
            <a:avLst/>
          </a:prstGeom>
          <a:noFill/>
          <a:ln/>
        </p:spPr>
        <p:txBody>
          <a:bodyPr wrap="square" lIns="0" tIns="0" rIns="0" bIns="0" rtlCol="0" anchor="t"/>
          <a:lstStyle/>
          <a:p>
            <a:pPr marL="0" indent="0">
              <a:lnSpc>
                <a:spcPct val="105000"/>
              </a:lnSpc>
              <a:buNone/>
            </a:pPr>
            <a:r>
              <a:rPr lang="en-US" sz="1400" b="1" dirty="0">
                <a:solidFill>
                  <a:srgbClr val="ECF1F5"/>
                </a:solidFill>
                <a:latin typeface="Trebuchet MS" pitchFamily="34" charset="0"/>
                <a:ea typeface="Trebuchet MS" pitchFamily="34" charset="-122"/>
                <a:cs typeface="Trebuchet MS" pitchFamily="34" charset="-120"/>
              </a:rPr>
              <a:t>Two events per trade</a:t>
            </a:r>
            <a:endParaRPr lang="en-US" sz="1400" dirty="0"/>
          </a:p>
        </p:txBody>
      </p:sp>
      <p:sp>
        <p:nvSpPr>
          <p:cNvPr id="11" name="Text 9"/>
          <p:cNvSpPr/>
          <p:nvPr/>
        </p:nvSpPr>
        <p:spPr>
          <a:xfrm>
            <a:off x="941832" y="3200400"/>
            <a:ext cx="2057400" cy="658368"/>
          </a:xfrm>
          <a:prstGeom prst="rect">
            <a:avLst/>
          </a:prstGeom>
          <a:noFill/>
          <a:ln/>
        </p:spPr>
        <p:txBody>
          <a:bodyPr wrap="square" lIns="0" tIns="0" rIns="0" bIns="0" rtlCol="0" anchor="t"/>
          <a:lstStyle/>
          <a:p>
            <a:pPr marL="0" indent="0">
              <a:lnSpc>
                <a:spcPct val="106000"/>
              </a:lnSpc>
              <a:buNone/>
            </a:pPr>
            <a:r>
              <a:rPr lang="en-US" sz="1100" dirty="0">
                <a:solidFill>
                  <a:srgbClr val="97A4AE"/>
                </a:solidFill>
                <a:latin typeface="Calibri" pitchFamily="34" charset="0"/>
                <a:ea typeface="Calibri" pitchFamily="34" charset="-122"/>
                <a:cs typeface="Calibri" pitchFamily="34" charset="-120"/>
              </a:rPr>
              <a:t>Count messages, not trades — every match emits one event per counterparty.</a:t>
            </a:r>
            <a:endParaRPr lang="en-US" sz="1100" dirty="0"/>
          </a:p>
        </p:txBody>
      </p:sp>
      <p:sp>
        <p:nvSpPr>
          <p:cNvPr id="12" name="Shape 10"/>
          <p:cNvSpPr/>
          <p:nvPr/>
        </p:nvSpPr>
        <p:spPr>
          <a:xfrm>
            <a:off x="3429000" y="2148840"/>
            <a:ext cx="2542032" cy="1783080"/>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13" name="Shape 11"/>
          <p:cNvSpPr/>
          <p:nvPr/>
        </p:nvSpPr>
        <p:spPr>
          <a:xfrm>
            <a:off x="3429000" y="2148840"/>
            <a:ext cx="2542032" cy="82296"/>
          </a:xfrm>
          <a:prstGeom prst="rect">
            <a:avLst/>
          </a:prstGeom>
          <a:solidFill>
            <a:srgbClr val="F0A202"/>
          </a:solidFill>
          <a:ln/>
        </p:spPr>
        <p:txBody>
          <a:bodyPr/>
          <a:lstStyle/>
          <a:p>
            <a:endParaRPr lang="en-SE"/>
          </a:p>
        </p:txBody>
      </p:sp>
      <p:sp>
        <p:nvSpPr>
          <p:cNvPr id="14" name="Text 12"/>
          <p:cNvSpPr/>
          <p:nvPr/>
        </p:nvSpPr>
        <p:spPr>
          <a:xfrm>
            <a:off x="3685032" y="2350008"/>
            <a:ext cx="914400" cy="292608"/>
          </a:xfrm>
          <a:prstGeom prst="rect">
            <a:avLst/>
          </a:prstGeom>
          <a:noFill/>
          <a:ln/>
        </p:spPr>
        <p:txBody>
          <a:bodyPr wrap="square" lIns="0" tIns="0" rIns="0" bIns="0" rtlCol="0" anchor="ctr"/>
          <a:lstStyle/>
          <a:p>
            <a:pPr marL="0" indent="0">
              <a:buNone/>
            </a:pPr>
            <a:r>
              <a:rPr lang="en-US" sz="1200" b="1" dirty="0">
                <a:solidFill>
                  <a:srgbClr val="F0A202"/>
                </a:solidFill>
                <a:latin typeface="Consolas" pitchFamily="34" charset="0"/>
                <a:ea typeface="Consolas" pitchFamily="34" charset="-122"/>
                <a:cs typeface="Consolas" pitchFamily="34" charset="-120"/>
              </a:rPr>
              <a:t>02</a:t>
            </a:r>
            <a:endParaRPr lang="en-US" sz="1200" dirty="0"/>
          </a:p>
        </p:txBody>
      </p:sp>
      <p:sp>
        <p:nvSpPr>
          <p:cNvPr id="15" name="Text 13"/>
          <p:cNvSpPr/>
          <p:nvPr/>
        </p:nvSpPr>
        <p:spPr>
          <a:xfrm>
            <a:off x="3685032" y="2679192"/>
            <a:ext cx="2057400" cy="548640"/>
          </a:xfrm>
          <a:prstGeom prst="rect">
            <a:avLst/>
          </a:prstGeom>
          <a:noFill/>
          <a:ln/>
        </p:spPr>
        <p:txBody>
          <a:bodyPr wrap="square" lIns="0" tIns="0" rIns="0" bIns="0" rtlCol="0" anchor="t"/>
          <a:lstStyle/>
          <a:p>
            <a:pPr marL="0" indent="0">
              <a:lnSpc>
                <a:spcPct val="105000"/>
              </a:lnSpc>
              <a:buNone/>
            </a:pPr>
            <a:r>
              <a:rPr lang="en-US" sz="1400" b="1" dirty="0">
                <a:solidFill>
                  <a:srgbClr val="ECF1F5"/>
                </a:solidFill>
                <a:latin typeface="Trebuchet MS" pitchFamily="34" charset="0"/>
                <a:ea typeface="Trebuchet MS" pitchFamily="34" charset="-122"/>
                <a:cs typeface="Trebuchet MS" pitchFamily="34" charset="-120"/>
              </a:rPr>
              <a:t>Order state is not included</a:t>
            </a:r>
            <a:endParaRPr lang="en-US" sz="1400" dirty="0"/>
          </a:p>
        </p:txBody>
      </p:sp>
      <p:sp>
        <p:nvSpPr>
          <p:cNvPr id="16" name="Text 14"/>
          <p:cNvSpPr/>
          <p:nvPr/>
        </p:nvSpPr>
        <p:spPr>
          <a:xfrm>
            <a:off x="3685032" y="3200400"/>
            <a:ext cx="2057400" cy="658368"/>
          </a:xfrm>
          <a:prstGeom prst="rect">
            <a:avLst/>
          </a:prstGeom>
          <a:noFill/>
          <a:ln/>
        </p:spPr>
        <p:txBody>
          <a:bodyPr wrap="square" lIns="0" tIns="0" rIns="0" bIns="0" rtlCol="0" anchor="t"/>
          <a:lstStyle/>
          <a:p>
            <a:pPr marL="0" indent="0">
              <a:lnSpc>
                <a:spcPct val="106000"/>
              </a:lnSpc>
              <a:buNone/>
            </a:pPr>
            <a:r>
              <a:rPr lang="en-US" sz="1100" dirty="0">
                <a:solidFill>
                  <a:srgbClr val="97A4AE"/>
                </a:solidFill>
                <a:latin typeface="Calibri" pitchFamily="34" charset="0"/>
                <a:ea typeface="Calibri" pitchFamily="34" charset="-122"/>
                <a:cs typeface="Calibri" pitchFamily="34" charset="-120"/>
              </a:rPr>
              <a:t>No side, no remaining quantity. Track it yourself or read it from the trading session.</a:t>
            </a:r>
            <a:endParaRPr lang="en-US" sz="1100" dirty="0"/>
          </a:p>
        </p:txBody>
      </p:sp>
      <p:sp>
        <p:nvSpPr>
          <p:cNvPr id="17" name="Shape 15"/>
          <p:cNvSpPr/>
          <p:nvPr/>
        </p:nvSpPr>
        <p:spPr>
          <a:xfrm>
            <a:off x="6172200" y="2148840"/>
            <a:ext cx="2542032" cy="1783080"/>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18" name="Shape 16"/>
          <p:cNvSpPr/>
          <p:nvPr/>
        </p:nvSpPr>
        <p:spPr>
          <a:xfrm>
            <a:off x="6172200" y="2148840"/>
            <a:ext cx="2542032" cy="82296"/>
          </a:xfrm>
          <a:prstGeom prst="rect">
            <a:avLst/>
          </a:prstGeom>
          <a:solidFill>
            <a:srgbClr val="3FD0C9"/>
          </a:solidFill>
          <a:ln/>
        </p:spPr>
        <p:txBody>
          <a:bodyPr/>
          <a:lstStyle/>
          <a:p>
            <a:endParaRPr lang="en-SE"/>
          </a:p>
        </p:txBody>
      </p:sp>
      <p:sp>
        <p:nvSpPr>
          <p:cNvPr id="19" name="Text 17"/>
          <p:cNvSpPr/>
          <p:nvPr/>
        </p:nvSpPr>
        <p:spPr>
          <a:xfrm>
            <a:off x="6428232" y="2350008"/>
            <a:ext cx="914400" cy="292608"/>
          </a:xfrm>
          <a:prstGeom prst="rect">
            <a:avLst/>
          </a:prstGeom>
          <a:noFill/>
          <a:ln/>
        </p:spPr>
        <p:txBody>
          <a:bodyPr wrap="square" lIns="0" tIns="0" rIns="0" bIns="0" rtlCol="0" anchor="ctr"/>
          <a:lstStyle/>
          <a:p>
            <a:pPr marL="0" indent="0">
              <a:buNone/>
            </a:pPr>
            <a:r>
              <a:rPr lang="en-US" sz="1200" b="1" dirty="0">
                <a:solidFill>
                  <a:srgbClr val="3FD0C9"/>
                </a:solidFill>
                <a:latin typeface="Consolas" pitchFamily="34" charset="0"/>
                <a:ea typeface="Consolas" pitchFamily="34" charset="-122"/>
                <a:cs typeface="Consolas" pitchFamily="34" charset="-120"/>
              </a:rPr>
              <a:t>03</a:t>
            </a:r>
            <a:endParaRPr lang="en-US" sz="1200" dirty="0"/>
          </a:p>
        </p:txBody>
      </p:sp>
      <p:sp>
        <p:nvSpPr>
          <p:cNvPr id="20" name="Text 18"/>
          <p:cNvSpPr/>
          <p:nvPr/>
        </p:nvSpPr>
        <p:spPr>
          <a:xfrm>
            <a:off x="6428232" y="2679192"/>
            <a:ext cx="2057400" cy="548640"/>
          </a:xfrm>
          <a:prstGeom prst="rect">
            <a:avLst/>
          </a:prstGeom>
          <a:noFill/>
          <a:ln/>
        </p:spPr>
        <p:txBody>
          <a:bodyPr wrap="square" lIns="0" tIns="0" rIns="0" bIns="0" rtlCol="0" anchor="t"/>
          <a:lstStyle/>
          <a:p>
            <a:pPr marL="0" indent="0">
              <a:lnSpc>
                <a:spcPct val="105000"/>
              </a:lnSpc>
              <a:buNone/>
            </a:pPr>
            <a:r>
              <a:rPr lang="en-US" sz="1400" b="1" dirty="0">
                <a:solidFill>
                  <a:srgbClr val="ECF1F5"/>
                </a:solidFill>
                <a:latin typeface="Trebuchet MS" pitchFamily="34" charset="0"/>
                <a:ea typeface="Trebuchet MS" pitchFamily="34" charset="-122"/>
                <a:cs typeface="Trebuchet MS" pitchFamily="34" charset="-120"/>
              </a:rPr>
              <a:t>The counter is per process</a:t>
            </a:r>
            <a:endParaRPr lang="en-US" sz="1400" dirty="0"/>
          </a:p>
        </p:txBody>
      </p:sp>
      <p:sp>
        <p:nvSpPr>
          <p:cNvPr id="21" name="Text 19"/>
          <p:cNvSpPr/>
          <p:nvPr/>
        </p:nvSpPr>
        <p:spPr>
          <a:xfrm>
            <a:off x="6428232" y="3200400"/>
            <a:ext cx="2057400" cy="658368"/>
          </a:xfrm>
          <a:prstGeom prst="rect">
            <a:avLst/>
          </a:prstGeom>
          <a:noFill/>
          <a:ln/>
        </p:spPr>
        <p:txBody>
          <a:bodyPr wrap="square" lIns="0" tIns="0" rIns="0" bIns="0" rtlCol="0" anchor="t"/>
          <a:lstStyle/>
          <a:p>
            <a:pPr marL="0" indent="0">
              <a:lnSpc>
                <a:spcPct val="106000"/>
              </a:lnSpc>
              <a:buNone/>
            </a:pPr>
            <a:r>
              <a:rPr lang="en-US" sz="1100" dirty="0">
                <a:solidFill>
                  <a:srgbClr val="97A4AE"/>
                </a:solidFill>
                <a:latin typeface="Calibri" pitchFamily="34" charset="0"/>
                <a:ea typeface="Calibri" pitchFamily="34" charset="-122"/>
                <a:cs typeface="Calibri" pitchFamily="34" charset="-120"/>
              </a:rPr>
              <a:t>Sequence numbers are shared process-wide and never reset while the process lives.</a:t>
            </a:r>
            <a:endParaRPr lang="en-US" sz="1100" dirty="0"/>
          </a:p>
        </p:txBody>
      </p:sp>
      <p:sp>
        <p:nvSpPr>
          <p:cNvPr id="22" name="Shape 20"/>
          <p:cNvSpPr/>
          <p:nvPr/>
        </p:nvSpPr>
        <p:spPr>
          <a:xfrm>
            <a:off x="8915400" y="2148840"/>
            <a:ext cx="2542032" cy="1783080"/>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23" name="Shape 21"/>
          <p:cNvSpPr/>
          <p:nvPr/>
        </p:nvSpPr>
        <p:spPr>
          <a:xfrm>
            <a:off x="8915400" y="2148840"/>
            <a:ext cx="2542032" cy="82296"/>
          </a:xfrm>
          <a:prstGeom prst="rect">
            <a:avLst/>
          </a:prstGeom>
          <a:solidFill>
            <a:srgbClr val="E5566B"/>
          </a:solidFill>
          <a:ln/>
        </p:spPr>
        <p:txBody>
          <a:bodyPr/>
          <a:lstStyle/>
          <a:p>
            <a:endParaRPr lang="en-SE"/>
          </a:p>
        </p:txBody>
      </p:sp>
      <p:sp>
        <p:nvSpPr>
          <p:cNvPr id="24" name="Text 22"/>
          <p:cNvSpPr/>
          <p:nvPr/>
        </p:nvSpPr>
        <p:spPr>
          <a:xfrm>
            <a:off x="9171432" y="2350008"/>
            <a:ext cx="914400" cy="292608"/>
          </a:xfrm>
          <a:prstGeom prst="rect">
            <a:avLst/>
          </a:prstGeom>
          <a:noFill/>
          <a:ln/>
        </p:spPr>
        <p:txBody>
          <a:bodyPr wrap="square" lIns="0" tIns="0" rIns="0" bIns="0" rtlCol="0" anchor="ctr"/>
          <a:lstStyle/>
          <a:p>
            <a:pPr marL="0" indent="0">
              <a:buNone/>
            </a:pPr>
            <a:r>
              <a:rPr lang="en-US" sz="1200" b="1" dirty="0">
                <a:solidFill>
                  <a:srgbClr val="E5566B"/>
                </a:solidFill>
                <a:latin typeface="Consolas" pitchFamily="34" charset="0"/>
                <a:ea typeface="Consolas" pitchFamily="34" charset="-122"/>
                <a:cs typeface="Consolas" pitchFamily="34" charset="-120"/>
              </a:rPr>
              <a:t>04</a:t>
            </a:r>
            <a:endParaRPr lang="en-US" sz="1200" dirty="0"/>
          </a:p>
        </p:txBody>
      </p:sp>
      <p:sp>
        <p:nvSpPr>
          <p:cNvPr id="25" name="Text 23"/>
          <p:cNvSpPr/>
          <p:nvPr/>
        </p:nvSpPr>
        <p:spPr>
          <a:xfrm>
            <a:off x="9171432" y="2679192"/>
            <a:ext cx="2057400" cy="548640"/>
          </a:xfrm>
          <a:prstGeom prst="rect">
            <a:avLst/>
          </a:prstGeom>
          <a:noFill/>
          <a:ln/>
        </p:spPr>
        <p:txBody>
          <a:bodyPr wrap="square" lIns="0" tIns="0" rIns="0" bIns="0" rtlCol="0" anchor="t"/>
          <a:lstStyle/>
          <a:p>
            <a:pPr marL="0" indent="0">
              <a:lnSpc>
                <a:spcPct val="105000"/>
              </a:lnSpc>
              <a:buNone/>
            </a:pPr>
            <a:r>
              <a:rPr lang="en-US" sz="1400" b="1" dirty="0">
                <a:solidFill>
                  <a:srgbClr val="ECF1F5"/>
                </a:solidFill>
                <a:latin typeface="Trebuchet MS" pitchFamily="34" charset="0"/>
                <a:ea typeface="Trebuchet MS" pitchFamily="34" charset="-122"/>
                <a:cs typeface="Trebuchet MS" pitchFamily="34" charset="-120"/>
              </a:rPr>
              <a:t>Silence is ambiguous</a:t>
            </a:r>
            <a:endParaRPr lang="en-US" sz="1400" dirty="0"/>
          </a:p>
        </p:txBody>
      </p:sp>
      <p:sp>
        <p:nvSpPr>
          <p:cNvPr id="26" name="Text 24"/>
          <p:cNvSpPr/>
          <p:nvPr/>
        </p:nvSpPr>
        <p:spPr>
          <a:xfrm>
            <a:off x="9171432" y="3200400"/>
            <a:ext cx="2057400" cy="658368"/>
          </a:xfrm>
          <a:prstGeom prst="rect">
            <a:avLst/>
          </a:prstGeom>
          <a:noFill/>
          <a:ln/>
        </p:spPr>
        <p:txBody>
          <a:bodyPr wrap="square" lIns="0" tIns="0" rIns="0" bIns="0" rtlCol="0" anchor="t"/>
          <a:lstStyle/>
          <a:p>
            <a:pPr marL="0" indent="0">
              <a:lnSpc>
                <a:spcPct val="106000"/>
              </a:lnSpc>
              <a:buNone/>
            </a:pPr>
            <a:r>
              <a:rPr lang="en-US" sz="1100" dirty="0">
                <a:solidFill>
                  <a:srgbClr val="97A4AE"/>
                </a:solidFill>
                <a:latin typeface="Calibri" pitchFamily="34" charset="0"/>
                <a:ea typeface="Calibri" pitchFamily="34" charset="-122"/>
                <a:cs typeface="Calibri" pitchFamily="34" charset="-120"/>
              </a:rPr>
              <a:t>No messages can mean no trading, or a publisher that never bound. Check the engine log.</a:t>
            </a:r>
            <a:endParaRPr lang="en-US" sz="1100" dirty="0"/>
          </a:p>
        </p:txBody>
      </p:sp>
      <p:sp>
        <p:nvSpPr>
          <p:cNvPr id="27" name="Shape 25"/>
          <p:cNvSpPr/>
          <p:nvPr/>
        </p:nvSpPr>
        <p:spPr>
          <a:xfrm>
            <a:off x="685800" y="4114800"/>
            <a:ext cx="2542032" cy="1783080"/>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28" name="Shape 26"/>
          <p:cNvSpPr/>
          <p:nvPr/>
        </p:nvSpPr>
        <p:spPr>
          <a:xfrm>
            <a:off x="685800" y="4114800"/>
            <a:ext cx="2542032" cy="82296"/>
          </a:xfrm>
          <a:prstGeom prst="rect">
            <a:avLst/>
          </a:prstGeom>
          <a:solidFill>
            <a:srgbClr val="E5566B"/>
          </a:solidFill>
          <a:ln/>
        </p:spPr>
        <p:txBody>
          <a:bodyPr/>
          <a:lstStyle/>
          <a:p>
            <a:endParaRPr lang="en-SE"/>
          </a:p>
        </p:txBody>
      </p:sp>
      <p:sp>
        <p:nvSpPr>
          <p:cNvPr id="29" name="Text 27"/>
          <p:cNvSpPr/>
          <p:nvPr/>
        </p:nvSpPr>
        <p:spPr>
          <a:xfrm>
            <a:off x="941832" y="4315968"/>
            <a:ext cx="914400" cy="292608"/>
          </a:xfrm>
          <a:prstGeom prst="rect">
            <a:avLst/>
          </a:prstGeom>
          <a:noFill/>
          <a:ln/>
        </p:spPr>
        <p:txBody>
          <a:bodyPr wrap="square" lIns="0" tIns="0" rIns="0" bIns="0" rtlCol="0" anchor="ctr"/>
          <a:lstStyle/>
          <a:p>
            <a:pPr marL="0" indent="0">
              <a:buNone/>
            </a:pPr>
            <a:r>
              <a:rPr lang="en-US" sz="1200" b="1" dirty="0">
                <a:solidFill>
                  <a:srgbClr val="E5566B"/>
                </a:solidFill>
                <a:latin typeface="Consolas" pitchFamily="34" charset="0"/>
                <a:ea typeface="Consolas" pitchFamily="34" charset="-122"/>
                <a:cs typeface="Consolas" pitchFamily="34" charset="-120"/>
              </a:rPr>
              <a:t>05</a:t>
            </a:r>
            <a:endParaRPr lang="en-US" sz="1200" dirty="0"/>
          </a:p>
        </p:txBody>
      </p:sp>
      <p:sp>
        <p:nvSpPr>
          <p:cNvPr id="30" name="Text 28"/>
          <p:cNvSpPr/>
          <p:nvPr/>
        </p:nvSpPr>
        <p:spPr>
          <a:xfrm>
            <a:off x="941832" y="4645152"/>
            <a:ext cx="2057400" cy="548640"/>
          </a:xfrm>
          <a:prstGeom prst="rect">
            <a:avLst/>
          </a:prstGeom>
          <a:noFill/>
          <a:ln/>
        </p:spPr>
        <p:txBody>
          <a:bodyPr wrap="square" lIns="0" tIns="0" rIns="0" bIns="0" rtlCol="0" anchor="t"/>
          <a:lstStyle/>
          <a:p>
            <a:pPr marL="0" indent="0">
              <a:lnSpc>
                <a:spcPct val="105000"/>
              </a:lnSpc>
              <a:buNone/>
            </a:pPr>
            <a:r>
              <a:rPr lang="en-US" sz="1400" b="1" dirty="0">
                <a:solidFill>
                  <a:srgbClr val="ECF1F5"/>
                </a:solidFill>
                <a:latin typeface="Trebuchet MS" pitchFamily="34" charset="0"/>
                <a:ea typeface="Trebuchet MS" pitchFamily="34" charset="-122"/>
                <a:cs typeface="Trebuchet MS" pitchFamily="34" charset="-120"/>
              </a:rPr>
              <a:t>The buffer is memory only</a:t>
            </a:r>
            <a:endParaRPr lang="en-US" sz="1400" dirty="0"/>
          </a:p>
        </p:txBody>
      </p:sp>
      <p:sp>
        <p:nvSpPr>
          <p:cNvPr id="31" name="Text 29"/>
          <p:cNvSpPr/>
          <p:nvPr/>
        </p:nvSpPr>
        <p:spPr>
          <a:xfrm>
            <a:off x="941832" y="5166360"/>
            <a:ext cx="2057400" cy="658368"/>
          </a:xfrm>
          <a:prstGeom prst="rect">
            <a:avLst/>
          </a:prstGeom>
          <a:noFill/>
          <a:ln/>
        </p:spPr>
        <p:txBody>
          <a:bodyPr wrap="square" lIns="0" tIns="0" rIns="0" bIns="0" rtlCol="0" anchor="t"/>
          <a:lstStyle/>
          <a:p>
            <a:pPr marL="0" indent="0">
              <a:lnSpc>
                <a:spcPct val="106000"/>
              </a:lnSpc>
              <a:buNone/>
            </a:pPr>
            <a:r>
              <a:rPr lang="en-US" sz="1100" dirty="0">
                <a:solidFill>
                  <a:srgbClr val="97A4AE"/>
                </a:solidFill>
                <a:latin typeface="Calibri" pitchFamily="34" charset="0"/>
                <a:ea typeface="Calibri" pitchFamily="34" charset="-122"/>
                <a:cs typeface="Calibri" pitchFamily="34" charset="-120"/>
              </a:rPr>
              <a:t>A restart empties it. There is no persistence behind drop copy itself.</a:t>
            </a:r>
            <a:endParaRPr lang="en-US" sz="1100" dirty="0"/>
          </a:p>
        </p:txBody>
      </p:sp>
      <p:sp>
        <p:nvSpPr>
          <p:cNvPr id="32" name="Shape 30"/>
          <p:cNvSpPr/>
          <p:nvPr/>
        </p:nvSpPr>
        <p:spPr>
          <a:xfrm>
            <a:off x="3429000" y="4114800"/>
            <a:ext cx="2542032" cy="1783080"/>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33" name="Shape 31"/>
          <p:cNvSpPr/>
          <p:nvPr/>
        </p:nvSpPr>
        <p:spPr>
          <a:xfrm>
            <a:off x="3429000" y="4114800"/>
            <a:ext cx="2542032" cy="82296"/>
          </a:xfrm>
          <a:prstGeom prst="rect">
            <a:avLst/>
          </a:prstGeom>
          <a:solidFill>
            <a:srgbClr val="9B8CFF"/>
          </a:solidFill>
          <a:ln/>
        </p:spPr>
        <p:txBody>
          <a:bodyPr/>
          <a:lstStyle/>
          <a:p>
            <a:endParaRPr lang="en-SE"/>
          </a:p>
        </p:txBody>
      </p:sp>
      <p:sp>
        <p:nvSpPr>
          <p:cNvPr id="34" name="Text 32"/>
          <p:cNvSpPr/>
          <p:nvPr/>
        </p:nvSpPr>
        <p:spPr>
          <a:xfrm>
            <a:off x="3685032" y="4315968"/>
            <a:ext cx="914400" cy="292608"/>
          </a:xfrm>
          <a:prstGeom prst="rect">
            <a:avLst/>
          </a:prstGeom>
          <a:noFill/>
          <a:ln/>
        </p:spPr>
        <p:txBody>
          <a:bodyPr wrap="square" lIns="0" tIns="0" rIns="0" bIns="0" rtlCol="0" anchor="ctr"/>
          <a:lstStyle/>
          <a:p>
            <a:pPr marL="0" indent="0">
              <a:buNone/>
            </a:pPr>
            <a:r>
              <a:rPr lang="en-US" sz="1200" b="1" dirty="0">
                <a:solidFill>
                  <a:srgbClr val="9B8CFF"/>
                </a:solidFill>
                <a:latin typeface="Consolas" pitchFamily="34" charset="0"/>
                <a:ea typeface="Consolas" pitchFamily="34" charset="-122"/>
                <a:cs typeface="Consolas" pitchFamily="34" charset="-120"/>
              </a:rPr>
              <a:t>06</a:t>
            </a:r>
            <a:endParaRPr lang="en-US" sz="1200" dirty="0"/>
          </a:p>
        </p:txBody>
      </p:sp>
      <p:sp>
        <p:nvSpPr>
          <p:cNvPr id="35" name="Text 33"/>
          <p:cNvSpPr/>
          <p:nvPr/>
        </p:nvSpPr>
        <p:spPr>
          <a:xfrm>
            <a:off x="3685032" y="4645152"/>
            <a:ext cx="2057400" cy="548640"/>
          </a:xfrm>
          <a:prstGeom prst="rect">
            <a:avLst/>
          </a:prstGeom>
          <a:noFill/>
          <a:ln/>
        </p:spPr>
        <p:txBody>
          <a:bodyPr wrap="square" lIns="0" tIns="0" rIns="0" bIns="0" rtlCol="0" anchor="t"/>
          <a:lstStyle/>
          <a:p>
            <a:pPr marL="0" indent="0">
              <a:lnSpc>
                <a:spcPct val="105000"/>
              </a:lnSpc>
              <a:buNone/>
            </a:pPr>
            <a:r>
              <a:rPr lang="en-US" sz="1400" b="1" dirty="0">
                <a:solidFill>
                  <a:srgbClr val="ECF1F5"/>
                </a:solidFill>
                <a:latin typeface="Trebuchet MS" pitchFamily="34" charset="0"/>
                <a:ea typeface="Trebuchet MS" pitchFamily="34" charset="-122"/>
                <a:cs typeface="Trebuchet MS" pitchFamily="34" charset="-120"/>
              </a:rPr>
              <a:t>Replay is not yet a protocol</a:t>
            </a:r>
            <a:endParaRPr lang="en-US" sz="1400" dirty="0"/>
          </a:p>
        </p:txBody>
      </p:sp>
      <p:sp>
        <p:nvSpPr>
          <p:cNvPr id="36" name="Text 34"/>
          <p:cNvSpPr/>
          <p:nvPr/>
        </p:nvSpPr>
        <p:spPr>
          <a:xfrm>
            <a:off x="3685032" y="5166360"/>
            <a:ext cx="2057400" cy="658368"/>
          </a:xfrm>
          <a:prstGeom prst="rect">
            <a:avLst/>
          </a:prstGeom>
          <a:noFill/>
          <a:ln/>
        </p:spPr>
        <p:txBody>
          <a:bodyPr wrap="square" lIns="0" tIns="0" rIns="0" bIns="0" rtlCol="0" anchor="t"/>
          <a:lstStyle/>
          <a:p>
            <a:pPr marL="0" indent="0">
              <a:lnSpc>
                <a:spcPct val="106000"/>
              </a:lnSpc>
              <a:buNone/>
            </a:pPr>
            <a:r>
              <a:rPr lang="en-US" sz="1100" dirty="0">
                <a:solidFill>
                  <a:srgbClr val="97A4AE"/>
                </a:solidFill>
                <a:latin typeface="Calibri" pitchFamily="34" charset="0"/>
                <a:ea typeface="Calibri" pitchFamily="34" charset="-122"/>
                <a:cs typeface="Calibri" pitchFamily="34" charset="-120"/>
              </a:rPr>
              <a:t>No external consumer can request one over the wire today.</a:t>
            </a:r>
            <a:endParaRPr lang="en-US" sz="1100" dirty="0"/>
          </a:p>
        </p:txBody>
      </p:sp>
      <p:sp>
        <p:nvSpPr>
          <p:cNvPr id="37" name="Shape 35"/>
          <p:cNvSpPr/>
          <p:nvPr/>
        </p:nvSpPr>
        <p:spPr>
          <a:xfrm>
            <a:off x="6172200" y="4114800"/>
            <a:ext cx="2542032" cy="1783080"/>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38" name="Shape 36"/>
          <p:cNvSpPr/>
          <p:nvPr/>
        </p:nvSpPr>
        <p:spPr>
          <a:xfrm>
            <a:off x="6172200" y="4114800"/>
            <a:ext cx="2542032" cy="82296"/>
          </a:xfrm>
          <a:prstGeom prst="rect">
            <a:avLst/>
          </a:prstGeom>
          <a:solidFill>
            <a:srgbClr val="9B8CFF"/>
          </a:solidFill>
          <a:ln/>
        </p:spPr>
        <p:txBody>
          <a:bodyPr/>
          <a:lstStyle/>
          <a:p>
            <a:endParaRPr lang="en-SE"/>
          </a:p>
        </p:txBody>
      </p:sp>
      <p:sp>
        <p:nvSpPr>
          <p:cNvPr id="39" name="Text 37"/>
          <p:cNvSpPr/>
          <p:nvPr/>
        </p:nvSpPr>
        <p:spPr>
          <a:xfrm>
            <a:off x="6428232" y="4315968"/>
            <a:ext cx="914400" cy="292608"/>
          </a:xfrm>
          <a:prstGeom prst="rect">
            <a:avLst/>
          </a:prstGeom>
          <a:noFill/>
          <a:ln/>
        </p:spPr>
        <p:txBody>
          <a:bodyPr wrap="square" lIns="0" tIns="0" rIns="0" bIns="0" rtlCol="0" anchor="ctr"/>
          <a:lstStyle/>
          <a:p>
            <a:pPr marL="0" indent="0">
              <a:buNone/>
            </a:pPr>
            <a:r>
              <a:rPr lang="en-US" sz="1200" b="1" dirty="0">
                <a:solidFill>
                  <a:srgbClr val="9B8CFF"/>
                </a:solidFill>
                <a:latin typeface="Consolas" pitchFamily="34" charset="0"/>
                <a:ea typeface="Consolas" pitchFamily="34" charset="-122"/>
                <a:cs typeface="Consolas" pitchFamily="34" charset="-120"/>
              </a:rPr>
              <a:t>07</a:t>
            </a:r>
            <a:endParaRPr lang="en-US" sz="1200" dirty="0"/>
          </a:p>
        </p:txBody>
      </p:sp>
      <p:sp>
        <p:nvSpPr>
          <p:cNvPr id="40" name="Text 38"/>
          <p:cNvSpPr/>
          <p:nvPr/>
        </p:nvSpPr>
        <p:spPr>
          <a:xfrm>
            <a:off x="6428232" y="4645152"/>
            <a:ext cx="2057400" cy="548640"/>
          </a:xfrm>
          <a:prstGeom prst="rect">
            <a:avLst/>
          </a:prstGeom>
          <a:noFill/>
          <a:ln/>
        </p:spPr>
        <p:txBody>
          <a:bodyPr wrap="square" lIns="0" tIns="0" rIns="0" bIns="0" rtlCol="0" anchor="t"/>
          <a:lstStyle/>
          <a:p>
            <a:pPr marL="0" indent="0">
              <a:lnSpc>
                <a:spcPct val="105000"/>
              </a:lnSpc>
              <a:buNone/>
            </a:pPr>
            <a:r>
              <a:rPr lang="en-US" sz="1400" b="1" dirty="0">
                <a:solidFill>
                  <a:srgbClr val="ECF1F5"/>
                </a:solidFill>
                <a:latin typeface="Trebuchet MS" pitchFamily="34" charset="0"/>
                <a:ea typeface="Trebuchet MS" pitchFamily="34" charset="-122"/>
                <a:cs typeface="Trebuchet MS" pitchFamily="34" charset="-120"/>
              </a:rPr>
              <a:t>Slow clients get dropped</a:t>
            </a:r>
            <a:endParaRPr lang="en-US" sz="1400" dirty="0"/>
          </a:p>
        </p:txBody>
      </p:sp>
      <p:sp>
        <p:nvSpPr>
          <p:cNvPr id="41" name="Text 39"/>
          <p:cNvSpPr/>
          <p:nvPr/>
        </p:nvSpPr>
        <p:spPr>
          <a:xfrm>
            <a:off x="6428232" y="5166360"/>
            <a:ext cx="2057400" cy="658368"/>
          </a:xfrm>
          <a:prstGeom prst="rect">
            <a:avLst/>
          </a:prstGeom>
          <a:noFill/>
          <a:ln/>
        </p:spPr>
        <p:txBody>
          <a:bodyPr wrap="square" lIns="0" tIns="0" rIns="0" bIns="0" rtlCol="0" anchor="t"/>
          <a:lstStyle/>
          <a:p>
            <a:pPr marL="0" indent="0">
              <a:lnSpc>
                <a:spcPct val="106000"/>
              </a:lnSpc>
              <a:buNone/>
            </a:pPr>
            <a:r>
              <a:rPr lang="en-US" sz="1100" dirty="0">
                <a:solidFill>
                  <a:srgbClr val="97A4AE"/>
                </a:solidFill>
                <a:latin typeface="Calibri" pitchFamily="34" charset="0"/>
                <a:ea typeface="Calibri" pitchFamily="34" charset="-122"/>
                <a:cs typeface="Calibri" pitchFamily="34" charset="-120"/>
              </a:rPr>
              <a:t>Fall too far behind on the DC Gateway and your connection is closed, not throttled.</a:t>
            </a:r>
            <a:endParaRPr lang="en-US" sz="1100" dirty="0"/>
          </a:p>
        </p:txBody>
      </p:sp>
      <p:sp>
        <p:nvSpPr>
          <p:cNvPr id="42" name="Shape 40"/>
          <p:cNvSpPr/>
          <p:nvPr/>
        </p:nvSpPr>
        <p:spPr>
          <a:xfrm>
            <a:off x="8915400" y="4114800"/>
            <a:ext cx="2542032" cy="1783080"/>
          </a:xfrm>
          <a:prstGeom prst="roundRect">
            <a:avLst>
              <a:gd name="adj" fmla="val 3077"/>
            </a:avLst>
          </a:prstGeom>
          <a:solidFill>
            <a:srgbClr val="252B31"/>
          </a:solidFill>
          <a:ln w="12700">
            <a:solidFill>
              <a:srgbClr val="3A434B"/>
            </a:solidFill>
            <a:prstDash val="solid"/>
          </a:ln>
        </p:spPr>
        <p:txBody>
          <a:bodyPr/>
          <a:lstStyle/>
          <a:p>
            <a:endParaRPr lang="en-SE"/>
          </a:p>
        </p:txBody>
      </p:sp>
      <p:sp>
        <p:nvSpPr>
          <p:cNvPr id="43" name="Shape 41"/>
          <p:cNvSpPr/>
          <p:nvPr/>
        </p:nvSpPr>
        <p:spPr>
          <a:xfrm>
            <a:off x="8915400" y="4114800"/>
            <a:ext cx="2542032" cy="82296"/>
          </a:xfrm>
          <a:prstGeom prst="rect">
            <a:avLst/>
          </a:prstGeom>
          <a:solidFill>
            <a:srgbClr val="3FD0C9"/>
          </a:solidFill>
          <a:ln/>
        </p:spPr>
        <p:txBody>
          <a:bodyPr/>
          <a:lstStyle/>
          <a:p>
            <a:endParaRPr lang="en-SE"/>
          </a:p>
        </p:txBody>
      </p:sp>
      <p:sp>
        <p:nvSpPr>
          <p:cNvPr id="44" name="Text 42"/>
          <p:cNvSpPr/>
          <p:nvPr/>
        </p:nvSpPr>
        <p:spPr>
          <a:xfrm>
            <a:off x="9171432" y="4315968"/>
            <a:ext cx="914400" cy="292608"/>
          </a:xfrm>
          <a:prstGeom prst="rect">
            <a:avLst/>
          </a:prstGeom>
          <a:noFill/>
          <a:ln/>
        </p:spPr>
        <p:txBody>
          <a:bodyPr wrap="square" lIns="0" tIns="0" rIns="0" bIns="0" rtlCol="0" anchor="ctr"/>
          <a:lstStyle/>
          <a:p>
            <a:pPr marL="0" indent="0">
              <a:buNone/>
            </a:pPr>
            <a:r>
              <a:rPr lang="en-US" sz="1200" b="1" dirty="0">
                <a:solidFill>
                  <a:srgbClr val="3FD0C9"/>
                </a:solidFill>
                <a:latin typeface="Consolas" pitchFamily="34" charset="0"/>
                <a:ea typeface="Consolas" pitchFamily="34" charset="-122"/>
                <a:cs typeface="Consolas" pitchFamily="34" charset="-120"/>
              </a:rPr>
              <a:t>08</a:t>
            </a:r>
            <a:endParaRPr lang="en-US" sz="1200" dirty="0"/>
          </a:p>
        </p:txBody>
      </p:sp>
      <p:sp>
        <p:nvSpPr>
          <p:cNvPr id="45" name="Text 43"/>
          <p:cNvSpPr/>
          <p:nvPr/>
        </p:nvSpPr>
        <p:spPr>
          <a:xfrm>
            <a:off x="9171432" y="4645152"/>
            <a:ext cx="2057400" cy="548640"/>
          </a:xfrm>
          <a:prstGeom prst="rect">
            <a:avLst/>
          </a:prstGeom>
          <a:noFill/>
          <a:ln/>
        </p:spPr>
        <p:txBody>
          <a:bodyPr wrap="square" lIns="0" tIns="0" rIns="0" bIns="0" rtlCol="0" anchor="t"/>
          <a:lstStyle/>
          <a:p>
            <a:pPr marL="0" indent="0">
              <a:lnSpc>
                <a:spcPct val="105000"/>
              </a:lnSpc>
              <a:buNone/>
            </a:pPr>
            <a:r>
              <a:rPr lang="en-US" sz="1400" b="1" dirty="0">
                <a:solidFill>
                  <a:srgbClr val="ECF1F5"/>
                </a:solidFill>
                <a:latin typeface="Trebuchet MS" pitchFamily="34" charset="0"/>
                <a:ea typeface="Trebuchet MS" pitchFamily="34" charset="-122"/>
                <a:cs typeface="Trebuchet MS" pitchFamily="34" charset="-120"/>
              </a:rPr>
              <a:t>Prices are display decimals</a:t>
            </a:r>
            <a:endParaRPr lang="en-US" sz="1400" dirty="0"/>
          </a:p>
        </p:txBody>
      </p:sp>
      <p:sp>
        <p:nvSpPr>
          <p:cNvPr id="46" name="Text 44"/>
          <p:cNvSpPr/>
          <p:nvPr/>
        </p:nvSpPr>
        <p:spPr>
          <a:xfrm>
            <a:off x="9171432" y="5166360"/>
            <a:ext cx="2057400" cy="658368"/>
          </a:xfrm>
          <a:prstGeom prst="rect">
            <a:avLst/>
          </a:prstGeom>
          <a:noFill/>
          <a:ln/>
        </p:spPr>
        <p:txBody>
          <a:bodyPr wrap="square" lIns="0" tIns="0" rIns="0" bIns="0" rtlCol="0" anchor="t"/>
          <a:lstStyle/>
          <a:p>
            <a:pPr marL="0" indent="0">
              <a:lnSpc>
                <a:spcPct val="106000"/>
              </a:lnSpc>
              <a:buNone/>
            </a:pPr>
            <a:r>
              <a:rPr lang="en-US" sz="1100" dirty="0">
                <a:solidFill>
                  <a:srgbClr val="97A4AE"/>
                </a:solidFill>
                <a:latin typeface="Calibri" pitchFamily="34" charset="0"/>
                <a:ea typeface="Calibri" pitchFamily="34" charset="-122"/>
                <a:cs typeface="Calibri" pitchFamily="34" charset="-120"/>
              </a:rPr>
              <a:t>fill_price is a decimal price, not raw integer ticks — do not rescale it.</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08 · GOOD TO KNOW</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42</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SECURITY</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There is no authentication on this feed</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This is a deliberate scope decision in an educational system — and it is the fact you must never carry into a production mindset.</a:t>
            </a:r>
            <a:endParaRPr lang="en-US" sz="1450" dirty="0"/>
          </a:p>
        </p:txBody>
      </p:sp>
      <p:sp>
        <p:nvSpPr>
          <p:cNvPr id="8" name="Shape 6"/>
          <p:cNvSpPr/>
          <p:nvPr/>
        </p:nvSpPr>
        <p:spPr>
          <a:xfrm>
            <a:off x="685800" y="2194560"/>
            <a:ext cx="5257800" cy="2377440"/>
          </a:xfrm>
          <a:prstGeom prst="roundRect">
            <a:avLst>
              <a:gd name="adj" fmla="val 2308"/>
            </a:avLst>
          </a:prstGeom>
          <a:solidFill>
            <a:srgbClr val="252B31"/>
          </a:solidFill>
          <a:ln w="12700">
            <a:solidFill>
              <a:srgbClr val="E5566B"/>
            </a:solidFill>
            <a:prstDash val="solid"/>
          </a:ln>
        </p:spPr>
        <p:txBody>
          <a:bodyPr/>
          <a:lstStyle/>
          <a:p>
            <a:endParaRPr lang="en-SE"/>
          </a:p>
        </p:txBody>
      </p:sp>
      <p:sp>
        <p:nvSpPr>
          <p:cNvPr id="9" name="Shape 7"/>
          <p:cNvSpPr/>
          <p:nvPr/>
        </p:nvSpPr>
        <p:spPr>
          <a:xfrm>
            <a:off x="685800" y="2194560"/>
            <a:ext cx="5257800" cy="91440"/>
          </a:xfrm>
          <a:prstGeom prst="rect">
            <a:avLst/>
          </a:prstGeom>
          <a:solidFill>
            <a:srgbClr val="E5566B"/>
          </a:solidFill>
          <a:ln/>
        </p:spPr>
        <p:txBody>
          <a:bodyPr/>
          <a:lstStyle/>
          <a:p>
            <a:endParaRPr lang="en-SE"/>
          </a:p>
        </p:txBody>
      </p:sp>
      <p:sp>
        <p:nvSpPr>
          <p:cNvPr id="10" name="Text 8"/>
          <p:cNvSpPr/>
          <p:nvPr/>
        </p:nvSpPr>
        <p:spPr>
          <a:xfrm>
            <a:off x="960120" y="2423160"/>
            <a:ext cx="4663440" cy="365760"/>
          </a:xfrm>
          <a:prstGeom prst="rect">
            <a:avLst/>
          </a:prstGeom>
          <a:noFill/>
          <a:ln/>
        </p:spPr>
        <p:txBody>
          <a:bodyPr wrap="square" lIns="0" tIns="0" rIns="0" bIns="0" rtlCol="0" anchor="ctr"/>
          <a:lstStyle/>
          <a:p>
            <a:pPr marL="0" indent="0">
              <a:buNone/>
            </a:pPr>
            <a:r>
              <a:rPr lang="en-US" sz="1700" b="1" dirty="0">
                <a:solidFill>
                  <a:srgbClr val="E5566B"/>
                </a:solidFill>
                <a:latin typeface="Trebuchet MS" pitchFamily="34" charset="0"/>
                <a:ea typeface="Trebuchet MS" pitchFamily="34" charset="-122"/>
                <a:cs typeface="Trebuchet MS" pitchFamily="34" charset="-120"/>
              </a:rPr>
              <a:t>What is not checked</a:t>
            </a:r>
            <a:endParaRPr lang="en-US" sz="1700" dirty="0"/>
          </a:p>
        </p:txBody>
      </p:sp>
      <p:sp>
        <p:nvSpPr>
          <p:cNvPr id="11" name="Shape 9"/>
          <p:cNvSpPr/>
          <p:nvPr/>
        </p:nvSpPr>
        <p:spPr>
          <a:xfrm>
            <a:off x="978408" y="3017520"/>
            <a:ext cx="109728" cy="109728"/>
          </a:xfrm>
          <a:prstGeom prst="rect">
            <a:avLst/>
          </a:prstGeom>
          <a:solidFill>
            <a:srgbClr val="E5566B"/>
          </a:solidFill>
          <a:ln/>
        </p:spPr>
        <p:txBody>
          <a:bodyPr/>
          <a:lstStyle/>
          <a:p>
            <a:endParaRPr lang="en-SE"/>
          </a:p>
        </p:txBody>
      </p:sp>
      <p:sp>
        <p:nvSpPr>
          <p:cNvPr id="12" name="Text 10"/>
          <p:cNvSpPr/>
          <p:nvPr/>
        </p:nvSpPr>
        <p:spPr>
          <a:xfrm>
            <a:off x="1252728" y="2880360"/>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Any process that can reach the drop copy port may subscribe to every gateway's fills</a:t>
            </a:r>
            <a:endParaRPr lang="en-US" sz="1200" dirty="0"/>
          </a:p>
        </p:txBody>
      </p:sp>
      <p:sp>
        <p:nvSpPr>
          <p:cNvPr id="13" name="Shape 11"/>
          <p:cNvSpPr/>
          <p:nvPr/>
        </p:nvSpPr>
        <p:spPr>
          <a:xfrm>
            <a:off x="978408" y="3566160"/>
            <a:ext cx="109728" cy="109728"/>
          </a:xfrm>
          <a:prstGeom prst="rect">
            <a:avLst/>
          </a:prstGeom>
          <a:solidFill>
            <a:srgbClr val="E5566B"/>
          </a:solidFill>
          <a:ln/>
        </p:spPr>
        <p:txBody>
          <a:bodyPr/>
          <a:lstStyle/>
          <a:p>
            <a:endParaRPr lang="en-SE"/>
          </a:p>
        </p:txBody>
      </p:sp>
      <p:sp>
        <p:nvSpPr>
          <p:cNvPr id="14" name="Text 12"/>
          <p:cNvSpPr/>
          <p:nvPr/>
        </p:nvSpPr>
        <p:spPr>
          <a:xfrm>
            <a:off x="1252728" y="3429000"/>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The gateway id in a DC1 HELLO is not validated against any allowlist</a:t>
            </a:r>
            <a:endParaRPr lang="en-US" sz="1200" dirty="0"/>
          </a:p>
        </p:txBody>
      </p:sp>
      <p:sp>
        <p:nvSpPr>
          <p:cNvPr id="15" name="Shape 13"/>
          <p:cNvSpPr/>
          <p:nvPr/>
        </p:nvSpPr>
        <p:spPr>
          <a:xfrm>
            <a:off x="978408" y="4114800"/>
            <a:ext cx="109728" cy="109728"/>
          </a:xfrm>
          <a:prstGeom prst="rect">
            <a:avLst/>
          </a:prstGeom>
          <a:solidFill>
            <a:srgbClr val="E5566B"/>
          </a:solidFill>
          <a:ln/>
        </p:spPr>
        <p:txBody>
          <a:bodyPr/>
          <a:lstStyle/>
          <a:p>
            <a:endParaRPr lang="en-SE"/>
          </a:p>
        </p:txBody>
      </p:sp>
      <p:sp>
        <p:nvSpPr>
          <p:cNvPr id="16" name="Text 14"/>
          <p:cNvSpPr/>
          <p:nvPr/>
        </p:nvSpPr>
        <p:spPr>
          <a:xfrm>
            <a:off x="1252728" y="3977640"/>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The gateway filter in the spy tool is a readability convenience, not access control</a:t>
            </a:r>
            <a:endParaRPr lang="en-US" sz="1200" dirty="0"/>
          </a:p>
        </p:txBody>
      </p:sp>
      <p:sp>
        <p:nvSpPr>
          <p:cNvPr id="17" name="Shape 15"/>
          <p:cNvSpPr/>
          <p:nvPr/>
        </p:nvSpPr>
        <p:spPr>
          <a:xfrm>
            <a:off x="6245352" y="2194560"/>
            <a:ext cx="5257800" cy="2377440"/>
          </a:xfrm>
          <a:prstGeom prst="roundRect">
            <a:avLst>
              <a:gd name="adj" fmla="val 2308"/>
            </a:avLst>
          </a:prstGeom>
          <a:solidFill>
            <a:srgbClr val="252B31"/>
          </a:solidFill>
          <a:ln w="12700">
            <a:solidFill>
              <a:srgbClr val="3FD0C9"/>
            </a:solidFill>
            <a:prstDash val="solid"/>
          </a:ln>
        </p:spPr>
        <p:txBody>
          <a:bodyPr/>
          <a:lstStyle/>
          <a:p>
            <a:endParaRPr lang="en-SE"/>
          </a:p>
        </p:txBody>
      </p:sp>
      <p:sp>
        <p:nvSpPr>
          <p:cNvPr id="18" name="Shape 16"/>
          <p:cNvSpPr/>
          <p:nvPr/>
        </p:nvSpPr>
        <p:spPr>
          <a:xfrm>
            <a:off x="6245352" y="2194560"/>
            <a:ext cx="5257800" cy="91440"/>
          </a:xfrm>
          <a:prstGeom prst="rect">
            <a:avLst/>
          </a:prstGeom>
          <a:solidFill>
            <a:srgbClr val="3FD0C9"/>
          </a:solidFill>
          <a:ln/>
        </p:spPr>
        <p:txBody>
          <a:bodyPr/>
          <a:lstStyle/>
          <a:p>
            <a:endParaRPr lang="en-SE"/>
          </a:p>
        </p:txBody>
      </p:sp>
      <p:sp>
        <p:nvSpPr>
          <p:cNvPr id="19" name="Text 17"/>
          <p:cNvSpPr/>
          <p:nvPr/>
        </p:nvSpPr>
        <p:spPr>
          <a:xfrm>
            <a:off x="6519672" y="2423160"/>
            <a:ext cx="4663440" cy="365760"/>
          </a:xfrm>
          <a:prstGeom prst="rect">
            <a:avLst/>
          </a:prstGeom>
          <a:noFill/>
          <a:ln/>
        </p:spPr>
        <p:txBody>
          <a:bodyPr wrap="square" lIns="0" tIns="0" rIns="0" bIns="0" rtlCol="0" anchor="ctr"/>
          <a:lstStyle/>
          <a:p>
            <a:pPr marL="0" indent="0">
              <a:buNone/>
            </a:pPr>
            <a:r>
              <a:rPr lang="en-US" sz="1700" b="1" dirty="0">
                <a:solidFill>
                  <a:srgbClr val="3FD0C9"/>
                </a:solidFill>
                <a:latin typeface="Trebuchet MS" pitchFamily="34" charset="0"/>
                <a:ea typeface="Trebuchet MS" pitchFamily="34" charset="-122"/>
                <a:cs typeface="Trebuchet MS" pitchFamily="34" charset="-120"/>
              </a:rPr>
              <a:t>How a real venue closes the gap</a:t>
            </a:r>
            <a:endParaRPr lang="en-US" sz="1700" dirty="0"/>
          </a:p>
        </p:txBody>
      </p:sp>
      <p:sp>
        <p:nvSpPr>
          <p:cNvPr id="20" name="Shape 18"/>
          <p:cNvSpPr/>
          <p:nvPr/>
        </p:nvSpPr>
        <p:spPr>
          <a:xfrm>
            <a:off x="6537960" y="3017520"/>
            <a:ext cx="109728" cy="109728"/>
          </a:xfrm>
          <a:prstGeom prst="rect">
            <a:avLst/>
          </a:prstGeom>
          <a:solidFill>
            <a:srgbClr val="3FD0C9"/>
          </a:solidFill>
          <a:ln/>
        </p:spPr>
        <p:txBody>
          <a:bodyPr/>
          <a:lstStyle/>
          <a:p>
            <a:endParaRPr lang="en-SE"/>
          </a:p>
        </p:txBody>
      </p:sp>
      <p:sp>
        <p:nvSpPr>
          <p:cNvPr id="21" name="Text 19"/>
          <p:cNvSpPr/>
          <p:nvPr/>
        </p:nvSpPr>
        <p:spPr>
          <a:xfrm>
            <a:off x="6812280" y="2880360"/>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Entitlement is structural: the drop copy session itself is provisioned per participant</a:t>
            </a:r>
            <a:endParaRPr lang="en-US" sz="1200" dirty="0"/>
          </a:p>
        </p:txBody>
      </p:sp>
      <p:sp>
        <p:nvSpPr>
          <p:cNvPr id="22" name="Shape 20"/>
          <p:cNvSpPr/>
          <p:nvPr/>
        </p:nvSpPr>
        <p:spPr>
          <a:xfrm>
            <a:off x="6537960" y="3566160"/>
            <a:ext cx="109728" cy="109728"/>
          </a:xfrm>
          <a:prstGeom prst="rect">
            <a:avLst/>
          </a:prstGeom>
          <a:solidFill>
            <a:srgbClr val="3FD0C9"/>
          </a:solidFill>
          <a:ln/>
        </p:spPr>
        <p:txBody>
          <a:bodyPr/>
          <a:lstStyle/>
          <a:p>
            <a:endParaRPr lang="en-SE"/>
          </a:p>
        </p:txBody>
      </p:sp>
      <p:sp>
        <p:nvSpPr>
          <p:cNvPr id="23" name="Text 21"/>
          <p:cNvSpPr/>
          <p:nvPr/>
        </p:nvSpPr>
        <p:spPr>
          <a:xfrm>
            <a:off x="6812280" y="3429000"/>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You cannot ask for someone else's fills, because you have no session that carries them</a:t>
            </a:r>
            <a:endParaRPr lang="en-US" sz="1200" dirty="0"/>
          </a:p>
        </p:txBody>
      </p:sp>
      <p:sp>
        <p:nvSpPr>
          <p:cNvPr id="24" name="Shape 22"/>
          <p:cNvSpPr/>
          <p:nvPr/>
        </p:nvSpPr>
        <p:spPr>
          <a:xfrm>
            <a:off x="6537960" y="4114800"/>
            <a:ext cx="109728" cy="109728"/>
          </a:xfrm>
          <a:prstGeom prst="rect">
            <a:avLst/>
          </a:prstGeom>
          <a:solidFill>
            <a:srgbClr val="3FD0C9"/>
          </a:solidFill>
          <a:ln/>
        </p:spPr>
        <p:txBody>
          <a:bodyPr/>
          <a:lstStyle/>
          <a:p>
            <a:endParaRPr lang="en-SE"/>
          </a:p>
        </p:txBody>
      </p:sp>
      <p:sp>
        <p:nvSpPr>
          <p:cNvPr id="25" name="Text 23"/>
          <p:cNvSpPr/>
          <p:nvPr/>
        </p:nvSpPr>
        <p:spPr>
          <a:xfrm>
            <a:off x="6812280" y="3977640"/>
            <a:ext cx="4434840" cy="502920"/>
          </a:xfrm>
          <a:prstGeom prst="rect">
            <a:avLst/>
          </a:prstGeom>
          <a:noFill/>
          <a:ln/>
        </p:spPr>
        <p:txBody>
          <a:bodyPr wrap="square" lIns="0" tIns="0" rIns="0" bIns="0" rtlCol="0" anchor="ctr"/>
          <a:lstStyle/>
          <a:p>
            <a:pPr marL="0" indent="0">
              <a:lnSpc>
                <a:spcPct val="105000"/>
              </a:lnSpc>
              <a:buNone/>
            </a:pPr>
            <a:r>
              <a:rPr lang="en-US" sz="1200" dirty="0">
                <a:solidFill>
                  <a:srgbClr val="97A4AE"/>
                </a:solidFill>
                <a:latin typeface="Calibri" pitchFamily="34" charset="0"/>
                <a:ea typeface="Calibri" pitchFamily="34" charset="-122"/>
                <a:cs typeface="Calibri" pitchFamily="34" charset="-120"/>
              </a:rPr>
              <a:t>The RALF channels in this system do enforce a per-connection role, and are the closer analogue</a:t>
            </a:r>
            <a:endParaRPr lang="en-US" sz="1200" dirty="0"/>
          </a:p>
        </p:txBody>
      </p:sp>
      <p:sp>
        <p:nvSpPr>
          <p:cNvPr id="26" name="Shape 24"/>
          <p:cNvSpPr/>
          <p:nvPr/>
        </p:nvSpPr>
        <p:spPr>
          <a:xfrm>
            <a:off x="685800" y="4754880"/>
            <a:ext cx="10820095" cy="914400"/>
          </a:xfrm>
          <a:prstGeom prst="roundRect">
            <a:avLst>
              <a:gd name="adj" fmla="val 6000"/>
            </a:avLst>
          </a:prstGeom>
          <a:solidFill>
            <a:srgbClr val="252B31"/>
          </a:solidFill>
          <a:ln w="19050">
            <a:solidFill>
              <a:srgbClr val="E5566B"/>
            </a:solidFill>
            <a:prstDash val="solid"/>
          </a:ln>
        </p:spPr>
        <p:txBody>
          <a:bodyPr/>
          <a:lstStyle/>
          <a:p>
            <a:endParaRPr lang="en-SE"/>
          </a:p>
        </p:txBody>
      </p:sp>
      <p:sp>
        <p:nvSpPr>
          <p:cNvPr id="27" name="Shape 25"/>
          <p:cNvSpPr/>
          <p:nvPr/>
        </p:nvSpPr>
        <p:spPr>
          <a:xfrm>
            <a:off x="923544" y="5029200"/>
            <a:ext cx="365760" cy="365760"/>
          </a:xfrm>
          <a:prstGeom prst="roundRect">
            <a:avLst>
              <a:gd name="adj" fmla="val 125000"/>
            </a:avLst>
          </a:prstGeom>
          <a:solidFill>
            <a:srgbClr val="E5566B"/>
          </a:solidFill>
          <a:ln/>
        </p:spPr>
        <p:txBody>
          <a:bodyPr/>
          <a:lstStyle/>
          <a:p>
            <a:endParaRPr lang="en-SE"/>
          </a:p>
        </p:txBody>
      </p:sp>
      <p:sp>
        <p:nvSpPr>
          <p:cNvPr id="28" name="Text 26"/>
          <p:cNvSpPr/>
          <p:nvPr/>
        </p:nvSpPr>
        <p:spPr>
          <a:xfrm>
            <a:off x="923544" y="502920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29" name="Text 27"/>
          <p:cNvSpPr/>
          <p:nvPr/>
        </p:nvSpPr>
        <p:spPr>
          <a:xfrm>
            <a:off x="1453896" y="4901184"/>
            <a:ext cx="9814255" cy="621792"/>
          </a:xfrm>
          <a:prstGeom prst="rect">
            <a:avLst/>
          </a:prstGeom>
          <a:noFill/>
          <a:ln/>
        </p:spPr>
        <p:txBody>
          <a:bodyPr wrap="square" lIns="0" tIns="0" rIns="0" bIns="0" rtlCol="0" anchor="ctr"/>
          <a:lstStyle/>
          <a:p>
            <a:pPr marL="0" indent="0">
              <a:lnSpc>
                <a:spcPct val="110000"/>
              </a:lnSpc>
              <a:buNone/>
            </a:pPr>
            <a:r>
              <a:rPr lang="en-US" sz="1350" b="1" dirty="0">
                <a:solidFill>
                  <a:srgbClr val="E5566B"/>
                </a:solidFill>
                <a:latin typeface="Trebuchet MS" pitchFamily="34" charset="0"/>
                <a:ea typeface="Trebuchet MS" pitchFamily="34" charset="-122"/>
                <a:cs typeface="Trebuchet MS" pitchFamily="34" charset="-120"/>
              </a:rPr>
              <a:t>What this means for how you deploy it</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Treat the drop copy port and the DC Gateway as trusted-network services. Bind them to a local interface unless you have a reason not to, and put network controls — or a proxy that terminates TLS — in front of anything that must reach another host.</a:t>
            </a:r>
            <a:endParaRPr lang="en-US" sz="1350" dirty="0"/>
          </a:p>
        </p:txBody>
      </p:sp>
      <p:sp>
        <p:nvSpPr>
          <p:cNvPr id="30" name="Text 28"/>
          <p:cNvSpPr/>
          <p:nvPr/>
        </p:nvSpPr>
        <p:spPr>
          <a:xfrm>
            <a:off x="685800" y="5760720"/>
            <a:ext cx="10820095" cy="365760"/>
          </a:xfrm>
          <a:prstGeom prst="rect">
            <a:avLst/>
          </a:prstGeom>
          <a:noFill/>
          <a:ln/>
        </p:spPr>
        <p:txBody>
          <a:bodyPr wrap="square" lIns="0" tIns="0" rIns="0" bIns="0" rtlCol="0" anchor="ctr"/>
          <a:lstStyle/>
          <a:p>
            <a:pPr marL="0" indent="0">
              <a:buNone/>
            </a:pPr>
            <a:r>
              <a:rPr lang="en-US" sz="1200" i="1" dirty="0">
                <a:solidFill>
                  <a:srgbClr val="6E7C87"/>
                </a:solidFill>
                <a:latin typeface="Calibri" pitchFamily="34" charset="0"/>
                <a:ea typeface="Calibri" pitchFamily="34" charset="-122"/>
                <a:cs typeface="Calibri" pitchFamily="34" charset="-120"/>
              </a:rPr>
              <a:t>The gateway does not terminate TLS itself. For remote deployments, place it behind a reverse proxy.</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10454335" y="4572000"/>
            <a:ext cx="237744" cy="237744"/>
          </a:xfrm>
          <a:prstGeom prst="rect">
            <a:avLst/>
          </a:prstGeom>
          <a:solidFill>
            <a:srgbClr val="F0A202"/>
          </a:solidFill>
          <a:ln/>
        </p:spPr>
        <p:txBody>
          <a:bodyPr/>
          <a:lstStyle/>
          <a:p>
            <a:endParaRPr lang="en-SE"/>
          </a:p>
        </p:txBody>
      </p:sp>
      <p:sp>
        <p:nvSpPr>
          <p:cNvPr id="3" name="Shape 1"/>
          <p:cNvSpPr/>
          <p:nvPr/>
        </p:nvSpPr>
        <p:spPr>
          <a:xfrm>
            <a:off x="10838383" y="4572000"/>
            <a:ext cx="237744" cy="237744"/>
          </a:xfrm>
          <a:prstGeom prst="rect">
            <a:avLst/>
          </a:prstGeom>
          <a:solidFill>
            <a:srgbClr val="2E353C"/>
          </a:solidFill>
          <a:ln/>
        </p:spPr>
        <p:txBody>
          <a:bodyPr/>
          <a:lstStyle/>
          <a:p>
            <a:endParaRPr lang="en-SE"/>
          </a:p>
        </p:txBody>
      </p:sp>
      <p:sp>
        <p:nvSpPr>
          <p:cNvPr id="4" name="Shape 2"/>
          <p:cNvSpPr/>
          <p:nvPr/>
        </p:nvSpPr>
        <p:spPr>
          <a:xfrm>
            <a:off x="11222431" y="4572000"/>
            <a:ext cx="237744" cy="237744"/>
          </a:xfrm>
          <a:prstGeom prst="rect">
            <a:avLst/>
          </a:prstGeom>
          <a:solidFill>
            <a:srgbClr val="2E353C"/>
          </a:solidFill>
          <a:ln/>
        </p:spPr>
        <p:txBody>
          <a:bodyPr/>
          <a:lstStyle/>
          <a:p>
            <a:endParaRPr lang="en-SE"/>
          </a:p>
        </p:txBody>
      </p:sp>
      <p:sp>
        <p:nvSpPr>
          <p:cNvPr id="5" name="Shape 3"/>
          <p:cNvSpPr/>
          <p:nvPr/>
        </p:nvSpPr>
        <p:spPr>
          <a:xfrm>
            <a:off x="10454335" y="4956048"/>
            <a:ext cx="237744" cy="237744"/>
          </a:xfrm>
          <a:prstGeom prst="rect">
            <a:avLst/>
          </a:prstGeom>
          <a:solidFill>
            <a:srgbClr val="3FD0C9"/>
          </a:solidFill>
          <a:ln/>
        </p:spPr>
        <p:txBody>
          <a:bodyPr/>
          <a:lstStyle/>
          <a:p>
            <a:endParaRPr lang="en-SE"/>
          </a:p>
        </p:txBody>
      </p:sp>
      <p:sp>
        <p:nvSpPr>
          <p:cNvPr id="6" name="Shape 4"/>
          <p:cNvSpPr/>
          <p:nvPr/>
        </p:nvSpPr>
        <p:spPr>
          <a:xfrm>
            <a:off x="10838383" y="4956048"/>
            <a:ext cx="237744" cy="237744"/>
          </a:xfrm>
          <a:prstGeom prst="rect">
            <a:avLst/>
          </a:prstGeom>
          <a:solidFill>
            <a:srgbClr val="F0A202"/>
          </a:solidFill>
          <a:ln/>
        </p:spPr>
        <p:txBody>
          <a:bodyPr/>
          <a:lstStyle/>
          <a:p>
            <a:endParaRPr lang="en-SE"/>
          </a:p>
        </p:txBody>
      </p:sp>
      <p:sp>
        <p:nvSpPr>
          <p:cNvPr id="7" name="Shape 5"/>
          <p:cNvSpPr/>
          <p:nvPr/>
        </p:nvSpPr>
        <p:spPr>
          <a:xfrm>
            <a:off x="11222431" y="4956048"/>
            <a:ext cx="237744" cy="237744"/>
          </a:xfrm>
          <a:prstGeom prst="rect">
            <a:avLst/>
          </a:prstGeom>
          <a:solidFill>
            <a:srgbClr val="2E353C"/>
          </a:solidFill>
          <a:ln/>
        </p:spPr>
        <p:txBody>
          <a:bodyPr/>
          <a:lstStyle/>
          <a:p>
            <a:endParaRPr lang="en-SE"/>
          </a:p>
        </p:txBody>
      </p:sp>
      <p:sp>
        <p:nvSpPr>
          <p:cNvPr id="8" name="Text 6"/>
          <p:cNvSpPr/>
          <p:nvPr/>
        </p:nvSpPr>
        <p:spPr>
          <a:xfrm>
            <a:off x="685800" y="1417320"/>
            <a:ext cx="2743200" cy="1737360"/>
          </a:xfrm>
          <a:prstGeom prst="rect">
            <a:avLst/>
          </a:prstGeom>
          <a:noFill/>
          <a:ln/>
        </p:spPr>
        <p:txBody>
          <a:bodyPr wrap="square" lIns="0" tIns="0" rIns="0" bIns="0" rtlCol="0" anchor="ctr"/>
          <a:lstStyle/>
          <a:p>
            <a:pPr marL="0" indent="0">
              <a:buNone/>
            </a:pPr>
            <a:r>
              <a:rPr lang="en-US" sz="11000" b="1" dirty="0">
                <a:solidFill>
                  <a:srgbClr val="2E353C"/>
                </a:solidFill>
                <a:latin typeface="Trebuchet MS" pitchFamily="34" charset="0"/>
                <a:ea typeface="Trebuchet MS" pitchFamily="34" charset="-122"/>
                <a:cs typeface="Trebuchet MS" pitchFamily="34" charset="-120"/>
              </a:rPr>
              <a:t>09</a:t>
            </a:r>
            <a:endParaRPr lang="en-US" sz="11000" dirty="0"/>
          </a:p>
        </p:txBody>
      </p:sp>
      <p:sp>
        <p:nvSpPr>
          <p:cNvPr id="9" name="Text 7"/>
          <p:cNvSpPr/>
          <p:nvPr/>
        </p:nvSpPr>
        <p:spPr>
          <a:xfrm>
            <a:off x="2606040" y="1600200"/>
            <a:ext cx="8579815" cy="1371600"/>
          </a:xfrm>
          <a:prstGeom prst="rect">
            <a:avLst/>
          </a:prstGeom>
          <a:noFill/>
          <a:ln/>
        </p:spPr>
        <p:txBody>
          <a:bodyPr wrap="square" lIns="0" tIns="0" rIns="0" bIns="0" rtlCol="0" anchor="ctr"/>
          <a:lstStyle/>
          <a:p>
            <a:pPr marL="0" indent="0">
              <a:buNone/>
            </a:pPr>
            <a:r>
              <a:rPr lang="en-US" sz="4000" b="1" dirty="0">
                <a:solidFill>
                  <a:srgbClr val="ECF1F5"/>
                </a:solidFill>
                <a:latin typeface="Trebuchet MS" pitchFamily="34" charset="0"/>
                <a:ea typeface="Trebuchet MS" pitchFamily="34" charset="-122"/>
                <a:cs typeface="Trebuchet MS" pitchFamily="34" charset="-120"/>
              </a:rPr>
              <a:t>What errors can the feed give?</a:t>
            </a:r>
            <a:endParaRPr lang="en-US" sz="4000" dirty="0"/>
          </a:p>
        </p:txBody>
      </p:sp>
      <p:sp>
        <p:nvSpPr>
          <p:cNvPr id="10" name="Text 8"/>
          <p:cNvSpPr/>
          <p:nvPr/>
        </p:nvSpPr>
        <p:spPr>
          <a:xfrm>
            <a:off x="2651760" y="3017520"/>
            <a:ext cx="7680960" cy="822960"/>
          </a:xfrm>
          <a:prstGeom prst="rect">
            <a:avLst/>
          </a:prstGeom>
          <a:noFill/>
          <a:ln/>
        </p:spPr>
        <p:txBody>
          <a:bodyPr wrap="square" lIns="0" tIns="0" rIns="0" bIns="0" rtlCol="0" anchor="t"/>
          <a:lstStyle/>
          <a:p>
            <a:pPr marL="0" indent="0">
              <a:lnSpc>
                <a:spcPct val="115000"/>
              </a:lnSpc>
              <a:buNone/>
            </a:pPr>
            <a:r>
              <a:rPr lang="en-US" sz="1500" dirty="0">
                <a:solidFill>
                  <a:srgbClr val="97A4AE"/>
                </a:solidFill>
                <a:latin typeface="Calibri" pitchFamily="34" charset="0"/>
                <a:ea typeface="Calibri" pitchFamily="34" charset="-122"/>
                <a:cs typeface="Calibri" pitchFamily="34" charset="-120"/>
              </a:rPr>
              <a:t>Errors arrive as a single line carrying a code and a detail. Four codes cover everything the DC Gateway will tell you.</a:t>
            </a:r>
            <a:endParaRPr lang="en-US" sz="1500" dirty="0"/>
          </a:p>
        </p:txBody>
      </p:sp>
      <p:sp>
        <p:nvSpPr>
          <p:cNvPr id="11" name="Shape 9"/>
          <p:cNvSpPr/>
          <p:nvPr/>
        </p:nvSpPr>
        <p:spPr>
          <a:xfrm>
            <a:off x="2651760" y="4142232"/>
            <a:ext cx="128016" cy="128016"/>
          </a:xfrm>
          <a:prstGeom prst="rect">
            <a:avLst/>
          </a:prstGeom>
          <a:solidFill>
            <a:srgbClr val="3FD0C9"/>
          </a:solidFill>
          <a:ln/>
        </p:spPr>
        <p:txBody>
          <a:bodyPr/>
          <a:lstStyle/>
          <a:p>
            <a:endParaRPr lang="en-SE"/>
          </a:p>
        </p:txBody>
      </p:sp>
      <p:sp>
        <p:nvSpPr>
          <p:cNvPr id="12" name="Text 10"/>
          <p:cNvSpPr/>
          <p:nvPr/>
        </p:nvSpPr>
        <p:spPr>
          <a:xfrm>
            <a:off x="2971800" y="4041648"/>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four error codes</a:t>
            </a:r>
            <a:endParaRPr lang="en-US" sz="1250" dirty="0"/>
          </a:p>
        </p:txBody>
      </p:sp>
      <p:sp>
        <p:nvSpPr>
          <p:cNvPr id="13" name="Shape 11"/>
          <p:cNvSpPr/>
          <p:nvPr/>
        </p:nvSpPr>
        <p:spPr>
          <a:xfrm>
            <a:off x="2651760" y="4526280"/>
            <a:ext cx="128016" cy="128016"/>
          </a:xfrm>
          <a:prstGeom prst="rect">
            <a:avLst/>
          </a:prstGeom>
          <a:solidFill>
            <a:srgbClr val="3FD0C9"/>
          </a:solidFill>
          <a:ln/>
        </p:spPr>
        <p:txBody>
          <a:bodyPr/>
          <a:lstStyle/>
          <a:p>
            <a:endParaRPr lang="en-SE"/>
          </a:p>
        </p:txBody>
      </p:sp>
      <p:sp>
        <p:nvSpPr>
          <p:cNvPr id="14" name="Text 12"/>
          <p:cNvSpPr/>
          <p:nvPr/>
        </p:nvSpPr>
        <p:spPr>
          <a:xfrm>
            <a:off x="2971800" y="4425696"/>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Symptom to cause to fix</a:t>
            </a:r>
            <a:endParaRPr lang="en-US" sz="1250" dirty="0"/>
          </a:p>
        </p:txBody>
      </p:sp>
      <p:sp>
        <p:nvSpPr>
          <p:cNvPr id="15" name="Shape 13"/>
          <p:cNvSpPr/>
          <p:nvPr/>
        </p:nvSpPr>
        <p:spPr>
          <a:xfrm>
            <a:off x="2651760" y="4910328"/>
            <a:ext cx="128016" cy="128016"/>
          </a:xfrm>
          <a:prstGeom prst="rect">
            <a:avLst/>
          </a:prstGeom>
          <a:solidFill>
            <a:srgbClr val="3FD0C9"/>
          </a:solidFill>
          <a:ln/>
        </p:spPr>
        <p:txBody>
          <a:bodyPr/>
          <a:lstStyle/>
          <a:p>
            <a:endParaRPr lang="en-SE"/>
          </a:p>
        </p:txBody>
      </p:sp>
      <p:sp>
        <p:nvSpPr>
          <p:cNvPr id="16" name="Text 14"/>
          <p:cNvSpPr/>
          <p:nvPr/>
        </p:nvSpPr>
        <p:spPr>
          <a:xfrm>
            <a:off x="2971800" y="4809744"/>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silent-feed decision path</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09 · ERRORS</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44</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ERROR CODES</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Four codes, and what each one costs you</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Every error arrives in the same shape: an error line with a CODE and a human-readable DETAIL.</a:t>
            </a:r>
            <a:endParaRPr lang="en-US" sz="1450" dirty="0"/>
          </a:p>
        </p:txBody>
      </p:sp>
      <p:sp>
        <p:nvSpPr>
          <p:cNvPr id="8" name="Shape 6"/>
          <p:cNvSpPr/>
          <p:nvPr/>
        </p:nvSpPr>
        <p:spPr>
          <a:xfrm>
            <a:off x="685800" y="2148840"/>
            <a:ext cx="10820095" cy="685800"/>
          </a:xfrm>
          <a:prstGeom prst="roundRect">
            <a:avLst>
              <a:gd name="adj" fmla="val 5333"/>
            </a:avLst>
          </a:prstGeom>
          <a:solidFill>
            <a:srgbClr val="141719"/>
          </a:solidFill>
          <a:ln w="12700">
            <a:solidFill>
              <a:srgbClr val="3A434B"/>
            </a:solidFill>
            <a:prstDash val="solid"/>
          </a:ln>
        </p:spPr>
        <p:txBody>
          <a:bodyPr/>
          <a:lstStyle/>
          <a:p>
            <a:endParaRPr lang="en-SE"/>
          </a:p>
        </p:txBody>
      </p:sp>
      <p:sp>
        <p:nvSpPr>
          <p:cNvPr id="9" name="Text 7"/>
          <p:cNvSpPr/>
          <p:nvPr/>
        </p:nvSpPr>
        <p:spPr>
          <a:xfrm>
            <a:off x="905256" y="2331720"/>
            <a:ext cx="10381183" cy="356616"/>
          </a:xfrm>
          <a:prstGeom prst="rect">
            <a:avLst/>
          </a:prstGeom>
          <a:noFill/>
          <a:ln/>
        </p:spPr>
        <p:txBody>
          <a:bodyPr wrap="square" lIns="0" tIns="0" rIns="0" bIns="0" rtlCol="0" anchor="t"/>
          <a:lstStyle/>
          <a:p>
            <a:pPr marL="0" indent="0">
              <a:lnSpc>
                <a:spcPct val="116000"/>
              </a:lnSpc>
              <a:buNone/>
            </a:pPr>
            <a:r>
              <a:rPr lang="en-US" sz="1300" dirty="0">
                <a:solidFill>
                  <a:srgbClr val="E5566B"/>
                </a:solidFill>
                <a:latin typeface="Consolas" pitchFamily="34" charset="0"/>
                <a:ea typeface="Consolas" pitchFamily="34" charset="-122"/>
                <a:cs typeface="Consolas" pitchFamily="34" charset="-120"/>
              </a:rPr>
              <a:t>ERR|CODE=&lt;CODE&gt;|DETAIL=&lt;message&gt;</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85800" y="3017520"/>
          <a:ext cx="10820095" cy="914400"/>
        </p:xfrm>
        <a:graphic>
          <a:graphicData uri="http://schemas.openxmlformats.org/drawingml/2006/table">
            <a:tbl>
              <a:tblPr/>
              <a:tblGrid>
                <a:gridCol w="23317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2404872">
                  <a:extLst>
                    <a:ext uri="{9D8B030D-6E8A-4147-A177-3AD203B41FA5}">
                      <a16:colId xmlns:a16="http://schemas.microsoft.com/office/drawing/2014/main" val="20003"/>
                    </a:ext>
                  </a:extLst>
                </a:gridCol>
              </a:tblGrid>
              <a:tr h="731520">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Code</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When it happens</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Connection kept?</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What to do</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extLst>
                  <a:ext uri="{0D108BD9-81ED-4DB2-BD59-A6C34878D82A}">
                    <a16:rowId xmlns:a16="http://schemas.microsoft.com/office/drawing/2014/main" val="10000"/>
                  </a:ext>
                </a:extLst>
              </a:tr>
              <a:tr h="731520">
                <a:tc>
                  <a:txBody>
                    <a:bodyPr/>
                    <a:lstStyle/>
                    <a:p>
                      <a:pPr marL="0" indent="0">
                        <a:buNone/>
                      </a:pPr>
                      <a:r>
                        <a:rPr lang="en-US" sz="1100" b="1" dirty="0">
                          <a:solidFill>
                            <a:srgbClr val="E5566B"/>
                          </a:solidFill>
                          <a:latin typeface="Consolas" pitchFamily="34" charset="0"/>
                          <a:ea typeface="Consolas" pitchFamily="34" charset="-122"/>
                          <a:cs typeface="Consolas" pitchFamily="34" charset="-120"/>
                        </a:rPr>
                        <a:t>AUTH_REQUIRED</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First line was not a HELLO, or the HELLO was missing a required field</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E5566B"/>
                          </a:solidFill>
                          <a:latin typeface="Calibri" pitchFamily="34" charset="0"/>
                          <a:ea typeface="Calibri" pitchFamily="34" charset="-122"/>
                          <a:cs typeface="Calibri" pitchFamily="34" charset="-120"/>
                        </a:rPr>
                        <a:t>No — closed at once</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Send a complete HELLO as the very first line</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1"/>
                  </a:ext>
                </a:extLst>
              </a:tr>
              <a:tr h="731520">
                <a:tc>
                  <a:txBody>
                    <a:bodyPr/>
                    <a:lstStyle/>
                    <a:p>
                      <a:pPr marL="0" indent="0">
                        <a:buNone/>
                      </a:pPr>
                      <a:r>
                        <a:rPr lang="en-US" sz="1100" b="1" dirty="0">
                          <a:solidFill>
                            <a:srgbClr val="F0A202"/>
                          </a:solidFill>
                          <a:latin typeface="Consolas" pitchFamily="34" charset="0"/>
                          <a:ea typeface="Consolas" pitchFamily="34" charset="-122"/>
                          <a:cs typeface="Consolas" pitchFamily="34" charset="-120"/>
                        </a:rPr>
                        <a:t>BAD_MESSAGE</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An empty line, invalid text encoding, an unparseable line, or a line over 4096 bytes</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F0A202"/>
                          </a:solidFill>
                          <a:latin typeface="Calibri" pitchFamily="34" charset="0"/>
                          <a:ea typeface="Calibri" pitchFamily="34" charset="-122"/>
                          <a:cs typeface="Calibri" pitchFamily="34" charset="-120"/>
                        </a:rPr>
                        <a:t>Usually yes</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Check your line framing — never send a bare newline</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2"/>
                  </a:ext>
                </a:extLst>
              </a:tr>
              <a:tr h="731520">
                <a:tc>
                  <a:txBody>
                    <a:bodyPr/>
                    <a:lstStyle/>
                    <a:p>
                      <a:pPr marL="0" indent="0">
                        <a:buNone/>
                      </a:pPr>
                      <a:r>
                        <a:rPr lang="en-US" sz="1100" b="1" dirty="0">
                          <a:solidFill>
                            <a:srgbClr val="E5566B"/>
                          </a:solidFill>
                          <a:latin typeface="Consolas" pitchFamily="34" charset="0"/>
                          <a:ea typeface="Consolas" pitchFamily="34" charset="-122"/>
                          <a:cs typeface="Consolas" pitchFamily="34" charset="-120"/>
                        </a:rPr>
                        <a:t>SLOW_CLIENT</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Your outbound queue exceeded the configured per-client limit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E556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Consume faster, or raise the queue limit in config</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3"/>
                  </a:ext>
                </a:extLst>
              </a:tr>
              <a:tr h="731520">
                <a:tc>
                  <a:txBody>
                    <a:bodyPr/>
                    <a:lstStyle/>
                    <a:p>
                      <a:pPr marL="0" indent="0">
                        <a:buNone/>
                      </a:pPr>
                      <a:r>
                        <a:rPr lang="en-US" sz="1100" b="1" dirty="0">
                          <a:solidFill>
                            <a:srgbClr val="E5566B"/>
                          </a:solidFill>
                          <a:latin typeface="Consolas" pitchFamily="34" charset="0"/>
                          <a:ea typeface="Consolas" pitchFamily="34" charset="-122"/>
                          <a:cs typeface="Consolas" pitchFamily="34" charset="-120"/>
                        </a:rPr>
                        <a:t>IDLE_TIMEOUT</a:t>
                      </a:r>
                      <a:endParaRPr lang="en-US" sz="11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No inbound traffic from you for the configured idle period</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E556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Send a PING periodically, or raise the idle timeout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4"/>
                  </a:ext>
                </a:extLst>
              </a:tr>
            </a:tbl>
          </a:graphicData>
        </a:graphic>
      </p:graphicFrame>
      <p:sp>
        <p:nvSpPr>
          <p:cNvPr id="11" name="Text 8"/>
          <p:cNvSpPr/>
          <p:nvPr/>
        </p:nvSpPr>
        <p:spPr>
          <a:xfrm>
            <a:off x="685800" y="6035040"/>
            <a:ext cx="10820095" cy="365760"/>
          </a:xfrm>
          <a:prstGeom prst="rect">
            <a:avLst/>
          </a:prstGeom>
          <a:noFill/>
          <a:ln/>
        </p:spPr>
        <p:txBody>
          <a:bodyPr wrap="square" lIns="0" tIns="0" rIns="0" bIns="0" rtlCol="0" anchor="ctr"/>
          <a:lstStyle/>
          <a:p>
            <a:pPr marL="0" indent="0">
              <a:buNone/>
            </a:pPr>
            <a:r>
              <a:rPr lang="en-US" sz="1200" i="1" dirty="0">
                <a:solidFill>
                  <a:srgbClr val="6E7C87"/>
                </a:solidFill>
                <a:latin typeface="Calibri" pitchFamily="34" charset="0"/>
                <a:ea typeface="Calibri" pitchFamily="34" charset="-122"/>
                <a:cs typeface="Calibri" pitchFamily="34" charset="-120"/>
              </a:rPr>
              <a:t>Note what is missing: there is no "unknown gateway" and no "not entitled" error — because neither is checked.</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09 · ERRORS</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45</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TROUBLESHOOTING</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Symptom, likely cause, fix</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The five problems you will actually meet, in the order you are likely to meet them.</a:t>
            </a:r>
            <a:endParaRPr lang="en-US" sz="14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85800" y="2194560"/>
          <a:ext cx="10820095" cy="914400"/>
        </p:xfrm>
        <a:graphic>
          <a:graphicData uri="http://schemas.openxmlformats.org/drawingml/2006/table">
            <a:tbl>
              <a:tblPr/>
              <a:tblGrid>
                <a:gridCol w="30175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867912">
                  <a:extLst>
                    <a:ext uri="{9D8B030D-6E8A-4147-A177-3AD203B41FA5}">
                      <a16:colId xmlns:a16="http://schemas.microsoft.com/office/drawing/2014/main" val="20002"/>
                    </a:ext>
                  </a:extLst>
                </a:gridCol>
              </a:tblGrid>
              <a:tr h="603504">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Symptom</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Likely cause</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Fix</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extLst>
                  <a:ext uri="{0D108BD9-81ED-4DB2-BD59-A6C34878D82A}">
                    <a16:rowId xmlns:a16="http://schemas.microsoft.com/office/drawing/2014/main" val="10000"/>
                  </a:ext>
                </a:extLst>
              </a:tr>
              <a:tr h="603504">
                <a:tc>
                  <a:txBody>
                    <a:bodyPr/>
                    <a:lstStyle/>
                    <a:p>
                      <a:pPr marL="0" indent="0">
                        <a:buNone/>
                      </a:pPr>
                      <a:r>
                        <a:rPr lang="en-US" sz="1100" b="1" dirty="0">
                          <a:solidFill>
                            <a:srgbClr val="ECF1F5"/>
                          </a:solidFill>
                          <a:latin typeface="Calibri" pitchFamily="34" charset="0"/>
                          <a:ea typeface="Calibri" pitchFamily="34" charset="-122"/>
                          <a:cs typeface="Calibri" pitchFamily="34" charset="-120"/>
                        </a:rPr>
                        <a:t>Connection refused</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The gateway is not started, or you are on the wrong port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Confirm the process is running; check the configured port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1"/>
                  </a:ext>
                </a:extLst>
              </a:tr>
              <a:tr h="603504">
                <a:tc>
                  <a:txBody>
                    <a:bodyPr/>
                    <a:lstStyle/>
                    <a:p>
                      <a:pPr marL="0" indent="0">
                        <a:buNone/>
                      </a:pPr>
                      <a:r>
                        <a:rPr lang="en-US" sz="1100" b="1" dirty="0">
                          <a:solidFill>
                            <a:srgbClr val="ECF1F5"/>
                          </a:solidFill>
                          <a:latin typeface="Calibri" pitchFamily="34" charset="0"/>
                          <a:ea typeface="Calibri" pitchFamily="34" charset="-122"/>
                          <a:cs typeface="Calibri" pitchFamily="34" charset="-120"/>
                        </a:rPr>
                        <a:t>An auth error immediately on connect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The first line was not a HELLO, or a required field was missing</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Send the full HELLO with a client label, the protocol and an id</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2"/>
                  </a:ext>
                </a:extLst>
              </a:tr>
              <a:tr h="603504">
                <a:tc>
                  <a:txBody>
                    <a:bodyPr/>
                    <a:lstStyle/>
                    <a:p>
                      <a:pPr marL="0" indent="0">
                        <a:buNone/>
                      </a:pPr>
                      <a:r>
                        <a:rPr lang="en-US" sz="1100" b="1" dirty="0">
                          <a:solidFill>
                            <a:srgbClr val="ECF1F5"/>
                          </a:solidFill>
                          <a:latin typeface="Calibri" pitchFamily="34" charset="0"/>
                          <a:ea typeface="Calibri" pitchFamily="34" charset="-122"/>
                          <a:cs typeface="Calibri" pitchFamily="34" charset="-120"/>
                        </a:rPr>
                        <a:t>WELCOME arrives but no fills ever do</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No trades have occurred for that gateway id — or the engine's publisher failed to bind</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Check the engine log for a bind warning; confirm trades are happening for that id</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3"/>
                  </a:ext>
                </a:extLst>
              </a:tr>
              <a:tr h="603504">
                <a:tc>
                  <a:txBody>
                    <a:bodyPr/>
                    <a:lstStyle/>
                    <a:p>
                      <a:pPr marL="0" indent="0">
                        <a:buNone/>
                      </a:pPr>
                      <a:r>
                        <a:rPr lang="en-US" sz="1100" b="1" dirty="0">
                          <a:solidFill>
                            <a:srgbClr val="ECF1F5"/>
                          </a:solidFill>
                          <a:latin typeface="Calibri" pitchFamily="34" charset="0"/>
                          <a:ea typeface="Calibri" pitchFamily="34" charset="-122"/>
                          <a:cs typeface="Calibri" pitchFamily="34" charset="-120"/>
                        </a:rPr>
                        <a:t>The gateway hangs up after about 30 seconds</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The idle timeout elapsed with no inbound traffic</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Send a PING on a timer, or raise the idle timeout in configuration</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4"/>
                  </a:ext>
                </a:extLst>
              </a:tr>
              <a:tr h="603504">
                <a:tc>
                  <a:txBody>
                    <a:bodyPr/>
                    <a:lstStyle/>
                    <a:p>
                      <a:pPr marL="0" indent="0">
                        <a:buNone/>
                      </a:pPr>
                      <a:r>
                        <a:rPr lang="en-US" sz="1100" b="1" dirty="0">
                          <a:solidFill>
                            <a:srgbClr val="ECF1F5"/>
                          </a:solidFill>
                          <a:latin typeface="Calibri" pitchFamily="34" charset="0"/>
                          <a:ea typeface="Calibri" pitchFamily="34" charset="-122"/>
                          <a:cs typeface="Calibri" pitchFamily="34" charset="-120"/>
                        </a:rPr>
                        <a:t>Unreachable from another host</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The gateway is bound to the loopback interface only</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100" dirty="0">
                          <a:solidFill>
                            <a:srgbClr val="97A4AE"/>
                          </a:solidFill>
                          <a:latin typeface="Calibri" pitchFamily="34" charset="0"/>
                          <a:ea typeface="Calibri" pitchFamily="34" charset="-122"/>
                          <a:cs typeface="Calibri" pitchFamily="34" charset="-120"/>
                        </a:rPr>
                        <a:t>Bind to all interfaces, or to the specific interface address</a:t>
                      </a:r>
                      <a:endParaRPr lang="en-US" sz="110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5"/>
                  </a:ext>
                </a:extLst>
              </a:tr>
            </a:tbl>
          </a:graphicData>
        </a:graphic>
      </p:graphicFrame>
      <p:sp>
        <p:nvSpPr>
          <p:cNvPr id="9" name="Text 6"/>
          <p:cNvSpPr/>
          <p:nvPr/>
        </p:nvSpPr>
        <p:spPr>
          <a:xfrm>
            <a:off x="685800" y="5897880"/>
            <a:ext cx="10820095" cy="365760"/>
          </a:xfrm>
          <a:prstGeom prst="rect">
            <a:avLst/>
          </a:prstGeom>
          <a:noFill/>
          <a:ln/>
        </p:spPr>
        <p:txBody>
          <a:bodyPr wrap="square" lIns="0" tIns="0" rIns="0" bIns="0" rtlCol="0" anchor="ctr"/>
          <a:lstStyle/>
          <a:p>
            <a:pPr marL="0" indent="0">
              <a:buNone/>
            </a:pPr>
            <a:r>
              <a:rPr lang="en-US" sz="1200" i="1" dirty="0">
                <a:solidFill>
                  <a:srgbClr val="6E7C87"/>
                </a:solidFill>
                <a:latin typeface="Calibri" pitchFamily="34" charset="0"/>
                <a:ea typeface="Calibri" pitchFamily="34" charset="-122"/>
                <a:cs typeface="Calibri" pitchFamily="34" charset="-120"/>
              </a:rPr>
              <a:t>Two commands settle most of these: check who is listening on the port, then drive a HELLO through a raw TCP tool before blaming the client code.</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09 · ERRORS</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46</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THE SILENT FEED</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A decision path for "no messages are arriving"</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Work down it in order — each step rules out one whole class of cause.</a:t>
            </a:r>
            <a:endParaRPr lang="en-US" sz="1450" dirty="0"/>
          </a:p>
        </p:txBody>
      </p:sp>
      <p:sp>
        <p:nvSpPr>
          <p:cNvPr id="8" name="Shape 6"/>
          <p:cNvSpPr/>
          <p:nvPr/>
        </p:nvSpPr>
        <p:spPr>
          <a:xfrm>
            <a:off x="685800" y="2194560"/>
            <a:ext cx="10820095"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9" name="Shape 7"/>
          <p:cNvSpPr/>
          <p:nvPr/>
        </p:nvSpPr>
        <p:spPr>
          <a:xfrm>
            <a:off x="868680" y="2331720"/>
            <a:ext cx="402336" cy="402336"/>
          </a:xfrm>
          <a:prstGeom prst="roundRect">
            <a:avLst>
              <a:gd name="adj" fmla="val 113636"/>
            </a:avLst>
          </a:prstGeom>
          <a:solidFill>
            <a:srgbClr val="E5566B"/>
          </a:solidFill>
          <a:ln/>
        </p:spPr>
        <p:txBody>
          <a:bodyPr/>
          <a:lstStyle/>
          <a:p>
            <a:endParaRPr lang="en-SE"/>
          </a:p>
        </p:txBody>
      </p:sp>
      <p:sp>
        <p:nvSpPr>
          <p:cNvPr id="10" name="Text 8"/>
          <p:cNvSpPr/>
          <p:nvPr/>
        </p:nvSpPr>
        <p:spPr>
          <a:xfrm>
            <a:off x="868680" y="2331720"/>
            <a:ext cx="402336" cy="402336"/>
          </a:xfrm>
          <a:prstGeom prst="rect">
            <a:avLst/>
          </a:prstGeom>
          <a:noFill/>
          <a:ln/>
        </p:spPr>
        <p:txBody>
          <a:bodyPr wrap="square" lIns="0" tIns="0" rIns="0" bIns="0" rtlCol="0" anchor="ctr"/>
          <a:lstStyle/>
          <a:p>
            <a:pPr marL="0" indent="0" algn="ctr">
              <a:buNone/>
            </a:pPr>
            <a:r>
              <a:rPr lang="en-US" sz="1250" b="1" dirty="0">
                <a:solidFill>
                  <a:srgbClr val="141719"/>
                </a:solidFill>
                <a:latin typeface="Trebuchet MS" pitchFamily="34" charset="0"/>
                <a:ea typeface="Trebuchet MS" pitchFamily="34" charset="-122"/>
                <a:cs typeface="Trebuchet MS" pitchFamily="34" charset="-120"/>
              </a:rPr>
              <a:t>1</a:t>
            </a:r>
            <a:endParaRPr lang="en-US" sz="1250" dirty="0"/>
          </a:p>
        </p:txBody>
      </p:sp>
      <p:sp>
        <p:nvSpPr>
          <p:cNvPr id="11" name="Text 9"/>
          <p:cNvSpPr/>
          <p:nvPr/>
        </p:nvSpPr>
        <p:spPr>
          <a:xfrm>
            <a:off x="1417320" y="2194560"/>
            <a:ext cx="5029200" cy="676656"/>
          </a:xfrm>
          <a:prstGeom prst="rect">
            <a:avLst/>
          </a:prstGeom>
          <a:noFill/>
          <a:ln/>
        </p:spPr>
        <p:txBody>
          <a:bodyPr wrap="square" lIns="0" tIns="0" rIns="0" bIns="0" rtlCol="0" anchor="ctr"/>
          <a:lstStyle/>
          <a:p>
            <a:pPr marL="0" indent="0">
              <a:buNone/>
            </a:pPr>
            <a:r>
              <a:rPr lang="en-US" sz="1300" b="1" dirty="0">
                <a:solidFill>
                  <a:srgbClr val="ECF1F5"/>
                </a:solidFill>
                <a:latin typeface="Trebuchet MS" pitchFamily="34" charset="0"/>
                <a:ea typeface="Trebuchet MS" pitchFamily="34" charset="-122"/>
                <a:cs typeface="Trebuchet MS" pitchFamily="34" charset="-120"/>
              </a:rPr>
              <a:t>Is the engine running and did it log a drop copy bind warning at startup?</a:t>
            </a:r>
            <a:endParaRPr lang="en-US" sz="1300" dirty="0"/>
          </a:p>
        </p:txBody>
      </p:sp>
      <p:sp>
        <p:nvSpPr>
          <p:cNvPr id="12" name="Text 10"/>
          <p:cNvSpPr/>
          <p:nvPr/>
        </p:nvSpPr>
        <p:spPr>
          <a:xfrm>
            <a:off x="6583680" y="2194560"/>
            <a:ext cx="4892040" cy="676656"/>
          </a:xfrm>
          <a:prstGeom prst="rect">
            <a:avLst/>
          </a:prstGeom>
          <a:noFill/>
          <a:ln/>
        </p:spPr>
        <p:txBody>
          <a:bodyPr wrap="square" lIns="0" tIns="0" rIns="0" bIns="0" rtlCol="0" anchor="ctr"/>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A failed bind leaves the exchange trading with no audit feed at all.</a:t>
            </a:r>
            <a:endParaRPr lang="en-US" sz="1150" dirty="0"/>
          </a:p>
        </p:txBody>
      </p:sp>
      <p:sp>
        <p:nvSpPr>
          <p:cNvPr id="13" name="Shape 11"/>
          <p:cNvSpPr/>
          <p:nvPr/>
        </p:nvSpPr>
        <p:spPr>
          <a:xfrm>
            <a:off x="685800" y="2980944"/>
            <a:ext cx="10820095"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14" name="Shape 12"/>
          <p:cNvSpPr/>
          <p:nvPr/>
        </p:nvSpPr>
        <p:spPr>
          <a:xfrm>
            <a:off x="868680" y="3118104"/>
            <a:ext cx="402336" cy="402336"/>
          </a:xfrm>
          <a:prstGeom prst="roundRect">
            <a:avLst>
              <a:gd name="adj" fmla="val 113636"/>
            </a:avLst>
          </a:prstGeom>
          <a:solidFill>
            <a:srgbClr val="F0A202"/>
          </a:solidFill>
          <a:ln/>
        </p:spPr>
        <p:txBody>
          <a:bodyPr/>
          <a:lstStyle/>
          <a:p>
            <a:endParaRPr lang="en-SE"/>
          </a:p>
        </p:txBody>
      </p:sp>
      <p:sp>
        <p:nvSpPr>
          <p:cNvPr id="15" name="Text 13"/>
          <p:cNvSpPr/>
          <p:nvPr/>
        </p:nvSpPr>
        <p:spPr>
          <a:xfrm>
            <a:off x="868680" y="3118104"/>
            <a:ext cx="402336" cy="402336"/>
          </a:xfrm>
          <a:prstGeom prst="rect">
            <a:avLst/>
          </a:prstGeom>
          <a:noFill/>
          <a:ln/>
        </p:spPr>
        <p:txBody>
          <a:bodyPr wrap="square" lIns="0" tIns="0" rIns="0" bIns="0" rtlCol="0" anchor="ctr"/>
          <a:lstStyle/>
          <a:p>
            <a:pPr marL="0" indent="0" algn="ctr">
              <a:buNone/>
            </a:pPr>
            <a:r>
              <a:rPr lang="en-US" sz="1250" b="1" dirty="0">
                <a:solidFill>
                  <a:srgbClr val="141719"/>
                </a:solidFill>
                <a:latin typeface="Trebuchet MS" pitchFamily="34" charset="0"/>
                <a:ea typeface="Trebuchet MS" pitchFamily="34" charset="-122"/>
                <a:cs typeface="Trebuchet MS" pitchFamily="34" charset="-120"/>
              </a:rPr>
              <a:t>2</a:t>
            </a:r>
            <a:endParaRPr lang="en-US" sz="1250" dirty="0"/>
          </a:p>
        </p:txBody>
      </p:sp>
      <p:sp>
        <p:nvSpPr>
          <p:cNvPr id="16" name="Text 14"/>
          <p:cNvSpPr/>
          <p:nvPr/>
        </p:nvSpPr>
        <p:spPr>
          <a:xfrm>
            <a:off x="1417320" y="2980944"/>
            <a:ext cx="5029200" cy="676656"/>
          </a:xfrm>
          <a:prstGeom prst="rect">
            <a:avLst/>
          </a:prstGeom>
          <a:noFill/>
          <a:ln/>
        </p:spPr>
        <p:txBody>
          <a:bodyPr wrap="square" lIns="0" tIns="0" rIns="0" bIns="0" rtlCol="0" anchor="ctr"/>
          <a:lstStyle/>
          <a:p>
            <a:pPr marL="0" indent="0">
              <a:buNone/>
            </a:pPr>
            <a:r>
              <a:rPr lang="en-US" sz="1300" b="1" dirty="0">
                <a:solidFill>
                  <a:srgbClr val="ECF1F5"/>
                </a:solidFill>
                <a:latin typeface="Trebuchet MS" pitchFamily="34" charset="0"/>
                <a:ea typeface="Trebuchet MS" pitchFamily="34" charset="-122"/>
                <a:cs typeface="Trebuchet MS" pitchFamily="34" charset="-120"/>
              </a:rPr>
              <a:t>Is anything actually trading right now?</a:t>
            </a:r>
            <a:endParaRPr lang="en-US" sz="1300" dirty="0"/>
          </a:p>
        </p:txBody>
      </p:sp>
      <p:sp>
        <p:nvSpPr>
          <p:cNvPr id="17" name="Text 15"/>
          <p:cNvSpPr/>
          <p:nvPr/>
        </p:nvSpPr>
        <p:spPr>
          <a:xfrm>
            <a:off x="6583680" y="2980944"/>
            <a:ext cx="4892040" cy="676656"/>
          </a:xfrm>
          <a:prstGeom prst="rect">
            <a:avLst/>
          </a:prstGeom>
          <a:noFill/>
          <a:ln/>
        </p:spPr>
        <p:txBody>
          <a:bodyPr wrap="square" lIns="0" tIns="0" rIns="0" bIns="0" rtlCol="0" anchor="ctr"/>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The feed only speaks when a fill occurs. Cause a trade to prove the path end to end.</a:t>
            </a:r>
            <a:endParaRPr lang="en-US" sz="1150" dirty="0"/>
          </a:p>
        </p:txBody>
      </p:sp>
      <p:sp>
        <p:nvSpPr>
          <p:cNvPr id="18" name="Shape 16"/>
          <p:cNvSpPr/>
          <p:nvPr/>
        </p:nvSpPr>
        <p:spPr>
          <a:xfrm>
            <a:off x="685800" y="3767328"/>
            <a:ext cx="10820095"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19" name="Shape 17"/>
          <p:cNvSpPr/>
          <p:nvPr/>
        </p:nvSpPr>
        <p:spPr>
          <a:xfrm>
            <a:off x="868680" y="3904488"/>
            <a:ext cx="402336" cy="402336"/>
          </a:xfrm>
          <a:prstGeom prst="roundRect">
            <a:avLst>
              <a:gd name="adj" fmla="val 113636"/>
            </a:avLst>
          </a:prstGeom>
          <a:solidFill>
            <a:srgbClr val="F0A202"/>
          </a:solidFill>
          <a:ln/>
        </p:spPr>
        <p:txBody>
          <a:bodyPr/>
          <a:lstStyle/>
          <a:p>
            <a:endParaRPr lang="en-SE"/>
          </a:p>
        </p:txBody>
      </p:sp>
      <p:sp>
        <p:nvSpPr>
          <p:cNvPr id="20" name="Text 18"/>
          <p:cNvSpPr/>
          <p:nvPr/>
        </p:nvSpPr>
        <p:spPr>
          <a:xfrm>
            <a:off x="868680" y="3904488"/>
            <a:ext cx="402336" cy="402336"/>
          </a:xfrm>
          <a:prstGeom prst="rect">
            <a:avLst/>
          </a:prstGeom>
          <a:noFill/>
          <a:ln/>
        </p:spPr>
        <p:txBody>
          <a:bodyPr wrap="square" lIns="0" tIns="0" rIns="0" bIns="0" rtlCol="0" anchor="ctr"/>
          <a:lstStyle/>
          <a:p>
            <a:pPr marL="0" indent="0" algn="ctr">
              <a:buNone/>
            </a:pPr>
            <a:r>
              <a:rPr lang="en-US" sz="1250" b="1" dirty="0">
                <a:solidFill>
                  <a:srgbClr val="141719"/>
                </a:solidFill>
                <a:latin typeface="Trebuchet MS" pitchFamily="34" charset="0"/>
                <a:ea typeface="Trebuchet MS" pitchFamily="34" charset="-122"/>
                <a:cs typeface="Trebuchet MS" pitchFamily="34" charset="-120"/>
              </a:rPr>
              <a:t>3</a:t>
            </a:r>
            <a:endParaRPr lang="en-US" sz="1250" dirty="0"/>
          </a:p>
        </p:txBody>
      </p:sp>
      <p:sp>
        <p:nvSpPr>
          <p:cNvPr id="21" name="Text 19"/>
          <p:cNvSpPr/>
          <p:nvPr/>
        </p:nvSpPr>
        <p:spPr>
          <a:xfrm>
            <a:off x="1417320" y="3767328"/>
            <a:ext cx="5029200" cy="676656"/>
          </a:xfrm>
          <a:prstGeom prst="rect">
            <a:avLst/>
          </a:prstGeom>
          <a:noFill/>
          <a:ln/>
        </p:spPr>
        <p:txBody>
          <a:bodyPr wrap="square" lIns="0" tIns="0" rIns="0" bIns="0" rtlCol="0" anchor="ctr"/>
          <a:lstStyle/>
          <a:p>
            <a:pPr marL="0" indent="0">
              <a:buNone/>
            </a:pPr>
            <a:r>
              <a:rPr lang="en-US" sz="1300" b="1" dirty="0">
                <a:solidFill>
                  <a:srgbClr val="ECF1F5"/>
                </a:solidFill>
                <a:latin typeface="Trebuchet MS" pitchFamily="34" charset="0"/>
                <a:ea typeface="Trebuchet MS" pitchFamily="34" charset="-122"/>
                <a:cs typeface="Trebuchet MS" pitchFamily="34" charset="-120"/>
              </a:rPr>
              <a:t>Are you subscribed to the right prefix?</a:t>
            </a:r>
            <a:endParaRPr lang="en-US" sz="1300" dirty="0"/>
          </a:p>
        </p:txBody>
      </p:sp>
      <p:sp>
        <p:nvSpPr>
          <p:cNvPr id="22" name="Text 20"/>
          <p:cNvSpPr/>
          <p:nvPr/>
        </p:nvSpPr>
        <p:spPr>
          <a:xfrm>
            <a:off x="6583680" y="3767328"/>
            <a:ext cx="4892040" cy="676656"/>
          </a:xfrm>
          <a:prstGeom prst="rect">
            <a:avLst/>
          </a:prstGeom>
          <a:noFill/>
          <a:ln/>
        </p:spPr>
        <p:txBody>
          <a:bodyPr wrap="square" lIns="0" tIns="0" rIns="0" bIns="0" rtlCol="0" anchor="ctr"/>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Filtering for one gateway id that never trades looks identical to a broken feed.</a:t>
            </a:r>
            <a:endParaRPr lang="en-US" sz="1150" dirty="0"/>
          </a:p>
        </p:txBody>
      </p:sp>
      <p:sp>
        <p:nvSpPr>
          <p:cNvPr id="23" name="Shape 21"/>
          <p:cNvSpPr/>
          <p:nvPr/>
        </p:nvSpPr>
        <p:spPr>
          <a:xfrm>
            <a:off x="685800" y="4553712"/>
            <a:ext cx="10820095"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24" name="Shape 22"/>
          <p:cNvSpPr/>
          <p:nvPr/>
        </p:nvSpPr>
        <p:spPr>
          <a:xfrm>
            <a:off x="868680" y="4690872"/>
            <a:ext cx="402336" cy="402336"/>
          </a:xfrm>
          <a:prstGeom prst="roundRect">
            <a:avLst>
              <a:gd name="adj" fmla="val 113636"/>
            </a:avLst>
          </a:prstGeom>
          <a:solidFill>
            <a:srgbClr val="3FD0C9"/>
          </a:solidFill>
          <a:ln/>
        </p:spPr>
        <p:txBody>
          <a:bodyPr/>
          <a:lstStyle/>
          <a:p>
            <a:endParaRPr lang="en-SE"/>
          </a:p>
        </p:txBody>
      </p:sp>
      <p:sp>
        <p:nvSpPr>
          <p:cNvPr id="25" name="Text 23"/>
          <p:cNvSpPr/>
          <p:nvPr/>
        </p:nvSpPr>
        <p:spPr>
          <a:xfrm>
            <a:off x="868680" y="4690872"/>
            <a:ext cx="402336" cy="402336"/>
          </a:xfrm>
          <a:prstGeom prst="rect">
            <a:avLst/>
          </a:prstGeom>
          <a:noFill/>
          <a:ln/>
        </p:spPr>
        <p:txBody>
          <a:bodyPr wrap="square" lIns="0" tIns="0" rIns="0" bIns="0" rtlCol="0" anchor="ctr"/>
          <a:lstStyle/>
          <a:p>
            <a:pPr marL="0" indent="0" algn="ctr">
              <a:buNone/>
            </a:pPr>
            <a:r>
              <a:rPr lang="en-US" sz="1250" b="1" dirty="0">
                <a:solidFill>
                  <a:srgbClr val="141719"/>
                </a:solidFill>
                <a:latin typeface="Trebuchet MS" pitchFamily="34" charset="0"/>
                <a:ea typeface="Trebuchet MS" pitchFamily="34" charset="-122"/>
                <a:cs typeface="Trebuchet MS" pitchFamily="34" charset="-120"/>
              </a:rPr>
              <a:t>4</a:t>
            </a:r>
            <a:endParaRPr lang="en-US" sz="1250" dirty="0"/>
          </a:p>
        </p:txBody>
      </p:sp>
      <p:sp>
        <p:nvSpPr>
          <p:cNvPr id="26" name="Text 24"/>
          <p:cNvSpPr/>
          <p:nvPr/>
        </p:nvSpPr>
        <p:spPr>
          <a:xfrm>
            <a:off x="1417320" y="4553712"/>
            <a:ext cx="5029200" cy="676656"/>
          </a:xfrm>
          <a:prstGeom prst="rect">
            <a:avLst/>
          </a:prstGeom>
          <a:noFill/>
          <a:ln/>
        </p:spPr>
        <p:txBody>
          <a:bodyPr wrap="square" lIns="0" tIns="0" rIns="0" bIns="0" rtlCol="0" anchor="ctr"/>
          <a:lstStyle/>
          <a:p>
            <a:pPr marL="0" indent="0">
              <a:buNone/>
            </a:pPr>
            <a:r>
              <a:rPr lang="en-US" sz="1300" b="1" dirty="0">
                <a:solidFill>
                  <a:srgbClr val="ECF1F5"/>
                </a:solidFill>
                <a:latin typeface="Trebuchet MS" pitchFamily="34" charset="0"/>
                <a:ea typeface="Trebuchet MS" pitchFamily="34" charset="-122"/>
                <a:cs typeface="Trebuchet MS" pitchFamily="34" charset="-120"/>
              </a:rPr>
              <a:t>Can you see fills with the spy tool?</a:t>
            </a:r>
            <a:endParaRPr lang="en-US" sz="1300" dirty="0"/>
          </a:p>
        </p:txBody>
      </p:sp>
      <p:sp>
        <p:nvSpPr>
          <p:cNvPr id="27" name="Text 25"/>
          <p:cNvSpPr/>
          <p:nvPr/>
        </p:nvSpPr>
        <p:spPr>
          <a:xfrm>
            <a:off x="6583680" y="4553712"/>
            <a:ext cx="4892040" cy="676656"/>
          </a:xfrm>
          <a:prstGeom prst="rect">
            <a:avLst/>
          </a:prstGeom>
          <a:noFill/>
          <a:ln/>
        </p:spPr>
        <p:txBody>
          <a:bodyPr wrap="square" lIns="0" tIns="0" rIns="0" bIns="0" rtlCol="0" anchor="ctr"/>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If the spy sees them and your consumer does not, the problem is in your client, not the feed.</a:t>
            </a:r>
            <a:endParaRPr lang="en-US" sz="1150" dirty="0"/>
          </a:p>
        </p:txBody>
      </p:sp>
      <p:sp>
        <p:nvSpPr>
          <p:cNvPr id="28" name="Shape 26"/>
          <p:cNvSpPr/>
          <p:nvPr/>
        </p:nvSpPr>
        <p:spPr>
          <a:xfrm>
            <a:off x="685800" y="5340096"/>
            <a:ext cx="10820095" cy="676656"/>
          </a:xfrm>
          <a:prstGeom prst="roundRect">
            <a:avLst>
              <a:gd name="adj" fmla="val 8108"/>
            </a:avLst>
          </a:prstGeom>
          <a:solidFill>
            <a:srgbClr val="252B31"/>
          </a:solidFill>
          <a:ln w="12700">
            <a:solidFill>
              <a:srgbClr val="3A434B"/>
            </a:solidFill>
            <a:prstDash val="solid"/>
          </a:ln>
        </p:spPr>
        <p:txBody>
          <a:bodyPr/>
          <a:lstStyle/>
          <a:p>
            <a:endParaRPr lang="en-SE"/>
          </a:p>
        </p:txBody>
      </p:sp>
      <p:sp>
        <p:nvSpPr>
          <p:cNvPr id="29" name="Shape 27"/>
          <p:cNvSpPr/>
          <p:nvPr/>
        </p:nvSpPr>
        <p:spPr>
          <a:xfrm>
            <a:off x="868680" y="5477256"/>
            <a:ext cx="402336" cy="402336"/>
          </a:xfrm>
          <a:prstGeom prst="roundRect">
            <a:avLst>
              <a:gd name="adj" fmla="val 113636"/>
            </a:avLst>
          </a:prstGeom>
          <a:solidFill>
            <a:srgbClr val="3FD0C9"/>
          </a:solidFill>
          <a:ln/>
        </p:spPr>
        <p:txBody>
          <a:bodyPr/>
          <a:lstStyle/>
          <a:p>
            <a:endParaRPr lang="en-SE"/>
          </a:p>
        </p:txBody>
      </p:sp>
      <p:sp>
        <p:nvSpPr>
          <p:cNvPr id="30" name="Text 28"/>
          <p:cNvSpPr/>
          <p:nvPr/>
        </p:nvSpPr>
        <p:spPr>
          <a:xfrm>
            <a:off x="868680" y="5477256"/>
            <a:ext cx="402336" cy="402336"/>
          </a:xfrm>
          <a:prstGeom prst="rect">
            <a:avLst/>
          </a:prstGeom>
          <a:noFill/>
          <a:ln/>
        </p:spPr>
        <p:txBody>
          <a:bodyPr wrap="square" lIns="0" tIns="0" rIns="0" bIns="0" rtlCol="0" anchor="ctr"/>
          <a:lstStyle/>
          <a:p>
            <a:pPr marL="0" indent="0" algn="ctr">
              <a:buNone/>
            </a:pPr>
            <a:r>
              <a:rPr lang="en-US" sz="1250" b="1" dirty="0">
                <a:solidFill>
                  <a:srgbClr val="141719"/>
                </a:solidFill>
                <a:latin typeface="Trebuchet MS" pitchFamily="34" charset="0"/>
                <a:ea typeface="Trebuchet MS" pitchFamily="34" charset="-122"/>
                <a:cs typeface="Trebuchet MS" pitchFamily="34" charset="-120"/>
              </a:rPr>
              <a:t>5</a:t>
            </a:r>
            <a:endParaRPr lang="en-US" sz="1250" dirty="0"/>
          </a:p>
        </p:txBody>
      </p:sp>
      <p:sp>
        <p:nvSpPr>
          <p:cNvPr id="31" name="Text 29"/>
          <p:cNvSpPr/>
          <p:nvPr/>
        </p:nvSpPr>
        <p:spPr>
          <a:xfrm>
            <a:off x="1417320" y="5340096"/>
            <a:ext cx="5029200" cy="676656"/>
          </a:xfrm>
          <a:prstGeom prst="rect">
            <a:avLst/>
          </a:prstGeom>
          <a:noFill/>
          <a:ln/>
        </p:spPr>
        <p:txBody>
          <a:bodyPr wrap="square" lIns="0" tIns="0" rIns="0" bIns="0" rtlCol="0" anchor="ctr"/>
          <a:lstStyle/>
          <a:p>
            <a:pPr marL="0" indent="0">
              <a:buNone/>
            </a:pPr>
            <a:r>
              <a:rPr lang="en-US" sz="1300" b="1" dirty="0">
                <a:solidFill>
                  <a:srgbClr val="ECF1F5"/>
                </a:solidFill>
                <a:latin typeface="Trebuchet MS" pitchFamily="34" charset="0"/>
                <a:ea typeface="Trebuchet MS" pitchFamily="34" charset="-122"/>
                <a:cs typeface="Trebuchet MS" pitchFamily="34" charset="-120"/>
              </a:rPr>
              <a:t>If using the DC Gateway: did you get a WELCOME?</a:t>
            </a:r>
            <a:endParaRPr lang="en-US" sz="1300" dirty="0"/>
          </a:p>
        </p:txBody>
      </p:sp>
      <p:sp>
        <p:nvSpPr>
          <p:cNvPr id="32" name="Text 30"/>
          <p:cNvSpPr/>
          <p:nvPr/>
        </p:nvSpPr>
        <p:spPr>
          <a:xfrm>
            <a:off x="6583680" y="5340096"/>
            <a:ext cx="4892040" cy="676656"/>
          </a:xfrm>
          <a:prstGeom prst="rect">
            <a:avLst/>
          </a:prstGeom>
          <a:noFill/>
          <a:ln/>
        </p:spPr>
        <p:txBody>
          <a:bodyPr wrap="square" lIns="0" tIns="0" rIns="0" bIns="0" rtlCol="0" anchor="ctr"/>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No WELCOME means the handshake failed. A WELCOME with no fills points back to steps 2 and 3.</a:t>
            </a:r>
            <a:endParaRPr lang="en-US" sz="1150" dirty="0"/>
          </a:p>
        </p:txBody>
      </p:sp>
      <p:sp>
        <p:nvSpPr>
          <p:cNvPr id="33" name="Text 31"/>
          <p:cNvSpPr/>
          <p:nvPr/>
        </p:nvSpPr>
        <p:spPr>
          <a:xfrm>
            <a:off x="685800" y="6172200"/>
            <a:ext cx="10820095" cy="320040"/>
          </a:xfrm>
          <a:prstGeom prst="rect">
            <a:avLst/>
          </a:prstGeom>
          <a:noFill/>
          <a:ln/>
        </p:spPr>
        <p:txBody>
          <a:bodyPr wrap="square" lIns="0" tIns="0" rIns="0" bIns="0" rtlCol="0" anchor="ctr"/>
          <a:lstStyle/>
          <a:p>
            <a:pPr marL="0" indent="0">
              <a:buNone/>
            </a:pPr>
            <a:r>
              <a:rPr lang="en-US" sz="1150" i="1" dirty="0">
                <a:solidFill>
                  <a:srgbClr val="6E7C87"/>
                </a:solidFill>
                <a:latin typeface="Calibri" pitchFamily="34" charset="0"/>
                <a:ea typeface="Calibri" pitchFamily="34" charset="-122"/>
                <a:cs typeface="Calibri" pitchFamily="34" charset="-120"/>
              </a:rPr>
              <a:t>Remember: with the spy tool, connecting always succeeds — so an empty screen never proves you are connected to the right place.</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10454335" y="4572000"/>
            <a:ext cx="237744" cy="237744"/>
          </a:xfrm>
          <a:prstGeom prst="rect">
            <a:avLst/>
          </a:prstGeom>
          <a:solidFill>
            <a:srgbClr val="F0A202"/>
          </a:solidFill>
          <a:ln/>
        </p:spPr>
        <p:txBody>
          <a:bodyPr/>
          <a:lstStyle/>
          <a:p>
            <a:endParaRPr lang="en-SE"/>
          </a:p>
        </p:txBody>
      </p:sp>
      <p:sp>
        <p:nvSpPr>
          <p:cNvPr id="3" name="Shape 1"/>
          <p:cNvSpPr/>
          <p:nvPr/>
        </p:nvSpPr>
        <p:spPr>
          <a:xfrm>
            <a:off x="10838383" y="4572000"/>
            <a:ext cx="237744" cy="237744"/>
          </a:xfrm>
          <a:prstGeom prst="rect">
            <a:avLst/>
          </a:prstGeom>
          <a:solidFill>
            <a:srgbClr val="2E353C"/>
          </a:solidFill>
          <a:ln/>
        </p:spPr>
        <p:txBody>
          <a:bodyPr/>
          <a:lstStyle/>
          <a:p>
            <a:endParaRPr lang="en-SE"/>
          </a:p>
        </p:txBody>
      </p:sp>
      <p:sp>
        <p:nvSpPr>
          <p:cNvPr id="4" name="Shape 2"/>
          <p:cNvSpPr/>
          <p:nvPr/>
        </p:nvSpPr>
        <p:spPr>
          <a:xfrm>
            <a:off x="11222431" y="4572000"/>
            <a:ext cx="237744" cy="237744"/>
          </a:xfrm>
          <a:prstGeom prst="rect">
            <a:avLst/>
          </a:prstGeom>
          <a:solidFill>
            <a:srgbClr val="2E353C"/>
          </a:solidFill>
          <a:ln/>
        </p:spPr>
        <p:txBody>
          <a:bodyPr/>
          <a:lstStyle/>
          <a:p>
            <a:endParaRPr lang="en-SE"/>
          </a:p>
        </p:txBody>
      </p:sp>
      <p:sp>
        <p:nvSpPr>
          <p:cNvPr id="5" name="Shape 3"/>
          <p:cNvSpPr/>
          <p:nvPr/>
        </p:nvSpPr>
        <p:spPr>
          <a:xfrm>
            <a:off x="10454335" y="4956048"/>
            <a:ext cx="237744" cy="237744"/>
          </a:xfrm>
          <a:prstGeom prst="rect">
            <a:avLst/>
          </a:prstGeom>
          <a:solidFill>
            <a:srgbClr val="3FD0C9"/>
          </a:solidFill>
          <a:ln/>
        </p:spPr>
        <p:txBody>
          <a:bodyPr/>
          <a:lstStyle/>
          <a:p>
            <a:endParaRPr lang="en-SE"/>
          </a:p>
        </p:txBody>
      </p:sp>
      <p:sp>
        <p:nvSpPr>
          <p:cNvPr id="6" name="Shape 4"/>
          <p:cNvSpPr/>
          <p:nvPr/>
        </p:nvSpPr>
        <p:spPr>
          <a:xfrm>
            <a:off x="10838383" y="4956048"/>
            <a:ext cx="237744" cy="237744"/>
          </a:xfrm>
          <a:prstGeom prst="rect">
            <a:avLst/>
          </a:prstGeom>
          <a:solidFill>
            <a:srgbClr val="F0A202"/>
          </a:solidFill>
          <a:ln/>
        </p:spPr>
        <p:txBody>
          <a:bodyPr/>
          <a:lstStyle/>
          <a:p>
            <a:endParaRPr lang="en-SE"/>
          </a:p>
        </p:txBody>
      </p:sp>
      <p:sp>
        <p:nvSpPr>
          <p:cNvPr id="7" name="Shape 5"/>
          <p:cNvSpPr/>
          <p:nvPr/>
        </p:nvSpPr>
        <p:spPr>
          <a:xfrm>
            <a:off x="11222431" y="4956048"/>
            <a:ext cx="237744" cy="237744"/>
          </a:xfrm>
          <a:prstGeom prst="rect">
            <a:avLst/>
          </a:prstGeom>
          <a:solidFill>
            <a:srgbClr val="2E353C"/>
          </a:solidFill>
          <a:ln/>
        </p:spPr>
        <p:txBody>
          <a:bodyPr/>
          <a:lstStyle/>
          <a:p>
            <a:endParaRPr lang="en-SE"/>
          </a:p>
        </p:txBody>
      </p:sp>
      <p:sp>
        <p:nvSpPr>
          <p:cNvPr id="8" name="Text 6"/>
          <p:cNvSpPr/>
          <p:nvPr/>
        </p:nvSpPr>
        <p:spPr>
          <a:xfrm>
            <a:off x="685800" y="1417320"/>
            <a:ext cx="2743200" cy="1737360"/>
          </a:xfrm>
          <a:prstGeom prst="rect">
            <a:avLst/>
          </a:prstGeom>
          <a:noFill/>
          <a:ln/>
        </p:spPr>
        <p:txBody>
          <a:bodyPr wrap="square" lIns="0" tIns="0" rIns="0" bIns="0" rtlCol="0" anchor="ctr"/>
          <a:lstStyle/>
          <a:p>
            <a:pPr marL="0" indent="0">
              <a:buNone/>
            </a:pPr>
            <a:r>
              <a:rPr lang="en-US" sz="11000" b="1" dirty="0">
                <a:solidFill>
                  <a:srgbClr val="2E353C"/>
                </a:solidFill>
                <a:latin typeface="Trebuchet MS" pitchFamily="34" charset="0"/>
                <a:ea typeface="Trebuchet MS" pitchFamily="34" charset="-122"/>
                <a:cs typeface="Trebuchet MS" pitchFamily="34" charset="-120"/>
              </a:rPr>
              <a:t>10</a:t>
            </a:r>
            <a:endParaRPr lang="en-US" sz="11000" dirty="0"/>
          </a:p>
        </p:txBody>
      </p:sp>
      <p:sp>
        <p:nvSpPr>
          <p:cNvPr id="9" name="Text 7"/>
          <p:cNvSpPr/>
          <p:nvPr/>
        </p:nvSpPr>
        <p:spPr>
          <a:xfrm>
            <a:off x="2606040" y="1600200"/>
            <a:ext cx="8579815" cy="1371600"/>
          </a:xfrm>
          <a:prstGeom prst="rect">
            <a:avLst/>
          </a:prstGeom>
          <a:noFill/>
          <a:ln/>
        </p:spPr>
        <p:txBody>
          <a:bodyPr wrap="square" lIns="0" tIns="0" rIns="0" bIns="0" rtlCol="0" anchor="ctr"/>
          <a:lstStyle/>
          <a:p>
            <a:pPr marL="0" indent="0">
              <a:buNone/>
            </a:pPr>
            <a:r>
              <a:rPr lang="en-US" sz="4000" b="1" dirty="0">
                <a:solidFill>
                  <a:srgbClr val="ECF1F5"/>
                </a:solidFill>
                <a:latin typeface="Trebuchet MS" pitchFamily="34" charset="0"/>
                <a:ea typeface="Trebuchet MS" pitchFamily="34" charset="-122"/>
                <a:cs typeface="Trebuchet MS" pitchFamily="34" charset="-120"/>
              </a:rPr>
              <a:t>What configuration affects Drop Copy?</a:t>
            </a:r>
            <a:endParaRPr lang="en-US" sz="4000" dirty="0"/>
          </a:p>
        </p:txBody>
      </p:sp>
      <p:sp>
        <p:nvSpPr>
          <p:cNvPr id="10" name="Text 8"/>
          <p:cNvSpPr/>
          <p:nvPr/>
        </p:nvSpPr>
        <p:spPr>
          <a:xfrm>
            <a:off x="2651760" y="3017520"/>
            <a:ext cx="7680960" cy="822960"/>
          </a:xfrm>
          <a:prstGeom prst="rect">
            <a:avLst/>
          </a:prstGeom>
          <a:noFill/>
          <a:ln/>
        </p:spPr>
        <p:txBody>
          <a:bodyPr wrap="square" lIns="0" tIns="0" rIns="0" bIns="0" rtlCol="0" anchor="t"/>
          <a:lstStyle/>
          <a:p>
            <a:pPr marL="0" indent="0">
              <a:lnSpc>
                <a:spcPct val="115000"/>
              </a:lnSpc>
              <a:buNone/>
            </a:pPr>
            <a:r>
              <a:rPr lang="en-US" sz="1500" dirty="0">
                <a:solidFill>
                  <a:srgbClr val="97A4AE"/>
                </a:solidFill>
                <a:latin typeface="Calibri" pitchFamily="34" charset="0"/>
                <a:ea typeface="Calibri" pitchFamily="34" charset="-122"/>
                <a:cs typeface="Calibri" pitchFamily="34" charset="-120"/>
              </a:rPr>
              <a:t>Three places hold every knob that changes how drop copy is produced, buffered and relayed — plus one that is not in the config file at all.</a:t>
            </a:r>
            <a:endParaRPr lang="en-US" sz="1500" dirty="0"/>
          </a:p>
        </p:txBody>
      </p:sp>
      <p:sp>
        <p:nvSpPr>
          <p:cNvPr id="11" name="Shape 9"/>
          <p:cNvSpPr/>
          <p:nvPr/>
        </p:nvSpPr>
        <p:spPr>
          <a:xfrm>
            <a:off x="2651760" y="4142232"/>
            <a:ext cx="128016" cy="128016"/>
          </a:xfrm>
          <a:prstGeom prst="rect">
            <a:avLst/>
          </a:prstGeom>
          <a:solidFill>
            <a:srgbClr val="3FD0C9"/>
          </a:solidFill>
          <a:ln/>
        </p:spPr>
        <p:txBody>
          <a:bodyPr/>
          <a:lstStyle/>
          <a:p>
            <a:endParaRPr lang="en-SE"/>
          </a:p>
        </p:txBody>
      </p:sp>
      <p:sp>
        <p:nvSpPr>
          <p:cNvPr id="12" name="Text 10"/>
          <p:cNvSpPr/>
          <p:nvPr/>
        </p:nvSpPr>
        <p:spPr>
          <a:xfrm>
            <a:off x="2971800" y="4041648"/>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How configuration reaches a running exchange</a:t>
            </a:r>
            <a:endParaRPr lang="en-US" sz="1250" dirty="0"/>
          </a:p>
        </p:txBody>
      </p:sp>
      <p:sp>
        <p:nvSpPr>
          <p:cNvPr id="13" name="Shape 11"/>
          <p:cNvSpPr/>
          <p:nvPr/>
        </p:nvSpPr>
        <p:spPr>
          <a:xfrm>
            <a:off x="2651760" y="4526280"/>
            <a:ext cx="128016" cy="128016"/>
          </a:xfrm>
          <a:prstGeom prst="rect">
            <a:avLst/>
          </a:prstGeom>
          <a:solidFill>
            <a:srgbClr val="3FD0C9"/>
          </a:solidFill>
          <a:ln/>
        </p:spPr>
        <p:txBody>
          <a:bodyPr/>
          <a:lstStyle/>
          <a:p>
            <a:endParaRPr lang="en-SE"/>
          </a:p>
        </p:txBody>
      </p:sp>
      <p:sp>
        <p:nvSpPr>
          <p:cNvPr id="14" name="Text 12"/>
          <p:cNvSpPr/>
          <p:nvPr/>
        </p:nvSpPr>
        <p:spPr>
          <a:xfrm>
            <a:off x="2971800" y="4425696"/>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gateway settings, field by field</a:t>
            </a:r>
            <a:endParaRPr lang="en-US" sz="1250" dirty="0"/>
          </a:p>
        </p:txBody>
      </p:sp>
      <p:sp>
        <p:nvSpPr>
          <p:cNvPr id="15" name="Shape 13"/>
          <p:cNvSpPr/>
          <p:nvPr/>
        </p:nvSpPr>
        <p:spPr>
          <a:xfrm>
            <a:off x="2651760" y="4910328"/>
            <a:ext cx="128016" cy="128016"/>
          </a:xfrm>
          <a:prstGeom prst="rect">
            <a:avLst/>
          </a:prstGeom>
          <a:solidFill>
            <a:srgbClr val="3FD0C9"/>
          </a:solidFill>
          <a:ln/>
        </p:spPr>
        <p:txBody>
          <a:bodyPr/>
          <a:lstStyle/>
          <a:p>
            <a:endParaRPr lang="en-SE"/>
          </a:p>
        </p:txBody>
      </p:sp>
      <p:sp>
        <p:nvSpPr>
          <p:cNvPr id="16" name="Text 14"/>
          <p:cNvSpPr/>
          <p:nvPr/>
        </p:nvSpPr>
        <p:spPr>
          <a:xfrm>
            <a:off x="2971800" y="4809744"/>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engine tuning knob that sizes the buffer</a:t>
            </a:r>
            <a:endParaRPr lang="en-US" sz="1250" dirty="0"/>
          </a:p>
        </p:txBody>
      </p:sp>
      <p:sp>
        <p:nvSpPr>
          <p:cNvPr id="17" name="Shape 15"/>
          <p:cNvSpPr/>
          <p:nvPr/>
        </p:nvSpPr>
        <p:spPr>
          <a:xfrm>
            <a:off x="2651760" y="5294376"/>
            <a:ext cx="128016" cy="128016"/>
          </a:xfrm>
          <a:prstGeom prst="rect">
            <a:avLst/>
          </a:prstGeom>
          <a:solidFill>
            <a:srgbClr val="3FD0C9"/>
          </a:solidFill>
          <a:ln/>
        </p:spPr>
        <p:txBody>
          <a:bodyPr/>
          <a:lstStyle/>
          <a:p>
            <a:endParaRPr lang="en-SE"/>
          </a:p>
        </p:txBody>
      </p:sp>
      <p:sp>
        <p:nvSpPr>
          <p:cNvPr id="18" name="Text 16"/>
          <p:cNvSpPr/>
          <p:nvPr/>
        </p:nvSpPr>
        <p:spPr>
          <a:xfrm>
            <a:off x="2971800" y="5193792"/>
            <a:ext cx="7863840" cy="329184"/>
          </a:xfrm>
          <a:prstGeom prst="rect">
            <a:avLst/>
          </a:prstGeom>
          <a:noFill/>
          <a:ln/>
        </p:spPr>
        <p:txBody>
          <a:bodyPr wrap="square" lIns="0" tIns="0" rIns="0" bIns="0" rtlCol="0" anchor="ctr"/>
          <a:lstStyle/>
          <a:p>
            <a:pPr marL="0" indent="0">
              <a:buNone/>
            </a:pPr>
            <a:r>
              <a:rPr lang="en-US" sz="1250" dirty="0">
                <a:solidFill>
                  <a:srgbClr val="6E7C87"/>
                </a:solidFill>
                <a:latin typeface="Calibri" pitchFamily="34" charset="0"/>
                <a:ea typeface="Calibri" pitchFamily="34" charset="-122"/>
                <a:cs typeface="Calibri" pitchFamily="34" charset="-120"/>
              </a:rPr>
              <a:t>The address constant that is not in YAML</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10 · CONFIGURATION</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48</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THE CONFIGURATION MODEL</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What you author is not what the exchange runs</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Understanding this pipeline prevents the classic failure: editing a file that nothing reads.</a:t>
            </a:r>
            <a:endParaRPr lang="en-US" sz="1450" dirty="0"/>
          </a:p>
        </p:txBody>
      </p:sp>
      <p:sp>
        <p:nvSpPr>
          <p:cNvPr id="8" name="Shape 6"/>
          <p:cNvSpPr/>
          <p:nvPr/>
        </p:nvSpPr>
        <p:spPr>
          <a:xfrm>
            <a:off x="685800" y="2514600"/>
            <a:ext cx="2743200" cy="1097280"/>
          </a:xfrm>
          <a:prstGeom prst="roundRect">
            <a:avLst>
              <a:gd name="adj" fmla="val 6667"/>
            </a:avLst>
          </a:prstGeom>
          <a:solidFill>
            <a:srgbClr val="252B31"/>
          </a:solidFill>
          <a:ln w="25400">
            <a:solidFill>
              <a:srgbClr val="F0A202"/>
            </a:solidFill>
            <a:prstDash val="solid"/>
          </a:ln>
        </p:spPr>
        <p:txBody>
          <a:bodyPr/>
          <a:lstStyle/>
          <a:p>
            <a:endParaRPr lang="en-SE"/>
          </a:p>
        </p:txBody>
      </p:sp>
      <p:sp>
        <p:nvSpPr>
          <p:cNvPr id="9" name="Text 7"/>
          <p:cNvSpPr/>
          <p:nvPr/>
        </p:nvSpPr>
        <p:spPr>
          <a:xfrm>
            <a:off x="777240" y="2514600"/>
            <a:ext cx="2560320" cy="1097280"/>
          </a:xfrm>
          <a:prstGeom prst="rect">
            <a:avLst/>
          </a:prstGeom>
          <a:noFill/>
          <a:ln/>
        </p:spPr>
        <p:txBody>
          <a:bodyPr wrap="square" lIns="0" tIns="0" rIns="0" bIns="0" rtlCol="0" anchor="ctr"/>
          <a:lstStyle/>
          <a:p>
            <a:pPr marL="0" indent="0" algn="ctr">
              <a:lnSpc>
                <a:spcPct val="112000"/>
              </a:lnSpc>
              <a:buNone/>
            </a:pPr>
            <a:r>
              <a:rPr lang="en-US" sz="1400" b="1" dirty="0">
                <a:solidFill>
                  <a:srgbClr val="F0A202"/>
                </a:solidFill>
                <a:latin typeface="Trebuchet MS" pitchFamily="34" charset="0"/>
                <a:ea typeface="Trebuchet MS" pitchFamily="34" charset="-122"/>
                <a:cs typeface="Trebuchet MS" pitchFamily="34" charset="-120"/>
              </a:rPr>
              <a:t>engine_config.yaml</a:t>
            </a:r>
            <a:endParaRPr lang="en-US" sz="1400" dirty="0"/>
          </a:p>
          <a:p>
            <a:pPr marL="0" indent="0" algn="ctr">
              <a:lnSpc>
                <a:spcPct val="112000"/>
              </a:lnSpc>
              <a:buNone/>
            </a:pPr>
            <a:r>
              <a:rPr lang="en-US" sz="1000" dirty="0">
                <a:solidFill>
                  <a:srgbClr val="97A4AE"/>
                </a:solidFill>
                <a:latin typeface="Consolas" pitchFamily="34" charset="0"/>
                <a:ea typeface="Consolas" pitchFamily="34" charset="-122"/>
                <a:cs typeface="Consolas" pitchFamily="34" charset="-120"/>
              </a:rPr>
              <a:t>what you author</a:t>
            </a:r>
            <a:endParaRPr lang="en-US" sz="1400" dirty="0"/>
          </a:p>
        </p:txBody>
      </p:sp>
      <p:sp>
        <p:nvSpPr>
          <p:cNvPr id="10" name="Shape 8"/>
          <p:cNvSpPr/>
          <p:nvPr/>
        </p:nvSpPr>
        <p:spPr>
          <a:xfrm>
            <a:off x="3520440" y="3063240"/>
            <a:ext cx="1005840" cy="0"/>
          </a:xfrm>
          <a:prstGeom prst="line">
            <a:avLst/>
          </a:prstGeom>
          <a:noFill/>
          <a:ln w="22225">
            <a:solidFill>
              <a:srgbClr val="6E7C87"/>
            </a:solidFill>
            <a:prstDash val="solid"/>
            <a:tailEnd type="triangle"/>
          </a:ln>
        </p:spPr>
        <p:txBody>
          <a:bodyPr/>
          <a:lstStyle/>
          <a:p>
            <a:endParaRPr lang="en-SE"/>
          </a:p>
        </p:txBody>
      </p:sp>
      <p:sp>
        <p:nvSpPr>
          <p:cNvPr id="11" name="Text 9"/>
          <p:cNvSpPr/>
          <p:nvPr/>
        </p:nvSpPr>
        <p:spPr>
          <a:xfrm>
            <a:off x="3383280" y="2660904"/>
            <a:ext cx="1280160" cy="274320"/>
          </a:xfrm>
          <a:prstGeom prst="rect">
            <a:avLst/>
          </a:prstGeom>
          <a:noFill/>
          <a:ln/>
        </p:spPr>
        <p:txBody>
          <a:bodyPr wrap="square" lIns="0" tIns="0" rIns="0" bIns="0" rtlCol="0" anchor="ctr"/>
          <a:lstStyle/>
          <a:p>
            <a:pPr marL="0" indent="0" algn="ctr">
              <a:buNone/>
            </a:pPr>
            <a:r>
              <a:rPr lang="en-US" sz="950" dirty="0">
                <a:solidFill>
                  <a:srgbClr val="6E7C87"/>
                </a:solidFill>
                <a:latin typeface="Consolas" pitchFamily="34" charset="0"/>
                <a:ea typeface="Consolas" pitchFamily="34" charset="-122"/>
                <a:cs typeface="Consolas" pitchFamily="34" charset="-120"/>
              </a:rPr>
              <a:t>pm-config-deploy</a:t>
            </a:r>
            <a:endParaRPr lang="en-US" sz="950" dirty="0"/>
          </a:p>
        </p:txBody>
      </p:sp>
      <p:sp>
        <p:nvSpPr>
          <p:cNvPr id="12" name="Shape 10"/>
          <p:cNvSpPr/>
          <p:nvPr/>
        </p:nvSpPr>
        <p:spPr>
          <a:xfrm>
            <a:off x="4617720" y="2514600"/>
            <a:ext cx="2926080" cy="1097280"/>
          </a:xfrm>
          <a:prstGeom prst="roundRect">
            <a:avLst>
              <a:gd name="adj" fmla="val 6667"/>
            </a:avLst>
          </a:prstGeom>
          <a:solidFill>
            <a:srgbClr val="252B31"/>
          </a:solidFill>
          <a:ln w="19050">
            <a:solidFill>
              <a:srgbClr val="3FD0C9"/>
            </a:solidFill>
            <a:prstDash val="solid"/>
          </a:ln>
        </p:spPr>
        <p:txBody>
          <a:bodyPr/>
          <a:lstStyle/>
          <a:p>
            <a:endParaRPr lang="en-SE"/>
          </a:p>
        </p:txBody>
      </p:sp>
      <p:sp>
        <p:nvSpPr>
          <p:cNvPr id="13" name="Text 11"/>
          <p:cNvSpPr/>
          <p:nvPr/>
        </p:nvSpPr>
        <p:spPr>
          <a:xfrm>
            <a:off x="4709160" y="2514600"/>
            <a:ext cx="2743200" cy="1097280"/>
          </a:xfrm>
          <a:prstGeom prst="rect">
            <a:avLst/>
          </a:prstGeom>
          <a:noFill/>
          <a:ln/>
        </p:spPr>
        <p:txBody>
          <a:bodyPr wrap="square" lIns="0" tIns="0" rIns="0" bIns="0" rtlCol="0" anchor="ctr"/>
          <a:lstStyle/>
          <a:p>
            <a:pPr marL="0" indent="0" algn="ctr">
              <a:lnSpc>
                <a:spcPct val="112000"/>
              </a:lnSpc>
              <a:buNone/>
            </a:pPr>
            <a:r>
              <a:rPr lang="en-US" sz="1300" b="1" dirty="0">
                <a:solidFill>
                  <a:srgbClr val="3FD0C9"/>
                </a:solidFill>
                <a:latin typeface="Trebuchet MS" pitchFamily="34" charset="0"/>
                <a:ea typeface="Trebuchet MS" pitchFamily="34" charset="-122"/>
                <a:cs typeface="Trebuchet MS" pitchFamily="34" charset="-120"/>
              </a:rPr>
              <a:t>validate · resolve</a:t>
            </a:r>
            <a:endParaRPr lang="en-US" sz="1300" dirty="0"/>
          </a:p>
          <a:p>
            <a:pPr marL="0" indent="0" algn="ctr">
              <a:lnSpc>
                <a:spcPct val="112000"/>
              </a:lnSpc>
              <a:buNone/>
            </a:pPr>
            <a:r>
              <a:rPr lang="en-US" sz="1300" b="1" dirty="0">
                <a:solidFill>
                  <a:srgbClr val="3FD0C9"/>
                </a:solidFill>
                <a:latin typeface="Trebuchet MS" pitchFamily="34" charset="0"/>
                <a:ea typeface="Trebuchet MS" pitchFamily="34" charset="-122"/>
                <a:cs typeface="Trebuchet MS" pitchFamily="34" charset="-120"/>
              </a:rPr>
              <a:t>defaults · install</a:t>
            </a:r>
            <a:endParaRPr lang="en-US" sz="1300" dirty="0"/>
          </a:p>
          <a:p>
            <a:pPr marL="0" indent="0" algn="ctr">
              <a:lnSpc>
                <a:spcPct val="112000"/>
              </a:lnSpc>
              <a:buNone/>
            </a:pPr>
            <a:r>
              <a:rPr lang="en-US" sz="1000" dirty="0">
                <a:solidFill>
                  <a:srgbClr val="97A4AE"/>
                </a:solidFill>
                <a:latin typeface="Consolas" pitchFamily="34" charset="0"/>
                <a:ea typeface="Consolas" pitchFamily="34" charset="-122"/>
                <a:cs typeface="Consolas" pitchFamily="34" charset="-120"/>
              </a:rPr>
              <a:t>atomically</a:t>
            </a:r>
            <a:endParaRPr lang="en-US" sz="1300" dirty="0"/>
          </a:p>
        </p:txBody>
      </p:sp>
      <p:sp>
        <p:nvSpPr>
          <p:cNvPr id="14" name="Shape 12"/>
          <p:cNvSpPr/>
          <p:nvPr/>
        </p:nvSpPr>
        <p:spPr>
          <a:xfrm>
            <a:off x="7635240" y="3063240"/>
            <a:ext cx="1005840" cy="0"/>
          </a:xfrm>
          <a:prstGeom prst="line">
            <a:avLst/>
          </a:prstGeom>
          <a:noFill/>
          <a:ln w="22225">
            <a:solidFill>
              <a:srgbClr val="6E7C87"/>
            </a:solidFill>
            <a:prstDash val="solid"/>
            <a:tailEnd type="triangle"/>
          </a:ln>
        </p:spPr>
        <p:txBody>
          <a:bodyPr/>
          <a:lstStyle/>
          <a:p>
            <a:endParaRPr lang="en-SE"/>
          </a:p>
        </p:txBody>
      </p:sp>
      <p:sp>
        <p:nvSpPr>
          <p:cNvPr id="15" name="Shape 13"/>
          <p:cNvSpPr/>
          <p:nvPr/>
        </p:nvSpPr>
        <p:spPr>
          <a:xfrm>
            <a:off x="8732520" y="2514600"/>
            <a:ext cx="2770632" cy="1097280"/>
          </a:xfrm>
          <a:prstGeom prst="roundRect">
            <a:avLst>
              <a:gd name="adj" fmla="val 6667"/>
            </a:avLst>
          </a:prstGeom>
          <a:solidFill>
            <a:srgbClr val="252B31"/>
          </a:solidFill>
          <a:ln w="25400">
            <a:solidFill>
              <a:srgbClr val="9B8CFF"/>
            </a:solidFill>
            <a:prstDash val="solid"/>
          </a:ln>
        </p:spPr>
        <p:txBody>
          <a:bodyPr/>
          <a:lstStyle/>
          <a:p>
            <a:endParaRPr lang="en-SE"/>
          </a:p>
        </p:txBody>
      </p:sp>
      <p:sp>
        <p:nvSpPr>
          <p:cNvPr id="16" name="Text 14"/>
          <p:cNvSpPr/>
          <p:nvPr/>
        </p:nvSpPr>
        <p:spPr>
          <a:xfrm>
            <a:off x="8823960" y="2514600"/>
            <a:ext cx="2587752" cy="1097280"/>
          </a:xfrm>
          <a:prstGeom prst="rect">
            <a:avLst/>
          </a:prstGeom>
          <a:noFill/>
          <a:ln/>
        </p:spPr>
        <p:txBody>
          <a:bodyPr wrap="square" lIns="0" tIns="0" rIns="0" bIns="0" rtlCol="0" anchor="ctr"/>
          <a:lstStyle/>
          <a:p>
            <a:pPr marL="0" indent="0" algn="ctr">
              <a:lnSpc>
                <a:spcPct val="112000"/>
              </a:lnSpc>
              <a:buNone/>
            </a:pPr>
            <a:r>
              <a:rPr lang="en-US" sz="1400" b="1" dirty="0">
                <a:solidFill>
                  <a:srgbClr val="9B8CFF"/>
                </a:solidFill>
                <a:latin typeface="Trebuchet MS" pitchFamily="34" charset="0"/>
                <a:ea typeface="Trebuchet MS" pitchFamily="34" charset="-122"/>
                <a:cs typeface="Trebuchet MS" pitchFamily="34" charset="-120"/>
              </a:rPr>
              <a:t>engine_config.json</a:t>
            </a:r>
            <a:endParaRPr lang="en-US" sz="1400" dirty="0"/>
          </a:p>
          <a:p>
            <a:pPr marL="0" indent="0" algn="ctr">
              <a:lnSpc>
                <a:spcPct val="112000"/>
              </a:lnSpc>
              <a:buNone/>
            </a:pPr>
            <a:r>
              <a:rPr lang="en-US" sz="1000" dirty="0">
                <a:solidFill>
                  <a:srgbClr val="97A4AE"/>
                </a:solidFill>
                <a:latin typeface="Consolas" pitchFamily="34" charset="0"/>
                <a:ea typeface="Consolas" pitchFamily="34" charset="-122"/>
                <a:cs typeface="Consolas" pitchFamily="34" charset="-120"/>
              </a:rPr>
              <a:t>what every process reads</a:t>
            </a:r>
            <a:endParaRPr lang="en-US" sz="1400" dirty="0"/>
          </a:p>
        </p:txBody>
      </p:sp>
      <p:sp>
        <p:nvSpPr>
          <p:cNvPr id="17" name="Shape 15"/>
          <p:cNvSpPr/>
          <p:nvPr/>
        </p:nvSpPr>
        <p:spPr>
          <a:xfrm>
            <a:off x="685800" y="3886200"/>
            <a:ext cx="3423818" cy="1463040"/>
          </a:xfrm>
          <a:prstGeom prst="roundRect">
            <a:avLst>
              <a:gd name="adj" fmla="val 3750"/>
            </a:avLst>
          </a:prstGeom>
          <a:solidFill>
            <a:srgbClr val="252B31"/>
          </a:solidFill>
          <a:ln w="12700">
            <a:solidFill>
              <a:srgbClr val="3A434B"/>
            </a:solidFill>
            <a:prstDash val="solid"/>
          </a:ln>
        </p:spPr>
        <p:txBody>
          <a:bodyPr/>
          <a:lstStyle/>
          <a:p>
            <a:endParaRPr lang="en-SE"/>
          </a:p>
        </p:txBody>
      </p:sp>
      <p:sp>
        <p:nvSpPr>
          <p:cNvPr id="18" name="Text 16"/>
          <p:cNvSpPr/>
          <p:nvPr/>
        </p:nvSpPr>
        <p:spPr>
          <a:xfrm>
            <a:off x="941832" y="4142232"/>
            <a:ext cx="2911754" cy="310896"/>
          </a:xfrm>
          <a:prstGeom prst="rect">
            <a:avLst/>
          </a:prstGeom>
          <a:noFill/>
          <a:ln/>
        </p:spPr>
        <p:txBody>
          <a:bodyPr wrap="square" lIns="0" tIns="0" rIns="0" bIns="0" rtlCol="0" anchor="t"/>
          <a:lstStyle/>
          <a:p>
            <a:pPr marL="0" indent="0">
              <a:buNone/>
            </a:pPr>
            <a:r>
              <a:rPr lang="en-US" sz="1400" b="1" dirty="0">
                <a:solidFill>
                  <a:srgbClr val="F0A202"/>
                </a:solidFill>
                <a:latin typeface="Trebuchet MS" pitchFamily="34" charset="0"/>
                <a:ea typeface="Trebuchet MS" pitchFamily="34" charset="-122"/>
                <a:cs typeface="Trebuchet MS" pitchFamily="34" charset="-120"/>
              </a:rPr>
              <a:t>Author it under version control</a:t>
            </a:r>
            <a:endParaRPr lang="en-US" sz="1400" dirty="0"/>
          </a:p>
        </p:txBody>
      </p:sp>
      <p:sp>
        <p:nvSpPr>
          <p:cNvPr id="19" name="Text 17"/>
          <p:cNvSpPr/>
          <p:nvPr/>
        </p:nvSpPr>
        <p:spPr>
          <a:xfrm>
            <a:off x="941832" y="4526280"/>
            <a:ext cx="2911754" cy="65836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The YAML lives wherever suits you — edit it, review it, diff it like any other source file.</a:t>
            </a:r>
            <a:endParaRPr lang="en-US" sz="1250" dirty="0"/>
          </a:p>
        </p:txBody>
      </p:sp>
      <p:sp>
        <p:nvSpPr>
          <p:cNvPr id="20" name="Shape 18"/>
          <p:cNvSpPr/>
          <p:nvPr/>
        </p:nvSpPr>
        <p:spPr>
          <a:xfrm>
            <a:off x="4383938" y="3886200"/>
            <a:ext cx="3423818" cy="1463040"/>
          </a:xfrm>
          <a:prstGeom prst="roundRect">
            <a:avLst>
              <a:gd name="adj" fmla="val 3750"/>
            </a:avLst>
          </a:prstGeom>
          <a:solidFill>
            <a:srgbClr val="252B31"/>
          </a:solidFill>
          <a:ln w="12700">
            <a:solidFill>
              <a:srgbClr val="3A434B"/>
            </a:solidFill>
            <a:prstDash val="solid"/>
          </a:ln>
        </p:spPr>
        <p:txBody>
          <a:bodyPr/>
          <a:lstStyle/>
          <a:p>
            <a:endParaRPr lang="en-SE"/>
          </a:p>
        </p:txBody>
      </p:sp>
      <p:sp>
        <p:nvSpPr>
          <p:cNvPr id="21" name="Text 19"/>
          <p:cNvSpPr/>
          <p:nvPr/>
        </p:nvSpPr>
        <p:spPr>
          <a:xfrm>
            <a:off x="4639970" y="4142232"/>
            <a:ext cx="2911754" cy="310896"/>
          </a:xfrm>
          <a:prstGeom prst="rect">
            <a:avLst/>
          </a:prstGeom>
          <a:noFill/>
          <a:ln/>
        </p:spPr>
        <p:txBody>
          <a:bodyPr wrap="square" lIns="0" tIns="0" rIns="0" bIns="0" rtlCol="0" anchor="t"/>
          <a:lstStyle/>
          <a:p>
            <a:pPr marL="0" indent="0">
              <a:buNone/>
            </a:pPr>
            <a:r>
              <a:rPr lang="en-US" sz="1400" b="1" dirty="0">
                <a:solidFill>
                  <a:srgbClr val="3FD0C9"/>
                </a:solidFill>
                <a:latin typeface="Trebuchet MS" pitchFamily="34" charset="0"/>
                <a:ea typeface="Trebuchet MS" pitchFamily="34" charset="-122"/>
                <a:cs typeface="Trebuchet MS" pitchFamily="34" charset="-120"/>
              </a:rPr>
              <a:t>Deploy compiles and checks it</a:t>
            </a:r>
            <a:endParaRPr lang="en-US" sz="1400" dirty="0"/>
          </a:p>
        </p:txBody>
      </p:sp>
      <p:sp>
        <p:nvSpPr>
          <p:cNvPr id="22" name="Text 20"/>
          <p:cNvSpPr/>
          <p:nvPr/>
        </p:nvSpPr>
        <p:spPr>
          <a:xfrm>
            <a:off x="4639970" y="4526280"/>
            <a:ext cx="2911754" cy="65836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Validation runs, every default is resolved exactly once, and the result is installed atomically.</a:t>
            </a:r>
            <a:endParaRPr lang="en-US" sz="1250" dirty="0"/>
          </a:p>
        </p:txBody>
      </p:sp>
      <p:sp>
        <p:nvSpPr>
          <p:cNvPr id="23" name="Shape 21"/>
          <p:cNvSpPr/>
          <p:nvPr/>
        </p:nvSpPr>
        <p:spPr>
          <a:xfrm>
            <a:off x="8082077" y="3886200"/>
            <a:ext cx="3423818" cy="1463040"/>
          </a:xfrm>
          <a:prstGeom prst="roundRect">
            <a:avLst>
              <a:gd name="adj" fmla="val 3750"/>
            </a:avLst>
          </a:prstGeom>
          <a:solidFill>
            <a:srgbClr val="252B31"/>
          </a:solidFill>
          <a:ln w="12700">
            <a:solidFill>
              <a:srgbClr val="3A434B"/>
            </a:solidFill>
            <a:prstDash val="solid"/>
          </a:ln>
        </p:spPr>
        <p:txBody>
          <a:bodyPr/>
          <a:lstStyle/>
          <a:p>
            <a:endParaRPr lang="en-SE"/>
          </a:p>
        </p:txBody>
      </p:sp>
      <p:sp>
        <p:nvSpPr>
          <p:cNvPr id="24" name="Text 22"/>
          <p:cNvSpPr/>
          <p:nvPr/>
        </p:nvSpPr>
        <p:spPr>
          <a:xfrm>
            <a:off x="8338109" y="4142232"/>
            <a:ext cx="2911754" cy="310896"/>
          </a:xfrm>
          <a:prstGeom prst="rect">
            <a:avLst/>
          </a:prstGeom>
          <a:noFill/>
          <a:ln/>
        </p:spPr>
        <p:txBody>
          <a:bodyPr wrap="square" lIns="0" tIns="0" rIns="0" bIns="0" rtlCol="0" anchor="t"/>
          <a:lstStyle/>
          <a:p>
            <a:pPr marL="0" indent="0">
              <a:buNone/>
            </a:pPr>
            <a:r>
              <a:rPr lang="en-US" sz="1400" b="1" dirty="0">
                <a:solidFill>
                  <a:srgbClr val="9B8CFF"/>
                </a:solidFill>
                <a:latin typeface="Trebuchet MS" pitchFamily="34" charset="0"/>
                <a:ea typeface="Trebuchet MS" pitchFamily="34" charset="-122"/>
                <a:cs typeface="Trebuchet MS" pitchFamily="34" charset="-120"/>
              </a:rPr>
              <a:t>One file, read by everything</a:t>
            </a:r>
            <a:endParaRPr lang="en-US" sz="1400" dirty="0"/>
          </a:p>
        </p:txBody>
      </p:sp>
      <p:sp>
        <p:nvSpPr>
          <p:cNvPr id="25" name="Text 23"/>
          <p:cNvSpPr/>
          <p:nvPr/>
        </p:nvSpPr>
        <p:spPr>
          <a:xfrm>
            <a:off x="8338109" y="4526280"/>
            <a:ext cx="2911754" cy="65836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No process takes a config path, so it is impossible to start two of them against different configurations.</a:t>
            </a:r>
            <a:endParaRPr lang="en-US" sz="1250" dirty="0"/>
          </a:p>
        </p:txBody>
      </p:sp>
      <p:sp>
        <p:nvSpPr>
          <p:cNvPr id="26" name="Shape 24"/>
          <p:cNvSpPr/>
          <p:nvPr/>
        </p:nvSpPr>
        <p:spPr>
          <a:xfrm>
            <a:off x="685800" y="5532120"/>
            <a:ext cx="10820095" cy="658368"/>
          </a:xfrm>
          <a:prstGeom prst="roundRect">
            <a:avLst>
              <a:gd name="adj" fmla="val 8333"/>
            </a:avLst>
          </a:prstGeom>
          <a:solidFill>
            <a:srgbClr val="252B31"/>
          </a:solidFill>
          <a:ln w="19050">
            <a:solidFill>
              <a:srgbClr val="E5566B"/>
            </a:solidFill>
            <a:prstDash val="solid"/>
          </a:ln>
        </p:spPr>
        <p:txBody>
          <a:bodyPr/>
          <a:lstStyle/>
          <a:p>
            <a:endParaRPr lang="en-SE"/>
          </a:p>
        </p:txBody>
      </p:sp>
      <p:sp>
        <p:nvSpPr>
          <p:cNvPr id="27" name="Shape 25"/>
          <p:cNvSpPr/>
          <p:nvPr/>
        </p:nvSpPr>
        <p:spPr>
          <a:xfrm>
            <a:off x="923544" y="5678424"/>
            <a:ext cx="365760" cy="365760"/>
          </a:xfrm>
          <a:prstGeom prst="roundRect">
            <a:avLst>
              <a:gd name="adj" fmla="val 125000"/>
            </a:avLst>
          </a:prstGeom>
          <a:solidFill>
            <a:srgbClr val="E5566B"/>
          </a:solidFill>
          <a:ln/>
        </p:spPr>
        <p:txBody>
          <a:bodyPr/>
          <a:lstStyle/>
          <a:p>
            <a:endParaRPr lang="en-SE"/>
          </a:p>
        </p:txBody>
      </p:sp>
      <p:sp>
        <p:nvSpPr>
          <p:cNvPr id="28" name="Text 26"/>
          <p:cNvSpPr/>
          <p:nvPr/>
        </p:nvSpPr>
        <p:spPr>
          <a:xfrm>
            <a:off x="923544" y="5678424"/>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29" name="Text 27"/>
          <p:cNvSpPr/>
          <p:nvPr/>
        </p:nvSpPr>
        <p:spPr>
          <a:xfrm>
            <a:off x="1453896" y="5678424"/>
            <a:ext cx="9814255" cy="365760"/>
          </a:xfrm>
          <a:prstGeom prst="rect">
            <a:avLst/>
          </a:prstGeom>
          <a:noFill/>
          <a:ln/>
        </p:spPr>
        <p:txBody>
          <a:bodyPr wrap="square" lIns="0" tIns="0" rIns="0" bIns="0" rtlCol="0" anchor="ctr"/>
          <a:lstStyle/>
          <a:p>
            <a:pPr marL="0" indent="0">
              <a:lnSpc>
                <a:spcPct val="110000"/>
              </a:lnSpc>
              <a:buNone/>
            </a:pPr>
            <a:r>
              <a:rPr lang="en-US" sz="1350" b="1" dirty="0">
                <a:solidFill>
                  <a:srgbClr val="E5566B"/>
                </a:solidFill>
                <a:latin typeface="Trebuchet MS" pitchFamily="34" charset="0"/>
                <a:ea typeface="Trebuchet MS" pitchFamily="34" charset="-122"/>
                <a:cs typeface="Trebuchet MS" pitchFamily="34" charset="-120"/>
              </a:rPr>
              <a:t>The mistake this design prevents — and the one it does not</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Processes can no longer disagree about configuration. But editing the YAML and forgetting to deploy still changes nothing at all.</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10 · CONFIGURATION</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49</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WHERE THE DROP COPY SETTINGS LIVE</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Three separate homes, on purpose</a:t>
            </a:r>
            <a:endParaRPr lang="en-US" sz="3100" dirty="0"/>
          </a:p>
        </p:txBody>
      </p:sp>
      <p:sp>
        <p:nvSpPr>
          <p:cNvPr id="7" name="Shape 5"/>
          <p:cNvSpPr/>
          <p:nvPr/>
        </p:nvSpPr>
        <p:spPr>
          <a:xfrm>
            <a:off x="685800" y="2148840"/>
            <a:ext cx="3364992" cy="3108960"/>
          </a:xfrm>
          <a:prstGeom prst="roundRect">
            <a:avLst>
              <a:gd name="adj" fmla="val 1765"/>
            </a:avLst>
          </a:prstGeom>
          <a:solidFill>
            <a:srgbClr val="252B31"/>
          </a:solidFill>
          <a:ln w="12700">
            <a:solidFill>
              <a:srgbClr val="3A434B"/>
            </a:solidFill>
            <a:prstDash val="solid"/>
          </a:ln>
        </p:spPr>
        <p:txBody>
          <a:bodyPr/>
          <a:lstStyle/>
          <a:p>
            <a:endParaRPr lang="en-SE"/>
          </a:p>
        </p:txBody>
      </p:sp>
      <p:sp>
        <p:nvSpPr>
          <p:cNvPr id="8" name="Shape 6"/>
          <p:cNvSpPr/>
          <p:nvPr/>
        </p:nvSpPr>
        <p:spPr>
          <a:xfrm>
            <a:off x="685800" y="2148840"/>
            <a:ext cx="3364992" cy="91440"/>
          </a:xfrm>
          <a:prstGeom prst="rect">
            <a:avLst/>
          </a:prstGeom>
          <a:solidFill>
            <a:srgbClr val="3FD0C9"/>
          </a:solidFill>
          <a:ln/>
        </p:spPr>
        <p:txBody>
          <a:bodyPr/>
          <a:lstStyle/>
          <a:p>
            <a:endParaRPr lang="en-SE"/>
          </a:p>
        </p:txBody>
      </p:sp>
      <p:sp>
        <p:nvSpPr>
          <p:cNvPr id="9" name="Text 7"/>
          <p:cNvSpPr/>
          <p:nvPr/>
        </p:nvSpPr>
        <p:spPr>
          <a:xfrm>
            <a:off x="941832" y="2395728"/>
            <a:ext cx="2907792" cy="384048"/>
          </a:xfrm>
          <a:prstGeom prst="rect">
            <a:avLst/>
          </a:prstGeom>
          <a:noFill/>
          <a:ln/>
        </p:spPr>
        <p:txBody>
          <a:bodyPr wrap="square" lIns="0" tIns="0" rIns="0" bIns="0" rtlCol="0" anchor="ctr"/>
          <a:lstStyle/>
          <a:p>
            <a:pPr marL="0" indent="0">
              <a:buNone/>
            </a:pPr>
            <a:r>
              <a:rPr lang="en-US" sz="1550" b="1" dirty="0">
                <a:solidFill>
                  <a:srgbClr val="3FD0C9"/>
                </a:solidFill>
                <a:latin typeface="Consolas" pitchFamily="34" charset="0"/>
                <a:ea typeface="Consolas" pitchFamily="34" charset="-122"/>
                <a:cs typeface="Consolas" pitchFamily="34" charset="-120"/>
              </a:rPr>
              <a:t>dc_gateway</a:t>
            </a:r>
            <a:endParaRPr lang="en-US" sz="1550" dirty="0"/>
          </a:p>
        </p:txBody>
      </p:sp>
      <p:sp>
        <p:nvSpPr>
          <p:cNvPr id="10" name="Text 8"/>
          <p:cNvSpPr/>
          <p:nvPr/>
        </p:nvSpPr>
        <p:spPr>
          <a:xfrm>
            <a:off x="941832" y="2788920"/>
            <a:ext cx="2907792" cy="292608"/>
          </a:xfrm>
          <a:prstGeom prst="rect">
            <a:avLst/>
          </a:prstGeom>
          <a:noFill/>
          <a:ln/>
        </p:spPr>
        <p:txBody>
          <a:bodyPr wrap="square" lIns="0" tIns="0" rIns="0" bIns="0" rtlCol="0" anchor="ctr"/>
          <a:lstStyle/>
          <a:p>
            <a:pPr marL="0" indent="0">
              <a:buNone/>
            </a:pPr>
            <a:r>
              <a:rPr lang="en-US" sz="1100" dirty="0">
                <a:solidFill>
                  <a:srgbClr val="6E7C87"/>
                </a:solidFill>
                <a:latin typeface="Calibri" pitchFamily="34" charset="0"/>
                <a:ea typeface="Calibri" pitchFamily="34" charset="-122"/>
                <a:cs typeface="Calibri" pitchFamily="34" charset="-120"/>
              </a:rPr>
              <a:t>Top-level section, optional</a:t>
            </a:r>
            <a:endParaRPr lang="en-US" sz="1100" dirty="0"/>
          </a:p>
        </p:txBody>
      </p:sp>
      <p:sp>
        <p:nvSpPr>
          <p:cNvPr id="11" name="Text 9"/>
          <p:cNvSpPr/>
          <p:nvPr/>
        </p:nvSpPr>
        <p:spPr>
          <a:xfrm>
            <a:off x="941832" y="3200400"/>
            <a:ext cx="2907792" cy="123444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Read by the DC Gateway process only. Bind address, port, heartbeat, idle timeout and the per-client queue limit.</a:t>
            </a:r>
            <a:endParaRPr lang="en-US" sz="1250" dirty="0"/>
          </a:p>
        </p:txBody>
      </p:sp>
      <p:sp>
        <p:nvSpPr>
          <p:cNvPr id="12" name="Text 10"/>
          <p:cNvSpPr/>
          <p:nvPr/>
        </p:nvSpPr>
        <p:spPr>
          <a:xfrm>
            <a:off x="941832" y="4526280"/>
            <a:ext cx="2907792" cy="594360"/>
          </a:xfrm>
          <a:prstGeom prst="rect">
            <a:avLst/>
          </a:prstGeom>
          <a:noFill/>
          <a:ln/>
        </p:spPr>
        <p:txBody>
          <a:bodyPr wrap="square" lIns="0" tIns="0" rIns="0" bIns="0" rtlCol="0" anchor="t"/>
          <a:lstStyle/>
          <a:p>
            <a:pPr marL="0" indent="0">
              <a:lnSpc>
                <a:spcPct val="108000"/>
              </a:lnSpc>
              <a:buNone/>
            </a:pPr>
            <a:r>
              <a:rPr lang="en-US" sz="1250" b="1" dirty="0">
                <a:solidFill>
                  <a:srgbClr val="ECF1F5"/>
                </a:solidFill>
                <a:latin typeface="Trebuchet MS" pitchFamily="34" charset="0"/>
                <a:ea typeface="Trebuchet MS" pitchFamily="34" charset="-122"/>
                <a:cs typeface="Trebuchet MS" pitchFamily="34" charset="-120"/>
              </a:rPr>
              <a:t>Affects how clients connect to the relay.</a:t>
            </a:r>
            <a:endParaRPr lang="en-US" sz="1250" dirty="0"/>
          </a:p>
        </p:txBody>
      </p:sp>
      <p:sp>
        <p:nvSpPr>
          <p:cNvPr id="13" name="Shape 11"/>
          <p:cNvSpPr/>
          <p:nvPr/>
        </p:nvSpPr>
        <p:spPr>
          <a:xfrm>
            <a:off x="4325112" y="2148840"/>
            <a:ext cx="3364992" cy="3108960"/>
          </a:xfrm>
          <a:prstGeom prst="roundRect">
            <a:avLst>
              <a:gd name="adj" fmla="val 1765"/>
            </a:avLst>
          </a:prstGeom>
          <a:solidFill>
            <a:srgbClr val="252B31"/>
          </a:solidFill>
          <a:ln w="12700">
            <a:solidFill>
              <a:srgbClr val="3A434B"/>
            </a:solidFill>
            <a:prstDash val="solid"/>
          </a:ln>
        </p:spPr>
        <p:txBody>
          <a:bodyPr/>
          <a:lstStyle/>
          <a:p>
            <a:endParaRPr lang="en-SE"/>
          </a:p>
        </p:txBody>
      </p:sp>
      <p:sp>
        <p:nvSpPr>
          <p:cNvPr id="14" name="Shape 12"/>
          <p:cNvSpPr/>
          <p:nvPr/>
        </p:nvSpPr>
        <p:spPr>
          <a:xfrm>
            <a:off x="4325112" y="2148840"/>
            <a:ext cx="3364992" cy="91440"/>
          </a:xfrm>
          <a:prstGeom prst="rect">
            <a:avLst/>
          </a:prstGeom>
          <a:solidFill>
            <a:srgbClr val="F0A202"/>
          </a:solidFill>
          <a:ln/>
        </p:spPr>
        <p:txBody>
          <a:bodyPr/>
          <a:lstStyle/>
          <a:p>
            <a:endParaRPr lang="en-SE"/>
          </a:p>
        </p:txBody>
      </p:sp>
      <p:sp>
        <p:nvSpPr>
          <p:cNvPr id="15" name="Text 13"/>
          <p:cNvSpPr/>
          <p:nvPr/>
        </p:nvSpPr>
        <p:spPr>
          <a:xfrm>
            <a:off x="4581144" y="2395728"/>
            <a:ext cx="2907792" cy="384048"/>
          </a:xfrm>
          <a:prstGeom prst="rect">
            <a:avLst/>
          </a:prstGeom>
          <a:noFill/>
          <a:ln/>
        </p:spPr>
        <p:txBody>
          <a:bodyPr wrap="square" lIns="0" tIns="0" rIns="0" bIns="0" rtlCol="0" anchor="ctr"/>
          <a:lstStyle/>
          <a:p>
            <a:pPr marL="0" indent="0">
              <a:buNone/>
            </a:pPr>
            <a:r>
              <a:rPr lang="en-US" sz="1550" b="1" dirty="0">
                <a:solidFill>
                  <a:srgbClr val="F0A202"/>
                </a:solidFill>
                <a:latin typeface="Consolas" pitchFamily="34" charset="0"/>
                <a:ea typeface="Consolas" pitchFamily="34" charset="-122"/>
                <a:cs typeface="Consolas" pitchFamily="34" charset="-120"/>
              </a:rPr>
              <a:t>engine_tuning</a:t>
            </a:r>
            <a:endParaRPr lang="en-US" sz="1550" dirty="0"/>
          </a:p>
        </p:txBody>
      </p:sp>
      <p:sp>
        <p:nvSpPr>
          <p:cNvPr id="16" name="Text 14"/>
          <p:cNvSpPr/>
          <p:nvPr/>
        </p:nvSpPr>
        <p:spPr>
          <a:xfrm>
            <a:off x="4581144" y="2788920"/>
            <a:ext cx="2907792" cy="292608"/>
          </a:xfrm>
          <a:prstGeom prst="rect">
            <a:avLst/>
          </a:prstGeom>
          <a:noFill/>
          <a:ln/>
        </p:spPr>
        <p:txBody>
          <a:bodyPr wrap="square" lIns="0" tIns="0" rIns="0" bIns="0" rtlCol="0" anchor="ctr"/>
          <a:lstStyle/>
          <a:p>
            <a:pPr marL="0" indent="0">
              <a:buNone/>
            </a:pPr>
            <a:r>
              <a:rPr lang="en-US" sz="1100" dirty="0">
                <a:solidFill>
                  <a:srgbClr val="6E7C87"/>
                </a:solidFill>
                <a:latin typeface="Calibri" pitchFamily="34" charset="0"/>
                <a:ea typeface="Calibri" pitchFamily="34" charset="-122"/>
                <a:cs typeface="Calibri" pitchFamily="34" charset="-120"/>
              </a:rPr>
              <a:t>Top-level section, optional</a:t>
            </a:r>
            <a:endParaRPr lang="en-US" sz="1100" dirty="0"/>
          </a:p>
        </p:txBody>
      </p:sp>
      <p:sp>
        <p:nvSpPr>
          <p:cNvPr id="17" name="Text 15"/>
          <p:cNvSpPr/>
          <p:nvPr/>
        </p:nvSpPr>
        <p:spPr>
          <a:xfrm>
            <a:off x="4581144" y="3200400"/>
            <a:ext cx="2907792" cy="123444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Read by the engine. Contains drop_copy_buffer_size, which sets how many events are kept for replay.</a:t>
            </a:r>
            <a:endParaRPr lang="en-US" sz="1250" dirty="0"/>
          </a:p>
        </p:txBody>
      </p:sp>
      <p:sp>
        <p:nvSpPr>
          <p:cNvPr id="18" name="Text 16"/>
          <p:cNvSpPr/>
          <p:nvPr/>
        </p:nvSpPr>
        <p:spPr>
          <a:xfrm>
            <a:off x="4581144" y="4526280"/>
            <a:ext cx="2907792" cy="594360"/>
          </a:xfrm>
          <a:prstGeom prst="rect">
            <a:avLst/>
          </a:prstGeom>
          <a:noFill/>
          <a:ln/>
        </p:spPr>
        <p:txBody>
          <a:bodyPr wrap="square" lIns="0" tIns="0" rIns="0" bIns="0" rtlCol="0" anchor="t"/>
          <a:lstStyle/>
          <a:p>
            <a:pPr marL="0" indent="0">
              <a:lnSpc>
                <a:spcPct val="108000"/>
              </a:lnSpc>
              <a:buNone/>
            </a:pPr>
            <a:r>
              <a:rPr lang="en-US" sz="1250" b="1" dirty="0">
                <a:solidFill>
                  <a:srgbClr val="ECF1F5"/>
                </a:solidFill>
                <a:latin typeface="Trebuchet MS" pitchFamily="34" charset="0"/>
                <a:ea typeface="Trebuchet MS" pitchFamily="34" charset="-122"/>
                <a:cs typeface="Trebuchet MS" pitchFamily="34" charset="-120"/>
              </a:rPr>
              <a:t>Affects how much history the engine remembers.</a:t>
            </a:r>
            <a:endParaRPr lang="en-US" sz="1250" dirty="0"/>
          </a:p>
        </p:txBody>
      </p:sp>
      <p:sp>
        <p:nvSpPr>
          <p:cNvPr id="19" name="Shape 17"/>
          <p:cNvSpPr/>
          <p:nvPr/>
        </p:nvSpPr>
        <p:spPr>
          <a:xfrm>
            <a:off x="7964424" y="2148840"/>
            <a:ext cx="3364992" cy="3108960"/>
          </a:xfrm>
          <a:prstGeom prst="roundRect">
            <a:avLst>
              <a:gd name="adj" fmla="val 1765"/>
            </a:avLst>
          </a:prstGeom>
          <a:solidFill>
            <a:srgbClr val="252B31"/>
          </a:solidFill>
          <a:ln w="12700">
            <a:solidFill>
              <a:srgbClr val="3A434B"/>
            </a:solidFill>
            <a:prstDash val="solid"/>
          </a:ln>
        </p:spPr>
        <p:txBody>
          <a:bodyPr/>
          <a:lstStyle/>
          <a:p>
            <a:endParaRPr lang="en-SE"/>
          </a:p>
        </p:txBody>
      </p:sp>
      <p:sp>
        <p:nvSpPr>
          <p:cNvPr id="20" name="Shape 18"/>
          <p:cNvSpPr/>
          <p:nvPr/>
        </p:nvSpPr>
        <p:spPr>
          <a:xfrm>
            <a:off x="7964424" y="2148840"/>
            <a:ext cx="3364992" cy="91440"/>
          </a:xfrm>
          <a:prstGeom prst="rect">
            <a:avLst/>
          </a:prstGeom>
          <a:solidFill>
            <a:srgbClr val="E5566B"/>
          </a:solidFill>
          <a:ln/>
        </p:spPr>
        <p:txBody>
          <a:bodyPr/>
          <a:lstStyle/>
          <a:p>
            <a:endParaRPr lang="en-SE"/>
          </a:p>
        </p:txBody>
      </p:sp>
      <p:sp>
        <p:nvSpPr>
          <p:cNvPr id="21" name="Text 19"/>
          <p:cNvSpPr/>
          <p:nvPr/>
        </p:nvSpPr>
        <p:spPr>
          <a:xfrm>
            <a:off x="8220456" y="2395728"/>
            <a:ext cx="2907792" cy="384048"/>
          </a:xfrm>
          <a:prstGeom prst="rect">
            <a:avLst/>
          </a:prstGeom>
          <a:noFill/>
          <a:ln/>
        </p:spPr>
        <p:txBody>
          <a:bodyPr wrap="square" lIns="0" tIns="0" rIns="0" bIns="0" rtlCol="0" anchor="ctr"/>
          <a:lstStyle/>
          <a:p>
            <a:pPr marL="0" indent="0">
              <a:buNone/>
            </a:pPr>
            <a:r>
              <a:rPr lang="en-US" sz="1550" b="1" dirty="0">
                <a:solidFill>
                  <a:srgbClr val="E5566B"/>
                </a:solidFill>
                <a:latin typeface="Consolas" pitchFamily="34" charset="0"/>
                <a:ea typeface="Consolas" pitchFamily="34" charset="-122"/>
                <a:cs typeface="Consolas" pitchFamily="34" charset="-120"/>
              </a:rPr>
              <a:t>The publish address</a:t>
            </a:r>
            <a:endParaRPr lang="en-US" sz="1550" dirty="0"/>
          </a:p>
        </p:txBody>
      </p:sp>
      <p:sp>
        <p:nvSpPr>
          <p:cNvPr id="22" name="Text 20"/>
          <p:cNvSpPr/>
          <p:nvPr/>
        </p:nvSpPr>
        <p:spPr>
          <a:xfrm>
            <a:off x="8220456" y="2788920"/>
            <a:ext cx="2907792" cy="292608"/>
          </a:xfrm>
          <a:prstGeom prst="rect">
            <a:avLst/>
          </a:prstGeom>
          <a:noFill/>
          <a:ln/>
        </p:spPr>
        <p:txBody>
          <a:bodyPr wrap="square" lIns="0" tIns="0" rIns="0" bIns="0" rtlCol="0" anchor="ctr"/>
          <a:lstStyle/>
          <a:p>
            <a:pPr marL="0" indent="0">
              <a:buNone/>
            </a:pPr>
            <a:r>
              <a:rPr lang="en-US" sz="1100" dirty="0">
                <a:solidFill>
                  <a:srgbClr val="6E7C87"/>
                </a:solidFill>
                <a:latin typeface="Calibri" pitchFamily="34" charset="0"/>
                <a:ea typeface="Calibri" pitchFamily="34" charset="-122"/>
                <a:cs typeface="Calibri" pitchFamily="34" charset="-120"/>
              </a:rPr>
              <a:t>Not in the config file</a:t>
            </a:r>
            <a:endParaRPr lang="en-US" sz="1100" dirty="0"/>
          </a:p>
        </p:txBody>
      </p:sp>
      <p:sp>
        <p:nvSpPr>
          <p:cNvPr id="23" name="Text 21"/>
          <p:cNvSpPr/>
          <p:nvPr/>
        </p:nvSpPr>
        <p:spPr>
          <a:xfrm>
            <a:off x="8220456" y="3200400"/>
            <a:ext cx="2907792" cy="1234440"/>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The drop copy publish address is a constant in the codebase, overridable per run on the relay's command line.</a:t>
            </a:r>
            <a:endParaRPr lang="en-US" sz="1250" dirty="0"/>
          </a:p>
        </p:txBody>
      </p:sp>
      <p:sp>
        <p:nvSpPr>
          <p:cNvPr id="24" name="Text 22"/>
          <p:cNvSpPr/>
          <p:nvPr/>
        </p:nvSpPr>
        <p:spPr>
          <a:xfrm>
            <a:off x="8220456" y="4526280"/>
            <a:ext cx="2907792" cy="594360"/>
          </a:xfrm>
          <a:prstGeom prst="rect">
            <a:avLst/>
          </a:prstGeom>
          <a:noFill/>
          <a:ln/>
        </p:spPr>
        <p:txBody>
          <a:bodyPr wrap="square" lIns="0" tIns="0" rIns="0" bIns="0" rtlCol="0" anchor="t"/>
          <a:lstStyle/>
          <a:p>
            <a:pPr marL="0" indent="0">
              <a:lnSpc>
                <a:spcPct val="108000"/>
              </a:lnSpc>
              <a:buNone/>
            </a:pPr>
            <a:r>
              <a:rPr lang="en-US" sz="1250" b="1" dirty="0">
                <a:solidFill>
                  <a:srgbClr val="ECF1F5"/>
                </a:solidFill>
                <a:latin typeface="Trebuchet MS" pitchFamily="34" charset="0"/>
                <a:ea typeface="Trebuchet MS" pitchFamily="34" charset="-122"/>
                <a:cs typeface="Trebuchet MS" pitchFamily="34" charset="-120"/>
              </a:rPr>
              <a:t>Affects where the feed is published at all.</a:t>
            </a:r>
            <a:endParaRPr lang="en-US" sz="1250" dirty="0"/>
          </a:p>
        </p:txBody>
      </p:sp>
      <p:sp>
        <p:nvSpPr>
          <p:cNvPr id="25" name="Shape 23"/>
          <p:cNvSpPr/>
          <p:nvPr/>
        </p:nvSpPr>
        <p:spPr>
          <a:xfrm>
            <a:off x="685800" y="5440680"/>
            <a:ext cx="10820095" cy="777240"/>
          </a:xfrm>
          <a:prstGeom prst="roundRect">
            <a:avLst>
              <a:gd name="adj" fmla="val 7059"/>
            </a:avLst>
          </a:prstGeom>
          <a:solidFill>
            <a:srgbClr val="252B31"/>
          </a:solidFill>
          <a:ln w="19050">
            <a:solidFill>
              <a:srgbClr val="F0A202"/>
            </a:solidFill>
            <a:prstDash val="solid"/>
          </a:ln>
        </p:spPr>
        <p:txBody>
          <a:bodyPr/>
          <a:lstStyle/>
          <a:p>
            <a:endParaRPr lang="en-SE"/>
          </a:p>
        </p:txBody>
      </p:sp>
      <p:sp>
        <p:nvSpPr>
          <p:cNvPr id="26" name="Shape 24"/>
          <p:cNvSpPr/>
          <p:nvPr/>
        </p:nvSpPr>
        <p:spPr>
          <a:xfrm>
            <a:off x="923544" y="5646420"/>
            <a:ext cx="365760" cy="365760"/>
          </a:xfrm>
          <a:prstGeom prst="roundRect">
            <a:avLst>
              <a:gd name="adj" fmla="val 125000"/>
            </a:avLst>
          </a:prstGeom>
          <a:solidFill>
            <a:srgbClr val="F0A202"/>
          </a:solidFill>
          <a:ln/>
        </p:spPr>
        <p:txBody>
          <a:bodyPr/>
          <a:lstStyle/>
          <a:p>
            <a:endParaRPr lang="en-SE"/>
          </a:p>
        </p:txBody>
      </p:sp>
      <p:sp>
        <p:nvSpPr>
          <p:cNvPr id="27" name="Text 25"/>
          <p:cNvSpPr/>
          <p:nvPr/>
        </p:nvSpPr>
        <p:spPr>
          <a:xfrm>
            <a:off x="923544" y="564642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28" name="Text 26"/>
          <p:cNvSpPr/>
          <p:nvPr/>
        </p:nvSpPr>
        <p:spPr>
          <a:xfrm>
            <a:off x="1453896" y="5586984"/>
            <a:ext cx="9814255" cy="484632"/>
          </a:xfrm>
          <a:prstGeom prst="rect">
            <a:avLst/>
          </a:prstGeom>
          <a:noFill/>
          <a:ln/>
        </p:spPr>
        <p:txBody>
          <a:bodyPr wrap="square" lIns="0" tIns="0" rIns="0" bIns="0" rtlCol="0" anchor="ctr"/>
          <a:lstStyle/>
          <a:p>
            <a:pPr marL="0" indent="0">
              <a:lnSpc>
                <a:spcPct val="110000"/>
              </a:lnSpc>
              <a:buNone/>
            </a:pPr>
            <a:r>
              <a:rPr lang="en-US" sz="1350" b="1" dirty="0">
                <a:solidFill>
                  <a:srgbClr val="F0A202"/>
                </a:solidFill>
                <a:latin typeface="Trebuchet MS" pitchFamily="34" charset="0"/>
                <a:ea typeface="Trebuchet MS" pitchFamily="34" charset="-122"/>
                <a:cs typeface="Trebuchet MS" pitchFamily="34" charset="-120"/>
              </a:rPr>
              <a:t>One more thing worth knowing</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The engine's own gateway allowlist controls which trading ids may connect and submit orders. It does not gate who may read drop copy — those are separate concerns.</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10 · CONFIGURATION</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50</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DC_GATEWAY</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Every field, and why you would change it</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All fields are optional and fall back to the defaults shown. Generate the block with the config generator, or hand-edit it.</a:t>
            </a:r>
            <a:endParaRPr lang="en-US" sz="1450" dirty="0"/>
          </a:p>
        </p:txBody>
      </p:sp>
      <p:sp>
        <p:nvSpPr>
          <p:cNvPr id="8" name="Shape 6"/>
          <p:cNvSpPr/>
          <p:nvPr/>
        </p:nvSpPr>
        <p:spPr>
          <a:xfrm>
            <a:off x="685800" y="2148840"/>
            <a:ext cx="4114800" cy="2286000"/>
          </a:xfrm>
          <a:prstGeom prst="roundRect">
            <a:avLst>
              <a:gd name="adj" fmla="val 1600"/>
            </a:avLst>
          </a:prstGeom>
          <a:solidFill>
            <a:srgbClr val="141719"/>
          </a:solidFill>
          <a:ln w="12700">
            <a:solidFill>
              <a:srgbClr val="3A434B"/>
            </a:solidFill>
            <a:prstDash val="solid"/>
          </a:ln>
        </p:spPr>
        <p:txBody>
          <a:bodyPr/>
          <a:lstStyle/>
          <a:p>
            <a:endParaRPr lang="en-SE"/>
          </a:p>
        </p:txBody>
      </p:sp>
      <p:sp>
        <p:nvSpPr>
          <p:cNvPr id="9" name="Text 7"/>
          <p:cNvSpPr/>
          <p:nvPr/>
        </p:nvSpPr>
        <p:spPr>
          <a:xfrm>
            <a:off x="905256" y="2258568"/>
            <a:ext cx="3657600" cy="237744"/>
          </a:xfrm>
          <a:prstGeom prst="rect">
            <a:avLst/>
          </a:prstGeom>
          <a:noFill/>
          <a:ln/>
        </p:spPr>
        <p:txBody>
          <a:bodyPr wrap="square" lIns="0" tIns="0" rIns="0" bIns="0" rtlCol="0" anchor="ctr"/>
          <a:lstStyle/>
          <a:p>
            <a:pPr marL="0" indent="0">
              <a:buNone/>
            </a:pPr>
            <a:r>
              <a:rPr lang="en-US" sz="950" kern="0" spc="160" dirty="0">
                <a:solidFill>
                  <a:srgbClr val="6E7C87"/>
                </a:solidFill>
                <a:latin typeface="Calibri" pitchFamily="34" charset="0"/>
                <a:ea typeface="Calibri" pitchFamily="34" charset="-122"/>
                <a:cs typeface="Calibri" pitchFamily="34" charset="-120"/>
              </a:rPr>
              <a:t>DEFAULTS, IN FULL</a:t>
            </a:r>
            <a:endParaRPr lang="en-US" sz="950" dirty="0"/>
          </a:p>
        </p:txBody>
      </p:sp>
      <p:sp>
        <p:nvSpPr>
          <p:cNvPr id="10" name="Text 8"/>
          <p:cNvSpPr/>
          <p:nvPr/>
        </p:nvSpPr>
        <p:spPr>
          <a:xfrm>
            <a:off x="905256" y="2551176"/>
            <a:ext cx="3675888" cy="1737360"/>
          </a:xfrm>
          <a:prstGeom prst="rect">
            <a:avLst/>
          </a:prstGeom>
          <a:noFill/>
          <a:ln/>
        </p:spPr>
        <p:txBody>
          <a:bodyPr wrap="square" lIns="0" tIns="0" rIns="0" bIns="0" rtlCol="0" anchor="t"/>
          <a:lstStyle/>
          <a:p>
            <a:pPr marL="0" indent="0">
              <a:lnSpc>
                <a:spcPct val="116000"/>
              </a:lnSpc>
              <a:buNone/>
            </a:pPr>
            <a:r>
              <a:rPr lang="en-US" sz="1200" dirty="0">
                <a:solidFill>
                  <a:srgbClr val="F0A202"/>
                </a:solidFill>
                <a:latin typeface="Consolas" pitchFamily="34" charset="0"/>
                <a:ea typeface="Consolas" pitchFamily="34" charset="-122"/>
                <a:cs typeface="Consolas" pitchFamily="34" charset="-120"/>
              </a:rPr>
              <a:t>dc_gateway:</a:t>
            </a:r>
            <a:endParaRPr lang="en-US" sz="1200" dirty="0"/>
          </a:p>
          <a:p>
            <a:pPr marL="0" indent="0">
              <a:lnSpc>
                <a:spcPct val="116000"/>
              </a:lnSpc>
              <a:buNone/>
            </a:pPr>
            <a:r>
              <a:rPr lang="en-US" sz="1200" dirty="0">
                <a:solidFill>
                  <a:srgbClr val="3FD0C9"/>
                </a:solidFill>
                <a:latin typeface="Consolas" pitchFamily="34" charset="0"/>
                <a:ea typeface="Consolas" pitchFamily="34" charset="-122"/>
                <a:cs typeface="Consolas" pitchFamily="34" charset="-120"/>
              </a:rPr>
              <a:t>  name: "dc-gwy01"</a:t>
            </a:r>
            <a:endParaRPr lang="en-US" sz="1200" dirty="0"/>
          </a:p>
          <a:p>
            <a:pPr marL="0" indent="0">
              <a:lnSpc>
                <a:spcPct val="116000"/>
              </a:lnSpc>
              <a:buNone/>
            </a:pPr>
            <a:r>
              <a:rPr lang="en-US" sz="1200" dirty="0">
                <a:solidFill>
                  <a:srgbClr val="3FD0C9"/>
                </a:solidFill>
                <a:latin typeface="Consolas" pitchFamily="34" charset="0"/>
                <a:ea typeface="Consolas" pitchFamily="34" charset="-122"/>
                <a:cs typeface="Consolas" pitchFamily="34" charset="-120"/>
              </a:rPr>
              <a:t>  bind_address: "0.0.0.0"</a:t>
            </a:r>
            <a:endParaRPr lang="en-US" sz="1200" dirty="0"/>
          </a:p>
          <a:p>
            <a:pPr marL="0" indent="0">
              <a:lnSpc>
                <a:spcPct val="116000"/>
              </a:lnSpc>
              <a:buNone/>
            </a:pPr>
            <a:r>
              <a:rPr lang="en-US" sz="1200" dirty="0">
                <a:solidFill>
                  <a:srgbClr val="3FD0C9"/>
                </a:solidFill>
                <a:latin typeface="Consolas" pitchFamily="34" charset="0"/>
                <a:ea typeface="Consolas" pitchFamily="34" charset="-122"/>
                <a:cs typeface="Consolas" pitchFamily="34" charset="-120"/>
              </a:rPr>
              <a:t>  port: 5590</a:t>
            </a:r>
            <a:endParaRPr lang="en-US" sz="1200" dirty="0"/>
          </a:p>
          <a:p>
            <a:pPr marL="0" indent="0">
              <a:lnSpc>
                <a:spcPct val="116000"/>
              </a:lnSpc>
              <a:buNone/>
            </a:pPr>
            <a:r>
              <a:rPr lang="en-US" sz="1200" dirty="0">
                <a:solidFill>
                  <a:srgbClr val="3FD0C9"/>
                </a:solidFill>
                <a:latin typeface="Consolas" pitchFamily="34" charset="0"/>
                <a:ea typeface="Consolas" pitchFamily="34" charset="-122"/>
                <a:cs typeface="Consolas" pitchFamily="34" charset="-120"/>
              </a:rPr>
              <a:t>  heartbeat_interval_sec: 5</a:t>
            </a:r>
            <a:endParaRPr lang="en-US" sz="1200" dirty="0"/>
          </a:p>
          <a:p>
            <a:pPr marL="0" indent="0">
              <a:lnSpc>
                <a:spcPct val="116000"/>
              </a:lnSpc>
              <a:buNone/>
            </a:pPr>
            <a:r>
              <a:rPr lang="en-US" sz="1200" dirty="0">
                <a:solidFill>
                  <a:srgbClr val="3FD0C9"/>
                </a:solidFill>
                <a:latin typeface="Consolas" pitchFamily="34" charset="0"/>
                <a:ea typeface="Consolas" pitchFamily="34" charset="-122"/>
                <a:cs typeface="Consolas" pitchFamily="34" charset="-120"/>
              </a:rPr>
              <a:t>  idle_timeout_sec: 30</a:t>
            </a:r>
            <a:endParaRPr lang="en-US" sz="1200" dirty="0"/>
          </a:p>
          <a:p>
            <a:pPr marL="0" indent="0">
              <a:lnSpc>
                <a:spcPct val="116000"/>
              </a:lnSpc>
              <a:buNone/>
            </a:pPr>
            <a:r>
              <a:rPr lang="en-US" sz="1200" dirty="0">
                <a:solidFill>
                  <a:srgbClr val="3FD0C9"/>
                </a:solidFill>
                <a:latin typeface="Consolas" pitchFamily="34" charset="0"/>
                <a:ea typeface="Consolas" pitchFamily="34" charset="-122"/>
                <a:cs typeface="Consolas" pitchFamily="34" charset="-120"/>
              </a:rPr>
              <a:t>  max_client_queue: 10000</a:t>
            </a:r>
            <a:endParaRPr lang="en-US" sz="1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120640" y="2148840"/>
          <a:ext cx="6382512" cy="914400"/>
        </p:xfrm>
        <a:graphic>
          <a:graphicData uri="http://schemas.openxmlformats.org/drawingml/2006/table">
            <a:tbl>
              <a:tblPr/>
              <a:tblGrid>
                <a:gridCol w="17830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3639312">
                  <a:extLst>
                    <a:ext uri="{9D8B030D-6E8A-4147-A177-3AD203B41FA5}">
                      <a16:colId xmlns:a16="http://schemas.microsoft.com/office/drawing/2014/main" val="20002"/>
                    </a:ext>
                  </a:extLst>
                </a:gridCol>
              </a:tblGrid>
              <a:tr h="475488">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Field</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Default</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tc>
                  <a:txBody>
                    <a:bodyPr/>
                    <a:lstStyle/>
                    <a:p>
                      <a:pPr marL="0" indent="0">
                        <a:buNone/>
                      </a:pPr>
                      <a:r>
                        <a:rPr lang="en-US" sz="1150" b="1" dirty="0">
                          <a:solidFill>
                            <a:srgbClr val="ECF1F5"/>
                          </a:solidFill>
                          <a:latin typeface="Trebuchet MS" pitchFamily="34" charset="0"/>
                          <a:ea typeface="Trebuchet MS" pitchFamily="34" charset="-122"/>
                          <a:cs typeface="Trebuchet MS" pitchFamily="34" charset="-120"/>
                        </a:rPr>
                        <a:t>Why you would change it</a:t>
                      </a:r>
                      <a:endParaRPr lang="en-US" sz="1150" dirty="0">
                        <a:latin typeface="Trebuchet MS" charset="0"/>
                        <a:ea typeface="Trebuchet MS" charset="0"/>
                        <a:cs typeface="Trebuchet M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E353C"/>
                    </a:solidFill>
                  </a:tcPr>
                </a:tc>
                <a:extLst>
                  <a:ext uri="{0D108BD9-81ED-4DB2-BD59-A6C34878D82A}">
                    <a16:rowId xmlns:a16="http://schemas.microsoft.com/office/drawing/2014/main" val="10000"/>
                  </a:ext>
                </a:extLst>
              </a:tr>
              <a:tr h="475488">
                <a:tc>
                  <a:txBody>
                    <a:bodyPr/>
                    <a:lstStyle/>
                    <a:p>
                      <a:pPr marL="0" indent="0">
                        <a:buNone/>
                      </a:pPr>
                      <a:r>
                        <a:rPr lang="en-US" sz="1050" dirty="0">
                          <a:solidFill>
                            <a:srgbClr val="ECF1F5"/>
                          </a:solidFill>
                          <a:latin typeface="Consolas" pitchFamily="34" charset="0"/>
                          <a:ea typeface="Consolas" pitchFamily="34" charset="-122"/>
                          <a:cs typeface="Consolas" pitchFamily="34" charset="-120"/>
                        </a:rPr>
                        <a:t>name</a:t>
                      </a:r>
                      <a:endParaRPr lang="en-US" sz="105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000" dirty="0">
                          <a:solidFill>
                            <a:srgbClr val="97A4AE"/>
                          </a:solidFill>
                          <a:latin typeface="Consolas" pitchFamily="34" charset="0"/>
                          <a:ea typeface="Consolas" pitchFamily="34" charset="-122"/>
                          <a:cs typeface="Consolas" pitchFamily="34" charset="-120"/>
                        </a:rPr>
                        <a:t>dc-gwy01</a:t>
                      </a:r>
                      <a:endParaRPr lang="en-US" sz="10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050" dirty="0">
                          <a:solidFill>
                            <a:srgbClr val="97A4AE"/>
                          </a:solidFill>
                          <a:latin typeface="Calibri" pitchFamily="34" charset="0"/>
                          <a:ea typeface="Calibri" pitchFamily="34" charset="-122"/>
                          <a:cs typeface="Calibri" pitchFamily="34" charset="-120"/>
                        </a:rPr>
                        <a:t>Identifies the process in the WELCOME line — useful when you run more than one</a:t>
                      </a:r>
                      <a:endParaRPr lang="en-US" sz="10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1"/>
                  </a:ext>
                </a:extLst>
              </a:tr>
              <a:tr h="475488">
                <a:tc>
                  <a:txBody>
                    <a:bodyPr/>
                    <a:lstStyle/>
                    <a:p>
                      <a:pPr marL="0" indent="0">
                        <a:buNone/>
                      </a:pPr>
                      <a:r>
                        <a:rPr lang="en-US" sz="1050" dirty="0">
                          <a:solidFill>
                            <a:srgbClr val="ECF1F5"/>
                          </a:solidFill>
                          <a:latin typeface="Consolas" pitchFamily="34" charset="0"/>
                          <a:ea typeface="Consolas" pitchFamily="34" charset="-122"/>
                          <a:cs typeface="Consolas" pitchFamily="34" charset="-120"/>
                        </a:rPr>
                        <a:t>bind_address</a:t>
                      </a:r>
                      <a:endParaRPr lang="en-US" sz="105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000" dirty="0">
                          <a:solidFill>
                            <a:srgbClr val="97A4AE"/>
                          </a:solidFill>
                          <a:latin typeface="Consolas" pitchFamily="34" charset="0"/>
                          <a:ea typeface="Consolas" pitchFamily="34" charset="-122"/>
                          <a:cs typeface="Consolas" pitchFamily="34" charset="-120"/>
                        </a:rPr>
                        <a:t>0.0.0.0</a:t>
                      </a:r>
                      <a:endParaRPr lang="en-US" sz="10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050" dirty="0">
                          <a:solidFill>
                            <a:srgbClr val="97A4AE"/>
                          </a:solidFill>
                          <a:latin typeface="Calibri" pitchFamily="34" charset="0"/>
                          <a:ea typeface="Calibri" pitchFamily="34" charset="-122"/>
                          <a:cs typeface="Calibri" pitchFamily="34" charset="-120"/>
                        </a:rPr>
                        <a:t>Set to the loopback address to keep the relay local-only; the default accepts remote clients</a:t>
                      </a:r>
                      <a:endParaRPr lang="en-US" sz="10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2"/>
                  </a:ext>
                </a:extLst>
              </a:tr>
              <a:tr h="475488">
                <a:tc>
                  <a:txBody>
                    <a:bodyPr/>
                    <a:lstStyle/>
                    <a:p>
                      <a:pPr marL="0" indent="0">
                        <a:buNone/>
                      </a:pPr>
                      <a:r>
                        <a:rPr lang="en-US" sz="1050" dirty="0">
                          <a:solidFill>
                            <a:srgbClr val="ECF1F5"/>
                          </a:solidFill>
                          <a:latin typeface="Consolas" pitchFamily="34" charset="0"/>
                          <a:ea typeface="Consolas" pitchFamily="34" charset="-122"/>
                          <a:cs typeface="Consolas" pitchFamily="34" charset="-120"/>
                        </a:rPr>
                        <a:t>port</a:t>
                      </a:r>
                      <a:endParaRPr lang="en-US" sz="105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000" dirty="0">
                          <a:solidFill>
                            <a:srgbClr val="97A4AE"/>
                          </a:solidFill>
                          <a:latin typeface="Consolas" pitchFamily="34" charset="0"/>
                          <a:ea typeface="Consolas" pitchFamily="34" charset="-122"/>
                          <a:cs typeface="Consolas" pitchFamily="34" charset="-120"/>
                        </a:rPr>
                        <a:t>5590</a:t>
                      </a:r>
                      <a:endParaRPr lang="en-US" sz="10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050" dirty="0">
                          <a:solidFill>
                            <a:srgbClr val="97A4AE"/>
                          </a:solidFill>
                          <a:latin typeface="Calibri" pitchFamily="34" charset="0"/>
                          <a:ea typeface="Calibri" pitchFamily="34" charset="-122"/>
                          <a:cs typeface="Calibri" pitchFamily="34" charset="-120"/>
                        </a:rPr>
                        <a:t>Change on a port clash, or to run a second relay alongside the first</a:t>
                      </a:r>
                      <a:endParaRPr lang="en-US" sz="10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3"/>
                  </a:ext>
                </a:extLst>
              </a:tr>
              <a:tr h="475488">
                <a:tc>
                  <a:txBody>
                    <a:bodyPr/>
                    <a:lstStyle/>
                    <a:p>
                      <a:pPr marL="0" indent="0">
                        <a:buNone/>
                      </a:pPr>
                      <a:r>
                        <a:rPr lang="en-US" sz="1000" dirty="0">
                          <a:solidFill>
                            <a:srgbClr val="ECF1F5"/>
                          </a:solidFill>
                          <a:latin typeface="Consolas" pitchFamily="34" charset="0"/>
                          <a:ea typeface="Consolas" pitchFamily="34" charset="-122"/>
                          <a:cs typeface="Consolas" pitchFamily="34" charset="-120"/>
                        </a:rPr>
                        <a:t>heartbeat_interval_sec</a:t>
                      </a:r>
                      <a:endParaRPr lang="en-US" sz="10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000" dirty="0">
                          <a:solidFill>
                            <a:srgbClr val="97A4AE"/>
                          </a:solidFill>
                          <a:latin typeface="Consolas" pitchFamily="34" charset="0"/>
                          <a:ea typeface="Consolas" pitchFamily="34" charset="-122"/>
                          <a:cs typeface="Consolas" pitchFamily="34" charset="-120"/>
                        </a:rPr>
                        <a:t>5</a:t>
                      </a:r>
                      <a:endParaRPr lang="en-US" sz="10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050" dirty="0">
                          <a:solidFill>
                            <a:srgbClr val="97A4AE"/>
                          </a:solidFill>
                          <a:latin typeface="Calibri" pitchFamily="34" charset="0"/>
                          <a:ea typeface="Calibri" pitchFamily="34" charset="-122"/>
                          <a:cs typeface="Calibri" pitchFamily="34" charset="-120"/>
                        </a:rPr>
                        <a:t>How often the gateway proves it is alive when there are no fills to send</a:t>
                      </a:r>
                      <a:endParaRPr lang="en-US" sz="10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4"/>
                  </a:ext>
                </a:extLst>
              </a:tr>
              <a:tr h="475488">
                <a:tc>
                  <a:txBody>
                    <a:bodyPr/>
                    <a:lstStyle/>
                    <a:p>
                      <a:pPr marL="0" indent="0">
                        <a:buNone/>
                      </a:pPr>
                      <a:r>
                        <a:rPr lang="en-US" sz="1050" dirty="0">
                          <a:solidFill>
                            <a:srgbClr val="ECF1F5"/>
                          </a:solidFill>
                          <a:latin typeface="Consolas" pitchFamily="34" charset="0"/>
                          <a:ea typeface="Consolas" pitchFamily="34" charset="-122"/>
                          <a:cs typeface="Consolas" pitchFamily="34" charset="-120"/>
                        </a:rPr>
                        <a:t>idle_timeout_sec</a:t>
                      </a:r>
                      <a:endParaRPr lang="en-US" sz="105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000" dirty="0">
                          <a:solidFill>
                            <a:srgbClr val="97A4AE"/>
                          </a:solidFill>
                          <a:latin typeface="Consolas" pitchFamily="34" charset="0"/>
                          <a:ea typeface="Consolas" pitchFamily="34" charset="-122"/>
                          <a:cs typeface="Consolas" pitchFamily="34" charset="-120"/>
                        </a:rPr>
                        <a:t>30</a:t>
                      </a:r>
                      <a:endParaRPr lang="en-US" sz="10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tc>
                  <a:txBody>
                    <a:bodyPr/>
                    <a:lstStyle/>
                    <a:p>
                      <a:pPr marL="0" indent="0">
                        <a:buNone/>
                      </a:pPr>
                      <a:r>
                        <a:rPr lang="en-US" sz="1050" dirty="0">
                          <a:solidFill>
                            <a:srgbClr val="97A4AE"/>
                          </a:solidFill>
                          <a:latin typeface="Calibri" pitchFamily="34" charset="0"/>
                          <a:ea typeface="Calibri" pitchFamily="34" charset="-122"/>
                          <a:cs typeface="Calibri" pitchFamily="34" charset="-120"/>
                        </a:rPr>
                        <a:t>Raise it for clients that cannot ping regularly — or they will be disconnected</a:t>
                      </a:r>
                      <a:endParaRPr lang="en-US" sz="10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252B31"/>
                    </a:solidFill>
                  </a:tcPr>
                </a:tc>
                <a:extLst>
                  <a:ext uri="{0D108BD9-81ED-4DB2-BD59-A6C34878D82A}">
                    <a16:rowId xmlns:a16="http://schemas.microsoft.com/office/drawing/2014/main" val="10005"/>
                  </a:ext>
                </a:extLst>
              </a:tr>
              <a:tr h="475488">
                <a:tc>
                  <a:txBody>
                    <a:bodyPr/>
                    <a:lstStyle/>
                    <a:p>
                      <a:pPr marL="0" indent="0">
                        <a:buNone/>
                      </a:pPr>
                      <a:r>
                        <a:rPr lang="en-US" sz="1050" dirty="0">
                          <a:solidFill>
                            <a:srgbClr val="ECF1F5"/>
                          </a:solidFill>
                          <a:latin typeface="Consolas" pitchFamily="34" charset="0"/>
                          <a:ea typeface="Consolas" pitchFamily="34" charset="-122"/>
                          <a:cs typeface="Consolas" pitchFamily="34" charset="-120"/>
                        </a:rPr>
                        <a:t>max_client_queue</a:t>
                      </a:r>
                      <a:endParaRPr lang="en-US" sz="105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000" dirty="0">
                          <a:solidFill>
                            <a:srgbClr val="97A4AE"/>
                          </a:solidFill>
                          <a:latin typeface="Consolas" pitchFamily="34" charset="0"/>
                          <a:ea typeface="Consolas" pitchFamily="34" charset="-122"/>
                          <a:cs typeface="Consolas" pitchFamily="34" charset="-120"/>
                        </a:rPr>
                        <a:t>10000</a:t>
                      </a:r>
                      <a:endParaRPr lang="en-US" sz="1000" dirty="0">
                        <a:latin typeface="Consolas" charset="0"/>
                        <a:ea typeface="Consolas" charset="0"/>
                        <a:cs typeface="Consolas"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tc>
                  <a:txBody>
                    <a:bodyPr/>
                    <a:lstStyle/>
                    <a:p>
                      <a:pPr marL="0" indent="0">
                        <a:buNone/>
                      </a:pPr>
                      <a:r>
                        <a:rPr lang="en-US" sz="1050" dirty="0">
                          <a:solidFill>
                            <a:srgbClr val="97A4AE"/>
                          </a:solidFill>
                          <a:latin typeface="Calibri" pitchFamily="34" charset="0"/>
                          <a:ea typeface="Calibri" pitchFamily="34" charset="-122"/>
                          <a:cs typeface="Calibri" pitchFamily="34" charset="-120"/>
                        </a:rPr>
                        <a:t>How far a client may fall behind before it is dropped as slow</a:t>
                      </a:r>
                      <a:endParaRPr lang="en-US" sz="1050" dirty="0">
                        <a:latin typeface="Calibri" charset="0"/>
                        <a:ea typeface="Calibri" charset="0"/>
                        <a:cs typeface="Calibri" charset="0"/>
                      </a:endParaRPr>
                    </a:p>
                  </a:txBody>
                  <a:tcPr marL="128016" marR="128016" marT="73152" marB="73152" anchor="ctr">
                    <a:lnL w="12700" cap="flat" cmpd="sng" algn="ctr">
                      <a:solidFill>
                        <a:srgbClr val="3A434B"/>
                      </a:solidFill>
                      <a:prstDash val="solid"/>
                      <a:round/>
                      <a:headEnd type="none" w="med" len="med"/>
                      <a:tailEnd type="none" w="med" len="med"/>
                    </a:lnL>
                    <a:lnR w="12700" cap="flat" cmpd="sng" algn="ctr">
                      <a:solidFill>
                        <a:srgbClr val="3A434B"/>
                      </a:solidFill>
                      <a:prstDash val="solid"/>
                      <a:round/>
                      <a:headEnd type="none" w="med" len="med"/>
                      <a:tailEnd type="none" w="med" len="med"/>
                    </a:lnR>
                    <a:lnT w="12700" cap="flat" cmpd="sng" algn="ctr">
                      <a:solidFill>
                        <a:srgbClr val="3A434B"/>
                      </a:solidFill>
                      <a:prstDash val="solid"/>
                      <a:round/>
                      <a:headEnd type="none" w="med" len="med"/>
                      <a:tailEnd type="none" w="med" len="med"/>
                    </a:lnT>
                    <a:lnB w="12700" cap="flat" cmpd="sng" algn="ctr">
                      <a:solidFill>
                        <a:srgbClr val="3A434B"/>
                      </a:solidFill>
                      <a:prstDash val="solid"/>
                      <a:round/>
                      <a:headEnd type="none" w="med" len="med"/>
                      <a:tailEnd type="none" w="med" len="med"/>
                    </a:lnB>
                    <a:solidFill>
                      <a:srgbClr val="1B1F23"/>
                    </a:solidFill>
                  </a:tcPr>
                </a:tc>
                <a:extLst>
                  <a:ext uri="{0D108BD9-81ED-4DB2-BD59-A6C34878D82A}">
                    <a16:rowId xmlns:a16="http://schemas.microsoft.com/office/drawing/2014/main" val="10006"/>
                  </a:ext>
                </a:extLst>
              </a:tr>
            </a:tbl>
          </a:graphicData>
        </a:graphic>
      </p:graphicFrame>
      <p:sp>
        <p:nvSpPr>
          <p:cNvPr id="12" name="Shape 9"/>
          <p:cNvSpPr/>
          <p:nvPr/>
        </p:nvSpPr>
        <p:spPr>
          <a:xfrm>
            <a:off x="685800" y="5120640"/>
            <a:ext cx="4114800" cy="1051560"/>
          </a:xfrm>
          <a:prstGeom prst="roundRect">
            <a:avLst>
              <a:gd name="adj" fmla="val 5217"/>
            </a:avLst>
          </a:prstGeom>
          <a:solidFill>
            <a:srgbClr val="252B31"/>
          </a:solidFill>
          <a:ln w="19050">
            <a:solidFill>
              <a:srgbClr val="E5566B"/>
            </a:solidFill>
            <a:prstDash val="solid"/>
          </a:ln>
        </p:spPr>
        <p:txBody>
          <a:bodyPr/>
          <a:lstStyle/>
          <a:p>
            <a:endParaRPr lang="en-SE"/>
          </a:p>
        </p:txBody>
      </p:sp>
      <p:sp>
        <p:nvSpPr>
          <p:cNvPr id="13" name="Shape 10"/>
          <p:cNvSpPr/>
          <p:nvPr/>
        </p:nvSpPr>
        <p:spPr>
          <a:xfrm>
            <a:off x="923544" y="5463540"/>
            <a:ext cx="365760" cy="365760"/>
          </a:xfrm>
          <a:prstGeom prst="roundRect">
            <a:avLst>
              <a:gd name="adj" fmla="val 125000"/>
            </a:avLst>
          </a:prstGeom>
          <a:solidFill>
            <a:srgbClr val="E5566B"/>
          </a:solidFill>
          <a:ln/>
        </p:spPr>
        <p:txBody>
          <a:bodyPr/>
          <a:lstStyle/>
          <a:p>
            <a:endParaRPr lang="en-SE"/>
          </a:p>
        </p:txBody>
      </p:sp>
      <p:sp>
        <p:nvSpPr>
          <p:cNvPr id="14" name="Text 11"/>
          <p:cNvSpPr/>
          <p:nvPr/>
        </p:nvSpPr>
        <p:spPr>
          <a:xfrm>
            <a:off x="923544" y="546354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a:t>
            </a:r>
            <a:endParaRPr lang="en-US" sz="1500" dirty="0"/>
          </a:p>
        </p:txBody>
      </p:sp>
      <p:sp>
        <p:nvSpPr>
          <p:cNvPr id="15" name="Text 12"/>
          <p:cNvSpPr/>
          <p:nvPr/>
        </p:nvSpPr>
        <p:spPr>
          <a:xfrm>
            <a:off x="1453896" y="5266944"/>
            <a:ext cx="3108960" cy="758952"/>
          </a:xfrm>
          <a:prstGeom prst="rect">
            <a:avLst/>
          </a:prstGeom>
          <a:noFill/>
          <a:ln/>
        </p:spPr>
        <p:txBody>
          <a:bodyPr wrap="square" lIns="0" tIns="0" rIns="0" bIns="0" rtlCol="0" anchor="ctr"/>
          <a:lstStyle/>
          <a:p>
            <a:pPr marL="0" indent="0">
              <a:lnSpc>
                <a:spcPct val="110000"/>
              </a:lnSpc>
              <a:buNone/>
            </a:pPr>
            <a:r>
              <a:rPr lang="en-US" sz="1350" b="1" dirty="0">
                <a:solidFill>
                  <a:srgbClr val="E5566B"/>
                </a:solidFill>
                <a:latin typeface="Trebuchet MS" pitchFamily="34" charset="0"/>
                <a:ea typeface="Trebuchet MS" pitchFamily="34" charset="-122"/>
                <a:cs typeface="Trebuchet MS" pitchFamily="34" charset="-120"/>
              </a:rPr>
              <a:t>The two that bite</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bind_address decides whether anyone off-host can reach you. idle_timeout_sec decides whether a quiet client survives.</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10 · CONFIGURATION</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51</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THE BUFFER KNOB</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engine_tuning.drop_copy_buffer_size</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One integer that decides how much history the engine can replay — and how much memory that costs.</a:t>
            </a:r>
            <a:endParaRPr lang="en-US" sz="1450" dirty="0"/>
          </a:p>
        </p:txBody>
      </p:sp>
      <p:sp>
        <p:nvSpPr>
          <p:cNvPr id="8" name="Shape 6"/>
          <p:cNvSpPr/>
          <p:nvPr/>
        </p:nvSpPr>
        <p:spPr>
          <a:xfrm>
            <a:off x="685800" y="2194560"/>
            <a:ext cx="4846320" cy="1463040"/>
          </a:xfrm>
          <a:prstGeom prst="roundRect">
            <a:avLst>
              <a:gd name="adj" fmla="val 2500"/>
            </a:avLst>
          </a:prstGeom>
          <a:solidFill>
            <a:srgbClr val="141719"/>
          </a:solidFill>
          <a:ln w="12700">
            <a:solidFill>
              <a:srgbClr val="3A434B"/>
            </a:solidFill>
            <a:prstDash val="solid"/>
          </a:ln>
        </p:spPr>
        <p:txBody>
          <a:bodyPr/>
          <a:lstStyle/>
          <a:p>
            <a:endParaRPr lang="en-SE"/>
          </a:p>
        </p:txBody>
      </p:sp>
      <p:sp>
        <p:nvSpPr>
          <p:cNvPr id="9" name="Text 7"/>
          <p:cNvSpPr/>
          <p:nvPr/>
        </p:nvSpPr>
        <p:spPr>
          <a:xfrm>
            <a:off x="905256" y="2377440"/>
            <a:ext cx="4407408" cy="1133856"/>
          </a:xfrm>
          <a:prstGeom prst="rect">
            <a:avLst/>
          </a:prstGeom>
          <a:noFill/>
          <a:ln/>
        </p:spPr>
        <p:txBody>
          <a:bodyPr wrap="square" lIns="0" tIns="0" rIns="0" bIns="0" rtlCol="0" anchor="t"/>
          <a:lstStyle/>
          <a:p>
            <a:pPr marL="0" indent="0">
              <a:lnSpc>
                <a:spcPct val="116000"/>
              </a:lnSpc>
              <a:buNone/>
            </a:pPr>
            <a:r>
              <a:rPr lang="en-US" sz="1200" dirty="0">
                <a:solidFill>
                  <a:srgbClr val="F0A202"/>
                </a:solidFill>
                <a:latin typeface="Consolas" pitchFamily="34" charset="0"/>
                <a:ea typeface="Consolas" pitchFamily="34" charset="-122"/>
                <a:cs typeface="Consolas" pitchFamily="34" charset="-120"/>
              </a:rPr>
              <a:t>engine_tuning:</a:t>
            </a:r>
            <a:endParaRPr lang="en-US" sz="1200" dirty="0"/>
          </a:p>
          <a:p>
            <a:pPr marL="0" indent="0">
              <a:lnSpc>
                <a:spcPct val="116000"/>
              </a:lnSpc>
              <a:buNone/>
            </a:pPr>
            <a:r>
              <a:rPr lang="en-US" sz="1200" dirty="0">
                <a:solidFill>
                  <a:srgbClr val="3FD0C9"/>
                </a:solidFill>
                <a:latin typeface="Consolas" pitchFamily="34" charset="0"/>
                <a:ea typeface="Consolas" pitchFamily="34" charset="-122"/>
                <a:cs typeface="Consolas" pitchFamily="34" charset="-120"/>
              </a:rPr>
              <a:t>  drop_copy_buffer_size: 10000</a:t>
            </a:r>
            <a:endParaRPr lang="en-US" sz="1200" dirty="0"/>
          </a:p>
          <a:p>
            <a:pPr marL="0" indent="0">
              <a:lnSpc>
                <a:spcPct val="116000"/>
              </a:lnSpc>
              <a:buNone/>
            </a:pPr>
            <a:r>
              <a:rPr lang="en-US" sz="1200" dirty="0">
                <a:solidFill>
                  <a:srgbClr val="6E7C87"/>
                </a:solidFill>
                <a:latin typeface="Consolas" pitchFamily="34" charset="0"/>
                <a:ea typeface="Consolas" pitchFamily="34" charset="-122"/>
                <a:cs typeface="Consolas" pitchFamily="34" charset="-120"/>
              </a:rPr>
              <a:t>  # must be an integer greater than zero</a:t>
            </a:r>
            <a:endParaRPr lang="en-US" sz="1200" dirty="0"/>
          </a:p>
          <a:p>
            <a:pPr marL="0" indent="0">
              <a:lnSpc>
                <a:spcPct val="116000"/>
              </a:lnSpc>
              <a:buNone/>
            </a:pPr>
            <a:r>
              <a:rPr lang="en-US" sz="1200" dirty="0">
                <a:solidFill>
                  <a:srgbClr val="6E7C87"/>
                </a:solidFill>
                <a:latin typeface="Consolas" pitchFamily="34" charset="0"/>
                <a:ea typeface="Consolas" pitchFamily="34" charset="-122"/>
                <a:cs typeface="Consolas" pitchFamily="34" charset="-120"/>
              </a:rPr>
              <a:t>  # defaults to 10000 when omitted</a:t>
            </a:r>
            <a:endParaRPr lang="en-US" sz="1200" dirty="0"/>
          </a:p>
        </p:txBody>
      </p:sp>
      <p:sp>
        <p:nvSpPr>
          <p:cNvPr id="10" name="Shape 8"/>
          <p:cNvSpPr/>
          <p:nvPr/>
        </p:nvSpPr>
        <p:spPr>
          <a:xfrm>
            <a:off x="685800" y="3794760"/>
            <a:ext cx="4846320" cy="1234440"/>
          </a:xfrm>
          <a:prstGeom prst="roundRect">
            <a:avLst>
              <a:gd name="adj" fmla="val 4444"/>
            </a:avLst>
          </a:prstGeom>
          <a:solidFill>
            <a:srgbClr val="252B31"/>
          </a:solidFill>
          <a:ln w="12700">
            <a:solidFill>
              <a:srgbClr val="3A434B"/>
            </a:solidFill>
            <a:prstDash val="solid"/>
          </a:ln>
        </p:spPr>
        <p:txBody>
          <a:bodyPr/>
          <a:lstStyle/>
          <a:p>
            <a:endParaRPr lang="en-SE"/>
          </a:p>
        </p:txBody>
      </p:sp>
      <p:sp>
        <p:nvSpPr>
          <p:cNvPr id="11" name="Text 9"/>
          <p:cNvSpPr/>
          <p:nvPr/>
        </p:nvSpPr>
        <p:spPr>
          <a:xfrm>
            <a:off x="941832" y="4050792"/>
            <a:ext cx="4334256" cy="310896"/>
          </a:xfrm>
          <a:prstGeom prst="rect">
            <a:avLst/>
          </a:prstGeom>
          <a:noFill/>
          <a:ln/>
        </p:spPr>
        <p:txBody>
          <a:bodyPr wrap="square" lIns="0" tIns="0" rIns="0" bIns="0" rtlCol="0" anchor="t"/>
          <a:lstStyle/>
          <a:p>
            <a:pPr marL="0" indent="0">
              <a:buNone/>
            </a:pPr>
            <a:r>
              <a:rPr lang="en-US" sz="1400" b="1" dirty="0">
                <a:solidFill>
                  <a:srgbClr val="9B8CFF"/>
                </a:solidFill>
                <a:latin typeface="Trebuchet MS" pitchFamily="34" charset="0"/>
                <a:ea typeface="Trebuchet MS" pitchFamily="34" charset="-122"/>
                <a:cs typeface="Trebuchet MS" pitchFamily="34" charset="-120"/>
              </a:rPr>
              <a:t>Also settable on the generator</a:t>
            </a:r>
            <a:endParaRPr lang="en-US" sz="1400" dirty="0"/>
          </a:p>
        </p:txBody>
      </p:sp>
      <p:sp>
        <p:nvSpPr>
          <p:cNvPr id="12" name="Text 10"/>
          <p:cNvSpPr/>
          <p:nvPr/>
        </p:nvSpPr>
        <p:spPr>
          <a:xfrm>
            <a:off x="941832" y="4434840"/>
            <a:ext cx="4334256" cy="42976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The config generator exposes it as a drop-copy buffer size option, so it can be produced rather than hand-written.</a:t>
            </a:r>
            <a:endParaRPr lang="en-US" sz="1250" dirty="0"/>
          </a:p>
        </p:txBody>
      </p:sp>
      <p:sp>
        <p:nvSpPr>
          <p:cNvPr id="13" name="Shape 11"/>
          <p:cNvSpPr/>
          <p:nvPr/>
        </p:nvSpPr>
        <p:spPr>
          <a:xfrm>
            <a:off x="5852160" y="2194560"/>
            <a:ext cx="5650992" cy="1188720"/>
          </a:xfrm>
          <a:prstGeom prst="roundRect">
            <a:avLst>
              <a:gd name="adj" fmla="val 4615"/>
            </a:avLst>
          </a:prstGeom>
          <a:solidFill>
            <a:srgbClr val="252B31"/>
          </a:solidFill>
          <a:ln w="12700">
            <a:solidFill>
              <a:srgbClr val="3A434B"/>
            </a:solidFill>
            <a:prstDash val="solid"/>
          </a:ln>
        </p:spPr>
        <p:txBody>
          <a:bodyPr/>
          <a:lstStyle/>
          <a:p>
            <a:endParaRPr lang="en-SE"/>
          </a:p>
        </p:txBody>
      </p:sp>
      <p:sp>
        <p:nvSpPr>
          <p:cNvPr id="14" name="Shape 12"/>
          <p:cNvSpPr/>
          <p:nvPr/>
        </p:nvSpPr>
        <p:spPr>
          <a:xfrm>
            <a:off x="5852160" y="2194560"/>
            <a:ext cx="82296" cy="1188720"/>
          </a:xfrm>
          <a:prstGeom prst="rect">
            <a:avLst/>
          </a:prstGeom>
          <a:solidFill>
            <a:srgbClr val="E5566B"/>
          </a:solidFill>
          <a:ln/>
        </p:spPr>
        <p:txBody>
          <a:bodyPr/>
          <a:lstStyle/>
          <a:p>
            <a:endParaRPr lang="en-SE"/>
          </a:p>
        </p:txBody>
      </p:sp>
      <p:sp>
        <p:nvSpPr>
          <p:cNvPr id="15" name="Text 13"/>
          <p:cNvSpPr/>
          <p:nvPr/>
        </p:nvSpPr>
        <p:spPr>
          <a:xfrm>
            <a:off x="6126480" y="2304288"/>
            <a:ext cx="5212080" cy="320040"/>
          </a:xfrm>
          <a:prstGeom prst="rect">
            <a:avLst/>
          </a:prstGeom>
          <a:noFill/>
          <a:ln/>
        </p:spPr>
        <p:txBody>
          <a:bodyPr wrap="square" lIns="0" tIns="0" rIns="0" bIns="0" rtlCol="0" anchor="ctr"/>
          <a:lstStyle/>
          <a:p>
            <a:pPr marL="0" indent="0">
              <a:buNone/>
            </a:pPr>
            <a:r>
              <a:rPr lang="en-US" sz="1450" b="1" dirty="0">
                <a:solidFill>
                  <a:srgbClr val="E5566B"/>
                </a:solidFill>
                <a:latin typeface="Trebuchet MS" pitchFamily="34" charset="0"/>
                <a:ea typeface="Trebuchet MS" pitchFamily="34" charset="-122"/>
                <a:cs typeface="Trebuchet MS" pitchFamily="34" charset="-120"/>
              </a:rPr>
              <a:t>Too small</a:t>
            </a:r>
            <a:endParaRPr lang="en-US" sz="1450" dirty="0"/>
          </a:p>
        </p:txBody>
      </p:sp>
      <p:sp>
        <p:nvSpPr>
          <p:cNvPr id="16" name="Text 14"/>
          <p:cNvSpPr/>
          <p:nvPr/>
        </p:nvSpPr>
        <p:spPr>
          <a:xfrm>
            <a:off x="6126480" y="2633472"/>
            <a:ext cx="5212080" cy="685800"/>
          </a:xfrm>
          <a:prstGeom prst="rect">
            <a:avLst/>
          </a:prstGeom>
          <a:noFill/>
          <a:ln/>
        </p:spPr>
        <p:txBody>
          <a:bodyPr wrap="square" lIns="0" tIns="0" rIns="0" bIns="0" rtlCol="0" anchor="t"/>
          <a:lstStyle/>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A consumer that reconnects after a brief outage finds its starting sequence has already been discarded, and silently receives only part of what it missed.</a:t>
            </a:r>
            <a:endParaRPr lang="en-US" sz="1200" dirty="0"/>
          </a:p>
        </p:txBody>
      </p:sp>
      <p:sp>
        <p:nvSpPr>
          <p:cNvPr id="17" name="Shape 15"/>
          <p:cNvSpPr/>
          <p:nvPr/>
        </p:nvSpPr>
        <p:spPr>
          <a:xfrm>
            <a:off x="5852160" y="3566160"/>
            <a:ext cx="5650992" cy="1188720"/>
          </a:xfrm>
          <a:prstGeom prst="roundRect">
            <a:avLst>
              <a:gd name="adj" fmla="val 4615"/>
            </a:avLst>
          </a:prstGeom>
          <a:solidFill>
            <a:srgbClr val="252B31"/>
          </a:solidFill>
          <a:ln w="12700">
            <a:solidFill>
              <a:srgbClr val="3A434B"/>
            </a:solidFill>
            <a:prstDash val="solid"/>
          </a:ln>
        </p:spPr>
        <p:txBody>
          <a:bodyPr/>
          <a:lstStyle/>
          <a:p>
            <a:endParaRPr lang="en-SE"/>
          </a:p>
        </p:txBody>
      </p:sp>
      <p:sp>
        <p:nvSpPr>
          <p:cNvPr id="18" name="Shape 16"/>
          <p:cNvSpPr/>
          <p:nvPr/>
        </p:nvSpPr>
        <p:spPr>
          <a:xfrm>
            <a:off x="5852160" y="3566160"/>
            <a:ext cx="82296" cy="1188720"/>
          </a:xfrm>
          <a:prstGeom prst="rect">
            <a:avLst/>
          </a:prstGeom>
          <a:solidFill>
            <a:srgbClr val="F0A202"/>
          </a:solidFill>
          <a:ln/>
        </p:spPr>
        <p:txBody>
          <a:bodyPr/>
          <a:lstStyle/>
          <a:p>
            <a:endParaRPr lang="en-SE"/>
          </a:p>
        </p:txBody>
      </p:sp>
      <p:sp>
        <p:nvSpPr>
          <p:cNvPr id="19" name="Text 17"/>
          <p:cNvSpPr/>
          <p:nvPr/>
        </p:nvSpPr>
        <p:spPr>
          <a:xfrm>
            <a:off x="6126480" y="3675888"/>
            <a:ext cx="5212080" cy="320040"/>
          </a:xfrm>
          <a:prstGeom prst="rect">
            <a:avLst/>
          </a:prstGeom>
          <a:noFill/>
          <a:ln/>
        </p:spPr>
        <p:txBody>
          <a:bodyPr wrap="square" lIns="0" tIns="0" rIns="0" bIns="0" rtlCol="0" anchor="ctr"/>
          <a:lstStyle/>
          <a:p>
            <a:pPr marL="0" indent="0">
              <a:buNone/>
            </a:pPr>
            <a:r>
              <a:rPr lang="en-US" sz="1450" b="1" dirty="0">
                <a:solidFill>
                  <a:srgbClr val="F0A202"/>
                </a:solidFill>
                <a:latin typeface="Trebuchet MS" pitchFamily="34" charset="0"/>
                <a:ea typeface="Trebuchet MS" pitchFamily="34" charset="-122"/>
                <a:cs typeface="Trebuchet MS" pitchFamily="34" charset="-120"/>
              </a:rPr>
              <a:t>Too large</a:t>
            </a:r>
            <a:endParaRPr lang="en-US" sz="1450" dirty="0"/>
          </a:p>
        </p:txBody>
      </p:sp>
      <p:sp>
        <p:nvSpPr>
          <p:cNvPr id="20" name="Text 18"/>
          <p:cNvSpPr/>
          <p:nvPr/>
        </p:nvSpPr>
        <p:spPr>
          <a:xfrm>
            <a:off x="6126480" y="4005072"/>
            <a:ext cx="5212080" cy="685800"/>
          </a:xfrm>
          <a:prstGeom prst="rect">
            <a:avLst/>
          </a:prstGeom>
          <a:noFill/>
          <a:ln/>
        </p:spPr>
        <p:txBody>
          <a:bodyPr wrap="square" lIns="0" tIns="0" rIns="0" bIns="0" rtlCol="0" anchor="t"/>
          <a:lstStyle/>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Memory grows for history nobody asks for — and replay is in-process only today, so most of that history is never read.</a:t>
            </a:r>
            <a:endParaRPr lang="en-US" sz="1200" dirty="0"/>
          </a:p>
        </p:txBody>
      </p:sp>
      <p:sp>
        <p:nvSpPr>
          <p:cNvPr id="21" name="Shape 19"/>
          <p:cNvSpPr/>
          <p:nvPr/>
        </p:nvSpPr>
        <p:spPr>
          <a:xfrm>
            <a:off x="5852160" y="4937760"/>
            <a:ext cx="5650992" cy="1188720"/>
          </a:xfrm>
          <a:prstGeom prst="roundRect">
            <a:avLst>
              <a:gd name="adj" fmla="val 4615"/>
            </a:avLst>
          </a:prstGeom>
          <a:solidFill>
            <a:srgbClr val="252B31"/>
          </a:solidFill>
          <a:ln w="12700">
            <a:solidFill>
              <a:srgbClr val="3A434B"/>
            </a:solidFill>
            <a:prstDash val="solid"/>
          </a:ln>
        </p:spPr>
        <p:txBody>
          <a:bodyPr/>
          <a:lstStyle/>
          <a:p>
            <a:endParaRPr lang="en-SE"/>
          </a:p>
        </p:txBody>
      </p:sp>
      <p:sp>
        <p:nvSpPr>
          <p:cNvPr id="22" name="Shape 20"/>
          <p:cNvSpPr/>
          <p:nvPr/>
        </p:nvSpPr>
        <p:spPr>
          <a:xfrm>
            <a:off x="5852160" y="4937760"/>
            <a:ext cx="82296" cy="1188720"/>
          </a:xfrm>
          <a:prstGeom prst="rect">
            <a:avLst/>
          </a:prstGeom>
          <a:solidFill>
            <a:srgbClr val="3FD0C9"/>
          </a:solidFill>
          <a:ln/>
        </p:spPr>
        <p:txBody>
          <a:bodyPr/>
          <a:lstStyle/>
          <a:p>
            <a:endParaRPr lang="en-SE"/>
          </a:p>
        </p:txBody>
      </p:sp>
      <p:sp>
        <p:nvSpPr>
          <p:cNvPr id="23" name="Text 21"/>
          <p:cNvSpPr/>
          <p:nvPr/>
        </p:nvSpPr>
        <p:spPr>
          <a:xfrm>
            <a:off x="6126480" y="5047488"/>
            <a:ext cx="5212080" cy="320040"/>
          </a:xfrm>
          <a:prstGeom prst="rect">
            <a:avLst/>
          </a:prstGeom>
          <a:noFill/>
          <a:ln/>
        </p:spPr>
        <p:txBody>
          <a:bodyPr wrap="square" lIns="0" tIns="0" rIns="0" bIns="0" rtlCol="0" anchor="ctr"/>
          <a:lstStyle/>
          <a:p>
            <a:pPr marL="0" indent="0">
              <a:buNone/>
            </a:pPr>
            <a:r>
              <a:rPr lang="en-US" sz="1450" b="1" dirty="0">
                <a:solidFill>
                  <a:srgbClr val="3FD0C9"/>
                </a:solidFill>
                <a:latin typeface="Trebuchet MS" pitchFamily="34" charset="0"/>
                <a:ea typeface="Trebuchet MS" pitchFamily="34" charset="-122"/>
                <a:cs typeface="Trebuchet MS" pitchFamily="34" charset="-120"/>
              </a:rPr>
              <a:t>Sizing it honestly</a:t>
            </a:r>
            <a:endParaRPr lang="en-US" sz="1450" dirty="0"/>
          </a:p>
        </p:txBody>
      </p:sp>
      <p:sp>
        <p:nvSpPr>
          <p:cNvPr id="24" name="Text 22"/>
          <p:cNvSpPr/>
          <p:nvPr/>
        </p:nvSpPr>
        <p:spPr>
          <a:xfrm>
            <a:off x="6126480" y="5376672"/>
            <a:ext cx="5212080" cy="685800"/>
          </a:xfrm>
          <a:prstGeom prst="rect">
            <a:avLst/>
          </a:prstGeom>
          <a:noFill/>
          <a:ln/>
        </p:spPr>
        <p:txBody>
          <a:bodyPr wrap="square" lIns="0" tIns="0" rIns="0" bIns="0" rtlCol="0" anchor="t"/>
          <a:lstStyle/>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Estimate your peak fills per second, multiply by the longest outage you want to survive, and set the buffer above that number.</a:t>
            </a:r>
            <a:endParaRPr lang="en-US" sz="1200" dirty="0"/>
          </a:p>
        </p:txBody>
      </p:sp>
      <p:sp>
        <p:nvSpPr>
          <p:cNvPr id="25" name="Text 23"/>
          <p:cNvSpPr/>
          <p:nvPr/>
        </p:nvSpPr>
        <p:spPr>
          <a:xfrm>
            <a:off x="685800" y="5486400"/>
            <a:ext cx="4846320" cy="731520"/>
          </a:xfrm>
          <a:prstGeom prst="rect">
            <a:avLst/>
          </a:prstGeom>
          <a:noFill/>
          <a:ln/>
        </p:spPr>
        <p:txBody>
          <a:bodyPr wrap="square" lIns="0" tIns="0" rIns="0" bIns="0" rtlCol="0" anchor="t"/>
          <a:lstStyle/>
          <a:p>
            <a:pPr marL="0" indent="0">
              <a:lnSpc>
                <a:spcPct val="110000"/>
              </a:lnSpc>
              <a:buNone/>
            </a:pPr>
            <a:r>
              <a:rPr lang="en-US" sz="1200" i="1" dirty="0">
                <a:solidFill>
                  <a:srgbClr val="6E7C87"/>
                </a:solidFill>
                <a:latin typeface="Calibri" pitchFamily="34" charset="0"/>
                <a:ea typeface="Calibri" pitchFamily="34" charset="-122"/>
                <a:cs typeface="Calibri" pitchFamily="34" charset="-120"/>
              </a:rPr>
              <a:t>Remember the unit: the buffer holds a number of events, not a span of time. The same setting covers very different windows in a quiet and a busy session.</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10 · CONFIGURATION</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52</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THE ADDRESS THAT IS NOT IN YAML</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Why the publish address behaves differently</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Every other setting here lives in the configuration file. This one does not — and the reason matters.</a:t>
            </a:r>
            <a:endParaRPr lang="en-US" sz="1450" dirty="0"/>
          </a:p>
        </p:txBody>
      </p:sp>
      <p:sp>
        <p:nvSpPr>
          <p:cNvPr id="8" name="Shape 6"/>
          <p:cNvSpPr/>
          <p:nvPr/>
        </p:nvSpPr>
        <p:spPr>
          <a:xfrm>
            <a:off x="685800" y="2194560"/>
            <a:ext cx="5486400" cy="1234440"/>
          </a:xfrm>
          <a:prstGeom prst="roundRect">
            <a:avLst>
              <a:gd name="adj" fmla="val 2963"/>
            </a:avLst>
          </a:prstGeom>
          <a:solidFill>
            <a:srgbClr val="141719"/>
          </a:solidFill>
          <a:ln w="12700">
            <a:solidFill>
              <a:srgbClr val="3A434B"/>
            </a:solidFill>
            <a:prstDash val="solid"/>
          </a:ln>
        </p:spPr>
        <p:txBody>
          <a:bodyPr/>
          <a:lstStyle/>
          <a:p>
            <a:endParaRPr lang="en-SE"/>
          </a:p>
        </p:txBody>
      </p:sp>
      <p:sp>
        <p:nvSpPr>
          <p:cNvPr id="9" name="Text 7"/>
          <p:cNvSpPr/>
          <p:nvPr/>
        </p:nvSpPr>
        <p:spPr>
          <a:xfrm>
            <a:off x="905256" y="2377440"/>
            <a:ext cx="5047488" cy="905256"/>
          </a:xfrm>
          <a:prstGeom prst="rect">
            <a:avLst/>
          </a:prstGeom>
          <a:noFill/>
          <a:ln/>
        </p:spPr>
        <p:txBody>
          <a:bodyPr wrap="square" lIns="0" tIns="0" rIns="0" bIns="0" rtlCol="0" anchor="t"/>
          <a:lstStyle/>
          <a:p>
            <a:pPr marL="0" indent="0">
              <a:lnSpc>
                <a:spcPct val="116000"/>
              </a:lnSpc>
              <a:buNone/>
            </a:pPr>
            <a:r>
              <a:rPr lang="en-US" sz="1200" dirty="0">
                <a:solidFill>
                  <a:srgbClr val="6E7C87"/>
                </a:solidFill>
                <a:latin typeface="Consolas" pitchFamily="34" charset="0"/>
                <a:ea typeface="Consolas" pitchFamily="34" charset="-122"/>
                <a:cs typeface="Consolas" pitchFamily="34" charset="-120"/>
              </a:rPr>
              <a:t># engine_config.yaml — no drop copy section is needed</a:t>
            </a:r>
            <a:endParaRPr lang="en-US" sz="1200" dirty="0"/>
          </a:p>
          <a:p>
            <a:pPr marL="0" indent="0">
              <a:lnSpc>
                <a:spcPct val="116000"/>
              </a:lnSpc>
              <a:buNone/>
            </a:pPr>
            <a:r>
              <a:rPr lang="en-US" sz="1200" dirty="0">
                <a:solidFill>
                  <a:srgbClr val="6E7C87"/>
                </a:solidFill>
                <a:latin typeface="Consolas" pitchFamily="34" charset="0"/>
                <a:ea typeface="Consolas" pitchFamily="34" charset="-122"/>
                <a:cs typeface="Consolas" pitchFamily="34" charset="-120"/>
              </a:rPr>
              <a:t># the address is a constant in the codebase:</a:t>
            </a:r>
            <a:endParaRPr lang="en-US" sz="1200" dirty="0"/>
          </a:p>
          <a:p>
            <a:pPr marL="0" indent="0">
              <a:lnSpc>
                <a:spcPct val="116000"/>
              </a:lnSpc>
              <a:buNone/>
            </a:pPr>
            <a:r>
              <a:rPr lang="en-US" sz="1200" dirty="0">
                <a:solidFill>
                  <a:srgbClr val="F0A202"/>
                </a:solidFill>
                <a:latin typeface="Consolas" pitchFamily="34" charset="0"/>
                <a:ea typeface="Consolas" pitchFamily="34" charset="-122"/>
                <a:cs typeface="Consolas" pitchFamily="34" charset="-120"/>
              </a:rPr>
              <a:t>DROP_COPY_PUB_ADDR = "tcp://127.0.0.1:5557"</a:t>
            </a:r>
            <a:endParaRPr lang="en-US" sz="1200" dirty="0"/>
          </a:p>
        </p:txBody>
      </p:sp>
      <p:sp>
        <p:nvSpPr>
          <p:cNvPr id="10" name="Shape 8"/>
          <p:cNvSpPr/>
          <p:nvPr/>
        </p:nvSpPr>
        <p:spPr>
          <a:xfrm>
            <a:off x="685800" y="3611880"/>
            <a:ext cx="5486400" cy="1371600"/>
          </a:xfrm>
          <a:prstGeom prst="roundRect">
            <a:avLst>
              <a:gd name="adj" fmla="val 4000"/>
            </a:avLst>
          </a:prstGeom>
          <a:solidFill>
            <a:srgbClr val="252B31"/>
          </a:solidFill>
          <a:ln w="12700">
            <a:solidFill>
              <a:srgbClr val="3A434B"/>
            </a:solidFill>
            <a:prstDash val="solid"/>
          </a:ln>
        </p:spPr>
        <p:txBody>
          <a:bodyPr/>
          <a:lstStyle/>
          <a:p>
            <a:endParaRPr lang="en-SE"/>
          </a:p>
        </p:txBody>
      </p:sp>
      <p:sp>
        <p:nvSpPr>
          <p:cNvPr id="11" name="Text 9"/>
          <p:cNvSpPr/>
          <p:nvPr/>
        </p:nvSpPr>
        <p:spPr>
          <a:xfrm>
            <a:off x="941832" y="3867912"/>
            <a:ext cx="4974336" cy="310896"/>
          </a:xfrm>
          <a:prstGeom prst="rect">
            <a:avLst/>
          </a:prstGeom>
          <a:noFill/>
          <a:ln/>
        </p:spPr>
        <p:txBody>
          <a:bodyPr wrap="square" lIns="0" tIns="0" rIns="0" bIns="0" rtlCol="0" anchor="t"/>
          <a:lstStyle/>
          <a:p>
            <a:pPr marL="0" indent="0">
              <a:buNone/>
            </a:pPr>
            <a:r>
              <a:rPr lang="en-US" sz="1500" b="1" dirty="0">
                <a:solidFill>
                  <a:srgbClr val="3FD0C9"/>
                </a:solidFill>
                <a:latin typeface="Trebuchet MS" pitchFamily="34" charset="0"/>
                <a:ea typeface="Trebuchet MS" pitchFamily="34" charset="-122"/>
                <a:cs typeface="Trebuchet MS" pitchFamily="34" charset="-120"/>
              </a:rPr>
              <a:t>One constant, used by everyone</a:t>
            </a:r>
            <a:endParaRPr lang="en-US" sz="1500" dirty="0"/>
          </a:p>
        </p:txBody>
      </p:sp>
      <p:sp>
        <p:nvSpPr>
          <p:cNvPr id="12" name="Text 10"/>
          <p:cNvSpPr/>
          <p:nvPr/>
        </p:nvSpPr>
        <p:spPr>
          <a:xfrm>
            <a:off x="941832" y="4251960"/>
            <a:ext cx="4974336" cy="56692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The engine, the relay gateway and the spy tool all resolve the drop copy address from the same place. There is no way for them to drift apart into disagreeing about where the feed lives.</a:t>
            </a:r>
            <a:endParaRPr lang="en-US" sz="1250" dirty="0"/>
          </a:p>
        </p:txBody>
      </p:sp>
      <p:sp>
        <p:nvSpPr>
          <p:cNvPr id="13" name="Shape 11"/>
          <p:cNvSpPr/>
          <p:nvPr/>
        </p:nvSpPr>
        <p:spPr>
          <a:xfrm>
            <a:off x="685800" y="5120640"/>
            <a:ext cx="5486400" cy="1051560"/>
          </a:xfrm>
          <a:prstGeom prst="roundRect">
            <a:avLst>
              <a:gd name="adj" fmla="val 5217"/>
            </a:avLst>
          </a:prstGeom>
          <a:solidFill>
            <a:srgbClr val="252B31"/>
          </a:solidFill>
          <a:ln w="12700">
            <a:solidFill>
              <a:srgbClr val="3A434B"/>
            </a:solidFill>
            <a:prstDash val="solid"/>
          </a:ln>
        </p:spPr>
        <p:txBody>
          <a:bodyPr/>
          <a:lstStyle/>
          <a:p>
            <a:endParaRPr lang="en-SE"/>
          </a:p>
        </p:txBody>
      </p:sp>
      <p:sp>
        <p:nvSpPr>
          <p:cNvPr id="14" name="Text 12"/>
          <p:cNvSpPr/>
          <p:nvPr/>
        </p:nvSpPr>
        <p:spPr>
          <a:xfrm>
            <a:off x="941832" y="5376672"/>
            <a:ext cx="4974336" cy="310896"/>
          </a:xfrm>
          <a:prstGeom prst="rect">
            <a:avLst/>
          </a:prstGeom>
          <a:noFill/>
          <a:ln/>
        </p:spPr>
        <p:txBody>
          <a:bodyPr wrap="square" lIns="0" tIns="0" rIns="0" bIns="0" rtlCol="0" anchor="t"/>
          <a:lstStyle/>
          <a:p>
            <a:pPr marL="0" indent="0">
              <a:buNone/>
            </a:pPr>
            <a:r>
              <a:rPr lang="en-US" sz="1500" b="1" dirty="0">
                <a:solidFill>
                  <a:srgbClr val="9B8CFF"/>
                </a:solidFill>
                <a:latin typeface="Trebuchet MS" pitchFamily="34" charset="0"/>
                <a:ea typeface="Trebuchet MS" pitchFamily="34" charset="-122"/>
                <a:cs typeface="Trebuchet MS" pitchFamily="34" charset="-120"/>
              </a:rPr>
              <a:t>To change it permanently</a:t>
            </a:r>
            <a:endParaRPr lang="en-US" sz="1500" dirty="0"/>
          </a:p>
        </p:txBody>
      </p:sp>
      <p:sp>
        <p:nvSpPr>
          <p:cNvPr id="15" name="Text 13"/>
          <p:cNvSpPr/>
          <p:nvPr/>
        </p:nvSpPr>
        <p:spPr>
          <a:xfrm>
            <a:off x="941832" y="5760720"/>
            <a:ext cx="4974336" cy="246888"/>
          </a:xfrm>
          <a:prstGeom prst="rect">
            <a:avLst/>
          </a:prstGeom>
          <a:noFill/>
          <a:ln/>
        </p:spPr>
        <p:txBody>
          <a:bodyPr wrap="square" lIns="0" tIns="0" rIns="0" bIns="0" rtlCol="0" anchor="t"/>
          <a:lstStyle/>
          <a:p>
            <a:pPr marL="0" indent="0">
              <a:lnSpc>
                <a:spcPct val="112000"/>
              </a:lnSpc>
              <a:buNone/>
            </a:pPr>
            <a:r>
              <a:rPr lang="en-US" sz="1250" dirty="0">
                <a:solidFill>
                  <a:srgbClr val="97A4AE"/>
                </a:solidFill>
                <a:latin typeface="Calibri" pitchFamily="34" charset="0"/>
                <a:ea typeface="Calibri" pitchFamily="34" charset="-122"/>
                <a:cs typeface="Calibri" pitchFamily="34" charset="-120"/>
              </a:rPr>
              <a:t>Edit that constant in the codebase — a deliberate act, not a per-deployment tweak.</a:t>
            </a:r>
            <a:endParaRPr lang="en-US" sz="1250" dirty="0"/>
          </a:p>
        </p:txBody>
      </p:sp>
      <p:sp>
        <p:nvSpPr>
          <p:cNvPr id="16" name="Shape 14"/>
          <p:cNvSpPr/>
          <p:nvPr/>
        </p:nvSpPr>
        <p:spPr>
          <a:xfrm>
            <a:off x="6492240" y="2194560"/>
            <a:ext cx="5010912" cy="3977640"/>
          </a:xfrm>
          <a:prstGeom prst="roundRect">
            <a:avLst>
              <a:gd name="adj" fmla="val 1379"/>
            </a:avLst>
          </a:prstGeom>
          <a:solidFill>
            <a:srgbClr val="252B31"/>
          </a:solidFill>
          <a:ln w="12700">
            <a:solidFill>
              <a:srgbClr val="3A434B"/>
            </a:solidFill>
            <a:prstDash val="solid"/>
          </a:ln>
        </p:spPr>
        <p:txBody>
          <a:bodyPr/>
          <a:lstStyle/>
          <a:p>
            <a:endParaRPr lang="en-SE"/>
          </a:p>
        </p:txBody>
      </p:sp>
      <p:sp>
        <p:nvSpPr>
          <p:cNvPr id="17" name="Text 15"/>
          <p:cNvSpPr/>
          <p:nvPr/>
        </p:nvSpPr>
        <p:spPr>
          <a:xfrm>
            <a:off x="6766560" y="2377440"/>
            <a:ext cx="4480560" cy="365760"/>
          </a:xfrm>
          <a:prstGeom prst="rect">
            <a:avLst/>
          </a:prstGeom>
          <a:noFill/>
          <a:ln/>
        </p:spPr>
        <p:txBody>
          <a:bodyPr wrap="square" lIns="0" tIns="0" rIns="0" bIns="0" rtlCol="0" anchor="ctr"/>
          <a:lstStyle/>
          <a:p>
            <a:pPr marL="0" indent="0">
              <a:buNone/>
            </a:pPr>
            <a:r>
              <a:rPr lang="en-US" sz="1600" b="1" dirty="0">
                <a:solidFill>
                  <a:srgbClr val="ECF1F5"/>
                </a:solidFill>
                <a:latin typeface="Trebuchet MS" pitchFamily="34" charset="0"/>
                <a:ea typeface="Trebuchet MS" pitchFamily="34" charset="-122"/>
                <a:cs typeface="Trebuchet MS" pitchFamily="34" charset="-120"/>
              </a:rPr>
              <a:t>Per-run overrides on the tools</a:t>
            </a:r>
            <a:endParaRPr lang="en-US" sz="1600" dirty="0"/>
          </a:p>
        </p:txBody>
      </p:sp>
      <p:sp>
        <p:nvSpPr>
          <p:cNvPr id="18" name="Text 16"/>
          <p:cNvSpPr/>
          <p:nvPr/>
        </p:nvSpPr>
        <p:spPr>
          <a:xfrm>
            <a:off x="6766560" y="2880360"/>
            <a:ext cx="4480560" cy="301752"/>
          </a:xfrm>
          <a:prstGeom prst="rect">
            <a:avLst/>
          </a:prstGeom>
          <a:noFill/>
          <a:ln/>
        </p:spPr>
        <p:txBody>
          <a:bodyPr wrap="square" lIns="0" tIns="0" rIns="0" bIns="0" rtlCol="0" anchor="ctr"/>
          <a:lstStyle/>
          <a:p>
            <a:pPr marL="0" indent="0">
              <a:buNone/>
            </a:pPr>
            <a:r>
              <a:rPr lang="en-US" sz="1200" dirty="0">
                <a:solidFill>
                  <a:srgbClr val="F0A202"/>
                </a:solidFill>
                <a:latin typeface="Consolas" pitchFamily="34" charset="0"/>
                <a:ea typeface="Consolas" pitchFamily="34" charset="-122"/>
                <a:cs typeface="Consolas" pitchFamily="34" charset="-120"/>
              </a:rPr>
              <a:t>--engine-dc-pub ADDR</a:t>
            </a:r>
            <a:endParaRPr lang="en-US" sz="1200" dirty="0"/>
          </a:p>
        </p:txBody>
      </p:sp>
      <p:sp>
        <p:nvSpPr>
          <p:cNvPr id="19" name="Text 17"/>
          <p:cNvSpPr/>
          <p:nvPr/>
        </p:nvSpPr>
        <p:spPr>
          <a:xfrm>
            <a:off x="6766560" y="3154680"/>
            <a:ext cx="4480560" cy="411480"/>
          </a:xfrm>
          <a:prstGeom prst="rect">
            <a:avLst/>
          </a:prstGeom>
          <a:noFill/>
          <a:ln/>
        </p:spPr>
        <p:txBody>
          <a:bodyPr wrap="square" lIns="0" tIns="0" rIns="0" bIns="0" rtlCol="0" anchor="t"/>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On the DC Gateway: subscribe to a non-default engine address</a:t>
            </a:r>
            <a:endParaRPr lang="en-US" sz="1150" dirty="0"/>
          </a:p>
        </p:txBody>
      </p:sp>
      <p:sp>
        <p:nvSpPr>
          <p:cNvPr id="20" name="Text 18"/>
          <p:cNvSpPr/>
          <p:nvPr/>
        </p:nvSpPr>
        <p:spPr>
          <a:xfrm>
            <a:off x="6766560" y="3657600"/>
            <a:ext cx="4480560" cy="301752"/>
          </a:xfrm>
          <a:prstGeom prst="rect">
            <a:avLst/>
          </a:prstGeom>
          <a:noFill/>
          <a:ln/>
        </p:spPr>
        <p:txBody>
          <a:bodyPr wrap="square" lIns="0" tIns="0" rIns="0" bIns="0" rtlCol="0" anchor="ctr"/>
          <a:lstStyle/>
          <a:p>
            <a:pPr marL="0" indent="0">
              <a:buNone/>
            </a:pPr>
            <a:r>
              <a:rPr lang="en-US" sz="1200" dirty="0">
                <a:solidFill>
                  <a:srgbClr val="F0A202"/>
                </a:solidFill>
                <a:latin typeface="Consolas" pitchFamily="34" charset="0"/>
                <a:ea typeface="Consolas" pitchFamily="34" charset="-122"/>
                <a:cs typeface="Consolas" pitchFamily="34" charset="-120"/>
              </a:rPr>
              <a:t>--host / --port</a:t>
            </a:r>
            <a:endParaRPr lang="en-US" sz="1200" dirty="0"/>
          </a:p>
        </p:txBody>
      </p:sp>
      <p:sp>
        <p:nvSpPr>
          <p:cNvPr id="21" name="Text 19"/>
          <p:cNvSpPr/>
          <p:nvPr/>
        </p:nvSpPr>
        <p:spPr>
          <a:xfrm>
            <a:off x="6766560" y="3931920"/>
            <a:ext cx="4480560" cy="411480"/>
          </a:xfrm>
          <a:prstGeom prst="rect">
            <a:avLst/>
          </a:prstGeom>
          <a:noFill/>
          <a:ln/>
        </p:spPr>
        <p:txBody>
          <a:bodyPr wrap="square" lIns="0" tIns="0" rIns="0" bIns="0" rtlCol="0" anchor="t"/>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On the spy tool: point at another host or port</a:t>
            </a:r>
            <a:endParaRPr lang="en-US" sz="1150" dirty="0"/>
          </a:p>
        </p:txBody>
      </p:sp>
      <p:sp>
        <p:nvSpPr>
          <p:cNvPr id="22" name="Text 20"/>
          <p:cNvSpPr/>
          <p:nvPr/>
        </p:nvSpPr>
        <p:spPr>
          <a:xfrm>
            <a:off x="6766560" y="4434840"/>
            <a:ext cx="4480560" cy="301752"/>
          </a:xfrm>
          <a:prstGeom prst="rect">
            <a:avLst/>
          </a:prstGeom>
          <a:noFill/>
          <a:ln/>
        </p:spPr>
        <p:txBody>
          <a:bodyPr wrap="square" lIns="0" tIns="0" rIns="0" bIns="0" rtlCol="0" anchor="ctr"/>
          <a:lstStyle/>
          <a:p>
            <a:pPr marL="0" indent="0">
              <a:buNone/>
            </a:pPr>
            <a:r>
              <a:rPr lang="en-US" sz="1200" dirty="0">
                <a:solidFill>
                  <a:srgbClr val="F0A202"/>
                </a:solidFill>
                <a:latin typeface="Consolas" pitchFamily="34" charset="0"/>
                <a:ea typeface="Consolas" pitchFamily="34" charset="-122"/>
                <a:cs typeface="Consolas" pitchFamily="34" charset="-120"/>
              </a:rPr>
              <a:t>--bind / --port</a:t>
            </a:r>
            <a:endParaRPr lang="en-US" sz="1200" dirty="0"/>
          </a:p>
        </p:txBody>
      </p:sp>
      <p:sp>
        <p:nvSpPr>
          <p:cNvPr id="23" name="Text 21"/>
          <p:cNvSpPr/>
          <p:nvPr/>
        </p:nvSpPr>
        <p:spPr>
          <a:xfrm>
            <a:off x="6766560" y="4709160"/>
            <a:ext cx="4480560" cy="411480"/>
          </a:xfrm>
          <a:prstGeom prst="rect">
            <a:avLst/>
          </a:prstGeom>
          <a:noFill/>
          <a:ln/>
        </p:spPr>
        <p:txBody>
          <a:bodyPr wrap="square" lIns="0" tIns="0" rIns="0" bIns="0" rtlCol="0" anchor="t"/>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On the DC Gateway: override the TCP listen address for one run</a:t>
            </a:r>
            <a:endParaRPr lang="en-US" sz="1150" dirty="0"/>
          </a:p>
        </p:txBody>
      </p:sp>
      <p:sp>
        <p:nvSpPr>
          <p:cNvPr id="24" name="Text 22"/>
          <p:cNvSpPr/>
          <p:nvPr/>
        </p:nvSpPr>
        <p:spPr>
          <a:xfrm>
            <a:off x="6766560" y="5212080"/>
            <a:ext cx="4480560" cy="301752"/>
          </a:xfrm>
          <a:prstGeom prst="rect">
            <a:avLst/>
          </a:prstGeom>
          <a:noFill/>
          <a:ln/>
        </p:spPr>
        <p:txBody>
          <a:bodyPr wrap="square" lIns="0" tIns="0" rIns="0" bIns="0" rtlCol="0" anchor="ctr"/>
          <a:lstStyle/>
          <a:p>
            <a:pPr marL="0" indent="0">
              <a:buNone/>
            </a:pPr>
            <a:r>
              <a:rPr lang="en-US" sz="1200" dirty="0">
                <a:solidFill>
                  <a:srgbClr val="F0A202"/>
                </a:solidFill>
                <a:latin typeface="Consolas" pitchFamily="34" charset="0"/>
                <a:ea typeface="Consolas" pitchFamily="34" charset="-122"/>
                <a:cs typeface="Consolas" pitchFamily="34" charset="-120"/>
              </a:rPr>
              <a:t>-v / -vv / --log-level</a:t>
            </a:r>
            <a:endParaRPr lang="en-US" sz="1200" dirty="0"/>
          </a:p>
        </p:txBody>
      </p:sp>
      <p:sp>
        <p:nvSpPr>
          <p:cNvPr id="25" name="Text 23"/>
          <p:cNvSpPr/>
          <p:nvPr/>
        </p:nvSpPr>
        <p:spPr>
          <a:xfrm>
            <a:off x="6766560" y="5486400"/>
            <a:ext cx="4480560" cy="411480"/>
          </a:xfrm>
          <a:prstGeom prst="rect">
            <a:avLst/>
          </a:prstGeom>
          <a:noFill/>
          <a:ln/>
        </p:spPr>
        <p:txBody>
          <a:bodyPr wrap="square" lIns="0" tIns="0" rIns="0" bIns="0" rtlCol="0" anchor="t"/>
          <a:lstStyle/>
          <a:p>
            <a:pPr marL="0" indent="0">
              <a:lnSpc>
                <a:spcPct val="105000"/>
              </a:lnSpc>
              <a:buNone/>
            </a:pPr>
            <a:r>
              <a:rPr lang="en-US" sz="1150" dirty="0">
                <a:solidFill>
                  <a:srgbClr val="97A4AE"/>
                </a:solidFill>
                <a:latin typeface="Calibri" pitchFamily="34" charset="0"/>
                <a:ea typeface="Calibri" pitchFamily="34" charset="-122"/>
                <a:cs typeface="Calibri" pitchFamily="34" charset="-120"/>
              </a:rPr>
              <a:t>Raise verbosity when you are diagnosing a silent feed</a:t>
            </a:r>
            <a:endParaRPr lang="en-US" sz="1150" dirty="0"/>
          </a:p>
        </p:txBody>
      </p:sp>
      <p:sp>
        <p:nvSpPr>
          <p:cNvPr id="26" name="Text 24"/>
          <p:cNvSpPr/>
          <p:nvPr/>
        </p:nvSpPr>
        <p:spPr>
          <a:xfrm>
            <a:off x="6766560" y="5715000"/>
            <a:ext cx="4480560" cy="320040"/>
          </a:xfrm>
          <a:prstGeom prst="rect">
            <a:avLst/>
          </a:prstGeom>
          <a:noFill/>
          <a:ln/>
        </p:spPr>
        <p:txBody>
          <a:bodyPr wrap="square" lIns="0" tIns="0" rIns="0" bIns="0" rtlCol="0" anchor="ctr"/>
          <a:lstStyle/>
          <a:p>
            <a:pPr marL="0" indent="0">
              <a:buNone/>
            </a:pPr>
            <a:r>
              <a:rPr lang="en-US" sz="1150" i="1" dirty="0">
                <a:solidFill>
                  <a:srgbClr val="6E7C87"/>
                </a:solidFill>
                <a:latin typeface="Calibri" pitchFamily="34" charset="0"/>
                <a:ea typeface="Calibri" pitchFamily="34" charset="-122"/>
                <a:cs typeface="Calibri" pitchFamily="34" charset="-120"/>
              </a:rPr>
              <a:t>Overrides last one run. Configuration lasts until you change it.</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685800" y="6291072"/>
            <a:ext cx="7315200" cy="274320"/>
          </a:xfrm>
          <a:prstGeom prst="rect">
            <a:avLst/>
          </a:prstGeom>
          <a:noFill/>
          <a:ln/>
        </p:spPr>
        <p:txBody>
          <a:bodyPr wrap="square" lIns="0" tIns="0" rIns="0" bIns="0" rtlCol="0" anchor="ctr"/>
          <a:lstStyle/>
          <a:p>
            <a:pPr marL="0" indent="0">
              <a:buNone/>
            </a:pPr>
            <a:r>
              <a:rPr lang="en-US" sz="950" kern="0" spc="200" dirty="0">
                <a:solidFill>
                  <a:srgbClr val="6E7C87"/>
                </a:solidFill>
                <a:latin typeface="Calibri" pitchFamily="34" charset="0"/>
                <a:ea typeface="Calibri" pitchFamily="34" charset="-122"/>
                <a:cs typeface="Calibri" pitchFamily="34" charset="-120"/>
              </a:rPr>
              <a:t>10 · CONFIGURATION</a:t>
            </a:r>
            <a:endParaRPr lang="en-US" sz="950" dirty="0"/>
          </a:p>
        </p:txBody>
      </p:sp>
      <p:sp>
        <p:nvSpPr>
          <p:cNvPr id="3" name="Text 1"/>
          <p:cNvSpPr/>
          <p:nvPr/>
        </p:nvSpPr>
        <p:spPr>
          <a:xfrm>
            <a:off x="10408615" y="6291072"/>
            <a:ext cx="1097280" cy="274320"/>
          </a:xfrm>
          <a:prstGeom prst="rect">
            <a:avLst/>
          </a:prstGeom>
          <a:noFill/>
          <a:ln/>
        </p:spPr>
        <p:txBody>
          <a:bodyPr wrap="square" lIns="0" tIns="0" rIns="0" bIns="0" rtlCol="0" anchor="ctr"/>
          <a:lstStyle/>
          <a:p>
            <a:pPr marL="0" indent="0" algn="r">
              <a:buNone/>
            </a:pPr>
            <a:r>
              <a:rPr lang="en-US" sz="1000" dirty="0">
                <a:solidFill>
                  <a:srgbClr val="F0A202"/>
                </a:solidFill>
                <a:latin typeface="Consolas" pitchFamily="34" charset="0"/>
                <a:ea typeface="Consolas" pitchFamily="34" charset="-122"/>
                <a:cs typeface="Consolas" pitchFamily="34" charset="-120"/>
              </a:rPr>
              <a:t>53</a:t>
            </a:r>
            <a:endParaRPr lang="en-US" sz="1000" dirty="0"/>
          </a:p>
        </p:txBody>
      </p:sp>
      <p:sp>
        <p:nvSpPr>
          <p:cNvPr id="4" name="Shape 2"/>
          <p:cNvSpPr/>
          <p:nvPr/>
        </p:nvSpPr>
        <p:spPr>
          <a:xfrm>
            <a:off x="685800" y="566928"/>
            <a:ext cx="146304" cy="146304"/>
          </a:xfrm>
          <a:prstGeom prst="rect">
            <a:avLst/>
          </a:prstGeom>
          <a:solidFill>
            <a:srgbClr val="F0A202"/>
          </a:solidFill>
          <a:ln/>
        </p:spPr>
        <p:txBody>
          <a:bodyPr/>
          <a:lstStyle/>
          <a:p>
            <a:endParaRPr lang="en-SE"/>
          </a:p>
        </p:txBody>
      </p:sp>
      <p:sp>
        <p:nvSpPr>
          <p:cNvPr id="5" name="Text 3"/>
          <p:cNvSpPr/>
          <p:nvPr/>
        </p:nvSpPr>
        <p:spPr>
          <a:xfrm>
            <a:off x="978408" y="502920"/>
            <a:ext cx="9144000" cy="292608"/>
          </a:xfrm>
          <a:prstGeom prst="rect">
            <a:avLst/>
          </a:prstGeom>
          <a:noFill/>
          <a:ln/>
        </p:spPr>
        <p:txBody>
          <a:bodyPr wrap="square" lIns="0" tIns="0" rIns="0" bIns="0" rtlCol="0" anchor="ctr"/>
          <a:lstStyle/>
          <a:p>
            <a:pPr marL="0" indent="0">
              <a:buNone/>
            </a:pPr>
            <a:r>
              <a:rPr lang="en-US" sz="1100" b="1" kern="0" spc="240" dirty="0">
                <a:solidFill>
                  <a:srgbClr val="F0A202"/>
                </a:solidFill>
                <a:latin typeface="Calibri" pitchFamily="34" charset="0"/>
                <a:ea typeface="Calibri" pitchFamily="34" charset="-122"/>
                <a:cs typeface="Calibri" pitchFamily="34" charset="-120"/>
              </a:rPr>
              <a:t>PUTTING IT TOGETHER</a:t>
            </a:r>
            <a:endParaRPr lang="en-US" sz="1100" dirty="0"/>
          </a:p>
        </p:txBody>
      </p:sp>
      <p:sp>
        <p:nvSpPr>
          <p:cNvPr id="6" name="Text 4"/>
          <p:cNvSpPr/>
          <p:nvPr/>
        </p:nvSpPr>
        <p:spPr>
          <a:xfrm>
            <a:off x="685800" y="896112"/>
            <a:ext cx="10820095" cy="685800"/>
          </a:xfrm>
          <a:prstGeom prst="rect">
            <a:avLst/>
          </a:prstGeom>
          <a:noFill/>
          <a:ln/>
        </p:spPr>
        <p:txBody>
          <a:bodyPr wrap="square" lIns="0" tIns="0" rIns="0" bIns="0" rtlCol="0" anchor="ctr"/>
          <a:lstStyle/>
          <a:p>
            <a:pPr marL="0" indent="0">
              <a:buNone/>
            </a:pPr>
            <a:r>
              <a:rPr lang="en-US" sz="3100" b="1" dirty="0">
                <a:solidFill>
                  <a:srgbClr val="ECF1F5"/>
                </a:solidFill>
                <a:latin typeface="Trebuchet MS" pitchFamily="34" charset="0"/>
                <a:ea typeface="Trebuchet MS" pitchFamily="34" charset="-122"/>
                <a:cs typeface="Trebuchet MS" pitchFamily="34" charset="-120"/>
              </a:rPr>
              <a:t>A working configuration, end to end</a:t>
            </a:r>
            <a:endParaRPr lang="en-US" sz="3100" dirty="0"/>
          </a:p>
        </p:txBody>
      </p:sp>
      <p:sp>
        <p:nvSpPr>
          <p:cNvPr id="7" name="Text 5"/>
          <p:cNvSpPr/>
          <p:nvPr/>
        </p:nvSpPr>
        <p:spPr>
          <a:xfrm>
            <a:off x="685800" y="1591056"/>
            <a:ext cx="10454335" cy="384048"/>
          </a:xfrm>
          <a:prstGeom prst="rect">
            <a:avLst/>
          </a:prstGeom>
          <a:noFill/>
          <a:ln/>
        </p:spPr>
        <p:txBody>
          <a:bodyPr wrap="square" lIns="0" tIns="0" rIns="0" bIns="0" rtlCol="0" anchor="t"/>
          <a:lstStyle/>
          <a:p>
            <a:pPr marL="0" indent="0">
              <a:buNone/>
            </a:pPr>
            <a:r>
              <a:rPr lang="en-US" sz="1450" dirty="0">
                <a:solidFill>
                  <a:srgbClr val="97A4AE"/>
                </a:solidFill>
                <a:latin typeface="Calibri" pitchFamily="34" charset="0"/>
                <a:ea typeface="Calibri" pitchFamily="34" charset="-122"/>
                <a:cs typeface="Calibri" pitchFamily="34" charset="-120"/>
              </a:rPr>
              <a:t>The minimum a new operator needs to get a functioning, observable drop copy path.</a:t>
            </a:r>
            <a:endParaRPr lang="en-US" sz="1450" dirty="0"/>
          </a:p>
        </p:txBody>
      </p:sp>
      <p:sp>
        <p:nvSpPr>
          <p:cNvPr id="8" name="Shape 6"/>
          <p:cNvSpPr/>
          <p:nvPr/>
        </p:nvSpPr>
        <p:spPr>
          <a:xfrm>
            <a:off x="685800" y="2194560"/>
            <a:ext cx="5760720" cy="2926080"/>
          </a:xfrm>
          <a:prstGeom prst="roundRect">
            <a:avLst>
              <a:gd name="adj" fmla="val 1250"/>
            </a:avLst>
          </a:prstGeom>
          <a:solidFill>
            <a:srgbClr val="141719"/>
          </a:solidFill>
          <a:ln w="12700">
            <a:solidFill>
              <a:srgbClr val="3A434B"/>
            </a:solidFill>
            <a:prstDash val="solid"/>
          </a:ln>
        </p:spPr>
        <p:txBody>
          <a:bodyPr/>
          <a:lstStyle/>
          <a:p>
            <a:endParaRPr lang="en-SE"/>
          </a:p>
        </p:txBody>
      </p:sp>
      <p:sp>
        <p:nvSpPr>
          <p:cNvPr id="9" name="Text 7"/>
          <p:cNvSpPr/>
          <p:nvPr/>
        </p:nvSpPr>
        <p:spPr>
          <a:xfrm>
            <a:off x="905256" y="2304288"/>
            <a:ext cx="5303520" cy="237744"/>
          </a:xfrm>
          <a:prstGeom prst="rect">
            <a:avLst/>
          </a:prstGeom>
          <a:noFill/>
          <a:ln/>
        </p:spPr>
        <p:txBody>
          <a:bodyPr wrap="square" lIns="0" tIns="0" rIns="0" bIns="0" rtlCol="0" anchor="ctr"/>
          <a:lstStyle/>
          <a:p>
            <a:pPr marL="0" indent="0">
              <a:buNone/>
            </a:pPr>
            <a:r>
              <a:rPr lang="en-US" sz="950" kern="0" spc="160" dirty="0">
                <a:solidFill>
                  <a:srgbClr val="6E7C87"/>
                </a:solidFill>
                <a:latin typeface="Calibri" pitchFamily="34" charset="0"/>
                <a:ea typeface="Calibri" pitchFamily="34" charset="-122"/>
                <a:cs typeface="Calibri" pitchFamily="34" charset="-120"/>
              </a:rPr>
              <a:t>FROM EMPTY CONFIG TO A VERIFIED FEED</a:t>
            </a:r>
            <a:endParaRPr lang="en-US" sz="950" dirty="0"/>
          </a:p>
        </p:txBody>
      </p:sp>
      <p:sp>
        <p:nvSpPr>
          <p:cNvPr id="10" name="Text 8"/>
          <p:cNvSpPr/>
          <p:nvPr/>
        </p:nvSpPr>
        <p:spPr>
          <a:xfrm>
            <a:off x="905256" y="2596896"/>
            <a:ext cx="5321808" cy="2377440"/>
          </a:xfrm>
          <a:prstGeom prst="rect">
            <a:avLst/>
          </a:prstGeom>
          <a:noFill/>
          <a:ln/>
        </p:spPr>
        <p:txBody>
          <a:bodyPr wrap="square" lIns="0" tIns="0" rIns="0" bIns="0" rtlCol="0" anchor="t"/>
          <a:lstStyle/>
          <a:p>
            <a:pPr marL="0" indent="0">
              <a:lnSpc>
                <a:spcPct val="116000"/>
              </a:lnSpc>
              <a:buNone/>
            </a:pPr>
            <a:r>
              <a:rPr lang="en-US" sz="1150" dirty="0">
                <a:solidFill>
                  <a:srgbClr val="6E7C87"/>
                </a:solidFill>
                <a:latin typeface="Consolas" pitchFamily="34" charset="0"/>
                <a:ea typeface="Consolas" pitchFamily="34" charset="-122"/>
                <a:cs typeface="Consolas" pitchFamily="34" charset="-120"/>
              </a:rPr>
              <a:t># 1 — generate or hand-edit the relay section</a:t>
            </a:r>
            <a:endParaRPr lang="en-US" sz="1150" dirty="0"/>
          </a:p>
          <a:p>
            <a:pPr marL="0" indent="0">
              <a:lnSpc>
                <a:spcPct val="116000"/>
              </a:lnSpc>
              <a:buNone/>
            </a:pPr>
            <a:r>
              <a:rPr lang="en-US" sz="1150" dirty="0">
                <a:solidFill>
                  <a:srgbClr val="3FD0C9"/>
                </a:solidFill>
                <a:latin typeface="Consolas" pitchFamily="34" charset="0"/>
                <a:ea typeface="Consolas" pitchFamily="34" charset="-122"/>
                <a:cs typeface="Consolas" pitchFamily="34" charset="-120"/>
              </a:rPr>
              <a:t>pm-config-gen --dc-gateway --dc-port 5590 \</a:t>
            </a:r>
            <a:endParaRPr lang="en-US" sz="1150" dirty="0"/>
          </a:p>
          <a:p>
            <a:pPr marL="0" indent="0">
              <a:lnSpc>
                <a:spcPct val="116000"/>
              </a:lnSpc>
              <a:buNone/>
            </a:pPr>
            <a:r>
              <a:rPr lang="en-US" sz="1150" dirty="0">
                <a:solidFill>
                  <a:srgbClr val="3FD0C9"/>
                </a:solidFill>
                <a:latin typeface="Consolas" pitchFamily="34" charset="0"/>
                <a:ea typeface="Consolas" pitchFamily="34" charset="-122"/>
                <a:cs typeface="Consolas" pitchFamily="34" charset="-120"/>
              </a:rPr>
              <a:t>              --dc-idle-timeout-sec 60</a:t>
            </a:r>
            <a:endParaRPr lang="en-US" sz="1150" dirty="0"/>
          </a:p>
          <a:p>
            <a:pPr marL="0" indent="0">
              <a:lnSpc>
                <a:spcPct val="116000"/>
              </a:lnSpc>
              <a:buNone/>
            </a:pPr>
            <a:endParaRPr lang="en-US" sz="1150" dirty="0"/>
          </a:p>
          <a:p>
            <a:pPr marL="0" indent="0">
              <a:lnSpc>
                <a:spcPct val="116000"/>
              </a:lnSpc>
              <a:buNone/>
            </a:pPr>
            <a:r>
              <a:rPr lang="en-US" sz="1150" dirty="0">
                <a:solidFill>
                  <a:srgbClr val="6E7C87"/>
                </a:solidFill>
                <a:latin typeface="Consolas" pitchFamily="34" charset="0"/>
                <a:ea typeface="Consolas" pitchFamily="34" charset="-122"/>
                <a:cs typeface="Consolas" pitchFamily="34" charset="-120"/>
              </a:rPr>
              <a:t># 2 — validate, compile and install it</a:t>
            </a:r>
            <a:endParaRPr lang="en-US" sz="1150" dirty="0"/>
          </a:p>
          <a:p>
            <a:pPr marL="0" indent="0">
              <a:lnSpc>
                <a:spcPct val="116000"/>
              </a:lnSpc>
              <a:buNone/>
            </a:pPr>
            <a:r>
              <a:rPr lang="en-US" sz="1150" dirty="0">
                <a:solidFill>
                  <a:srgbClr val="3FD0C9"/>
                </a:solidFill>
                <a:latin typeface="Consolas" pitchFamily="34" charset="0"/>
                <a:ea typeface="Consolas" pitchFamily="34" charset="-122"/>
                <a:cs typeface="Consolas" pitchFamily="34" charset="-120"/>
              </a:rPr>
              <a:t>pm-config-deploy my_config.yaml</a:t>
            </a:r>
            <a:endParaRPr lang="en-US" sz="1150" dirty="0"/>
          </a:p>
          <a:p>
            <a:pPr marL="0" indent="0">
              <a:lnSpc>
                <a:spcPct val="116000"/>
              </a:lnSpc>
              <a:buNone/>
            </a:pPr>
            <a:endParaRPr lang="en-US" sz="1150" dirty="0"/>
          </a:p>
          <a:p>
            <a:pPr marL="0" indent="0">
              <a:lnSpc>
                <a:spcPct val="116000"/>
              </a:lnSpc>
              <a:buNone/>
            </a:pPr>
            <a:r>
              <a:rPr lang="en-US" sz="1150" dirty="0">
                <a:solidFill>
                  <a:srgbClr val="6E7C87"/>
                </a:solidFill>
                <a:latin typeface="Consolas" pitchFamily="34" charset="0"/>
                <a:ea typeface="Consolas" pitchFamily="34" charset="-122"/>
                <a:cs typeface="Consolas" pitchFamily="34" charset="-120"/>
              </a:rPr>
              <a:t># 3 — start the engine, then the relay</a:t>
            </a:r>
            <a:endParaRPr lang="en-US" sz="1150" dirty="0"/>
          </a:p>
          <a:p>
            <a:pPr marL="0" indent="0">
              <a:lnSpc>
                <a:spcPct val="116000"/>
              </a:lnSpc>
              <a:buNone/>
            </a:pPr>
            <a:r>
              <a:rPr lang="en-US" sz="1150" dirty="0">
                <a:solidFill>
                  <a:srgbClr val="F0A202"/>
                </a:solidFill>
                <a:latin typeface="Consolas" pitchFamily="34" charset="0"/>
                <a:ea typeface="Consolas" pitchFamily="34" charset="-122"/>
                <a:cs typeface="Consolas" pitchFamily="34" charset="-120"/>
              </a:rPr>
              <a:t>pm-engine --verbose</a:t>
            </a:r>
            <a:endParaRPr lang="en-US" sz="1150" dirty="0"/>
          </a:p>
          <a:p>
            <a:pPr marL="0" indent="0">
              <a:lnSpc>
                <a:spcPct val="116000"/>
              </a:lnSpc>
              <a:buNone/>
            </a:pPr>
            <a:r>
              <a:rPr lang="en-US" sz="1150" dirty="0">
                <a:solidFill>
                  <a:srgbClr val="F0A202"/>
                </a:solidFill>
                <a:latin typeface="Consolas" pitchFamily="34" charset="0"/>
                <a:ea typeface="Consolas" pitchFamily="34" charset="-122"/>
                <a:cs typeface="Consolas" pitchFamily="34" charset="-120"/>
              </a:rPr>
              <a:t>pm-dc-gwy</a:t>
            </a:r>
            <a:endParaRPr lang="en-US" sz="1150" dirty="0"/>
          </a:p>
          <a:p>
            <a:pPr marL="0" indent="0">
              <a:lnSpc>
                <a:spcPct val="116000"/>
              </a:lnSpc>
              <a:buNone/>
            </a:pPr>
            <a:endParaRPr lang="en-US" sz="1150" dirty="0"/>
          </a:p>
          <a:p>
            <a:pPr marL="0" indent="0">
              <a:lnSpc>
                <a:spcPct val="116000"/>
              </a:lnSpc>
              <a:buNone/>
            </a:pPr>
            <a:r>
              <a:rPr lang="en-US" sz="1150" dirty="0">
                <a:solidFill>
                  <a:srgbClr val="6E7C87"/>
                </a:solidFill>
                <a:latin typeface="Consolas" pitchFamily="34" charset="0"/>
                <a:ea typeface="Consolas" pitchFamily="34" charset="-122"/>
                <a:cs typeface="Consolas" pitchFamily="34" charset="-120"/>
              </a:rPr>
              <a:t># 4 — prove the feed is alive</a:t>
            </a:r>
            <a:endParaRPr lang="en-US" sz="1150" dirty="0"/>
          </a:p>
          <a:p>
            <a:pPr marL="0" indent="0">
              <a:lnSpc>
                <a:spcPct val="116000"/>
              </a:lnSpc>
              <a:buNone/>
            </a:pPr>
            <a:r>
              <a:rPr lang="en-US" sz="1150" dirty="0">
                <a:solidFill>
                  <a:srgbClr val="9B8CFF"/>
                </a:solidFill>
                <a:latin typeface="Consolas" pitchFamily="34" charset="0"/>
                <a:ea typeface="Consolas" pitchFamily="34" charset="-122"/>
                <a:cs typeface="Consolas" pitchFamily="34" charset="-120"/>
              </a:rPr>
              <a:t>pm-dc-spy --gateway TRADER01</a:t>
            </a:r>
            <a:endParaRPr lang="en-US" sz="1150" dirty="0"/>
          </a:p>
        </p:txBody>
      </p:sp>
      <p:sp>
        <p:nvSpPr>
          <p:cNvPr id="11" name="Text 9"/>
          <p:cNvSpPr/>
          <p:nvPr/>
        </p:nvSpPr>
        <p:spPr>
          <a:xfrm>
            <a:off x="6766560" y="2194560"/>
            <a:ext cx="4736592" cy="365760"/>
          </a:xfrm>
          <a:prstGeom prst="rect">
            <a:avLst/>
          </a:prstGeom>
          <a:noFill/>
          <a:ln/>
        </p:spPr>
        <p:txBody>
          <a:bodyPr wrap="square" lIns="0" tIns="0" rIns="0" bIns="0" rtlCol="0" anchor="ctr"/>
          <a:lstStyle/>
          <a:p>
            <a:pPr marL="0" indent="0">
              <a:buNone/>
            </a:pPr>
            <a:r>
              <a:rPr lang="en-US" sz="1600" b="1" dirty="0">
                <a:solidFill>
                  <a:srgbClr val="ECF1F5"/>
                </a:solidFill>
                <a:latin typeface="Trebuchet MS" pitchFamily="34" charset="0"/>
                <a:ea typeface="Trebuchet MS" pitchFamily="34" charset="-122"/>
                <a:cs typeface="Trebuchet MS" pitchFamily="34" charset="-120"/>
              </a:rPr>
              <a:t>Verify in this order</a:t>
            </a:r>
            <a:endParaRPr lang="en-US" sz="1600" dirty="0"/>
          </a:p>
        </p:txBody>
      </p:sp>
      <p:sp>
        <p:nvSpPr>
          <p:cNvPr id="12" name="Shape 10"/>
          <p:cNvSpPr/>
          <p:nvPr/>
        </p:nvSpPr>
        <p:spPr>
          <a:xfrm>
            <a:off x="6766560" y="2651760"/>
            <a:ext cx="4736592" cy="420624"/>
          </a:xfrm>
          <a:prstGeom prst="roundRect">
            <a:avLst>
              <a:gd name="adj" fmla="val 10870"/>
            </a:avLst>
          </a:prstGeom>
          <a:solidFill>
            <a:srgbClr val="252B31"/>
          </a:solidFill>
          <a:ln w="12700">
            <a:solidFill>
              <a:srgbClr val="3A434B"/>
            </a:solidFill>
            <a:prstDash val="solid"/>
          </a:ln>
        </p:spPr>
        <p:txBody>
          <a:bodyPr/>
          <a:lstStyle/>
          <a:p>
            <a:endParaRPr lang="en-SE"/>
          </a:p>
        </p:txBody>
      </p:sp>
      <p:sp>
        <p:nvSpPr>
          <p:cNvPr id="13" name="Shape 11"/>
          <p:cNvSpPr/>
          <p:nvPr/>
        </p:nvSpPr>
        <p:spPr>
          <a:xfrm>
            <a:off x="6949440" y="2807208"/>
            <a:ext cx="118872" cy="118872"/>
          </a:xfrm>
          <a:prstGeom prst="rect">
            <a:avLst/>
          </a:prstGeom>
          <a:solidFill>
            <a:srgbClr val="3FD0C9"/>
          </a:solidFill>
          <a:ln/>
        </p:spPr>
        <p:txBody>
          <a:bodyPr/>
          <a:lstStyle/>
          <a:p>
            <a:endParaRPr lang="en-SE"/>
          </a:p>
        </p:txBody>
      </p:sp>
      <p:sp>
        <p:nvSpPr>
          <p:cNvPr id="14" name="Text 12"/>
          <p:cNvSpPr/>
          <p:nvPr/>
        </p:nvSpPr>
        <p:spPr>
          <a:xfrm>
            <a:off x="7223760" y="2651760"/>
            <a:ext cx="4206240" cy="420624"/>
          </a:xfrm>
          <a:prstGeom prst="rect">
            <a:avLst/>
          </a:prstGeom>
          <a:noFill/>
          <a:ln/>
        </p:spPr>
        <p:txBody>
          <a:bodyPr wrap="square" lIns="0" tIns="0" rIns="0" bIns="0" rtlCol="0" anchor="ctr"/>
          <a:lstStyle/>
          <a:p>
            <a:pPr marL="0" indent="0">
              <a:buNone/>
            </a:pPr>
            <a:r>
              <a:rPr lang="en-US" sz="1200" dirty="0">
                <a:solidFill>
                  <a:srgbClr val="ECF1F5"/>
                </a:solidFill>
                <a:latin typeface="Calibri" pitchFamily="34" charset="0"/>
                <a:ea typeface="Calibri" pitchFamily="34" charset="-122"/>
                <a:cs typeface="Calibri" pitchFamily="34" charset="-120"/>
              </a:rPr>
              <a:t>Engine log shows no bind warning</a:t>
            </a:r>
            <a:endParaRPr lang="en-US" sz="1200" dirty="0"/>
          </a:p>
        </p:txBody>
      </p:sp>
      <p:sp>
        <p:nvSpPr>
          <p:cNvPr id="15" name="Shape 13"/>
          <p:cNvSpPr/>
          <p:nvPr/>
        </p:nvSpPr>
        <p:spPr>
          <a:xfrm>
            <a:off x="6766560" y="3163824"/>
            <a:ext cx="4736592" cy="420624"/>
          </a:xfrm>
          <a:prstGeom prst="roundRect">
            <a:avLst>
              <a:gd name="adj" fmla="val 10870"/>
            </a:avLst>
          </a:prstGeom>
          <a:solidFill>
            <a:srgbClr val="252B31"/>
          </a:solidFill>
          <a:ln w="12700">
            <a:solidFill>
              <a:srgbClr val="3A434B"/>
            </a:solidFill>
            <a:prstDash val="solid"/>
          </a:ln>
        </p:spPr>
        <p:txBody>
          <a:bodyPr/>
          <a:lstStyle/>
          <a:p>
            <a:endParaRPr lang="en-SE"/>
          </a:p>
        </p:txBody>
      </p:sp>
      <p:sp>
        <p:nvSpPr>
          <p:cNvPr id="16" name="Shape 14"/>
          <p:cNvSpPr/>
          <p:nvPr/>
        </p:nvSpPr>
        <p:spPr>
          <a:xfrm>
            <a:off x="6949440" y="3319272"/>
            <a:ext cx="118872" cy="118872"/>
          </a:xfrm>
          <a:prstGeom prst="rect">
            <a:avLst/>
          </a:prstGeom>
          <a:solidFill>
            <a:srgbClr val="3FD0C9"/>
          </a:solidFill>
          <a:ln/>
        </p:spPr>
        <p:txBody>
          <a:bodyPr/>
          <a:lstStyle/>
          <a:p>
            <a:endParaRPr lang="en-SE"/>
          </a:p>
        </p:txBody>
      </p:sp>
      <p:sp>
        <p:nvSpPr>
          <p:cNvPr id="17" name="Text 15"/>
          <p:cNvSpPr/>
          <p:nvPr/>
        </p:nvSpPr>
        <p:spPr>
          <a:xfrm>
            <a:off x="7223760" y="3163824"/>
            <a:ext cx="4206240" cy="420624"/>
          </a:xfrm>
          <a:prstGeom prst="rect">
            <a:avLst/>
          </a:prstGeom>
          <a:noFill/>
          <a:ln/>
        </p:spPr>
        <p:txBody>
          <a:bodyPr wrap="square" lIns="0" tIns="0" rIns="0" bIns="0" rtlCol="0" anchor="ctr"/>
          <a:lstStyle/>
          <a:p>
            <a:pPr marL="0" indent="0">
              <a:buNone/>
            </a:pPr>
            <a:r>
              <a:rPr lang="en-US" sz="1200" dirty="0">
                <a:solidFill>
                  <a:srgbClr val="ECF1F5"/>
                </a:solidFill>
                <a:latin typeface="Calibri" pitchFamily="34" charset="0"/>
                <a:ea typeface="Calibri" pitchFamily="34" charset="-122"/>
                <a:cs typeface="Calibri" pitchFamily="34" charset="-120"/>
              </a:rPr>
              <a:t>The relay is listening on its port</a:t>
            </a:r>
            <a:endParaRPr lang="en-US" sz="1200" dirty="0"/>
          </a:p>
        </p:txBody>
      </p:sp>
      <p:sp>
        <p:nvSpPr>
          <p:cNvPr id="18" name="Shape 16"/>
          <p:cNvSpPr/>
          <p:nvPr/>
        </p:nvSpPr>
        <p:spPr>
          <a:xfrm>
            <a:off x="6766560" y="3675888"/>
            <a:ext cx="4736592" cy="420624"/>
          </a:xfrm>
          <a:prstGeom prst="roundRect">
            <a:avLst>
              <a:gd name="adj" fmla="val 10870"/>
            </a:avLst>
          </a:prstGeom>
          <a:solidFill>
            <a:srgbClr val="252B31"/>
          </a:solidFill>
          <a:ln w="12700">
            <a:solidFill>
              <a:srgbClr val="3A434B"/>
            </a:solidFill>
            <a:prstDash val="solid"/>
          </a:ln>
        </p:spPr>
        <p:txBody>
          <a:bodyPr/>
          <a:lstStyle/>
          <a:p>
            <a:endParaRPr lang="en-SE"/>
          </a:p>
        </p:txBody>
      </p:sp>
      <p:sp>
        <p:nvSpPr>
          <p:cNvPr id="19" name="Shape 17"/>
          <p:cNvSpPr/>
          <p:nvPr/>
        </p:nvSpPr>
        <p:spPr>
          <a:xfrm>
            <a:off x="6949440" y="3831336"/>
            <a:ext cx="118872" cy="118872"/>
          </a:xfrm>
          <a:prstGeom prst="rect">
            <a:avLst/>
          </a:prstGeom>
          <a:solidFill>
            <a:srgbClr val="3FD0C9"/>
          </a:solidFill>
          <a:ln/>
        </p:spPr>
        <p:txBody>
          <a:bodyPr/>
          <a:lstStyle/>
          <a:p>
            <a:endParaRPr lang="en-SE"/>
          </a:p>
        </p:txBody>
      </p:sp>
      <p:sp>
        <p:nvSpPr>
          <p:cNvPr id="20" name="Text 18"/>
          <p:cNvSpPr/>
          <p:nvPr/>
        </p:nvSpPr>
        <p:spPr>
          <a:xfrm>
            <a:off x="7223760" y="3675888"/>
            <a:ext cx="4206240" cy="420624"/>
          </a:xfrm>
          <a:prstGeom prst="rect">
            <a:avLst/>
          </a:prstGeom>
          <a:noFill/>
          <a:ln/>
        </p:spPr>
        <p:txBody>
          <a:bodyPr wrap="square" lIns="0" tIns="0" rIns="0" bIns="0" rtlCol="0" anchor="ctr"/>
          <a:lstStyle/>
          <a:p>
            <a:pPr marL="0" indent="0">
              <a:buNone/>
            </a:pPr>
            <a:r>
              <a:rPr lang="en-US" sz="1200" dirty="0">
                <a:solidFill>
                  <a:srgbClr val="ECF1F5"/>
                </a:solidFill>
                <a:latin typeface="Calibri" pitchFamily="34" charset="0"/>
                <a:ea typeface="Calibri" pitchFamily="34" charset="-122"/>
                <a:cs typeface="Calibri" pitchFamily="34" charset="-120"/>
              </a:rPr>
              <a:t>A HELLO returns a WELCOME</a:t>
            </a:r>
            <a:endParaRPr lang="en-US" sz="1200" dirty="0"/>
          </a:p>
        </p:txBody>
      </p:sp>
      <p:sp>
        <p:nvSpPr>
          <p:cNvPr id="21" name="Shape 19"/>
          <p:cNvSpPr/>
          <p:nvPr/>
        </p:nvSpPr>
        <p:spPr>
          <a:xfrm>
            <a:off x="6766560" y="4187952"/>
            <a:ext cx="4736592" cy="420624"/>
          </a:xfrm>
          <a:prstGeom prst="roundRect">
            <a:avLst>
              <a:gd name="adj" fmla="val 10870"/>
            </a:avLst>
          </a:prstGeom>
          <a:solidFill>
            <a:srgbClr val="252B31"/>
          </a:solidFill>
          <a:ln w="12700">
            <a:solidFill>
              <a:srgbClr val="3A434B"/>
            </a:solidFill>
            <a:prstDash val="solid"/>
          </a:ln>
        </p:spPr>
        <p:txBody>
          <a:bodyPr/>
          <a:lstStyle/>
          <a:p>
            <a:endParaRPr lang="en-SE"/>
          </a:p>
        </p:txBody>
      </p:sp>
      <p:sp>
        <p:nvSpPr>
          <p:cNvPr id="22" name="Shape 20"/>
          <p:cNvSpPr/>
          <p:nvPr/>
        </p:nvSpPr>
        <p:spPr>
          <a:xfrm>
            <a:off x="6949440" y="4343400"/>
            <a:ext cx="118872" cy="118872"/>
          </a:xfrm>
          <a:prstGeom prst="rect">
            <a:avLst/>
          </a:prstGeom>
          <a:solidFill>
            <a:srgbClr val="3FD0C9"/>
          </a:solidFill>
          <a:ln/>
        </p:spPr>
        <p:txBody>
          <a:bodyPr/>
          <a:lstStyle/>
          <a:p>
            <a:endParaRPr lang="en-SE"/>
          </a:p>
        </p:txBody>
      </p:sp>
      <p:sp>
        <p:nvSpPr>
          <p:cNvPr id="23" name="Text 21"/>
          <p:cNvSpPr/>
          <p:nvPr/>
        </p:nvSpPr>
        <p:spPr>
          <a:xfrm>
            <a:off x="7223760" y="4187952"/>
            <a:ext cx="4206240" cy="420624"/>
          </a:xfrm>
          <a:prstGeom prst="rect">
            <a:avLst/>
          </a:prstGeom>
          <a:noFill/>
          <a:ln/>
        </p:spPr>
        <p:txBody>
          <a:bodyPr wrap="square" lIns="0" tIns="0" rIns="0" bIns="0" rtlCol="0" anchor="ctr"/>
          <a:lstStyle/>
          <a:p>
            <a:pPr marL="0" indent="0">
              <a:buNone/>
            </a:pPr>
            <a:r>
              <a:rPr lang="en-US" sz="1200" dirty="0">
                <a:solidFill>
                  <a:srgbClr val="ECF1F5"/>
                </a:solidFill>
                <a:latin typeface="Calibri" pitchFamily="34" charset="0"/>
                <a:ea typeface="Calibri" pitchFamily="34" charset="-122"/>
                <a:cs typeface="Calibri" pitchFamily="34" charset="-120"/>
              </a:rPr>
              <a:t>A test trade produces two events</a:t>
            </a:r>
            <a:endParaRPr lang="en-US" sz="1200" dirty="0"/>
          </a:p>
        </p:txBody>
      </p:sp>
      <p:sp>
        <p:nvSpPr>
          <p:cNvPr id="24" name="Shape 22"/>
          <p:cNvSpPr/>
          <p:nvPr/>
        </p:nvSpPr>
        <p:spPr>
          <a:xfrm>
            <a:off x="6766560" y="4700016"/>
            <a:ext cx="4736592" cy="420624"/>
          </a:xfrm>
          <a:prstGeom prst="roundRect">
            <a:avLst>
              <a:gd name="adj" fmla="val 10870"/>
            </a:avLst>
          </a:prstGeom>
          <a:solidFill>
            <a:srgbClr val="252B31"/>
          </a:solidFill>
          <a:ln w="12700">
            <a:solidFill>
              <a:srgbClr val="3A434B"/>
            </a:solidFill>
            <a:prstDash val="solid"/>
          </a:ln>
        </p:spPr>
        <p:txBody>
          <a:bodyPr/>
          <a:lstStyle/>
          <a:p>
            <a:endParaRPr lang="en-SE"/>
          </a:p>
        </p:txBody>
      </p:sp>
      <p:sp>
        <p:nvSpPr>
          <p:cNvPr id="25" name="Shape 23"/>
          <p:cNvSpPr/>
          <p:nvPr/>
        </p:nvSpPr>
        <p:spPr>
          <a:xfrm>
            <a:off x="6949440" y="4855464"/>
            <a:ext cx="118872" cy="118872"/>
          </a:xfrm>
          <a:prstGeom prst="rect">
            <a:avLst/>
          </a:prstGeom>
          <a:solidFill>
            <a:srgbClr val="3FD0C9"/>
          </a:solidFill>
          <a:ln/>
        </p:spPr>
        <p:txBody>
          <a:bodyPr/>
          <a:lstStyle/>
          <a:p>
            <a:endParaRPr lang="en-SE"/>
          </a:p>
        </p:txBody>
      </p:sp>
      <p:sp>
        <p:nvSpPr>
          <p:cNvPr id="26" name="Text 24"/>
          <p:cNvSpPr/>
          <p:nvPr/>
        </p:nvSpPr>
        <p:spPr>
          <a:xfrm>
            <a:off x="7223760" y="4700016"/>
            <a:ext cx="4206240" cy="420624"/>
          </a:xfrm>
          <a:prstGeom prst="rect">
            <a:avLst/>
          </a:prstGeom>
          <a:noFill/>
          <a:ln/>
        </p:spPr>
        <p:txBody>
          <a:bodyPr wrap="square" lIns="0" tIns="0" rIns="0" bIns="0" rtlCol="0" anchor="ctr"/>
          <a:lstStyle/>
          <a:p>
            <a:pPr marL="0" indent="0">
              <a:buNone/>
            </a:pPr>
            <a:r>
              <a:rPr lang="en-US" sz="1200" dirty="0">
                <a:solidFill>
                  <a:srgbClr val="ECF1F5"/>
                </a:solidFill>
                <a:latin typeface="Calibri" pitchFamily="34" charset="0"/>
                <a:ea typeface="Calibri" pitchFamily="34" charset="-122"/>
                <a:cs typeface="Calibri" pitchFamily="34" charset="-120"/>
              </a:rPr>
              <a:t>Sequence numbers advance by one</a:t>
            </a:r>
            <a:endParaRPr lang="en-US" sz="1200" dirty="0"/>
          </a:p>
        </p:txBody>
      </p:sp>
      <p:sp>
        <p:nvSpPr>
          <p:cNvPr id="27" name="Shape 25"/>
          <p:cNvSpPr/>
          <p:nvPr/>
        </p:nvSpPr>
        <p:spPr>
          <a:xfrm>
            <a:off x="6766560" y="5303520"/>
            <a:ext cx="4736592" cy="822960"/>
          </a:xfrm>
          <a:prstGeom prst="roundRect">
            <a:avLst>
              <a:gd name="adj" fmla="val 6667"/>
            </a:avLst>
          </a:prstGeom>
          <a:solidFill>
            <a:srgbClr val="252B31"/>
          </a:solidFill>
          <a:ln w="19050">
            <a:solidFill>
              <a:srgbClr val="3FD0C9"/>
            </a:solidFill>
            <a:prstDash val="solid"/>
          </a:ln>
        </p:spPr>
        <p:txBody>
          <a:bodyPr/>
          <a:lstStyle/>
          <a:p>
            <a:endParaRPr lang="en-SE"/>
          </a:p>
        </p:txBody>
      </p:sp>
      <p:sp>
        <p:nvSpPr>
          <p:cNvPr id="28" name="Shape 26"/>
          <p:cNvSpPr/>
          <p:nvPr/>
        </p:nvSpPr>
        <p:spPr>
          <a:xfrm>
            <a:off x="7004304" y="5532120"/>
            <a:ext cx="365760" cy="365760"/>
          </a:xfrm>
          <a:prstGeom prst="roundRect">
            <a:avLst>
              <a:gd name="adj" fmla="val 125000"/>
            </a:avLst>
          </a:prstGeom>
          <a:solidFill>
            <a:srgbClr val="3FD0C9"/>
          </a:solidFill>
          <a:ln/>
        </p:spPr>
        <p:txBody>
          <a:bodyPr/>
          <a:lstStyle/>
          <a:p>
            <a:endParaRPr lang="en-SE"/>
          </a:p>
        </p:txBody>
      </p:sp>
      <p:sp>
        <p:nvSpPr>
          <p:cNvPr id="29" name="Text 27"/>
          <p:cNvSpPr/>
          <p:nvPr/>
        </p:nvSpPr>
        <p:spPr>
          <a:xfrm>
            <a:off x="7004304" y="5532120"/>
            <a:ext cx="365760" cy="365760"/>
          </a:xfrm>
          <a:prstGeom prst="rect">
            <a:avLst/>
          </a:prstGeom>
          <a:noFill/>
          <a:ln/>
        </p:spPr>
        <p:txBody>
          <a:bodyPr wrap="square" lIns="0" tIns="0" rIns="0" bIns="0" rtlCol="0" anchor="ctr"/>
          <a:lstStyle/>
          <a:p>
            <a:pPr marL="0" indent="0" algn="ctr">
              <a:buNone/>
            </a:pPr>
            <a:r>
              <a:rPr lang="en-US" sz="1500" b="1" dirty="0">
                <a:solidFill>
                  <a:srgbClr val="141719"/>
                </a:solidFill>
                <a:latin typeface="Trebuchet MS" pitchFamily="34" charset="0"/>
                <a:ea typeface="Trebuchet MS" pitchFamily="34" charset="-122"/>
                <a:cs typeface="Trebuchet MS" pitchFamily="34" charset="-120"/>
              </a:rPr>
              <a:t>i</a:t>
            </a:r>
            <a:endParaRPr lang="en-US" sz="1500" dirty="0"/>
          </a:p>
        </p:txBody>
      </p:sp>
      <p:sp>
        <p:nvSpPr>
          <p:cNvPr id="30" name="Text 28"/>
          <p:cNvSpPr/>
          <p:nvPr/>
        </p:nvSpPr>
        <p:spPr>
          <a:xfrm>
            <a:off x="7534656" y="5449824"/>
            <a:ext cx="3730752" cy="530352"/>
          </a:xfrm>
          <a:prstGeom prst="rect">
            <a:avLst/>
          </a:prstGeom>
          <a:noFill/>
          <a:ln/>
        </p:spPr>
        <p:txBody>
          <a:bodyPr wrap="square" lIns="0" tIns="0" rIns="0" bIns="0" rtlCol="0" anchor="ctr"/>
          <a:lstStyle/>
          <a:p>
            <a:pPr marL="0" indent="0">
              <a:lnSpc>
                <a:spcPct val="110000"/>
              </a:lnSpc>
              <a:buNone/>
            </a:pPr>
            <a:r>
              <a:rPr lang="en-US" sz="1350" b="1" dirty="0">
                <a:solidFill>
                  <a:srgbClr val="3FD0C9"/>
                </a:solidFill>
                <a:latin typeface="Trebuchet MS" pitchFamily="34" charset="0"/>
                <a:ea typeface="Trebuchet MS" pitchFamily="34" charset="-122"/>
                <a:cs typeface="Trebuchet MS" pitchFamily="34" charset="-120"/>
              </a:rPr>
              <a:t>Do step 4 every time</a:t>
            </a:r>
            <a:endParaRPr lang="en-US" sz="1350" dirty="0"/>
          </a:p>
          <a:p>
            <a:pPr marL="0" indent="0">
              <a:lnSpc>
                <a:spcPct val="110000"/>
              </a:lnSpc>
              <a:buNone/>
            </a:pPr>
            <a:r>
              <a:rPr lang="en-US" sz="1200" dirty="0">
                <a:solidFill>
                  <a:srgbClr val="97A4AE"/>
                </a:solidFill>
                <a:latin typeface="Calibri" pitchFamily="34" charset="0"/>
                <a:ea typeface="Calibri" pitchFamily="34" charset="-122"/>
                <a:cs typeface="Calibri" pitchFamily="34" charset="-120"/>
              </a:rPr>
              <a:t>A configuration that parses is not a feed that flows. Only a real fill proves the path.</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41719"/>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F0A202"/>
          </a:solidFill>
          <a:ln/>
        </p:spPr>
        <p:txBody>
          <a:bodyPr/>
          <a:lstStyle/>
          <a:p>
            <a:endParaRPr lang="en-SE"/>
          </a:p>
        </p:txBody>
      </p:sp>
      <p:sp>
        <p:nvSpPr>
          <p:cNvPr id="3" name="Text 1"/>
          <p:cNvSpPr/>
          <p:nvPr/>
        </p:nvSpPr>
        <p:spPr>
          <a:xfrm>
            <a:off x="685800" y="777240"/>
            <a:ext cx="7315200" cy="320040"/>
          </a:xfrm>
          <a:prstGeom prst="rect">
            <a:avLst/>
          </a:prstGeom>
          <a:noFill/>
          <a:ln/>
        </p:spPr>
        <p:txBody>
          <a:bodyPr wrap="square" lIns="0" tIns="0" rIns="0" bIns="0" rtlCol="0" anchor="ctr"/>
          <a:lstStyle/>
          <a:p>
            <a:pPr marL="0" indent="0">
              <a:buNone/>
            </a:pPr>
            <a:r>
              <a:rPr lang="en-US" sz="1150" b="1" kern="0" spc="300" dirty="0">
                <a:solidFill>
                  <a:srgbClr val="F0A202"/>
                </a:solidFill>
                <a:latin typeface="Calibri" pitchFamily="34" charset="0"/>
                <a:ea typeface="Calibri" pitchFamily="34" charset="-122"/>
                <a:cs typeface="Calibri" pitchFamily="34" charset="-120"/>
              </a:rPr>
              <a:t>IN SUMMARY</a:t>
            </a:r>
            <a:endParaRPr lang="en-US" sz="1150" dirty="0"/>
          </a:p>
        </p:txBody>
      </p:sp>
      <p:sp>
        <p:nvSpPr>
          <p:cNvPr id="4" name="Text 2"/>
          <p:cNvSpPr/>
          <p:nvPr/>
        </p:nvSpPr>
        <p:spPr>
          <a:xfrm>
            <a:off x="685800" y="1143000"/>
            <a:ext cx="8229600" cy="731520"/>
          </a:xfrm>
          <a:prstGeom prst="rect">
            <a:avLst/>
          </a:prstGeom>
          <a:noFill/>
          <a:ln/>
        </p:spPr>
        <p:txBody>
          <a:bodyPr wrap="square" lIns="0" tIns="0" rIns="0" bIns="0" rtlCol="0" anchor="ctr"/>
          <a:lstStyle/>
          <a:p>
            <a:pPr marL="0" indent="0">
              <a:buNone/>
            </a:pPr>
            <a:r>
              <a:rPr lang="en-US" sz="3600" b="1" dirty="0">
                <a:solidFill>
                  <a:srgbClr val="ECF1F5"/>
                </a:solidFill>
                <a:latin typeface="Trebuchet MS" pitchFamily="34" charset="0"/>
                <a:ea typeface="Trebuchet MS" pitchFamily="34" charset="-122"/>
                <a:cs typeface="Trebuchet MS" pitchFamily="34" charset="-120"/>
              </a:rPr>
              <a:t>What to carry away</a:t>
            </a:r>
            <a:endParaRPr lang="en-US" sz="3600" dirty="0"/>
          </a:p>
        </p:txBody>
      </p:sp>
      <p:sp>
        <p:nvSpPr>
          <p:cNvPr id="5" name="Shape 3"/>
          <p:cNvSpPr/>
          <p:nvPr/>
        </p:nvSpPr>
        <p:spPr>
          <a:xfrm>
            <a:off x="685800" y="2148840"/>
            <a:ext cx="5257800" cy="1417320"/>
          </a:xfrm>
          <a:prstGeom prst="roundRect">
            <a:avLst>
              <a:gd name="adj" fmla="val 3871"/>
            </a:avLst>
          </a:prstGeom>
          <a:solidFill>
            <a:srgbClr val="252B31"/>
          </a:solidFill>
          <a:ln w="12700">
            <a:solidFill>
              <a:srgbClr val="3A434B"/>
            </a:solidFill>
            <a:prstDash val="solid"/>
          </a:ln>
        </p:spPr>
        <p:txBody>
          <a:bodyPr/>
          <a:lstStyle/>
          <a:p>
            <a:endParaRPr lang="en-SE"/>
          </a:p>
        </p:txBody>
      </p:sp>
      <p:sp>
        <p:nvSpPr>
          <p:cNvPr id="6" name="Shape 4"/>
          <p:cNvSpPr/>
          <p:nvPr/>
        </p:nvSpPr>
        <p:spPr>
          <a:xfrm>
            <a:off x="685800" y="2148840"/>
            <a:ext cx="5257800" cy="82296"/>
          </a:xfrm>
          <a:prstGeom prst="rect">
            <a:avLst/>
          </a:prstGeom>
          <a:solidFill>
            <a:srgbClr val="F0A202"/>
          </a:solidFill>
          <a:ln/>
        </p:spPr>
        <p:txBody>
          <a:bodyPr/>
          <a:lstStyle/>
          <a:p>
            <a:endParaRPr lang="en-SE"/>
          </a:p>
        </p:txBody>
      </p:sp>
      <p:sp>
        <p:nvSpPr>
          <p:cNvPr id="7" name="Text 5"/>
          <p:cNvSpPr/>
          <p:nvPr/>
        </p:nvSpPr>
        <p:spPr>
          <a:xfrm>
            <a:off x="960120" y="2404872"/>
            <a:ext cx="4709160" cy="384048"/>
          </a:xfrm>
          <a:prstGeom prst="rect">
            <a:avLst/>
          </a:prstGeom>
          <a:noFill/>
          <a:ln/>
        </p:spPr>
        <p:txBody>
          <a:bodyPr wrap="square" lIns="0" tIns="0" rIns="0" bIns="0" rtlCol="0" anchor="ctr"/>
          <a:lstStyle/>
          <a:p>
            <a:pPr marL="0" indent="0">
              <a:buNone/>
            </a:pPr>
            <a:r>
              <a:rPr lang="en-US" sz="1600" b="1" dirty="0">
                <a:solidFill>
                  <a:srgbClr val="F0A202"/>
                </a:solidFill>
                <a:latin typeface="Trebuchet MS" pitchFamily="34" charset="0"/>
                <a:ea typeface="Trebuchet MS" pitchFamily="34" charset="-122"/>
                <a:cs typeface="Trebuchet MS" pitchFamily="34" charset="-120"/>
              </a:rPr>
              <a:t>It is the exchange's second telling</a:t>
            </a:r>
            <a:endParaRPr lang="en-US" sz="1600" dirty="0"/>
          </a:p>
        </p:txBody>
      </p:sp>
      <p:sp>
        <p:nvSpPr>
          <p:cNvPr id="8" name="Text 6"/>
          <p:cNvSpPr/>
          <p:nvPr/>
        </p:nvSpPr>
        <p:spPr>
          <a:xfrm>
            <a:off x="960120" y="2807208"/>
            <a:ext cx="4709160" cy="640080"/>
          </a:xfrm>
          <a:prstGeom prst="rect">
            <a:avLst/>
          </a:prstGeom>
          <a:noFill/>
          <a:ln/>
        </p:spPr>
        <p:txBody>
          <a:bodyPr wrap="square" lIns="0" tIns="0" rIns="0" bIns="0" rtlCol="0" anchor="t"/>
          <a:lstStyle/>
          <a:p>
            <a:pPr marL="0" indent="0">
              <a:lnSpc>
                <a:spcPct val="110000"/>
              </a:lnSpc>
              <a:buNone/>
            </a:pPr>
            <a:r>
              <a:rPr lang="en-US" sz="1250" dirty="0">
                <a:solidFill>
                  <a:srgbClr val="97A4AE"/>
                </a:solidFill>
                <a:latin typeface="Calibri" pitchFamily="34" charset="0"/>
                <a:ea typeface="Calibri" pitchFamily="34" charset="-122"/>
                <a:cs typeface="Calibri" pitchFamily="34" charset="-120"/>
              </a:rPr>
              <a:t>A copy of every fill, on a channel built for risk, audit and clearing rather than for trading.</a:t>
            </a:r>
            <a:endParaRPr lang="en-US" sz="1250" dirty="0"/>
          </a:p>
        </p:txBody>
      </p:sp>
      <p:sp>
        <p:nvSpPr>
          <p:cNvPr id="9" name="Shape 7"/>
          <p:cNvSpPr/>
          <p:nvPr/>
        </p:nvSpPr>
        <p:spPr>
          <a:xfrm>
            <a:off x="6217920" y="2148840"/>
            <a:ext cx="5257800" cy="1417320"/>
          </a:xfrm>
          <a:prstGeom prst="roundRect">
            <a:avLst>
              <a:gd name="adj" fmla="val 3871"/>
            </a:avLst>
          </a:prstGeom>
          <a:solidFill>
            <a:srgbClr val="252B31"/>
          </a:solidFill>
          <a:ln w="12700">
            <a:solidFill>
              <a:srgbClr val="3A434B"/>
            </a:solidFill>
            <a:prstDash val="solid"/>
          </a:ln>
        </p:spPr>
        <p:txBody>
          <a:bodyPr/>
          <a:lstStyle/>
          <a:p>
            <a:endParaRPr lang="en-SE"/>
          </a:p>
        </p:txBody>
      </p:sp>
      <p:sp>
        <p:nvSpPr>
          <p:cNvPr id="10" name="Shape 8"/>
          <p:cNvSpPr/>
          <p:nvPr/>
        </p:nvSpPr>
        <p:spPr>
          <a:xfrm>
            <a:off x="6217920" y="2148840"/>
            <a:ext cx="5257800" cy="82296"/>
          </a:xfrm>
          <a:prstGeom prst="rect">
            <a:avLst/>
          </a:prstGeom>
          <a:solidFill>
            <a:srgbClr val="3FD0C9"/>
          </a:solidFill>
          <a:ln/>
        </p:spPr>
        <p:txBody>
          <a:bodyPr/>
          <a:lstStyle/>
          <a:p>
            <a:endParaRPr lang="en-SE"/>
          </a:p>
        </p:txBody>
      </p:sp>
      <p:sp>
        <p:nvSpPr>
          <p:cNvPr id="11" name="Text 9"/>
          <p:cNvSpPr/>
          <p:nvPr/>
        </p:nvSpPr>
        <p:spPr>
          <a:xfrm>
            <a:off x="6492240" y="2404872"/>
            <a:ext cx="4709160" cy="384048"/>
          </a:xfrm>
          <a:prstGeom prst="rect">
            <a:avLst/>
          </a:prstGeom>
          <a:noFill/>
          <a:ln/>
        </p:spPr>
        <p:txBody>
          <a:bodyPr wrap="square" lIns="0" tIns="0" rIns="0" bIns="0" rtlCol="0" anchor="ctr"/>
          <a:lstStyle/>
          <a:p>
            <a:pPr marL="0" indent="0">
              <a:buNone/>
            </a:pPr>
            <a:r>
              <a:rPr lang="en-US" sz="1600" b="1" dirty="0">
                <a:solidFill>
                  <a:srgbClr val="3FD0C9"/>
                </a:solidFill>
                <a:latin typeface="Trebuchet MS" pitchFamily="34" charset="0"/>
                <a:ea typeface="Trebuchet MS" pitchFamily="34" charset="-122"/>
                <a:cs typeface="Trebuchet MS" pitchFamily="34" charset="-120"/>
              </a:rPr>
              <a:t>Its value is completeness</a:t>
            </a:r>
            <a:endParaRPr lang="en-US" sz="1600" dirty="0"/>
          </a:p>
        </p:txBody>
      </p:sp>
      <p:sp>
        <p:nvSpPr>
          <p:cNvPr id="12" name="Text 10"/>
          <p:cNvSpPr/>
          <p:nvPr/>
        </p:nvSpPr>
        <p:spPr>
          <a:xfrm>
            <a:off x="6492240" y="2807208"/>
            <a:ext cx="4709160" cy="640080"/>
          </a:xfrm>
          <a:prstGeom prst="rect">
            <a:avLst/>
          </a:prstGeom>
          <a:noFill/>
          <a:ln/>
        </p:spPr>
        <p:txBody>
          <a:bodyPr wrap="square" lIns="0" tIns="0" rIns="0" bIns="0" rtlCol="0" anchor="t"/>
          <a:lstStyle/>
          <a:p>
            <a:pPr marL="0" indent="0">
              <a:lnSpc>
                <a:spcPct val="110000"/>
              </a:lnSpc>
              <a:buNone/>
            </a:pPr>
            <a:r>
              <a:rPr lang="en-US" sz="1250" dirty="0">
                <a:solidFill>
                  <a:srgbClr val="97A4AE"/>
                </a:solidFill>
                <a:latin typeface="Calibri" pitchFamily="34" charset="0"/>
                <a:ea typeface="Calibri" pitchFamily="34" charset="-122"/>
                <a:cs typeface="Calibri" pitchFamily="34" charset="-120"/>
              </a:rPr>
              <a:t>Sequence numbers, not speed, are what make it trustworthy — gaps become visible instead of invisible.</a:t>
            </a:r>
            <a:endParaRPr lang="en-US" sz="1250" dirty="0"/>
          </a:p>
        </p:txBody>
      </p:sp>
      <p:sp>
        <p:nvSpPr>
          <p:cNvPr id="13" name="Shape 11"/>
          <p:cNvSpPr/>
          <p:nvPr/>
        </p:nvSpPr>
        <p:spPr>
          <a:xfrm>
            <a:off x="685800" y="3840480"/>
            <a:ext cx="5257800" cy="1417320"/>
          </a:xfrm>
          <a:prstGeom prst="roundRect">
            <a:avLst>
              <a:gd name="adj" fmla="val 3871"/>
            </a:avLst>
          </a:prstGeom>
          <a:solidFill>
            <a:srgbClr val="252B31"/>
          </a:solidFill>
          <a:ln w="12700">
            <a:solidFill>
              <a:srgbClr val="3A434B"/>
            </a:solidFill>
            <a:prstDash val="solid"/>
          </a:ln>
        </p:spPr>
        <p:txBody>
          <a:bodyPr/>
          <a:lstStyle/>
          <a:p>
            <a:endParaRPr lang="en-SE"/>
          </a:p>
        </p:txBody>
      </p:sp>
      <p:sp>
        <p:nvSpPr>
          <p:cNvPr id="14" name="Shape 12"/>
          <p:cNvSpPr/>
          <p:nvPr/>
        </p:nvSpPr>
        <p:spPr>
          <a:xfrm>
            <a:off x="685800" y="3840480"/>
            <a:ext cx="5257800" cy="82296"/>
          </a:xfrm>
          <a:prstGeom prst="rect">
            <a:avLst/>
          </a:prstGeom>
          <a:solidFill>
            <a:srgbClr val="9B8CFF"/>
          </a:solidFill>
          <a:ln/>
        </p:spPr>
        <p:txBody>
          <a:bodyPr/>
          <a:lstStyle/>
          <a:p>
            <a:endParaRPr lang="en-SE"/>
          </a:p>
        </p:txBody>
      </p:sp>
      <p:sp>
        <p:nvSpPr>
          <p:cNvPr id="15" name="Text 13"/>
          <p:cNvSpPr/>
          <p:nvPr/>
        </p:nvSpPr>
        <p:spPr>
          <a:xfrm>
            <a:off x="960120" y="4096512"/>
            <a:ext cx="4709160" cy="384048"/>
          </a:xfrm>
          <a:prstGeom prst="rect">
            <a:avLst/>
          </a:prstGeom>
          <a:noFill/>
          <a:ln/>
        </p:spPr>
        <p:txBody>
          <a:bodyPr wrap="square" lIns="0" tIns="0" rIns="0" bIns="0" rtlCol="0" anchor="ctr"/>
          <a:lstStyle/>
          <a:p>
            <a:pPr marL="0" indent="0">
              <a:buNone/>
            </a:pPr>
            <a:r>
              <a:rPr lang="en-US" sz="1600" b="1" dirty="0">
                <a:solidFill>
                  <a:srgbClr val="9B8CFF"/>
                </a:solidFill>
                <a:latin typeface="Trebuchet MS" pitchFamily="34" charset="0"/>
                <a:ea typeface="Trebuchet MS" pitchFamily="34" charset="-122"/>
                <a:cs typeface="Trebuchet MS" pitchFamily="34" charset="-120"/>
              </a:rPr>
              <a:t>Three ways in, one feed</a:t>
            </a:r>
            <a:endParaRPr lang="en-US" sz="1600" dirty="0"/>
          </a:p>
        </p:txBody>
      </p:sp>
      <p:sp>
        <p:nvSpPr>
          <p:cNvPr id="16" name="Text 14"/>
          <p:cNvSpPr/>
          <p:nvPr/>
        </p:nvSpPr>
        <p:spPr>
          <a:xfrm>
            <a:off x="960120" y="4498848"/>
            <a:ext cx="4709160" cy="640080"/>
          </a:xfrm>
          <a:prstGeom prst="rect">
            <a:avLst/>
          </a:prstGeom>
          <a:noFill/>
          <a:ln/>
        </p:spPr>
        <p:txBody>
          <a:bodyPr wrap="square" lIns="0" tIns="0" rIns="0" bIns="0" rtlCol="0" anchor="t"/>
          <a:lstStyle/>
          <a:p>
            <a:pPr marL="0" indent="0">
              <a:lnSpc>
                <a:spcPct val="110000"/>
              </a:lnSpc>
              <a:buNone/>
            </a:pPr>
            <a:r>
              <a:rPr lang="en-US" sz="1250" dirty="0">
                <a:solidFill>
                  <a:srgbClr val="97A4AE"/>
                </a:solidFill>
                <a:latin typeface="Calibri" pitchFamily="34" charset="0"/>
                <a:ea typeface="Calibri" pitchFamily="34" charset="-122"/>
                <a:cs typeface="Calibri" pitchFamily="34" charset="-120"/>
              </a:rPr>
              <a:t>Direct subscription, an ALF session relay, or the plain-TCP gateway. Pick by what the recipient already speaks.</a:t>
            </a:r>
            <a:endParaRPr lang="en-US" sz="1250" dirty="0"/>
          </a:p>
        </p:txBody>
      </p:sp>
      <p:sp>
        <p:nvSpPr>
          <p:cNvPr id="17" name="Shape 15"/>
          <p:cNvSpPr/>
          <p:nvPr/>
        </p:nvSpPr>
        <p:spPr>
          <a:xfrm>
            <a:off x="6217920" y="3840480"/>
            <a:ext cx="5257800" cy="1417320"/>
          </a:xfrm>
          <a:prstGeom prst="roundRect">
            <a:avLst>
              <a:gd name="adj" fmla="val 3871"/>
            </a:avLst>
          </a:prstGeom>
          <a:solidFill>
            <a:srgbClr val="252B31"/>
          </a:solidFill>
          <a:ln w="12700">
            <a:solidFill>
              <a:srgbClr val="3A434B"/>
            </a:solidFill>
            <a:prstDash val="solid"/>
          </a:ln>
        </p:spPr>
        <p:txBody>
          <a:bodyPr/>
          <a:lstStyle/>
          <a:p>
            <a:endParaRPr lang="en-SE"/>
          </a:p>
        </p:txBody>
      </p:sp>
      <p:sp>
        <p:nvSpPr>
          <p:cNvPr id="18" name="Shape 16"/>
          <p:cNvSpPr/>
          <p:nvPr/>
        </p:nvSpPr>
        <p:spPr>
          <a:xfrm>
            <a:off x="6217920" y="3840480"/>
            <a:ext cx="5257800" cy="82296"/>
          </a:xfrm>
          <a:prstGeom prst="rect">
            <a:avLst/>
          </a:prstGeom>
          <a:solidFill>
            <a:srgbClr val="E5566B"/>
          </a:solidFill>
          <a:ln/>
        </p:spPr>
        <p:txBody>
          <a:bodyPr/>
          <a:lstStyle/>
          <a:p>
            <a:endParaRPr lang="en-SE"/>
          </a:p>
        </p:txBody>
      </p:sp>
      <p:sp>
        <p:nvSpPr>
          <p:cNvPr id="19" name="Text 17"/>
          <p:cNvSpPr/>
          <p:nvPr/>
        </p:nvSpPr>
        <p:spPr>
          <a:xfrm>
            <a:off x="6492240" y="4096512"/>
            <a:ext cx="4709160" cy="384048"/>
          </a:xfrm>
          <a:prstGeom prst="rect">
            <a:avLst/>
          </a:prstGeom>
          <a:noFill/>
          <a:ln/>
        </p:spPr>
        <p:txBody>
          <a:bodyPr wrap="square" lIns="0" tIns="0" rIns="0" bIns="0" rtlCol="0" anchor="ctr"/>
          <a:lstStyle/>
          <a:p>
            <a:pPr marL="0" indent="0">
              <a:buNone/>
            </a:pPr>
            <a:r>
              <a:rPr lang="en-US" sz="1600" b="1" dirty="0">
                <a:solidFill>
                  <a:srgbClr val="E5566B"/>
                </a:solidFill>
                <a:latin typeface="Trebuchet MS" pitchFamily="34" charset="0"/>
                <a:ea typeface="Trebuchet MS" pitchFamily="34" charset="-122"/>
                <a:cs typeface="Trebuchet MS" pitchFamily="34" charset="-120"/>
              </a:rPr>
              <a:t>Configuration decides whether it exists</a:t>
            </a:r>
            <a:endParaRPr lang="en-US" sz="1600" dirty="0"/>
          </a:p>
        </p:txBody>
      </p:sp>
      <p:sp>
        <p:nvSpPr>
          <p:cNvPr id="20" name="Text 18"/>
          <p:cNvSpPr/>
          <p:nvPr/>
        </p:nvSpPr>
        <p:spPr>
          <a:xfrm>
            <a:off x="6492240" y="4498848"/>
            <a:ext cx="4709160" cy="640080"/>
          </a:xfrm>
          <a:prstGeom prst="rect">
            <a:avLst/>
          </a:prstGeom>
          <a:noFill/>
          <a:ln/>
        </p:spPr>
        <p:txBody>
          <a:bodyPr wrap="square" lIns="0" tIns="0" rIns="0" bIns="0" rtlCol="0" anchor="t"/>
          <a:lstStyle/>
          <a:p>
            <a:pPr marL="0" indent="0">
              <a:lnSpc>
                <a:spcPct val="110000"/>
              </a:lnSpc>
              <a:buNone/>
            </a:pPr>
            <a:r>
              <a:rPr lang="en-US" sz="1250" dirty="0">
                <a:solidFill>
                  <a:srgbClr val="97A4AE"/>
                </a:solidFill>
                <a:latin typeface="Calibri" pitchFamily="34" charset="0"/>
                <a:ea typeface="Calibri" pitchFamily="34" charset="-122"/>
                <a:cs typeface="Calibri" pitchFamily="34" charset="-120"/>
              </a:rPr>
              <a:t>A failed bind, a loopback-only relay or an undersized buffer all leave trading healthy and the audit trail incomplete.</a:t>
            </a:r>
            <a:endParaRPr lang="en-US" sz="1250" dirty="0"/>
          </a:p>
        </p:txBody>
      </p:sp>
      <p:sp>
        <p:nvSpPr>
          <p:cNvPr id="21" name="Text 19"/>
          <p:cNvSpPr/>
          <p:nvPr/>
        </p:nvSpPr>
        <p:spPr>
          <a:xfrm>
            <a:off x="685800" y="5715000"/>
            <a:ext cx="10820095" cy="457200"/>
          </a:xfrm>
          <a:prstGeom prst="rect">
            <a:avLst/>
          </a:prstGeom>
          <a:noFill/>
          <a:ln/>
        </p:spPr>
        <p:txBody>
          <a:bodyPr wrap="square" lIns="0" tIns="0" rIns="0" bIns="0" rtlCol="0" anchor="ctr"/>
          <a:lstStyle/>
          <a:p>
            <a:pPr marL="0" indent="0" algn="ctr">
              <a:buNone/>
            </a:pPr>
            <a:r>
              <a:rPr lang="en-US" sz="1700" dirty="0">
                <a:solidFill>
                  <a:srgbClr val="ECF1F5"/>
                </a:solidFill>
                <a:latin typeface="Trebuchet MS" pitchFamily="34" charset="0"/>
                <a:ea typeface="Trebuchet MS" pitchFamily="34" charset="-122"/>
                <a:cs typeface="Trebuchet MS" pitchFamily="34" charset="-120"/>
              </a:rPr>
              <a:t>If trading works but nobody downstream can prove what happened, the system is not correctly configured.</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8185</Words>
  <Application>Microsoft Macintosh PowerPoint</Application>
  <PresentationFormat>Widescreen</PresentationFormat>
  <Paragraphs>1092</Paragraphs>
  <Slides>54</Slides>
  <Notes>54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Persson</dc:creator>
  <cp:lastModifiedBy>Johan Persson</cp:lastModifiedBy>
  <cp:revision>1</cp:revision>
  <dcterms:created xsi:type="dcterms:W3CDTF">2026-08-04T13:55:39Z</dcterms:created>
  <dcterms:modified xsi:type="dcterms:W3CDTF">2026-08-04T14:22:15Z</dcterms:modified>
</cp:coreProperties>
</file>