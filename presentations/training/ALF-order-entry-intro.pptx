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99" d="100"/>
          <a:sy n="99" d="100"/>
        </p:scale>
        <p:origin x="1136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">
    <p:bg>
      <p:bgPr>
        <a:solidFill>
          <a:srgbClr val="14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212848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M">
    <p:bg>
      <p:bgPr>
        <a:solidFill>
          <a:srgbClr val="14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331720"/>
            <a:ext cx="73152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">
    <p:bg>
      <p:bgPr>
        <a:solidFill>
          <a:srgbClr val="14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56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illustration of a glowing gateway with order flow passing through into a matching engine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14">
              <a:alpha val="7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852160" cy="5143500"/>
          </a:xfrm>
          <a:prstGeom prst="rect">
            <a:avLst/>
          </a:prstGeom>
          <a:solidFill>
            <a:srgbClr val="0C1014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34440"/>
            <a:ext cx="1051560" cy="45720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Text 3"/>
          <p:cNvSpPr/>
          <p:nvPr/>
        </p:nvSpPr>
        <p:spPr>
          <a:xfrm>
            <a:off x="640080" y="1517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ORDER ENTRY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212848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ALF Protocol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ALmost FIX — a small, readable order-entry protocol, and the gateway that speaks it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beginner's guide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deck covers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225296"/>
            <a:ext cx="2679192" cy="14173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225296"/>
            <a:ext cx="50292" cy="1417320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76656" y="1371600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76656" y="1591056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gateway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" y="1901952"/>
            <a:ext cx="2295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exchanges put a translator in front of the matching engine</a:t>
            </a:r>
            <a:endParaRPr lang="en-US" sz="1050" dirty="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1225296"/>
            <a:ext cx="2679192" cy="14173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2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1225296"/>
            <a:ext cx="50292" cy="1417320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3611880" y="1371600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2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11880" y="1591056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protocol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1901952"/>
            <a:ext cx="2295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ALF is, what it is not, and how a line is built</a:t>
            </a:r>
            <a:endParaRPr lang="en-US" sz="1050" dirty="0"/>
          </a:p>
        </p:txBody>
      </p:sp>
      <p:sp>
        <p:nvSpPr>
          <p:cNvPr id="1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7648" y="1225296"/>
            <a:ext cx="2679192" cy="14173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7648" y="1225296"/>
            <a:ext cx="50292" cy="1417320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547104" y="1371600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47104" y="1591056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47104" y="1901952"/>
            <a:ext cx="2295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lifecycle, handshake, heartbeats and timeouts</a:t>
            </a:r>
            <a:endParaRPr lang="en-US" sz="1050" dirty="0"/>
          </a:p>
        </p:txBody>
      </p:sp>
      <p:sp>
        <p:nvSpPr>
          <p:cNvPr id="2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935224"/>
            <a:ext cx="2679192" cy="14173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2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935224"/>
            <a:ext cx="50292" cy="1417320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76656" y="3081528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6656" y="330098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" y="3611880"/>
            <a:ext cx="2295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order category you can send, and what comes back</a:t>
            </a:r>
            <a:endParaRPr lang="en-US" sz="1050" dirty="0"/>
          </a:p>
        </p:txBody>
      </p:sp>
      <p:sp>
        <p:nvSpPr>
          <p:cNvPr id="2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2935224"/>
            <a:ext cx="2679192" cy="14173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2935224"/>
            <a:ext cx="50292" cy="1417320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3611880" y="3081528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E8B2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11880" y="330098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11880" y="3611880"/>
            <a:ext cx="2295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Amending, cancelling, monitoring and error handling</a:t>
            </a:r>
            <a:endParaRPr lang="en-US" sz="1050" dirty="0"/>
          </a:p>
        </p:txBody>
      </p:sp>
      <p:sp>
        <p:nvSpPr>
          <p:cNvPr id="3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7648" y="2935224"/>
            <a:ext cx="2679192" cy="14173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2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7648" y="2935224"/>
            <a:ext cx="50292" cy="1417320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6547104" y="3081528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2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547104" y="330098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47104" y="3611880"/>
            <a:ext cx="2295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Writing your own client, plus the technical reference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illustration introducing this section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14">
              <a:alpha val="74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94960" cy="5143500"/>
          </a:xfrm>
          <a:prstGeom prst="rect">
            <a:avLst/>
          </a:prstGeom>
          <a:solidFill>
            <a:srgbClr val="0C1014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81328"/>
            <a:ext cx="822960" cy="41148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Text 3"/>
          <p:cNvSpPr/>
          <p:nvPr/>
        </p:nvSpPr>
        <p:spPr>
          <a:xfrm>
            <a:off x="64008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3317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Gateway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2186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5D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front door of a trading system: who is allowed in, what language they must speak, and what gets forwarded to the engine.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gateway?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gateway is the entry point through which outside participants send orders and receive answers. It translates their message format into the one the matching engine understands.</a:t>
            </a:r>
            <a:endParaRPr lang="en-US" sz="1250" dirty="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965960"/>
            <a:ext cx="2286000" cy="137160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965960"/>
            <a:ext cx="50292" cy="1371600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76656" y="211226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2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OUTSIDE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76656" y="233172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" y="2642616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Traders, bots, market makers — any host, any language.</a:t>
            </a:r>
            <a:endParaRPr lang="en-US" sz="1050" dirty="0"/>
          </a:p>
        </p:txBody>
      </p:sp>
      <p:sp>
        <p:nvSpPr>
          <p:cNvPr id="12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6352" y="2532888"/>
            <a:ext cx="457200" cy="201168"/>
          </a:xfrm>
          <a:prstGeom prst="rightArrow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6704" y="1965960"/>
            <a:ext cx="2450592" cy="137160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6704" y="1965960"/>
            <a:ext cx="50292" cy="1371600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3566160" y="2112264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BETWEEN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gateway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2642616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 · parse · validate · rate-limit · translate · route.</a:t>
            </a:r>
            <a:endParaRPr lang="en-US" sz="1050" dirty="0"/>
          </a:p>
        </p:txBody>
      </p:sp>
      <p:sp>
        <p:nvSpPr>
          <p:cNvPr id="18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70448" y="2532888"/>
            <a:ext cx="457200" cy="201168"/>
          </a:xfrm>
          <a:prstGeom prst="rightArrow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1965960"/>
            <a:ext cx="2286000" cy="137160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1965960"/>
            <a:ext cx="50292" cy="1371600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620256" y="211226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620256" y="233172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Matching engine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0256" y="2642616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one job only: match orders, fast.</a:t>
            </a:r>
            <a:endParaRPr lang="en-US" sz="1050" dirty="0"/>
          </a:p>
        </p:txBody>
      </p:sp>
      <p:sp>
        <p:nvSpPr>
          <p:cNvPr id="24" name="key poi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657600"/>
            <a:ext cx="8229600" cy="841248"/>
          </a:xfrm>
          <a:prstGeom prst="rect">
            <a:avLst/>
          </a:prstGeom>
          <a:solidFill>
            <a:srgbClr val="16342A"/>
          </a:solidFill>
          <a:ln w="1270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58368" y="3785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IDEA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368" y="402336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 never parses text and never manages sessions. Anything a client can do wrong is caught at the gateway, before it can slow matching down.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gateway sits outside the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SEPARATION OF CONCERNS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70432"/>
            <a:ext cx="4041648" cy="129844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70432"/>
            <a:ext cx="50292" cy="1298448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76656" y="1316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162763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this gateway ID on the allowlist? The engine is the authority; the gateway asks and enforces.</a:t>
            </a:r>
            <a:endParaRPr lang="en-US" sz="105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170432"/>
            <a:ext cx="4041648" cy="129844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170432"/>
            <a:ext cx="50292" cy="1298448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4864608" y="1316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 &amp; validate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64608" y="162763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a text line into a structured request, or reject it defensively with a clear error code.</a:t>
            </a:r>
            <a:endParaRPr lang="en-US" sz="105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651760"/>
            <a:ext cx="4041648" cy="129844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651760"/>
            <a:ext cx="50292" cy="1298448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76656" y="2798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" y="310896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limits, idle timeouts, outbound queue caps and error budgets keep one bad client from hurting others.</a:t>
            </a:r>
            <a:endParaRPr lang="en-US" sz="1050" dirty="0"/>
          </a:p>
        </p:txBody>
      </p:sp>
      <p:sp>
        <p:nvSpPr>
          <p:cNvPr id="1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651760"/>
            <a:ext cx="4041648" cy="129844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651760"/>
            <a:ext cx="50292" cy="1298448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4864608" y="2798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 &amp; route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64608" y="310896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 commands into the engine's internal messages, then convert engine events back into protocol lines.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1879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more benefit: because format handling lives outside the engine, a venue can offer several protocols at once — an HFT firm on a binary feed and a retail broker on text can share the same engine.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protocols in the real world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43000"/>
            <a:ext cx="45720" cy="502920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4.2 / 4.4 / 5.0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1430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(tag=value)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70832" y="1143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Brokers, buy-side OMS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89320" y="1143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lingua franca of institutional order routing</a:t>
            </a:r>
            <a:endParaRPr lang="en-US" sz="950" dirty="0"/>
          </a:p>
        </p:txBody>
      </p:sp>
      <p:sp>
        <p:nvSpPr>
          <p:cNvPr id="12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700784"/>
            <a:ext cx="8229600" cy="5029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700784"/>
            <a:ext cx="45720" cy="502920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640080" y="17007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OUCH (Nasdaq)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170078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70832" y="170078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HFT, prop traders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170078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Ultra-low latency, fixed-length binary fields</a:t>
            </a:r>
            <a:endParaRPr lang="en-US" sz="950" dirty="0"/>
          </a:p>
        </p:txBody>
      </p:sp>
      <p:sp>
        <p:nvSpPr>
          <p:cNvPr id="18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258568"/>
            <a:ext cx="8229600" cy="5029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258568"/>
            <a:ext cx="45720" cy="502920"/>
          </a:xfrm>
          <a:prstGeom prst="rect">
            <a:avLst/>
          </a:prstGeom>
          <a:solidFill>
            <a:srgbClr val="6E7A8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640080" y="22585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ITCH (Nasdaq)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22585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Binary, market data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70832" y="22585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consumers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89320" y="22585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One-way feed for order book reconstruction</a:t>
            </a:r>
            <a:endParaRPr lang="en-US" sz="950" dirty="0"/>
          </a:p>
        </p:txBody>
      </p:sp>
      <p:sp>
        <p:nvSpPr>
          <p:cNvPr id="24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816352"/>
            <a:ext cx="8229600" cy="5029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816352"/>
            <a:ext cx="45720" cy="502920"/>
          </a:xfrm>
          <a:prstGeom prst="rect">
            <a:avLst/>
          </a:prstGeom>
          <a:solidFill>
            <a:srgbClr val="6E7A8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40080" y="28163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/ SBE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28163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70832" y="28163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consumers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89320" y="28163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Binary Encoding — CME, Eurex market data</a:t>
            </a:r>
            <a:endParaRPr lang="en-US" sz="950" dirty="0"/>
          </a:p>
        </p:txBody>
      </p:sp>
      <p:sp>
        <p:nvSpPr>
          <p:cNvPr id="30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74136"/>
            <a:ext cx="8229600" cy="5029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74136"/>
            <a:ext cx="45720" cy="502920"/>
          </a:xfrm>
          <a:prstGeom prst="rect">
            <a:avLst/>
          </a:prstGeom>
          <a:solidFill>
            <a:srgbClr val="6E7A8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640080" y="33741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BOE (Cboe)  ·  ETI (Eurex)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34640" y="337413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370832" y="3374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HFT, derivatives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89320" y="337413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Venue-specific binary order entry interfaces</a:t>
            </a:r>
            <a:endParaRPr lang="en-US" sz="950" dirty="0"/>
          </a:p>
        </p:txBody>
      </p:sp>
      <p:sp>
        <p:nvSpPr>
          <p:cNvPr id="36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931920"/>
            <a:ext cx="45720" cy="502920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64008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/ WebSocket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34640" y="3931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/ JSON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370832" y="3931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Retail, algorithmic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89320" y="3931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 venues and easy-to-integrate retail stacks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borrows FIX's field=value idea — and deliberately stops there.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ALF fits 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FAMILY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exposes several interfaces. ALF is the order-entry one.</a:t>
            </a:r>
            <a:endParaRPr lang="en-US" sz="1150" dirty="0"/>
          </a:p>
        </p:txBody>
      </p:sp>
      <p:sp>
        <p:nvSpPr>
          <p:cNvPr id="7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44752"/>
            <a:ext cx="8229600" cy="475488"/>
          </a:xfrm>
          <a:prstGeom prst="rect">
            <a:avLst/>
          </a:prstGeom>
          <a:solidFill>
            <a:srgbClr val="1B2B24"/>
          </a:solidFill>
          <a:ln w="1270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21792" y="144475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44475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pm-alf-console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4447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ZMQ direct, local only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166360" y="1444752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trading at the engine's own machine</a:t>
            </a:r>
            <a:endParaRPr lang="en-US" sz="1000" dirty="0"/>
          </a:p>
        </p:txBody>
      </p:sp>
      <p:sp>
        <p:nvSpPr>
          <p:cNvPr id="12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970532"/>
            <a:ext cx="8229600" cy="475488"/>
          </a:xfrm>
          <a:prstGeom prst="rect">
            <a:avLst/>
          </a:prstGeom>
          <a:solidFill>
            <a:srgbClr val="1B2B24"/>
          </a:solidFill>
          <a:ln w="1270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621792" y="197053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19705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pm-alf-gwy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9705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text :5565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66360" y="1970532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bots and remote scripts, any language</a:t>
            </a:r>
            <a:endParaRPr lang="en-US" sz="1000" dirty="0"/>
          </a:p>
        </p:txBody>
      </p:sp>
      <p:sp>
        <p:nvSpPr>
          <p:cNvPr id="17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496312"/>
            <a:ext cx="8229600" cy="47548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21792" y="24963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2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249631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pm-md-gwy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24963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text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66360" y="2496312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market data: top of book, trades, state</a:t>
            </a:r>
            <a:endParaRPr lang="en-US" sz="1000" dirty="0"/>
          </a:p>
        </p:txBody>
      </p:sp>
      <p:sp>
        <p:nvSpPr>
          <p:cNvPr id="22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022092"/>
            <a:ext cx="8229600" cy="47548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21792" y="30220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RALF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302209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pm-ralf-gwy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0220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text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166360" y="3022092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Post-trade: clearing, drop copy, audit</a:t>
            </a:r>
            <a:endParaRPr lang="en-US" sz="1000" dirty="0"/>
          </a:p>
        </p:txBody>
      </p:sp>
      <p:sp>
        <p:nvSpPr>
          <p:cNvPr id="27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47872"/>
            <a:ext cx="8229600" cy="47548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621792" y="35478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2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/ WS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54480" y="354787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pm-api-gwy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91840" y="35478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+ WebSocket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66360" y="3547872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Browsers and API-native applications</a:t>
            </a:r>
            <a:endParaRPr lang="en-US" sz="1000" dirty="0"/>
          </a:p>
        </p:txBody>
      </p:sp>
      <p:sp>
        <p:nvSpPr>
          <p:cNvPr id="32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073652"/>
            <a:ext cx="8229600" cy="47548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621792" y="407365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54480" y="407365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ZMQ PUB / PULL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91840" y="40736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ZMQ binary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166360" y="4073652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Processes that import the package directly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ways to speak ALF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CHOICE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command vocabulary, two very different front doors.</a:t>
            </a:r>
            <a:endParaRPr lang="en-US" sz="1150" dirty="0"/>
          </a:p>
        </p:txBody>
      </p:sp>
      <p:sp>
        <p:nvSpPr>
          <p:cNvPr id="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44752"/>
            <a:ext cx="4041648" cy="3108960"/>
          </a:xfrm>
          <a:prstGeom prst="rect">
            <a:avLst/>
          </a:prstGeom>
          <a:solidFill>
            <a:srgbClr val="1D232A"/>
          </a:solidFill>
          <a:ln w="15875">
            <a:solidFill>
              <a:srgbClr val="62A8D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76656" y="15910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pm-alf-console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" y="1901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interactive terminal</a:t>
            </a:r>
            <a:endParaRPr lang="en-US" sz="1050" dirty="0"/>
          </a:p>
        </p:txBody>
      </p:sp>
      <p:sp>
        <p:nvSpPr>
          <p:cNvPr id="10" name="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212848"/>
            <a:ext cx="2286000" cy="274320"/>
          </a:xfrm>
          <a:prstGeom prst="rect">
            <a:avLst/>
          </a:prstGeom>
          <a:solidFill>
            <a:srgbClr val="16232C"/>
          </a:solidFill>
          <a:ln w="12700">
            <a:solidFill>
              <a:srgbClr val="62A8D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713232" y="221284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2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SITS ON THE ZMQ BUS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" y="2615184"/>
            <a:ext cx="36210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straight to the engine's ZMQ sockets (PUSH :5555, SUB :5556)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 no TCP listener — it must run on the same machine as the engine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stdin, prints to stdout: tab completion, history, live event display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Keeps local caches, so it can answer STATUS, POS and QLEGS by itself</a:t>
            </a:r>
            <a:endParaRPr lang="en-US" sz="10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444752"/>
            <a:ext cx="4041648" cy="3108960"/>
          </a:xfrm>
          <a:prstGeom prst="rect">
            <a:avLst/>
          </a:prstGeom>
          <a:solidFill>
            <a:srgbClr val="1D232A"/>
          </a:solidFill>
          <a:ln w="15875">
            <a:solidFill>
              <a:srgbClr val="3DD68C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4864608" y="15910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pm-alf-gwy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64608" y="1901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ALF TCP gateway</a:t>
            </a:r>
            <a:endParaRPr lang="en-US" sz="1050" dirty="0"/>
          </a:p>
        </p:txBody>
      </p:sp>
      <p:sp>
        <p:nvSpPr>
          <p:cNvPr id="16" name="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64608" y="2212848"/>
            <a:ext cx="2286000" cy="274320"/>
          </a:xfrm>
          <a:prstGeom prst="rect">
            <a:avLst/>
          </a:prstGeom>
          <a:solidFill>
            <a:srgbClr val="16342A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4901184" y="221284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SPEAKS TCP/IP :5565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64608" y="2615184"/>
            <a:ext cx="36210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Binds a TCP port and accepts many simultaneous connections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Reachable from any host, in any language — a plain socket is enough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every line defensively, then translates it to the same engine messages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bots and remote scripts, not for humans at a keyboard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engine, two paths 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la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78992"/>
            <a:ext cx="8229600" cy="1371600"/>
          </a:xfrm>
          <a:prstGeom prst="rect">
            <a:avLst/>
          </a:prstGeom>
          <a:solidFill>
            <a:srgbClr val="171E2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2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PATH  ·  same machine only</a:t>
            </a:r>
            <a:endParaRPr lang="en-US" sz="850" dirty="0"/>
          </a:p>
        </p:txBody>
      </p:sp>
      <p:sp>
        <p:nvSpPr>
          <p:cNvPr id="8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81328"/>
            <a:ext cx="2103120" cy="841248"/>
          </a:xfrm>
          <a:prstGeom prst="rect">
            <a:avLst/>
          </a:prstGeom>
          <a:solidFill>
            <a:srgbClr val="252C34"/>
          </a:solidFill>
          <a:ln w="12700">
            <a:solidFill>
              <a:srgbClr val="62A8D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713232" y="1572768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88366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the terminal</a:t>
            </a:r>
            <a:endParaRPr lang="en-US" sz="850" dirty="0"/>
          </a:p>
        </p:txBody>
      </p:sp>
      <p:sp>
        <p:nvSpPr>
          <p:cNvPr id="11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6352" y="1828800"/>
            <a:ext cx="457200" cy="201168"/>
          </a:xfrm>
          <a:prstGeom prst="rightArrow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8416" y="1481328"/>
            <a:ext cx="2377440" cy="841248"/>
          </a:xfrm>
          <a:prstGeom prst="rect">
            <a:avLst/>
          </a:prstGeom>
          <a:solidFill>
            <a:srgbClr val="252C34"/>
          </a:solidFill>
          <a:ln w="12700">
            <a:solidFill>
              <a:srgbClr val="62A8D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3401568" y="157276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pm-alf-console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01568" y="1883664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ZMQ PUSH + SUB</a:t>
            </a:r>
            <a:endParaRPr lang="en-US" sz="850" dirty="0"/>
          </a:p>
        </p:txBody>
      </p:sp>
      <p:sp>
        <p:nvSpPr>
          <p:cNvPr id="15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15584" y="1828800"/>
            <a:ext cx="457200" cy="201168"/>
          </a:xfrm>
          <a:prstGeom prst="rightArrow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45936" y="1481328"/>
            <a:ext cx="2157984" cy="841248"/>
          </a:xfrm>
          <a:prstGeom prst="rect">
            <a:avLst/>
          </a:prstGeom>
          <a:solidFill>
            <a:srgbClr val="252C34"/>
          </a:solidFill>
          <a:ln w="12700">
            <a:solidFill>
              <a:srgbClr val="A98BE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6419088" y="1572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pm-engine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19088" y="18836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matching + risk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816352" y="2048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stdin ALF lines</a:t>
            </a:r>
            <a:endParaRPr lang="en-US" sz="600" dirty="0"/>
          </a:p>
        </p:txBody>
      </p:sp>
      <p:sp>
        <p:nvSpPr>
          <p:cNvPr id="20" name="la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688336"/>
            <a:ext cx="8229600" cy="1572768"/>
          </a:xfrm>
          <a:prstGeom prst="rect">
            <a:avLst/>
          </a:prstGeom>
          <a:solidFill>
            <a:srgbClr val="16211C"/>
          </a:solidFill>
          <a:ln w="1270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40080" y="27797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 PATH  ·  any host, any language</a:t>
            </a:r>
            <a:endParaRPr lang="en-US" sz="850" dirty="0"/>
          </a:p>
        </p:txBody>
      </p:sp>
      <p:sp>
        <p:nvSpPr>
          <p:cNvPr id="22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090672"/>
            <a:ext cx="2103120" cy="969264"/>
          </a:xfrm>
          <a:prstGeom prst="rect">
            <a:avLst/>
          </a:prstGeom>
          <a:solidFill>
            <a:srgbClr val="252C34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713232" y="3182112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 bot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3493008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 TCP socket</a:t>
            </a:r>
            <a:endParaRPr lang="en-US" sz="850" dirty="0"/>
          </a:p>
        </p:txBody>
      </p:sp>
      <p:sp>
        <p:nvSpPr>
          <p:cNvPr id="25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6352" y="3474720"/>
            <a:ext cx="457200" cy="201168"/>
          </a:xfrm>
          <a:prstGeom prst="rightArrow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8416" y="3090672"/>
            <a:ext cx="2377440" cy="969264"/>
          </a:xfrm>
          <a:prstGeom prst="rect">
            <a:avLst/>
          </a:prstGeom>
          <a:solidFill>
            <a:srgbClr val="252C34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3401568" y="3182112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pm-alf-gwy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01568" y="3493008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:5565  ·  accept loop,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sessions, parser, translator</a:t>
            </a:r>
            <a:endParaRPr lang="en-US" sz="850" dirty="0"/>
          </a:p>
        </p:txBody>
      </p:sp>
      <p:sp>
        <p:nvSpPr>
          <p:cNvPr id="2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15584" y="3474720"/>
            <a:ext cx="457200" cy="201168"/>
          </a:xfrm>
          <a:prstGeom prst="rightArrow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45936" y="3090672"/>
            <a:ext cx="2157984" cy="969264"/>
          </a:xfrm>
          <a:prstGeom prst="rect">
            <a:avLst/>
          </a:prstGeom>
          <a:solidFill>
            <a:srgbClr val="252C34"/>
          </a:solidFill>
          <a:ln w="12700">
            <a:solidFill>
              <a:srgbClr val="A98BE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419088" y="31821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pm-engine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19088" y="349300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ZMQ :5555 / :5556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gateway simply adds a TCP accept loop in front of the same ZMQ bridge — so the client needs nothing but a socket.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one should I use?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GUIDE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15568"/>
            <a:ext cx="8229600" cy="60350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15568"/>
            <a:ext cx="45720" cy="603504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58368" y="111556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operator on the same machine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0" y="111556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pm-alf-console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72200" y="111556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 completion, history, positions and P&amp;L</a:t>
            </a:r>
            <a:endParaRPr lang="en-US" sz="950" dirty="0"/>
          </a:p>
        </p:txBody>
      </p:sp>
      <p:sp>
        <p:nvSpPr>
          <p:cNvPr id="11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773936"/>
            <a:ext cx="8229600" cy="60350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773936"/>
            <a:ext cx="45720" cy="60350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658368" y="177393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bot or script — same host or remote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177393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pm-alf-gwy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72200" y="177393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 TCP, any language, many clients at once</a:t>
            </a:r>
            <a:endParaRPr lang="en-US" sz="950" dirty="0"/>
          </a:p>
        </p:txBody>
      </p:sp>
      <p:sp>
        <p:nvSpPr>
          <p:cNvPr id="16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432304"/>
            <a:ext cx="8229600" cy="60350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432304"/>
            <a:ext cx="45720" cy="603504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58368" y="243230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UI or REST-native stack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243230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pm-api-gwy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243230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and WebSocket</a:t>
            </a:r>
            <a:endParaRPr lang="en-US" sz="950" dirty="0"/>
          </a:p>
        </p:txBody>
      </p:sp>
      <p:sp>
        <p:nvSpPr>
          <p:cNvPr id="21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090672"/>
            <a:ext cx="8229600" cy="60350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090672"/>
            <a:ext cx="45720" cy="603504"/>
          </a:xfrm>
          <a:prstGeom prst="rect">
            <a:avLst/>
          </a:prstGeom>
          <a:solidFill>
            <a:srgbClr val="6E7A8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58368" y="309067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market data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309067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pm-md-gwy (CALF)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72200" y="309067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One-way price and trade feed</a:t>
            </a:r>
            <a:endParaRPr lang="en-US" sz="950" dirty="0"/>
          </a:p>
        </p:txBody>
      </p:sp>
      <p:sp>
        <p:nvSpPr>
          <p:cNvPr id="26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749040"/>
            <a:ext cx="8229600" cy="60350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749040"/>
            <a:ext cx="45720" cy="603504"/>
          </a:xfrm>
          <a:prstGeom prst="rect">
            <a:avLst/>
          </a:prstGeom>
          <a:solidFill>
            <a:srgbClr val="6E7A8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658368" y="374904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Post-trade, clearing or audit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0" y="374904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pm-ralf-gwy (RALF)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72200" y="3749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copy and clearing records</a:t>
            </a:r>
            <a:endParaRPr lang="en-US" sz="950" dirty="0"/>
          </a:p>
        </p:txBody>
      </p:sp>
      <p:sp>
        <p:nvSpPr>
          <p:cNvPr id="31" name="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443984"/>
            <a:ext cx="8229600" cy="310896"/>
          </a:xfrm>
          <a:prstGeom prst="rect">
            <a:avLst/>
          </a:prstGeom>
          <a:solidFill>
            <a:srgbClr val="2A2318"/>
          </a:solidFill>
          <a:ln w="12700">
            <a:solidFill>
              <a:srgbClr val="E8B2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621792" y="444398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2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Remember: the console cannot accept connections from other hosts. If the client is not on the engine's machine, you need the TCP gateway.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illustration introducing this section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14">
              <a:alpha val="74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94960" cy="5143500"/>
          </a:xfrm>
          <a:prstGeom prst="rect">
            <a:avLst/>
          </a:prstGeom>
          <a:solidFill>
            <a:srgbClr val="0C1014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81328"/>
            <a:ext cx="822960" cy="41148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Text 3"/>
          <p:cNvSpPr/>
          <p:nvPr/>
        </p:nvSpPr>
        <p:spPr>
          <a:xfrm>
            <a:off x="64008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3317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ALF Protocol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2186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5D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line, one command. A pipe-delimited text language you can read, type by hand, and generate from any programming language.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= ALmost FIX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</a:t>
            </a:r>
            <a:r>
              <a:rPr lang="en-US" sz="26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 </a:t>
            </a:r>
            <a:r>
              <a:rPr lang="en-US" sz="26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r>
              <a:rPr lang="en-US" sz="26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EduMatcher's compact text command protocol for entering orders. It borrows FIX's field=value idea — and nothing else.</a:t>
            </a:r>
            <a:endParaRPr lang="en-US" sz="1200" dirty="0"/>
          </a:p>
        </p:txBody>
      </p:sp>
      <p:sp>
        <p:nvSpPr>
          <p:cNvPr id="8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395728"/>
            <a:ext cx="4023360" cy="868680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code panel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395728"/>
            <a:ext cx="4023360" cy="201168"/>
          </a:xfrm>
          <a:prstGeom prst="rect">
            <a:avLst/>
          </a:prstGeom>
          <a:solidFill>
            <a:srgbClr val="1A20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585216" y="2404872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ORDER, ONE LINE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3504" y="2670048"/>
            <a:ext cx="37307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NEW|SYM=AAPL|SIDE=BUY</a:t>
            </a:r>
            <a:endParaRPr lang="en-US" sz="10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|TYPE=LIMIT|QTY=100|PRICE=150.25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4198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enough to type by hand. Simple enough to generate from a shell script.</a:t>
            </a:r>
            <a:endParaRPr lang="en-US" sz="10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8304" y="1078992"/>
            <a:ext cx="3968496" cy="342900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4937760" y="12252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ALF deliberately leaves out</a:t>
            </a:r>
            <a:endParaRPr lang="en-US" sz="1300" dirty="0"/>
          </a:p>
        </p:txBody>
      </p:sp>
      <p:sp>
        <p:nvSpPr>
          <p:cNvPr id="15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1627632"/>
            <a:ext cx="3529584" cy="411480"/>
          </a:xfrm>
          <a:prstGeom prst="rect">
            <a:avLst/>
          </a:prstGeom>
          <a:solidFill>
            <a:srgbClr val="231A1A"/>
          </a:solidFill>
          <a:ln w="12700">
            <a:solidFill>
              <a:srgbClr val="4A2E2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5029200" y="1627632"/>
            <a:ext cx="402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1627632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Numeric tags</a:t>
            </a:r>
            <a:endParaRPr lang="en-US" sz="1100" dirty="0"/>
          </a:p>
        </p:txBody>
      </p:sp>
      <p:sp>
        <p:nvSpPr>
          <p:cNvPr id="18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2103120"/>
            <a:ext cx="3529584" cy="411480"/>
          </a:xfrm>
          <a:prstGeom prst="rect">
            <a:avLst/>
          </a:prstGeom>
          <a:solidFill>
            <a:srgbClr val="231A1A"/>
          </a:solidFill>
          <a:ln w="12700">
            <a:solidFill>
              <a:srgbClr val="4A2E2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5029200" y="2103120"/>
            <a:ext cx="402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2103120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FIX session layer</a:t>
            </a:r>
            <a:endParaRPr lang="en-US" sz="1100" dirty="0"/>
          </a:p>
        </p:txBody>
      </p:sp>
      <p:sp>
        <p:nvSpPr>
          <p:cNvPr id="21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2578608"/>
            <a:ext cx="3529584" cy="411480"/>
          </a:xfrm>
          <a:prstGeom prst="rect">
            <a:avLst/>
          </a:prstGeom>
          <a:solidFill>
            <a:srgbClr val="231A1A"/>
          </a:solidFill>
          <a:ln w="12700">
            <a:solidFill>
              <a:srgbClr val="4A2E2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5029200" y="2578608"/>
            <a:ext cx="402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2578608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 numbers</a:t>
            </a:r>
            <a:endParaRPr lang="en-US" sz="1100" dirty="0"/>
          </a:p>
        </p:txBody>
      </p:sp>
      <p:sp>
        <p:nvSpPr>
          <p:cNvPr id="24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3054096"/>
            <a:ext cx="3529584" cy="411480"/>
          </a:xfrm>
          <a:prstGeom prst="rect">
            <a:avLst/>
          </a:prstGeom>
          <a:solidFill>
            <a:srgbClr val="231A1A"/>
          </a:solidFill>
          <a:ln w="12700">
            <a:solidFill>
              <a:srgbClr val="4A2E2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5029200" y="3054096"/>
            <a:ext cx="402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3054096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Checksums and body length</a:t>
            </a:r>
            <a:endParaRPr lang="en-US" sz="1100" dirty="0"/>
          </a:p>
        </p:txBody>
      </p:sp>
      <p:sp>
        <p:nvSpPr>
          <p:cNvPr id="27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3529584"/>
            <a:ext cx="3529584" cy="411480"/>
          </a:xfrm>
          <a:prstGeom prst="rect">
            <a:avLst/>
          </a:prstGeom>
          <a:solidFill>
            <a:srgbClr val="231A1A"/>
          </a:solidFill>
          <a:ln w="12700">
            <a:solidFill>
              <a:srgbClr val="4A2E2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5029200" y="3529584"/>
            <a:ext cx="402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3529584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Repeating-group rules</a:t>
            </a:r>
            <a:endParaRPr lang="en-US" sz="1100" dirty="0"/>
          </a:p>
        </p:txBody>
      </p:sp>
      <p:sp>
        <p:nvSpPr>
          <p:cNvPr id="30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4005072"/>
            <a:ext cx="3529584" cy="411480"/>
          </a:xfrm>
          <a:prstGeom prst="rect">
            <a:avLst/>
          </a:prstGeom>
          <a:solidFill>
            <a:srgbClr val="231A1A"/>
          </a:solidFill>
          <a:ln w="12700">
            <a:solidFill>
              <a:srgbClr val="4A2E2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5029200" y="4005072"/>
            <a:ext cx="402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4005072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FIX message types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Anatomy of an ALF 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 FORMAT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forma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97280"/>
            <a:ext cx="8229600" cy="329184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&lt;COMMAND&gt;|&lt;FIELD&gt;=&lt;VALUE&gt;|&lt;FIELD&gt;=&lt;VALUE&gt;| ... \n</a:t>
            </a:r>
            <a:endParaRPr lang="en-US" sz="1200" dirty="0"/>
          </a:p>
        </p:txBody>
      </p:sp>
      <p:sp>
        <p:nvSpPr>
          <p:cNvPr id="8" name="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783080"/>
            <a:ext cx="868680" cy="512064"/>
          </a:xfrm>
          <a:prstGeom prst="rect">
            <a:avLst/>
          </a:prstGeom>
          <a:solidFill>
            <a:srgbClr val="1D232A"/>
          </a:solidFill>
          <a:ln w="15875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493776" y="1783080"/>
            <a:ext cx="79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1100" dirty="0"/>
          </a:p>
        </p:txBody>
      </p:sp>
      <p:sp>
        <p:nvSpPr>
          <p:cNvPr id="10" name="l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6968" y="2313432"/>
            <a:ext cx="10973" cy="201168"/>
          </a:xfrm>
          <a:prstGeom prst="rect">
            <a:avLst/>
          </a:prstGeom>
          <a:solidFill>
            <a:srgbClr val="323B4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411480" y="252374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270662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first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71016" y="1783080"/>
            <a:ext cx="109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300" dirty="0"/>
          </a:p>
        </p:txBody>
      </p:sp>
      <p:sp>
        <p:nvSpPr>
          <p:cNvPr id="14" name="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44168" y="1783080"/>
            <a:ext cx="1481328" cy="512064"/>
          </a:xfrm>
          <a:prstGeom prst="rect">
            <a:avLst/>
          </a:prstGeom>
          <a:solidFill>
            <a:srgbClr val="1D232A"/>
          </a:solidFill>
          <a:ln w="15875">
            <a:solidFill>
              <a:srgbClr val="62A8D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1380744" y="1783080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SYM=AAPL</a:t>
            </a:r>
            <a:endParaRPr lang="en-US" sz="1100" dirty="0"/>
          </a:p>
        </p:txBody>
      </p:sp>
      <p:sp>
        <p:nvSpPr>
          <p:cNvPr id="16" name="l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80260" y="2313432"/>
            <a:ext cx="10973" cy="201168"/>
          </a:xfrm>
          <a:prstGeom prst="rect">
            <a:avLst/>
          </a:prstGeom>
          <a:solidFill>
            <a:srgbClr val="323B4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1298448" y="252374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62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252728" y="270662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Instrument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70632" y="1783080"/>
            <a:ext cx="109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300" dirty="0"/>
          </a:p>
        </p:txBody>
      </p:sp>
      <p:sp>
        <p:nvSpPr>
          <p:cNvPr id="20" name="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43784" y="1783080"/>
            <a:ext cx="1481328" cy="512064"/>
          </a:xfrm>
          <a:prstGeom prst="rect">
            <a:avLst/>
          </a:prstGeom>
          <a:solidFill>
            <a:srgbClr val="1D232A"/>
          </a:solidFill>
          <a:ln w="15875">
            <a:solidFill>
              <a:srgbClr val="62A8D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2880360" y="1783080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SIDE=BUY</a:t>
            </a:r>
            <a:endParaRPr lang="en-US" sz="1100" dirty="0"/>
          </a:p>
        </p:txBody>
      </p:sp>
      <p:sp>
        <p:nvSpPr>
          <p:cNvPr id="22" name="l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79876" y="2313432"/>
            <a:ext cx="10973" cy="201168"/>
          </a:xfrm>
          <a:prstGeom prst="rect">
            <a:avLst/>
          </a:prstGeom>
          <a:solidFill>
            <a:srgbClr val="323B4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2798064" y="252374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62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52344" y="270662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 or SELL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70248" y="1783080"/>
            <a:ext cx="109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300" dirty="0"/>
          </a:p>
        </p:txBody>
      </p:sp>
      <p:sp>
        <p:nvSpPr>
          <p:cNvPr id="26" name="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3400" y="1783080"/>
            <a:ext cx="1627632" cy="512064"/>
          </a:xfrm>
          <a:prstGeom prst="rect">
            <a:avLst/>
          </a:prstGeom>
          <a:solidFill>
            <a:srgbClr val="1D232A"/>
          </a:solidFill>
          <a:ln w="15875">
            <a:solidFill>
              <a:srgbClr val="A98BE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4379976" y="178308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TYPE=LIMIT</a:t>
            </a:r>
            <a:endParaRPr lang="en-US" sz="1100" dirty="0"/>
          </a:p>
        </p:txBody>
      </p:sp>
      <p:sp>
        <p:nvSpPr>
          <p:cNvPr id="28" name="l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52644" y="2313432"/>
            <a:ext cx="10973" cy="201168"/>
          </a:xfrm>
          <a:prstGeom prst="rect">
            <a:avLst/>
          </a:prstGeom>
          <a:solidFill>
            <a:srgbClr val="323B4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4297680" y="252374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251960" y="2706624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type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16168" y="1783080"/>
            <a:ext cx="109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300" dirty="0"/>
          </a:p>
        </p:txBody>
      </p:sp>
      <p:sp>
        <p:nvSpPr>
          <p:cNvPr id="32" name="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783080"/>
            <a:ext cx="1280160" cy="512064"/>
          </a:xfrm>
          <a:prstGeom prst="rect">
            <a:avLst/>
          </a:prstGeom>
          <a:solidFill>
            <a:srgbClr val="1D232A"/>
          </a:solidFill>
          <a:ln w="15875">
            <a:solidFill>
              <a:srgbClr val="E8B2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6025896" y="1783080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QTY=100</a:t>
            </a:r>
            <a:endParaRPr lang="en-US" sz="1100" dirty="0"/>
          </a:p>
        </p:txBody>
      </p:sp>
      <p:sp>
        <p:nvSpPr>
          <p:cNvPr id="34" name="l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4828" y="2313432"/>
            <a:ext cx="10973" cy="201168"/>
          </a:xfrm>
          <a:prstGeom prst="rect">
            <a:avLst/>
          </a:prstGeom>
          <a:solidFill>
            <a:srgbClr val="323B4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5943600" y="25237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E8B2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897880" y="27066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214616" y="1783080"/>
            <a:ext cx="109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300" dirty="0"/>
          </a:p>
        </p:txBody>
      </p:sp>
      <p:sp>
        <p:nvSpPr>
          <p:cNvPr id="38" name="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96328" y="1783080"/>
            <a:ext cx="1947672" cy="512064"/>
          </a:xfrm>
          <a:prstGeom prst="rect">
            <a:avLst/>
          </a:prstGeom>
          <a:solidFill>
            <a:srgbClr val="1D232A"/>
          </a:solidFill>
          <a:ln w="15875">
            <a:solidFill>
              <a:srgbClr val="E8B2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7269480" y="178308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PRICE=150.25</a:t>
            </a:r>
            <a:endParaRPr lang="en-US" sz="1100" dirty="0"/>
          </a:p>
        </p:txBody>
      </p:sp>
      <p:sp>
        <p:nvSpPr>
          <p:cNvPr id="40" name="l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57032" y="2313432"/>
            <a:ext cx="10973" cy="201168"/>
          </a:xfrm>
          <a:prstGeom prst="rect">
            <a:avLst/>
          </a:prstGeom>
          <a:solidFill>
            <a:srgbClr val="323B4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1" name="Text 39"/>
          <p:cNvSpPr/>
          <p:nvPr/>
        </p:nvSpPr>
        <p:spPr>
          <a:xfrm>
            <a:off x="7104888" y="2523744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E8B2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013448" y="2706624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Decimal price</a:t>
            </a:r>
            <a:endParaRPr lang="en-US" sz="850" dirty="0"/>
          </a:p>
        </p:txBody>
      </p:sp>
      <p:sp>
        <p:nvSpPr>
          <p:cNvPr id="4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00400"/>
            <a:ext cx="2633472" cy="128016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00400"/>
            <a:ext cx="50292" cy="1280160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5" name="Text 43"/>
          <p:cNvSpPr/>
          <p:nvPr/>
        </p:nvSpPr>
        <p:spPr>
          <a:xfrm>
            <a:off x="676656" y="334670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verb comes first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76656" y="3657600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after it is a pipe-delimited list of key=value segments.</a:t>
            </a:r>
            <a:endParaRPr lang="en-US" sz="1050" dirty="0"/>
          </a:p>
        </p:txBody>
      </p:sp>
      <p:sp>
        <p:nvSpPr>
          <p:cNvPr id="4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55264" y="3200400"/>
            <a:ext cx="2633472" cy="128016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55264" y="3200400"/>
            <a:ext cx="50292" cy="1280160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9" name="Text 47"/>
          <p:cNvSpPr/>
          <p:nvPr/>
        </p:nvSpPr>
        <p:spPr>
          <a:xfrm>
            <a:off x="3474720" y="334670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= splits the pair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474720" y="3657600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Anything after that first equals sign is the raw value text.</a:t>
            </a:r>
            <a:endParaRPr lang="en-US" sz="1050" dirty="0"/>
          </a:p>
        </p:txBody>
      </p:sp>
      <p:sp>
        <p:nvSpPr>
          <p:cNvPr id="5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3328" y="3200400"/>
            <a:ext cx="2633472" cy="128016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2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3328" y="3200400"/>
            <a:ext cx="50292" cy="1280160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3" name="Text 51"/>
          <p:cNvSpPr/>
          <p:nvPr/>
        </p:nvSpPr>
        <p:spPr>
          <a:xfrm>
            <a:off x="6272784" y="334670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no escaping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272784" y="3657600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put a pipe character inside a value — there is no way to quote it.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the parser actually follows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 FORMAT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15568"/>
            <a:ext cx="4041648" cy="106984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15568"/>
            <a:ext cx="50292" cy="1069848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76656" y="1261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is folded to UPPERCASE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6656" y="153619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Verbs, field names, enum values and symbols are all normalised. So are your own labels: OCO_ID=exit-aapl becomes EXIT-AAPL.</a:t>
            </a:r>
            <a:endParaRPr lang="en-US" sz="95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115568"/>
            <a:ext cx="4041648" cy="106984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115568"/>
            <a:ext cx="50292" cy="1069848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4864608" y="1261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order is free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64608" y="153619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verb, order does not matter — the gateway builds a map, then validates what it finds. Only combo leg numbering must stay consistent.</a:t>
            </a:r>
            <a:endParaRPr lang="en-US" sz="95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331720"/>
            <a:ext cx="4041648" cy="106984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331720"/>
            <a:ext cx="50292" cy="1069848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76656" y="24780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duplicate wins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6656" y="2752344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SYM=AAPL|SYM=MSFT parses as MSFT. A repeated key is not an error.</a:t>
            </a:r>
            <a:endParaRPr lang="en-US" sz="950" dirty="0"/>
          </a:p>
        </p:txBody>
      </p:sp>
      <p:sp>
        <p:nvSpPr>
          <p:cNvPr id="1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331720"/>
            <a:ext cx="4041648" cy="106984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331720"/>
            <a:ext cx="50292" cy="1069848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4864608" y="24780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Unknown fields are ignored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64608" y="2752344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 fields pass through harmlessly unless the command actually requires them.</a:t>
            </a:r>
            <a:endParaRPr lang="en-US" sz="950" dirty="0"/>
          </a:p>
        </p:txBody>
      </p:sp>
      <p:sp>
        <p:nvSpPr>
          <p:cNvPr id="2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47872"/>
            <a:ext cx="4041648" cy="106984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47872"/>
            <a:ext cx="50292" cy="1069848"/>
          </a:xfrm>
          <a:prstGeom prst="rect">
            <a:avLst/>
          </a:prstGeom>
          <a:solidFill>
            <a:srgbClr val="E469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676656" y="36941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Whitespace is only trimmed at the ends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6656" y="3968496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line is trimmed, individual fields are not. Never write spaces around your pipes.</a:t>
            </a:r>
            <a:endParaRPr lang="en-US" sz="950" dirty="0"/>
          </a:p>
        </p:txBody>
      </p:sp>
      <p:sp>
        <p:nvSpPr>
          <p:cNvPr id="2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547872"/>
            <a:ext cx="4041648" cy="106984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547872"/>
            <a:ext cx="50292" cy="1069848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4864608" y="36941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Prices are decimals, quantities are integers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64608" y="3968496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PRICE=150.25 and QTY=100. The gateway converts prices to internal ticks for you.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mistakes beginners make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GOTCHAS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97280"/>
            <a:ext cx="8229600" cy="113385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97280"/>
            <a:ext cx="50292" cy="1133856"/>
          </a:xfrm>
          <a:prstGeom prst="rect">
            <a:avLst/>
          </a:prstGeom>
          <a:solidFill>
            <a:srgbClr val="E469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76656" y="1225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Spaces around the pipes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" y="1554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Field-level whitespace is not trimmed, so the value becomes " AAPL" and validation fails.</a:t>
            </a:r>
            <a:endParaRPr lang="en-US" sz="950" dirty="0"/>
          </a:p>
        </p:txBody>
      </p:sp>
      <p:sp>
        <p:nvSpPr>
          <p:cNvPr id="10" name="wrong examp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1243584"/>
            <a:ext cx="3913632" cy="402336"/>
          </a:xfrm>
          <a:prstGeom prst="rect">
            <a:avLst/>
          </a:prstGeom>
          <a:solidFill>
            <a:srgbClr val="231A1A"/>
          </a:solidFill>
          <a:ln w="12700">
            <a:solidFill>
              <a:srgbClr val="5A343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4645152" y="124358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0" y="12435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| SYM=AAPL | SIDE=BUY</a:t>
            </a:r>
            <a:endParaRPr lang="en-US" sz="900" dirty="0"/>
          </a:p>
        </p:txBody>
      </p:sp>
      <p:sp>
        <p:nvSpPr>
          <p:cNvPr id="13" name="right examp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1700784"/>
            <a:ext cx="3913632" cy="402336"/>
          </a:xfrm>
          <a:prstGeom prst="rect">
            <a:avLst/>
          </a:prstGeom>
          <a:solidFill>
            <a:srgbClr val="16342A"/>
          </a:solidFill>
          <a:ln w="1270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4645152" y="170078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0" y="17007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NEW|SYM=AAPL|SIDE=BUY</a:t>
            </a:r>
            <a:endParaRPr lang="en-US" sz="900" dirty="0"/>
          </a:p>
        </p:txBody>
      </p:sp>
      <p:sp>
        <p:nvSpPr>
          <p:cNvPr id="1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322576"/>
            <a:ext cx="8229600" cy="113385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322576"/>
            <a:ext cx="50292" cy="1133856"/>
          </a:xfrm>
          <a:prstGeom prst="rect">
            <a:avLst/>
          </a:prstGeom>
          <a:solidFill>
            <a:srgbClr val="E469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76656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Assuming one read = one 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" y="277977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is a byte stream. One read may hold half a line, or three lines. Always buffer.</a:t>
            </a:r>
            <a:endParaRPr lang="en-US" sz="950" dirty="0"/>
          </a:p>
        </p:txBody>
      </p:sp>
      <p:sp>
        <p:nvSpPr>
          <p:cNvPr id="20" name="wrong examp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2468880"/>
            <a:ext cx="3913632" cy="402336"/>
          </a:xfrm>
          <a:prstGeom prst="rect">
            <a:avLst/>
          </a:prstGeom>
          <a:solidFill>
            <a:srgbClr val="231A1A"/>
          </a:solidFill>
          <a:ln w="12700">
            <a:solidFill>
              <a:srgbClr val="5A343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4645152" y="246888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0" y="246888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sock.recv(4096)</a:t>
            </a:r>
            <a:endParaRPr lang="en-US" sz="900" dirty="0"/>
          </a:p>
        </p:txBody>
      </p:sp>
      <p:sp>
        <p:nvSpPr>
          <p:cNvPr id="23" name="right examp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2926080"/>
            <a:ext cx="3913632" cy="402336"/>
          </a:xfrm>
          <a:prstGeom prst="rect">
            <a:avLst/>
          </a:prstGeom>
          <a:solidFill>
            <a:srgbClr val="16342A"/>
          </a:solidFill>
          <a:ln w="1270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4645152" y="292608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0" y="292608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buffer, then split on \n</a:t>
            </a:r>
            <a:endParaRPr lang="en-US" sz="900" dirty="0"/>
          </a:p>
        </p:txBody>
      </p:sp>
      <p:sp>
        <p:nvSpPr>
          <p:cNvPr id="2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47872"/>
            <a:ext cx="8229600" cy="113385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47872"/>
            <a:ext cx="50292" cy="1133856"/>
          </a:xfrm>
          <a:prstGeom prst="rect">
            <a:avLst/>
          </a:prstGeom>
          <a:solidFill>
            <a:srgbClr val="E469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676656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a shortened order ID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" y="40050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Displays abbreviate IDs for readability. AMEND and CANCEL need the full identifier.</a:t>
            </a:r>
            <a:endParaRPr lang="en-US" sz="950" dirty="0"/>
          </a:p>
        </p:txBody>
      </p:sp>
      <p:sp>
        <p:nvSpPr>
          <p:cNvPr id="30" name="wrong examp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3694176"/>
            <a:ext cx="3913632" cy="402336"/>
          </a:xfrm>
          <a:prstGeom prst="rect">
            <a:avLst/>
          </a:prstGeom>
          <a:solidFill>
            <a:srgbClr val="231A1A"/>
          </a:solidFill>
          <a:ln w="12700">
            <a:solidFill>
              <a:srgbClr val="5A343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4645152" y="369417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0" y="369417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AMEND|ID=abc123|PRICE=151</a:t>
            </a:r>
            <a:endParaRPr lang="en-US" sz="900" dirty="0"/>
          </a:p>
        </p:txBody>
      </p:sp>
      <p:sp>
        <p:nvSpPr>
          <p:cNvPr id="33" name="right examp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4151376"/>
            <a:ext cx="3913632" cy="402336"/>
          </a:xfrm>
          <a:prstGeom prst="rect">
            <a:avLst/>
          </a:prstGeom>
          <a:solidFill>
            <a:srgbClr val="16342A"/>
          </a:solidFill>
          <a:ln w="1270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4645152" y="415137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0" y="415137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AMEND|ID=&lt;full id&gt;|PRICE=151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five command families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family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97280"/>
            <a:ext cx="8229600" cy="67665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97280"/>
            <a:ext cx="50292" cy="676656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76656" y="1179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Trading commands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1463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Forwarded to the engine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0" y="1097280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· AMEND · CANCEL · QUOTE · QUOTE_CANCEL · KILL · SYMBOLS · ORDERS · QBOOT · SESSION</a:t>
            </a:r>
            <a:endParaRPr lang="en-US" sz="950" dirty="0"/>
          </a:p>
        </p:txBody>
      </p:sp>
      <p:sp>
        <p:nvSpPr>
          <p:cNvPr id="11" name="family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828800"/>
            <a:ext cx="8229600" cy="67665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828800"/>
            <a:ext cx="50292" cy="676656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676656" y="1911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Client-local information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" y="21945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Answered by the client itself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1828800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· POS · HELP</a:t>
            </a:r>
            <a:endParaRPr lang="en-US" sz="950" dirty="0"/>
          </a:p>
        </p:txBody>
      </p:sp>
      <p:sp>
        <p:nvSpPr>
          <p:cNvPr id="16" name="family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560320"/>
            <a:ext cx="8229600" cy="67665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560320"/>
            <a:ext cx="50292" cy="676656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76656" y="2642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Divergent between clients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" y="2926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cache or engine round trip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2560320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QLEGS</a:t>
            </a:r>
            <a:endParaRPr lang="en-US" sz="950" dirty="0"/>
          </a:p>
        </p:txBody>
      </p:sp>
      <p:sp>
        <p:nvSpPr>
          <p:cNvPr id="21" name="family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91840"/>
            <a:ext cx="8229600" cy="67665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91840"/>
            <a:ext cx="50292" cy="676656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76656" y="3374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Drop-copy relay control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" y="3657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Handled inside the gateway process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3291840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</a:t>
            </a:r>
            <a:endParaRPr lang="en-US" sz="950" dirty="0"/>
          </a:p>
        </p:txBody>
      </p:sp>
      <p:sp>
        <p:nvSpPr>
          <p:cNvPr id="26" name="family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023360"/>
            <a:ext cx="8229600" cy="67665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023360"/>
            <a:ext cx="50292" cy="676656"/>
          </a:xfrm>
          <a:prstGeom prst="rect">
            <a:avLst/>
          </a:prstGeom>
          <a:solidFill>
            <a:srgbClr val="6E7A8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676656" y="4105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control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" y="4389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Ends the connection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66160" y="4023360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· QUIT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 are writing a client that submits orders, the trading commands are the ones that matter.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decide what you may send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ENTITLEMENTS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gateway ID is configured with a role. Sending a command your role is not entitled to returns ERR|CODE=ROLE_DENIED.</a:t>
            </a:r>
            <a:endParaRPr lang="en-US" sz="1150" dirty="0"/>
          </a:p>
        </p:txBody>
      </p:sp>
      <p:sp>
        <p:nvSpPr>
          <p:cNvPr id="7" name="rol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81328"/>
            <a:ext cx="2679192" cy="3017520"/>
          </a:xfrm>
          <a:prstGeom prst="rect">
            <a:avLst/>
          </a:prstGeom>
          <a:solidFill>
            <a:srgbClr val="1D232A"/>
          </a:solidFill>
          <a:ln w="15240">
            <a:solidFill>
              <a:srgbClr val="62A8D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8" name="role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81328"/>
            <a:ext cx="2679192" cy="402336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2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56816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default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395728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DO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2596896"/>
            <a:ext cx="23134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NEW, AMEND, CANCEL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OCO and COMBO orders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monitoring commands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KILL switch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639312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QUOTE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QUOTE_CANCEL</a:t>
            </a:r>
            <a:endParaRPr lang="en-US" sz="950" dirty="0"/>
          </a:p>
        </p:txBody>
      </p:sp>
      <p:sp>
        <p:nvSpPr>
          <p:cNvPr id="15" name="rol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1481328"/>
            <a:ext cx="2679192" cy="3017520"/>
          </a:xfrm>
          <a:prstGeom prst="rect">
            <a:avLst/>
          </a:prstGeom>
          <a:solidFill>
            <a:srgbClr val="1D232A"/>
          </a:solidFill>
          <a:ln w="15240">
            <a:solidFill>
              <a:srgbClr val="3DD68C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6" name="role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1481328"/>
            <a:ext cx="2679192" cy="402336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483864" y="1481328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2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MARKET_MAKER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75304" y="1956816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a trader can do, plus quoting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75304" y="2395728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DO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75304" y="2596896"/>
            <a:ext cx="23134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Two-sided QUOTE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QUOTE_CANCEL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QBOOT bootstrap state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QLEGS leg inspection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75304" y="3639312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DO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75304" y="3840480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within its configured symbols and limits</a:t>
            </a:r>
            <a:endParaRPr lang="en-US" sz="950" dirty="0"/>
          </a:p>
        </p:txBody>
      </p:sp>
      <p:sp>
        <p:nvSpPr>
          <p:cNvPr id="23" name="rol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7648" y="1481328"/>
            <a:ext cx="2679192" cy="3017520"/>
          </a:xfrm>
          <a:prstGeom prst="rect">
            <a:avLst/>
          </a:prstGeom>
          <a:solidFill>
            <a:srgbClr val="1D232A"/>
          </a:solidFill>
          <a:ln w="15240">
            <a:solidFill>
              <a:srgbClr val="E8B2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4" name="role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7648" y="1481328"/>
            <a:ext cx="2679192" cy="402336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419088" y="1481328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2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10528" y="1956816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Operational, per configuration and policy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10528" y="2395728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DO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510528" y="2596896"/>
            <a:ext cx="23134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commands as configured by policy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10528" y="3639312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DO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10528" y="3840480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flow outside policy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illustration introducing this section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14">
              <a:alpha val="74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94960" cy="5143500"/>
          </a:xfrm>
          <a:prstGeom prst="rect">
            <a:avLst/>
          </a:prstGeom>
          <a:solidFill>
            <a:srgbClr val="0C1014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81328"/>
            <a:ext cx="822960" cy="41148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Text 3"/>
          <p:cNvSpPr/>
          <p:nvPr/>
        </p:nvSpPr>
        <p:spPr>
          <a:xfrm>
            <a:off x="64008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3317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2186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5D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can trade, you must say hello. The session lifecycle is short, strict, and identical for every client.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session lifecycle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STEPS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70432"/>
            <a:ext cx="2679192" cy="14173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" y="1316736"/>
            <a:ext cx="310896" cy="310896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03504" y="1316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30759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" y="1700784"/>
            <a:ext cx="23682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 plain TCP socket to the gateway's port — 5565 by default.</a:t>
            </a:r>
            <a:endParaRPr lang="en-US" sz="1000" dirty="0"/>
          </a:p>
        </p:txBody>
      </p:sp>
      <p:sp>
        <p:nvSpPr>
          <p:cNvPr id="11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1170432"/>
            <a:ext cx="2679192" cy="14173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38728" y="1316736"/>
            <a:ext cx="310896" cy="310896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3538728" y="1316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41064" y="130759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38728" y="1700784"/>
            <a:ext cx="23682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very first line must be a HELLO. Anything else is refused and the connection closes.</a:t>
            </a:r>
            <a:endParaRPr lang="en-US" sz="1000" dirty="0"/>
          </a:p>
        </p:txBody>
      </p:sp>
      <p:sp>
        <p:nvSpPr>
          <p:cNvPr id="16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7648" y="1170432"/>
            <a:ext cx="2679192" cy="14173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73952" y="1316736"/>
            <a:ext cx="310896" cy="310896"/>
          </a:xfrm>
          <a:prstGeom prst="ellipse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473952" y="1316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76288" y="130759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73952" y="1700784"/>
            <a:ext cx="23682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gateway asks the engine whether your ID is allowed. The engine is the authority.</a:t>
            </a:r>
            <a:endParaRPr lang="en-US" sz="1000" dirty="0"/>
          </a:p>
        </p:txBody>
      </p:sp>
      <p:sp>
        <p:nvSpPr>
          <p:cNvPr id="21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862072"/>
            <a:ext cx="2679192" cy="14173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" y="3008376"/>
            <a:ext cx="310896" cy="310896"/>
          </a:xfrm>
          <a:prstGeom prst="ellipse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03504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29992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03504" y="3392424"/>
            <a:ext cx="23682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get the protocol version, gateway name, heartbeat interval and idle timeout — then the symbol list.</a:t>
            </a:r>
            <a:endParaRPr lang="en-US" sz="1000" dirty="0"/>
          </a:p>
        </p:txBody>
      </p:sp>
      <p:sp>
        <p:nvSpPr>
          <p:cNvPr id="26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2862072"/>
            <a:ext cx="2679192" cy="14173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38728" y="3008376"/>
            <a:ext cx="310896" cy="310896"/>
          </a:xfrm>
          <a:prstGeom prst="ellipse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3538728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41064" y="29992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538728" y="3392424"/>
            <a:ext cx="23682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any supported command. Responses and broadcast events arrive asynchronously.</a:t>
            </a:r>
            <a:endParaRPr lang="en-US" sz="1000" dirty="0"/>
          </a:p>
        </p:txBody>
      </p:sp>
      <p:sp>
        <p:nvSpPr>
          <p:cNvPr id="31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7648" y="2862072"/>
            <a:ext cx="2679192" cy="14173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73952" y="3008376"/>
            <a:ext cx="310896" cy="310896"/>
          </a:xfrm>
          <a:prstGeom prst="ellipse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6473952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76288" y="29992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73952" y="3392424"/>
            <a:ext cx="23682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graceful close: the gateway tells the engine, flushes pending output and closes the socket.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4439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ALF session follows this exact sequence — there are no optional stages and no negotiation.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handshake, line by 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 / WELCOME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lane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1078992"/>
            <a:ext cx="1371600" cy="329184"/>
          </a:xfrm>
          <a:prstGeom prst="rect">
            <a:avLst/>
          </a:prstGeom>
          <a:solidFill>
            <a:srgbClr val="252C34"/>
          </a:solidFill>
          <a:ln w="12700">
            <a:solidFill>
              <a:srgbClr val="62A8D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1000" dirty="0"/>
          </a:p>
        </p:txBody>
      </p:sp>
      <p:sp>
        <p:nvSpPr>
          <p:cNvPr id="8" name="lif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6074" y="1426464"/>
            <a:ext cx="10973" cy="2615184"/>
          </a:xfrm>
          <a:prstGeom prst="rect">
            <a:avLst/>
          </a:prstGeom>
          <a:solidFill>
            <a:srgbClr val="323B4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lane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520" y="1078992"/>
            <a:ext cx="1371600" cy="329184"/>
          </a:xfrm>
          <a:prstGeom prst="rect">
            <a:avLst/>
          </a:prstGeom>
          <a:solidFill>
            <a:srgbClr val="252C34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3017520" y="10789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</a:t>
            </a:r>
            <a:endParaRPr lang="en-US" sz="1000" dirty="0"/>
          </a:p>
        </p:txBody>
      </p:sp>
      <p:sp>
        <p:nvSpPr>
          <p:cNvPr id="11" name="lif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834" y="1426464"/>
            <a:ext cx="10973" cy="2615184"/>
          </a:xfrm>
          <a:prstGeom prst="rect">
            <a:avLst/>
          </a:prstGeom>
          <a:solidFill>
            <a:srgbClr val="323B4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lane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078992"/>
            <a:ext cx="1371600" cy="329184"/>
          </a:xfrm>
          <a:prstGeom prst="rect">
            <a:avLst/>
          </a:prstGeom>
          <a:solidFill>
            <a:srgbClr val="252C34"/>
          </a:solidFill>
          <a:ln w="12700">
            <a:solidFill>
              <a:srgbClr val="A98BE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6172200" y="10789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</a:t>
            </a:r>
            <a:endParaRPr lang="en-US" sz="1000" dirty="0"/>
          </a:p>
        </p:txBody>
      </p:sp>
      <p:sp>
        <p:nvSpPr>
          <p:cNvPr id="14" name="lif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2514" y="1426464"/>
            <a:ext cx="10973" cy="2615184"/>
          </a:xfrm>
          <a:prstGeom prst="rect">
            <a:avLst/>
          </a:prstGeom>
          <a:solidFill>
            <a:srgbClr val="323B4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message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1560" y="1828800"/>
            <a:ext cx="2651760" cy="25603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arrow 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21024" y="1778508"/>
            <a:ext cx="128016" cy="128016"/>
          </a:xfrm>
          <a:prstGeom prst="ellipse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1051560" y="16093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HELLO|CLIENT=mybot|PROTO=ALF1|ID=TRADER01</a:t>
            </a:r>
            <a:endParaRPr lang="en-US" sz="800" dirty="0"/>
          </a:p>
        </p:txBody>
      </p:sp>
      <p:sp>
        <p:nvSpPr>
          <p:cNvPr id="18" name="message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3320" y="2340864"/>
            <a:ext cx="3154680" cy="25603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rrow 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75704" y="2290572"/>
            <a:ext cx="128016" cy="128016"/>
          </a:xfrm>
          <a:prstGeom prst="ellipse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3703320" y="21214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system.gateway_connect</a:t>
            </a:r>
            <a:endParaRPr lang="en-US" sz="800" dirty="0"/>
          </a:p>
        </p:txBody>
      </p:sp>
      <p:sp>
        <p:nvSpPr>
          <p:cNvPr id="21" name="message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3320" y="2852928"/>
            <a:ext cx="3154680" cy="25603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arrow 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3320" y="2802636"/>
            <a:ext cx="128016" cy="128016"/>
          </a:xfrm>
          <a:prstGeom prst="ellipse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3703320" y="263347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gateway_auth  →  accepted: true</a:t>
            </a:r>
            <a:endParaRPr lang="en-US" sz="800" dirty="0"/>
          </a:p>
        </p:txBody>
      </p:sp>
      <p:sp>
        <p:nvSpPr>
          <p:cNvPr id="24" name="message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1560" y="3364992"/>
            <a:ext cx="2651760" cy="25603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arrow 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1560" y="3314700"/>
            <a:ext cx="128016" cy="128016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1051560" y="31455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WELCOME|PROTO=ALF1|GW=alf-gwy01|ID=TRADER01|HBINT=5|IDLE=30</a:t>
            </a:r>
            <a:endParaRPr lang="en-US" sz="800" dirty="0"/>
          </a:p>
        </p:txBody>
      </p:sp>
      <p:sp>
        <p:nvSpPr>
          <p:cNvPr id="27" name="message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1560" y="3877056"/>
            <a:ext cx="2651760" cy="25603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rrow 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1560" y="3826764"/>
            <a:ext cx="128016" cy="128016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1051560" y="36576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SYMBOLS|COUNT=3  …  END|TYPE=SYMBOLS</a:t>
            </a:r>
            <a:endParaRPr lang="en-US" sz="800" dirty="0"/>
          </a:p>
        </p:txBody>
      </p:sp>
      <p:sp>
        <p:nvSpPr>
          <p:cNvPr id="30" name="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133088"/>
            <a:ext cx="4041648" cy="658368"/>
          </a:xfrm>
          <a:prstGeom prst="rect">
            <a:avLst/>
          </a:prstGeom>
          <a:solidFill>
            <a:srgbClr val="16342A"/>
          </a:solidFill>
          <a:ln w="1270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21792" y="41330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 needs exactly three fields: CLIENT (a free-text label), PROTO (must be ALF1) and ID (must be on the allowlist).</a:t>
            </a:r>
            <a:endParaRPr lang="en-US" sz="950" dirty="0"/>
          </a:p>
        </p:txBody>
      </p:sp>
      <p:sp>
        <p:nvSpPr>
          <p:cNvPr id="32" name="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4133088"/>
            <a:ext cx="4041648" cy="658368"/>
          </a:xfrm>
          <a:prstGeom prst="rect">
            <a:avLst/>
          </a:prstGeom>
          <a:solidFill>
            <a:srgbClr val="2A1D1D"/>
          </a:solidFill>
          <a:ln w="12700">
            <a:solidFill>
              <a:srgbClr val="5A343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4809744" y="41330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B5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other first line gets ERR|CODE=AUTH_REQUIRED and the connection is closed immediately.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Staying connected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HEARTBEATS, LIMITS AND TIMEOUTS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gateway defends itself with a handful of timers and counters. All of them are configurable; these are the defaults.</a:t>
            </a:r>
            <a:endParaRPr lang="en-US" sz="1150" dirty="0"/>
          </a:p>
        </p:txBody>
      </p:sp>
      <p:sp>
        <p:nvSpPr>
          <p:cNvPr id="7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63040"/>
            <a:ext cx="1280160" cy="914400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30352" y="1993392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Heartbeat interval</a:t>
            </a:r>
            <a:endParaRPr lang="en-US" sz="850" dirty="0"/>
          </a:p>
        </p:txBody>
      </p:sp>
      <p:sp>
        <p:nvSpPr>
          <p:cNvPr id="10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74520" y="1463040"/>
            <a:ext cx="1280160" cy="914400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965960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B2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947672" y="1993392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Handshake timeout</a:t>
            </a:r>
            <a:endParaRPr lang="en-US" sz="850" dirty="0"/>
          </a:p>
        </p:txBody>
      </p:sp>
      <p:sp>
        <p:nvSpPr>
          <p:cNvPr id="13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463040"/>
            <a:ext cx="1280160" cy="914400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3383280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B2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364992" y="1993392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Idle timeout</a:t>
            </a:r>
            <a:endParaRPr lang="en-US" sz="850" dirty="0"/>
          </a:p>
        </p:txBody>
      </p:sp>
      <p:sp>
        <p:nvSpPr>
          <p:cNvPr id="16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463040"/>
            <a:ext cx="1280160" cy="914400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4800600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2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82312" y="1993392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 connections</a:t>
            </a:r>
            <a:endParaRPr lang="en-US" sz="850" dirty="0"/>
          </a:p>
        </p:txBody>
      </p:sp>
      <p:sp>
        <p:nvSpPr>
          <p:cNvPr id="19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1463040"/>
            <a:ext cx="1280160" cy="914400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6217920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2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199632" y="1993392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 / second</a:t>
            </a:r>
            <a:endParaRPr lang="en-US" sz="850" dirty="0"/>
          </a:p>
        </p:txBody>
      </p:sp>
      <p:sp>
        <p:nvSpPr>
          <p:cNvPr id="22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3800" y="1463040"/>
            <a:ext cx="1280160" cy="914400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7635240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616952" y="1993392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Errors before drop</a:t>
            </a:r>
            <a:endParaRPr lang="en-US" sz="850" dirty="0"/>
          </a:p>
        </p:txBody>
      </p:sp>
      <p:sp>
        <p:nvSpPr>
          <p:cNvPr id="2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615184"/>
            <a:ext cx="4041648" cy="102412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615184"/>
            <a:ext cx="50292" cy="1024128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676656" y="27614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quiet link still ticks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6656" y="30358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there is no other outbound traffic the gateway sends HB|TS=... every few seconds, so you can tell a live link from a dead one.</a:t>
            </a:r>
            <a:endParaRPr lang="en-US" sz="950" dirty="0"/>
          </a:p>
        </p:txBody>
      </p:sp>
      <p:sp>
        <p:nvSpPr>
          <p:cNvPr id="2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615184"/>
            <a:ext cx="4041648" cy="102412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615184"/>
            <a:ext cx="50292" cy="1024128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4864608" y="27614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Silence has a deadline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64608" y="30358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nothing arrives from you for the idle timeout, you are disconnected. Send PING periodically if your bot is naturally quiet.</a:t>
            </a:r>
            <a:endParaRPr lang="en-US" sz="950" dirty="0"/>
          </a:p>
        </p:txBody>
      </p:sp>
      <p:sp>
        <p:nvSpPr>
          <p:cNvPr id="3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785616"/>
            <a:ext cx="4041648" cy="102412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785616"/>
            <a:ext cx="50292" cy="1024128"/>
          </a:xfrm>
          <a:prstGeom prst="rect">
            <a:avLst/>
          </a:prstGeom>
          <a:solidFill>
            <a:srgbClr val="E469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676656" y="3931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 fast is also a problem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76656" y="42062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token bucket caps commands per second. Exceed it and you get ERR|CODE=RATE_LIMITED — the connection survives, the command does not.</a:t>
            </a:r>
            <a:endParaRPr lang="en-US" sz="950" dirty="0"/>
          </a:p>
        </p:txBody>
      </p:sp>
      <p:sp>
        <p:nvSpPr>
          <p:cNvPr id="3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785616"/>
            <a:ext cx="4041648" cy="102412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785616"/>
            <a:ext cx="50292" cy="1024128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4864608" y="3931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readers get dropped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864608" y="42062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session has an outbound queue. If you stop reading and it fills, the gateway closes you with SLOW_CLIENT.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first session, without writing code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IT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building a client, prove the gateway is reachable end to end. A raw TCP tool is enough.</a:t>
            </a:r>
            <a:endParaRPr lang="en-US" sz="1150" dirty="0"/>
          </a:p>
        </p:txBody>
      </p:sp>
      <p:sp>
        <p:nvSpPr>
          <p:cNvPr id="7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26464"/>
            <a:ext cx="4041648" cy="1371600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code panel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26464"/>
            <a:ext cx="4041648" cy="201168"/>
          </a:xfrm>
          <a:prstGeom prst="rect">
            <a:avLst/>
          </a:prstGeom>
          <a:solidFill>
            <a:srgbClr val="1A20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585216" y="1435608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TYPE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3504" y="1700784"/>
            <a:ext cx="374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 127.0.0.1 5565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HELLO|CLIENT=test|PROTO=ALF1|ID=TRADER01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SYMBOLS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900" dirty="0"/>
          </a:p>
        </p:txBody>
      </p:sp>
      <p:sp>
        <p:nvSpPr>
          <p:cNvPr id="11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426464"/>
            <a:ext cx="4041648" cy="1371600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code panel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426464"/>
            <a:ext cx="4041648" cy="201168"/>
          </a:xfrm>
          <a:prstGeom prst="rect">
            <a:avLst/>
          </a:prstGeom>
          <a:solidFill>
            <a:srgbClr val="1A20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4773168" y="1435608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COMES BACK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91456" y="1700784"/>
            <a:ext cx="374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WELCOME|PROTO=ALF1|GW=alf-gwy01|ID=TRADER01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SYMBOLS|COUNT=3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SYMBOL|SYM=AAPL|TICK=0.01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END|TYPE=SYMBOLS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HB|TS=...</a:t>
            </a:r>
            <a:endParaRPr lang="en-US" sz="900" dirty="0"/>
          </a:p>
        </p:txBody>
      </p:sp>
      <p:sp>
        <p:nvSpPr>
          <p:cNvPr id="1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999232"/>
            <a:ext cx="2633472" cy="14173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999232"/>
            <a:ext cx="50292" cy="1417320"/>
          </a:xfrm>
          <a:prstGeom prst="rect">
            <a:avLst/>
          </a:prstGeom>
          <a:solidFill>
            <a:srgbClr val="E469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676656" y="314553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listening?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6656" y="3419856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refused means the gateway is not started, or is on a different port than you think.</a:t>
            </a:r>
            <a:endParaRPr lang="en-US" sz="95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55264" y="2999232"/>
            <a:ext cx="2633472" cy="14173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55264" y="2999232"/>
            <a:ext cx="50292" cy="1417320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3474720" y="314553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Hangs with no output?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74720" y="3419856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firewall is in the way. Prove it on the loopback address first, then open the port.</a:t>
            </a:r>
            <a:endParaRPr lang="en-US" sz="950" dirty="0"/>
          </a:p>
        </p:txBody>
      </p:sp>
      <p:sp>
        <p:nvSpPr>
          <p:cNvPr id="2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3328" y="2999232"/>
            <a:ext cx="2633472" cy="14173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3328" y="2999232"/>
            <a:ext cx="50292" cy="1417320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272784" y="314553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Unreachable from another host?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72784" y="3419856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gateway may be bound to the local interface only. Bind it to all interfaces instead.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5171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gateway does not terminate TLS. For anything remote, put it behind a reverse proxy.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illustration introducing this section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14">
              <a:alpha val="74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94960" cy="5143500"/>
          </a:xfrm>
          <a:prstGeom prst="rect">
            <a:avLst/>
          </a:prstGeom>
          <a:solidFill>
            <a:srgbClr val="0C1014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81328"/>
            <a:ext cx="822960" cy="41148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Text 3"/>
          <p:cNvSpPr/>
          <p:nvPr/>
        </p:nvSpPr>
        <p:spPr>
          <a:xfrm>
            <a:off x="64008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4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3317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Sending Orders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2186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5D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the protocol can express: eight single-leg order types, linked pairs, multi-leg combos and two-sided quotes.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kinds of order can I send?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grou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15568"/>
            <a:ext cx="2679192" cy="3246120"/>
          </a:xfrm>
          <a:prstGeom prst="rect">
            <a:avLst/>
          </a:prstGeom>
          <a:solidFill>
            <a:srgbClr val="1D232A"/>
          </a:solidFill>
          <a:ln w="15240">
            <a:solidFill>
              <a:srgbClr val="3DD68C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7" name="grou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15568"/>
            <a:ext cx="2679192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Single-leg orders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09344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instruction, one book</a:t>
            </a:r>
            <a:endParaRPr lang="en-US" sz="950" dirty="0"/>
          </a:p>
        </p:txBody>
      </p:sp>
      <p:sp>
        <p:nvSpPr>
          <p:cNvPr id="10" name="i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066544"/>
            <a:ext cx="2313432" cy="256032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731520" y="206654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</a:t>
            </a:r>
            <a:endParaRPr lang="en-US" sz="950" dirty="0"/>
          </a:p>
        </p:txBody>
      </p:sp>
      <p:sp>
        <p:nvSpPr>
          <p:cNvPr id="12" name="i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377440"/>
            <a:ext cx="2313432" cy="256032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731520" y="237744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endParaRPr lang="en-US" sz="950" dirty="0"/>
          </a:p>
        </p:txBody>
      </p:sp>
      <p:sp>
        <p:nvSpPr>
          <p:cNvPr id="14" name="i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688336"/>
            <a:ext cx="2313432" cy="256032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731520" y="268833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IOC</a:t>
            </a:r>
            <a:endParaRPr lang="en-US" sz="950" dirty="0"/>
          </a:p>
        </p:txBody>
      </p:sp>
      <p:sp>
        <p:nvSpPr>
          <p:cNvPr id="16" name="i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99232"/>
            <a:ext cx="2313432" cy="256032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731520" y="299923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FOK</a:t>
            </a:r>
            <a:endParaRPr lang="en-US" sz="950" dirty="0"/>
          </a:p>
        </p:txBody>
      </p:sp>
      <p:sp>
        <p:nvSpPr>
          <p:cNvPr id="18" name="i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10128"/>
            <a:ext cx="2313432" cy="256032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731520" y="331012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950" dirty="0"/>
          </a:p>
        </p:txBody>
      </p:sp>
      <p:sp>
        <p:nvSpPr>
          <p:cNvPr id="20" name="i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621024"/>
            <a:ext cx="2313432" cy="256032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731520" y="362102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STOP_LIMIT</a:t>
            </a:r>
            <a:endParaRPr lang="en-US" sz="950" dirty="0"/>
          </a:p>
        </p:txBody>
      </p:sp>
      <p:sp>
        <p:nvSpPr>
          <p:cNvPr id="22" name="i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31920"/>
            <a:ext cx="2313432" cy="256032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731520" y="393192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ICEBERG</a:t>
            </a:r>
            <a:endParaRPr lang="en-US" sz="950" dirty="0"/>
          </a:p>
        </p:txBody>
      </p:sp>
      <p:sp>
        <p:nvSpPr>
          <p:cNvPr id="24" name="i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242816"/>
            <a:ext cx="2313432" cy="256032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31520" y="424281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TRAILING_STOP</a:t>
            </a:r>
            <a:endParaRPr lang="en-US" sz="950" dirty="0"/>
          </a:p>
        </p:txBody>
      </p:sp>
      <p:sp>
        <p:nvSpPr>
          <p:cNvPr id="26" name="grou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1115568"/>
            <a:ext cx="2679192" cy="3246120"/>
          </a:xfrm>
          <a:prstGeom prst="rect">
            <a:avLst/>
          </a:prstGeom>
          <a:solidFill>
            <a:srgbClr val="1D232A"/>
          </a:solidFill>
          <a:ln w="15240">
            <a:solidFill>
              <a:srgbClr val="62A8D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7" name="grou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1115568"/>
            <a:ext cx="2679192" cy="54864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3575304" y="1298448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 orders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75304" y="1609344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Several orders that live and die together</a:t>
            </a:r>
            <a:endParaRPr lang="en-US" sz="950" dirty="0"/>
          </a:p>
        </p:txBody>
      </p:sp>
      <p:sp>
        <p:nvSpPr>
          <p:cNvPr id="30" name="i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75304" y="2066544"/>
            <a:ext cx="2313432" cy="384048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3666744" y="206654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OCO — one cancels the other</a:t>
            </a:r>
            <a:endParaRPr lang="en-US" sz="1000" dirty="0"/>
          </a:p>
        </p:txBody>
      </p:sp>
      <p:sp>
        <p:nvSpPr>
          <p:cNvPr id="32" name="i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75304" y="2505456"/>
            <a:ext cx="2313432" cy="384048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3666744" y="2505456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COMBO — 2 to 10 legs, all or none</a:t>
            </a:r>
            <a:endParaRPr lang="en-US" sz="1000" dirty="0"/>
          </a:p>
        </p:txBody>
      </p:sp>
      <p:sp>
        <p:nvSpPr>
          <p:cNvPr id="34" name="grou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7648" y="1115568"/>
            <a:ext cx="2679192" cy="3246120"/>
          </a:xfrm>
          <a:prstGeom prst="rect">
            <a:avLst/>
          </a:prstGeom>
          <a:solidFill>
            <a:srgbClr val="1D232A"/>
          </a:solidFill>
          <a:ln w="15240">
            <a:solidFill>
              <a:srgbClr val="A98BE0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5" name="grou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7648" y="1115568"/>
            <a:ext cx="2679192" cy="54864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6510528" y="1298448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Market-maker quotes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10528" y="1609344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command, two sides of the book</a:t>
            </a:r>
            <a:endParaRPr lang="en-US" sz="950" dirty="0"/>
          </a:p>
        </p:txBody>
      </p:sp>
      <p:sp>
        <p:nvSpPr>
          <p:cNvPr id="38" name="i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0528" y="2066544"/>
            <a:ext cx="2313432" cy="384048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6601968" y="206654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QUOTE — bid and ask together</a:t>
            </a:r>
            <a:endParaRPr lang="en-US" sz="1000" dirty="0"/>
          </a:p>
        </p:txBody>
      </p:sp>
      <p:sp>
        <p:nvSpPr>
          <p:cNvPr id="40" name="it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0528" y="2505456"/>
            <a:ext cx="2313432" cy="384048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1" name="Text 39"/>
          <p:cNvSpPr/>
          <p:nvPr/>
        </p:nvSpPr>
        <p:spPr>
          <a:xfrm>
            <a:off x="6601968" y="2505456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QUOTE_CANCEL — pull the quote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of them start with the same verb: NEW. The TYPE field decides which shape the rest of the line takes.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Single-leg types — the core four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TYPES 1 OF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yp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97280"/>
            <a:ext cx="4041648" cy="157276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97280"/>
            <a:ext cx="50292" cy="1572768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76656" y="1216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12161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no price.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76656" y="1517904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 now, at whatever price is available.</a:t>
            </a:r>
            <a:endParaRPr lang="en-US" sz="1050" dirty="0"/>
          </a:p>
        </p:txBody>
      </p:sp>
      <p:sp>
        <p:nvSpPr>
          <p:cNvPr id="11" name="exampl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048256"/>
            <a:ext cx="3602736" cy="475488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68096" y="2048256"/>
            <a:ext cx="3419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NEW|SYM=AAPL|SIDE=BUY|TYPE=MARKET|QTY=50</a:t>
            </a:r>
            <a:endParaRPr lang="en-US" sz="800" dirty="0"/>
          </a:p>
        </p:txBody>
      </p:sp>
      <p:sp>
        <p:nvSpPr>
          <p:cNvPr id="13" name="typ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097280"/>
            <a:ext cx="4041648" cy="157276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097280"/>
            <a:ext cx="50292" cy="1572768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4864608" y="1216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31152" y="12161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required.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64608" y="1517904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 at my price or better; otherwise rest in the book and wait.</a:t>
            </a:r>
            <a:endParaRPr lang="en-US" sz="1050" dirty="0"/>
          </a:p>
        </p:txBody>
      </p:sp>
      <p:sp>
        <p:nvSpPr>
          <p:cNvPr id="18" name="exampl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64608" y="2048256"/>
            <a:ext cx="3602736" cy="475488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4956048" y="2048256"/>
            <a:ext cx="3419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NEW|SYM=AAPL|SIDE=BUY|TYPE=LIMIT|QTY=100|PRICE=150.00</a:t>
            </a:r>
            <a:endParaRPr lang="en-US" sz="800" dirty="0"/>
          </a:p>
        </p:txBody>
      </p:sp>
      <p:sp>
        <p:nvSpPr>
          <p:cNvPr id="20" name="typ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834640"/>
            <a:ext cx="4041648" cy="157276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834640"/>
            <a:ext cx="50292" cy="1572768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676656" y="2953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29535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required.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6656" y="3255264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 or cancel: take what is there right now, throw the rest away.</a:t>
            </a:r>
            <a:endParaRPr lang="en-US" sz="1050" dirty="0"/>
          </a:p>
        </p:txBody>
      </p:sp>
      <p:sp>
        <p:nvSpPr>
          <p:cNvPr id="25" name="exampl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3785616"/>
            <a:ext cx="3602736" cy="475488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68096" y="3785616"/>
            <a:ext cx="3419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NEW|SYM=AAPL|SIDE=BUY|TYPE=IOC|QTY=100|PRICE=150.00</a:t>
            </a:r>
            <a:endParaRPr lang="en-US" sz="800" dirty="0"/>
          </a:p>
        </p:txBody>
      </p:sp>
      <p:sp>
        <p:nvSpPr>
          <p:cNvPr id="27" name="typ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834640"/>
            <a:ext cx="4041648" cy="157276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834640"/>
            <a:ext cx="50292" cy="1572768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4864608" y="2953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31152" y="29535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required.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64608" y="3255264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or kill: all of it immediately, or none of it at all.</a:t>
            </a:r>
            <a:endParaRPr lang="en-US" sz="1050" dirty="0"/>
          </a:p>
        </p:txBody>
      </p:sp>
      <p:sp>
        <p:nvSpPr>
          <p:cNvPr id="32" name="exampl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64608" y="3785616"/>
            <a:ext cx="3602736" cy="475488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4956048" y="3785616"/>
            <a:ext cx="3419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NEW|SYM=AAPL|SIDE=BUY|TYPE=FOK|QTY=100|PRICE=150.00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Single-leg types — the advanced four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TYPES 2 OF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yp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97280"/>
            <a:ext cx="4041648" cy="157276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97280"/>
            <a:ext cx="50292" cy="1572768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76656" y="1216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2161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required.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76656" y="1517904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Sleeps until the market reaches your trigger, then becomes a market order.</a:t>
            </a:r>
            <a:endParaRPr lang="en-US" sz="1050" dirty="0"/>
          </a:p>
        </p:txBody>
      </p:sp>
      <p:sp>
        <p:nvSpPr>
          <p:cNvPr id="11" name="exampl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048256"/>
            <a:ext cx="3602736" cy="475488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68096" y="2048256"/>
            <a:ext cx="3419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NEW|...|TYPE=STOP|QTY=100|STOP=148.00</a:t>
            </a:r>
            <a:endParaRPr lang="en-US" sz="800" dirty="0"/>
          </a:p>
        </p:txBody>
      </p:sp>
      <p:sp>
        <p:nvSpPr>
          <p:cNvPr id="13" name="typ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097280"/>
            <a:ext cx="4041648" cy="157276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097280"/>
            <a:ext cx="50292" cy="1572768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4864608" y="1216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STOP_LIMIT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14032" y="12161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+ PRICE.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64608" y="1517904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trigger, but it becomes a limit order so you keep price control.</a:t>
            </a:r>
            <a:endParaRPr lang="en-US" sz="1050" dirty="0"/>
          </a:p>
        </p:txBody>
      </p:sp>
      <p:sp>
        <p:nvSpPr>
          <p:cNvPr id="18" name="exampl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64608" y="2048256"/>
            <a:ext cx="3602736" cy="475488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4956048" y="2048256"/>
            <a:ext cx="3419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NEW|...|TYPE=STOP_LIMIT|QTY=100|STOP=148.00|PRICE=147.50</a:t>
            </a:r>
            <a:endParaRPr lang="en-US" sz="800" dirty="0"/>
          </a:p>
        </p:txBody>
      </p:sp>
      <p:sp>
        <p:nvSpPr>
          <p:cNvPr id="20" name="typ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834640"/>
            <a:ext cx="4041648" cy="157276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834640"/>
            <a:ext cx="50292" cy="1572768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676656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ICEBERG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2953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VISIBLE &lt; QTY.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6656" y="3255264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large order that only shows a small peak to the market at a time.</a:t>
            </a:r>
            <a:endParaRPr lang="en-US" sz="1050" dirty="0"/>
          </a:p>
        </p:txBody>
      </p:sp>
      <p:sp>
        <p:nvSpPr>
          <p:cNvPr id="25" name="exampl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3785616"/>
            <a:ext cx="3602736" cy="475488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68096" y="3785616"/>
            <a:ext cx="3419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NEW|...|TYPE=ICEBERG|QTY=1000|PRICE=150.00|VISIBLE=100</a:t>
            </a:r>
            <a:endParaRPr lang="en-US" sz="800" dirty="0"/>
          </a:p>
        </p:txBody>
      </p:sp>
      <p:sp>
        <p:nvSpPr>
          <p:cNvPr id="27" name="typ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834640"/>
            <a:ext cx="4041648" cy="157276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834640"/>
            <a:ext cx="50292" cy="1572768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4864608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TRAILING_STOP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14032" y="2953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TRAIL required.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64608" y="3255264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stop that follows the market by a fixed offset, locking in gains.</a:t>
            </a:r>
            <a:endParaRPr lang="en-US" sz="1050" dirty="0"/>
          </a:p>
        </p:txBody>
      </p:sp>
      <p:sp>
        <p:nvSpPr>
          <p:cNvPr id="32" name="exampl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64608" y="3785616"/>
            <a:ext cx="3602736" cy="475488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4956048" y="3785616"/>
            <a:ext cx="3419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NEW|...|TYPE=TRAILING_STOP|QTY=100|TRAIL=0.50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4590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 trailing stop the initial STOP is optional — leave it out and the engine derives it from the last trade price.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optional fields worth knowing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TIF AND SMP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in force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TIF — how long the order stays alive. Defaults to DAY.</a:t>
            </a:r>
            <a:endParaRPr lang="en-US" sz="1000" dirty="0"/>
          </a:p>
        </p:txBody>
      </p:sp>
      <p:sp>
        <p:nvSpPr>
          <p:cNvPr id="8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645920"/>
            <a:ext cx="4041648" cy="51206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03504" y="164592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for the trading day only</a:t>
            </a:r>
            <a:endParaRPr lang="en-US" sz="1000" dirty="0"/>
          </a:p>
        </p:txBody>
      </p:sp>
      <p:sp>
        <p:nvSpPr>
          <p:cNvPr id="11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212848"/>
            <a:ext cx="4041648" cy="51206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603504" y="2212848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221284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till cancelled</a:t>
            </a:r>
            <a:endParaRPr lang="en-US" sz="1000" dirty="0"/>
          </a:p>
        </p:txBody>
      </p:sp>
      <p:sp>
        <p:nvSpPr>
          <p:cNvPr id="14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779776"/>
            <a:ext cx="4041648" cy="51206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603504" y="2779776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277977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the open — opening auction only</a:t>
            </a:r>
            <a:endParaRPr lang="en-US" sz="1000" dirty="0"/>
          </a:p>
        </p:txBody>
      </p:sp>
      <p:sp>
        <p:nvSpPr>
          <p:cNvPr id="17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46704"/>
            <a:ext cx="4041648" cy="51206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03504" y="3346704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334670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the close — closing auction only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45152" y="1042416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Self-match prevention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45152" y="1316736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SMP — what to do if your order would trade with your own resting order.</a:t>
            </a:r>
            <a:endParaRPr lang="en-US" sz="1000" dirty="0"/>
          </a:p>
        </p:txBody>
      </p:sp>
      <p:sp>
        <p:nvSpPr>
          <p:cNvPr id="22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645920"/>
            <a:ext cx="4041648" cy="51206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4791456" y="164592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10528" y="164592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 the self-trade</a:t>
            </a:r>
            <a:endParaRPr lang="en-US" sz="900" dirty="0"/>
          </a:p>
        </p:txBody>
      </p:sp>
      <p:sp>
        <p:nvSpPr>
          <p:cNvPr id="25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212848"/>
            <a:ext cx="4041648" cy="51206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4791456" y="221284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CANCEL_AGGRESSOR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10528" y="2212848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 the incoming order</a:t>
            </a:r>
            <a:endParaRPr lang="en-US" sz="900" dirty="0"/>
          </a:p>
        </p:txBody>
      </p:sp>
      <p:sp>
        <p:nvSpPr>
          <p:cNvPr id="28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779776"/>
            <a:ext cx="4041648" cy="51206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4791456" y="2779776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CANCEL_RESTING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10528" y="2779776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 the resting order, keep matching</a:t>
            </a:r>
            <a:endParaRPr lang="en-US" sz="900" dirty="0"/>
          </a:p>
        </p:txBody>
      </p:sp>
      <p:sp>
        <p:nvSpPr>
          <p:cNvPr id="31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346704"/>
            <a:ext cx="4041648" cy="51206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4791456" y="334670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CANCEL_BOTH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10528" y="3346704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 both sides</a:t>
            </a:r>
            <a:endParaRPr lang="en-US" sz="900" dirty="0"/>
          </a:p>
        </p:txBody>
      </p:sp>
      <p:sp>
        <p:nvSpPr>
          <p:cNvPr id="34" name="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950208"/>
            <a:ext cx="8229600" cy="786384"/>
          </a:xfrm>
          <a:prstGeom prst="rect">
            <a:avLst/>
          </a:prstGeom>
          <a:solidFill>
            <a:srgbClr val="2A2318"/>
          </a:solidFill>
          <a:ln w="12700">
            <a:solidFill>
              <a:srgbClr val="E8B2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640080" y="404164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B2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subtle difference worth remembering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42793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4D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Omitting SMP entirely is not the same as sending SMP=NONE. If you omit it, the engine falls back to whatever default is configured for your gateway. Sending NONE explicitly is always honoured as-is.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OCO — one cancels the other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 ORDERS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linked orders on the same symbol, with the same quantity. When one leg fills, its sibling is cancelled automatically. The classic use is a take-profit and a stop-loss guarding the same position.</a:t>
            </a:r>
            <a:endParaRPr lang="en-US" sz="1150" dirty="0"/>
          </a:p>
        </p:txBody>
      </p:sp>
      <p:sp>
        <p:nvSpPr>
          <p:cNvPr id="7" name="leg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664208"/>
            <a:ext cx="4041648" cy="1536192"/>
          </a:xfrm>
          <a:prstGeom prst="rect">
            <a:avLst/>
          </a:prstGeom>
          <a:solidFill>
            <a:srgbClr val="1D232A"/>
          </a:solidFill>
          <a:ln w="1524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58368" y="17739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 1  ·  take profit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20299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 LIMIT @ 155.00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37744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market rises to your target, this one trades — and the stop below is pulled.</a:t>
            </a:r>
            <a:endParaRPr lang="en-US" sz="1000" dirty="0"/>
          </a:p>
        </p:txBody>
      </p:sp>
      <p:sp>
        <p:nvSpPr>
          <p:cNvPr id="11" name="leg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664208"/>
            <a:ext cx="4041648" cy="1536192"/>
          </a:xfrm>
          <a:prstGeom prst="rect">
            <a:avLst/>
          </a:prstGeom>
          <a:solidFill>
            <a:srgbClr val="1D232A"/>
          </a:solidFill>
          <a:ln w="15240">
            <a:solidFill>
              <a:srgbClr val="E4695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4846320" y="17739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 2  ·  stop loss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20299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 STOP @ 148.00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37744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market falls instead, this one triggers — and the take-profit above is pulled.</a:t>
            </a:r>
            <a:endParaRPr lang="en-US" sz="1000" dirty="0"/>
          </a:p>
        </p:txBody>
      </p:sp>
      <p:sp>
        <p:nvSpPr>
          <p:cNvPr id="15" name="link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61104" y="2340864"/>
            <a:ext cx="621792" cy="182880"/>
          </a:xfrm>
          <a:prstGeom prst="rect">
            <a:avLst/>
          </a:prstGeom>
          <a:solidFill>
            <a:srgbClr val="252C34"/>
          </a:solidFill>
          <a:ln w="12700">
            <a:solidFill>
              <a:srgbClr val="E8B2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4206240" y="23408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B2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</a:t>
            </a:r>
            <a:endParaRPr lang="en-US" sz="650" dirty="0"/>
          </a:p>
        </p:txBody>
      </p:sp>
      <p:sp>
        <p:nvSpPr>
          <p:cNvPr id="17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10128"/>
            <a:ext cx="8229600" cy="914400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code panel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10128"/>
            <a:ext cx="8229600" cy="201168"/>
          </a:xfrm>
          <a:prstGeom prst="rect">
            <a:avLst/>
          </a:prstGeom>
          <a:solidFill>
            <a:srgbClr val="1A20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585216" y="3319272"/>
            <a:ext cx="7973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LINE, TWO LEGS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3504" y="3584448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NEW|TYPE=OCO|OCO_ID=EXIT-AAPL|SYM=AAPL|QTY=100|TIF=GTC</a:t>
            </a:r>
            <a:endParaRPr lang="en-US" sz="9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|LEG1_SIDE=SELL|LEG1_TYPE=LIMIT|LEG1_PRICE=155.00</a:t>
            </a:r>
            <a:endParaRPr lang="en-US" sz="9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|LEG2_SIDE=SELL|LEG2_TYPE=STOP|LEG2_STOP=148.00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3342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legs share the symbol, quantity and TIF. Each gets its own engine order ID; cancel the whole pair with CANCEL|OCO_ID=EXIT-AAPL.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COMBO — multi-leg orders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 ORDERS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parent order with 2 to 10 child legs across different symbols, executed all-or-none. Use it for spreads, pairs trades and arbitrage-style baskets.</a:t>
            </a:r>
            <a:endParaRPr lang="en-US" sz="1150" dirty="0"/>
          </a:p>
        </p:txBody>
      </p:sp>
      <p:sp>
        <p:nvSpPr>
          <p:cNvPr id="7" name="parent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554480"/>
            <a:ext cx="2286000" cy="1463040"/>
          </a:xfrm>
          <a:prstGeom prst="rect">
            <a:avLst/>
          </a:prstGeom>
          <a:solidFill>
            <a:srgbClr val="252C34"/>
          </a:solidFill>
          <a:ln w="15875">
            <a:solidFill>
              <a:srgbClr val="62A8D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66928" y="168249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2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COMBO parent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97510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COMBO_ID=ARB-01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2249424"/>
            <a:ext cx="2066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COMBO_TYPE=AON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LEG_COUNT=3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TIF=DAY</a:t>
            </a:r>
            <a:endParaRPr lang="en-US" sz="850" dirty="0"/>
          </a:p>
        </p:txBody>
      </p:sp>
      <p:sp>
        <p:nvSpPr>
          <p:cNvPr id="11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2928" y="2185416"/>
            <a:ext cx="420624" cy="201168"/>
          </a:xfrm>
          <a:prstGeom prst="rightArrow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le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9856" y="1554480"/>
            <a:ext cx="5266944" cy="438912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le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9856" y="1554480"/>
            <a:ext cx="45720" cy="43891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3584448" y="15544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15968" y="155448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 AAPL  200 @ 210.00</a:t>
            </a:r>
            <a:endParaRPr lang="en-US" sz="1000" dirty="0"/>
          </a:p>
        </p:txBody>
      </p:sp>
      <p:sp>
        <p:nvSpPr>
          <p:cNvPr id="16" name="le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9856" y="2066544"/>
            <a:ext cx="5266944" cy="438912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le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9856" y="2066544"/>
            <a:ext cx="45720" cy="438912"/>
          </a:xfrm>
          <a:prstGeom prst="rect">
            <a:avLst/>
          </a:prstGeom>
          <a:solidFill>
            <a:srgbClr val="E469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3584448" y="206654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5968" y="206654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 MSFT  100 @ 415.00</a:t>
            </a:r>
            <a:endParaRPr lang="en-US" sz="1000" dirty="0"/>
          </a:p>
        </p:txBody>
      </p:sp>
      <p:sp>
        <p:nvSpPr>
          <p:cNvPr id="20" name="le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9856" y="2578608"/>
            <a:ext cx="5266944" cy="438912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le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9856" y="2578608"/>
            <a:ext cx="45720" cy="438912"/>
          </a:xfrm>
          <a:prstGeom prst="rect">
            <a:avLst/>
          </a:prstGeom>
          <a:solidFill>
            <a:srgbClr val="E469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3584448" y="257860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15968" y="257860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 GOOG   50 @ 170.00</a:t>
            </a:r>
            <a:endParaRPr lang="en-US" sz="1000" dirty="0"/>
          </a:p>
        </p:txBody>
      </p:sp>
      <p:sp>
        <p:nvSpPr>
          <p:cNvPr id="2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18688"/>
            <a:ext cx="2633472" cy="11887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18688"/>
            <a:ext cx="50292" cy="1188720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76656" y="3364992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Zero-based numbering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" y="3639312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LEG0, LEG1, LEG2 … and LEG_COUNT must agree with them.</a:t>
            </a:r>
            <a:endParaRPr lang="en-US" sz="950" dirty="0"/>
          </a:p>
        </p:txBody>
      </p:sp>
      <p:sp>
        <p:nvSpPr>
          <p:cNvPr id="2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55264" y="3218688"/>
            <a:ext cx="2633472" cy="11887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55264" y="3218688"/>
            <a:ext cx="50292" cy="1188720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3474720" y="3364992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or none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0" y="3639312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COMBO_TYPE defaults to AON. If one leg is cancelled or expires, the rest cascade-cancel.</a:t>
            </a:r>
            <a:endParaRPr lang="en-US" sz="950" dirty="0"/>
          </a:p>
        </p:txBody>
      </p:sp>
      <p:sp>
        <p:nvSpPr>
          <p:cNvPr id="3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3328" y="3218688"/>
            <a:ext cx="2633472" cy="11887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3328" y="3218688"/>
            <a:ext cx="50292" cy="1188720"/>
          </a:xfrm>
          <a:prstGeom prst="rect">
            <a:avLst/>
          </a:prstGeom>
          <a:solidFill>
            <a:srgbClr val="E469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6272784" y="3364992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symbols rejected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2784" y="3639312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leg must reference a different instrument.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OCO and COMBO cannot express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 LIMITS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text syntax exposes fewer per-leg fields than the engine supports. Knowing where the ceiling is saves you a lot of debugging.</a:t>
            </a:r>
            <a:endParaRPr lang="en-US" sz="1150" dirty="0"/>
          </a:p>
        </p:txBody>
      </p:sp>
      <p:sp>
        <p:nvSpPr>
          <p:cNvPr id="7" name="table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517904"/>
            <a:ext cx="8229600" cy="347472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40080" y="15179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 type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0" y="15179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an OCO pair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0" y="15179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 COMBO leg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543800" y="15179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</a:t>
            </a:r>
            <a:endParaRPr lang="en-US" sz="950" dirty="0"/>
          </a:p>
        </p:txBody>
      </p:sp>
      <p:sp>
        <p:nvSpPr>
          <p:cNvPr id="12" name="table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901952"/>
            <a:ext cx="8229600" cy="310896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640080" y="19019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19019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0" y="19019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543800" y="19019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7" name="table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231136"/>
            <a:ext cx="8229600" cy="310896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40080" y="2231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2311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0" y="22311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543800" y="22311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2" name="table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560320"/>
            <a:ext cx="8229600" cy="310896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40080" y="2560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2560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0" y="2560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43800" y="25603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7" name="table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889504"/>
            <a:ext cx="8229600" cy="310896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640080" y="28895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0" y="28895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0" y="28895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43800" y="288950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2" name="table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18688"/>
            <a:ext cx="8229600" cy="310896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640080" y="3218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0" y="32186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0" y="32186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543800" y="32186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leg STOP</a:t>
            </a:r>
            <a:endParaRPr lang="en-US" sz="800" dirty="0"/>
          </a:p>
        </p:txBody>
      </p:sp>
      <p:sp>
        <p:nvSpPr>
          <p:cNvPr id="37" name="table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47872"/>
            <a:ext cx="8229600" cy="310896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640080" y="35478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STOP_LIMIT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74720" y="35478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86400" y="35478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543800" y="35478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leg STOP</a:t>
            </a:r>
            <a:endParaRPr lang="en-US" sz="800" dirty="0"/>
          </a:p>
        </p:txBody>
      </p:sp>
      <p:sp>
        <p:nvSpPr>
          <p:cNvPr id="42" name="table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877056"/>
            <a:ext cx="8229600" cy="310896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3" name="Text 41"/>
          <p:cNvSpPr/>
          <p:nvPr/>
        </p:nvSpPr>
        <p:spPr>
          <a:xfrm>
            <a:off x="640080" y="38770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TRAILING_STOP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474720" y="387705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0" y="387705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543800" y="38770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leg TRAIL</a:t>
            </a:r>
            <a:endParaRPr lang="en-US" sz="800" dirty="0"/>
          </a:p>
        </p:txBody>
      </p:sp>
      <p:sp>
        <p:nvSpPr>
          <p:cNvPr id="47" name="table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206240"/>
            <a:ext cx="8229600" cy="310896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8" name="Text 46"/>
          <p:cNvSpPr/>
          <p:nvPr/>
        </p:nvSpPr>
        <p:spPr>
          <a:xfrm>
            <a:off x="640080" y="4206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ICEBERG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474720" y="42062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86400" y="42062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543800" y="42062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leg VISIBLE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combo leg only carries SYM, SIDE, QTY, TYPE and PRICE — there is no per-leg stop, trail or visible size.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Market-maker quotes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QUOTE AND QUOTE_CANCEL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market maker shows both sides of the book at once. One QUOTE command submits or replaces a bid and an ask together — internally it becomes two limit orders.</a:t>
            </a:r>
            <a:endParaRPr lang="en-US" sz="1150" dirty="0"/>
          </a:p>
        </p:txBody>
      </p:sp>
      <p:sp>
        <p:nvSpPr>
          <p:cNvPr id="7" name="bid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572768"/>
            <a:ext cx="4041648" cy="1298448"/>
          </a:xfrm>
          <a:prstGeom prst="rect">
            <a:avLst/>
          </a:prstGeom>
          <a:solidFill>
            <a:srgbClr val="16231C"/>
          </a:solidFill>
          <a:ln w="1524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58368" y="16824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  ·  you buy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956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149.90  ×  500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 · BID_QTY</a:t>
            </a:r>
            <a:endParaRPr lang="en-US" sz="900" dirty="0"/>
          </a:p>
        </p:txBody>
      </p:sp>
      <p:sp>
        <p:nvSpPr>
          <p:cNvPr id="11" name="ask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572768"/>
            <a:ext cx="4041648" cy="1298448"/>
          </a:xfrm>
          <a:prstGeom prst="rect">
            <a:avLst/>
          </a:prstGeom>
          <a:solidFill>
            <a:srgbClr val="231A1A"/>
          </a:solidFill>
          <a:ln w="15240">
            <a:solidFill>
              <a:srgbClr val="E4695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4846320" y="16824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 ·  you sell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1956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150.10  ×  500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4632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· ASK_QTY</a:t>
            </a:r>
            <a:endParaRPr lang="en-US" sz="900" dirty="0"/>
          </a:p>
        </p:txBody>
      </p:sp>
      <p:sp>
        <p:nvSpPr>
          <p:cNvPr id="15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962656"/>
            <a:ext cx="4937760" cy="960120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code panel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962656"/>
            <a:ext cx="4937760" cy="201168"/>
          </a:xfrm>
          <a:prstGeom prst="rect">
            <a:avLst/>
          </a:prstGeom>
          <a:solidFill>
            <a:srgbClr val="1A20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585216" y="2971800"/>
            <a:ext cx="4681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SUBMIT, REPLACE, CANCEL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3504" y="3236976"/>
            <a:ext cx="4645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QUOTE|SYM=AAPL|BID=149.90|ASK=150.10</a:t>
            </a:r>
            <a:endParaRPr lang="en-US" sz="8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|BID_QTY=500|ASK_QTY=500|QUOTE_ID=MM-AAPL-1</a:t>
            </a:r>
            <a:endParaRPr lang="en-US" sz="8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QUOTE_CANCEL|SYM=AAPL</a:t>
            </a:r>
            <a:endParaRPr lang="en-US" sz="850" dirty="0"/>
          </a:p>
        </p:txBody>
      </p:sp>
      <p:sp>
        <p:nvSpPr>
          <p:cNvPr id="19" name="rule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1264" y="2962656"/>
            <a:ext cx="3145536" cy="32918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ru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1264" y="2962656"/>
            <a:ext cx="45720" cy="32918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5705856" y="2962656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MARKET_MAKER role only</a:t>
            </a:r>
            <a:endParaRPr lang="en-US" sz="950" dirty="0"/>
          </a:p>
        </p:txBody>
      </p:sp>
      <p:sp>
        <p:nvSpPr>
          <p:cNvPr id="22" name="rule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1264" y="3346704"/>
            <a:ext cx="3145536" cy="32918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ru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1264" y="3346704"/>
            <a:ext cx="45720" cy="329184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5705856" y="3346704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 must be strictly below ASK</a:t>
            </a:r>
            <a:endParaRPr lang="en-US" sz="950" dirty="0"/>
          </a:p>
        </p:txBody>
      </p:sp>
      <p:sp>
        <p:nvSpPr>
          <p:cNvPr id="25" name="rule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1264" y="3730752"/>
            <a:ext cx="3145536" cy="32918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ru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1264" y="3730752"/>
            <a:ext cx="45720" cy="329184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5705856" y="3730752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quantities must be positive</a:t>
            </a:r>
            <a:endParaRPr lang="en-US" sz="950" dirty="0"/>
          </a:p>
        </p:txBody>
      </p:sp>
      <p:sp>
        <p:nvSpPr>
          <p:cNvPr id="28" name="rule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1264" y="4114800"/>
            <a:ext cx="3145536" cy="32918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ru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1264" y="4114800"/>
            <a:ext cx="45720" cy="329184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5705856" y="411480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quote replaces the previous one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your legs with QLEGS, and recover bootstrap state after a reconnect with QBOOT.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KILL switch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CONTROL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command withdraws your exposure. It applies to your gateway only — it never touches anyone else's orders, and it never reverses fills that already happened.</a:t>
            </a:r>
            <a:endParaRPr lang="en-US" sz="1150" dirty="0"/>
          </a:p>
        </p:txBody>
      </p:sp>
      <p:sp>
        <p:nvSpPr>
          <p:cNvPr id="7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554480"/>
            <a:ext cx="4041648" cy="786384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code panel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554480"/>
            <a:ext cx="4041648" cy="201168"/>
          </a:xfrm>
          <a:prstGeom prst="rect">
            <a:avLst/>
          </a:prstGeom>
          <a:solidFill>
            <a:srgbClr val="1A20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585216" y="1563624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EVERYTHING, OR ONE SYMBOL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3504" y="18288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</a:t>
            </a:r>
            <a:endParaRPr lang="en-US" sz="11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KILL|SYM=AAPL</a:t>
            </a:r>
            <a:endParaRPr lang="en-US" sz="1100" dirty="0"/>
          </a:p>
        </p:txBody>
      </p:sp>
      <p:sp>
        <p:nvSpPr>
          <p:cNvPr id="11" name="respons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554480"/>
            <a:ext cx="4041648" cy="786384"/>
          </a:xfrm>
          <a:prstGeom prst="rect">
            <a:avLst/>
          </a:prstGeom>
          <a:solidFill>
            <a:srgbClr val="1D232A"/>
          </a:solidFill>
          <a:ln w="1270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4809744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KILL_ACK|ACCEPTED=TRUE|ORDERS=3|QUOTES=2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9744" y="19568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QUOTES counts cancelled legs, not quote records — one two-sided quote usually contributes 2.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252374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cancels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816352"/>
            <a:ext cx="4041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active market-maker quote legs — bid and ask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ordinary resting limit-style exposure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other resting child orders sitting in a book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45152" y="252374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does not touch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45152" y="2816352"/>
            <a:ext cx="4041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gateways' orders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Fills that already happened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 orders no longer resting in a book</a:t>
            </a:r>
            <a:endParaRPr lang="en-US" sz="1000" dirty="0"/>
          </a:p>
        </p:txBody>
      </p:sp>
      <p:sp>
        <p:nvSpPr>
          <p:cNvPr id="18" name="example 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931920"/>
            <a:ext cx="8229600" cy="749808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2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example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24281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market maker with quotes in AAPL and MSFT plus resting orders in AAPL and GOOG sends KILL|SYM=AAPL. The AAPL quote legs and AAPL resting orders go; the MSFT quote and the GOOG order stay untouched.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comes back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RESPONSES AND EVENTS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is synchronous. You send a line; acknowledgements and lifecycle events arrive on the same connection whenever the engine produces them.</a:t>
            </a:r>
            <a:endParaRPr lang="en-US" sz="1150" dirty="0"/>
          </a:p>
        </p:txBody>
      </p:sp>
      <p:sp>
        <p:nvSpPr>
          <p:cNvPr id="7" name="lifecycl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517904"/>
            <a:ext cx="1143000" cy="457200"/>
          </a:xfrm>
          <a:prstGeom prst="rect">
            <a:avLst/>
          </a:prstGeom>
          <a:solidFill>
            <a:srgbClr val="1D232A"/>
          </a:solidFill>
          <a:ln w="1524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493776" y="1517904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1000" dirty="0"/>
          </a:p>
        </p:txBody>
      </p:sp>
      <p:sp>
        <p:nvSpPr>
          <p:cNvPr id="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5920" y="1645920"/>
            <a:ext cx="329184" cy="201168"/>
          </a:xfrm>
          <a:prstGeom prst="rightArrow">
            <a:avLst/>
          </a:prstGeom>
          <a:solidFill>
            <a:srgbClr val="323B4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lifecycl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20824" y="1517904"/>
            <a:ext cx="1143000" cy="457200"/>
          </a:xfrm>
          <a:prstGeom prst="rect">
            <a:avLst/>
          </a:prstGeom>
          <a:solidFill>
            <a:srgbClr val="1D232A"/>
          </a:solidFill>
          <a:ln w="15240">
            <a:solidFill>
              <a:srgbClr val="62A8D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2057400" y="1517904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</a:t>
            </a:r>
            <a:endParaRPr lang="en-US" sz="1000" dirty="0"/>
          </a:p>
        </p:txBody>
      </p:sp>
      <p:sp>
        <p:nvSpPr>
          <p:cNvPr id="12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9544" y="1645920"/>
            <a:ext cx="329184" cy="201168"/>
          </a:xfrm>
          <a:prstGeom prst="rightArrow">
            <a:avLst/>
          </a:prstGeom>
          <a:solidFill>
            <a:srgbClr val="323B4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lifecycl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4448" y="1517904"/>
            <a:ext cx="1143000" cy="457200"/>
          </a:xfrm>
          <a:prstGeom prst="rect">
            <a:avLst/>
          </a:prstGeom>
          <a:solidFill>
            <a:srgbClr val="1D232A"/>
          </a:solidFill>
          <a:ln w="15240">
            <a:solidFill>
              <a:srgbClr val="A98BE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3621024" y="1517904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</a:t>
            </a:r>
            <a:endParaRPr lang="en-US" sz="1000" dirty="0"/>
          </a:p>
        </p:txBody>
      </p:sp>
      <p:sp>
        <p:nvSpPr>
          <p:cNvPr id="15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73168" y="1645920"/>
            <a:ext cx="329184" cy="201168"/>
          </a:xfrm>
          <a:prstGeom prst="rightArrow">
            <a:avLst/>
          </a:prstGeom>
          <a:solidFill>
            <a:srgbClr val="323B4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lifecycl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48072" y="1517904"/>
            <a:ext cx="1143000" cy="457200"/>
          </a:xfrm>
          <a:prstGeom prst="rect">
            <a:avLst/>
          </a:prstGeom>
          <a:solidFill>
            <a:srgbClr val="1D232A"/>
          </a:solidFill>
          <a:ln w="15240">
            <a:solidFill>
              <a:srgbClr val="A98BE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5184648" y="1517904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</a:t>
            </a:r>
            <a:endParaRPr lang="en-US" sz="1000" dirty="0"/>
          </a:p>
        </p:txBody>
      </p:sp>
      <p:sp>
        <p:nvSpPr>
          <p:cNvPr id="18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36792" y="1645920"/>
            <a:ext cx="329184" cy="201168"/>
          </a:xfrm>
          <a:prstGeom prst="rightArrow">
            <a:avLst/>
          </a:prstGeom>
          <a:solidFill>
            <a:srgbClr val="323B4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lifecycl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11696" y="1517904"/>
            <a:ext cx="2377440" cy="457200"/>
          </a:xfrm>
          <a:prstGeom prst="rect">
            <a:avLst/>
          </a:prstGeom>
          <a:solidFill>
            <a:srgbClr val="1D232A"/>
          </a:solidFill>
          <a:ln w="15240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6748272" y="151790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CANCELLED / EXPIRED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029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order's life: acknowledged, then filled in one or more pieces, then finished or withdrawn.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237744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Addressed to your gateway</a:t>
            </a:r>
            <a:endParaRPr lang="en-US" sz="1100" dirty="0"/>
          </a:p>
        </p:txBody>
      </p:sp>
      <p:sp>
        <p:nvSpPr>
          <p:cNvPr id="23" name="event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670048"/>
            <a:ext cx="4041648" cy="40233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585216" y="267004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286000" y="267004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ORDER_ID · ACCEPTED · REASON · SYMBOL · SIDE · TYPE</a:t>
            </a:r>
            <a:endParaRPr lang="en-US" sz="750" dirty="0"/>
          </a:p>
        </p:txBody>
      </p:sp>
      <p:sp>
        <p:nvSpPr>
          <p:cNvPr id="26" name="event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108960"/>
            <a:ext cx="4041648" cy="40233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585216" y="310896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286000" y="31089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ORDER_ID · FILL_QTY · FILL_PRICE · REMAINING · STATUS</a:t>
            </a:r>
            <a:endParaRPr lang="en-US" sz="750" dirty="0"/>
          </a:p>
        </p:txBody>
      </p:sp>
      <p:sp>
        <p:nvSpPr>
          <p:cNvPr id="29" name="event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47872"/>
            <a:ext cx="4041648" cy="40233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585216" y="354787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286000" y="35478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ORDER_ID · PRICE · QTY · REMAINING · PRIORITY_RESET</a:t>
            </a:r>
            <a:endParaRPr lang="en-US" sz="750" dirty="0"/>
          </a:p>
        </p:txBody>
      </p:sp>
      <p:sp>
        <p:nvSpPr>
          <p:cNvPr id="32" name="event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986784"/>
            <a:ext cx="4041648" cy="40233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585216" y="398678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CANCELLED / EXPIRED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286000" y="398678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ORDER_ID</a:t>
            </a:r>
            <a:endParaRPr lang="en-US" sz="750" dirty="0"/>
          </a:p>
        </p:txBody>
      </p:sp>
      <p:sp>
        <p:nvSpPr>
          <p:cNvPr id="35" name="event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425696"/>
            <a:ext cx="4041648" cy="40233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585216" y="442569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KILL_ACK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286000" y="442569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ACCEPTED · REASON · ORDERS · QUOTES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645152" y="237744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2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Group, quote and error events</a:t>
            </a:r>
            <a:endParaRPr lang="en-US" sz="1100" dirty="0"/>
          </a:p>
        </p:txBody>
      </p:sp>
      <p:sp>
        <p:nvSpPr>
          <p:cNvPr id="39" name="event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670048"/>
            <a:ext cx="4041648" cy="40233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0" name="Text 38"/>
          <p:cNvSpPr/>
          <p:nvPr/>
        </p:nvSpPr>
        <p:spPr>
          <a:xfrm>
            <a:off x="4773168" y="267004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QUOTE_ACK / QUOTE_STATUS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473952" y="267004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QUOTE_ID · ACCEPTED · BID_ID · ASK_ID · STATUS</a:t>
            </a:r>
            <a:endParaRPr lang="en-US" sz="750" dirty="0"/>
          </a:p>
        </p:txBody>
      </p:sp>
      <p:sp>
        <p:nvSpPr>
          <p:cNvPr id="42" name="event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108960"/>
            <a:ext cx="4041648" cy="40233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3" name="Text 41"/>
          <p:cNvSpPr/>
          <p:nvPr/>
        </p:nvSpPr>
        <p:spPr>
          <a:xfrm>
            <a:off x="4773168" y="310896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OCO_ACK / OCO_CANCELLED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473952" y="31089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OCO_ID · LEG1_ID · LEG2_ID · CANCELLED_ID</a:t>
            </a:r>
            <a:endParaRPr lang="en-US" sz="750" dirty="0"/>
          </a:p>
        </p:txBody>
      </p:sp>
      <p:sp>
        <p:nvSpPr>
          <p:cNvPr id="45" name="event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547872"/>
            <a:ext cx="4041648" cy="40233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6" name="Text 44"/>
          <p:cNvSpPr/>
          <p:nvPr/>
        </p:nvSpPr>
        <p:spPr>
          <a:xfrm>
            <a:off x="4773168" y="354787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COMBO_ACK / COMBO_STATUS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73952" y="35478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COMBO_ID · ACCEPTED · STATUS · REASON</a:t>
            </a:r>
            <a:endParaRPr lang="en-US" sz="750" dirty="0"/>
          </a:p>
        </p:txBody>
      </p:sp>
      <p:sp>
        <p:nvSpPr>
          <p:cNvPr id="48" name="event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986784"/>
            <a:ext cx="4041648" cy="40233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9" name="Text 47"/>
          <p:cNvSpPr/>
          <p:nvPr/>
        </p:nvSpPr>
        <p:spPr>
          <a:xfrm>
            <a:off x="4773168" y="398678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DC_ACK / DC_FILL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73952" y="398678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· SEQ · FILL_QTY · FILL_PRICE · LIQUIDITY</a:t>
            </a:r>
            <a:endParaRPr lang="en-US" sz="750" dirty="0"/>
          </a:p>
        </p:txBody>
      </p:sp>
      <p:sp>
        <p:nvSpPr>
          <p:cNvPr id="51" name="event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4425696"/>
            <a:ext cx="4041648" cy="40233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2" name="Text 50"/>
          <p:cNvSpPr/>
          <p:nvPr/>
        </p:nvSpPr>
        <p:spPr>
          <a:xfrm>
            <a:off x="4773168" y="442569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473952" y="442569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· DETAIL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Broadcasts and drop copy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UNSOLICITED TRAFFIC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client must expect lines it did not ask for. There is nothing to subscribe to — broadcasts start flowing after WELCOME.</a:t>
            </a:r>
            <a:endParaRPr lang="en-US" sz="1150" dirty="0"/>
          </a:p>
        </p:txBody>
      </p:sp>
      <p:sp>
        <p:nvSpPr>
          <p:cNvPr id="7" name="broadcast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81328"/>
            <a:ext cx="4937760" cy="42062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81328"/>
            <a:ext cx="45720" cy="420624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03504" y="148132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17320" y="148132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trading phase changed — pre-open, auction, continuous, closed</a:t>
            </a:r>
            <a:endParaRPr lang="en-US" sz="900" dirty="0"/>
          </a:p>
        </p:txBody>
      </p:sp>
      <p:sp>
        <p:nvSpPr>
          <p:cNvPr id="11" name="broadcast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956816"/>
            <a:ext cx="4937760" cy="42062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956816"/>
            <a:ext cx="45720" cy="420624"/>
          </a:xfrm>
          <a:prstGeom prst="rect">
            <a:avLst/>
          </a:prstGeom>
          <a:solidFill>
            <a:srgbClr val="E469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603504" y="195681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17320" y="1956816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circuit breaker halted a symbol</a:t>
            </a:r>
            <a:endParaRPr lang="en-US" sz="900" dirty="0"/>
          </a:p>
        </p:txBody>
      </p:sp>
      <p:sp>
        <p:nvSpPr>
          <p:cNvPr id="15" name="broadcast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432304"/>
            <a:ext cx="4937760" cy="42062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432304"/>
            <a:ext cx="45720" cy="42062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603504" y="24323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17320" y="2432304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symbol is trading again</a:t>
            </a:r>
            <a:endParaRPr lang="en-US" sz="900" dirty="0"/>
          </a:p>
        </p:txBody>
      </p:sp>
      <p:sp>
        <p:nvSpPr>
          <p:cNvPr id="19" name="broadcast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907792"/>
            <a:ext cx="4937760" cy="42062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907792"/>
            <a:ext cx="45720" cy="420624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03504" y="290779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17320" y="290779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matched trade, on any symbol</a:t>
            </a:r>
            <a:endParaRPr lang="en-US" sz="900" dirty="0"/>
          </a:p>
        </p:txBody>
      </p:sp>
      <p:sp>
        <p:nvSpPr>
          <p:cNvPr id="23" name="broadcast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83280"/>
            <a:ext cx="4937760" cy="42062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83280"/>
            <a:ext cx="45720" cy="420624"/>
          </a:xfrm>
          <a:prstGeom prst="rect">
            <a:avLst/>
          </a:prstGeom>
          <a:solidFill>
            <a:srgbClr val="6E7A8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03504" y="338328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417320" y="338328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Heartbeat — the link is alive and quiet</a:t>
            </a:r>
            <a:endParaRPr lang="en-US" sz="900" dirty="0"/>
          </a:p>
        </p:txBody>
      </p:sp>
      <p:sp>
        <p:nvSpPr>
          <p:cNvPr id="27" name="drop copy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1264" y="1481328"/>
            <a:ext cx="3145536" cy="2286000"/>
          </a:xfrm>
          <a:prstGeom prst="rect">
            <a:avLst/>
          </a:prstGeom>
          <a:solidFill>
            <a:srgbClr val="1D232A"/>
          </a:solidFill>
          <a:ln w="15240">
            <a:solidFill>
              <a:srgbClr val="A98BE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5742432" y="1591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copy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42432" y="18836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optional second view of your own fills, relayed on the same connection.</a:t>
            </a:r>
            <a:endParaRPr lang="en-US" sz="950" dirty="0"/>
          </a:p>
        </p:txBody>
      </p:sp>
      <p:sp>
        <p:nvSpPr>
          <p:cNvPr id="30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42432" y="2395728"/>
            <a:ext cx="2743200" cy="1243584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code panel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42432" y="2395728"/>
            <a:ext cx="2743200" cy="201168"/>
          </a:xfrm>
          <a:prstGeom prst="rect">
            <a:avLst/>
          </a:prstGeom>
          <a:solidFill>
            <a:srgbClr val="1A20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5870448" y="2404872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 IN PER SESSION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88736" y="2670048"/>
            <a:ext cx="24505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DC|STATE=ON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DC_ACK|STATE=ON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DC_FILL|SEQ=42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|LIQUIDITY=TAKER</a:t>
            </a:r>
            <a:endParaRPr lang="en-US" sz="750" dirty="0"/>
          </a:p>
        </p:txBody>
      </p:sp>
      <p:sp>
        <p:nvSpPr>
          <p:cNvPr id="34" name="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950208"/>
            <a:ext cx="8229600" cy="786384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640080" y="404164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copy is in addition to, not instead of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426110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DC on you still receive the ordinary FILL messages. DC_FILL adds a sequence number and a maker/taker flag that FILL does not carry, but omits the remaining quantity and status that FILL does. Every session opts in independently — it is off by default.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illustration introducing this section"/>
          <p:cNvPicPr>
            <a:picLocks noChangeAspect="1"/>
          </p:cNvPicPr>
          <p:nvPr/>
        </p:nvPicPr>
        <p:blipFill>
          <a:blip r:embed="rId3"/>
          <a:srcRect t="6187" b="6187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14">
              <a:alpha val="74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94960" cy="5143500"/>
          </a:xfrm>
          <a:prstGeom prst="rect">
            <a:avLst/>
          </a:prstGeom>
          <a:solidFill>
            <a:srgbClr val="0C1014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81328"/>
            <a:ext cx="822960" cy="41148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Text 3"/>
          <p:cNvSpPr/>
          <p:nvPr/>
        </p:nvSpPr>
        <p:spPr>
          <a:xfrm>
            <a:off x="64008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5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3317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Amend, Cancel, Recover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2186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5D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rarely stay as first written. How to change one, how to pull one, and what the gateway tells you when something is wrong.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AMEND — changing a resting order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MANAGEMENT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the order by its full engine-generated ID, then send a new price, a new quantity, or both. At least one of them is required.</a:t>
            </a:r>
            <a:endParaRPr lang="en-US" sz="1150" dirty="0"/>
          </a:p>
        </p:txBody>
      </p:sp>
      <p:sp>
        <p:nvSpPr>
          <p:cNvPr id="7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81328"/>
            <a:ext cx="4041648" cy="1133856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code panel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81328"/>
            <a:ext cx="4041648" cy="201168"/>
          </a:xfrm>
          <a:prstGeom prst="rect">
            <a:avLst/>
          </a:prstGeom>
          <a:solidFill>
            <a:srgbClr val="1A20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585216" y="149047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FORMS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3504" y="175564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AMEND|ID=ORD-12345678|PRICE=151.00</a:t>
            </a:r>
            <a:endParaRPr lang="en-US" sz="8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AMEND|ID=ORD-12345678|QTY=200</a:t>
            </a:r>
            <a:endParaRPr lang="en-US" sz="8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AMEND|ID=ORD-12345678|PRICE=151.00|QTY=200</a:t>
            </a:r>
            <a:endParaRPr lang="en-US" sz="850" dirty="0"/>
          </a:p>
        </p:txBody>
      </p:sp>
      <p:sp>
        <p:nvSpPr>
          <p:cNvPr id="11" name="respons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481328"/>
            <a:ext cx="4041648" cy="1133856"/>
          </a:xfrm>
          <a:prstGeom prst="rect">
            <a:avLst/>
          </a:prstGeom>
          <a:solidFill>
            <a:srgbClr val="1D232A"/>
          </a:solidFill>
          <a:ln w="1270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4828032" y="1572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REPLY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28032" y="1810512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AMENDED|ORDER_ID=…|PRICE=…|QTY=…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|REMAINING=…|PRIORITY_RESET=TRUE</a:t>
            </a:r>
            <a:endParaRPr lang="en-US" sz="85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724912"/>
            <a:ext cx="4041648" cy="9601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724912"/>
            <a:ext cx="50292" cy="960120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76656" y="28712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two types can be amended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" y="3127248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Resting LIMIT and ICEBERG orders. Market, IOC, FOK, stop, stop-limit and trailing-stop orders are not amendable.</a:t>
            </a:r>
            <a:endParaRPr lang="en-US" sz="900" dirty="0"/>
          </a:p>
        </p:txBody>
      </p:sp>
      <p:sp>
        <p:nvSpPr>
          <p:cNvPr id="1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724912"/>
            <a:ext cx="4041648" cy="9601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724912"/>
            <a:ext cx="50292" cy="960120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4864608" y="28712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QTY is a new total, not a delta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3127248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the quantity you want the order to be, not the amount you want to add or remove.</a:t>
            </a:r>
            <a:endParaRPr lang="en-US" sz="900" dirty="0"/>
          </a:p>
        </p:txBody>
      </p:sp>
      <p:sp>
        <p:nvSpPr>
          <p:cNvPr id="2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831336"/>
            <a:ext cx="4041648" cy="9601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831336"/>
            <a:ext cx="50292" cy="960120"/>
          </a:xfrm>
          <a:prstGeom prst="rect">
            <a:avLst/>
          </a:prstGeom>
          <a:solidFill>
            <a:srgbClr val="E469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676656" y="39776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new total must exceed what already filled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" y="4233672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cannot shrink an order below the quantity that has already traded, and it must stay positive.</a:t>
            </a:r>
            <a:endParaRPr lang="en-US" sz="900" dirty="0"/>
          </a:p>
        </p:txBody>
      </p:sp>
      <p:sp>
        <p:nvSpPr>
          <p:cNvPr id="2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831336"/>
            <a:ext cx="4041648" cy="96012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831336"/>
            <a:ext cx="50292" cy="960120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4864608" y="39776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full identifier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4608" y="4233672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Displays abbreviate order IDs for readability. Take the full ID from your order table or the acknowledgement stream.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rule that surprises people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 PRIORITY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place in the queue at a price level is valuable — it decides whether you trade first. Some amendments keep it; others send you to the back of the line.</a:t>
            </a:r>
            <a:endParaRPr lang="en-US" sz="1150" dirty="0"/>
          </a:p>
        </p:txBody>
      </p:sp>
      <p:sp>
        <p:nvSpPr>
          <p:cNvPr id="7" name="cas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517904"/>
            <a:ext cx="8229600" cy="93268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517904"/>
            <a:ext cx="50292" cy="932688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76656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Quantity decrease, same price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6656" y="193852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are asking for less, so nobody behind you is disadvantaged.</a:t>
            </a:r>
            <a:endParaRPr lang="en-US" sz="950" dirty="0"/>
          </a:p>
        </p:txBody>
      </p:sp>
      <p:sp>
        <p:nvSpPr>
          <p:cNvPr id="11" name="examp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1792224"/>
            <a:ext cx="1828800" cy="384048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5084064" y="179222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AMEND|ID=…|QTY=80</a:t>
            </a:r>
            <a:endParaRPr lang="en-US" sz="800" dirty="0"/>
          </a:p>
        </p:txBody>
      </p:sp>
      <p:sp>
        <p:nvSpPr>
          <p:cNvPr id="13" name="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0880" y="1792224"/>
            <a:ext cx="1481328" cy="384048"/>
          </a:xfrm>
          <a:prstGeom prst="rect">
            <a:avLst/>
          </a:prstGeom>
          <a:solidFill>
            <a:srgbClr val="16342A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7077456" y="17922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PRESERVED</a:t>
            </a:r>
            <a:endParaRPr lang="en-US" sz="900" dirty="0"/>
          </a:p>
        </p:txBody>
      </p:sp>
      <p:sp>
        <p:nvSpPr>
          <p:cNvPr id="15" name="cas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523744"/>
            <a:ext cx="8229600" cy="93268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523744"/>
            <a:ext cx="50292" cy="932688"/>
          </a:xfrm>
          <a:prstGeom prst="rect">
            <a:avLst/>
          </a:prstGeom>
          <a:solidFill>
            <a:srgbClr val="E469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676656" y="2633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change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6656" y="294436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price is effectively a new order at a new level.</a:t>
            </a:r>
            <a:endParaRPr lang="en-US" sz="950" dirty="0"/>
          </a:p>
        </p:txBody>
      </p:sp>
      <p:sp>
        <p:nvSpPr>
          <p:cNvPr id="19" name="examp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2798064"/>
            <a:ext cx="1828800" cy="384048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5084064" y="279806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AMEND|ID=…|PRICE=150.10</a:t>
            </a:r>
            <a:endParaRPr lang="en-US" sz="800" dirty="0"/>
          </a:p>
        </p:txBody>
      </p:sp>
      <p:sp>
        <p:nvSpPr>
          <p:cNvPr id="21" name="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0880" y="2798064"/>
            <a:ext cx="1481328" cy="384048"/>
          </a:xfrm>
          <a:prstGeom prst="rect">
            <a:avLst/>
          </a:prstGeom>
          <a:solidFill>
            <a:srgbClr val="2A1D1D"/>
          </a:solidFill>
          <a:ln w="12700">
            <a:solidFill>
              <a:srgbClr val="E4695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077456" y="279806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RESET</a:t>
            </a:r>
            <a:endParaRPr lang="en-US" sz="900" dirty="0"/>
          </a:p>
        </p:txBody>
      </p:sp>
      <p:sp>
        <p:nvSpPr>
          <p:cNvPr id="23" name="cas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29584"/>
            <a:ext cx="8229600" cy="93268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29584"/>
            <a:ext cx="50292" cy="932688"/>
          </a:xfrm>
          <a:prstGeom prst="rect">
            <a:avLst/>
          </a:prstGeom>
          <a:solidFill>
            <a:srgbClr val="E469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76656" y="3639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Quantity increase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6656" y="395020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Claiming more size means queueing again behind everyone else.</a:t>
            </a:r>
            <a:endParaRPr lang="en-US" sz="950" dirty="0"/>
          </a:p>
        </p:txBody>
      </p:sp>
      <p:sp>
        <p:nvSpPr>
          <p:cNvPr id="27" name="examp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3803904"/>
            <a:ext cx="1828800" cy="384048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5084064" y="380390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AMEND|ID=…|QTY=120</a:t>
            </a:r>
            <a:endParaRPr lang="en-US" sz="800" dirty="0"/>
          </a:p>
        </p:txBody>
      </p:sp>
      <p:sp>
        <p:nvSpPr>
          <p:cNvPr id="29" name="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0880" y="3803904"/>
            <a:ext cx="1481328" cy="384048"/>
          </a:xfrm>
          <a:prstGeom prst="rect">
            <a:avLst/>
          </a:prstGeom>
          <a:solidFill>
            <a:srgbClr val="2A1D1D"/>
          </a:solidFill>
          <a:ln w="12700">
            <a:solidFill>
              <a:srgbClr val="E4695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7077456" y="380390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RESET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Starting point in every case: NEW|SYM=AAPL|SIDE=BUY|TYPE=LIMIT|QTY=100|PRICE=150.00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 — one order, or a whole group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MANAGEMENT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cancel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15568"/>
            <a:ext cx="8229600" cy="987552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15568"/>
            <a:ext cx="50292" cy="98755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76656" y="1225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order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6656" y="15361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Cancels one single-leg order.</a:t>
            </a:r>
            <a:endParaRPr lang="en-US" sz="900" dirty="0"/>
          </a:p>
        </p:txBody>
      </p:sp>
      <p:sp>
        <p:nvSpPr>
          <p:cNvPr id="10" name="command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298448"/>
            <a:ext cx="2194560" cy="603504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3511296" y="1298448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CANCEL|ID=&lt;order-id&gt;</a:t>
            </a:r>
            <a:endParaRPr lang="en-US" sz="850" dirty="0"/>
          </a:p>
        </p:txBody>
      </p:sp>
      <p:sp>
        <p:nvSpPr>
          <p:cNvPr id="12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144" y="1499616"/>
            <a:ext cx="310896" cy="201168"/>
          </a:xfrm>
          <a:prstGeom prst="rightArrow">
            <a:avLst/>
          </a:prstGeom>
          <a:solidFill>
            <a:srgbClr val="323B4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respons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1298448"/>
            <a:ext cx="2395728" cy="603504"/>
          </a:xfrm>
          <a:prstGeom prst="rect">
            <a:avLst/>
          </a:prstGeom>
          <a:solidFill>
            <a:srgbClr val="16342A"/>
          </a:solidFill>
          <a:ln w="1270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6199632" y="1298448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CANCELLED|ORDER_ID=…</a:t>
            </a:r>
            <a:endParaRPr lang="en-US" sz="750" dirty="0"/>
          </a:p>
        </p:txBody>
      </p:sp>
      <p:sp>
        <p:nvSpPr>
          <p:cNvPr id="15" name="cancel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194560"/>
            <a:ext cx="8229600" cy="987552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194560"/>
            <a:ext cx="50292" cy="987552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676656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OCO pair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6656" y="26151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Cancels both legs of the pair at once.</a:t>
            </a:r>
            <a:endParaRPr lang="en-US" sz="900" dirty="0"/>
          </a:p>
        </p:txBody>
      </p:sp>
      <p:sp>
        <p:nvSpPr>
          <p:cNvPr id="19" name="command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2377440"/>
            <a:ext cx="2194560" cy="603504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3511296" y="2377440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CANCEL|OCO_ID=&lt;label&gt;</a:t>
            </a:r>
            <a:endParaRPr lang="en-US" sz="850" dirty="0"/>
          </a:p>
        </p:txBody>
      </p:sp>
      <p:sp>
        <p:nvSpPr>
          <p:cNvPr id="21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144" y="2578608"/>
            <a:ext cx="310896" cy="201168"/>
          </a:xfrm>
          <a:prstGeom prst="rightArrow">
            <a:avLst/>
          </a:prstGeom>
          <a:solidFill>
            <a:srgbClr val="323B4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respons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377440"/>
            <a:ext cx="2395728" cy="603504"/>
          </a:xfrm>
          <a:prstGeom prst="rect">
            <a:avLst/>
          </a:prstGeom>
          <a:solidFill>
            <a:srgbClr val="16342A"/>
          </a:solidFill>
          <a:ln w="1270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199632" y="2377440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OCO_CANCELLED|OCO_ID=…|CANCELLED_ID=…|REASON=…</a:t>
            </a:r>
            <a:endParaRPr lang="en-US" sz="750" dirty="0"/>
          </a:p>
        </p:txBody>
      </p:sp>
      <p:sp>
        <p:nvSpPr>
          <p:cNvPr id="24" name="cancel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73552"/>
            <a:ext cx="8229600" cy="987552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73552"/>
            <a:ext cx="50292" cy="987552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76656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combo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6656" y="36941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Cancels the parent and all still-resting child legs.</a:t>
            </a:r>
            <a:endParaRPr lang="en-US" sz="900" dirty="0"/>
          </a:p>
        </p:txBody>
      </p:sp>
      <p:sp>
        <p:nvSpPr>
          <p:cNvPr id="28" name="command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3456432"/>
            <a:ext cx="2194560" cy="603504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3511296" y="3456432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CANCEL|COMBO_ID=&lt;label&gt;</a:t>
            </a:r>
            <a:endParaRPr lang="en-US" sz="850" dirty="0"/>
          </a:p>
        </p:txBody>
      </p:sp>
      <p:sp>
        <p:nvSpPr>
          <p:cNvPr id="30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144" y="3657600"/>
            <a:ext cx="310896" cy="201168"/>
          </a:xfrm>
          <a:prstGeom prst="rightArrow">
            <a:avLst/>
          </a:prstGeom>
          <a:solidFill>
            <a:srgbClr val="323B4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respons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3456432"/>
            <a:ext cx="2395728" cy="603504"/>
          </a:xfrm>
          <a:prstGeom prst="rect">
            <a:avLst/>
          </a:prstGeom>
          <a:solidFill>
            <a:srgbClr val="16342A"/>
          </a:solidFill>
          <a:ln w="1270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6199632" y="3456432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COMBO_STATUS|COMBO_ID=…|STATUS=CANCELLED</a:t>
            </a:r>
            <a:endParaRPr lang="en-US" sz="750" dirty="0"/>
          </a:p>
        </p:txBody>
      </p:sp>
      <p:sp>
        <p:nvSpPr>
          <p:cNvPr id="33" name="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261104"/>
            <a:ext cx="8229600" cy="457200"/>
          </a:xfrm>
          <a:prstGeom prst="rect">
            <a:avLst/>
          </a:prstGeom>
          <a:solidFill>
            <a:srgbClr val="2A2318"/>
          </a:solidFill>
          <a:ln w="12700">
            <a:solidFill>
              <a:srgbClr val="E8B2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640080" y="42611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2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Cancelling never unwinds a trade. Fills that already happened stay done — cancel only removes what is still resting.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Knowing where you stand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COMMANDS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command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97280"/>
            <a:ext cx="8229600" cy="56692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97280"/>
            <a:ext cx="45720" cy="566928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47088" y="10972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instruments exist, and their tick size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68112" y="10972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SYMBOLS|COUNT=3 → SYMBOL|… → END</a:t>
            </a:r>
            <a:endParaRPr lang="en-US" sz="750" dirty="0"/>
          </a:p>
        </p:txBody>
      </p:sp>
      <p:sp>
        <p:nvSpPr>
          <p:cNvPr id="11" name="command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719072"/>
            <a:ext cx="8229600" cy="56692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719072"/>
            <a:ext cx="45720" cy="566928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640080" y="171907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47088" y="17190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resting orders with full IDs, prices, remaining quantity and status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68112" y="17190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ORDERS|COUNT=2|GW=… → ORDER|… → END</a:t>
            </a:r>
            <a:endParaRPr lang="en-US" sz="750" dirty="0"/>
          </a:p>
        </p:txBody>
      </p:sp>
      <p:sp>
        <p:nvSpPr>
          <p:cNvPr id="16" name="command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340864"/>
            <a:ext cx="8229600" cy="56692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340864"/>
            <a:ext cx="45720" cy="566928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40080" y="234086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47088" y="23408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current trading phase, without waiting for the next broadcast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68112" y="234086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SESSION|STATE=CONTINUOUS|SESSIONS_ENABLED=TRUE</a:t>
            </a:r>
            <a:endParaRPr lang="en-US" sz="750" dirty="0"/>
          </a:p>
        </p:txBody>
      </p:sp>
      <p:sp>
        <p:nvSpPr>
          <p:cNvPr id="21" name="command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962656"/>
            <a:ext cx="8229600" cy="56692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962656"/>
            <a:ext cx="45720" cy="566928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40080" y="29626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QBOOT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47088" y="296265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quote bootstrap state — for market makers restarting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68112" y="296265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QBOOT|COUNT=1 → QUOTE|… → END</a:t>
            </a:r>
            <a:endParaRPr lang="en-US" sz="750" dirty="0"/>
          </a:p>
        </p:txBody>
      </p:sp>
      <p:sp>
        <p:nvSpPr>
          <p:cNvPr id="26" name="command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84448"/>
            <a:ext cx="8229600" cy="56692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84448"/>
            <a:ext cx="45720" cy="566928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640080" y="358444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QLEGS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47088" y="35844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Quote legs with fill state; SHOW=ACTIVE, RECENT or ALL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68112" y="35844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QLEGS|COUNT=2|RECENT_COUNT=1 → LEG|… → END</a:t>
            </a:r>
            <a:endParaRPr lang="en-US" sz="750" dirty="0"/>
          </a:p>
        </p:txBody>
      </p:sp>
      <p:sp>
        <p:nvSpPr>
          <p:cNvPr id="31" name="command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206240"/>
            <a:ext cx="8229600" cy="566928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206240"/>
            <a:ext cx="45720" cy="566928"/>
          </a:xfrm>
          <a:prstGeom prst="rect">
            <a:avLst/>
          </a:prstGeom>
          <a:solidFill>
            <a:srgbClr val="6E7A8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640080" y="420624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· POS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847088" y="42062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Console-only: a session summary and locally computed positions and P&amp;L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68112" y="42062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Answered by the terminal, not the engine</a:t>
            </a:r>
            <a:endParaRPr lang="en-US" sz="750" dirty="0"/>
          </a:p>
        </p:txBody>
      </p:sp>
      <p:sp>
        <p:nvSpPr>
          <p:cNvPr id="36" name="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2A2318"/>
          </a:solidFill>
          <a:ln w="12700">
            <a:solidFill>
              <a:srgbClr val="E8B2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621792" y="4572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B2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command behaves differently in each client: the terminal answers QLEGS from its own cache, while the TCP gateway asks the engine and returns authoritative state.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errors are reported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HANDLING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error is a single line with a machine-readable code and a human-readable detail. Parse the code; log the detail.</a:t>
            </a:r>
            <a:endParaRPr lang="en-US" sz="1150" dirty="0"/>
          </a:p>
        </p:txBody>
      </p:sp>
      <p:sp>
        <p:nvSpPr>
          <p:cNvPr id="7" name="error forma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26464"/>
            <a:ext cx="8229600" cy="420624"/>
          </a:xfrm>
          <a:prstGeom prst="rect">
            <a:avLst/>
          </a:prstGeom>
          <a:solidFill>
            <a:srgbClr val="231A1A"/>
          </a:solidFill>
          <a:ln w="15240">
            <a:solidFill>
              <a:srgbClr val="E4695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ERR|CODE=&lt;CODE&gt;|DETAIL=&lt;message&gt;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only question that matters</a:t>
            </a:r>
            <a:endParaRPr lang="en-US" sz="1250" dirty="0"/>
          </a:p>
        </p:txBody>
      </p:sp>
      <p:sp>
        <p:nvSpPr>
          <p:cNvPr id="10" name="recoverabl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340864"/>
            <a:ext cx="4041648" cy="1371600"/>
          </a:xfrm>
          <a:prstGeom prst="rect">
            <a:avLst/>
          </a:prstGeom>
          <a:solidFill>
            <a:srgbClr val="16342A"/>
          </a:solidFill>
          <a:ln w="1524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658368" y="2450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KEPT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27249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command was rejected. Fix it and carry on — the session is still good.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31821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BAD_MESSAGE · UNKNOWN_COMMAND · MISSING_FIELD · INVALID_VALUE · SYMBOL_NOT_CONFIGURED · ROLE_DENIED · RATE_LIMITED · INTERNAL_ERROR</a:t>
            </a:r>
            <a:endParaRPr lang="en-US" sz="750" dirty="0"/>
          </a:p>
        </p:txBody>
      </p:sp>
      <p:sp>
        <p:nvSpPr>
          <p:cNvPr id="14" name="fatal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340864"/>
            <a:ext cx="4041648" cy="1371600"/>
          </a:xfrm>
          <a:prstGeom prst="rect">
            <a:avLst/>
          </a:prstGeom>
          <a:solidFill>
            <a:srgbClr val="2A1D1D"/>
          </a:solidFill>
          <a:ln w="15240">
            <a:solidFill>
              <a:srgbClr val="E4695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4846320" y="2450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CLOSED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27249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session is over. Fix the cause, then reconnect and re-sync your state.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1821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AUTH_REQUIRED · AUTH_TIMEOUT · AUTH_FAILED · PROTO_MISMATCH · GATEWAY_ALREADY_CONNECTED · SLOW_CLIENT · IDLE_TIMEOUT · MAX_ERRORS</a:t>
            </a:r>
            <a:endParaRPr lang="en-US" sz="750" dirty="0"/>
          </a:p>
        </p:txBody>
      </p:sp>
      <p:sp>
        <p:nvSpPr>
          <p:cNvPr id="18" name="escalation 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840480"/>
            <a:ext cx="8229600" cy="877824"/>
          </a:xfrm>
          <a:prstGeom prst="rect">
            <a:avLst/>
          </a:prstGeom>
          <a:solidFill>
            <a:srgbClr val="252C34"/>
          </a:solidFill>
          <a:ln w="12700">
            <a:solidFill>
              <a:srgbClr val="E8B2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640080" y="395020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2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Errors have a budget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1879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Recoverable errors are counted in a sliding window. Accumulate too many of them — 50 in 60 seconds by default — and the gateway disconnects you anyway. This protects everyone else from a runaway client, so never retry a rejected command in a tight loop: fix the command instead.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illustration introducing this section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014">
              <a:alpha val="74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94960" cy="5143500"/>
          </a:xfrm>
          <a:prstGeom prst="rect">
            <a:avLst/>
          </a:prstGeom>
          <a:solidFill>
            <a:srgbClr val="0C1014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81328"/>
            <a:ext cx="822960" cy="41148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Text 3"/>
          <p:cNvSpPr/>
          <p:nvPr/>
        </p:nvSpPr>
        <p:spPr>
          <a:xfrm>
            <a:off x="64008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6</a:t>
            </a:r>
            <a:endParaRPr lang="en-US" sz="12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3317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Reference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2186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5D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detail you will want open on a second screen while you write your first client.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fields by order type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header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52144"/>
            <a:ext cx="8229600" cy="329184"/>
          </a:xfrm>
          <a:prstGeom prst="rect">
            <a:avLst/>
          </a:prstGeom>
          <a:solidFill>
            <a:srgbClr val="252C34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Text 5"/>
          <p:cNvSpPr/>
          <p:nvPr/>
        </p:nvSpPr>
        <p:spPr>
          <a:xfrm>
            <a:off x="2011680" y="1152144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679192" y="1152144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46704" y="1152144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14216" y="1152144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81728" y="1152144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49240" y="1152144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16752" y="1152144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VISIBLE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84264" y="1152144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51776" y="1152144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TIF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19288" y="1152144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7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SMP</a:t>
            </a:r>
            <a:endParaRPr lang="en-US" sz="800" dirty="0"/>
          </a:p>
        </p:txBody>
      </p:sp>
      <p:sp>
        <p:nvSpPr>
          <p:cNvPr id="17" name="matrix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517904"/>
            <a:ext cx="8229600" cy="347472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585216" y="15179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</a:t>
            </a:r>
            <a:endParaRPr lang="en-US" sz="900" dirty="0"/>
          </a:p>
        </p:txBody>
      </p:sp>
      <p:sp>
        <p:nvSpPr>
          <p:cNvPr id="19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08276" y="160934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2011680" y="151790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21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75788" y="160934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2679192" y="151790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23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43300" y="160934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3346704" y="151790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25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10812" y="160934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4014216" y="151790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27" name="optional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8372" y="1609344"/>
            <a:ext cx="274320" cy="164592"/>
          </a:xfrm>
          <a:prstGeom prst="rect">
            <a:avLst/>
          </a:prstGeom>
          <a:solidFill>
            <a:srgbClr val="252C34"/>
          </a:solidFill>
          <a:ln w="9525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7351776" y="151790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</a:t>
            </a:r>
            <a:endParaRPr lang="en-US" sz="550" dirty="0"/>
          </a:p>
        </p:txBody>
      </p:sp>
      <p:sp>
        <p:nvSpPr>
          <p:cNvPr id="29" name="optional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15884" y="1609344"/>
            <a:ext cx="274320" cy="164592"/>
          </a:xfrm>
          <a:prstGeom prst="rect">
            <a:avLst/>
          </a:prstGeom>
          <a:solidFill>
            <a:srgbClr val="252C34"/>
          </a:solidFill>
          <a:ln w="9525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8019288" y="151790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</a:t>
            </a:r>
            <a:endParaRPr lang="en-US" sz="550" dirty="0"/>
          </a:p>
        </p:txBody>
      </p:sp>
      <p:sp>
        <p:nvSpPr>
          <p:cNvPr id="31" name="matrix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883664"/>
            <a:ext cx="8229600" cy="347472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585216" y="18836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endParaRPr lang="en-US" sz="900" dirty="0"/>
          </a:p>
        </p:txBody>
      </p:sp>
      <p:sp>
        <p:nvSpPr>
          <p:cNvPr id="33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08276" y="197510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2011680" y="188366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35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75788" y="197510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2679192" y="188366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37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43300" y="197510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3346704" y="188366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39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10812" y="197510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0" name="Text 38"/>
          <p:cNvSpPr/>
          <p:nvPr/>
        </p:nvSpPr>
        <p:spPr>
          <a:xfrm>
            <a:off x="4014216" y="188366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41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8324" y="197510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2" name="Text 40"/>
          <p:cNvSpPr/>
          <p:nvPr/>
        </p:nvSpPr>
        <p:spPr>
          <a:xfrm>
            <a:off x="4681728" y="188366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43" name="optional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8372" y="1975104"/>
            <a:ext cx="274320" cy="164592"/>
          </a:xfrm>
          <a:prstGeom prst="rect">
            <a:avLst/>
          </a:prstGeom>
          <a:solidFill>
            <a:srgbClr val="252C34"/>
          </a:solidFill>
          <a:ln w="9525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4" name="Text 42"/>
          <p:cNvSpPr/>
          <p:nvPr/>
        </p:nvSpPr>
        <p:spPr>
          <a:xfrm>
            <a:off x="7351776" y="188366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</a:t>
            </a:r>
            <a:endParaRPr lang="en-US" sz="550" dirty="0"/>
          </a:p>
        </p:txBody>
      </p:sp>
      <p:sp>
        <p:nvSpPr>
          <p:cNvPr id="45" name="optional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15884" y="1975104"/>
            <a:ext cx="274320" cy="164592"/>
          </a:xfrm>
          <a:prstGeom prst="rect">
            <a:avLst/>
          </a:prstGeom>
          <a:solidFill>
            <a:srgbClr val="252C34"/>
          </a:solidFill>
          <a:ln w="9525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6" name="Text 44"/>
          <p:cNvSpPr/>
          <p:nvPr/>
        </p:nvSpPr>
        <p:spPr>
          <a:xfrm>
            <a:off x="8019288" y="188366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</a:t>
            </a:r>
            <a:endParaRPr lang="en-US" sz="550" dirty="0"/>
          </a:p>
        </p:txBody>
      </p:sp>
      <p:sp>
        <p:nvSpPr>
          <p:cNvPr id="47" name="matrix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249424"/>
            <a:ext cx="8229600" cy="347472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8" name="Text 46"/>
          <p:cNvSpPr/>
          <p:nvPr/>
        </p:nvSpPr>
        <p:spPr>
          <a:xfrm>
            <a:off x="585216" y="22494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IOC</a:t>
            </a:r>
            <a:endParaRPr lang="en-US" sz="900" dirty="0"/>
          </a:p>
        </p:txBody>
      </p:sp>
      <p:sp>
        <p:nvSpPr>
          <p:cNvPr id="49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08276" y="234086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0" name="Text 48"/>
          <p:cNvSpPr/>
          <p:nvPr/>
        </p:nvSpPr>
        <p:spPr>
          <a:xfrm>
            <a:off x="2011680" y="224942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51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75788" y="234086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2" name="Text 50"/>
          <p:cNvSpPr/>
          <p:nvPr/>
        </p:nvSpPr>
        <p:spPr>
          <a:xfrm>
            <a:off x="2679192" y="224942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53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43300" y="234086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4" name="Text 52"/>
          <p:cNvSpPr/>
          <p:nvPr/>
        </p:nvSpPr>
        <p:spPr>
          <a:xfrm>
            <a:off x="3346704" y="224942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55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10812" y="234086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6" name="Text 54"/>
          <p:cNvSpPr/>
          <p:nvPr/>
        </p:nvSpPr>
        <p:spPr>
          <a:xfrm>
            <a:off x="4014216" y="224942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57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8324" y="234086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8" name="Text 56"/>
          <p:cNvSpPr/>
          <p:nvPr/>
        </p:nvSpPr>
        <p:spPr>
          <a:xfrm>
            <a:off x="4681728" y="224942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59" name="optional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8372" y="2340864"/>
            <a:ext cx="274320" cy="164592"/>
          </a:xfrm>
          <a:prstGeom prst="rect">
            <a:avLst/>
          </a:prstGeom>
          <a:solidFill>
            <a:srgbClr val="252C34"/>
          </a:solidFill>
          <a:ln w="9525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0" name="Text 58"/>
          <p:cNvSpPr/>
          <p:nvPr/>
        </p:nvSpPr>
        <p:spPr>
          <a:xfrm>
            <a:off x="7351776" y="224942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</a:t>
            </a:r>
            <a:endParaRPr lang="en-US" sz="550" dirty="0"/>
          </a:p>
        </p:txBody>
      </p:sp>
      <p:sp>
        <p:nvSpPr>
          <p:cNvPr id="61" name="optional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15884" y="2340864"/>
            <a:ext cx="274320" cy="164592"/>
          </a:xfrm>
          <a:prstGeom prst="rect">
            <a:avLst/>
          </a:prstGeom>
          <a:solidFill>
            <a:srgbClr val="252C34"/>
          </a:solidFill>
          <a:ln w="9525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2" name="Text 60"/>
          <p:cNvSpPr/>
          <p:nvPr/>
        </p:nvSpPr>
        <p:spPr>
          <a:xfrm>
            <a:off x="8019288" y="224942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</a:t>
            </a:r>
            <a:endParaRPr lang="en-US" sz="550" dirty="0"/>
          </a:p>
        </p:txBody>
      </p:sp>
      <p:sp>
        <p:nvSpPr>
          <p:cNvPr id="63" name="matrix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615184"/>
            <a:ext cx="8229600" cy="347472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4" name="Text 62"/>
          <p:cNvSpPr/>
          <p:nvPr/>
        </p:nvSpPr>
        <p:spPr>
          <a:xfrm>
            <a:off x="585216" y="26151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FOK</a:t>
            </a:r>
            <a:endParaRPr lang="en-US" sz="900" dirty="0"/>
          </a:p>
        </p:txBody>
      </p:sp>
      <p:sp>
        <p:nvSpPr>
          <p:cNvPr id="65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08276" y="270662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6" name="Text 64"/>
          <p:cNvSpPr/>
          <p:nvPr/>
        </p:nvSpPr>
        <p:spPr>
          <a:xfrm>
            <a:off x="2011680" y="261518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67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75788" y="270662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8" name="Text 66"/>
          <p:cNvSpPr/>
          <p:nvPr/>
        </p:nvSpPr>
        <p:spPr>
          <a:xfrm>
            <a:off x="2679192" y="261518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69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43300" y="270662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0" name="Text 68"/>
          <p:cNvSpPr/>
          <p:nvPr/>
        </p:nvSpPr>
        <p:spPr>
          <a:xfrm>
            <a:off x="3346704" y="261518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71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10812" y="270662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2" name="Text 70"/>
          <p:cNvSpPr/>
          <p:nvPr/>
        </p:nvSpPr>
        <p:spPr>
          <a:xfrm>
            <a:off x="4014216" y="261518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73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8324" y="270662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4" name="Text 72"/>
          <p:cNvSpPr/>
          <p:nvPr/>
        </p:nvSpPr>
        <p:spPr>
          <a:xfrm>
            <a:off x="4681728" y="261518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75" name="optional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8372" y="2706624"/>
            <a:ext cx="274320" cy="164592"/>
          </a:xfrm>
          <a:prstGeom prst="rect">
            <a:avLst/>
          </a:prstGeom>
          <a:solidFill>
            <a:srgbClr val="252C34"/>
          </a:solidFill>
          <a:ln w="9525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6" name="Text 74"/>
          <p:cNvSpPr/>
          <p:nvPr/>
        </p:nvSpPr>
        <p:spPr>
          <a:xfrm>
            <a:off x="7351776" y="261518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</a:t>
            </a:r>
            <a:endParaRPr lang="en-US" sz="550" dirty="0"/>
          </a:p>
        </p:txBody>
      </p:sp>
      <p:sp>
        <p:nvSpPr>
          <p:cNvPr id="77" name="optional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15884" y="2706624"/>
            <a:ext cx="274320" cy="164592"/>
          </a:xfrm>
          <a:prstGeom prst="rect">
            <a:avLst/>
          </a:prstGeom>
          <a:solidFill>
            <a:srgbClr val="252C34"/>
          </a:solidFill>
          <a:ln w="9525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8" name="Text 76"/>
          <p:cNvSpPr/>
          <p:nvPr/>
        </p:nvSpPr>
        <p:spPr>
          <a:xfrm>
            <a:off x="8019288" y="261518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</a:t>
            </a:r>
            <a:endParaRPr lang="en-US" sz="550" dirty="0"/>
          </a:p>
        </p:txBody>
      </p:sp>
      <p:sp>
        <p:nvSpPr>
          <p:cNvPr id="79" name="matrix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980944"/>
            <a:ext cx="8229600" cy="347472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0" name="Text 78"/>
          <p:cNvSpPr/>
          <p:nvPr/>
        </p:nvSpPr>
        <p:spPr>
          <a:xfrm>
            <a:off x="585216" y="29809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900" dirty="0"/>
          </a:p>
        </p:txBody>
      </p:sp>
      <p:sp>
        <p:nvSpPr>
          <p:cNvPr id="81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08276" y="307238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2" name="Text 80"/>
          <p:cNvSpPr/>
          <p:nvPr/>
        </p:nvSpPr>
        <p:spPr>
          <a:xfrm>
            <a:off x="2011680" y="298094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83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75788" y="307238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4" name="Text 82"/>
          <p:cNvSpPr/>
          <p:nvPr/>
        </p:nvSpPr>
        <p:spPr>
          <a:xfrm>
            <a:off x="2679192" y="298094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85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43300" y="307238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6" name="Text 84"/>
          <p:cNvSpPr/>
          <p:nvPr/>
        </p:nvSpPr>
        <p:spPr>
          <a:xfrm>
            <a:off x="3346704" y="298094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87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10812" y="307238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8" name="Text 86"/>
          <p:cNvSpPr/>
          <p:nvPr/>
        </p:nvSpPr>
        <p:spPr>
          <a:xfrm>
            <a:off x="4014216" y="298094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89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5836" y="307238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0" name="Text 88"/>
          <p:cNvSpPr/>
          <p:nvPr/>
        </p:nvSpPr>
        <p:spPr>
          <a:xfrm>
            <a:off x="5349240" y="298094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91" name="optional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8372" y="3072384"/>
            <a:ext cx="274320" cy="164592"/>
          </a:xfrm>
          <a:prstGeom prst="rect">
            <a:avLst/>
          </a:prstGeom>
          <a:solidFill>
            <a:srgbClr val="252C34"/>
          </a:solidFill>
          <a:ln w="9525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2" name="Text 90"/>
          <p:cNvSpPr/>
          <p:nvPr/>
        </p:nvSpPr>
        <p:spPr>
          <a:xfrm>
            <a:off x="7351776" y="298094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</a:t>
            </a:r>
            <a:endParaRPr lang="en-US" sz="550" dirty="0"/>
          </a:p>
        </p:txBody>
      </p:sp>
      <p:sp>
        <p:nvSpPr>
          <p:cNvPr id="93" name="optional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15884" y="3072384"/>
            <a:ext cx="274320" cy="164592"/>
          </a:xfrm>
          <a:prstGeom prst="rect">
            <a:avLst/>
          </a:prstGeom>
          <a:solidFill>
            <a:srgbClr val="252C34"/>
          </a:solidFill>
          <a:ln w="9525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4" name="Text 92"/>
          <p:cNvSpPr/>
          <p:nvPr/>
        </p:nvSpPr>
        <p:spPr>
          <a:xfrm>
            <a:off x="8019288" y="298094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</a:t>
            </a:r>
            <a:endParaRPr lang="en-US" sz="550" dirty="0"/>
          </a:p>
        </p:txBody>
      </p:sp>
      <p:sp>
        <p:nvSpPr>
          <p:cNvPr id="95" name="matrix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46704"/>
            <a:ext cx="8229600" cy="347472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6" name="Text 94"/>
          <p:cNvSpPr/>
          <p:nvPr/>
        </p:nvSpPr>
        <p:spPr>
          <a:xfrm>
            <a:off x="585216" y="33467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STOP_LIMIT</a:t>
            </a:r>
            <a:endParaRPr lang="en-US" sz="900" dirty="0"/>
          </a:p>
        </p:txBody>
      </p:sp>
      <p:sp>
        <p:nvSpPr>
          <p:cNvPr id="97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08276" y="343814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8" name="Text 96"/>
          <p:cNvSpPr/>
          <p:nvPr/>
        </p:nvSpPr>
        <p:spPr>
          <a:xfrm>
            <a:off x="2011680" y="334670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99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75788" y="343814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0" name="Text 98"/>
          <p:cNvSpPr/>
          <p:nvPr/>
        </p:nvSpPr>
        <p:spPr>
          <a:xfrm>
            <a:off x="2679192" y="334670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101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43300" y="343814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2" name="Text 100"/>
          <p:cNvSpPr/>
          <p:nvPr/>
        </p:nvSpPr>
        <p:spPr>
          <a:xfrm>
            <a:off x="3346704" y="334670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103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10812" y="343814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4" name="Text 102"/>
          <p:cNvSpPr/>
          <p:nvPr/>
        </p:nvSpPr>
        <p:spPr>
          <a:xfrm>
            <a:off x="4014216" y="334670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105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8324" y="343814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6" name="Text 104"/>
          <p:cNvSpPr/>
          <p:nvPr/>
        </p:nvSpPr>
        <p:spPr>
          <a:xfrm>
            <a:off x="4681728" y="334670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107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5836" y="343814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8" name="Text 106"/>
          <p:cNvSpPr/>
          <p:nvPr/>
        </p:nvSpPr>
        <p:spPr>
          <a:xfrm>
            <a:off x="5349240" y="334670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109" name="optional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8372" y="3438144"/>
            <a:ext cx="274320" cy="164592"/>
          </a:xfrm>
          <a:prstGeom prst="rect">
            <a:avLst/>
          </a:prstGeom>
          <a:solidFill>
            <a:srgbClr val="252C34"/>
          </a:solidFill>
          <a:ln w="9525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0" name="Text 108"/>
          <p:cNvSpPr/>
          <p:nvPr/>
        </p:nvSpPr>
        <p:spPr>
          <a:xfrm>
            <a:off x="7351776" y="334670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</a:t>
            </a:r>
            <a:endParaRPr lang="en-US" sz="550" dirty="0"/>
          </a:p>
        </p:txBody>
      </p:sp>
      <p:sp>
        <p:nvSpPr>
          <p:cNvPr id="111" name="optional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15884" y="3438144"/>
            <a:ext cx="274320" cy="164592"/>
          </a:xfrm>
          <a:prstGeom prst="rect">
            <a:avLst/>
          </a:prstGeom>
          <a:solidFill>
            <a:srgbClr val="252C34"/>
          </a:solidFill>
          <a:ln w="9525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2" name="Text 110"/>
          <p:cNvSpPr/>
          <p:nvPr/>
        </p:nvSpPr>
        <p:spPr>
          <a:xfrm>
            <a:off x="8019288" y="334670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</a:t>
            </a:r>
            <a:endParaRPr lang="en-US" sz="550" dirty="0"/>
          </a:p>
        </p:txBody>
      </p:sp>
      <p:sp>
        <p:nvSpPr>
          <p:cNvPr id="113" name="matrix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712464"/>
            <a:ext cx="8229600" cy="347472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4" name="Text 112"/>
          <p:cNvSpPr/>
          <p:nvPr/>
        </p:nvSpPr>
        <p:spPr>
          <a:xfrm>
            <a:off x="585216" y="37124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ICEBERG</a:t>
            </a:r>
            <a:endParaRPr lang="en-US" sz="900" dirty="0"/>
          </a:p>
        </p:txBody>
      </p:sp>
      <p:sp>
        <p:nvSpPr>
          <p:cNvPr id="115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08276" y="380390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6" name="Text 114"/>
          <p:cNvSpPr/>
          <p:nvPr/>
        </p:nvSpPr>
        <p:spPr>
          <a:xfrm>
            <a:off x="2011680" y="371246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117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75788" y="380390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8" name="Text 116"/>
          <p:cNvSpPr/>
          <p:nvPr/>
        </p:nvSpPr>
        <p:spPr>
          <a:xfrm>
            <a:off x="2679192" y="371246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119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43300" y="380390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0" name="Text 118"/>
          <p:cNvSpPr/>
          <p:nvPr/>
        </p:nvSpPr>
        <p:spPr>
          <a:xfrm>
            <a:off x="3346704" y="371246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121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10812" y="380390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2" name="Text 120"/>
          <p:cNvSpPr/>
          <p:nvPr/>
        </p:nvSpPr>
        <p:spPr>
          <a:xfrm>
            <a:off x="4014216" y="371246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123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8324" y="380390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4" name="Text 122"/>
          <p:cNvSpPr/>
          <p:nvPr/>
        </p:nvSpPr>
        <p:spPr>
          <a:xfrm>
            <a:off x="4681728" y="371246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125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3348" y="380390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6" name="Text 124"/>
          <p:cNvSpPr/>
          <p:nvPr/>
        </p:nvSpPr>
        <p:spPr>
          <a:xfrm>
            <a:off x="6016752" y="371246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127" name="optional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8372" y="3803904"/>
            <a:ext cx="274320" cy="164592"/>
          </a:xfrm>
          <a:prstGeom prst="rect">
            <a:avLst/>
          </a:prstGeom>
          <a:solidFill>
            <a:srgbClr val="252C34"/>
          </a:solidFill>
          <a:ln w="9525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8" name="Text 126"/>
          <p:cNvSpPr/>
          <p:nvPr/>
        </p:nvSpPr>
        <p:spPr>
          <a:xfrm>
            <a:off x="7351776" y="371246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</a:t>
            </a:r>
            <a:endParaRPr lang="en-US" sz="550" dirty="0"/>
          </a:p>
        </p:txBody>
      </p:sp>
      <p:sp>
        <p:nvSpPr>
          <p:cNvPr id="129" name="optional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15884" y="3803904"/>
            <a:ext cx="274320" cy="164592"/>
          </a:xfrm>
          <a:prstGeom prst="rect">
            <a:avLst/>
          </a:prstGeom>
          <a:solidFill>
            <a:srgbClr val="252C34"/>
          </a:solidFill>
          <a:ln w="9525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0" name="Text 128"/>
          <p:cNvSpPr/>
          <p:nvPr/>
        </p:nvSpPr>
        <p:spPr>
          <a:xfrm>
            <a:off x="8019288" y="371246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</a:t>
            </a:r>
            <a:endParaRPr lang="en-US" sz="550" dirty="0"/>
          </a:p>
        </p:txBody>
      </p:sp>
      <p:sp>
        <p:nvSpPr>
          <p:cNvPr id="131" name="matrix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078224"/>
            <a:ext cx="8229600" cy="347472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2" name="Text 130"/>
          <p:cNvSpPr/>
          <p:nvPr/>
        </p:nvSpPr>
        <p:spPr>
          <a:xfrm>
            <a:off x="585216" y="40782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TRAILING_STOP</a:t>
            </a:r>
            <a:endParaRPr lang="en-US" sz="900" dirty="0"/>
          </a:p>
        </p:txBody>
      </p:sp>
      <p:sp>
        <p:nvSpPr>
          <p:cNvPr id="133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08276" y="416966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4" name="Text 132"/>
          <p:cNvSpPr/>
          <p:nvPr/>
        </p:nvSpPr>
        <p:spPr>
          <a:xfrm>
            <a:off x="2011680" y="407822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135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75788" y="416966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6" name="Text 134"/>
          <p:cNvSpPr/>
          <p:nvPr/>
        </p:nvSpPr>
        <p:spPr>
          <a:xfrm>
            <a:off x="2679192" y="407822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137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43300" y="416966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8" name="Text 136"/>
          <p:cNvSpPr/>
          <p:nvPr/>
        </p:nvSpPr>
        <p:spPr>
          <a:xfrm>
            <a:off x="3346704" y="407822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139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10812" y="416966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0" name="Text 138"/>
          <p:cNvSpPr/>
          <p:nvPr/>
        </p:nvSpPr>
        <p:spPr>
          <a:xfrm>
            <a:off x="4014216" y="407822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141" name="optional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5836" y="4169664"/>
            <a:ext cx="274320" cy="164592"/>
          </a:xfrm>
          <a:prstGeom prst="rect">
            <a:avLst/>
          </a:prstGeom>
          <a:solidFill>
            <a:srgbClr val="252C34"/>
          </a:solidFill>
          <a:ln w="9525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2" name="Text 140"/>
          <p:cNvSpPr/>
          <p:nvPr/>
        </p:nvSpPr>
        <p:spPr>
          <a:xfrm>
            <a:off x="5349240" y="407822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</a:t>
            </a:r>
            <a:endParaRPr lang="en-US" sz="550" dirty="0"/>
          </a:p>
        </p:txBody>
      </p:sp>
      <p:sp>
        <p:nvSpPr>
          <p:cNvPr id="143" name="require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80860" y="4169664"/>
            <a:ext cx="274320" cy="164592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4" name="Text 142"/>
          <p:cNvSpPr/>
          <p:nvPr/>
        </p:nvSpPr>
        <p:spPr>
          <a:xfrm>
            <a:off x="6684264" y="407822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</a:t>
            </a:r>
            <a:endParaRPr lang="en-US" sz="550" dirty="0"/>
          </a:p>
        </p:txBody>
      </p:sp>
      <p:sp>
        <p:nvSpPr>
          <p:cNvPr id="145" name="optional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8372" y="4169664"/>
            <a:ext cx="274320" cy="164592"/>
          </a:xfrm>
          <a:prstGeom prst="rect">
            <a:avLst/>
          </a:prstGeom>
          <a:solidFill>
            <a:srgbClr val="252C34"/>
          </a:solidFill>
          <a:ln w="9525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6" name="Text 144"/>
          <p:cNvSpPr/>
          <p:nvPr/>
        </p:nvSpPr>
        <p:spPr>
          <a:xfrm>
            <a:off x="7351776" y="407822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</a:t>
            </a:r>
            <a:endParaRPr lang="en-US" sz="550" dirty="0"/>
          </a:p>
        </p:txBody>
      </p:sp>
      <p:sp>
        <p:nvSpPr>
          <p:cNvPr id="147" name="optional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15884" y="4169664"/>
            <a:ext cx="274320" cy="164592"/>
          </a:xfrm>
          <a:prstGeom prst="rect">
            <a:avLst/>
          </a:prstGeom>
          <a:solidFill>
            <a:srgbClr val="252C34"/>
          </a:solidFill>
          <a:ln w="9525">
            <a:solidFill>
              <a:srgbClr val="6E7A8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8" name="Text 146"/>
          <p:cNvSpPr/>
          <p:nvPr/>
        </p:nvSpPr>
        <p:spPr>
          <a:xfrm>
            <a:off x="8019288" y="4078224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</a:t>
            </a:r>
            <a:endParaRPr lang="en-US" sz="550" dirty="0"/>
          </a:p>
        </p:txBody>
      </p:sp>
      <p:sp>
        <p:nvSpPr>
          <p:cNvPr id="149" name="Text 147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 = required   ·   opt = optional   ·   blank = not used by that type. TRAILING_STOP takes an optional STOP; leave it out and the engine derives the initial trigger from the last trade.</a:t>
            </a:r>
            <a:endParaRPr lang="en-US" sz="850" dirty="0"/>
          </a:p>
        </p:txBody>
      </p:sp>
      <p:sp>
        <p:nvSpPr>
          <p:cNvPr id="150" name="Text 148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formal grammar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Written in ABNF-style notation: n*m element means "repeat at least n and at most m times".</a:t>
            </a:r>
            <a:endParaRPr lang="en-US" sz="1100" dirty="0"/>
          </a:p>
        </p:txBody>
      </p:sp>
      <p:sp>
        <p:nvSpPr>
          <p:cNvPr id="7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89888"/>
            <a:ext cx="4041648" cy="1463040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code panel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89888"/>
            <a:ext cx="4041648" cy="201168"/>
          </a:xfrm>
          <a:prstGeom prst="rect">
            <a:avLst/>
          </a:prstGeom>
          <a:solidFill>
            <a:srgbClr val="1A20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585216" y="139903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LINE GRAMMAR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3504" y="1664208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alf-line = command *( "|" segment )</a:t>
            </a:r>
            <a:endParaRPr lang="en-US" sz="8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 = 1*( ALPHA / "_" )</a:t>
            </a:r>
            <a:endParaRPr lang="en-US" sz="8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  = key "=" value</a:t>
            </a:r>
            <a:endParaRPr lang="en-US" sz="8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     = 1*( ALPHA / DIGIT / "_" / "." )</a:t>
            </a:r>
            <a:endParaRPr lang="en-US" sz="8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   = *VCHAR</a:t>
            </a:r>
            <a:endParaRPr lang="en-US" sz="850" dirty="0"/>
          </a:p>
        </p:txBody>
      </p:sp>
      <p:sp>
        <p:nvSpPr>
          <p:cNvPr id="11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89888"/>
            <a:ext cx="4041648" cy="1463040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code panel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89888"/>
            <a:ext cx="4041648" cy="201168"/>
          </a:xfrm>
          <a:prstGeom prst="rect">
            <a:avLst/>
          </a:prstGeom>
          <a:solidFill>
            <a:srgbClr val="1A20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4773168" y="139903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SINGLE-LEG ORDER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91456" y="1664208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new-single =</a:t>
            </a:r>
            <a:endParaRPr lang="en-US" sz="8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"NEW" "|SYM=" symbol</a:t>
            </a:r>
            <a:endParaRPr lang="en-US" sz="8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"|SIDE=" side  "|TYPE=" order-type</a:t>
            </a:r>
            <a:endParaRPr lang="en-US" sz="8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"|QTY=" quantity</a:t>
            </a:r>
            <a:endParaRPr lang="en-US" sz="8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*( "|" option )</a:t>
            </a:r>
            <a:endParaRPr lang="en-US" sz="850" dirty="0"/>
          </a:p>
        </p:txBody>
      </p:sp>
      <p:sp>
        <p:nvSpPr>
          <p:cNvPr id="1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999232"/>
            <a:ext cx="2633472" cy="146304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999232"/>
            <a:ext cx="50292" cy="1463040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676656" y="314553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1*X means one or more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" y="3566160"/>
            <a:ext cx="22494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*X means zero or more, and 2*4X means between two and four.</a:t>
            </a:r>
            <a:endParaRPr lang="en-US" sz="95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55264" y="2999232"/>
            <a:ext cx="2633472" cy="146304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55264" y="2999232"/>
            <a:ext cx="50292" cy="1463040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3474720" y="314553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VCHAR means a visible character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566160"/>
            <a:ext cx="22494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practice, read value as "everything after the first = up to the next pipe".</a:t>
            </a:r>
            <a:endParaRPr lang="en-US" sz="950" dirty="0"/>
          </a:p>
        </p:txBody>
      </p:sp>
      <p:sp>
        <p:nvSpPr>
          <p:cNvPr id="2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3328" y="2999232"/>
            <a:ext cx="2633472" cy="1463040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3328" y="2999232"/>
            <a:ext cx="50292" cy="1463040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272784" y="314553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parser is simpler than the grammar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72784" y="3566160"/>
            <a:ext cx="22494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splits on pipes, splits each segment on the first equals sign, and takes the rest as raw text. There is no character-class check.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code catalogue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column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97280"/>
            <a:ext cx="4041648" cy="310896"/>
          </a:xfrm>
          <a:prstGeom prst="rect">
            <a:avLst/>
          </a:prstGeom>
          <a:solidFill>
            <a:srgbClr val="2A1D1D"/>
          </a:solidFill>
          <a:ln w="12700">
            <a:solidFill>
              <a:srgbClr val="E4695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Text 5"/>
          <p:cNvSpPr/>
          <p:nvPr/>
        </p:nvSpPr>
        <p:spPr>
          <a:xfrm>
            <a:off x="585216" y="1097280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469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IS CLOSED</a:t>
            </a:r>
            <a:endParaRPr lang="en-US" sz="950" dirty="0"/>
          </a:p>
        </p:txBody>
      </p:sp>
      <p:sp>
        <p:nvSpPr>
          <p:cNvPr id="8" name="error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63040"/>
            <a:ext cx="4041648" cy="384048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585216" y="14630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AUTH_REQUIRED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487168" y="1463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command before HELLO completes</a:t>
            </a:r>
            <a:endParaRPr lang="en-US" sz="750" dirty="0"/>
          </a:p>
        </p:txBody>
      </p:sp>
      <p:sp>
        <p:nvSpPr>
          <p:cNvPr id="11" name="error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883664"/>
            <a:ext cx="4041648" cy="384048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585216" y="188366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AUTH_TIMEOUT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487168" y="18836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HELLO within the handshake timeout</a:t>
            </a:r>
            <a:endParaRPr lang="en-US" sz="750" dirty="0"/>
          </a:p>
        </p:txBody>
      </p:sp>
      <p:sp>
        <p:nvSpPr>
          <p:cNvPr id="14" name="error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304288"/>
            <a:ext cx="4041648" cy="384048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585216" y="23042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AUTH_FAILED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487168" y="23042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 rejected the gateway ID</a:t>
            </a:r>
            <a:endParaRPr lang="en-US" sz="750" dirty="0"/>
          </a:p>
        </p:txBody>
      </p:sp>
      <p:sp>
        <p:nvSpPr>
          <p:cNvPr id="17" name="error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724912"/>
            <a:ext cx="4041648" cy="384048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585216" y="27249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PROTO_MISMATCH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487168" y="27249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 carried the wrong PROTO value</a:t>
            </a:r>
            <a:endParaRPr lang="en-US" sz="750" dirty="0"/>
          </a:p>
        </p:txBody>
      </p:sp>
      <p:sp>
        <p:nvSpPr>
          <p:cNvPr id="20" name="error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145536"/>
            <a:ext cx="4041648" cy="384048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585216" y="314553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GATEWAY_ALREADY_CONNECTED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487168" y="31455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ID already has an active session</a:t>
            </a:r>
            <a:endParaRPr lang="en-US" sz="750" dirty="0"/>
          </a:p>
        </p:txBody>
      </p:sp>
      <p:sp>
        <p:nvSpPr>
          <p:cNvPr id="23" name="error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66160"/>
            <a:ext cx="4041648" cy="384048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585216" y="35661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SLOW_CLIENT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487168" y="3566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outbound queue filled up</a:t>
            </a:r>
            <a:endParaRPr lang="en-US" sz="750" dirty="0"/>
          </a:p>
        </p:txBody>
      </p:sp>
      <p:sp>
        <p:nvSpPr>
          <p:cNvPr id="26" name="error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986784"/>
            <a:ext cx="4041648" cy="384048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585216" y="398678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IDLE_TIMEOUT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487168" y="39867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inbound traffic for the idle window</a:t>
            </a:r>
            <a:endParaRPr lang="en-US" sz="750" dirty="0"/>
          </a:p>
        </p:txBody>
      </p:sp>
      <p:sp>
        <p:nvSpPr>
          <p:cNvPr id="29" name="error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407408"/>
            <a:ext cx="4041648" cy="384048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585216" y="440740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MAX_ERRORS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487168" y="4407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 many errors in the sliding window</a:t>
            </a:r>
            <a:endParaRPr lang="en-US" sz="750" dirty="0"/>
          </a:p>
        </p:txBody>
      </p:sp>
      <p:sp>
        <p:nvSpPr>
          <p:cNvPr id="32" name="column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097280"/>
            <a:ext cx="4041648" cy="310896"/>
          </a:xfrm>
          <a:prstGeom prst="rect">
            <a:avLst/>
          </a:prstGeom>
          <a:solidFill>
            <a:srgbClr val="16342A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4773168" y="1097280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SURVIVES</a:t>
            </a:r>
            <a:endParaRPr lang="en-US" sz="950" dirty="0"/>
          </a:p>
        </p:txBody>
      </p:sp>
      <p:sp>
        <p:nvSpPr>
          <p:cNvPr id="34" name="error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463040"/>
            <a:ext cx="4041648" cy="384048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4773168" y="14630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BAD_MESSAGE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675120" y="1463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Empty line, non-UTF-8, or over 4096 bytes</a:t>
            </a:r>
            <a:endParaRPr lang="en-US" sz="750" dirty="0"/>
          </a:p>
        </p:txBody>
      </p:sp>
      <p:sp>
        <p:nvSpPr>
          <p:cNvPr id="37" name="error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883664"/>
            <a:ext cx="4041648" cy="384048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4773168" y="188366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UNKNOWN_COMMAND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675120" y="18836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Unrecognised command verb</a:t>
            </a:r>
            <a:endParaRPr lang="en-US" sz="750" dirty="0"/>
          </a:p>
        </p:txBody>
      </p:sp>
      <p:sp>
        <p:nvSpPr>
          <p:cNvPr id="40" name="error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304288"/>
            <a:ext cx="4041648" cy="384048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1" name="Text 39"/>
          <p:cNvSpPr/>
          <p:nvPr/>
        </p:nvSpPr>
        <p:spPr>
          <a:xfrm>
            <a:off x="4773168" y="23042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MISSING_FIELD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675120" y="23042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required field was absent</a:t>
            </a:r>
            <a:endParaRPr lang="en-US" sz="750" dirty="0"/>
          </a:p>
        </p:txBody>
      </p:sp>
      <p:sp>
        <p:nvSpPr>
          <p:cNvPr id="43" name="error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724912"/>
            <a:ext cx="4041648" cy="384048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4" name="Text 42"/>
          <p:cNvSpPr/>
          <p:nvPr/>
        </p:nvSpPr>
        <p:spPr>
          <a:xfrm>
            <a:off x="4773168" y="27249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INVALID_VALUE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675120" y="27249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value failed validation</a:t>
            </a:r>
            <a:endParaRPr lang="en-US" sz="750" dirty="0"/>
          </a:p>
        </p:txBody>
      </p:sp>
      <p:sp>
        <p:nvSpPr>
          <p:cNvPr id="46" name="error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145536"/>
            <a:ext cx="4041648" cy="384048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7" name="Text 45"/>
          <p:cNvSpPr/>
          <p:nvPr/>
        </p:nvSpPr>
        <p:spPr>
          <a:xfrm>
            <a:off x="4773168" y="314553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SYMBOL_NOT_CONFIGURED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675120" y="31455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Unknown symbol</a:t>
            </a:r>
            <a:endParaRPr lang="en-US" sz="750" dirty="0"/>
          </a:p>
        </p:txBody>
      </p:sp>
      <p:sp>
        <p:nvSpPr>
          <p:cNvPr id="49" name="error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566160"/>
            <a:ext cx="4041648" cy="384048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0" name="Text 48"/>
          <p:cNvSpPr/>
          <p:nvPr/>
        </p:nvSpPr>
        <p:spPr>
          <a:xfrm>
            <a:off x="4773168" y="35661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ROLE_DENIED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675120" y="3566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allowed for this gateway's role</a:t>
            </a:r>
            <a:endParaRPr lang="en-US" sz="750" dirty="0"/>
          </a:p>
        </p:txBody>
      </p:sp>
      <p:sp>
        <p:nvSpPr>
          <p:cNvPr id="52" name="error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986784"/>
            <a:ext cx="4041648" cy="384048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3" name="Text 51"/>
          <p:cNvSpPr/>
          <p:nvPr/>
        </p:nvSpPr>
        <p:spPr>
          <a:xfrm>
            <a:off x="4773168" y="398678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RATE_LIMITED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675120" y="39867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 arriving too fast</a:t>
            </a:r>
            <a:endParaRPr lang="en-US" sz="750" dirty="0"/>
          </a:p>
        </p:txBody>
      </p:sp>
      <p:sp>
        <p:nvSpPr>
          <p:cNvPr id="55" name="error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4407408"/>
            <a:ext cx="4041648" cy="384048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6" name="Text 54"/>
          <p:cNvSpPr/>
          <p:nvPr/>
        </p:nvSpPr>
        <p:spPr>
          <a:xfrm>
            <a:off x="4773168" y="440740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INTERNAL_ERROR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75120" y="4407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Unexpected gateway-internal exception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57200" y="4846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your client around this split: the left column needs a reconnect and a state re-sync, the right column needs a corrected command.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to response 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map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97280"/>
            <a:ext cx="8229600" cy="356616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97280"/>
            <a:ext cx="41148" cy="356616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21792" y="1097280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(single)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88920" y="1097280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ACK|ORDER_ID=…|ACCEPTED=TRUE|FALSE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897880" y="1097280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FILL, CANCELLED or EXPIRED</a:t>
            </a:r>
            <a:endParaRPr lang="en-US" sz="800" dirty="0"/>
          </a:p>
        </p:txBody>
      </p:sp>
      <p:sp>
        <p:nvSpPr>
          <p:cNvPr id="11" name="map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90472"/>
            <a:ext cx="8229600" cy="356616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90472"/>
            <a:ext cx="41148" cy="356616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621792" y="1490472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NEW|TYPE=OCO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88920" y="1490472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OCO_ACK|OCO_ID=…|LEG1_ID=…|LEG2_ID=…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897880" y="1490472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an ACK per leg, later OCO_CANCELLED</a:t>
            </a:r>
            <a:endParaRPr lang="en-US" sz="800" dirty="0"/>
          </a:p>
        </p:txBody>
      </p:sp>
      <p:sp>
        <p:nvSpPr>
          <p:cNvPr id="16" name="map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883664"/>
            <a:ext cx="8229600" cy="356616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883664"/>
            <a:ext cx="41148" cy="356616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21792" y="1883664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NEW|TYPE=COMBO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88920" y="1883664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COMBO_ACK|COMBO_ID=…|ACCEPTED=…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897880" y="1883664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COMBO_STATUS and per-leg events</a:t>
            </a:r>
            <a:endParaRPr lang="en-US" sz="800" dirty="0"/>
          </a:p>
        </p:txBody>
      </p:sp>
      <p:sp>
        <p:nvSpPr>
          <p:cNvPr id="21" name="map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276856"/>
            <a:ext cx="8229600" cy="356616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276856"/>
            <a:ext cx="41148" cy="356616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21792" y="2276856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88920" y="2276856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AMENDED|…|REMAINING=…|PRIORITY_RESET=…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897880" y="2276856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tells you whether you kept queue position</a:t>
            </a:r>
            <a:endParaRPr lang="en-US" sz="800" dirty="0"/>
          </a:p>
        </p:txBody>
      </p:sp>
      <p:sp>
        <p:nvSpPr>
          <p:cNvPr id="26" name="map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670048"/>
            <a:ext cx="8229600" cy="356616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670048"/>
            <a:ext cx="41148" cy="356616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621792" y="2670048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88920" y="2670048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CANCELLED / OCO_CANCELLED / COMBO_STATUS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897880" y="2670048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depends on which identifier you cancelled by</a:t>
            </a:r>
            <a:endParaRPr lang="en-US" sz="800" dirty="0"/>
          </a:p>
        </p:txBody>
      </p:sp>
      <p:sp>
        <p:nvSpPr>
          <p:cNvPr id="31" name="map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063240"/>
            <a:ext cx="8229600" cy="356616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063240"/>
            <a:ext cx="41148" cy="356616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621792" y="3063240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88920" y="3063240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QUOTE_ACK|QUOTE_ID=…|BID_ID=…|ASK_ID=…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897880" y="3063240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 QUOTE_STATUS as legs fill or expire</a:t>
            </a:r>
            <a:endParaRPr lang="en-US" sz="800" dirty="0"/>
          </a:p>
        </p:txBody>
      </p:sp>
      <p:sp>
        <p:nvSpPr>
          <p:cNvPr id="36" name="map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456432"/>
            <a:ext cx="8229600" cy="356616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456432"/>
            <a:ext cx="41148" cy="356616"/>
          </a:xfrm>
          <a:prstGeom prst="rect">
            <a:avLst/>
          </a:prstGeom>
          <a:solidFill>
            <a:srgbClr val="E469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621792" y="3456432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46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88920" y="3456432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KILL_ACK|ACCEPTED=…|ORDERS=N|QUOTES=N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897880" y="3456432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quote count is legs, not quote records</a:t>
            </a:r>
            <a:endParaRPr lang="en-US" sz="800" dirty="0"/>
          </a:p>
        </p:txBody>
      </p:sp>
      <p:sp>
        <p:nvSpPr>
          <p:cNvPr id="41" name="map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849624"/>
            <a:ext cx="8229600" cy="356616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849624"/>
            <a:ext cx="41148" cy="356616"/>
          </a:xfrm>
          <a:prstGeom prst="rect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3" name="Text 41"/>
          <p:cNvSpPr/>
          <p:nvPr/>
        </p:nvSpPr>
        <p:spPr>
          <a:xfrm>
            <a:off x="621792" y="3849624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788920" y="3849624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DC_ACK|STATE=ON|OFF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897880" y="3849624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unsolicited DC_FILL lines while on</a:t>
            </a:r>
            <a:endParaRPr lang="en-US" sz="800" dirty="0"/>
          </a:p>
        </p:txBody>
      </p:sp>
      <p:sp>
        <p:nvSpPr>
          <p:cNvPr id="46" name="map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242816"/>
            <a:ext cx="8229600" cy="356616"/>
          </a:xfrm>
          <a:prstGeom prst="rect">
            <a:avLst/>
          </a:prstGeom>
          <a:solidFill>
            <a:srgbClr val="1A2027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242816"/>
            <a:ext cx="41148" cy="356616"/>
          </a:xfrm>
          <a:prstGeom prst="rect">
            <a:avLst/>
          </a:prstGeom>
          <a:solidFill>
            <a:srgbClr val="6E7A8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8" name="Text 46"/>
          <p:cNvSpPr/>
          <p:nvPr/>
        </p:nvSpPr>
        <p:spPr>
          <a:xfrm>
            <a:off x="621792" y="4242816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SYMBOLS / ORDERS / QBOOT / QLEGS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788920" y="4242816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line, detail lines, END|TYPE=…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897880" y="4242816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multi-line: always read to the END marker</a:t>
            </a:r>
            <a:endParaRPr lang="en-US" sz="800" dirty="0"/>
          </a:p>
        </p:txBody>
      </p:sp>
      <p:sp>
        <p:nvSpPr>
          <p:cNvPr id="51" name="map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36008"/>
            <a:ext cx="8229600" cy="356616"/>
          </a:xfrm>
          <a:prstGeom prst="rect">
            <a:avLst/>
          </a:prstGeom>
          <a:solidFill>
            <a:srgbClr val="1D232A"/>
          </a:solidFill>
          <a:ln w="9525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36008"/>
            <a:ext cx="41148" cy="356616"/>
          </a:xfrm>
          <a:prstGeom prst="rect">
            <a:avLst/>
          </a:prstGeom>
          <a:solidFill>
            <a:srgbClr val="6E7A8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3" name="Text 51"/>
          <p:cNvSpPr/>
          <p:nvPr/>
        </p:nvSpPr>
        <p:spPr>
          <a:xfrm>
            <a:off x="621792" y="4636008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E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788920" y="4636008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PONG|TS=…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897880" y="4636008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cheap way to reset the idle timer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Configuration reference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limits</a:t>
            </a:r>
            <a:endParaRPr lang="en-US" sz="1250" dirty="0"/>
          </a:p>
        </p:txBody>
      </p:sp>
      <p:sp>
        <p:nvSpPr>
          <p:cNvPr id="7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4041648" cy="256032"/>
          </a:xfrm>
          <a:prstGeom prst="rect">
            <a:avLst/>
          </a:prstGeom>
          <a:solidFill>
            <a:srgbClr val="1A2027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66928" y="1371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F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29000" y="13716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750" dirty="0"/>
          </a:p>
        </p:txBody>
      </p:sp>
      <p:sp>
        <p:nvSpPr>
          <p:cNvPr id="10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645920"/>
            <a:ext cx="4041648" cy="256032"/>
          </a:xfrm>
          <a:prstGeom prst="rect">
            <a:avLst/>
          </a:prstGeom>
          <a:solidFill>
            <a:srgbClr val="1D232A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566928" y="1645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F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29000" y="16459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alf-gwy01</a:t>
            </a:r>
            <a:endParaRPr lang="en-US" sz="750" dirty="0"/>
          </a:p>
        </p:txBody>
      </p:sp>
      <p:sp>
        <p:nvSpPr>
          <p:cNvPr id="13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920240"/>
            <a:ext cx="4041648" cy="256032"/>
          </a:xfrm>
          <a:prstGeom prst="rect">
            <a:avLst/>
          </a:prstGeom>
          <a:solidFill>
            <a:srgbClr val="1A2027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566928" y="1920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F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bind_address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29000" y="19202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</a:t>
            </a:r>
            <a:endParaRPr lang="en-US" sz="750" dirty="0"/>
          </a:p>
        </p:txBody>
      </p:sp>
      <p:sp>
        <p:nvSpPr>
          <p:cNvPr id="16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194560"/>
            <a:ext cx="4041648" cy="256032"/>
          </a:xfrm>
          <a:prstGeom prst="rect">
            <a:avLst/>
          </a:prstGeom>
          <a:solidFill>
            <a:srgbClr val="1D232A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566928" y="21945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F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29000" y="2194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5565</a:t>
            </a:r>
            <a:endParaRPr lang="en-US" sz="750" dirty="0"/>
          </a:p>
        </p:txBody>
      </p:sp>
      <p:sp>
        <p:nvSpPr>
          <p:cNvPr id="19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468880"/>
            <a:ext cx="4041648" cy="256032"/>
          </a:xfrm>
          <a:prstGeom prst="rect">
            <a:avLst/>
          </a:prstGeom>
          <a:solidFill>
            <a:srgbClr val="1A2027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566928" y="24688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F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heartbeat_interval_sec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29000" y="2468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50" dirty="0"/>
          </a:p>
        </p:txBody>
      </p:sp>
      <p:sp>
        <p:nvSpPr>
          <p:cNvPr id="22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743200"/>
            <a:ext cx="4041648" cy="256032"/>
          </a:xfrm>
          <a:prstGeom prst="rect">
            <a:avLst/>
          </a:prstGeom>
          <a:solidFill>
            <a:srgbClr val="1D232A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566928" y="2743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F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handshake_timeout_sec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429000" y="27432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50" dirty="0"/>
          </a:p>
        </p:txBody>
      </p:sp>
      <p:sp>
        <p:nvSpPr>
          <p:cNvPr id="25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017520"/>
            <a:ext cx="4041648" cy="256032"/>
          </a:xfrm>
          <a:prstGeom prst="rect">
            <a:avLst/>
          </a:prstGeom>
          <a:solidFill>
            <a:srgbClr val="1A2027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566928" y="30175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F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idle_timeout_sec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429000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750" dirty="0"/>
          </a:p>
        </p:txBody>
      </p:sp>
      <p:sp>
        <p:nvSpPr>
          <p:cNvPr id="28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91840"/>
            <a:ext cx="4041648" cy="256032"/>
          </a:xfrm>
          <a:prstGeom prst="rect">
            <a:avLst/>
          </a:prstGeom>
          <a:solidFill>
            <a:srgbClr val="1D232A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566928" y="3291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F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max_connections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3291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750" dirty="0"/>
          </a:p>
        </p:txBody>
      </p:sp>
      <p:sp>
        <p:nvSpPr>
          <p:cNvPr id="31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66160"/>
            <a:ext cx="4041648" cy="256032"/>
          </a:xfrm>
          <a:prstGeom prst="rect">
            <a:avLst/>
          </a:prstGeom>
          <a:solidFill>
            <a:srgbClr val="1A2027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566928" y="3566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F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max_client_queue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29000" y="35661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endParaRPr lang="en-US" sz="750" dirty="0"/>
          </a:p>
        </p:txBody>
      </p:sp>
      <p:sp>
        <p:nvSpPr>
          <p:cNvPr id="34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840480"/>
            <a:ext cx="4041648" cy="256032"/>
          </a:xfrm>
          <a:prstGeom prst="rect">
            <a:avLst/>
          </a:prstGeom>
          <a:solidFill>
            <a:srgbClr val="1D232A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566928" y="38404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F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max_commands_per_second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429000" y="38404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750" dirty="0"/>
          </a:p>
        </p:txBody>
      </p:sp>
      <p:sp>
        <p:nvSpPr>
          <p:cNvPr id="37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114800"/>
            <a:ext cx="4041648" cy="256032"/>
          </a:xfrm>
          <a:prstGeom prst="rect">
            <a:avLst/>
          </a:prstGeom>
          <a:solidFill>
            <a:srgbClr val="1A2027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566928" y="41148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F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max_errors_before_disconnect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429000" y="41148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750" dirty="0"/>
          </a:p>
        </p:txBody>
      </p:sp>
      <p:sp>
        <p:nvSpPr>
          <p:cNvPr id="40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389120"/>
            <a:ext cx="4041648" cy="256032"/>
          </a:xfrm>
          <a:prstGeom prst="rect">
            <a:avLst/>
          </a:prstGeom>
          <a:solidFill>
            <a:srgbClr val="1D232A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1" name="Text 39"/>
          <p:cNvSpPr/>
          <p:nvPr/>
        </p:nvSpPr>
        <p:spPr>
          <a:xfrm>
            <a:off x="566928" y="4389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F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error_window_sec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429000" y="43891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645152" y="104241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2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Per-gateway identity</a:t>
            </a:r>
            <a:endParaRPr lang="en-US" sz="1250" dirty="0"/>
          </a:p>
        </p:txBody>
      </p:sp>
      <p:sp>
        <p:nvSpPr>
          <p:cNvPr id="44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71600"/>
            <a:ext cx="4041648" cy="411480"/>
          </a:xfrm>
          <a:prstGeom prst="rect">
            <a:avLst/>
          </a:prstGeom>
          <a:solidFill>
            <a:srgbClr val="1A2027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5" name="Text 43"/>
          <p:cNvSpPr/>
          <p:nvPr/>
        </p:nvSpPr>
        <p:spPr>
          <a:xfrm>
            <a:off x="4754880" y="13716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199632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identity — required, and checked against the engine's allowlist</a:t>
            </a:r>
            <a:endParaRPr lang="en-US" sz="750" dirty="0"/>
          </a:p>
        </p:txBody>
      </p:sp>
      <p:sp>
        <p:nvSpPr>
          <p:cNvPr id="47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801368"/>
            <a:ext cx="4041648" cy="411480"/>
          </a:xfrm>
          <a:prstGeom prst="rect">
            <a:avLst/>
          </a:prstGeom>
          <a:solidFill>
            <a:srgbClr val="1D232A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8" name="Text 46"/>
          <p:cNvSpPr/>
          <p:nvPr/>
        </p:nvSpPr>
        <p:spPr>
          <a:xfrm>
            <a:off x="4754880" y="18013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199632" y="1801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Human-readable label</a:t>
            </a:r>
            <a:endParaRPr lang="en-US" sz="750" dirty="0"/>
          </a:p>
        </p:txBody>
      </p:sp>
      <p:sp>
        <p:nvSpPr>
          <p:cNvPr id="50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231136"/>
            <a:ext cx="4041648" cy="411480"/>
          </a:xfrm>
          <a:prstGeom prst="rect">
            <a:avLst/>
          </a:prstGeom>
          <a:solidFill>
            <a:srgbClr val="1A2027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1" name="Text 49"/>
          <p:cNvSpPr/>
          <p:nvPr/>
        </p:nvSpPr>
        <p:spPr>
          <a:xfrm>
            <a:off x="4754880" y="223113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199632" y="223113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TRADER (default), MARKET_MAKER or ADMIN</a:t>
            </a:r>
            <a:endParaRPr lang="en-US" sz="750" dirty="0"/>
          </a:p>
        </p:txBody>
      </p:sp>
      <p:sp>
        <p:nvSpPr>
          <p:cNvPr id="53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660904"/>
            <a:ext cx="4041648" cy="411480"/>
          </a:xfrm>
          <a:prstGeom prst="rect">
            <a:avLst/>
          </a:prstGeom>
          <a:solidFill>
            <a:srgbClr val="1D232A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4" name="Text 52"/>
          <p:cNvSpPr/>
          <p:nvPr/>
        </p:nvSpPr>
        <p:spPr>
          <a:xfrm>
            <a:off x="4754880" y="266090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disconnect_behaviour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199632" y="266090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CANCEL_QUOTES_ONLY (default), CANCEL_ALL or LEAVE_ALL</a:t>
            </a:r>
            <a:endParaRPr lang="en-US" sz="750" dirty="0"/>
          </a:p>
        </p:txBody>
      </p:sp>
      <p:sp>
        <p:nvSpPr>
          <p:cNvPr id="56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090672"/>
            <a:ext cx="4041648" cy="411480"/>
          </a:xfrm>
          <a:prstGeom prst="rect">
            <a:avLst/>
          </a:prstGeom>
          <a:solidFill>
            <a:srgbClr val="1A2027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7" name="Text 55"/>
          <p:cNvSpPr/>
          <p:nvPr/>
        </p:nvSpPr>
        <p:spPr>
          <a:xfrm>
            <a:off x="4754880" y="30906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quote_refresh_policy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199632" y="30906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INACTIVATE_ON_ANY_FILL, ON_FULL_FILL or NEVER</a:t>
            </a:r>
            <a:endParaRPr lang="en-US" sz="750" dirty="0"/>
          </a:p>
        </p:txBody>
      </p:sp>
      <p:sp>
        <p:nvSpPr>
          <p:cNvPr id="59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520440"/>
            <a:ext cx="4041648" cy="411480"/>
          </a:xfrm>
          <a:prstGeom prst="rect">
            <a:avLst/>
          </a:prstGeom>
          <a:solidFill>
            <a:srgbClr val="1D232A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0" name="Text 58"/>
          <p:cNvSpPr/>
          <p:nvPr/>
        </p:nvSpPr>
        <p:spPr>
          <a:xfrm>
            <a:off x="4754880" y="3520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enforce_mm_obligation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199632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Per-gateway market-maker obligation checks — off by default</a:t>
            </a:r>
            <a:endParaRPr lang="en-US" sz="750" dirty="0"/>
          </a:p>
        </p:txBody>
      </p:sp>
      <p:sp>
        <p:nvSpPr>
          <p:cNvPr id="62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950208"/>
            <a:ext cx="4041648" cy="411480"/>
          </a:xfrm>
          <a:prstGeom prst="rect">
            <a:avLst/>
          </a:prstGeom>
          <a:solidFill>
            <a:srgbClr val="1A2027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3" name="Text 61"/>
          <p:cNvSpPr/>
          <p:nvPr/>
        </p:nvSpPr>
        <p:spPr>
          <a:xfrm>
            <a:off x="4754880" y="39502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mm_max_spread_ticks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199632" y="3950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Widest quote allowed under obligation checks — default 10</a:t>
            </a:r>
            <a:endParaRPr lang="en-US" sz="750" dirty="0"/>
          </a:p>
        </p:txBody>
      </p:sp>
      <p:sp>
        <p:nvSpPr>
          <p:cNvPr id="65" name="config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4379976"/>
            <a:ext cx="4041648" cy="411480"/>
          </a:xfrm>
          <a:prstGeom prst="rect">
            <a:avLst/>
          </a:prstGeom>
          <a:solidFill>
            <a:srgbClr val="1D232A"/>
          </a:solidFill>
          <a:ln w="762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6" name="Text 64"/>
          <p:cNvSpPr/>
          <p:nvPr/>
        </p:nvSpPr>
        <p:spPr>
          <a:xfrm>
            <a:off x="4754880" y="437997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mm_min_qty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199632" y="43799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Smallest quote size allowed — default 100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Anything listed under the ALF gateway allowlist may connect — the gateway needs no separate credentials block. The engine remains the authority on who is allowed in.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working client in about thirty lines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IT YOURSELF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library only — no message-bus dependency, no framework. Connect, handshake, send, read.</a:t>
            </a:r>
            <a:endParaRPr lang="en-US" sz="1100" dirty="0"/>
          </a:p>
        </p:txBody>
      </p:sp>
      <p:sp>
        <p:nvSpPr>
          <p:cNvPr id="7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5029200" cy="3383280"/>
          </a:xfrm>
          <a:prstGeom prst="rect">
            <a:avLst/>
          </a:prstGeom>
          <a:solidFill>
            <a:srgbClr val="0E1216"/>
          </a:solidFill>
          <a:ln w="12700">
            <a:solidFill>
              <a:srgbClr val="2C353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code panel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5029200" cy="201168"/>
          </a:xfrm>
          <a:prstGeom prst="rect">
            <a:avLst/>
          </a:prstGeom>
          <a:solidFill>
            <a:srgbClr val="1A202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585216" y="1380744"/>
            <a:ext cx="477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MINIMAL ALF CLIENT — PYTHON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3504" y="1645920"/>
            <a:ext cx="4736592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socket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 = socket.create_connection((host, 5565), timeout=5)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  = bytearray()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send(line):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sock.sendall((line + "\n").encode("utf-8"))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recv_line():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nl = buf.find(b"\n")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nl &gt;= 0: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line = bytes(buf[:nl]).decode("utf-8")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del buf[:nl + 1]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line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chunk = sock.recv(4096)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chunk: raise RuntimeError("closed")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buf.extend(chunk)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send("HELLO|CLIENT=bot|PROTO=ALF1|ID=TRADER01")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not (line := recv_line()).startswith("WELCOME"):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line.startswith("ERR"): raise RuntimeError(line)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send("NEW|SYM=AAPL|SIDE=BUY|TYPE=LIMIT|QTY=100|PRICE=150.00")</a:t>
            </a:r>
            <a:endParaRPr lang="en-US" sz="7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send("EXIT")</a:t>
            </a:r>
            <a:endParaRPr lang="en-US" sz="750" dirty="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32704" y="1371600"/>
            <a:ext cx="3054096" cy="78638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2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32704" y="1371600"/>
            <a:ext cx="50292" cy="786384"/>
          </a:xfrm>
          <a:prstGeom prst="rect">
            <a:avLst/>
          </a:prstGeom>
          <a:solidFill>
            <a:srgbClr val="E469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5852160" y="151790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Buffer, always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0" y="175564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read is never one line. Accumulate bytes and split on the newline yourself.</a:t>
            </a:r>
            <a:endParaRPr lang="en-US" sz="850" dirty="0"/>
          </a:p>
        </p:txBody>
      </p:sp>
      <p:sp>
        <p:nvSpPr>
          <p:cNvPr id="1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32704" y="2240280"/>
            <a:ext cx="3054096" cy="78638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32704" y="2240280"/>
            <a:ext cx="50292" cy="78638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5852160" y="238658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 for WELCOME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52160" y="262432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send anything else until the handshake completes.</a:t>
            </a:r>
            <a:endParaRPr lang="en-US" sz="85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32704" y="3108960"/>
            <a:ext cx="3054096" cy="78638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32704" y="3108960"/>
            <a:ext cx="50292" cy="786384"/>
          </a:xfrm>
          <a:prstGeom prst="rect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5852160" y="325526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surprises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52160" y="349300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Heartbeats, session changes and trades can arrive before your acknowledgement does.</a:t>
            </a:r>
            <a:endParaRPr lang="en-US" sz="850" dirty="0"/>
          </a:p>
        </p:txBody>
      </p:sp>
      <p:sp>
        <p:nvSpPr>
          <p:cNvPr id="2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32704" y="3977640"/>
            <a:ext cx="3054096" cy="78638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32704" y="3977640"/>
            <a:ext cx="50292" cy="786384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5852160" y="412394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link warm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52160" y="436168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PING if your bot goes quiet, or the idle timer will close you.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Reconnect and re-sync playbook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any disconnect, never resume trading blind. Rebuild your view of the world in this order.</a:t>
            </a:r>
            <a:endParaRPr lang="en-US" sz="1150" dirty="0"/>
          </a:p>
        </p:txBody>
      </p:sp>
      <p:sp>
        <p:nvSpPr>
          <p:cNvPr id="7" name="step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26464"/>
            <a:ext cx="8229600" cy="60350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" y="1572768"/>
            <a:ext cx="310896" cy="310896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03504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142646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91840" y="1426464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which books are active and their tick sizes.</a:t>
            </a:r>
            <a:endParaRPr lang="en-US" sz="950" dirty="0"/>
          </a:p>
        </p:txBody>
      </p:sp>
      <p:sp>
        <p:nvSpPr>
          <p:cNvPr id="12" name="step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084832"/>
            <a:ext cx="8229600" cy="60350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" y="2231136"/>
            <a:ext cx="310896" cy="310896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603504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208483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2084832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 your resting single-leg orders — and their full IDs, which you need for any follow-up amend or cancel.</a:t>
            </a:r>
            <a:endParaRPr lang="en-US" sz="950" dirty="0"/>
          </a:p>
        </p:txBody>
      </p:sp>
      <p:sp>
        <p:nvSpPr>
          <p:cNvPr id="17" name="step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743200"/>
            <a:ext cx="8229600" cy="60350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" y="2889504"/>
            <a:ext cx="310896" cy="310896"/>
          </a:xfrm>
          <a:prstGeom prst="ellipse">
            <a:avLst/>
          </a:prstGeom>
          <a:solidFill>
            <a:srgbClr val="A98B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603504" y="2889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274320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QBOOT, then QLEGS|SHOW=ALL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1840" y="2743200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makers only: discover quote slots seeded before you connected, then inspect live and recently closed legs. This is what stops you double-quoting.</a:t>
            </a:r>
            <a:endParaRPr lang="en-US" sz="950" dirty="0"/>
          </a:p>
        </p:txBody>
      </p:sp>
      <p:sp>
        <p:nvSpPr>
          <p:cNvPr id="22" name="step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401568"/>
            <a:ext cx="8229600" cy="60350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" y="3547872"/>
            <a:ext cx="310896" cy="310896"/>
          </a:xfrm>
          <a:prstGeom prst="ellipse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603504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340156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2A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91840" y="3401568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Rebuild your position view and check it against what you expected.</a:t>
            </a:r>
            <a:endParaRPr lang="en-US" sz="950" dirty="0"/>
          </a:p>
        </p:txBody>
      </p:sp>
      <p:sp>
        <p:nvSpPr>
          <p:cNvPr id="27" name="step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059936"/>
            <a:ext cx="8229600" cy="60350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" y="4206240"/>
            <a:ext cx="310896" cy="310896"/>
          </a:xfrm>
          <a:prstGeom prst="ellipse">
            <a:avLst/>
          </a:prstGeom>
          <a:solidFill>
            <a:srgbClr val="E8B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603504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2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405993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91840" y="4059936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once all of the above agree with each other.</a:t>
            </a:r>
            <a:endParaRPr lang="en-US" sz="950" dirty="0"/>
          </a:p>
        </p:txBody>
      </p:sp>
      <p:sp>
        <p:nvSpPr>
          <p:cNvPr id="32" name="spac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754880"/>
            <a:ext cx="8229600" cy="91"/>
          </a:xfrm>
          <a:prstGeom prst="rect">
            <a:avLst/>
          </a:prstGeom>
          <a:solidFill>
            <a:srgbClr val="14181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gateway's configured disconnect behaviour decides what the engine did to your exposure while you were away — cancel quotes only, cancel everything, or leave it all resting.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go from here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Order-Entry Protocol</a:t>
            </a:r>
            <a:endParaRPr lang="en-US" sz="850" dirty="0"/>
          </a:p>
        </p:txBody>
      </p:sp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97280"/>
            <a:ext cx="4041648" cy="106070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97280"/>
            <a:ext cx="50292" cy="106070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76656" y="1243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Ready-made libraries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153619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and C libraries ship with the examples: a parser that turns lines into structures and back, plus a session helper that handles connect and handshake for you.</a:t>
            </a:r>
            <a:endParaRPr lang="en-US" sz="95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267712"/>
            <a:ext cx="4041648" cy="1060704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267712"/>
            <a:ext cx="50292" cy="1060704"/>
          </a:xfrm>
          <a:prstGeom prst="rect">
            <a:avLst/>
          </a:prstGeom>
          <a:solidFill>
            <a:srgbClr val="62A8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676656" y="2414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clients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" y="270662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A3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languages also ship a full interactive client with tab completion, command history and a background thread that displays events while you type.</a:t>
            </a:r>
            <a:endParaRPr lang="en-US" sz="950" dirty="0"/>
          </a:p>
        </p:txBody>
      </p:sp>
      <p:sp>
        <p:nvSpPr>
          <p:cNvPr id="14" name="takeaway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097280"/>
            <a:ext cx="4041648" cy="2231136"/>
          </a:xfrm>
          <a:prstGeom prst="rect">
            <a:avLst/>
          </a:prstGeom>
          <a:solidFill>
            <a:srgbClr val="1D232A"/>
          </a:solidFill>
          <a:ln w="12700">
            <a:solidFill>
              <a:srgbClr val="323B4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4846320" y="1225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five things to remember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554480"/>
            <a:ext cx="3657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gateway authenticates, validates and translates so the engine only has to match.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is one line per command — a verb, then pipe-separated fields.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terminal locally; use the TCP gateway for anything remote or automated.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error tells you both what went wrong and whether your session survived.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CFD8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Buffer your reads, wait for WELCOME, and re-sync after every reconnect.</a:t>
            </a:r>
            <a:endParaRPr lang="en-US" sz="950" dirty="0"/>
          </a:p>
        </p:txBody>
      </p:sp>
      <p:sp>
        <p:nvSpPr>
          <p:cNvPr id="17" name="closing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66160"/>
            <a:ext cx="8229600" cy="1042416"/>
          </a:xfrm>
          <a:prstGeom prst="rect">
            <a:avLst/>
          </a:prstGeom>
          <a:solidFill>
            <a:srgbClr val="16342A"/>
          </a:solidFill>
          <a:ln w="1524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76656" y="36941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here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6656" y="398678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 raw TCP connection, say HELLO, ask for SYMBOLS, and send one small limit order. Once you have seen an ACK come back on a socket you opened yourself, everything else in this deck is just more fields.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6688</Words>
  <Application>Microsoft Macintosh PowerPoint</Application>
  <PresentationFormat>On-screen Show (16:9)</PresentationFormat>
  <Paragraphs>1134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Consolas</vt:lpstr>
      <vt:lpstr>Segoe UI</vt:lpstr>
      <vt:lpstr>Office Theme</vt:lpstr>
      <vt:lpstr>The ALF Protocol</vt:lpstr>
      <vt:lpstr>What this deck covers</vt:lpstr>
      <vt:lpstr>The Gateway</vt:lpstr>
      <vt:lpstr>What is a gateway?</vt:lpstr>
      <vt:lpstr>Why the gateway sits outside the engine</vt:lpstr>
      <vt:lpstr>Gateway protocols in the real world</vt:lpstr>
      <vt:lpstr>Where ALF fits in</vt:lpstr>
      <vt:lpstr>Two ways to speak ALF</vt:lpstr>
      <vt:lpstr>The same engine, two paths in</vt:lpstr>
      <vt:lpstr>Which one should I use?</vt:lpstr>
      <vt:lpstr>The ALF Protocol</vt:lpstr>
      <vt:lpstr>ALF = ALmost FIX</vt:lpstr>
      <vt:lpstr>Anatomy of an ALF line</vt:lpstr>
      <vt:lpstr>Rules the parser actually follows</vt:lpstr>
      <vt:lpstr>Three mistakes beginners make</vt:lpstr>
      <vt:lpstr>The five command families</vt:lpstr>
      <vt:lpstr>Roles decide what you may send</vt:lpstr>
      <vt:lpstr>Connecting</vt:lpstr>
      <vt:lpstr>The session lifecycle</vt:lpstr>
      <vt:lpstr>The handshake, line by line</vt:lpstr>
      <vt:lpstr>Staying connected</vt:lpstr>
      <vt:lpstr>Your first session, without writing code</vt:lpstr>
      <vt:lpstr>Sending Orders</vt:lpstr>
      <vt:lpstr>What kinds of order can I send?</vt:lpstr>
      <vt:lpstr>Single-leg types — the core four</vt:lpstr>
      <vt:lpstr>Single-leg types — the advanced four</vt:lpstr>
      <vt:lpstr>Two optional fields worth knowing</vt:lpstr>
      <vt:lpstr>OCO — one cancels the other</vt:lpstr>
      <vt:lpstr>COMBO — multi-leg orders</vt:lpstr>
      <vt:lpstr>What OCO and COMBO cannot express</vt:lpstr>
      <vt:lpstr>Market-maker quotes</vt:lpstr>
      <vt:lpstr>The KILL switch</vt:lpstr>
      <vt:lpstr>What comes back</vt:lpstr>
      <vt:lpstr>Broadcasts and drop copy</vt:lpstr>
      <vt:lpstr>Amend, Cancel, Recover</vt:lpstr>
      <vt:lpstr>AMEND — changing a resting order</vt:lpstr>
      <vt:lpstr>The rule that surprises people</vt:lpstr>
      <vt:lpstr>CANCEL — one order, or a whole group</vt:lpstr>
      <vt:lpstr>Knowing where you stand</vt:lpstr>
      <vt:lpstr>How errors are reported</vt:lpstr>
      <vt:lpstr>Technical Reference</vt:lpstr>
      <vt:lpstr>Required fields by order type</vt:lpstr>
      <vt:lpstr>The formal grammar</vt:lpstr>
      <vt:lpstr>Error code catalogue</vt:lpstr>
      <vt:lpstr>Command to response map</vt:lpstr>
      <vt:lpstr>Configuration reference</vt:lpstr>
      <vt:lpstr>A working client in about thirty lines</vt:lpstr>
      <vt:lpstr>Reconnect and re-sync playbook</vt:lpstr>
      <vt:lpstr>Where to go from here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 Persson</dc:creator>
  <cp:lastModifiedBy>Johan Persson</cp:lastModifiedBy>
  <cp:revision>1</cp:revision>
  <dcterms:created xsi:type="dcterms:W3CDTF">2026-08-04T05:52:27Z</dcterms:created>
  <dcterms:modified xsi:type="dcterms:W3CDTF">2026-08-04T06:26:10Z</dcterms:modified>
</cp:coreProperties>
</file>