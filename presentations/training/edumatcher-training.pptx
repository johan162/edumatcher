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0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0706"/>
    <a:srgbClr val="34C1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0"/>
    <p:restoredTop sz="94577"/>
  </p:normalViewPr>
  <p:slideViewPr>
    <p:cSldViewPr snapToGrid="0">
      <p:cViewPr varScale="1">
        <p:scale>
          <a:sx n="150" d="100"/>
          <a:sy n="150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10424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4DF58E-A931-2F20-675B-80D1F96A1D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867662" y="6611620"/>
            <a:ext cx="84883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E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Nasdaq - Internal Use: Distribution limited to Nasdaq personnel and authorized third parties subject to confidentiality obligations</a:t>
            </a:r>
          </a:p>
        </p:txBody>
      </p:sp>
    </p:spTree>
    <p:extLst>
      <p:ext uri="{BB962C8B-B14F-4D97-AF65-F5344CB8AC3E}">
        <p14:creationId xmlns:p14="http://schemas.microsoft.com/office/powerpoint/2010/main" val="385827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glowing network representing an electronic stock exchange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>
              <a:alpha val="6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A0F1E">
              <a:alpha val="7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371600"/>
            <a:ext cx="457200" cy="1280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841248" y="16276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5-DAY COURSE IN MARKET STRUCTURE &amp; EXCHANGE TECHNOLOGY</a:t>
            </a:r>
            <a:endParaRPr lang="en-US" sz="13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a Modern Equity Trading System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41248" y="49834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9AA7C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From a single order to a fully wired exchange — order books, auctions, market makers, risk controls and post-trade, built up one session at a time.</a:t>
            </a:r>
            <a:endParaRPr lang="en-US" sz="1600" dirty="0"/>
          </a:p>
        </p:txBody>
      </p:sp>
      <p:sp>
        <p:nvSpPr>
          <p:cNvPr id="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603504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7"/>
          <p:cNvSpPr/>
          <p:nvPr/>
        </p:nvSpPr>
        <p:spPr>
          <a:xfrm>
            <a:off x="841248" y="6030468"/>
            <a:ext cx="886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DAYS</a:t>
            </a:r>
            <a:endParaRPr lang="en-US" sz="1100" dirty="0"/>
          </a:p>
        </p:txBody>
      </p:sp>
      <p:sp>
        <p:nvSpPr>
          <p:cNvPr id="11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29384" y="603504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1929384" y="6030468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LECTURES</a:t>
            </a:r>
            <a:endParaRPr lang="en-US" sz="1100" dirty="0"/>
          </a:p>
        </p:txBody>
      </p:sp>
      <p:sp>
        <p:nvSpPr>
          <p:cNvPr id="13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97580" y="6035040"/>
            <a:ext cx="1751076" cy="310896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1"/>
          <p:cNvSpPr/>
          <p:nvPr/>
        </p:nvSpPr>
        <p:spPr>
          <a:xfrm>
            <a:off x="3497580" y="6030468"/>
            <a:ext cx="1751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HANDS-ON LABS</a:t>
            </a:r>
            <a:endParaRPr lang="en-US" sz="1100" dirty="0"/>
          </a:p>
        </p:txBody>
      </p:sp>
      <p:sp>
        <p:nvSpPr>
          <p:cNvPr id="15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9824" y="6035040"/>
            <a:ext cx="1751076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3"/>
          <p:cNvSpPr/>
          <p:nvPr/>
        </p:nvSpPr>
        <p:spPr>
          <a:xfrm>
            <a:off x="5449824" y="6030468"/>
            <a:ext cx="1751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LIVE EXCHANGE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0BB3905-A825-E499-F47B-D23067069953}"/>
              </a:ext>
            </a:extLst>
          </p:cNvPr>
          <p:cNvSpPr/>
          <p:nvPr/>
        </p:nvSpPr>
        <p:spPr>
          <a:xfrm>
            <a:off x="10225406" y="6537960"/>
            <a:ext cx="1869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onsolas" pitchFamily="34" charset="0"/>
                <a:cs typeface="Consolas" pitchFamily="34" charset="-120"/>
              </a:rPr>
              <a:t>Johan Persson, 2026</a:t>
            </a:r>
            <a:endParaRPr lang="en-US" sz="12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week at a glance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2157984" cy="3246120"/>
          </a:xfrm>
          <a:prstGeom prst="roundRect">
            <a:avLst>
              <a:gd name="adj" fmla="val 381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d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2157984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77824" y="221284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77824" y="345643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77824" y="397764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of an exchange, the matching engine, the order book &amp; gateways</a:t>
            </a:r>
            <a:endParaRPr lang="en-US" sz="11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7792" y="1828800"/>
            <a:ext cx="2157984" cy="3246120"/>
          </a:xfrm>
          <a:prstGeom prst="roundRect">
            <a:avLst>
              <a:gd name="adj" fmla="val 381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d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7792" y="1828800"/>
            <a:ext cx="2157984" cy="914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3163824" y="221284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39572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163824" y="345643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TYPES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163824" y="397764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MARKET &amp; LIMIT to stops, icebergs, OCO brackets &amp; multi-leg combos</a:t>
            </a:r>
            <a:endParaRPr lang="en-US" sz="11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1828800"/>
            <a:ext cx="2157984" cy="3246120"/>
          </a:xfrm>
          <a:prstGeom prst="roundRect">
            <a:avLst>
              <a:gd name="adj" fmla="val 381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d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792" y="1828800"/>
            <a:ext cx="2157984" cy="914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5449824" y="221284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39572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5449824" y="345643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STRUCTURE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49824" y="397764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phases, opening &amp; closing auctions, market making &amp; automated liquidity</a:t>
            </a:r>
            <a:endParaRPr lang="en-US" sz="1150" dirty="0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1828800"/>
            <a:ext cx="2157984" cy="3246120"/>
          </a:xfrm>
          <a:prstGeom prst="roundRect">
            <a:avLst>
              <a:gd name="adj" fmla="val 381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d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1828800"/>
            <a:ext cx="2157984" cy="9144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7735824" y="221284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0" y="239572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7735824" y="345643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&amp; POST-TRADE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735824" y="397764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collars, circuit breakers, kill switch, P&amp;L, clearing &amp; compliance</a:t>
            </a:r>
            <a:endParaRPr lang="en-US" sz="115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65792" y="1828800"/>
            <a:ext cx="2157984" cy="3246120"/>
          </a:xfrm>
          <a:prstGeom prst="roundRect">
            <a:avLst>
              <a:gd name="adj" fmla="val 381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3" name="day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65792" y="1828800"/>
            <a:ext cx="2157984" cy="914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10021824" y="221284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66960" y="2395728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10021824" y="345643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OPERATIONS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0021824" y="3977640"/>
            <a:ext cx="1682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Protocols, statistics, the market index, operating &amp; running a full exchange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1792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day builds on the last — by Friday every box below is a live, connected process.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RHYTHM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teaching day is structured</a:t>
            </a:r>
            <a:endParaRPr lang="en-US" sz="2900" dirty="0"/>
          </a:p>
        </p:txBody>
      </p:sp>
      <p:sp>
        <p:nvSpPr>
          <p:cNvPr id="8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4752" y="2560320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144475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" y="3246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of day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38496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must be able to do by tonight</a:t>
            </a:r>
            <a:endParaRPr lang="en-US" sz="1000" dirty="0"/>
          </a:p>
        </p:txBody>
      </p:sp>
      <p:sp>
        <p:nvSpPr>
          <p:cNvPr id="13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917" y="2560320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918917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33117" y="3246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 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33117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Morning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87397" y="38496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introduced</a:t>
            </a:r>
            <a:endParaRPr lang="en-US" sz="1000" dirty="0"/>
          </a:p>
        </p:txBody>
      </p:sp>
      <p:sp>
        <p:nvSpPr>
          <p:cNvPr id="18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3082" y="2560320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39308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7282" y="3246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 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07282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61562" y="38496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deepened</a:t>
            </a:r>
            <a:endParaRPr lang="en-US" sz="1000" dirty="0"/>
          </a:p>
        </p:txBody>
      </p:sp>
      <p:sp>
        <p:nvSpPr>
          <p:cNvPr id="23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248" y="2560320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86724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81448" y="3246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81448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35728" y="38496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exercise on the live engine</a:t>
            </a:r>
            <a:endParaRPr lang="en-US" sz="1000" dirty="0"/>
          </a:p>
        </p:txBody>
      </p:sp>
      <p:sp>
        <p:nvSpPr>
          <p:cNvPr id="28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41413" y="2560320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341413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55613" y="3246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 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55613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Afternoon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09893" y="38496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&amp; extend</a:t>
            </a:r>
            <a:endParaRPr lang="en-US" sz="1000" dirty="0"/>
          </a:p>
        </p:txBody>
      </p:sp>
      <p:sp>
        <p:nvSpPr>
          <p:cNvPr id="33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15578" y="2560320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881557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29778" y="3246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 4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29778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Afternoon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84058" y="38496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it together</a:t>
            </a:r>
            <a:endParaRPr lang="en-US" sz="1000" dirty="0"/>
          </a:p>
        </p:txBody>
      </p:sp>
      <p:sp>
        <p:nvSpPr>
          <p:cNvPr id="38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9743" y="2560320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10289743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03943" y="3246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603943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of day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558223" y="384962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 the day's ideas</a:t>
            </a:r>
            <a:endParaRPr lang="en-US" sz="1000" dirty="0"/>
          </a:p>
        </p:txBody>
      </p:sp>
      <p:sp>
        <p:nvSpPr>
          <p:cNvPr id="4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074920"/>
            <a:ext cx="3529584" cy="1097280"/>
          </a:xfrm>
          <a:prstGeom prst="roundRect">
            <a:avLst>
              <a:gd name="adj" fmla="val 7500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4" name="Text 42"/>
          <p:cNvSpPr/>
          <p:nvPr/>
        </p:nvSpPr>
        <p:spPr>
          <a:xfrm>
            <a:off x="877824" y="523951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 first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77824" y="557784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session opens with a short list of exactly what you should know or be able to do afterwards.</a:t>
            </a:r>
            <a:endParaRPr lang="en-US" sz="1100" dirty="0"/>
          </a:p>
        </p:txBody>
      </p:sp>
      <p:sp>
        <p:nvSpPr>
          <p:cNvPr id="4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07408" y="5074920"/>
            <a:ext cx="3529584" cy="1097280"/>
          </a:xfrm>
          <a:prstGeom prst="roundRect">
            <a:avLst>
              <a:gd name="adj" fmla="val 7500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4663440" y="523951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by doing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663440" y="557784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lectures, then a lab where you drive the real engine yourself, then two more lectures.</a:t>
            </a:r>
            <a:endParaRPr lang="en-US" sz="1100" dirty="0"/>
          </a:p>
        </p:txBody>
      </p:sp>
      <p:sp>
        <p:nvSpPr>
          <p:cNvPr id="4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3024" y="5074920"/>
            <a:ext cx="3529584" cy="1097280"/>
          </a:xfrm>
          <a:prstGeom prst="roundRect">
            <a:avLst>
              <a:gd name="adj" fmla="val 7500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8449056" y="523951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 to retain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449056" y="557784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day closes by revisiting its key ideas so they stick before the next layer is added.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of an electronic exchange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exchange — from </a:t>
            </a:r>
            <a:r>
              <a:rPr lang="en-US" sz="1350" dirty="0" err="1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</a:t>
            </a: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your laptop to the NYSE — is built from the same functional layers. This week we light them up one by one.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layer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109728" cy="71323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64792" y="22860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919472" y="22860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Traders, market makers &amp; bots send orders 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40112" y="22860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3</a:t>
            </a:r>
            <a:endParaRPr lang="en-US" sz="105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10896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layer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108960"/>
            <a:ext cx="109728" cy="71323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914400" y="310896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64792" y="31089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CONNECTIVITY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19472" y="31089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Gateways &amp; protocols carry messages in and out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40112" y="310896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5</a:t>
            </a:r>
            <a:endParaRPr lang="en-US" sz="105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93192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layer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931920"/>
            <a:ext cx="109728" cy="7132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64792" y="39319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ENGINE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919472" y="39319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order book that crosses buyers &amp; sellers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040112" y="393192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2</a:t>
            </a:r>
            <a:endParaRPr lang="en-US" sz="105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75488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layer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754880"/>
            <a:ext cx="109728" cy="713232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914400" y="475488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764792" y="47548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CONTROLS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919472" y="47548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Sessions, auctions, risk limits &amp; circuit breakers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40112" y="47548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4</a:t>
            </a:r>
            <a:endParaRPr lang="en-US" sz="105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577840"/>
            <a:ext cx="10972800" cy="713232"/>
          </a:xfrm>
          <a:prstGeom prst="roundRect">
            <a:avLst>
              <a:gd name="adj" fmla="val 1153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layer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577840"/>
            <a:ext cx="109728" cy="71323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914400" y="557784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764792" y="55778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 &amp; DATA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4919472" y="55778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Clearing, P&amp;L, audit, statistics &amp; the index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40112" y="55778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y One"/>
          <p:cNvPicPr>
            <a:picLocks noChangeAspect="1"/>
          </p:cNvPicPr>
          <p:nvPr/>
        </p:nvPicPr>
        <p:blipFill>
          <a:blip r:embed="rId3"/>
          <a:srcRect l="8853" r="885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>
              <a:alpha val="7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A0F1E">
              <a:alpha val="84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2"/>
          <p:cNvSpPr/>
          <p:nvPr/>
        </p:nvSpPr>
        <p:spPr>
          <a:xfrm>
            <a:off x="841248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22529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200" dirty="0"/>
          </a:p>
        </p:txBody>
      </p:sp>
      <p:sp>
        <p:nvSpPr>
          <p:cNvPr id="7" name="Text 4"/>
          <p:cNvSpPr/>
          <p:nvPr/>
        </p:nvSpPr>
        <p:spPr>
          <a:xfrm>
            <a:off x="841248" y="25054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ONE</a:t>
            </a:r>
            <a:endParaRPr lang="en-US" sz="13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Foundations &amp; Architecture</a:t>
            </a:r>
            <a:endParaRPr lang="en-US" sz="4000" dirty="0"/>
          </a:p>
        </p:txBody>
      </p:sp>
      <p:sp>
        <p:nvSpPr>
          <p:cNvPr id="9" name="objectiv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06240"/>
            <a:ext cx="6766560" cy="2450592"/>
          </a:xfrm>
          <a:prstGeom prst="roundRect">
            <a:avLst>
              <a:gd name="adj" fmla="val 2239"/>
            </a:avLst>
          </a:prstGeom>
          <a:solidFill>
            <a:srgbClr val="0C1122">
              <a:alpha val="8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7"/>
          <p:cNvSpPr/>
          <p:nvPr/>
        </p:nvSpPr>
        <p:spPr>
          <a:xfrm>
            <a:off x="1161288" y="44074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END OF TODAY YOU WILL BE ABLE TO</a:t>
            </a:r>
            <a:endParaRPr lang="en-US" sz="1100" dirty="0"/>
          </a:p>
        </p:txBody>
      </p:sp>
      <p:sp>
        <p:nvSpPr>
          <p:cNvPr id="11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4841748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1435608" y="47274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what an exchange does and where the matching engine sits</a:t>
            </a:r>
            <a:endParaRPr lang="en-US" sz="1200" dirty="0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298948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1"/>
          <p:cNvSpPr/>
          <p:nvPr/>
        </p:nvSpPr>
        <p:spPr>
          <a:xfrm>
            <a:off x="1435608" y="51846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how EduMatcher's processes talk over a message bus</a:t>
            </a:r>
            <a:endParaRPr lang="en-US" sz="12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756148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3"/>
          <p:cNvSpPr/>
          <p:nvPr/>
        </p:nvSpPr>
        <p:spPr>
          <a:xfrm>
            <a:off x="1435608" y="5641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an order book and predict fills by price-time priority</a:t>
            </a:r>
            <a:endParaRPr lang="en-US" sz="1200" dirty="0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6213348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5"/>
          <p:cNvSpPr/>
          <p:nvPr/>
        </p:nvSpPr>
        <p:spPr>
          <a:xfrm>
            <a:off x="1435608" y="6099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a gateway and place your first live order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exchange — and what is </a:t>
            </a:r>
            <a:r>
              <a:rPr lang="en-US" sz="29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</a:t>
            </a: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5669280" cy="4297680"/>
          </a:xfrm>
          <a:prstGeom prst="roundRect">
            <a:avLst>
              <a:gd name="adj" fmla="val 1915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914400" y="2066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exchange is the neutral venue</a:t>
            </a:r>
            <a:endParaRPr lang="en-US" sz="1700" dirty="0"/>
          </a:p>
        </p:txBody>
      </p:sp>
      <p:sp>
        <p:nvSpPr>
          <p:cNvPr id="10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72034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discovery.  </a:t>
            </a: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brings buyers and sellers together and publishes the price they agree on.</a:t>
            </a:r>
            <a:endParaRPr lang="en-US" sz="1300" dirty="0"/>
          </a:p>
        </p:txBody>
      </p:sp>
      <p:sp>
        <p:nvSpPr>
          <p:cNvPr id="1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506724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88720" y="3392424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never takes a position.  </a:t>
            </a: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venue only matches participant orders — it is an impartial referee.</a:t>
            </a:r>
            <a:endParaRPr lang="en-US" sz="1300" dirty="0"/>
          </a:p>
        </p:txBody>
      </p:sp>
      <p:sp>
        <p:nvSpPr>
          <p:cNvPr id="14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293108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1188720" y="4178808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matching engine at the core.  </a:t>
            </a: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authoritative process holds the book and crosses compatible orders.</a:t>
            </a:r>
            <a:endParaRPr lang="en-US" sz="1300" dirty="0"/>
          </a:p>
        </p:txBody>
      </p:sp>
      <p:sp>
        <p:nvSpPr>
          <p:cNvPr id="1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079492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1188720" y="4965192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mechanics as NYSE.  </a:t>
            </a: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book, auctions, market makers, risk controls — just simplified.</a:t>
            </a:r>
            <a:endParaRPr lang="en-US" sz="13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1828800"/>
            <a:ext cx="4937760" cy="4297680"/>
          </a:xfrm>
          <a:prstGeom prst="roundRect">
            <a:avLst>
              <a:gd name="adj" fmla="val 1915"/>
            </a:avLst>
          </a:prstGeom>
          <a:solidFill>
            <a:srgbClr val="16233C"/>
          </a:solidFill>
          <a:ln w="12700">
            <a:solidFill>
              <a:srgbClr val="2DD4BF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03720" y="208483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903720" y="20802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5420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functional matching engine, built to teach.</a:t>
            </a:r>
            <a:endParaRPr lang="en-US" sz="1500" dirty="0"/>
          </a:p>
        </p:txBody>
      </p:sp>
      <p:sp>
        <p:nvSpPr>
          <p:cNvPr id="2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3291840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178040" y="31729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order book  </a:t>
            </a:r>
            <a:r>
              <a:rPr lang="en-US" sz="11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matches buyers &amp; sellers live</a:t>
            </a:r>
            <a:endParaRPr lang="en-US" sz="1150" dirty="0"/>
          </a:p>
        </p:txBody>
      </p:sp>
      <p:sp>
        <p:nvSpPr>
          <p:cNvPr id="2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385876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178040" y="37398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&amp; closing auctions  </a:t>
            </a:r>
            <a:r>
              <a:rPr lang="en-US" sz="11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single-price uncrossing</a:t>
            </a:r>
            <a:endParaRPr lang="en-US" sz="1150" dirty="0"/>
          </a:p>
        </p:txBody>
      </p:sp>
      <p:sp>
        <p:nvSpPr>
          <p:cNvPr id="2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4425696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7178040" y="43068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Market-maker quoting  </a:t>
            </a:r>
            <a:r>
              <a:rPr lang="en-US" sz="11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obligations &amp; protection</a:t>
            </a:r>
            <a:endParaRPr lang="en-US" sz="1150" dirty="0"/>
          </a:p>
        </p:txBody>
      </p:sp>
      <p:sp>
        <p:nvSpPr>
          <p:cNvPr id="2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4992624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178040" y="48737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controls  </a:t>
            </a:r>
            <a:r>
              <a:rPr lang="en-US" sz="11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collars, breakers, kill switch</a:t>
            </a:r>
            <a:endParaRPr lang="en-US" sz="1150" dirty="0"/>
          </a:p>
        </p:txBody>
      </p:sp>
      <p:sp>
        <p:nvSpPr>
          <p:cNvPr id="3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5559552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7178040" y="5440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post-trade  </a:t>
            </a:r>
            <a:r>
              <a:rPr lang="en-US" sz="11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P&amp;L, clearing, audit, drop-copy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matching engine: one book, one writer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97103" y="15791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pm-engine is the single writer of the order book. Every other process only submits orders or observes events — this is what keeps matching deterministic and fair.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337560"/>
            <a:ext cx="2743200" cy="1554480"/>
          </a:xfrm>
          <a:prstGeom prst="roundRect">
            <a:avLst>
              <a:gd name="adj" fmla="val 5294"/>
            </a:avLst>
          </a:prstGeom>
          <a:solidFill>
            <a:srgbClr val="1A2942"/>
          </a:solidFill>
          <a:ln w="19050">
            <a:solidFill>
              <a:srgbClr val="2DD4BF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4617720" y="3547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pm-engine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 ENGINE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 order book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446" y="2763315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541326" y="289133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1326" y="3202227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orders</a:t>
            </a:r>
            <a:endParaRPr lang="en-US" sz="10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446" y="4500675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41326" y="4628691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makers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1326" y="4939587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two-sided quotes</a:t>
            </a:r>
            <a:endParaRPr lang="en-US" sz="10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26225" y="2852446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9909105" y="298046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09105" y="329135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stats · viewers · index</a:t>
            </a:r>
            <a:endParaRPr lang="en-US" sz="105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1944" y="4354329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9954824" y="4482345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54824" y="4793241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 · audit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598932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flow IN over a PUSH socket · events flow OUT over a PUB socket — covered next.</a:t>
            </a:r>
            <a:endParaRPr lang="en-US" sz="1200" dirty="0"/>
          </a:p>
        </p:txBody>
      </p:sp>
      <p:sp>
        <p:nvSpPr>
          <p:cNvPr id="28" name="panel">
            <a:extLst>
              <a:ext uri="{FF2B5EF4-FFF2-40B4-BE49-F238E27FC236}">
                <a16:creationId xmlns:a16="http://schemas.microsoft.com/office/drawing/2014/main" id="{C7BEBB49-D700-C1D6-0C96-04399553D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35224" y="3721611"/>
            <a:ext cx="1078992" cy="749805"/>
          </a:xfrm>
          <a:prstGeom prst="roundRect">
            <a:avLst>
              <a:gd name="adj" fmla="val 9474"/>
            </a:avLst>
          </a:prstGeom>
          <a:solidFill>
            <a:srgbClr val="630706"/>
          </a:solidFill>
          <a:ln w="12700">
            <a:solidFill>
              <a:srgbClr val="27354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SE" dirty="0">
                <a:solidFill>
                  <a:schemeClr val="bg1">
                    <a:lumMod val="75000"/>
                  </a:schemeClr>
                </a:solidFill>
              </a:rPr>
              <a:t>ALF-Gwy</a:t>
            </a:r>
          </a:p>
        </p:txBody>
      </p:sp>
      <p:sp>
        <p:nvSpPr>
          <p:cNvPr id="30" name="Left-right Arrow 29">
            <a:extLst>
              <a:ext uri="{FF2B5EF4-FFF2-40B4-BE49-F238E27FC236}">
                <a16:creationId xmlns:a16="http://schemas.microsoft.com/office/drawing/2014/main" id="{47A8D17D-27D1-5636-D87E-EB1C45D1B74B}"/>
              </a:ext>
            </a:extLst>
          </p:cNvPr>
          <p:cNvSpPr/>
          <p:nvPr/>
        </p:nvSpPr>
        <p:spPr>
          <a:xfrm>
            <a:off x="4014216" y="3997757"/>
            <a:ext cx="603504" cy="21579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2" name="panel">
            <a:extLst>
              <a:ext uri="{FF2B5EF4-FFF2-40B4-BE49-F238E27FC236}">
                <a16:creationId xmlns:a16="http://schemas.microsoft.com/office/drawing/2014/main" id="{B911BF65-5F92-5430-03DA-A5B943831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2362" y="4487882"/>
            <a:ext cx="1078992" cy="749805"/>
          </a:xfrm>
          <a:prstGeom prst="roundRect">
            <a:avLst>
              <a:gd name="adj" fmla="val 9474"/>
            </a:avLst>
          </a:prstGeom>
          <a:solidFill>
            <a:srgbClr val="630706"/>
          </a:solidFill>
          <a:ln w="12700">
            <a:solidFill>
              <a:srgbClr val="27354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SE" dirty="0">
                <a:solidFill>
                  <a:schemeClr val="bg1">
                    <a:lumMod val="75000"/>
                  </a:schemeClr>
                </a:solidFill>
              </a:rPr>
              <a:t>RALF-Gwy</a:t>
            </a:r>
          </a:p>
        </p:txBody>
      </p:sp>
      <p:sp>
        <p:nvSpPr>
          <p:cNvPr id="33" name="panel">
            <a:extLst>
              <a:ext uri="{FF2B5EF4-FFF2-40B4-BE49-F238E27FC236}">
                <a16:creationId xmlns:a16="http://schemas.microsoft.com/office/drawing/2014/main" id="{B803C4CF-737B-2DA2-F53F-1208AADE4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2362" y="2938887"/>
            <a:ext cx="1078992" cy="749805"/>
          </a:xfrm>
          <a:prstGeom prst="roundRect">
            <a:avLst>
              <a:gd name="adj" fmla="val 9474"/>
            </a:avLst>
          </a:prstGeom>
          <a:solidFill>
            <a:srgbClr val="630706"/>
          </a:solidFill>
          <a:ln w="12700">
            <a:solidFill>
              <a:srgbClr val="27354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SE" dirty="0">
                <a:solidFill>
                  <a:schemeClr val="bg1">
                    <a:lumMod val="75000"/>
                  </a:schemeClr>
                </a:solidFill>
              </a:rPr>
              <a:t>CALF-Gwy</a:t>
            </a:r>
          </a:p>
        </p:txBody>
      </p:sp>
      <p:sp>
        <p:nvSpPr>
          <p:cNvPr id="34" name="Left-right Arrow 33">
            <a:extLst>
              <a:ext uri="{FF2B5EF4-FFF2-40B4-BE49-F238E27FC236}">
                <a16:creationId xmlns:a16="http://schemas.microsoft.com/office/drawing/2014/main" id="{C707F6EC-F13B-ABBA-75DE-30610864DDE5}"/>
              </a:ext>
            </a:extLst>
          </p:cNvPr>
          <p:cNvSpPr/>
          <p:nvPr/>
        </p:nvSpPr>
        <p:spPr>
          <a:xfrm rot="19607270">
            <a:off x="7377633" y="3368315"/>
            <a:ext cx="541187" cy="20299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5" name="Left-right Arrow 34">
            <a:extLst>
              <a:ext uri="{FF2B5EF4-FFF2-40B4-BE49-F238E27FC236}">
                <a16:creationId xmlns:a16="http://schemas.microsoft.com/office/drawing/2014/main" id="{930D3EE1-1D9F-B409-F546-495BE27E0773}"/>
              </a:ext>
            </a:extLst>
          </p:cNvPr>
          <p:cNvSpPr/>
          <p:nvPr/>
        </p:nvSpPr>
        <p:spPr>
          <a:xfrm rot="1406330">
            <a:off x="7390562" y="4640082"/>
            <a:ext cx="541187" cy="20299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7" name="panel">
            <a:extLst>
              <a:ext uri="{FF2B5EF4-FFF2-40B4-BE49-F238E27FC236}">
                <a16:creationId xmlns:a16="http://schemas.microsoft.com/office/drawing/2014/main" id="{748F55C4-D553-47FB-3E95-D92347653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65146" y="2178098"/>
            <a:ext cx="6491630" cy="3359508"/>
          </a:xfrm>
          <a:prstGeom prst="roundRect">
            <a:avLst>
              <a:gd name="adj" fmla="val 5294"/>
            </a:avLst>
          </a:prstGeom>
          <a:noFill/>
          <a:ln w="19050">
            <a:solidFill>
              <a:schemeClr val="accent2"/>
            </a:solidFill>
            <a:prstDash val="solid"/>
          </a:ln>
          <a:effectLst>
            <a:glow rad="50800">
              <a:schemeClr val="accent4">
                <a:satMod val="175000"/>
                <a:alpha val="40000"/>
              </a:schemeClr>
            </a:glow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574245-B65E-D40F-C4AC-E5E1FF1B87EF}"/>
              </a:ext>
            </a:extLst>
          </p:cNvPr>
          <p:cNvSpPr txBox="1"/>
          <p:nvPr/>
        </p:nvSpPr>
        <p:spPr>
          <a:xfrm>
            <a:off x="5084063" y="2222289"/>
            <a:ext cx="168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dirty="0">
                <a:solidFill>
                  <a:schemeClr val="accent2"/>
                </a:solidFill>
              </a:rPr>
              <a:t>ZMQ Bus</a:t>
            </a:r>
          </a:p>
        </p:txBody>
      </p:sp>
      <p:sp>
        <p:nvSpPr>
          <p:cNvPr id="39" name="Document 38">
            <a:extLst>
              <a:ext uri="{FF2B5EF4-FFF2-40B4-BE49-F238E27FC236}">
                <a16:creationId xmlns:a16="http://schemas.microsoft.com/office/drawing/2014/main" id="{363B7EC1-67F7-2215-644A-39F146BF3719}"/>
              </a:ext>
            </a:extLst>
          </p:cNvPr>
          <p:cNvSpPr/>
          <p:nvPr/>
        </p:nvSpPr>
        <p:spPr>
          <a:xfrm>
            <a:off x="4178808" y="4212638"/>
            <a:ext cx="274320" cy="226773"/>
          </a:xfrm>
          <a:prstGeom prst="flowChartDocument">
            <a:avLst/>
          </a:prstGeom>
          <a:solidFill>
            <a:schemeClr val="accent2">
              <a:lumMod val="75000"/>
            </a:schemeClr>
          </a:solidFill>
          <a:effectLst>
            <a:outerShdw blurRad="38100" dist="254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/>
              <a:t>M</a:t>
            </a:r>
          </a:p>
        </p:txBody>
      </p:sp>
      <p:sp>
        <p:nvSpPr>
          <p:cNvPr id="42" name="Document 41">
            <a:extLst>
              <a:ext uri="{FF2B5EF4-FFF2-40B4-BE49-F238E27FC236}">
                <a16:creationId xmlns:a16="http://schemas.microsoft.com/office/drawing/2014/main" id="{B5A9529E-DD5B-CFC5-E308-50FBEE55CFCB}"/>
              </a:ext>
            </a:extLst>
          </p:cNvPr>
          <p:cNvSpPr/>
          <p:nvPr/>
        </p:nvSpPr>
        <p:spPr>
          <a:xfrm>
            <a:off x="7475220" y="4891128"/>
            <a:ext cx="274320" cy="226773"/>
          </a:xfrm>
          <a:prstGeom prst="flowChartDocument">
            <a:avLst/>
          </a:prstGeom>
          <a:solidFill>
            <a:schemeClr val="accent2">
              <a:lumMod val="75000"/>
            </a:schemeClr>
          </a:solidFill>
          <a:effectLst>
            <a:outerShdw blurRad="38100" dist="254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/>
              <a:t>M</a:t>
            </a:r>
          </a:p>
        </p:txBody>
      </p:sp>
      <p:sp>
        <p:nvSpPr>
          <p:cNvPr id="43" name="Document 42">
            <a:extLst>
              <a:ext uri="{FF2B5EF4-FFF2-40B4-BE49-F238E27FC236}">
                <a16:creationId xmlns:a16="http://schemas.microsoft.com/office/drawing/2014/main" id="{F63342B0-C61F-C1BE-7255-30E3D5A286EF}"/>
              </a:ext>
            </a:extLst>
          </p:cNvPr>
          <p:cNvSpPr/>
          <p:nvPr/>
        </p:nvSpPr>
        <p:spPr>
          <a:xfrm>
            <a:off x="7435902" y="3084889"/>
            <a:ext cx="274320" cy="226773"/>
          </a:xfrm>
          <a:prstGeom prst="flowChartDocument">
            <a:avLst/>
          </a:prstGeom>
          <a:solidFill>
            <a:schemeClr val="accent2">
              <a:lumMod val="75000"/>
            </a:schemeClr>
          </a:solidFill>
          <a:effectLst>
            <a:outerShdw blurRad="38100" dist="254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/>
              <a:t>M</a:t>
            </a:r>
          </a:p>
        </p:txBody>
      </p:sp>
      <p:sp>
        <p:nvSpPr>
          <p:cNvPr id="44" name="Left-right Arrow 43">
            <a:extLst>
              <a:ext uri="{FF2B5EF4-FFF2-40B4-BE49-F238E27FC236}">
                <a16:creationId xmlns:a16="http://schemas.microsoft.com/office/drawing/2014/main" id="{DF4827F2-BCCF-1C9D-720D-5D0694D57C6A}"/>
              </a:ext>
            </a:extLst>
          </p:cNvPr>
          <p:cNvSpPr/>
          <p:nvPr/>
        </p:nvSpPr>
        <p:spPr>
          <a:xfrm rot="3110822" flipV="1">
            <a:off x="2344026" y="3401139"/>
            <a:ext cx="928195" cy="254813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5" name="Left-right Arrow 44">
            <a:extLst>
              <a:ext uri="{FF2B5EF4-FFF2-40B4-BE49-F238E27FC236}">
                <a16:creationId xmlns:a16="http://schemas.microsoft.com/office/drawing/2014/main" id="{82AEDED1-8CBA-431D-B313-92C912F5CB39}"/>
              </a:ext>
            </a:extLst>
          </p:cNvPr>
          <p:cNvSpPr/>
          <p:nvPr/>
        </p:nvSpPr>
        <p:spPr>
          <a:xfrm rot="18665717" flipV="1">
            <a:off x="2387102" y="4570933"/>
            <a:ext cx="928195" cy="254813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6" name="Left-right Arrow 45">
            <a:extLst>
              <a:ext uri="{FF2B5EF4-FFF2-40B4-BE49-F238E27FC236}">
                <a16:creationId xmlns:a16="http://schemas.microsoft.com/office/drawing/2014/main" id="{02EE5787-0D6A-0BF9-2388-339CBF7799D1}"/>
              </a:ext>
            </a:extLst>
          </p:cNvPr>
          <p:cNvSpPr/>
          <p:nvPr/>
        </p:nvSpPr>
        <p:spPr>
          <a:xfrm flipV="1">
            <a:off x="8991863" y="3144614"/>
            <a:ext cx="734362" cy="254813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7" name="Left-right Arrow 46">
            <a:extLst>
              <a:ext uri="{FF2B5EF4-FFF2-40B4-BE49-F238E27FC236}">
                <a16:creationId xmlns:a16="http://schemas.microsoft.com/office/drawing/2014/main" id="{DFAA2FC5-193C-E599-94BC-B8C92B6B97EC}"/>
              </a:ext>
            </a:extLst>
          </p:cNvPr>
          <p:cNvSpPr/>
          <p:nvPr/>
        </p:nvSpPr>
        <p:spPr>
          <a:xfrm flipV="1">
            <a:off x="9017306" y="4784139"/>
            <a:ext cx="734362" cy="254813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8" name="Predefined Process 47">
            <a:extLst>
              <a:ext uri="{FF2B5EF4-FFF2-40B4-BE49-F238E27FC236}">
                <a16:creationId xmlns:a16="http://schemas.microsoft.com/office/drawing/2014/main" id="{07F11552-39C2-D174-24F4-A8BE68729183}"/>
              </a:ext>
            </a:extLst>
          </p:cNvPr>
          <p:cNvSpPr/>
          <p:nvPr/>
        </p:nvSpPr>
        <p:spPr>
          <a:xfrm>
            <a:off x="9040579" y="2718650"/>
            <a:ext cx="636929" cy="400819"/>
          </a:xfrm>
          <a:prstGeom prst="flowChartPredefinedProcess">
            <a:avLst/>
          </a:prstGeom>
          <a:solidFill>
            <a:srgbClr val="34C1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/>
              <a:t>TCP/IP</a:t>
            </a:r>
          </a:p>
        </p:txBody>
      </p:sp>
      <p:sp>
        <p:nvSpPr>
          <p:cNvPr id="49" name="Predefined Process 48">
            <a:extLst>
              <a:ext uri="{FF2B5EF4-FFF2-40B4-BE49-F238E27FC236}">
                <a16:creationId xmlns:a16="http://schemas.microsoft.com/office/drawing/2014/main" id="{111584CA-569E-4166-1086-4129A2A7EF19}"/>
              </a:ext>
            </a:extLst>
          </p:cNvPr>
          <p:cNvSpPr/>
          <p:nvPr/>
        </p:nvSpPr>
        <p:spPr>
          <a:xfrm>
            <a:off x="9089296" y="5078109"/>
            <a:ext cx="636929" cy="400819"/>
          </a:xfrm>
          <a:prstGeom prst="flowChartPredefinedProcess">
            <a:avLst/>
          </a:prstGeom>
          <a:solidFill>
            <a:srgbClr val="34C1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/>
              <a:t>TCP/IP</a:t>
            </a:r>
          </a:p>
        </p:txBody>
      </p:sp>
      <p:sp>
        <p:nvSpPr>
          <p:cNvPr id="50" name="Predefined Process 49">
            <a:extLst>
              <a:ext uri="{FF2B5EF4-FFF2-40B4-BE49-F238E27FC236}">
                <a16:creationId xmlns:a16="http://schemas.microsoft.com/office/drawing/2014/main" id="{13EAC393-2269-FB83-05D1-D8CFB9D5E6FF}"/>
              </a:ext>
            </a:extLst>
          </p:cNvPr>
          <p:cNvSpPr/>
          <p:nvPr/>
        </p:nvSpPr>
        <p:spPr>
          <a:xfrm>
            <a:off x="2762408" y="3127726"/>
            <a:ext cx="636929" cy="400819"/>
          </a:xfrm>
          <a:prstGeom prst="flowChartPredefinedProcess">
            <a:avLst/>
          </a:prstGeom>
          <a:solidFill>
            <a:srgbClr val="34C1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/>
              <a:t>TCP/IP</a:t>
            </a:r>
          </a:p>
        </p:txBody>
      </p:sp>
      <p:sp>
        <p:nvSpPr>
          <p:cNvPr id="51" name="Predefined Process 50">
            <a:extLst>
              <a:ext uri="{FF2B5EF4-FFF2-40B4-BE49-F238E27FC236}">
                <a16:creationId xmlns:a16="http://schemas.microsoft.com/office/drawing/2014/main" id="{8D42A1DA-C59E-AF15-8FE2-79B6DE6E2EC8}"/>
              </a:ext>
            </a:extLst>
          </p:cNvPr>
          <p:cNvSpPr/>
          <p:nvPr/>
        </p:nvSpPr>
        <p:spPr>
          <a:xfrm>
            <a:off x="2885294" y="4728873"/>
            <a:ext cx="636929" cy="400819"/>
          </a:xfrm>
          <a:prstGeom prst="flowChartPredefinedProcess">
            <a:avLst/>
          </a:prstGeom>
          <a:solidFill>
            <a:srgbClr val="34C1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/>
              <a:t>TCP/IP</a:t>
            </a:r>
          </a:p>
        </p:txBody>
      </p:sp>
      <p:sp>
        <p:nvSpPr>
          <p:cNvPr id="52" name="panel">
            <a:extLst>
              <a:ext uri="{FF2B5EF4-FFF2-40B4-BE49-F238E27FC236}">
                <a16:creationId xmlns:a16="http://schemas.microsoft.com/office/drawing/2014/main" id="{76F63630-5CD2-75A9-175B-0AE16E7ED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4300" y="2362153"/>
            <a:ext cx="1078992" cy="749805"/>
          </a:xfrm>
          <a:prstGeom prst="roundRect">
            <a:avLst>
              <a:gd name="adj" fmla="val 947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 anchor="ctr"/>
          <a:lstStyle/>
          <a:p>
            <a:pPr algn="ctr"/>
            <a:r>
              <a:rPr lang="en-SE" dirty="0">
                <a:solidFill>
                  <a:schemeClr val="bg1">
                    <a:lumMod val="75000"/>
                  </a:schemeClr>
                </a:solidFill>
              </a:rPr>
              <a:t>ALF-Console</a:t>
            </a:r>
          </a:p>
        </p:txBody>
      </p:sp>
      <p:sp>
        <p:nvSpPr>
          <p:cNvPr id="53" name="Left-right Arrow 52">
            <a:extLst>
              <a:ext uri="{FF2B5EF4-FFF2-40B4-BE49-F238E27FC236}">
                <a16:creationId xmlns:a16="http://schemas.microsoft.com/office/drawing/2014/main" id="{638854E9-6D38-3FA5-0F1A-7F958A6DB2AE}"/>
              </a:ext>
            </a:extLst>
          </p:cNvPr>
          <p:cNvSpPr/>
          <p:nvPr/>
        </p:nvSpPr>
        <p:spPr>
          <a:xfrm rot="2666759">
            <a:off x="4781387" y="2937193"/>
            <a:ext cx="603504" cy="21579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4" name="Document 53">
            <a:extLst>
              <a:ext uri="{FF2B5EF4-FFF2-40B4-BE49-F238E27FC236}">
                <a16:creationId xmlns:a16="http://schemas.microsoft.com/office/drawing/2014/main" id="{40353FDB-6D68-62DC-C916-C12B88AE5768}"/>
              </a:ext>
            </a:extLst>
          </p:cNvPr>
          <p:cNvSpPr/>
          <p:nvPr/>
        </p:nvSpPr>
        <p:spPr>
          <a:xfrm>
            <a:off x="5165690" y="2788005"/>
            <a:ext cx="274320" cy="226773"/>
          </a:xfrm>
          <a:prstGeom prst="flowChartDocument">
            <a:avLst/>
          </a:prstGeom>
          <a:solidFill>
            <a:schemeClr val="accent2">
              <a:lumMod val="75000"/>
            </a:schemeClr>
          </a:solidFill>
          <a:effectLst>
            <a:outerShdw blurRad="38100" dist="254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1200" dirty="0"/>
              <a:t>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process constellation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 err="1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</a:t>
            </a: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not a monolith. Around a dozen small pm-* processes each do one job and coordinate over a ZeroMQ message bus.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2688336" cy="374904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2688336" cy="8229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41248" y="25420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ENTRY</a:t>
            </a:r>
            <a:endParaRPr lang="en-US" sz="1100" dirty="0"/>
          </a:p>
        </p:txBody>
      </p:sp>
      <p:sp>
        <p:nvSpPr>
          <p:cNvPr id="12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99923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950976" y="31089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pm-alf-console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0976" y="341985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trader terminal</a:t>
            </a:r>
            <a:endParaRPr lang="en-US" sz="1000" dirty="0"/>
          </a:p>
        </p:txBody>
      </p:sp>
      <p:sp>
        <p:nvSpPr>
          <p:cNvPr id="15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95935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950976" y="406908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pm-alf-gwy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50976" y="43799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gateway for bots</a:t>
            </a:r>
            <a:endParaRPr lang="en-US" sz="1000" dirty="0"/>
          </a:p>
        </p:txBody>
      </p:sp>
      <p:sp>
        <p:nvSpPr>
          <p:cNvPr id="18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491947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950976" y="502920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pm-balf-gwy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50976" y="534009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low-latency entry</a:t>
            </a:r>
            <a:endParaRPr lang="en-US" sz="10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2286000"/>
            <a:ext cx="2688336" cy="374904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2286000"/>
            <a:ext cx="2688336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3657600" y="25420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CORE</a:t>
            </a:r>
            <a:endParaRPr lang="en-US" sz="1100" dirty="0"/>
          </a:p>
        </p:txBody>
      </p:sp>
      <p:sp>
        <p:nvSpPr>
          <p:cNvPr id="24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9312" y="299923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3767328" y="31089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pm-engine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67328" y="341985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engine &amp; book</a:t>
            </a:r>
            <a:endParaRPr lang="en-US" sz="1000" dirty="0"/>
          </a:p>
        </p:txBody>
      </p:sp>
      <p:sp>
        <p:nvSpPr>
          <p:cNvPr id="27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9312" y="395935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3767328" y="406908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pm-scheduler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67328" y="43799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session phases</a:t>
            </a:r>
            <a:endParaRPr lang="en-US" sz="1000" dirty="0"/>
          </a:p>
        </p:txBody>
      </p:sp>
      <p:sp>
        <p:nvSpPr>
          <p:cNvPr id="30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9312" y="491947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3767328" y="502920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pm-index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767328" y="534009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cap-weighted index</a:t>
            </a:r>
            <a:endParaRPr lang="en-US" sz="100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2286000"/>
            <a:ext cx="2688336" cy="374904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2286000"/>
            <a:ext cx="2688336" cy="8229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473952" y="25420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 &amp; DATA</a:t>
            </a:r>
            <a:endParaRPr lang="en-US" sz="1100" dirty="0"/>
          </a:p>
        </p:txBody>
      </p:sp>
      <p:sp>
        <p:nvSpPr>
          <p:cNvPr id="36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299923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6583680" y="31089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pm-stats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83680" y="341985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OHLCV / VWAP recorder</a:t>
            </a:r>
            <a:endParaRPr lang="en-US" sz="1000" dirty="0"/>
          </a:p>
        </p:txBody>
      </p:sp>
      <p:sp>
        <p:nvSpPr>
          <p:cNvPr id="39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395935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6583680" y="406908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pm-clearing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583680" y="43799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positions &amp; running P&amp;L</a:t>
            </a:r>
            <a:endParaRPr lang="en-US" sz="1000" dirty="0"/>
          </a:p>
        </p:txBody>
      </p:sp>
      <p:sp>
        <p:nvSpPr>
          <p:cNvPr id="42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5664" y="491947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6583680" y="502920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pm-audit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583680" y="534009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event logger</a:t>
            </a:r>
            <a:endParaRPr lang="en-US" sz="1000" dirty="0"/>
          </a:p>
        </p:txBody>
      </p:sp>
      <p:sp>
        <p:nvSpPr>
          <p:cNvPr id="4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2286000"/>
            <a:ext cx="2688336" cy="374904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6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2286000"/>
            <a:ext cx="2688336" cy="8229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9290304" y="25420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FEEDS</a:t>
            </a:r>
            <a:endParaRPr lang="en-US" sz="1100" dirty="0"/>
          </a:p>
        </p:txBody>
      </p:sp>
      <p:sp>
        <p:nvSpPr>
          <p:cNvPr id="48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72016" y="299923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9" name="Text 47"/>
          <p:cNvSpPr/>
          <p:nvPr/>
        </p:nvSpPr>
        <p:spPr>
          <a:xfrm>
            <a:off x="9400032" y="31089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pm-md-gwy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400032" y="341985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data (CALF)</a:t>
            </a:r>
            <a:endParaRPr lang="en-US" sz="1000" dirty="0"/>
          </a:p>
        </p:txBody>
      </p:sp>
      <p:sp>
        <p:nvSpPr>
          <p:cNvPr id="51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72016" y="395935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2" name="Text 50"/>
          <p:cNvSpPr/>
          <p:nvPr/>
        </p:nvSpPr>
        <p:spPr>
          <a:xfrm>
            <a:off x="9400032" y="406908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pm-ralf-gwy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400032" y="43799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 (RALF)</a:t>
            </a:r>
            <a:endParaRPr lang="en-US" sz="1000" dirty="0"/>
          </a:p>
        </p:txBody>
      </p:sp>
      <p:sp>
        <p:nvSpPr>
          <p:cNvPr id="54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72016" y="4919472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5" name="Text 53"/>
          <p:cNvSpPr/>
          <p:nvPr/>
        </p:nvSpPr>
        <p:spPr>
          <a:xfrm>
            <a:off x="9400032" y="502920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pm-api-gwy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9400032" y="534009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/ WebSocket API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2</a:t>
            </a:r>
            <a:endParaRPr lang="en-US" sz="1200"/>
          </a:p>
        </p:txBody>
      </p:sp>
      <p:sp>
        <p:nvSpPr>
          <p:cNvPr id="4" name="Text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kern="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55</a:t>
            </a:r>
            <a:endParaRPr lang="en-US" sz="900"/>
          </a:p>
        </p:txBody>
      </p:sp>
      <p:sp>
        <p:nvSpPr>
          <p:cNvPr id="7" name="Title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message bus: one publisher, many listeners</a:t>
            </a:r>
            <a:endParaRPr lang="en-US" sz="2900"/>
          </a:p>
        </p:txBody>
      </p:sp>
      <p:sp>
        <p:nvSpPr>
          <p:cNvPr id="8" name="Text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engine never calls anyone. It publishes every event onto a ZeroMQ bus, and any process that cares simply subscribes and reads.</a:t>
            </a:r>
            <a:endParaRPr lang="en-US" sz="135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3200000" cy="223400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3200000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"/>
          <p:cNvSpPr/>
          <p:nvPr/>
        </p:nvSpPr>
        <p:spPr>
          <a:xfrm>
            <a:off x="841248" y="2542032"/>
            <a:ext cx="2761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</a:t>
            </a:r>
            <a:endParaRPr lang="en-US" sz="1100"/>
          </a:p>
        </p:txBody>
      </p:sp>
      <p:sp>
        <p:nvSpPr>
          <p:cNvPr id="12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900000"/>
            <a:ext cx="2797664" cy="76000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"/>
          <p:cNvSpPr/>
          <p:nvPr/>
        </p:nvSpPr>
        <p:spPr>
          <a:xfrm>
            <a:off x="950976" y="2955000"/>
            <a:ext cx="254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pm-engine</a:t>
            </a:r>
            <a:endParaRPr lang="en-US" sz="1250"/>
          </a:p>
        </p:txBody>
      </p:sp>
      <p:sp>
        <p:nvSpPr>
          <p:cNvPr id="14" name="Text"/>
          <p:cNvSpPr/>
          <p:nvPr/>
        </p:nvSpPr>
        <p:spPr>
          <a:xfrm>
            <a:off x="950976" y="3270000"/>
            <a:ext cx="2541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matching engine</a:t>
            </a:r>
            <a:endParaRPr lang="en-US" sz="1000"/>
          </a:p>
        </p:txBody>
      </p:sp>
      <p:sp>
        <p:nvSpPr>
          <p:cNvPr id="15" name="Text"/>
          <p:cNvSpPr/>
          <p:nvPr/>
        </p:nvSpPr>
        <p:spPr>
          <a:xfrm>
            <a:off x="822960" y="3770000"/>
            <a:ext cx="2797664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 → tcp://*:5556</a:t>
            </a:r>
            <a:endParaRPr lang="en-US" sz="1050"/>
          </a:p>
        </p:txBody>
      </p:sp>
      <p:sp>
        <p:nvSpPr>
          <p:cNvPr id="16" name="Text"/>
          <p:cNvSpPr/>
          <p:nvPr/>
        </p:nvSpPr>
        <p:spPr>
          <a:xfrm>
            <a:off x="822960" y="4055000"/>
            <a:ext cx="279766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Broadcasts each event once — to no one in particular.</a:t>
            </a:r>
            <a:endParaRPr lang="en-US" sz="1000"/>
          </a:p>
        </p:txBody>
      </p:sp>
      <p:sp>
        <p:nvSpPr>
          <p:cNvPr id="17" name="bus"/>
          <p:cNvSpPr/>
          <p:nvPr/>
        </p:nvSpPr>
        <p:spPr>
          <a:xfrm>
            <a:off x="3980000" y="2286000"/>
            <a:ext cx="300000" cy="2234000"/>
          </a:xfrm>
          <a:prstGeom prst="roundRect">
            <a:avLst>
              <a:gd name="adj" fmla="val 8000"/>
            </a:avLst>
          </a:prstGeom>
          <a:solidFill>
            <a:srgbClr val="0E1A2E"/>
          </a:solidFill>
          <a:ln w="19050">
            <a:solidFill>
              <a:srgbClr val="2DD4BF"/>
            </a:solidFill>
            <a:prstDash val="solid"/>
          </a:ln>
          <a:effectLst>
            <a:outerShdw blurRad="120000" dir="5400000" algn="ctr" rotWithShape="0">
              <a:srgbClr val="2DD4BF">
                <a:alpha val="22000"/>
              </a:srgbClr>
            </a:outerShdw>
          </a:effectLst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ZMQ  PUB / SUB  BUS</a:t>
            </a:r>
            <a:endParaRPr lang="en-US" sz="1050"/>
          </a:p>
        </p:txBody>
      </p:sp>
      <p:sp>
        <p:nvSpPr>
          <p:cNvPr id="18" name="co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1792" y="3393000"/>
            <a:ext cx="158208" cy="20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co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000" y="2512000"/>
            <a:ext cx="620000" cy="1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0000" y="2286000"/>
            <a:ext cx="6694592" cy="47000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a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0000" y="2286000"/>
            <a:ext cx="54864" cy="470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"/>
          <p:cNvSpPr/>
          <p:nvPr/>
        </p:nvSpPr>
        <p:spPr>
          <a:xfrm>
            <a:off x="5094864" y="2286000"/>
            <a:ext cx="6359728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 ·  </a:t>
            </a:r>
            <a:r>
              <a:rPr lang="en-US" sz="1200" b="1" ker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pm-stats</a:t>
            </a:r>
            <a:r>
              <a:rPr lang="en-US" sz="105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records every trade and quote off the bus</a:t>
            </a:r>
            <a:endParaRPr lang="en-US" sz="1000"/>
          </a:p>
        </p:txBody>
      </p:sp>
      <p:sp>
        <p:nvSpPr>
          <p:cNvPr id="23" name="co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000" y="3100000"/>
            <a:ext cx="620000" cy="1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0000" y="2874000"/>
            <a:ext cx="6694592" cy="47000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a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0000" y="2874000"/>
            <a:ext cx="54864" cy="470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"/>
          <p:cNvSpPr/>
          <p:nvPr/>
        </p:nvSpPr>
        <p:spPr>
          <a:xfrm>
            <a:off x="5094864" y="2874000"/>
            <a:ext cx="6359728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 ·  </a:t>
            </a:r>
            <a:r>
              <a:rPr lang="en-US" sz="1200" b="1" ker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pm-clearing</a:t>
            </a:r>
            <a:r>
              <a:rPr lang="en-US" sz="105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updates positions and running P&amp;L</a:t>
            </a:r>
            <a:endParaRPr lang="en-US" sz="1000"/>
          </a:p>
        </p:txBody>
      </p:sp>
      <p:sp>
        <p:nvSpPr>
          <p:cNvPr id="27" name="co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000" y="3688000"/>
            <a:ext cx="620000" cy="1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0000" y="3462000"/>
            <a:ext cx="6694592" cy="47000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a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0000" y="3462000"/>
            <a:ext cx="54864" cy="470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"/>
          <p:cNvSpPr/>
          <p:nvPr/>
        </p:nvSpPr>
        <p:spPr>
          <a:xfrm>
            <a:off x="5094864" y="3462000"/>
            <a:ext cx="6359728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 ·  </a:t>
            </a:r>
            <a:r>
              <a:rPr lang="en-US" sz="1200" b="1" ker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pm-index</a:t>
            </a:r>
            <a:r>
              <a:rPr lang="en-US" sz="105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recomputes the cap-weighted index</a:t>
            </a:r>
            <a:endParaRPr lang="en-US" sz="1000"/>
          </a:p>
        </p:txBody>
      </p:sp>
      <p:sp>
        <p:nvSpPr>
          <p:cNvPr id="31" name="co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0000" y="4276000"/>
            <a:ext cx="620000" cy="180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pro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0000" y="4050000"/>
            <a:ext cx="6694592" cy="470000"/>
          </a:xfrm>
          <a:prstGeom prst="roundRect">
            <a:avLst>
              <a:gd name="adj" fmla="val 6667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a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0000" y="4050000"/>
            <a:ext cx="54864" cy="470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"/>
          <p:cNvSpPr/>
          <p:nvPr/>
        </p:nvSpPr>
        <p:spPr>
          <a:xfrm>
            <a:off x="5094864" y="4050000"/>
            <a:ext cx="6359728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 ·  </a:t>
            </a:r>
            <a:r>
              <a:rPr lang="en-US" sz="1200" b="1" ker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pm-audit</a:t>
            </a:r>
            <a:r>
              <a:rPr lang="en-US" sz="105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logs the full event stream to disk</a:t>
            </a:r>
            <a:endParaRPr lang="en-US" sz="1000"/>
          </a:p>
        </p:txBody>
      </p:sp>
      <p:sp>
        <p:nvSpPr>
          <p:cNvPr id="3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680000"/>
            <a:ext cx="3524224" cy="135500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6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680000"/>
            <a:ext cx="3524224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"/>
          <p:cNvSpPr/>
          <p:nvPr/>
        </p:nvSpPr>
        <p:spPr>
          <a:xfrm>
            <a:off x="841248" y="4915000"/>
            <a:ext cx="314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PUBLISH, DON'T CALL</a:t>
            </a:r>
            <a:endParaRPr lang="en-US" sz="1050"/>
          </a:p>
        </p:txBody>
      </p:sp>
      <p:sp>
        <p:nvSpPr>
          <p:cNvPr id="38" name="Text"/>
          <p:cNvSpPr/>
          <p:nvPr/>
        </p:nvSpPr>
        <p:spPr>
          <a:xfrm>
            <a:off x="841248" y="5235000"/>
            <a:ext cx="3144224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fires each event onto the bus and moves on. It never blocks, waits for a reply, or knows who is listening.</a:t>
            </a:r>
            <a:endParaRPr lang="en-US" sz="1000"/>
          </a:p>
        </p:txBody>
      </p:sp>
      <p:sp>
        <p:nvSpPr>
          <p:cNvPr id="3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6080" y="4680000"/>
            <a:ext cx="3524224" cy="135500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0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6080" y="4680000"/>
            <a:ext cx="3524224" cy="8229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1" name="Text"/>
          <p:cNvSpPr/>
          <p:nvPr/>
        </p:nvSpPr>
        <p:spPr>
          <a:xfrm>
            <a:off x="4565536" y="4915000"/>
            <a:ext cx="314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BY TOPIC</a:t>
            </a:r>
            <a:endParaRPr lang="en-US" sz="1050"/>
          </a:p>
        </p:txBody>
      </p:sp>
      <p:sp>
        <p:nvSpPr>
          <p:cNvPr id="42" name="Text"/>
          <p:cNvSpPr/>
          <p:nvPr/>
        </p:nvSpPr>
        <p:spPr>
          <a:xfrm>
            <a:off x="4565536" y="5235000"/>
            <a:ext cx="3144224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process opens a SUB socket and filters by topic prefix, so it receives only the messages it actually cares about.</a:t>
            </a:r>
            <a:endParaRPr lang="en-US" sz="1000"/>
          </a:p>
        </p:txBody>
      </p:sp>
      <p:sp>
        <p:nvSpPr>
          <p:cNvPr id="4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0368" y="4680000"/>
            <a:ext cx="3524224" cy="135500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4" name="grou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0368" y="4680000"/>
            <a:ext cx="3524224" cy="8229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5" name="Text"/>
          <p:cNvSpPr/>
          <p:nvPr/>
        </p:nvSpPr>
        <p:spPr>
          <a:xfrm>
            <a:off x="8289824" y="4915000"/>
            <a:ext cx="314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ONE-TO-MANY, DECOUPLED</a:t>
            </a:r>
            <a:endParaRPr lang="en-US" sz="1050"/>
          </a:p>
        </p:txBody>
      </p:sp>
      <p:sp>
        <p:nvSpPr>
          <p:cNvPr id="46" name="Text"/>
          <p:cNvSpPr/>
          <p:nvPr/>
        </p:nvSpPr>
        <p:spPr>
          <a:xfrm>
            <a:off x="8289824" y="5235000"/>
            <a:ext cx="3144224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or drop listeners freely. The same event reaches every subscriber and the engine's code never has to change.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message bus: three sockets, two patterns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21B30"/>
          </a:solidFill>
          <a:ln w="12700">
            <a:solidFill>
              <a:srgbClr val="38BDF8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896112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:5555</a:t>
            </a:r>
            <a:endParaRPr lang="en-US" sz="3400" dirty="0"/>
          </a:p>
        </p:txBody>
      </p:sp>
      <p:sp>
        <p:nvSpPr>
          <p:cNvPr id="10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53512" y="218541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2953512" y="21808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0449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PUSH orders, cancels &amp; admin here. One-to-one, reliable delivery.</a:t>
            </a:r>
            <a:endParaRPr lang="en-US" sz="11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2272" y="187452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21B30"/>
          </a:solidFill>
          <a:ln w="12700">
            <a:solidFill>
              <a:srgbClr val="2DD4BF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4736592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:5556</a:t>
            </a:r>
            <a:endParaRPr lang="en-US" sz="3400" dirty="0"/>
          </a:p>
        </p:txBody>
      </p:sp>
      <p:sp>
        <p:nvSpPr>
          <p:cNvPr id="16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93992" y="218541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6793992" y="21808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715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OUT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0449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Acks, fills, trade.executed, book &amp; session updates. One-to-many, topic-filtered.</a:t>
            </a:r>
            <a:endParaRPr lang="en-US" sz="11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2752" y="187452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21B30"/>
          </a:solidFill>
          <a:ln w="12700">
            <a:solidFill>
              <a:srgbClr val="FBBF24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8577072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:5557</a:t>
            </a:r>
            <a:endParaRPr lang="en-US" sz="3400" dirty="0"/>
          </a:p>
        </p:txBody>
      </p:sp>
      <p:sp>
        <p:nvSpPr>
          <p:cNvPr id="22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34472" y="218541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10634472" y="21808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2715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DROP-COPY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95360" y="30449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parallel per-fill feed with sequence numbers for risk &amp; compliance systems.</a:t>
            </a:r>
            <a:endParaRPr lang="en-US" sz="1150" dirty="0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343400"/>
            <a:ext cx="10972800" cy="1783080"/>
          </a:xfrm>
          <a:prstGeom prst="roundRect">
            <a:avLst>
              <a:gd name="adj" fmla="val 4615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914400" y="4526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two patterns?</a:t>
            </a:r>
            <a:endParaRPr lang="en-US" sz="1500" dirty="0"/>
          </a:p>
        </p:txBody>
      </p:sp>
      <p:sp>
        <p:nvSpPr>
          <p:cNvPr id="28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05206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1188720" y="4937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/ PULL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reliable one-to-one delivery, used for commands the engine must not miss.</a:t>
            </a:r>
            <a:endParaRPr lang="en-US" sz="1250" dirty="0"/>
          </a:p>
        </p:txBody>
      </p:sp>
      <p:sp>
        <p:nvSpPr>
          <p:cNvPr id="30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55498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1188720" y="5440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 / SUB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broadcast, best-effort; a late subscriber misses earlier messages.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64224" y="4905756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 order matters.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binds the sockets, so it must start first; everything else connects to it. That is why the engine also publishes a book snapshot on startup — so late subscribers can catch 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HANDS-ON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Lab: Your five-minute exchange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284732"/>
            <a:ext cx="3977640" cy="4841748"/>
          </a:xfrm>
          <a:prstGeom prst="roundRect">
            <a:avLst>
              <a:gd name="adj" fmla="val 2069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3944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49808" y="13898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5645" y="18333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goal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2971800"/>
            <a:ext cx="3456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up a minimal exchange using a </a:t>
            </a:r>
            <a:r>
              <a:rPr lang="en-US" sz="1300" dirty="0" err="1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Multipass</a:t>
            </a: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VM, connect two traders, and cross a single trade — proving you understand engine vs. participant roles.</a:t>
            </a:r>
            <a:endParaRPr lang="en-US" sz="1300" dirty="0"/>
          </a:p>
        </p:txBody>
      </p:sp>
      <p:sp>
        <p:nvSpPr>
          <p:cNvPr id="13" name="expec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5074920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078992" y="513892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SHOULD SEE
</a:t>
            </a:r>
            <a:r>
              <a:rPr lang="en-US" sz="11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FILL at 100 @ 150.00 on both terminals and one trade.executed event.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12847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16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531056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029200" y="253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14416" y="2476194"/>
            <a:ext cx="595548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engine on shell 1</a:t>
            </a:r>
            <a:b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session</a:t>
            </a:r>
            <a:b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pm-engine --verbose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binds ports 5555 / 5556</a:t>
            </a:r>
            <a:endParaRPr lang="en-US" sz="1250" dirty="0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381448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29200" y="338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14416" y="3326584"/>
            <a:ext cx="59554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two ALF-consoles as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TRADER01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(buyer) and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TRADER02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(seller)</a:t>
            </a:r>
            <a:b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</a:t>
            </a:r>
            <a:r>
              <a:rPr lang="en-US" sz="1250" dirty="0" err="1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-console –-id TRADER01</a:t>
            </a:r>
            <a:b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</a:t>
            </a:r>
            <a:r>
              <a:rPr lang="en-US" sz="1250" dirty="0" err="1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-console -–id TRADER02</a:t>
            </a:r>
            <a:b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endParaRPr lang="en-US" sz="12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23184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029200" y="423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14416" y="4176976"/>
            <a:ext cx="59554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sells to a MM with a LIMIT order: </a:t>
            </a:r>
            <a:b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[TRADER02]&gt;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NEW|SIDE=SELL|SYM=AAPL|TYPE=LIMIT|QTY=100|PRICE=150.00</a:t>
            </a:r>
            <a:endParaRPr lang="en-US" sz="1250" dirty="0"/>
          </a:p>
        </p:txBody>
      </p:sp>
      <p:sp>
        <p:nvSpPr>
          <p:cNvPr id="2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5491882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029200" y="549188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cs typeface="Segoe UI" pitchFamily="34" charset="-120"/>
              </a:rPr>
              <a:t>5</a:t>
            </a:r>
          </a:p>
        </p:txBody>
      </p:sp>
      <p:sp>
        <p:nvSpPr>
          <p:cNvPr id="27" name="Text 25"/>
          <p:cNvSpPr/>
          <p:nvPr/>
        </p:nvSpPr>
        <p:spPr>
          <a:xfrm>
            <a:off x="5614416" y="5626298"/>
            <a:ext cx="59554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buys from MM with LIMIT order:  </a:t>
            </a:r>
            <a:b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[TRADER01]&gt;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NEW|SIDE=BUY|SYM=AAPL|TYPE=LIMIT|QTY=100|PRICE=250.00</a:t>
            </a:r>
            <a:endParaRPr lang="en-US" sz="1250" dirty="0"/>
          </a:p>
        </p:txBody>
      </p:sp>
      <p:sp>
        <p:nvSpPr>
          <p:cNvPr id="28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6174025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5029200" y="61886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89727" y="6256323"/>
            <a:ext cx="59554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out loud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what the engine did vs. what each participant did. What price did TRADER01 pay for the order? (Why?)</a:t>
            </a:r>
            <a:endParaRPr lang="en-US" sz="1250" dirty="0"/>
          </a:p>
        </p:txBody>
      </p:sp>
      <p:sp>
        <p:nvSpPr>
          <p:cNvPr id="31" name="badge ring">
            <a:extLst>
              <a:ext uri="{FF2B5EF4-FFF2-40B4-BE49-F238E27FC236}">
                <a16:creationId xmlns:a16="http://schemas.microsoft.com/office/drawing/2014/main" id="{B8ED8F77-1C0A-1966-1AA1-9C4DAC0F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732786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E37FB7CF-A0B7-5E40-57DB-F4A9907F97DC}"/>
              </a:ext>
            </a:extLst>
          </p:cNvPr>
          <p:cNvSpPr/>
          <p:nvPr/>
        </p:nvSpPr>
        <p:spPr>
          <a:xfrm>
            <a:off x="5614415" y="1719075"/>
            <a:ext cx="595548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Three </a:t>
            </a:r>
            <a:r>
              <a:rPr lang="en-US" sz="125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Multipass</a:t>
            </a: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Shell</a:t>
            </a:r>
            <a:b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pmultipass shell edumatcher-&lt;version&gt;</a:t>
            </a:r>
            <a:endParaRPr lang="en-US" sz="1250" dirty="0"/>
          </a:p>
        </p:txBody>
      </p:sp>
      <p:sp>
        <p:nvSpPr>
          <p:cNvPr id="33" name="badge ring">
            <a:extLst>
              <a:ext uri="{FF2B5EF4-FFF2-40B4-BE49-F238E27FC236}">
                <a16:creationId xmlns:a16="http://schemas.microsoft.com/office/drawing/2014/main" id="{34FC588A-7287-9814-B815-B32026CB7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851802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CD9EBC0F-7DA7-8A7C-FB0E-94FA4BBA31FE}"/>
              </a:ext>
            </a:extLst>
          </p:cNvPr>
          <p:cNvSpPr/>
          <p:nvPr/>
        </p:nvSpPr>
        <p:spPr>
          <a:xfrm>
            <a:off x="5029200" y="485180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C71B3647-9DE5-333D-4F07-212477699615}"/>
              </a:ext>
            </a:extLst>
          </p:cNvPr>
          <p:cNvSpPr/>
          <p:nvPr/>
        </p:nvSpPr>
        <p:spPr>
          <a:xfrm>
            <a:off x="5639105" y="4872836"/>
            <a:ext cx="595548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3000"/>
              </a:lnSpc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rests a LIMIT order: </a:t>
            </a:r>
            <a:b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[TRADER02]&gt;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NEW|SIDE=SELL|SYM=AAPL|TYPE=LIMIT|QTY=100|PRICE=250.00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order book &amp; price-time priority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book is a sorted list of resting bids and asks. The rule: better prices go first; among equal prices, the earlier order goes first.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ASKS  (sellers)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85232" y="2231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</a:t>
            </a:r>
            <a:endParaRPr lang="en-US" sz="1000" dirty="0"/>
          </a:p>
        </p:txBody>
      </p:sp>
      <p:sp>
        <p:nvSpPr>
          <p:cNvPr id="11" name="ask row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542032"/>
            <a:ext cx="5852160" cy="38404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ask dep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3088" y="2542032"/>
            <a:ext cx="2340864" cy="384048"/>
          </a:xfrm>
          <a:prstGeom prst="rect">
            <a:avLst/>
          </a:prstGeom>
          <a:solidFill>
            <a:srgbClr val="F43F5E">
              <a:alpha val="2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804672" y="2542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150.50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5232" y="25420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200" dirty="0"/>
          </a:p>
        </p:txBody>
      </p:sp>
      <p:sp>
        <p:nvSpPr>
          <p:cNvPr id="15" name="ask row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999232"/>
            <a:ext cx="5852160" cy="38404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ask dep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2999232"/>
            <a:ext cx="1755648" cy="384048"/>
          </a:xfrm>
          <a:prstGeom prst="rect">
            <a:avLst/>
          </a:prstGeom>
          <a:solidFill>
            <a:srgbClr val="F43F5E">
              <a:alpha val="2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804672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150.25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5232" y="2999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200" dirty="0"/>
          </a:p>
        </p:txBody>
      </p:sp>
      <p:sp>
        <p:nvSpPr>
          <p:cNvPr id="19" name="ask row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456432"/>
            <a:ext cx="5852160" cy="38404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ask dep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2224" y="3456432"/>
            <a:ext cx="4681728" cy="384048"/>
          </a:xfrm>
          <a:prstGeom prst="rect">
            <a:avLst/>
          </a:prstGeom>
          <a:solidFill>
            <a:srgbClr val="F43F5E">
              <a:alpha val="2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804672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34564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200" dirty="0"/>
          </a:p>
        </p:txBody>
      </p:sp>
      <p:sp>
        <p:nvSpPr>
          <p:cNvPr id="23" name="spr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913632"/>
            <a:ext cx="5852160" cy="365760"/>
          </a:xfrm>
          <a:prstGeom prst="rect">
            <a:avLst/>
          </a:prstGeom>
          <a:solidFill>
            <a:srgbClr val="1A294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21792" y="3913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  0.10  ·  best ask 150.10 / best bid 150.00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BIDS  (buyers)</a:t>
            </a:r>
            <a:endParaRPr lang="en-US" sz="1100" dirty="0"/>
          </a:p>
        </p:txBody>
      </p:sp>
      <p:sp>
        <p:nvSpPr>
          <p:cNvPr id="26" name="bid row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663440"/>
            <a:ext cx="5852160" cy="38404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bid dep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663440"/>
            <a:ext cx="3511296" cy="384048"/>
          </a:xfrm>
          <a:prstGeom prst="rect">
            <a:avLst/>
          </a:prstGeom>
          <a:solidFill>
            <a:srgbClr val="22C55E">
              <a:alpha val="2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804672" y="4663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85232" y="4663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200" dirty="0"/>
          </a:p>
        </p:txBody>
      </p:sp>
      <p:sp>
        <p:nvSpPr>
          <p:cNvPr id="30" name="bid row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120640"/>
            <a:ext cx="5852160" cy="38404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bid dep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120640"/>
            <a:ext cx="2926080" cy="384048"/>
          </a:xfrm>
          <a:prstGeom prst="rect">
            <a:avLst/>
          </a:prstGeom>
          <a:solidFill>
            <a:srgbClr val="22C55E">
              <a:alpha val="2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804672" y="5120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149.90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5120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endParaRPr lang="en-US" sz="1200" dirty="0"/>
          </a:p>
        </p:txBody>
      </p:sp>
      <p:sp>
        <p:nvSpPr>
          <p:cNvPr id="34" name="bid row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577840"/>
            <a:ext cx="5852160" cy="38404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bid dept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577840"/>
            <a:ext cx="5852160" cy="384048"/>
          </a:xfrm>
          <a:prstGeom prst="rect">
            <a:avLst/>
          </a:prstGeom>
          <a:solidFill>
            <a:srgbClr val="22C55E">
              <a:alpha val="2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804672" y="5577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149.75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85232" y="5577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200" dirty="0"/>
          </a:p>
        </p:txBody>
      </p:sp>
      <p:sp>
        <p:nvSpPr>
          <p:cNvPr id="3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2148840"/>
            <a:ext cx="4800600" cy="1234440"/>
          </a:xfrm>
          <a:prstGeom prst="roundRect">
            <a:avLst>
              <a:gd name="adj" fmla="val 666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4304" y="2368296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7004304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552944" y="23682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bid &amp; best ask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22592" y="2898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Highest buy price and lowest sell price sit at the top of the book — the touch.</a:t>
            </a:r>
            <a:endParaRPr lang="en-US" sz="1150" dirty="0"/>
          </a:p>
        </p:txBody>
      </p:sp>
      <p:sp>
        <p:nvSpPr>
          <p:cNvPr id="4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3520440"/>
            <a:ext cx="4800600" cy="1234440"/>
          </a:xfrm>
          <a:prstGeom prst="roundRect">
            <a:avLst>
              <a:gd name="adj" fmla="val 666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4304" y="3739896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7004304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552944" y="37398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breaks ties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022592" y="42702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orders at the same price? The one that arrived first is filled first.</a:t>
            </a:r>
            <a:endParaRPr lang="en-US" sz="1150" dirty="0"/>
          </a:p>
        </p:txBody>
      </p:sp>
      <p:sp>
        <p:nvSpPr>
          <p:cNvPr id="4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4892040"/>
            <a:ext cx="4800600" cy="1234440"/>
          </a:xfrm>
          <a:prstGeom prst="roundRect">
            <a:avLst>
              <a:gd name="adj" fmla="val 666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4304" y="5111496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7004304" y="5111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552944" y="51114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or cross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22592" y="56418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 new order's price meets the other side it crosses now; otherwise it rests.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fill happens — a worked cross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965960"/>
            <a:ext cx="2688336" cy="2011680"/>
          </a:xfrm>
          <a:prstGeom prst="roundRect">
            <a:avLst>
              <a:gd name="adj" fmla="val 409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203704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9536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2752344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GW02 rests a sell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7824" y="3136392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100 @ 150.00 has no buyer yet, so it rests as the best ask.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965960"/>
            <a:ext cx="2688336" cy="2011680"/>
          </a:xfrm>
          <a:prstGeom prst="roundRect">
            <a:avLst>
              <a:gd name="adj" fmla="val 409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5888" y="2203704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3675888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75888" y="2752344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GW01 sends a buy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94176" y="3136392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100 @ 150.00 — the bid price now meets the ask price.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1965960"/>
            <a:ext cx="2688336" cy="2011680"/>
          </a:xfrm>
          <a:prstGeom prst="roundRect">
            <a:avLst>
              <a:gd name="adj" fmla="val 409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203704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492240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2752344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crosses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3136392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≥ ask, so the two orders match instantly at 150.00.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9711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1965960"/>
            <a:ext cx="2688336" cy="2011680"/>
          </a:xfrm>
          <a:prstGeom prst="roundRect">
            <a:avLst>
              <a:gd name="adj" fmla="val 409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8592" y="2203704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9308592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08592" y="2752344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fan 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326880" y="3136392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order.fill to each side + one global trade.executed on the bus.</a:t>
            </a:r>
            <a:endParaRPr lang="en-US" sz="11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34340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0C1122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877824" y="4489704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GW02&gt; </a:t>
            </a: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NEW|SYM=AAPL|SIDE=SELL|TYPE=LIMIT|QTY=100|PRICE=150.00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[09:30:00.10] </a:t>
            </a: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  </a:t>
            </a:r>
            <a:r>
              <a:rPr lang="en-US" sz="1200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resting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GW01&gt; </a:t>
            </a: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NEW|SYM=AAPL|SIDE=BUY|TYPE=LIMIT|QTY=100|PRICE=150.00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[09:30:01.42] </a:t>
            </a: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 </a:t>
            </a: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@ 150.00  [FILLED]   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trade.executed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as a participant: the ALF command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914400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— “Almost FIX”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45059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pipe-delimited KEY=VALUE text format, inspired by FIX but stripped of its session layer, checksums and sequence numbers — readable enough to type by hand.</a:t>
            </a:r>
            <a:endParaRPr lang="en-US" sz="1250" dirty="0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2688" y="357530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1170432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message type</a:t>
            </a:r>
            <a:endParaRPr lang="en-US" sz="1200" dirty="0"/>
          </a:p>
        </p:txBody>
      </p:sp>
      <p:sp>
        <p:nvSpPr>
          <p:cNvPr id="1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2688" y="3995928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170432" y="38953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SYM=AAPL</a:t>
            </a:r>
            <a:r>
              <a:rPr lang="en-US" sz="120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instrument</a:t>
            </a:r>
            <a:endParaRPr lang="en-US" sz="1200" dirty="0"/>
          </a:p>
        </p:txBody>
      </p:sp>
      <p:sp>
        <p:nvSpPr>
          <p:cNvPr id="1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2688" y="441655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1170432" y="4315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SIDE=BUY</a:t>
            </a:r>
            <a:r>
              <a:rPr lang="en-US" sz="120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direction</a:t>
            </a:r>
            <a:endParaRPr lang="en-US" sz="1200" dirty="0"/>
          </a:p>
        </p:txBody>
      </p:sp>
      <p:sp>
        <p:nvSpPr>
          <p:cNvPr id="1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2688" y="4837176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1170432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TYPE=LIMIT</a:t>
            </a:r>
            <a:r>
              <a:rPr lang="en-US" sz="120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order type</a:t>
            </a:r>
            <a:endParaRPr lang="en-US" sz="1200" dirty="0"/>
          </a:p>
        </p:txBody>
      </p:sp>
      <p:sp>
        <p:nvSpPr>
          <p:cNvPr id="19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2688" y="5257800"/>
            <a:ext cx="109728" cy="109728"/>
          </a:xfrm>
          <a:prstGeom prst="ellipse">
            <a:avLst/>
          </a:prstGeom>
          <a:solidFill>
            <a:srgbClr val="E7ECF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1170432" y="5157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QTY=100</a:t>
            </a:r>
            <a:r>
              <a:rPr lang="en-US" sz="120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size</a:t>
            </a:r>
            <a:endParaRPr lang="en-US" sz="1200" dirty="0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2688" y="5678424"/>
            <a:ext cx="109728" cy="109728"/>
          </a:xfrm>
          <a:prstGeom prst="ellipse">
            <a:avLst/>
          </a:prstGeom>
          <a:solidFill>
            <a:srgbClr val="E7ECF6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1170432" y="5577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PRICE=150.00</a:t>
            </a:r>
            <a:r>
              <a:rPr lang="en-US" sz="120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limit price</a:t>
            </a:r>
            <a:endParaRPr lang="en-US" sz="12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8288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355080" y="20299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is everything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23957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gateway --id is the only account the engine knows. Every order from GW01 is one book of orders and one P&amp;L.</a:t>
            </a:r>
            <a:endParaRPr lang="en-US" sz="1200" dirty="0"/>
          </a:p>
        </p:txBody>
      </p:sp>
      <p:sp>
        <p:nvSpPr>
          <p:cNvPr id="26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32004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355080" y="319582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</a:t>
            </a:r>
            <a:endParaRPr lang="en-US" sz="1100" dirty="0"/>
          </a:p>
        </p:txBody>
      </p:sp>
      <p:sp>
        <p:nvSpPr>
          <p:cNvPr id="28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0376" y="3200400"/>
            <a:ext cx="1664208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0376" y="319582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MARKET_MAKER</a:t>
            </a:r>
            <a:endParaRPr lang="en-US" sz="1100" dirty="0"/>
          </a:p>
        </p:txBody>
      </p:sp>
      <p:sp>
        <p:nvSpPr>
          <p:cNvPr id="30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09176" y="32004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9409176" y="31958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1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402336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0C1122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336792" y="4169664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TRADER01&gt; </a:t>
            </a:r>
            <a:r>
              <a:rPr lang="en-US" sz="11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NEW|SYM=AAPL|SIDE=BUY|TYPE=LIMIT|QTY=100|PRICE=150.00</a:t>
            </a:r>
            <a:endParaRPr lang="en-US" sz="11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[09:30:00.10] </a:t>
            </a: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 </a:t>
            </a:r>
            <a:r>
              <a:rPr lang="en-US" sz="1100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7c4a91e2  order accepted</a:t>
            </a:r>
            <a:endParaRPr lang="en-US" sz="11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TRADER01&gt; </a:t>
            </a:r>
            <a:r>
              <a:rPr lang="en-US" sz="11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AMEND|ID=7c4a91e2|PRICE=150.10</a:t>
            </a:r>
            <a:endParaRPr lang="en-US" sz="11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[09:30:01.50] </a:t>
            </a: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AMENDED </a:t>
            </a:r>
            <a:r>
              <a:rPr lang="en-US" sz="1100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price=150.10 qty=100</a:t>
            </a:r>
            <a:endParaRPr lang="en-US" sz="11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TRADER01&gt;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LECTURE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session lifecycle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trading session follows the same four beats — from the first handshake to a clean exit. The engine authenticates once, then keeps the slot open for the whole conversation.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514600"/>
            <a:ext cx="2651760" cy="2423160"/>
          </a:xfrm>
          <a:prstGeom prst="roundRect">
            <a:avLst>
              <a:gd name="adj" fmla="val 3396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514600"/>
            <a:ext cx="2651760" cy="8229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2898648"/>
            <a:ext cx="548640" cy="54864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877824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10128" y="3172968"/>
            <a:ext cx="40538" cy="0"/>
          </a:xfrm>
          <a:prstGeom prst="line">
            <a:avLst/>
          </a:prstGeom>
          <a:noFill/>
          <a:ln w="19050">
            <a:solidFill>
              <a:srgbClr val="27354E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877824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77824" y="39593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sends gateway_connect and waits up to 3 seconds for authentication.</a:t>
            </a:r>
            <a:endParaRPr lang="en-US" sz="11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7242" y="2514600"/>
            <a:ext cx="2651760" cy="2423160"/>
          </a:xfrm>
          <a:prstGeom prst="roundRect">
            <a:avLst>
              <a:gd name="adj" fmla="val 3396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7242" y="2514600"/>
            <a:ext cx="2651760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43274" y="2898648"/>
            <a:ext cx="548640" cy="54864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3643274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75578" y="3172968"/>
            <a:ext cx="40538" cy="0"/>
          </a:xfrm>
          <a:prstGeom prst="line">
            <a:avLst/>
          </a:prstGeom>
          <a:noFill/>
          <a:ln w="19050">
            <a:solidFill>
              <a:srgbClr val="27354E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643274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643274" y="39593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checks the id against the allowlist and replies gateway_auth.</a:t>
            </a:r>
            <a:endParaRPr lang="en-US" sz="11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2693" y="2514600"/>
            <a:ext cx="2651760" cy="2423160"/>
          </a:xfrm>
          <a:prstGeom prst="roundRect">
            <a:avLst>
              <a:gd name="adj" fmla="val 3396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52693" y="2514600"/>
            <a:ext cx="2651760" cy="8229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8725" y="2898648"/>
            <a:ext cx="548640" cy="54864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408725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41029" y="3172968"/>
            <a:ext cx="40538" cy="0"/>
          </a:xfrm>
          <a:prstGeom prst="line">
            <a:avLst/>
          </a:prstGeom>
          <a:noFill/>
          <a:ln w="19050">
            <a:solidFill>
              <a:srgbClr val="27354E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408725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08725" y="39593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prompt: send NEW / AMEND / CANCEL, receive ack, fill &amp; cancel events.</a:t>
            </a:r>
            <a:endParaRPr lang="en-US" sz="1150" dirty="0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8143" y="2514600"/>
            <a:ext cx="2651760" cy="2423160"/>
          </a:xfrm>
          <a:prstGeom prst="roundRect">
            <a:avLst>
              <a:gd name="adj" fmla="val 3396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1" name="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8143" y="2514600"/>
            <a:ext cx="2651760" cy="8229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74175" y="2898648"/>
            <a:ext cx="548640" cy="54864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9174175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74175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174175" y="39593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closes the session cleanly; the engine releases the gateway slot.</a:t>
            </a:r>
            <a:endParaRPr lang="en-US" sz="1150" dirty="0"/>
          </a:p>
        </p:txBody>
      </p:sp>
      <p:sp>
        <p:nvSpPr>
          <p:cNvPr id="3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257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91440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outcomes at auth: 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on the allowlist → prompt opens  ·  id unknown → rejected with a reason  ·  no reply → “authentication timed out” (engine down).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·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 in review — foundations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953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exchange matches, it doesn't trade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6304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neutral venue for price discovery; pm-engine owns the book.</a:t>
            </a:r>
            <a:endParaRPr lang="en-US" sz="11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85953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constellation of processes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~12 pm-* processes cooperate — nothing is a monolith.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85953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sockets, two patterns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5555 in, 5556 out, 5557 drop-copy; PUSH/PULL + PUB/SUB.</a:t>
            </a:r>
            <a:endParaRPr lang="en-US" sz="11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52881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Price-time priority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price first; equal price, earlier order first.</a:t>
            </a:r>
            <a:endParaRPr lang="en-US" sz="11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52881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cross makes a fill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3232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Bid meets ask → match → fills + trade.executed.</a:t>
            </a:r>
            <a:endParaRPr lang="en-US" sz="110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52881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over a gateway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3232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KEY=VALUE orders; your --id is your account.</a:t>
            </a:r>
            <a:endParaRPr lang="en-US" sz="1100" dirty="0"/>
          </a:p>
        </p:txBody>
      </p:sp>
      <p:sp>
        <p:nvSpPr>
          <p:cNvPr id="38" name="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806440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2DD4BF">
              <a:alpha val="14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896112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   </a:t>
            </a:r>
            <a:r>
              <a:rPr lang="en-US" sz="125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exchange is a message bus with a matching engine at its heart — everything else plugs into it.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y Two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>
              <a:alpha val="7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A0F1E">
              <a:alpha val="84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2"/>
          <p:cNvSpPr/>
          <p:nvPr/>
        </p:nvSpPr>
        <p:spPr>
          <a:xfrm>
            <a:off x="841248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22529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200" dirty="0"/>
          </a:p>
        </p:txBody>
      </p:sp>
      <p:sp>
        <p:nvSpPr>
          <p:cNvPr id="7" name="Text 4"/>
          <p:cNvSpPr/>
          <p:nvPr/>
        </p:nvSpPr>
        <p:spPr>
          <a:xfrm>
            <a:off x="841248" y="25054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TWO</a:t>
            </a:r>
            <a:endParaRPr lang="en-US" sz="13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Language of Orders</a:t>
            </a:r>
            <a:endParaRPr lang="en-US" sz="4000" dirty="0"/>
          </a:p>
        </p:txBody>
      </p:sp>
      <p:sp>
        <p:nvSpPr>
          <p:cNvPr id="9" name="objectiv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06240"/>
            <a:ext cx="6766560" cy="2450592"/>
          </a:xfrm>
          <a:prstGeom prst="roundRect">
            <a:avLst>
              <a:gd name="adj" fmla="val 2239"/>
            </a:avLst>
          </a:prstGeom>
          <a:solidFill>
            <a:srgbClr val="0C1122">
              <a:alpha val="8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7"/>
          <p:cNvSpPr/>
          <p:nvPr/>
        </p:nvSpPr>
        <p:spPr>
          <a:xfrm>
            <a:off x="1161288" y="44074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END OF TODAY YOU WILL BE ABLE TO</a:t>
            </a:r>
            <a:endParaRPr lang="en-US" sz="1100" dirty="0"/>
          </a:p>
        </p:txBody>
      </p:sp>
      <p:sp>
        <p:nvSpPr>
          <p:cNvPr id="11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484174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1435608" y="47274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between MARKET and LIMIT and predict how each rests or fills</a:t>
            </a:r>
            <a:endParaRPr lang="en-US" sz="1200" dirty="0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29894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1"/>
          <p:cNvSpPr/>
          <p:nvPr/>
        </p:nvSpPr>
        <p:spPr>
          <a:xfrm>
            <a:off x="1435608" y="51846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STOP and STOP_LIMIT orders and trace their trigger logic</a:t>
            </a:r>
            <a:endParaRPr lang="en-US" sz="12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75614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3"/>
          <p:cNvSpPr/>
          <p:nvPr/>
        </p:nvSpPr>
        <p:spPr>
          <a:xfrm>
            <a:off x="1435608" y="5641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ICEBERG, FOK, IOC and TRAILING_STOP with the right Time-in-Force</a:t>
            </a:r>
            <a:endParaRPr lang="en-US" sz="1200" dirty="0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621334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5"/>
          <p:cNvSpPr/>
          <p:nvPr/>
        </p:nvSpPr>
        <p:spPr>
          <a:xfrm>
            <a:off x="1435608" y="6099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orders with AMEND, and build OCO brackets &amp; multi-leg combos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LECTURE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order lifecycle &amp; the two foundations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6002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order walks the same path</a:t>
            </a:r>
            <a:endParaRPr lang="en-US" sz="1500" dirty="0"/>
          </a:p>
        </p:txBody>
      </p:sp>
      <p:sp>
        <p:nvSpPr>
          <p:cNvPr id="9" name="st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103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942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621792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23744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st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53512" y="2103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942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953512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5464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15" name="st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232" y="2103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A2942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5285232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…or ends early as  CANCELLED  ·  EXPIRED  ·  REJECTED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063240"/>
            <a:ext cx="5532120" cy="3017520"/>
          </a:xfrm>
          <a:prstGeom prst="roundRect">
            <a:avLst>
              <a:gd name="adj" fmla="val 272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32918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896112" y="32872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13432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now, price uncertain</a:t>
            </a:r>
            <a:endParaRPr lang="en-US" sz="1200" dirty="0"/>
          </a:p>
        </p:txBody>
      </p:sp>
      <p:sp>
        <p:nvSpPr>
          <p:cNvPr id="2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863340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1188720" y="37490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Sweeps the book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best price outward until filled.</a:t>
            </a:r>
            <a:endParaRPr lang="en-US" sz="1250" dirty="0"/>
          </a:p>
        </p:txBody>
      </p:sp>
      <p:sp>
        <p:nvSpPr>
          <p:cNvPr id="24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430268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1188720" y="43159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rests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any unfilled remainder is discarded.</a:t>
            </a:r>
            <a:endParaRPr lang="en-US" sz="1250" dirty="0"/>
          </a:p>
        </p:txBody>
      </p:sp>
      <p:sp>
        <p:nvSpPr>
          <p:cNvPr id="2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997196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 books → slippage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pay through several price levels.</a:t>
            </a:r>
            <a:endParaRPr lang="en-US" sz="12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3063240"/>
            <a:ext cx="5532120" cy="3017520"/>
          </a:xfrm>
          <a:prstGeom prst="roundRect">
            <a:avLst>
              <a:gd name="adj" fmla="val 272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29184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309360" y="32872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3273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guaranteed, fill uncertain</a:t>
            </a:r>
            <a:endParaRPr lang="en-US" sz="1200" dirty="0"/>
          </a:p>
        </p:txBody>
      </p:sp>
      <p:sp>
        <p:nvSpPr>
          <p:cNvPr id="3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3863340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601968" y="37490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or better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buy at ≤ your price, sell at ≥ your price.</a:t>
            </a:r>
            <a:endParaRPr lang="en-US" sz="1250" dirty="0"/>
          </a:p>
        </p:txBody>
      </p:sp>
      <p:sp>
        <p:nvSpPr>
          <p:cNvPr id="34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443026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601968" y="43159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Rests if unmatched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becomes visible passive liquidity.</a:t>
            </a:r>
            <a:endParaRPr lang="en-US" sz="1250" dirty="0"/>
          </a:p>
        </p:txBody>
      </p:sp>
      <p:sp>
        <p:nvSpPr>
          <p:cNvPr id="3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7648" y="4997196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6601968" y="48828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the book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bid/ask ladder everyone prices against.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LECTURE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Slippage: the cost of demanding immediacy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MARKET BUY for 100 shares sweeps the ask ladder. When the top level is thin, later shares fill higher — the average price drifts away from the touch.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LADDER — swept bottom-up</a:t>
            </a:r>
            <a:endParaRPr lang="en-US" sz="110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377440"/>
            <a:ext cx="5577840" cy="566928"/>
          </a:xfrm>
          <a:prstGeom prst="roundRect">
            <a:avLst>
              <a:gd name="adj" fmla="val 14516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50392" y="2377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150.00</a:t>
            </a:r>
            <a:endParaRPr lang="en-US" sz="1500" dirty="0"/>
          </a:p>
        </p:txBody>
      </p:sp>
      <p:sp>
        <p:nvSpPr>
          <p:cNvPr id="12" name="fil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2032" y="2523744"/>
            <a:ext cx="2743200" cy="274320"/>
          </a:xfrm>
          <a:prstGeom prst="rect">
            <a:avLst/>
          </a:prstGeom>
          <a:solidFill>
            <a:srgbClr val="22C55E">
              <a:alpha val="45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4553712" y="2377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filled</a:t>
            </a:r>
            <a:endParaRPr lang="en-US" sz="120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035808"/>
            <a:ext cx="5577840" cy="566928"/>
          </a:xfrm>
          <a:prstGeom prst="roundRect">
            <a:avLst>
              <a:gd name="adj" fmla="val 14516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850392" y="30358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150.10</a:t>
            </a:r>
            <a:endParaRPr lang="en-US" sz="1500" dirty="0"/>
          </a:p>
        </p:txBody>
      </p:sp>
      <p:sp>
        <p:nvSpPr>
          <p:cNvPr id="16" name="fil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2032" y="3182112"/>
            <a:ext cx="2057400" cy="274320"/>
          </a:xfrm>
          <a:prstGeom prst="rect">
            <a:avLst/>
          </a:prstGeom>
          <a:solidFill>
            <a:srgbClr val="22C55E">
              <a:alpha val="45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553712" y="30358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filled</a:t>
            </a:r>
            <a:endParaRPr lang="en-US" sz="12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694176"/>
            <a:ext cx="5577840" cy="566928"/>
          </a:xfrm>
          <a:prstGeom prst="roundRect">
            <a:avLst>
              <a:gd name="adj" fmla="val 14516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850392" y="36941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150.25</a:t>
            </a:r>
            <a:endParaRPr lang="en-US" sz="1500" dirty="0"/>
          </a:p>
        </p:txBody>
      </p:sp>
      <p:sp>
        <p:nvSpPr>
          <p:cNvPr id="20" name="fil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2032" y="3840480"/>
            <a:ext cx="2057400" cy="274320"/>
          </a:xfrm>
          <a:prstGeom prst="rect">
            <a:avLst/>
          </a:prstGeom>
          <a:solidFill>
            <a:srgbClr val="FBBF24">
              <a:alpha val="45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4553712" y="36941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filled</a:t>
            </a:r>
            <a:endParaRPr lang="en-US" sz="12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2377440"/>
            <a:ext cx="2377440" cy="1417320"/>
          </a:xfrm>
          <a:prstGeom prst="roundRect">
            <a:avLst>
              <a:gd name="adj" fmla="val 5806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839712" y="25237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150.00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58000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price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4564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touch you saw</a:t>
            </a:r>
            <a:endParaRPr lang="en-US" sz="950" dirty="0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89720" y="2377440"/>
            <a:ext cx="2377440" cy="1417320"/>
          </a:xfrm>
          <a:prstGeom prst="roundRect">
            <a:avLst>
              <a:gd name="adj" fmla="val 5806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9445752" y="25237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150.04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464040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fill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64040" y="34564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three levels</a:t>
            </a:r>
            <a:endParaRPr lang="en-US" sz="950" dirty="0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3977640"/>
            <a:ext cx="4983480" cy="2103120"/>
          </a:xfrm>
          <a:prstGeom prst="roundRect">
            <a:avLst>
              <a:gd name="adj" fmla="val 3913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858000" y="4160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3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4640580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713232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buys certainty of execution — and pays for it in price.</a:t>
            </a:r>
            <a:endParaRPr lang="en-US" sz="1200" dirty="0"/>
          </a:p>
        </p:txBody>
      </p:sp>
      <p:sp>
        <p:nvSpPr>
          <p:cNvPr id="34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5097780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7132320" y="4983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 your price but may leave you unfilled.</a:t>
            </a:r>
            <a:endParaRPr lang="en-US" sz="1200" dirty="0"/>
          </a:p>
        </p:txBody>
      </p:sp>
      <p:sp>
        <p:nvSpPr>
          <p:cNvPr id="3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0" y="5554980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7132320" y="5440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of thumb: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thinner the book, the more MARKET costs.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LECTURE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Stops: dormant orders that wake on a trade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 watch the last executed trade price. When it reaches the stop, the order wakes up, converts, gets a fresh timestamp and re-enters matching.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77824" y="2450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logic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STOP  </a:t>
            </a:r>
            <a:r>
              <a:rPr lang="en-US" sz="1150" dirty="0">
                <a:solidFill>
                  <a:srgbClr val="9AA7C0"/>
                </a:solidFill>
              </a:rPr>
              <a:t>fires when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C0"/>
                </a:solidFill>
              </a:rPr>
              <a:t>last ≥ stop   (breakout / cover)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7824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STOP  </a:t>
            </a:r>
            <a:r>
              <a:rPr lang="en-US" sz="1150" dirty="0">
                <a:solidFill>
                  <a:srgbClr val="9AA7C0"/>
                </a:solidFill>
              </a:rPr>
              <a:t>fires when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C0"/>
                </a:solidFill>
              </a:rPr>
              <a:t>last ≤ stop   (classic stop-loss)</a:t>
            </a:r>
            <a:endParaRPr lang="en-US" sz="11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4840" y="2286000"/>
            <a:ext cx="3429000" cy="3794760"/>
          </a:xfrm>
          <a:prstGeom prst="roundRect">
            <a:avLst>
              <a:gd name="adj" fmla="val 24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25146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4690872" y="251002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496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MARKET on trigger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90872" y="29718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certainty over price. Once the last trade crosses your stop, it becomes a market order and takes whatever is there — slippage possible.</a:t>
            </a:r>
            <a:endParaRPr lang="en-US" sz="11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0872" y="4114800"/>
            <a:ext cx="3017520" cy="1737360"/>
          </a:xfrm>
          <a:prstGeom prst="roundRect">
            <a:avLst>
              <a:gd name="adj" fmla="val 4737"/>
            </a:avLst>
          </a:prstGeom>
          <a:solidFill>
            <a:srgbClr val="0C1122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946904" y="4261104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STOP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QTY=100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STOP=148.00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149.5 → 147.2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fires → MARKET</a:t>
            </a:r>
            <a:endParaRPr lang="en-US" sz="11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228600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7032" y="25146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8257032" y="25100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STOP_LIMIT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0" y="2496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LIMIT on trigger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57032" y="29718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control over certainty. On trigger it rests as a limit at your PRICE — protecting you, but it may sit unfilled if the market runs past.</a:t>
            </a:r>
            <a:endParaRPr lang="en-US" sz="1150" dirty="0"/>
          </a:p>
        </p:txBody>
      </p:sp>
      <p:sp>
        <p:nvSpPr>
          <p:cNvPr id="2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7032" y="4114800"/>
            <a:ext cx="3108960" cy="1737360"/>
          </a:xfrm>
          <a:prstGeom prst="roundRect">
            <a:avLst>
              <a:gd name="adj" fmla="val 4737"/>
            </a:avLst>
          </a:prstGeom>
          <a:solidFill>
            <a:srgbClr val="0C1122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8513064" y="4261104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STOP_LIMIT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STOP=148.00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PRICE=147.50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triggers, market drops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rests @ 147.50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HANDS-ON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Lab: Stop cascades &amp; order-type bake-off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3977640" cy="4297680"/>
          </a:xfrm>
          <a:prstGeom prst="roundRect">
            <a:avLst>
              <a:gd name="adj" fmla="val 2069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0848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96112" y="20802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goal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2971800"/>
            <a:ext cx="3456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Feel how order types behave differently against the same book — and watch one aggressive print set off a chain of stops.</a:t>
            </a:r>
            <a:endParaRPr lang="en-US" sz="1300" dirty="0"/>
          </a:p>
        </p:txBody>
      </p:sp>
      <p:sp>
        <p:nvSpPr>
          <p:cNvPr id="13" name="expec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5074920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078992" y="513892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SHOULD SEE
</a:t>
            </a:r>
            <a:r>
              <a:rPr lang="en-US" sz="11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cascade of three stop fills, then four visibly different outcomes.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16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19456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14416" y="213969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three SELL STOPs at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149, 148, 147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 one symbol</a:t>
            </a:r>
            <a:endParaRPr lang="en-US" sz="1250" dirty="0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25755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29200" y="32575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14416" y="320268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a trade print down to 147.00 and watch all three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fire in sequence (a cascade).</a:t>
            </a:r>
            <a:endParaRPr lang="en-US" sz="1250" dirty="0"/>
          </a:p>
        </p:txBody>
      </p:sp>
      <p:sp>
        <p:nvSpPr>
          <p:cNvPr id="22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32054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029200" y="4320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14416" y="426567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send the same 100-share aggressive BUY four ways: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· IOC · FOK · MARKET</a:t>
            </a:r>
            <a:endParaRPr lang="en-US" sz="1250" dirty="0"/>
          </a:p>
        </p:txBody>
      </p:sp>
      <p:sp>
        <p:nvSpPr>
          <p:cNvPr id="2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538353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029200" y="53835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14416" y="532866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Tabulate each outcome: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rested vs. filled vs. rejected vs. remainder discarded.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execution orders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965960"/>
            <a:ext cx="2688336" cy="274320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yp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965960"/>
            <a:ext cx="2688336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9536" y="2276856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ICEBERG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2880360"/>
            <a:ext cx="22311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a small VISIBLE peak, hides the rest; refills with a new timestamp so it re-queues.</a:t>
            </a:r>
            <a:endParaRPr lang="en-US" sz="11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965960"/>
            <a:ext cx="2688336" cy="274320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typ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1965960"/>
            <a:ext cx="2688336" cy="8229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675888" y="2276856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94176" y="2880360"/>
            <a:ext cx="22311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Fill-or-Kill: the whole quantity fills immediately or the entire order is cancelled.</a:t>
            </a:r>
            <a:endParaRPr lang="en-US" sz="11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1965960"/>
            <a:ext cx="2688336" cy="274320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typ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1965960"/>
            <a:ext cx="2688336" cy="8229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92240" y="2276856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0528" y="2880360"/>
            <a:ext cx="22311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Immediate-or-Cancel: take what's available now (partials ok), discard the rest.</a:t>
            </a:r>
            <a:endParaRPr lang="en-US" sz="11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1965960"/>
            <a:ext cx="2688336" cy="274320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typ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1965960"/>
            <a:ext cx="2688336" cy="8229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9308592" y="2276856"/>
            <a:ext cx="2276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TRAILING_STOP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0" y="2880360"/>
            <a:ext cx="22311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stop whose trigger ratchets in your favour by a fixed offset — never against you.</a:t>
            </a:r>
            <a:endParaRPr lang="en-US" sz="11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93776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896112" y="5102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TRAILING_STOP in motion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5440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SELL, trail 2.00.  </a:t>
            </a:r>
            <a:r>
              <a:rPr lang="en-US" sz="1250" dirty="0">
                <a:solidFill>
                  <a:srgbClr val="9AA7C0"/>
                </a:solidFill>
              </a:rPr>
              <a:t>Price 100 → stop 98   ·   rallies to 110 → stop ratchets up to 108   ·   pulls back to 102 ≤ 108 → </a:t>
            </a: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TRIGGERED</a:t>
            </a:r>
            <a:r>
              <a:rPr lang="en-US" sz="1250" dirty="0">
                <a:solidFill>
                  <a:srgbClr val="9AA7C0"/>
                </a:solidFill>
              </a:rPr>
              <a:t>.  The floor moved up with the rally but never came back down.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Time-in-Force: how long an order lives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011680"/>
            <a:ext cx="2688336" cy="2286000"/>
          </a:xfrm>
          <a:prstGeom prst="roundRect">
            <a:avLst>
              <a:gd name="adj" fmla="val 36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859536" y="22494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</a:t>
            </a:r>
            <a:endParaRPr lang="en-US" sz="2600" dirty="0"/>
          </a:p>
        </p:txBody>
      </p:sp>
      <p:sp>
        <p:nvSpPr>
          <p:cNvPr id="10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834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59536" y="28300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32918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for this session only; expires at the close. The default.</a:t>
            </a:r>
            <a:endParaRPr lang="en-US" sz="11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2011680"/>
            <a:ext cx="2688336" cy="2286000"/>
          </a:xfrm>
          <a:prstGeom prst="roundRect">
            <a:avLst>
              <a:gd name="adj" fmla="val 36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675888" y="22494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GTC</a:t>
            </a:r>
            <a:endParaRPr lang="en-US" sz="2600" dirty="0"/>
          </a:p>
        </p:txBody>
      </p:sp>
      <p:sp>
        <p:nvSpPr>
          <p:cNvPr id="15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5888" y="2834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3675888" y="28300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94176" y="32918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Good-Till-Cancelled — persisted to disk and reloaded; survives across days.</a:t>
            </a:r>
            <a:endParaRPr lang="en-US" sz="11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2011680"/>
            <a:ext cx="2688336" cy="2286000"/>
          </a:xfrm>
          <a:prstGeom prst="roundRect">
            <a:avLst>
              <a:gd name="adj" fmla="val 36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492240" y="22494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</a:t>
            </a:r>
            <a:endParaRPr lang="en-US" sz="2600" dirty="0"/>
          </a:p>
        </p:txBody>
      </p:sp>
      <p:sp>
        <p:nvSpPr>
          <p:cNvPr id="20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834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492240" y="28300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AUCTION-ONLY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0528" y="32918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At-The-Open — accepted only during the opening auction.</a:t>
            </a:r>
            <a:endParaRPr lang="en-US" sz="11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2011680"/>
            <a:ext cx="2688336" cy="2286000"/>
          </a:xfrm>
          <a:prstGeom prst="roundRect">
            <a:avLst>
              <a:gd name="adj" fmla="val 36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9308592" y="22494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ATC</a:t>
            </a:r>
            <a:endParaRPr lang="en-US" sz="2600" dirty="0"/>
          </a:p>
        </p:txBody>
      </p:sp>
      <p:sp>
        <p:nvSpPr>
          <p:cNvPr id="25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8592" y="2834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9308592" y="28300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AUCTION-ONLY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0" y="32918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At-The-Close — accepted only during the closing auction.</a:t>
            </a:r>
            <a:endParaRPr lang="en-US" sz="11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61772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6233C"/>
          </a:solidFill>
          <a:ln w="12700">
            <a:solidFill>
              <a:srgbClr val="F43F5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war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617720"/>
            <a:ext cx="109728" cy="146304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941832" y="4800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Two classic mistakes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41832" y="5212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TIF=FOK is invalid</a:t>
            </a:r>
            <a:r>
              <a:rPr lang="en-US" sz="1250" dirty="0">
                <a:solidFill>
                  <a:srgbClr val="9AA7C0"/>
                </a:solidFill>
              </a:rPr>
              <a:t> — FOK is an order TYPE, not a time-in-force.        </a:t>
            </a: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 is rejected inside auctions</a:t>
            </a:r>
            <a:r>
              <a:rPr lang="en-US" sz="1250" dirty="0">
                <a:solidFill>
                  <a:srgbClr val="9AA7C0"/>
                </a:solidFill>
              </a:rPr>
              <a:t> — it can't rest, and auctions don't match live.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LECTURE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AMEND: change an order without losing your place — sometimes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Amending a resting order keeps its ID, but whether it keeps its place in the queue depends on what you change.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40280"/>
            <a:ext cx="5349240" cy="3840480"/>
          </a:xfrm>
          <a:prstGeom prst="roundRect">
            <a:avLst>
              <a:gd name="adj" fmla="val 2143"/>
            </a:avLst>
          </a:prstGeom>
          <a:solidFill>
            <a:srgbClr val="121B30"/>
          </a:solidFill>
          <a:ln w="12700">
            <a:solidFill>
              <a:srgbClr val="22C55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96112" y="2468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PRESERVED</a:t>
            </a:r>
            <a:endParaRPr lang="en-US" sz="1200" dirty="0"/>
          </a:p>
        </p:txBody>
      </p:sp>
      <p:sp>
        <p:nvSpPr>
          <p:cNvPr id="11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994660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decrease only.  </a:t>
            </a: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keep your timestamp and stay where you are in line.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when you simply want less size on the book.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4069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remember</a:t>
            </a:r>
            <a:endParaRPr lang="en-US" sz="13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503420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1188720" y="4389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 is the new total,  </a:t>
            </a: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an increment — and must exceed already-filled quantity.</a:t>
            </a:r>
            <a:endParaRPr lang="en-US" sz="1150" dirty="0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052060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118872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LIMIT &amp; ICEBERG  </a:t>
            </a: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amendable; change side or type via cancel + new.</a:t>
            </a:r>
            <a:endParaRPr lang="en-US" sz="11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240280"/>
            <a:ext cx="5394960" cy="3840480"/>
          </a:xfrm>
          <a:prstGeom prst="roundRect">
            <a:avLst>
              <a:gd name="adj" fmla="val 2143"/>
            </a:avLst>
          </a:prstGeom>
          <a:solidFill>
            <a:srgbClr val="121B30"/>
          </a:solidFill>
          <a:ln w="12700">
            <a:solidFill>
              <a:srgbClr val="F43F5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446520" y="2468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LOST</a:t>
            </a:r>
            <a:endParaRPr lang="en-US" sz="1200" dirty="0"/>
          </a:p>
        </p:txBody>
      </p:sp>
      <p:sp>
        <p:nvSpPr>
          <p:cNvPr id="21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4808" y="2994660"/>
            <a:ext cx="109728" cy="10972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739128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price change,  </a:t>
            </a: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any quantity increase, sends you to the back of the queue.</a:t>
            </a:r>
            <a:endParaRPr lang="en-US" sz="13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3611880"/>
            <a:ext cx="4846320" cy="2286000"/>
          </a:xfrm>
          <a:prstGeom prst="roundRect">
            <a:avLst>
              <a:gd name="adj" fmla="val 3600"/>
            </a:avLst>
          </a:prstGeom>
          <a:solidFill>
            <a:srgbClr val="0C1122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702552" y="3758184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LIMIT 100 @ 150.00   </a:t>
            </a:r>
            <a:r>
              <a:rPr lang="en-US" sz="115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abc123)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AMEND|ID=abc123|PRICE=151.00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repriced, </a:t>
            </a:r>
            <a:r>
              <a:rPr lang="en-US" sz="11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of queue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AMEND|ID=abc123|QTY=80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smaller, </a:t>
            </a: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kept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LECTURE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&amp; multi-leg: OCO and COMBO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5532120" cy="4251960"/>
          </a:xfrm>
          <a:prstGeom prst="roundRect">
            <a:avLst>
              <a:gd name="adj" fmla="val 1935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06654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96112" y="20619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93392" y="2048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One-Cancels-Other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5420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linked orders; when one reaches a terminal state, the engine cancels its sibling. The classic bracket around a position.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100 AAPL @ 150</a:t>
            </a:r>
            <a:endParaRPr lang="en-US" sz="11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356616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0C112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1033272" y="36393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TAKE-PROFIT
</a:t>
            </a: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LIMIT @ 160</a:t>
            </a:r>
            <a:endParaRPr lang="en-US" sz="9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02152" y="356616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0C1122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639312" y="36393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STOP-LOSS
</a:t>
            </a: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STOP @ 140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Rally to 162 → the limit fills, the stop auto-cancels. You can never be filled on both.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partial fill does NOT cancel the sibling — only a terminal state does.</a:t>
            </a:r>
            <a:endParaRPr lang="en-US" sz="11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82880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206654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446520" y="20619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0" y="2048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Multi-leg, all-or-none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25420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2–10 legs across symbols as one unit. It only completes when every leg fully fills — solving “leg risk.”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trade — profit from the spread, not direction</a:t>
            </a:r>
            <a:endParaRPr lang="en-US" sz="1150" dirty="0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3584448"/>
            <a:ext cx="4892040" cy="475488"/>
          </a:xfrm>
          <a:prstGeom prst="roundRect">
            <a:avLst>
              <a:gd name="adj" fmla="val 17308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583680" y="358444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 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35844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100 MSFT @ 415</a:t>
            </a:r>
            <a:endParaRPr lang="en-US" sz="1200" dirty="0"/>
          </a:p>
        </p:txBody>
      </p:sp>
      <p:sp>
        <p:nvSpPr>
          <p:cNvPr id="2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4151376"/>
            <a:ext cx="4892040" cy="475488"/>
          </a:xfrm>
          <a:prstGeom prst="roundRect">
            <a:avLst>
              <a:gd name="adj" fmla="val 17308"/>
            </a:avLst>
          </a:prstGeom>
          <a:solidFill>
            <a:srgbClr val="0C112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583680" y="41513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 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0" y="41513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100 AAPL @ 212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8920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Cascade-cancel: if one leg is pulled, remaining unfilled legs cancel — but executed fills are never unwound.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 ·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 in review — order types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953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vs LIMIT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6304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Certainty of fill vs. certainty of price — the core trade-off.</a:t>
            </a:r>
            <a:endParaRPr lang="en-US" sz="11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85953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 wake on the last trade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to market or limit, then re-enter with a new timestamp.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85953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FOK vs IOC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All-or-nothing vs. take-what's-there; both never rest.</a:t>
            </a:r>
            <a:endParaRPr lang="en-US" sz="11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52881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ICEBERG hides size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peak shows; refills go to the back of the queue.</a:t>
            </a:r>
            <a:endParaRPr lang="en-US" sz="11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52881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AMEND &amp; priority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3232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 quantity decrease keeps your place in line.</a:t>
            </a:r>
            <a:endParaRPr lang="en-US" sz="110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52881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OCO &amp; COMBO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3232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Brackets that self-cancel; multi-leg strategies as one unit.</a:t>
            </a:r>
            <a:endParaRPr lang="en-US" sz="1100" dirty="0"/>
          </a:p>
        </p:txBody>
      </p:sp>
      <p:sp>
        <p:nvSpPr>
          <p:cNvPr id="38" name="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806440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38BDF8">
              <a:alpha val="14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896112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   </a:t>
            </a:r>
            <a:r>
              <a:rPr lang="en-US" sz="125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types are a vocabulary for expressing intent — speed, discretion, protection or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y Three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>
              <a:alpha val="7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A0F1E">
              <a:alpha val="84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2"/>
          <p:cNvSpPr/>
          <p:nvPr/>
        </p:nvSpPr>
        <p:spPr>
          <a:xfrm>
            <a:off x="841248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22529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200" dirty="0"/>
          </a:p>
        </p:txBody>
      </p:sp>
      <p:sp>
        <p:nvSpPr>
          <p:cNvPr id="7" name="Text 4"/>
          <p:cNvSpPr/>
          <p:nvPr/>
        </p:nvSpPr>
        <p:spPr>
          <a:xfrm>
            <a:off x="841248" y="25054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THREE</a:t>
            </a:r>
            <a:endParaRPr lang="en-US" sz="13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Sessions, Auctions &amp; Liquidity</a:t>
            </a:r>
            <a:endParaRPr lang="en-US" sz="4000" dirty="0"/>
          </a:p>
        </p:txBody>
      </p:sp>
      <p:sp>
        <p:nvSpPr>
          <p:cNvPr id="9" name="objectiv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06240"/>
            <a:ext cx="6766560" cy="2450592"/>
          </a:xfrm>
          <a:prstGeom prst="roundRect">
            <a:avLst>
              <a:gd name="adj" fmla="val 2239"/>
            </a:avLst>
          </a:prstGeom>
          <a:solidFill>
            <a:srgbClr val="0C1122">
              <a:alpha val="8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7"/>
          <p:cNvSpPr/>
          <p:nvPr/>
        </p:nvSpPr>
        <p:spPr>
          <a:xfrm>
            <a:off x="1161288" y="44074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END OF TODAY YOU WILL BE ABLE TO</a:t>
            </a:r>
            <a:endParaRPr lang="en-US" sz="1100" dirty="0"/>
          </a:p>
        </p:txBody>
      </p:sp>
      <p:sp>
        <p:nvSpPr>
          <p:cNvPr id="11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4841748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1435608" y="47274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the five phases of the trading day and what each allows</a:t>
            </a:r>
            <a:endParaRPr lang="en-US" sz="1200" dirty="0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298948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1"/>
          <p:cNvSpPr/>
          <p:nvPr/>
        </p:nvSpPr>
        <p:spPr>
          <a:xfrm>
            <a:off x="1435608" y="51846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why auctions exist and compute an equilibrium price</a:t>
            </a:r>
            <a:endParaRPr lang="en-US" sz="12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756148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3"/>
          <p:cNvSpPr/>
          <p:nvPr/>
        </p:nvSpPr>
        <p:spPr>
          <a:xfrm>
            <a:off x="1435608" y="5641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a two-sided quote and describe market-maker obligations</a:t>
            </a:r>
            <a:endParaRPr lang="en-US" sz="1200" dirty="0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6213348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5"/>
          <p:cNvSpPr/>
          <p:nvPr/>
        </p:nvSpPr>
        <p:spPr>
          <a:xfrm>
            <a:off x="1435608" y="6099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bots and AI traders to fill a classroom book with liquidity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LECTURE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trading day has five phases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trading day is not one continuous period. pm-scheduler moves the engine through phases at set times — and only one of them actually matches orders.</a:t>
            </a:r>
            <a:endParaRPr lang="en-US" sz="1350" dirty="0"/>
          </a:p>
        </p:txBody>
      </p:sp>
      <p:sp>
        <p:nvSpPr>
          <p:cNvPr id="9" name="phas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88003" y="2926080"/>
            <a:ext cx="457200" cy="45720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6E7D9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Shape 8"/>
          <p:cNvSpPr/>
          <p:nvPr/>
        </p:nvSpPr>
        <p:spPr>
          <a:xfrm>
            <a:off x="1990923" y="3154680"/>
            <a:ext cx="1640982" cy="0"/>
          </a:xfrm>
          <a:prstGeom prst="line">
            <a:avLst/>
          </a:prstGeom>
          <a:noFill/>
          <a:ln w="1905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21792" y="2286000"/>
            <a:ext cx="218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611880"/>
            <a:ext cx="2189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PRE_OPEN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" y="3941064"/>
            <a:ext cx="20981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rest, nothing matches</a:t>
            </a:r>
            <a:endParaRPr lang="en-US" sz="1050" dirty="0"/>
          </a:p>
        </p:txBody>
      </p:sp>
      <p:sp>
        <p:nvSpPr>
          <p:cNvPr id="14" name="phas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7625" y="2926080"/>
            <a:ext cx="457200" cy="45720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Shape 13"/>
          <p:cNvSpPr/>
          <p:nvPr/>
        </p:nvSpPr>
        <p:spPr>
          <a:xfrm>
            <a:off x="4180545" y="3154680"/>
            <a:ext cx="1640982" cy="0"/>
          </a:xfrm>
          <a:prstGeom prst="line">
            <a:avLst/>
          </a:prstGeom>
          <a:noFill/>
          <a:ln w="1905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2811414" y="2286000"/>
            <a:ext cx="218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11414" y="3611880"/>
            <a:ext cx="2189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OPENING_AUCTION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57134" y="3941064"/>
            <a:ext cx="20981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 orders for the open</a:t>
            </a:r>
            <a:endParaRPr lang="en-US" sz="1050" dirty="0"/>
          </a:p>
        </p:txBody>
      </p:sp>
      <p:sp>
        <p:nvSpPr>
          <p:cNvPr id="19" name="phas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4096" y="2852928"/>
            <a:ext cx="603504" cy="60350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794096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3320" y="3154680"/>
            <a:ext cx="1494678" cy="0"/>
          </a:xfrm>
          <a:prstGeom prst="line">
            <a:avLst/>
          </a:prstGeom>
          <a:noFill/>
          <a:ln w="1905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5001036" y="2286000"/>
            <a:ext cx="218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01036" y="3611880"/>
            <a:ext cx="2189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46756" y="3941064"/>
            <a:ext cx="20981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matching — the main session</a:t>
            </a:r>
            <a:endParaRPr lang="en-US" sz="1050" dirty="0"/>
          </a:p>
        </p:txBody>
      </p:sp>
      <p:sp>
        <p:nvSpPr>
          <p:cNvPr id="25" name="phas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6870" y="2926080"/>
            <a:ext cx="457200" cy="45720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Shape 24"/>
          <p:cNvSpPr/>
          <p:nvPr/>
        </p:nvSpPr>
        <p:spPr>
          <a:xfrm>
            <a:off x="8559790" y="3154680"/>
            <a:ext cx="1640982" cy="0"/>
          </a:xfrm>
          <a:prstGeom prst="line">
            <a:avLst/>
          </a:prstGeom>
          <a:noFill/>
          <a:ln w="1905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7190659" y="2286000"/>
            <a:ext cx="218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90659" y="3611880"/>
            <a:ext cx="2189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CLOSING_AUCTION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36379" y="3941064"/>
            <a:ext cx="20981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 orders for the close</a:t>
            </a:r>
            <a:endParaRPr lang="en-US" sz="1050" dirty="0"/>
          </a:p>
        </p:txBody>
      </p:sp>
      <p:sp>
        <p:nvSpPr>
          <p:cNvPr id="30" name="phas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46492" y="2926080"/>
            <a:ext cx="457200" cy="457200"/>
          </a:xfrm>
          <a:prstGeom prst="ellipse">
            <a:avLst/>
          </a:prstGeom>
          <a:solidFill>
            <a:srgbClr val="0A0F1E"/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9380281" y="2286000"/>
            <a:ext cx="218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80281" y="3611880"/>
            <a:ext cx="2189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426001" y="3941064"/>
            <a:ext cx="20981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orders rejected</a:t>
            </a:r>
            <a:endParaRPr lang="en-US" sz="1050" dirty="0"/>
          </a:p>
        </p:txBody>
      </p:sp>
      <p:sp>
        <p:nvSpPr>
          <p:cNvPr id="3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257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91440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CONTINUOUS matches.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auction and pre-open phases orders are accepted but rest. Every transition into a matching phase runs an uncross across every book.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LECTURE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allowed when: phase gating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639312" y="213055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PRE_OPEN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30368" y="213055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AUCT.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21424" y="213055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213055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AUCT.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03536" y="213055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1000" dirty="0"/>
          </a:p>
        </p:txBody>
      </p:sp>
      <p:sp>
        <p:nvSpPr>
          <p:cNvPr id="13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651760"/>
            <a:ext cx="10972800" cy="56692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850392" y="2651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 / ICEBERG</a:t>
            </a:r>
            <a:endParaRPr lang="en-US" sz="1250" dirty="0"/>
          </a:p>
        </p:txBody>
      </p:sp>
      <p:sp>
        <p:nvSpPr>
          <p:cNvPr id="15" name="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2798064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29768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8736" y="2798064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5888736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2798064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479792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2798064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9070848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03536" y="265176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310128"/>
            <a:ext cx="10972800" cy="56692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850392" y="33101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/ FOK / IOC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39312" y="33101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0368" y="33101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3456432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479792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33101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03536" y="331012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968496"/>
            <a:ext cx="10972800" cy="56692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850392" y="39684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 orders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39312" y="396849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35" name="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8736" y="411480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5888736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21424" y="396849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412480" y="396849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03536" y="396849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40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626864"/>
            <a:ext cx="10972800" cy="56692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850392" y="46268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ATC orders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639312" y="462686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30368" y="462686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21424" y="462686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45" name="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4773168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6" name="Text 44"/>
          <p:cNvSpPr/>
          <p:nvPr/>
        </p:nvSpPr>
        <p:spPr>
          <a:xfrm>
            <a:off x="9070848" y="4773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03536" y="462686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matrix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285232"/>
            <a:ext cx="10972800" cy="56692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9" name="Text 47"/>
          <p:cNvSpPr/>
          <p:nvPr/>
        </p:nvSpPr>
        <p:spPr>
          <a:xfrm>
            <a:off x="850392" y="5285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happens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3639312" y="528523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230368" y="528523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5431536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3" name="Text 51"/>
          <p:cNvSpPr/>
          <p:nvPr/>
        </p:nvSpPr>
        <p:spPr>
          <a:xfrm>
            <a:off x="7479792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412480" y="528523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003536" y="528523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63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21792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MARKET, FOK and IOC need immediate execution, so they're rejected outside CONTINUOUS. ATO / ATC only live inside their matching auction.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LECTURE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Auctions: gather, then cross at one price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auction collects orders over a window without matching, then computes a single equilibrium price and fills all crossable orders there at once — the uncross.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2688336" cy="324612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542032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59536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" y="31546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price discovery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3822192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expresses interest at once after overnight news — no first-mover race.</a:t>
            </a:r>
            <a:endParaRPr lang="en-US" sz="11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2286000"/>
            <a:ext cx="2688336" cy="324612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5888" y="2542032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3675888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75888" y="31546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trusted closing price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94176" y="3822192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official close feeds NAVs, index rebalancing and settlement.</a:t>
            </a:r>
            <a:endParaRPr lang="en-US" sz="11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2286000"/>
            <a:ext cx="2688336" cy="324612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542032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4922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1546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information asymmetry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0528" y="3822192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Simultaneous execution neutralises speed advantages over stale orders.</a:t>
            </a:r>
            <a:endParaRPr lang="en-US" sz="11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2286000"/>
            <a:ext cx="2688336" cy="3246120"/>
          </a:xfrm>
          <a:prstGeom prst="roundRect">
            <a:avLst>
              <a:gd name="adj" fmla="val 3061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8592" y="2542032"/>
            <a:ext cx="457200" cy="45720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930859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08592" y="31546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Maximum shares traded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0" y="3822192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algorithm explicitly picks the price that trades the most volume.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LECTURE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the equilibrium price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cumulative demand and supply, then pick the price that executes the most shares. Ties break to the smaller surplus, then the lower price.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93392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CUM. BUY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6432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CUM. SELL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9472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EXECUTABLE</a:t>
            </a:r>
            <a:endParaRPr lang="en-US" sz="1050" dirty="0"/>
          </a:p>
        </p:txBody>
      </p:sp>
      <p:sp>
        <p:nvSpPr>
          <p:cNvPr id="13" name="eq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743200"/>
            <a:ext cx="6492240" cy="45720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621792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105.00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93392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eq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255264"/>
            <a:ext cx="6492240" cy="457200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21792" y="32552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93392" y="32552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6432" y="32552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3255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eq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767328"/>
            <a:ext cx="6492240" cy="45720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21792" y="3767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103.00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93392" y="3767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56432" y="3767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(surplus 5)</a:t>
            </a:r>
            <a:endParaRPr lang="en-US" sz="1200" dirty="0"/>
          </a:p>
        </p:txBody>
      </p:sp>
      <p:sp>
        <p:nvSpPr>
          <p:cNvPr id="28" name="eq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279392"/>
            <a:ext cx="6492240" cy="457200"/>
          </a:xfrm>
          <a:prstGeom prst="rect">
            <a:avLst/>
          </a:prstGeom>
          <a:solidFill>
            <a:srgbClr val="1A294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21792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102.00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93392" y="4279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56432" y="4279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4279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(surplus 5)</a:t>
            </a:r>
            <a:endParaRPr lang="en-US" sz="1200" dirty="0"/>
          </a:p>
        </p:txBody>
      </p:sp>
      <p:sp>
        <p:nvSpPr>
          <p:cNvPr id="33" name="eq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791456"/>
            <a:ext cx="6492240" cy="457200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21792" y="4791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993392" y="4791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56432" y="4791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19472" y="47914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2331720"/>
            <a:ext cx="4251960" cy="3108960"/>
          </a:xfrm>
          <a:prstGeom prst="roundRect">
            <a:avLst>
              <a:gd name="adj" fmla="val 2647"/>
            </a:avLst>
          </a:prstGeom>
          <a:solidFill>
            <a:srgbClr val="16233C"/>
          </a:solidFill>
          <a:ln w="12700">
            <a:solidFill>
              <a:srgbClr val="22C55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75895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89520" y="2834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102.00</a:t>
            </a:r>
            <a:endParaRPr lang="en-US" sz="4600" dirty="0"/>
          </a:p>
        </p:txBody>
      </p:sp>
      <p:sp>
        <p:nvSpPr>
          <p:cNvPr id="41" name="Text 39"/>
          <p:cNvSpPr/>
          <p:nvPr/>
        </p:nvSpPr>
        <p:spPr>
          <a:xfrm>
            <a:off x="7607808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equilibrium price</a:t>
            </a:r>
            <a:endParaRPr lang="en-US" sz="1200" dirty="0"/>
          </a:p>
        </p:txBody>
      </p:sp>
      <p:sp>
        <p:nvSpPr>
          <p:cNvPr id="4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4137660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786384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shares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— the maximum possible.</a:t>
            </a:r>
            <a:endParaRPr lang="en-US" sz="1100" dirty="0"/>
          </a:p>
        </p:txBody>
      </p:sp>
      <p:sp>
        <p:nvSpPr>
          <p:cNvPr id="44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4539996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7863840" y="442569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 102 vs 103?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surplus → lower price wins.</a:t>
            </a:r>
            <a:endParaRPr lang="en-US" sz="1100" dirty="0"/>
          </a:p>
        </p:txBody>
      </p:sp>
      <p:sp>
        <p:nvSpPr>
          <p:cNvPr id="4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4942332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7863840" y="482803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Surplus of 5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buy side rests for the next phase.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1792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fills print at 102.00 — one price, no slippage, no improvement.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HANDS-ON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Lab: Drive an opening auction by hand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3977640" cy="4297680"/>
          </a:xfrm>
          <a:prstGeom prst="roundRect">
            <a:avLst>
              <a:gd name="adj" fmla="val 2069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0848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96112" y="20802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goal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2971800"/>
            <a:ext cx="3456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manual control of the session, load an auction with orders, and trigger the uncross to see the equilibrium price appear.</a:t>
            </a:r>
            <a:endParaRPr lang="en-US" sz="1300" dirty="0"/>
          </a:p>
        </p:txBody>
      </p:sp>
      <p:sp>
        <p:nvSpPr>
          <p:cNvPr id="13" name="expec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5074920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078992" y="513892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SHOULD SEE
</a:t>
            </a:r>
            <a:r>
              <a:rPr lang="en-US" sz="11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auction.result AAPL price=149.50 qty=100 surplus=0.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16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19456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14416" y="213969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ADMIN, open the auction: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SESSION|STATE=OPENING_AUCTION</a:t>
            </a:r>
            <a:endParaRPr lang="en-US" sz="1250" dirty="0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25755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29200" y="32575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14416" y="320268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two ATO orders — a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@ 150.00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and a SELL @ 149.50</a:t>
            </a:r>
            <a:endParaRPr lang="en-US" sz="1250" dirty="0"/>
          </a:p>
        </p:txBody>
      </p:sp>
      <p:sp>
        <p:nvSpPr>
          <p:cNvPr id="22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32054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029200" y="4320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14416" y="426567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Uncross by advancing: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SESSION|STATE=CONTINUOUS</a:t>
            </a:r>
            <a:endParaRPr lang="en-US" sz="1250" dirty="0"/>
          </a:p>
        </p:txBody>
      </p:sp>
      <p:sp>
        <p:nvSpPr>
          <p:cNvPr id="2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538353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029200" y="53835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14416" y="532866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result event and ask: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why 149.50, not the midpoint?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makers: always two-sided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5029200" cy="4251960"/>
          </a:xfrm>
          <a:prstGeom prst="roundRect">
            <a:avLst>
              <a:gd name="adj" fmla="val 1935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896112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market maker does</a:t>
            </a:r>
            <a:endParaRPr lang="en-US" sz="1600" dirty="0"/>
          </a:p>
        </p:txBody>
      </p:sp>
      <p:sp>
        <p:nvSpPr>
          <p:cNvPr id="10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74620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Posts a bid and an ask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continuously, so a buyer always finds a seller and vice-versa.</a:t>
            </a:r>
            <a:endParaRPr lang="en-US" sz="1250" dirty="0"/>
          </a:p>
        </p:txBody>
      </p:sp>
      <p:sp>
        <p:nvSpPr>
          <p:cNvPr id="1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387852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88720" y="327355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liquidity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market stays tradeable even when natural flow is thin.</a:t>
            </a:r>
            <a:endParaRPr lang="en-US" sz="1250" dirty="0"/>
          </a:p>
        </p:txBody>
      </p:sp>
      <p:sp>
        <p:nvSpPr>
          <p:cNvPr id="14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101084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1188720" y="398678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Earns the spread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compensation for standing ready and holding inventory.</a:t>
            </a:r>
            <a:endParaRPr lang="en-US" sz="1250" dirty="0"/>
          </a:p>
        </p:txBody>
      </p:sp>
      <p:sp>
        <p:nvSpPr>
          <p:cNvPr id="1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814316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1188720" y="470001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the role.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plain TRADER sending QUOTE is rejected.</a:t>
            </a:r>
            <a:endParaRPr lang="en-US" sz="12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1828800"/>
            <a:ext cx="5715000" cy="4251960"/>
          </a:xfrm>
          <a:prstGeom prst="roundRect">
            <a:avLst>
              <a:gd name="adj" fmla="val 1935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126480" y="2048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QUOTE command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24323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atomic command posts both legs under a shared quote id.</a:t>
            </a:r>
            <a:endParaRPr lang="en-US" sz="12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926080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0C1122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382512" y="3072384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QUOTE|SYM=AAPL|</a:t>
            </a: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BID=149.90</a:t>
            </a: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2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ASK=150.10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|BID_QTY=500|ASK_QTY=500</a:t>
            </a:r>
            <a:endParaRPr lang="en-US" sz="12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4069080"/>
            <a:ext cx="2514600" cy="777240"/>
          </a:xfrm>
          <a:prstGeom prst="roundRect">
            <a:avLst>
              <a:gd name="adj" fmla="val 10588"/>
            </a:avLst>
          </a:prstGeom>
          <a:solidFill>
            <a:srgbClr val="0C112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30936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149.90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up to 500</a:t>
            </a:r>
            <a:endParaRPr lang="en-US" sz="1050" dirty="0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0" y="4069080"/>
            <a:ext cx="2514600" cy="777240"/>
          </a:xfrm>
          <a:prstGeom prst="roundRect">
            <a:avLst>
              <a:gd name="adj" fmla="val 10588"/>
            </a:avLst>
          </a:prstGeom>
          <a:solidFill>
            <a:srgbClr val="0C1122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900684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150.10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0684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up to 500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50292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 policy  </a:t>
            </a: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what happens to the other leg when one side fills — cancel on any fill, on a full fill, or never.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Obligations keep quotes honest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obligations are enforced, the engine validates every quote before it rests — a market maker must show a tight enough, large enough market.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77824" y="2487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 constraint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28529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(ask − bid) / tick ≤ max_spread_ticks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33467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wide a market is rejected.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3794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size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quantities ≥ min_qty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Token-sized quotes don't count as making a market.</a:t>
            </a:r>
            <a:endParaRPr lang="en-US" sz="11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228600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0C1122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599432" y="2432304"/>
            <a:ext cx="3063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 0.01, max 10 ticks</a:t>
            </a:r>
            <a:endParaRPr lang="en-US" sz="1200" dirty="0"/>
          </a:p>
          <a:p>
            <a:pPr marL="0" indent="0" algn="l">
              <a:lnSpc>
                <a:spcPct val="142000"/>
              </a:lnSpc>
              <a:buNone/>
            </a:pPr>
            <a:endParaRPr lang="en-US" sz="12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149.90</a:t>
            </a: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2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150.10</a:t>
            </a:r>
            <a:endParaRPr lang="en-US" sz="12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 = 20 ticks</a:t>
            </a:r>
            <a:endParaRPr lang="en-US" sz="12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REJECTED</a:t>
            </a:r>
            <a:endParaRPr lang="en-US" sz="1200" dirty="0"/>
          </a:p>
          <a:p>
            <a:pPr marL="0" indent="0" algn="l">
              <a:lnSpc>
                <a:spcPct val="142000"/>
              </a:lnSpc>
              <a:buNone/>
            </a:pPr>
            <a:endParaRPr lang="en-US" sz="12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149.95</a:t>
            </a: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12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150.05</a:t>
            </a:r>
            <a:endParaRPr lang="en-US" sz="12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 = 10 ticks</a:t>
            </a:r>
            <a:endParaRPr lang="en-US" sz="12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ACCEPTED</a:t>
            </a:r>
            <a:endParaRPr lang="en-US" sz="12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000" y="2286000"/>
            <a:ext cx="3566160" cy="3794760"/>
          </a:xfrm>
          <a:prstGeom prst="roundRect">
            <a:avLst>
              <a:gd name="adj" fmla="val 2308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8257032" y="2487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lifecycle</a:t>
            </a:r>
            <a:endParaRPr lang="en-US" sz="1400" dirty="0"/>
          </a:p>
        </p:txBody>
      </p:sp>
      <p:sp>
        <p:nvSpPr>
          <p:cNvPr id="2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7032" y="29718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8485632" y="28712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85632" y="3163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legs resting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3218688"/>
            <a:ext cx="0" cy="457200"/>
          </a:xfrm>
          <a:prstGeom prst="line">
            <a:avLst/>
          </a:prstGeom>
          <a:noFill/>
          <a:ln w="12700">
            <a:solidFill>
              <a:srgbClr val="27354E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2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7032" y="3721608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8485632" y="36210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FILLED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85632" y="3913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customer bought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21040" y="3968496"/>
            <a:ext cx="0" cy="457200"/>
          </a:xfrm>
          <a:prstGeom prst="line">
            <a:avLst/>
          </a:prstGeom>
          <a:noFill/>
          <a:ln w="12700">
            <a:solidFill>
              <a:srgbClr val="27354E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2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7032" y="4471416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8485632" y="43708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RE-QUOTE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85632" y="4663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with new size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21040" y="4718304"/>
            <a:ext cx="0" cy="457200"/>
          </a:xfrm>
          <a:prstGeom prst="line">
            <a:avLst/>
          </a:prstGeom>
          <a:noFill/>
          <a:ln w="12700">
            <a:solidFill>
              <a:srgbClr val="27354E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3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57032" y="5221224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8485632" y="5120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85632" y="5413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replaced or pulled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LECTURE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liquidity for a lively classroom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532120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121408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96112" y="21168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pm-mm-bot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578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autonomous market maker</a:t>
            </a:r>
            <a:endParaRPr lang="en-US" sz="1500" dirty="0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3182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Quotes both sides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around the mid with a configurable gap; one bot per symbol.</a:t>
            </a:r>
            <a:endParaRPr lang="en-US" sz="12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53612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1188720" y="363931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Reprices on drift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mid moves too far, or when a side is filled.</a:t>
            </a:r>
            <a:endParaRPr lang="en-US" sz="1200" dirty="0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75404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1188720" y="426110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Session-aware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quotes only in CONTINUOUS, waits out auctions and halts.</a:t>
            </a:r>
            <a:endParaRPr lang="en-US" sz="1200" dirty="0"/>
          </a:p>
        </p:txBody>
      </p:sp>
      <p:sp>
        <p:nvSpPr>
          <p:cNvPr id="19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997196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1188720" y="488289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Self-healing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reconciles its legs if a message is dropped.</a:t>
            </a:r>
            <a:endParaRPr lang="en-US" sz="12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87452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874520"/>
            <a:ext cx="5349240" cy="8229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1214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492240" y="21168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pm-ai-trader / pm-ai-swarm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order flow</a:t>
            </a:r>
            <a:endParaRPr lang="en-US" sz="1500" dirty="0"/>
          </a:p>
        </p:txBody>
      </p:sp>
      <p:sp>
        <p:nvSpPr>
          <p:cNvPr id="2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3131820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784848" y="301752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LIMIT-only bots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always add depth — never sweep the book away.</a:t>
            </a:r>
            <a:endParaRPr lang="en-US" sz="1200" dirty="0"/>
          </a:p>
        </p:txBody>
      </p:sp>
      <p:sp>
        <p:nvSpPr>
          <p:cNvPr id="28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3753612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784848" y="3639312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swarm of N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spawns many traders across symbols in one command.</a:t>
            </a:r>
            <a:endParaRPr lang="en-US" sz="1200" dirty="0"/>
          </a:p>
        </p:txBody>
      </p:sp>
      <p:sp>
        <p:nvSpPr>
          <p:cNvPr id="30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4375404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784848" y="4261104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Personality profiles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aggressive, cautious, many-small, few-large.</a:t>
            </a:r>
            <a:endParaRPr lang="en-US" sz="1200" dirty="0"/>
          </a:p>
        </p:txBody>
      </p:sp>
      <p:sp>
        <p:nvSpPr>
          <p:cNvPr id="3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4997196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784848" y="4882896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guardrails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position limits and a reject breaker per bot.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·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 in review — market structure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953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session phases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6304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CONTINUOUS matches; the rest gather or close.</a:t>
            </a:r>
            <a:endParaRPr lang="en-US" sz="11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85953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gating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MARKET/FOK/IOC need CONTINUOUS; ATO/ATC live in auctions.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85953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Auctions cross at one price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Gather orders, then uncross at the equilibrium.</a:t>
            </a:r>
            <a:endParaRPr lang="en-US" sz="11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52881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Equilibrium = max volume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Ties break to smaller surplus, then lower price.</a:t>
            </a:r>
            <a:endParaRPr lang="en-US" sz="11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52881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makers quote two-sided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3232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posts both legs; obligations keep them honest.</a:t>
            </a:r>
            <a:endParaRPr lang="en-US" sz="110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52881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Bots supply liquidity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3232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MM bots quote; AI swarms add realistic LIMIT flow.</a:t>
            </a:r>
            <a:endParaRPr lang="en-US" sz="1100" dirty="0"/>
          </a:p>
        </p:txBody>
      </p:sp>
      <p:sp>
        <p:nvSpPr>
          <p:cNvPr id="38" name="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806440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22C55E">
              <a:alpha val="14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896112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   </a:t>
            </a:r>
            <a:r>
              <a:rPr lang="en-US" sz="125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turns a pile of orders into an orderly market — phases, auctions and standing liquidity.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y Four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>
              <a:alpha val="7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A0F1E">
              <a:alpha val="84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2"/>
          <p:cNvSpPr/>
          <p:nvPr/>
        </p:nvSpPr>
        <p:spPr>
          <a:xfrm>
            <a:off x="841248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22529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200" dirty="0"/>
          </a:p>
        </p:txBody>
      </p:sp>
      <p:sp>
        <p:nvSpPr>
          <p:cNvPr id="7" name="Text 4"/>
          <p:cNvSpPr/>
          <p:nvPr/>
        </p:nvSpPr>
        <p:spPr>
          <a:xfrm>
            <a:off x="841248" y="25054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FOUR</a:t>
            </a:r>
            <a:endParaRPr lang="en-US" sz="13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Risk, Safety &amp; Post-Trade</a:t>
            </a:r>
            <a:endParaRPr lang="en-US" sz="4000" dirty="0"/>
          </a:p>
        </p:txBody>
      </p:sp>
      <p:sp>
        <p:nvSpPr>
          <p:cNvPr id="9" name="objectiv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06240"/>
            <a:ext cx="6766560" cy="2450592"/>
          </a:xfrm>
          <a:prstGeom prst="roundRect">
            <a:avLst>
              <a:gd name="adj" fmla="val 2239"/>
            </a:avLst>
          </a:prstGeom>
          <a:solidFill>
            <a:srgbClr val="0C1122">
              <a:alpha val="8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7"/>
          <p:cNvSpPr/>
          <p:nvPr/>
        </p:nvSpPr>
        <p:spPr>
          <a:xfrm>
            <a:off x="1161288" y="44074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END OF TODAY YOU WILL BE ABLE TO</a:t>
            </a:r>
            <a:endParaRPr lang="en-US" sz="1100" dirty="0"/>
          </a:p>
        </p:txBody>
      </p:sp>
      <p:sp>
        <p:nvSpPr>
          <p:cNvPr id="11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4841748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1435608" y="47274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how price collars reject fat-finger orders before they rest</a:t>
            </a:r>
            <a:endParaRPr lang="en-US" sz="1200" dirty="0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298948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1"/>
          <p:cNvSpPr/>
          <p:nvPr/>
        </p:nvSpPr>
        <p:spPr>
          <a:xfrm>
            <a:off x="1435608" y="51846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a circuit breaker from trigger to halt to auto-resume</a:t>
            </a:r>
            <a:endParaRPr lang="en-US" sz="12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756148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3"/>
          <p:cNvSpPr/>
          <p:nvPr/>
        </p:nvSpPr>
        <p:spPr>
          <a:xfrm>
            <a:off x="1435608" y="5641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realized and unrealized P&amp;L as positions change</a:t>
            </a:r>
            <a:endParaRPr lang="en-US" sz="1200" dirty="0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6213348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5"/>
          <p:cNvSpPr/>
          <p:nvPr/>
        </p:nvSpPr>
        <p:spPr>
          <a:xfrm>
            <a:off x="1435608" y="6099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how audit and drop-copy give a complete compliance record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LECTURE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collars: the pre-trade safety net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Collars reject priced orders that sit too far from a reference — stopping fat-finger mistakes before they ever touch the book. Two bands guard every order.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33172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96112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BAND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± 20%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opening reference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6112" y="3429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wide, all-day safety net anchored at the day's reference price.</a:t>
            </a:r>
            <a:endParaRPr lang="en-US" sz="11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3434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896112" y="45354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BAND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4864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± 2%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last traded price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6112" y="54132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tighter, rolling band — skipped until the first trade prints.</a:t>
            </a:r>
            <a:endParaRPr lang="en-US" sz="115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33172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46520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90779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Opening reference 100.00 → static band [80.00, 120.00]</a:t>
            </a:r>
            <a:endParaRPr lang="en-US" sz="1150" dirty="0"/>
          </a:p>
        </p:txBody>
      </p:sp>
      <p:sp>
        <p:nvSpPr>
          <p:cNvPr id="20" name="outsi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3429000"/>
            <a:ext cx="4846320" cy="329184"/>
          </a:xfrm>
          <a:prstGeom prst="rect">
            <a:avLst/>
          </a:prstGeom>
          <a:solidFill>
            <a:srgbClr val="F43F5E">
              <a:alpha val="25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insid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1931" y="3429000"/>
            <a:ext cx="3295498" cy="329184"/>
          </a:xfrm>
          <a:prstGeom prst="rect">
            <a:avLst/>
          </a:prstGeom>
          <a:solidFill>
            <a:srgbClr val="22C55E">
              <a:alpha val="35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947611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3109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95360" y="3172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00" dirty="0"/>
          </a:p>
        </p:txBody>
      </p:sp>
      <p:sp>
        <p:nvSpPr>
          <p:cNvPr id="2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4251960"/>
            <a:ext cx="4846320" cy="658368"/>
          </a:xfrm>
          <a:prstGeom prst="roundRect">
            <a:avLst>
              <a:gd name="adj" fmla="val 12500"/>
            </a:avLst>
          </a:prstGeom>
          <a:solidFill>
            <a:srgbClr val="0C1122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583680" y="42519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2519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@ 75.00  </a:t>
            </a: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below 80 → STATIC_COLLAR_BREACH</a:t>
            </a:r>
            <a:endParaRPr lang="en-US" sz="11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5029200"/>
            <a:ext cx="4846320" cy="658368"/>
          </a:xfrm>
          <a:prstGeom prst="roundRect">
            <a:avLst>
              <a:gd name="adj" fmla="val 12500"/>
            </a:avLst>
          </a:prstGeom>
          <a:solidFill>
            <a:srgbClr val="0C112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583680" y="50292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50292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@ 101.00  </a:t>
            </a: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both bands → accepted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LECTURE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Circuit breakers &amp; the kill switch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collars stop a bad order, a circuit breaker halts a whole symbol when executed trades move too far, too fast. The highest crossed level fires.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377440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121B30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0392" y="237744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64792" y="23774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±20%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27832" y="23774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Halt for the rest of the day</a:t>
            </a:r>
            <a:endParaRPr lang="en-US" sz="12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255264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121B3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850392" y="325526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64792" y="325526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±13%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27832" y="325526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Halt ~15 minutes</a:t>
            </a:r>
            <a:endParaRPr lang="en-US" sz="125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133088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121B30"/>
          </a:solidFill>
          <a:ln w="12700">
            <a:solidFill>
              <a:srgbClr val="F5B9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850392" y="413308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B9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64792" y="41330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±7%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27832" y="413308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Halt ~5 minutes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50292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price_shift = | trade − reference | / reference</a:t>
            </a:r>
            <a:endParaRPr lang="en-US" sz="115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2377440"/>
            <a:ext cx="4846320" cy="1783080"/>
          </a:xfrm>
          <a:prstGeom prst="roundRect">
            <a:avLst>
              <a:gd name="adj" fmla="val 4615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976872" y="25603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During a halt</a:t>
            </a:r>
            <a:endParaRPr lang="en-US" sz="1400" dirty="0"/>
          </a:p>
        </p:txBody>
      </p:sp>
      <p:sp>
        <p:nvSpPr>
          <p:cNvPr id="24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3012948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269480" y="28986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/ FOK / IOC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rejected; quotes cancelled.</a:t>
            </a:r>
            <a:endParaRPr lang="en-US" sz="1100" dirty="0"/>
          </a:p>
        </p:txBody>
      </p:sp>
      <p:sp>
        <p:nvSpPr>
          <p:cNvPr id="2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3396996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7269480" y="32826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 &amp; ICEBERG rest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do not match.</a:t>
            </a:r>
            <a:endParaRPr lang="en-US" sz="1100" dirty="0"/>
          </a:p>
        </p:txBody>
      </p:sp>
      <p:sp>
        <p:nvSpPr>
          <p:cNvPr id="28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3781044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269480" y="36667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Auto-resume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an uncross, then continuous trading.</a:t>
            </a:r>
            <a:endParaRPr lang="en-US" sz="1100" dirty="0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4297680"/>
            <a:ext cx="4846320" cy="1783080"/>
          </a:xfrm>
          <a:prstGeom prst="roundRect">
            <a:avLst>
              <a:gd name="adj" fmla="val 4615"/>
            </a:avLst>
          </a:prstGeom>
          <a:solidFill>
            <a:srgbClr val="121B30"/>
          </a:solidFill>
          <a:ln w="12700">
            <a:solidFill>
              <a:srgbClr val="F43F5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976872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 switch — a scalpel, not a halt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76872" y="4864608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Cancels one gateway's resting orders and quotes instantly — without halting the symbol and without needing an admin role. The trader-side emergency stop.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HANDS-ON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Lab: Trip a circuit breaker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3977640" cy="4297680"/>
          </a:xfrm>
          <a:prstGeom prst="roundRect">
            <a:avLst>
              <a:gd name="adj" fmla="val 2069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0848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96112" y="20802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goal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2971800"/>
            <a:ext cx="3456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a symbol until it breaches a breaker level, watch it halt, and confirm which order types survive the halt.</a:t>
            </a:r>
            <a:endParaRPr lang="en-US" sz="1300" dirty="0"/>
          </a:p>
        </p:txBody>
      </p:sp>
      <p:sp>
        <p:nvSpPr>
          <p:cNvPr id="13" name="expec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5074920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078992" y="513892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SHOULD SEE
</a:t>
            </a:r>
            <a:r>
              <a:rPr lang="en-US" sz="11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halt event with trigger, reference and level — then auto-resume.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16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19456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14416" y="213969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a symbol at reference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with L1 = 7%</a:t>
            </a:r>
            <a:endParaRPr lang="en-US" sz="1250" dirty="0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25755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29200" y="32575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14416" y="320268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rising trades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10100 · 10700 · 11000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and watch the rolling reference climb</a:t>
            </a:r>
            <a:endParaRPr lang="en-US" sz="1250" dirty="0"/>
          </a:p>
        </p:txBody>
      </p:sp>
      <p:sp>
        <p:nvSpPr>
          <p:cNvPr id="22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32054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029200" y="4320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14416" y="426567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L1 fire near ~7% and the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circuit_breaker.halt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event publish</a:t>
            </a:r>
            <a:endParaRPr lang="en-US" sz="1250" dirty="0"/>
          </a:p>
        </p:txBody>
      </p:sp>
      <p:sp>
        <p:nvSpPr>
          <p:cNvPr id="2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538353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029200" y="53835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14416" y="532866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During the halt, try a MARKET (rejected) then a LIMIT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(accepted, but not matched).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P&amp;L &amp; clearing: tracking what you own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pm-clearing listens to every trade and maintains a position per gateway and symbol — net quantity, average cost, and both realized and unrealized P&amp;L.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286000"/>
            <a:ext cx="2688336" cy="2194560"/>
          </a:xfrm>
          <a:prstGeom prst="roundRect">
            <a:avLst>
              <a:gd name="adj" fmla="val 375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9536" y="2505456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QTY</a:t>
            </a:r>
            <a:endParaRPr lang="en-US" sz="1450" dirty="0"/>
          </a:p>
        </p:txBody>
      </p:sp>
      <p:sp>
        <p:nvSpPr>
          <p:cNvPr id="11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889504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859536" y="28849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LONG · − SHORT · 0 FLAT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3364992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current exposure in the symbol.</a:t>
            </a:r>
            <a:endParaRPr lang="en-US" sz="11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8144" y="2286000"/>
            <a:ext cx="2688336" cy="2194560"/>
          </a:xfrm>
          <a:prstGeom prst="roundRect">
            <a:avLst>
              <a:gd name="adj" fmla="val 375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675888" y="2505456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COST</a:t>
            </a:r>
            <a:endParaRPr lang="en-US" sz="1450" dirty="0"/>
          </a:p>
        </p:txBody>
      </p:sp>
      <p:sp>
        <p:nvSpPr>
          <p:cNvPr id="16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5888" y="2889504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675888" y="28849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VOLUME-WEIGHTED ENTRY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94176" y="3364992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average price you built the position at.</a:t>
            </a:r>
            <a:endParaRPr lang="en-US" sz="11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4496" y="2286000"/>
            <a:ext cx="2688336" cy="2194560"/>
          </a:xfrm>
          <a:prstGeom prst="roundRect">
            <a:avLst>
              <a:gd name="adj" fmla="val 375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492240" y="2505456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REALIZED P&amp;L</a:t>
            </a:r>
            <a:endParaRPr lang="en-US" sz="1450" dirty="0"/>
          </a:p>
        </p:txBody>
      </p:sp>
      <p:sp>
        <p:nvSpPr>
          <p:cNvPr id="21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889504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492240" y="28849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 IN ON CLOSE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3364992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banked when you reduce or close a position.</a:t>
            </a:r>
            <a:endParaRPr lang="en-US" sz="11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0848" y="2286000"/>
            <a:ext cx="2688336" cy="2194560"/>
          </a:xfrm>
          <a:prstGeom prst="roundRect">
            <a:avLst>
              <a:gd name="adj" fmla="val 375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9308592" y="2505456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UNREALIZED P&amp;L</a:t>
            </a:r>
            <a:endParaRPr lang="en-US" sz="1450" dirty="0"/>
          </a:p>
        </p:txBody>
      </p:sp>
      <p:sp>
        <p:nvSpPr>
          <p:cNvPr id="26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8592" y="2889504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9308592" y="28849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MARKED TO MARKET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3364992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net_qty × (mark − avg_cost), moves with the tape.</a:t>
            </a:r>
            <a:endParaRPr lang="en-US" sz="1150" dirty="0"/>
          </a:p>
        </p:txBody>
      </p:sp>
      <p:sp>
        <p:nvSpPr>
          <p:cNvPr id="2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75488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896112" y="4919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things a fill can do</a:t>
            </a:r>
            <a:endParaRPr lang="en-US" sz="1350" dirty="0"/>
          </a:p>
        </p:txBody>
      </p:sp>
      <p:sp>
        <p:nvSpPr>
          <p:cNvPr id="3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5440680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1115568" y="5321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flat</a:t>
            </a:r>
            <a:endParaRPr lang="en-US" sz="1100" dirty="0"/>
          </a:p>
        </p:txBody>
      </p:sp>
      <p:sp>
        <p:nvSpPr>
          <p:cNvPr id="3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9312" y="5440680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3858768" y="5321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side, re-average</a:t>
            </a:r>
            <a:endParaRPr lang="en-US" sz="1100" dirty="0"/>
          </a:p>
        </p:txBody>
      </p:sp>
      <p:sp>
        <p:nvSpPr>
          <p:cNvPr id="3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512" y="5440680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601968" y="5321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 / CLOSE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realize P&amp;L</a:t>
            </a:r>
            <a:endParaRPr lang="en-US" sz="1100" dirty="0"/>
          </a:p>
        </p:txBody>
      </p:sp>
      <p:sp>
        <p:nvSpPr>
          <p:cNvPr id="3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25712" y="5440680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9345168" y="5321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ZERO  </a:t>
            </a: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then re-open the other side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a position evolve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53312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30752" y="1965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51192" y="1965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39912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11512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REALIZED</a:t>
            </a:r>
            <a:endParaRPr lang="en-US" sz="1050" dirty="0"/>
          </a:p>
        </p:txBody>
      </p:sp>
      <p:sp>
        <p:nvSpPr>
          <p:cNvPr id="14" name="pnl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423160"/>
            <a:ext cx="10972800" cy="56692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13232" y="24231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3312" y="2423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10 @ 100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30752" y="24231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long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51192" y="24231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39912" y="24231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11512" y="24231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pnl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081528"/>
            <a:ext cx="10972800" cy="56692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13232" y="30815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3081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10 @ 110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30752" y="30815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· re-average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51192" y="30815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39912" y="30815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105.00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11512" y="308152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pnl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739896"/>
            <a:ext cx="10972800" cy="56692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realiz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739896"/>
            <a:ext cx="9144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13232" y="373989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53312" y="37398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20 @ 115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30752" y="37398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· (115−105)×20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51192" y="3739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39912" y="37398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11512" y="37398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+200</a:t>
            </a:r>
            <a:endParaRPr lang="en-US" sz="1200" dirty="0"/>
          </a:p>
        </p:txBody>
      </p:sp>
      <p:sp>
        <p:nvSpPr>
          <p:cNvPr id="36" name="pnl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398264"/>
            <a:ext cx="10972800" cy="566928"/>
          </a:xfrm>
          <a:prstGeom prst="rect">
            <a:avLst/>
          </a:prstGeom>
          <a:solidFill>
            <a:srgbClr val="0C112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713232" y="43982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53312" y="43982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 15 @ 108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30752" y="43982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short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51192" y="43982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39912" y="43982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108.00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811512" y="43982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+200</a:t>
            </a:r>
            <a:endParaRPr lang="en-US" sz="1200" dirty="0"/>
          </a:p>
        </p:txBody>
      </p:sp>
      <p:sp>
        <p:nvSpPr>
          <p:cNvPr id="43" name="pnl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056632"/>
            <a:ext cx="10972800" cy="566928"/>
          </a:xfrm>
          <a:prstGeom prst="rect">
            <a:avLst/>
          </a:prstGeom>
          <a:solidFill>
            <a:srgbClr val="121B3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4" name="realiz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056632"/>
            <a:ext cx="9144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713232" y="505663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353312" y="50566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 20 @ 105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730752" y="50566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 zero · close 15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51192" y="50566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39912" y="50566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105.00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811512" y="505663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+245</a:t>
            </a:r>
            <a:endParaRPr lang="en-US" sz="1200" dirty="0"/>
          </a:p>
        </p:txBody>
      </p:sp>
      <p:sp>
        <p:nvSpPr>
          <p:cNvPr id="5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76072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6233C"/>
          </a:solidFill>
          <a:ln w="12700">
            <a:solidFill>
              <a:srgbClr val="FBBF24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2" name="Rectangle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760720"/>
            <a:ext cx="91440" cy="54864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3" name="Text 51"/>
          <p:cNvSpPr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Cross-zero rule: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closed portion realizes P&amp;L; the excess opens the new side at the fill price with zero realized.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LECTURE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compliance record: audit &amp; drop-copy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532120" cy="8229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1214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96112" y="21168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pm-audit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578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everything, forever</a:t>
            </a:r>
            <a:endParaRPr lang="en-US" sz="1500" dirty="0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131820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Subscribes to every topic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writes each event as one JSON line.</a:t>
            </a:r>
            <a:endParaRPr lang="en-US" sz="12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735324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1188720" y="36210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Durable &amp; rotating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timestamped logs that roll over and compress.</a:t>
            </a:r>
            <a:endParaRPr lang="en-US" sz="1200" dirty="0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338828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1188720" y="42245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lifecycle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orders, acks, fills, cancels, sessions, admin, breakers.</a:t>
            </a:r>
            <a:endParaRPr lang="en-US" sz="1200" dirty="0"/>
          </a:p>
        </p:txBody>
      </p:sp>
      <p:sp>
        <p:nvSpPr>
          <p:cNvPr id="19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942332"/>
            <a:ext cx="109728" cy="10972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1188720" y="482803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after the fact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reconstruct any order's complete history.</a:t>
            </a:r>
            <a:endParaRPr lang="en-US" sz="12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87452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874520"/>
            <a:ext cx="5349240" cy="8229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212140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492240" y="211683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drop-copy :5557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feed for risk &amp; back-office</a:t>
            </a:r>
            <a:endParaRPr lang="en-US" sz="1500" dirty="0"/>
          </a:p>
        </p:txBody>
      </p:sp>
      <p:sp>
        <p:nvSpPr>
          <p:cNvPr id="26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3131820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784848" y="3017520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parallel fill stream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its own socket for compliance systems.</a:t>
            </a:r>
            <a:endParaRPr lang="en-US" sz="1200" dirty="0"/>
          </a:p>
        </p:txBody>
      </p:sp>
      <p:sp>
        <p:nvSpPr>
          <p:cNvPr id="28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3735324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6784848" y="3621024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events per trade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one for each counterparty.</a:t>
            </a:r>
            <a:endParaRPr lang="en-US" sz="1200" dirty="0"/>
          </a:p>
        </p:txBody>
      </p:sp>
      <p:sp>
        <p:nvSpPr>
          <p:cNvPr id="30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4338828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784848" y="4224528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Sequence-numbered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 gap means a dropped message; replay to recover.</a:t>
            </a:r>
            <a:endParaRPr lang="en-US" sz="1200" dirty="0"/>
          </a:p>
        </p:txBody>
      </p:sp>
      <p:sp>
        <p:nvSpPr>
          <p:cNvPr id="32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0528" y="4942332"/>
            <a:ext cx="109728" cy="10972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784848" y="4828032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Complementary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per-fill &amp; replayable vs. the durable, every-topic log.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·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4 in review — risk &amp; post-trade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953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Collars stop bad orders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6304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±20% and dynamic ±2% bands reject fat-fingers.</a:t>
            </a:r>
            <a:endParaRPr lang="en-US" sz="11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85953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Breakers halt symbols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Trades moving too far trip L1/L2/L3; highest level wins.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85953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 switch is surgical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one gateway's orders without halting the market.</a:t>
            </a:r>
            <a:endParaRPr lang="en-US" sz="11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52881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Positions track exposure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qty, average cost, realized &amp; unrealized P&amp;L.</a:t>
            </a:r>
            <a:endParaRPr lang="en-US" sz="11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52881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Cross-zero realizes carefully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3232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closed portion books P&amp;L; the rest re-opens.</a:t>
            </a:r>
            <a:endParaRPr lang="en-US" sz="110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52881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+ drop-copy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3232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durable log plus a live, sequenced compliance feed.</a:t>
            </a:r>
            <a:endParaRPr lang="en-US" sz="1100" dirty="0"/>
          </a:p>
        </p:txBody>
      </p:sp>
      <p:sp>
        <p:nvSpPr>
          <p:cNvPr id="38" name="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806440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FBBF24">
              <a:alpha val="14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896112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   </a:t>
            </a:r>
            <a:r>
              <a:rPr lang="en-US" sz="125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and record-keeping are what separate a toy matcher from a real, trustworthy exchange.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y Five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>
              <a:alpha val="7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A0F1E">
              <a:alpha val="84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2"/>
          <p:cNvSpPr/>
          <p:nvPr/>
        </p:nvSpPr>
        <p:spPr>
          <a:xfrm>
            <a:off x="841248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22529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200" dirty="0"/>
          </a:p>
        </p:txBody>
      </p:sp>
      <p:sp>
        <p:nvSpPr>
          <p:cNvPr id="7" name="Text 4"/>
          <p:cNvSpPr/>
          <p:nvPr/>
        </p:nvSpPr>
        <p:spPr>
          <a:xfrm>
            <a:off x="841248" y="25054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FIVE</a:t>
            </a:r>
            <a:endParaRPr lang="en-US" sz="13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Data, Monitoring &amp; Operations</a:t>
            </a:r>
            <a:endParaRPr lang="en-US" sz="4000" dirty="0"/>
          </a:p>
        </p:txBody>
      </p:sp>
      <p:sp>
        <p:nvSpPr>
          <p:cNvPr id="9" name="objective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06240"/>
            <a:ext cx="6766560" cy="2450592"/>
          </a:xfrm>
          <a:prstGeom prst="roundRect">
            <a:avLst>
              <a:gd name="adj" fmla="val 2239"/>
            </a:avLst>
          </a:prstGeom>
          <a:solidFill>
            <a:srgbClr val="0C1122">
              <a:alpha val="88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7"/>
          <p:cNvSpPr/>
          <p:nvPr/>
        </p:nvSpPr>
        <p:spPr>
          <a:xfrm>
            <a:off x="1161288" y="44074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END OF TODAY YOU WILL BE ABLE TO</a:t>
            </a:r>
            <a:endParaRPr lang="en-US" sz="1100" dirty="0"/>
          </a:p>
        </p:txBody>
      </p:sp>
      <p:sp>
        <p:nvSpPr>
          <p:cNvPr id="11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484174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1435608" y="47274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each protocol — ALF, BALF, CALF, RALF, API — to its purpose</a:t>
            </a:r>
            <a:endParaRPr lang="en-US" sz="1200" dirty="0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29894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1"/>
          <p:cNvSpPr/>
          <p:nvPr/>
        </p:nvSpPr>
        <p:spPr>
          <a:xfrm>
            <a:off x="1435608" y="51846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OHLCV, VWAP and mid-price statistics and the market index</a:t>
            </a:r>
            <a:endParaRPr lang="en-US" sz="12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575614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3"/>
          <p:cNvSpPr/>
          <p:nvPr/>
        </p:nvSpPr>
        <p:spPr>
          <a:xfrm>
            <a:off x="1435608" y="56418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Author, verify and launch a configuration the right way</a:t>
            </a:r>
            <a:endParaRPr lang="en-US" sz="1200" dirty="0"/>
          </a:p>
        </p:txBody>
      </p:sp>
      <p:sp>
        <p:nvSpPr>
          <p:cNvPr id="17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1288" y="621334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5"/>
          <p:cNvSpPr/>
          <p:nvPr/>
        </p:nvSpPr>
        <p:spPr>
          <a:xfrm>
            <a:off x="1435608" y="6099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every process together and run a full classroom exchange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LECTURE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ways in and out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 err="1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</a:t>
            </a: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speaks several protocols, each a separate gateway process with its own job. Choose by purpose — order entry, market data, post-trade or web.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3317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331720"/>
            <a:ext cx="2103120" cy="8229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1248" y="3172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Almost-FIX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566160"/>
            <a:ext cx="1700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Human-readable order entry — the trader terminal &amp; TCP gateway.</a:t>
            </a:r>
            <a:endParaRPr lang="en-US" sz="110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43784" y="23317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43784" y="2331720"/>
            <a:ext cx="2103120" cy="8229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3044952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063240" y="3172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ALF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3566160"/>
            <a:ext cx="1700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Low-latency binary order entry for programmatic clients.</a:t>
            </a:r>
            <a:endParaRPr lang="en-US" sz="110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5776" y="23317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5776" y="2331720"/>
            <a:ext cx="2103120" cy="8229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5266944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CALF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85232" y="3172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ALF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85232" y="3566160"/>
            <a:ext cx="1700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market-data feed: subscribe to book, trades &amp; index.</a:t>
            </a:r>
            <a:endParaRPr lang="en-US" sz="110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7768" y="23317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7768" y="2331720"/>
            <a:ext cx="2103120" cy="8229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488936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507224" y="3172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Reconciliation ALF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07224" y="3566160"/>
            <a:ext cx="1700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 dissemination to clearing, drop-copy &amp; audit.</a:t>
            </a:r>
            <a:endParaRPr lang="en-US" sz="1100" dirty="0"/>
          </a:p>
        </p:txBody>
      </p:sp>
      <p:sp>
        <p:nvSpPr>
          <p:cNvPr id="2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760" y="2331720"/>
            <a:ext cx="2103120" cy="3291840"/>
          </a:xfrm>
          <a:prstGeom prst="roundRect">
            <a:avLst>
              <a:gd name="adj" fmla="val 3913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09760" y="2331720"/>
            <a:ext cx="2103120" cy="8229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9710928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729216" y="3172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A7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/ WebSocket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29216" y="3566160"/>
            <a:ext cx="17007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+ JSON front end for browsers, dashboards &amp; simple bots.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order can enter over ALF, print to CALF market-data subscribers, and reconcile over RALF — all at once.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LECTURE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Statistics: turning trades into insight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pm-stats subscribes to the tape and records it to a database; pm-stats-cli queries it — OHLCV bars, VWAP and periodic mid-price snapshots.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331720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04672" y="2478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788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150.00</a:t>
            </a:r>
            <a:endParaRPr lang="en-US" sz="19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5416" y="2331720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368296" y="2478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68296" y="2788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153.25</a:t>
            </a:r>
            <a:endParaRPr lang="en-US" sz="190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9040" y="2331720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3931920" y="2478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788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149.50</a:t>
            </a:r>
            <a:endParaRPr lang="en-US" sz="19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2664" y="2331720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5495544" y="2478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95544" y="2788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152.75</a:t>
            </a:r>
            <a:endParaRPr lang="en-US" sz="19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76288" y="2331720"/>
            <a:ext cx="1417320" cy="1234440"/>
          </a:xfrm>
          <a:prstGeom prst="roundRect">
            <a:avLst>
              <a:gd name="adj" fmla="val 666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059168" y="2478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59168" y="2788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</a:t>
            </a:r>
            <a:endParaRPr lang="en-US" sz="190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1040" y="233172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16233C"/>
          </a:solidFill>
          <a:ln w="12700">
            <a:solidFill>
              <a:srgbClr val="A78BFA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85496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9640" y="27249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151.82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567928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volume-weighted avg price</a:t>
            </a:r>
            <a:endParaRPr lang="en-US" sz="9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886200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850392" y="38862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90672" y="3886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Σ(price × qty) ÷ Σ(qty) — the average price the market actually paid.</a:t>
            </a:r>
            <a:endParaRPr lang="en-US" sz="125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636008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850392" y="46360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PRICE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90672" y="463600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(best bid + best ask) ÷ 2, snapshotted on a timer as the book moves.</a:t>
            </a:r>
            <a:endParaRPr lang="en-US" sz="1250" dirty="0"/>
          </a:p>
        </p:txBody>
      </p:sp>
      <p:sp>
        <p:nvSpPr>
          <p:cNvPr id="3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385816"/>
            <a:ext cx="10972800" cy="658368"/>
          </a:xfrm>
          <a:prstGeom prst="roundRect">
            <a:avLst>
              <a:gd name="adj" fmla="val 125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850392" y="53858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OHLCV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090672" y="53858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Open, high, low, close &amp; volume — the daily bar for every symbol.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LECTURE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 index in real time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pm-index watches trades and recomputes a market-cap-weighted index live — the same idea behind the S&amp;P 500, kept continuous through corporate actions.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331720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96112" y="2542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level is built</a:t>
            </a:r>
            <a:endParaRPr lang="en-US" sz="150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971800"/>
            <a:ext cx="4937760" cy="1371600"/>
          </a:xfrm>
          <a:prstGeom prst="roundRect">
            <a:avLst>
              <a:gd name="adj" fmla="val 6000"/>
            </a:avLst>
          </a:prstGeom>
          <a:solidFill>
            <a:srgbClr val="0C1122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1152144" y="3118104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aggregate_cap = Σ(price × shares)</a:t>
            </a:r>
            <a:endParaRPr lang="en-US" sz="12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index_level  = aggregate_cap / divisor</a:t>
            </a:r>
            <a:endParaRPr lang="en-US" sz="1250" dirty="0"/>
          </a:p>
        </p:txBody>
      </p:sp>
      <p:sp>
        <p:nvSpPr>
          <p:cNvPr id="13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594860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188720" y="4480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divisor is set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first level equals the base value.</a:t>
            </a:r>
            <a:endParaRPr lang="en-US" sz="1200" dirty="0"/>
          </a:p>
        </p:txBody>
      </p:sp>
      <p:sp>
        <p:nvSpPr>
          <p:cNvPr id="15" name="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143500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1188720" y="5029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actions rescale it  </a:t>
            </a: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splits &amp; dividends keep the level continuous, not jumpy.</a:t>
            </a:r>
            <a:endParaRPr lang="en-US" sz="120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331720"/>
            <a:ext cx="5257800" cy="3749040"/>
          </a:xfrm>
          <a:prstGeom prst="roundRect">
            <a:avLst>
              <a:gd name="adj" fmla="val 2195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583680" y="2542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EDU100 — today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880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1,048.73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601968" y="3703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+0.64%  </a:t>
            </a:r>
            <a:r>
              <a:rPr lang="en-US" sz="1100" dirty="0">
                <a:solidFill>
                  <a:srgbClr val="6E7D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· session CLOSED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1,042.10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4645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4645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1,056.30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5084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0" y="50840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1,040.05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55229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55229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1,048.73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HANDS-ON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Lab: Read the tape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28800"/>
            <a:ext cx="3977640" cy="4297680"/>
          </a:xfrm>
          <a:prstGeom prst="roundRect">
            <a:avLst>
              <a:gd name="adj" fmla="val 2069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0848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96112" y="20802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goal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2971800"/>
            <a:ext cx="3456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the day's statistics from the recorder, hand-check a VWAP, and watch the index level track the session.</a:t>
            </a:r>
            <a:endParaRPr lang="en-US" sz="1300" dirty="0"/>
          </a:p>
        </p:txBody>
      </p:sp>
      <p:sp>
        <p:nvSpPr>
          <p:cNvPr id="13" name="expec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5074920"/>
            <a:ext cx="3456432" cy="868680"/>
          </a:xfrm>
          <a:prstGeom prst="roundRect">
            <a:avLst>
              <a:gd name="adj" fmla="val 7368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078992" y="513892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SHOULD SEE
</a:t>
            </a:r>
            <a:r>
              <a:rPr lang="en-US" sz="110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hand VWAP matching the recorder, to the cent.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16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19456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14416" y="213969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a symbol's trades: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pm-stats-cli --format csv trades --symbol AAPL</a:t>
            </a:r>
            <a:endParaRPr lang="en-US" sz="1250" dirty="0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25755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29200" y="325755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14416" y="320268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Hand-compute VWAP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as Σ(price×qty) ÷ Σ(qty) and compare with the stored value.</a:t>
            </a:r>
            <a:endParaRPr lang="en-US" sz="1250" dirty="0"/>
          </a:p>
        </p:txBody>
      </p:sp>
      <p:sp>
        <p:nvSpPr>
          <p:cNvPr id="22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32054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029200" y="4320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14416" y="426567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the daily bar: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pm-stats-cli daily --symbol AAPL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check O/H/L/C/V</a:t>
            </a:r>
            <a:endParaRPr lang="en-US" sz="1250" dirty="0"/>
          </a:p>
        </p:txBody>
      </p:sp>
      <p:sp>
        <p:nvSpPr>
          <p:cNvPr id="25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5383530"/>
            <a:ext cx="420624" cy="420624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029200" y="538353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14416" y="5328666"/>
            <a:ext cx="595548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  </a:t>
            </a: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index-snapshots --index-id EDU100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across the session phases.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 safely: author, verify, then run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10312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21B30"/>
          </a:solidFill>
          <a:ln w="12700">
            <a:solidFill>
              <a:srgbClr val="38BDF8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896112" y="23225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56232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engine_config.yaml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Symbols, gateways, sessions, risk &amp; seeds — by CLI, GUI or by hand.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2272" y="210312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21B30"/>
          </a:solidFill>
          <a:ln w="12700">
            <a:solidFill>
              <a:srgbClr val="2DD4BF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4736592" y="23225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96712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36592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pm-cverifier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36592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read-only check that reports every error at once, plus a plain-English risk summary.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2752" y="210312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121B30"/>
          </a:solidFill>
          <a:ln w="12700">
            <a:solidFill>
              <a:srgbClr val="A78BFA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8577072" y="23225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537192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77072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pm-engine --verbose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77072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Binds the sockets and starts matching; other processes connect after it.</a:t>
            </a:r>
            <a:endParaRPr lang="en-US" sz="1200" dirty="0"/>
          </a:p>
        </p:txBody>
      </p:sp>
      <p:sp>
        <p:nvSpPr>
          <p:cNvPr id="2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07492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6233C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91440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before you run.  </a:t>
            </a:r>
            <a:r>
              <a:rPr lang="en-US" sz="12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verifier surfaces undefined risk levels, port collisions and out-of-order schedules all at once — so you fix them on the ground, not mid-session. Exit codes make it CI-friendly.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LECTURE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operator's console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an ADMIN gateway you drive sessions and handle incidents. The same commands work interactively or scripted for automation.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194560"/>
            <a:ext cx="3566160" cy="3886200"/>
          </a:xfrm>
          <a:prstGeom prst="roundRect">
            <a:avLst>
              <a:gd name="adj" fmla="val 230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194560"/>
            <a:ext cx="3566160" cy="8229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77824" y="2450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&amp; STATUS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29260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SESSION_STATUS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7824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current phase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SESSION|STATE=…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7824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the phase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7824" y="4425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" y="4718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auto-transitions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7824" y="51755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7824" y="5468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connections</a:t>
            </a:r>
            <a:endParaRPr lang="en-US" sz="10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2272" y="2194560"/>
            <a:ext cx="3566160" cy="3886200"/>
          </a:xfrm>
          <a:prstGeom prst="roundRect">
            <a:avLst>
              <a:gd name="adj" fmla="val 230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1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2272" y="2194560"/>
            <a:ext cx="3566160" cy="82296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4718304" y="2450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 &amp; RESUME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29260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 / RESUME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18304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exchange-wide breaker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18304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HALT_SYM|SYM=X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18304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halt one symbol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18304" y="4425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RESUME_SYM|SYM=X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18304" y="4718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lift one symbol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18304" y="51755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BOOK|SYM=X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718304" y="5468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 book</a:t>
            </a:r>
            <a:endParaRPr lang="en-US" sz="105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2752" y="2194560"/>
            <a:ext cx="3566160" cy="3886200"/>
          </a:xfrm>
          <a:prstGeom prst="roundRect">
            <a:avLst>
              <a:gd name="adj" fmla="val 2308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2" name="Rectangl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2752" y="2194560"/>
            <a:ext cx="3566160" cy="8229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8558784" y="2450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58784" y="29260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KILL|GW=X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58784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a gateway's orders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58784" y="3675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KICK|GW=X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558784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 a gateway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58784" y="4425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CANCEL_SYM|SYM=X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58784" y="4718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a whole symbol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58784" y="51755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QCANCEL|GW=MM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558784" y="5468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a quote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LECTURE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Capstone: the whole exchange, wired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from the week, running at once. Start the engine first; data and gateway processes connect to its 5556 feed and fan the market out.</a:t>
            </a:r>
            <a:endParaRPr lang="en-US" sz="135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47472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1A2942"/>
          </a:solidFill>
          <a:ln w="19050">
            <a:solidFill>
              <a:srgbClr val="A78BFA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461772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pm-engine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 :5556</a:t>
            </a:r>
            <a:endParaRPr lang="en-US" sz="11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46888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804672" y="2542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pm-alf-console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834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traders</a:t>
            </a:r>
            <a:endParaRPr lang="en-US" sz="1000" dirty="0"/>
          </a:p>
        </p:txBody>
      </p:sp>
      <p:sp>
        <p:nvSpPr>
          <p:cNvPr id="1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6432" y="2798064"/>
            <a:ext cx="1161288" cy="1179576"/>
          </a:xfrm>
          <a:prstGeom prst="line">
            <a:avLst/>
          </a:prstGeom>
          <a:noFill/>
          <a:ln w="1524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29184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804672" y="3364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pm-alf-gwy / API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bots &amp; web</a:t>
            </a:r>
            <a:endParaRPr lang="en-US" sz="1000" dirty="0"/>
          </a:p>
        </p:txBody>
      </p:sp>
      <p:sp>
        <p:nvSpPr>
          <p:cNvPr id="19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6432" y="3621024"/>
            <a:ext cx="1161288" cy="356616"/>
          </a:xfrm>
          <a:prstGeom prst="line">
            <a:avLst/>
          </a:prstGeom>
          <a:noFill/>
          <a:ln w="1524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114800"/>
            <a:ext cx="2834640" cy="658368"/>
          </a:xfrm>
          <a:prstGeom prst="roundRect">
            <a:avLst>
              <a:gd name="adj" fmla="val 12500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804672" y="41879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pm-scheduler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phases</a:t>
            </a:r>
            <a:endParaRPr lang="en-US" sz="1000" dirty="0"/>
          </a:p>
        </p:txBody>
      </p:sp>
      <p:sp>
        <p:nvSpPr>
          <p:cNvPr id="2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3456432" y="3977640"/>
            <a:ext cx="1161288" cy="466344"/>
          </a:xfrm>
          <a:prstGeom prst="line">
            <a:avLst/>
          </a:prstGeom>
          <a:noFill/>
          <a:ln w="1524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5263" y="2286000"/>
            <a:ext cx="2834640" cy="676656"/>
          </a:xfrm>
          <a:prstGeom prst="roundRect">
            <a:avLst>
              <a:gd name="adj" fmla="val 12162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8918143" y="2359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pm-stats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18143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OHLCV · VWAP</a:t>
            </a:r>
            <a:endParaRPr lang="en-US" sz="1000" dirty="0"/>
          </a:p>
        </p:txBody>
      </p:sp>
      <p:sp>
        <p:nvSpPr>
          <p:cNvPr id="27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360920" y="2624328"/>
            <a:ext cx="1374343" cy="1399032"/>
          </a:xfrm>
          <a:prstGeom prst="line">
            <a:avLst/>
          </a:prstGeom>
          <a:noFill/>
          <a:ln w="1524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5263" y="3127248"/>
            <a:ext cx="2834640" cy="676656"/>
          </a:xfrm>
          <a:prstGeom prst="roundRect">
            <a:avLst>
              <a:gd name="adj" fmla="val 12162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8918143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pm-clearing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18143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positions · P&amp;L</a:t>
            </a:r>
            <a:endParaRPr lang="en-US" sz="1000" dirty="0"/>
          </a:p>
        </p:txBody>
      </p:sp>
      <p:sp>
        <p:nvSpPr>
          <p:cNvPr id="31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360920" y="3465576"/>
            <a:ext cx="1374343" cy="557784"/>
          </a:xfrm>
          <a:prstGeom prst="line">
            <a:avLst/>
          </a:prstGeom>
          <a:noFill/>
          <a:ln w="1524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5263" y="3968496"/>
            <a:ext cx="2834640" cy="676656"/>
          </a:xfrm>
          <a:prstGeom prst="roundRect">
            <a:avLst>
              <a:gd name="adj" fmla="val 12162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8918143" y="4041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pm-index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18143" y="4334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index</a:t>
            </a:r>
            <a:endParaRPr lang="en-US" sz="1000" dirty="0"/>
          </a:p>
        </p:txBody>
      </p:sp>
      <p:sp>
        <p:nvSpPr>
          <p:cNvPr id="3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0920" y="4023360"/>
            <a:ext cx="1374343" cy="283464"/>
          </a:xfrm>
          <a:prstGeom prst="line">
            <a:avLst/>
          </a:prstGeom>
          <a:noFill/>
          <a:ln w="1524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5263" y="4809744"/>
            <a:ext cx="2834640" cy="676656"/>
          </a:xfrm>
          <a:prstGeom prst="roundRect">
            <a:avLst>
              <a:gd name="adj" fmla="val 12162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8918143" y="4882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 / ralf / audit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18143" y="5175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&amp; records</a:t>
            </a:r>
            <a:endParaRPr lang="en-US" sz="1000" dirty="0"/>
          </a:p>
        </p:txBody>
      </p:sp>
      <p:sp>
        <p:nvSpPr>
          <p:cNvPr id="39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0920" y="4023360"/>
            <a:ext cx="1374343" cy="1124712"/>
          </a:xfrm>
          <a:prstGeom prst="line">
            <a:avLst/>
          </a:prstGeom>
          <a:noFill/>
          <a:ln w="1524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621792" y="22128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IN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35263" y="2011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OUT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5 · 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5 in review — data &amp; operations</a:t>
            </a:r>
            <a:endParaRPr lang="en-US" sz="29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953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Protocols by purpose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6304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 &amp; BALF in, CALF data out, RALF post-trade, API for web.</a:t>
            </a:r>
            <a:endParaRPr lang="en-US" sz="11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85953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 tell the story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OHLCV bars, VWAP and mid-price from the recorded tape.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85953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live, continuous index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Cap-weighted, kept smooth through corporate actions.</a:t>
            </a:r>
            <a:endParaRPr lang="en-US" sz="11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18745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212140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52881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 → verify → run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22951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launch a config you haven't verified.</a:t>
            </a:r>
            <a:endParaRPr lang="en-US" sz="11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288036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312724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528816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29992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operator's console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32320" y="3300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 sessions, halt, resume, kill and kick from ADMIN.</a:t>
            </a:r>
            <a:endParaRPr lang="en-US" sz="110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1072" y="38862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badge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816" y="4133088"/>
            <a:ext cx="402336" cy="402336"/>
          </a:xfrm>
          <a:prstGeom prst="ellipse">
            <a:avLst/>
          </a:prstGeom>
          <a:solidFill>
            <a:srgbClr val="0A0F1E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528816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40050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all connects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32320" y="43068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engine first; every process plugs into its feed.</a:t>
            </a:r>
            <a:endParaRPr lang="en-US" sz="1100" dirty="0"/>
          </a:p>
        </p:txBody>
      </p:sp>
      <p:sp>
        <p:nvSpPr>
          <p:cNvPr id="38" name="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5806440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A78BFA">
              <a:alpha val="14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896112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   </a:t>
            </a:r>
            <a:r>
              <a:rPr lang="en-US" sz="1250" dirty="0">
                <a:solidFill>
                  <a:srgbClr val="E7E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exchange is only as good as the data it emits and the discipline with which it's run.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57200"/>
            <a:ext cx="128016" cy="146304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877824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25535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1100" b="1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190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r>
              <a:rPr lang="en-US" sz="900">
                <a:solidFill>
                  <a:srgbClr val="556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55</a:t>
            </a:r>
            <a:endParaRPr lang="en-US" sz="9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21792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can do now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days ago, an exchange was a black box. Now you can reason about — and operate — every layer of one.</a:t>
            </a:r>
            <a:endParaRPr lang="en-US" sz="140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21945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check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2468880"/>
            <a:ext cx="365760" cy="36576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96112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44752" y="24688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a live order book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30632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predict fills by price-time priority</a:t>
            </a:r>
            <a:endParaRPr lang="en-US" sz="11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2272" y="21945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check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6592" y="2468880"/>
            <a:ext cx="365760" cy="36576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736592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85232" y="24688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 the language of orders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6592" y="30632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MARKET to multi-leg combos</a:t>
            </a:r>
            <a:endParaRPr lang="en-US" sz="11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2752" y="21945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heck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7072" y="2468880"/>
            <a:ext cx="365760" cy="36576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8577072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25712" y="24688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 about market structure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77072" y="30632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phases, auctions and the equilibrium price</a:t>
            </a:r>
            <a:endParaRPr lang="en-US" sz="11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" y="4133088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check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112" y="4407408"/>
            <a:ext cx="365760" cy="36576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896112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44752" y="44074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markets &amp; add liquidity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50017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two-sided quotes, obligations, bots</a:t>
            </a:r>
            <a:endParaRPr lang="en-US" sz="1150" dirty="0"/>
          </a:p>
        </p:txBody>
      </p:sp>
      <p:sp>
        <p:nvSpPr>
          <p:cNvPr id="2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2272" y="4133088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check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6592" y="4407408"/>
            <a:ext cx="365760" cy="36576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4736592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44074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risk end-to-end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36592" y="50017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collars, breakers, kill switch, P&amp;L</a:t>
            </a:r>
            <a:endParaRPr lang="en-US" sz="1150" dirty="0"/>
          </a:p>
        </p:txBody>
      </p:sp>
      <p:sp>
        <p:nvSpPr>
          <p:cNvPr id="3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02752" y="4133088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21B30"/>
          </a:solidFill>
          <a:ln w="12700">
            <a:solidFill>
              <a:srgbClr val="27354E"/>
            </a:solidFill>
            <a:prstDash val="solid"/>
          </a:ln>
          <a:effectLst>
            <a:outerShdw blurRad="139700" dist="50800" dir="5400000" algn="bl" rotWithShape="0">
              <a:srgbClr val="05070E">
                <a:alpha val="4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check 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7072" y="4407408"/>
            <a:ext cx="365760" cy="365760"/>
          </a:xfrm>
          <a:prstGeom prst="ellipse">
            <a:avLst/>
          </a:prstGeom>
          <a:solidFill>
            <a:srgbClr val="0A0F1E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8577072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25712" y="44074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 a real exchange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77072" y="50017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9AA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configure, verify, monitor and run it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nrise over an abstract skyline of rising market data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>
              <a:alpha val="6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A0F1E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148840"/>
            <a:ext cx="457200" cy="128016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841248" y="23957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THAT'S A WRAP</a:t>
            </a: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7889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go run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41248" y="4709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9AA7C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Bring up the engine, connect your gateway, and put everything from this week into a live session of your own.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57150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 err="1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r>
              <a:rPr lang="en-US" sz="1100" kern="0" spc="100" dirty="0">
                <a:solidFill>
                  <a:srgbClr val="6E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5-Day Trading Systems Course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e63fdbc-9223-49ac-a12c-b8ae101f8b2d}" enabled="1" method="Standard" siteId="{d0b75e95-684a-45e3-8d2d-53fa2a6a513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7243</Words>
  <Application>Microsoft Macintosh PowerPoint</Application>
  <PresentationFormat>Widescreen</PresentationFormat>
  <Paragraphs>1275</Paragraphs>
  <Slides>55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Calibri</vt:lpstr>
      <vt:lpstr>Consolas</vt:lpstr>
      <vt:lpstr>Segoe UI</vt:lpstr>
      <vt:lpstr>Segoe UI Light</vt:lpstr>
      <vt:lpstr>Office Theme</vt:lpstr>
      <vt:lpstr>EduMatcher Inside a Modern Equity Trading System</vt:lpstr>
      <vt:lpstr>The week at a glance</vt:lpstr>
      <vt:lpstr>How each teaching day is structured</vt:lpstr>
      <vt:lpstr>Anatomy of an electronic exchange</vt:lpstr>
      <vt:lpstr>Foundations &amp; Architecture</vt:lpstr>
      <vt:lpstr>What is an exchange — and what is EduMatcher?</vt:lpstr>
      <vt:lpstr>The matching engine: one book, one writer</vt:lpstr>
      <vt:lpstr>The process constellation</vt:lpstr>
      <vt:lpstr>The message bus: one publisher, many listeners</vt:lpstr>
      <vt:lpstr>The message bus: three sockets, two patterns</vt:lpstr>
      <vt:lpstr>Lab: Your five-minute exchange</vt:lpstr>
      <vt:lpstr>The order book &amp; price-time priority</vt:lpstr>
      <vt:lpstr>How a fill happens — a worked cross</vt:lpstr>
      <vt:lpstr>Connecting as a participant: the ALF command</vt:lpstr>
      <vt:lpstr>The gateway session lifecycle</vt:lpstr>
      <vt:lpstr>Day 1 in review — foundations</vt:lpstr>
      <vt:lpstr>The Language of Orders</vt:lpstr>
      <vt:lpstr>The order lifecycle &amp; the two foundations</vt:lpstr>
      <vt:lpstr>Slippage: the cost of demanding immediacy</vt:lpstr>
      <vt:lpstr>Stops: dormant orders that wake on a trade</vt:lpstr>
      <vt:lpstr>Lab: Stop cascades &amp; order-type bake-off</vt:lpstr>
      <vt:lpstr>Advanced execution orders</vt:lpstr>
      <vt:lpstr>Time-in-Force: how long an order lives</vt:lpstr>
      <vt:lpstr>AMEND: change an order without losing your place — sometimes</vt:lpstr>
      <vt:lpstr>Linked &amp; multi-leg: OCO and COMBO</vt:lpstr>
      <vt:lpstr>Day 2 in review — order types</vt:lpstr>
      <vt:lpstr>Sessions, Auctions &amp; Liquidity</vt:lpstr>
      <vt:lpstr>The trading day has five phases</vt:lpstr>
      <vt:lpstr>What's allowed when: phase gating</vt:lpstr>
      <vt:lpstr>Auctions: gather, then cross at one price</vt:lpstr>
      <vt:lpstr>Finding the equilibrium price</vt:lpstr>
      <vt:lpstr>Lab: Drive an opening auction by hand</vt:lpstr>
      <vt:lpstr>Market makers: always two-sided</vt:lpstr>
      <vt:lpstr>Obligations keep quotes honest</vt:lpstr>
      <vt:lpstr>Automated liquidity for a lively classroom</vt:lpstr>
      <vt:lpstr>Day 3 in review — market structure</vt:lpstr>
      <vt:lpstr>Risk, Safety &amp; Post-Trade</vt:lpstr>
      <vt:lpstr>Price collars: the pre-trade safety net</vt:lpstr>
      <vt:lpstr>Circuit breakers &amp; the kill switch</vt:lpstr>
      <vt:lpstr>Lab: Trip a circuit breaker</vt:lpstr>
      <vt:lpstr>P&amp;L &amp; clearing: tracking what you own</vt:lpstr>
      <vt:lpstr>Watch a position evolve</vt:lpstr>
      <vt:lpstr>The compliance record: audit &amp; drop-copy</vt:lpstr>
      <vt:lpstr>Day 4 in review — risk &amp; post-trade</vt:lpstr>
      <vt:lpstr>Data, Monitoring &amp; Operations</vt:lpstr>
      <vt:lpstr>Five ways in and out</vt:lpstr>
      <vt:lpstr>Statistics: turning trades into insight</vt:lpstr>
      <vt:lpstr>The market index in real time</vt:lpstr>
      <vt:lpstr>Lab: Read the tape</vt:lpstr>
      <vt:lpstr>Operate safely: author, verify, then run</vt:lpstr>
      <vt:lpstr>The operator's console</vt:lpstr>
      <vt:lpstr>Capstone: the whole exchange, wired</vt:lpstr>
      <vt:lpstr>Day 5 in review — data &amp; operations</vt:lpstr>
      <vt:lpstr>What you can do now</vt:lpstr>
      <vt:lpstr>Now go run the market.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Persson</dc:creator>
  <cp:lastModifiedBy>Johan Persson</cp:lastModifiedBy>
  <cp:revision>3</cp:revision>
  <dcterms:created xsi:type="dcterms:W3CDTF">2026-07-21T08:02:59Z</dcterms:created>
  <dcterms:modified xsi:type="dcterms:W3CDTF">2026-07-21T15:05:57Z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Nasdaq - Internal Use: Distribution limited to Nasdaq personnel and authorized third parties subject to confidentiality obligations</vt:lpwstr>
  </property>
</Properties>
</file>